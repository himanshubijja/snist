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1"/>
  </p:notesMasterIdLst>
  <p:handoutMasterIdLst>
    <p:handoutMasterId r:id="rId22"/>
  </p:handoutMasterIdLst>
  <p:sldIdLst>
    <p:sldId id="256" r:id="rId3"/>
    <p:sldId id="277" r:id="rId4"/>
    <p:sldId id="276" r:id="rId5"/>
    <p:sldId id="274" r:id="rId6"/>
    <p:sldId id="284" r:id="rId7"/>
    <p:sldId id="278" r:id="rId8"/>
    <p:sldId id="282" r:id="rId9"/>
    <p:sldId id="285" r:id="rId10"/>
    <p:sldId id="275" r:id="rId11"/>
    <p:sldId id="286" r:id="rId12"/>
    <p:sldId id="264" r:id="rId13"/>
    <p:sldId id="266" r:id="rId14"/>
    <p:sldId id="260" r:id="rId15"/>
    <p:sldId id="259" r:id="rId16"/>
    <p:sldId id="267" r:id="rId17"/>
    <p:sldId id="257" r:id="rId18"/>
    <p:sldId id="268" r:id="rId19"/>
    <p:sldId id="273" r:id="rId2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46FCF5-2389-4C14-8B58-7C3DF1F47FD5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1F475D-74DC-49E0-9EF2-FFD53AF1EECE}">
      <dgm:prSet phldrT="[Text]" custT="1"/>
      <dgm:spPr>
        <a:ln>
          <a:solidFill>
            <a:srgbClr val="0070C0"/>
          </a:solidFill>
        </a:ln>
      </dgm:spPr>
      <dgm:t>
        <a:bodyPr/>
        <a:lstStyle/>
        <a:p>
          <a:r>
            <a:rPr lang="en-US" sz="3200" b="1">
              <a:solidFill>
                <a:schemeClr val="bg1"/>
              </a:solidFill>
              <a:latin typeface="Chaparral Pro Light" panose="02060403030505090203" pitchFamily="18" charset="0"/>
            </a:rPr>
            <a:t>Neural Network</a:t>
          </a:r>
          <a:endParaRPr lang="en-US" sz="3200" b="1" dirty="0">
            <a:solidFill>
              <a:schemeClr val="bg1"/>
            </a:solidFill>
            <a:latin typeface="Chaparral Pro Light" panose="02060403030505090203" pitchFamily="18" charset="0"/>
          </a:endParaRPr>
        </a:p>
      </dgm:t>
    </dgm:pt>
    <dgm:pt modelId="{BF3ACAEF-2DC9-44B9-A241-B4F4A2326484}" type="parTrans" cxnId="{C94F65C9-0784-4D61-BD1E-5A4F8A40E106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DC4E1636-4AC3-4B5F-9566-8FC34EB0F239}" type="sibTrans" cxnId="{C94F65C9-0784-4D61-BD1E-5A4F8A40E106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A322A742-8359-4DC0-B943-E6DAD6ED8575}">
      <dgm:prSet phldrT="[Text]" custT="1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US" sz="20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Artificial Neural Network</a:t>
          </a:r>
        </a:p>
        <a:p>
          <a:r>
            <a:rPr lang="en-US" sz="20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(ANN)</a:t>
          </a:r>
        </a:p>
        <a:p>
          <a:r>
            <a:rPr lang="en-US" sz="1700">
              <a:solidFill>
                <a:sysClr val="windowText" lastClr="000000"/>
              </a:solidFill>
            </a:rPr>
            <a:t>Regression and classification</a:t>
          </a:r>
          <a:endParaRPr lang="en-US" sz="1700" dirty="0">
            <a:solidFill>
              <a:sysClr val="windowText" lastClr="000000"/>
            </a:solidFill>
          </a:endParaRPr>
        </a:p>
      </dgm:t>
    </dgm:pt>
    <dgm:pt modelId="{77353BA0-A42F-4D36-B629-C71D2E09F784}" type="parTrans" cxnId="{682098F8-FE13-4101-87A1-35044E827C0B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B57CAED3-C91A-408C-81A0-8AE1D31543F0}" type="sibTrans" cxnId="{682098F8-FE13-4101-87A1-35044E827C0B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D7DEE1A2-2C35-4500-83BB-A92C5FE77120}">
      <dgm:prSet phldrT="[Text]" custT="1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US" sz="20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Convolutional Neural Network</a:t>
          </a:r>
        </a:p>
        <a:p>
          <a:r>
            <a:rPr lang="en-US" sz="20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(CNN)</a:t>
          </a:r>
        </a:p>
        <a:p>
          <a:r>
            <a:rPr lang="en-US" sz="1800">
              <a:solidFill>
                <a:sysClr val="windowText" lastClr="000000"/>
              </a:solidFill>
            </a:rPr>
            <a:t>Computer Vision</a:t>
          </a:r>
          <a:endParaRPr lang="en-US" sz="1800" dirty="0">
            <a:solidFill>
              <a:sysClr val="windowText" lastClr="000000"/>
            </a:solidFill>
          </a:endParaRPr>
        </a:p>
      </dgm:t>
    </dgm:pt>
    <dgm:pt modelId="{6CE7C5AD-9153-47C9-8800-8CD35AB5C314}" type="parTrans" cxnId="{EBEB48D9-8808-4C6F-901C-85EFF194A558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12C1DBA9-5120-4896-B1CC-44A30350E9A8}" type="sibTrans" cxnId="{EBEB48D9-8808-4C6F-901C-85EFF194A558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E2089CE7-3C3D-4163-B71E-5F4C559C4748}">
      <dgm:prSet phldrT="[Text]" custT="1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US" sz="20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Recurrent Neural Network</a:t>
          </a:r>
        </a:p>
        <a:p>
          <a:r>
            <a:rPr lang="en-US" sz="20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(RNN)</a:t>
          </a:r>
        </a:p>
        <a:p>
          <a:r>
            <a:rPr lang="en-GB" sz="1800">
              <a:solidFill>
                <a:sysClr val="windowText" lastClr="000000"/>
              </a:solidFill>
            </a:rPr>
            <a:t>Time series analysis</a:t>
          </a:r>
          <a:endParaRPr lang="en-US" sz="1800" dirty="0">
            <a:solidFill>
              <a:sysClr val="windowText" lastClr="000000"/>
            </a:solidFill>
          </a:endParaRPr>
        </a:p>
      </dgm:t>
    </dgm:pt>
    <dgm:pt modelId="{52B9326A-9DDD-4A7C-A9C8-6B078CF42158}" type="parTrans" cxnId="{863E9D25-734C-4EFB-83FE-F642CCE4B815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265CA127-D25A-42AF-960D-98831136A9D8}" type="sibTrans" cxnId="{863E9D25-734C-4EFB-83FE-F642CCE4B815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558D908B-D602-49D6-94F9-B7B878F31B2D}" type="pres">
      <dgm:prSet presAssocID="{5346FCF5-2389-4C14-8B58-7C3DF1F47FD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FAB6D3F-F014-417D-9045-F312D1ED1FD1}" type="pres">
      <dgm:prSet presAssocID="{D71F475D-74DC-49E0-9EF2-FFD53AF1EECE}" presName="hierRoot1" presStyleCnt="0">
        <dgm:presLayoutVars>
          <dgm:hierBranch val="init"/>
        </dgm:presLayoutVars>
      </dgm:prSet>
      <dgm:spPr/>
    </dgm:pt>
    <dgm:pt modelId="{33A864D1-35B4-40FF-923C-AF4DB2CAB201}" type="pres">
      <dgm:prSet presAssocID="{D71F475D-74DC-49E0-9EF2-FFD53AF1EECE}" presName="rootComposite1" presStyleCnt="0"/>
      <dgm:spPr/>
    </dgm:pt>
    <dgm:pt modelId="{01317475-D43D-442F-8EB9-C3BBAC250BC6}" type="pres">
      <dgm:prSet presAssocID="{D71F475D-74DC-49E0-9EF2-FFD53AF1EECE}" presName="rootText1" presStyleLbl="node0" presStyleIdx="0" presStyleCnt="1" custScaleY="48623">
        <dgm:presLayoutVars>
          <dgm:chPref val="3"/>
        </dgm:presLayoutVars>
      </dgm:prSet>
      <dgm:spPr/>
    </dgm:pt>
    <dgm:pt modelId="{AE1F455D-08CC-4AD6-9508-09A76E00D612}" type="pres">
      <dgm:prSet presAssocID="{D71F475D-74DC-49E0-9EF2-FFD53AF1EECE}" presName="rootConnector1" presStyleLbl="node1" presStyleIdx="0" presStyleCnt="0"/>
      <dgm:spPr/>
    </dgm:pt>
    <dgm:pt modelId="{24D02625-A1D2-4A72-8222-F9FF45018487}" type="pres">
      <dgm:prSet presAssocID="{D71F475D-74DC-49E0-9EF2-FFD53AF1EECE}" presName="hierChild2" presStyleCnt="0"/>
      <dgm:spPr/>
    </dgm:pt>
    <dgm:pt modelId="{93F75830-FB29-437B-AE54-980DFC7E79DB}" type="pres">
      <dgm:prSet presAssocID="{77353BA0-A42F-4D36-B629-C71D2E09F784}" presName="Name64" presStyleLbl="parChTrans1D2" presStyleIdx="0" presStyleCnt="3"/>
      <dgm:spPr/>
    </dgm:pt>
    <dgm:pt modelId="{9CAD15BD-DAC9-4EA4-B264-746C1049BB94}" type="pres">
      <dgm:prSet presAssocID="{A322A742-8359-4DC0-B943-E6DAD6ED8575}" presName="hierRoot2" presStyleCnt="0">
        <dgm:presLayoutVars>
          <dgm:hierBranch val="init"/>
        </dgm:presLayoutVars>
      </dgm:prSet>
      <dgm:spPr/>
    </dgm:pt>
    <dgm:pt modelId="{2846D92D-6536-4B6F-B638-1E867DE10E79}" type="pres">
      <dgm:prSet presAssocID="{A322A742-8359-4DC0-B943-E6DAD6ED8575}" presName="rootComposite" presStyleCnt="0"/>
      <dgm:spPr/>
    </dgm:pt>
    <dgm:pt modelId="{27FF1A0F-9B1C-4BA1-BC0C-244B76E2C494}" type="pres">
      <dgm:prSet presAssocID="{A322A742-8359-4DC0-B943-E6DAD6ED8575}" presName="rootText" presStyleLbl="node2" presStyleIdx="0" presStyleCnt="3">
        <dgm:presLayoutVars>
          <dgm:chPref val="3"/>
        </dgm:presLayoutVars>
      </dgm:prSet>
      <dgm:spPr/>
    </dgm:pt>
    <dgm:pt modelId="{A963CC0A-7677-4243-8128-69F7200DA27A}" type="pres">
      <dgm:prSet presAssocID="{A322A742-8359-4DC0-B943-E6DAD6ED8575}" presName="rootConnector" presStyleLbl="node2" presStyleIdx="0" presStyleCnt="3"/>
      <dgm:spPr/>
    </dgm:pt>
    <dgm:pt modelId="{A1F4D7F7-0BC2-42F1-8666-211AF24E1EA3}" type="pres">
      <dgm:prSet presAssocID="{A322A742-8359-4DC0-B943-E6DAD6ED8575}" presName="hierChild4" presStyleCnt="0"/>
      <dgm:spPr/>
    </dgm:pt>
    <dgm:pt modelId="{AC15BF93-FE53-45E1-BDF9-47423A7ECE15}" type="pres">
      <dgm:prSet presAssocID="{A322A742-8359-4DC0-B943-E6DAD6ED8575}" presName="hierChild5" presStyleCnt="0"/>
      <dgm:spPr/>
    </dgm:pt>
    <dgm:pt modelId="{50076AB1-140C-4FBC-B70B-9DFAF77F5F78}" type="pres">
      <dgm:prSet presAssocID="{6CE7C5AD-9153-47C9-8800-8CD35AB5C314}" presName="Name64" presStyleLbl="parChTrans1D2" presStyleIdx="1" presStyleCnt="3"/>
      <dgm:spPr/>
    </dgm:pt>
    <dgm:pt modelId="{8A2845B6-A24C-45DF-AD50-889BFAAF245C}" type="pres">
      <dgm:prSet presAssocID="{D7DEE1A2-2C35-4500-83BB-A92C5FE77120}" presName="hierRoot2" presStyleCnt="0">
        <dgm:presLayoutVars>
          <dgm:hierBranch val="init"/>
        </dgm:presLayoutVars>
      </dgm:prSet>
      <dgm:spPr/>
    </dgm:pt>
    <dgm:pt modelId="{485A4801-F342-4CCA-B924-5EFC4937CE98}" type="pres">
      <dgm:prSet presAssocID="{D7DEE1A2-2C35-4500-83BB-A92C5FE77120}" presName="rootComposite" presStyleCnt="0"/>
      <dgm:spPr/>
    </dgm:pt>
    <dgm:pt modelId="{4E0F0486-8691-437A-BC0A-E2278462547A}" type="pres">
      <dgm:prSet presAssocID="{D7DEE1A2-2C35-4500-83BB-A92C5FE77120}" presName="rootText" presStyleLbl="node2" presStyleIdx="1" presStyleCnt="3">
        <dgm:presLayoutVars>
          <dgm:chPref val="3"/>
        </dgm:presLayoutVars>
      </dgm:prSet>
      <dgm:spPr/>
    </dgm:pt>
    <dgm:pt modelId="{1E972ACA-89B4-4521-A886-D217105751E6}" type="pres">
      <dgm:prSet presAssocID="{D7DEE1A2-2C35-4500-83BB-A92C5FE77120}" presName="rootConnector" presStyleLbl="node2" presStyleIdx="1" presStyleCnt="3"/>
      <dgm:spPr/>
    </dgm:pt>
    <dgm:pt modelId="{7458942A-7C60-4F3F-A0D9-2FBFB6D26754}" type="pres">
      <dgm:prSet presAssocID="{D7DEE1A2-2C35-4500-83BB-A92C5FE77120}" presName="hierChild4" presStyleCnt="0"/>
      <dgm:spPr/>
    </dgm:pt>
    <dgm:pt modelId="{11F99F25-268E-4901-B57A-595C083452C9}" type="pres">
      <dgm:prSet presAssocID="{D7DEE1A2-2C35-4500-83BB-A92C5FE77120}" presName="hierChild5" presStyleCnt="0"/>
      <dgm:spPr/>
    </dgm:pt>
    <dgm:pt modelId="{108F52DD-CB32-4CE9-AC66-C2C689468924}" type="pres">
      <dgm:prSet presAssocID="{52B9326A-9DDD-4A7C-A9C8-6B078CF42158}" presName="Name64" presStyleLbl="parChTrans1D2" presStyleIdx="2" presStyleCnt="3"/>
      <dgm:spPr/>
    </dgm:pt>
    <dgm:pt modelId="{BC16F7B4-DF05-4A87-83CB-1D8FE29A3CF3}" type="pres">
      <dgm:prSet presAssocID="{E2089CE7-3C3D-4163-B71E-5F4C559C4748}" presName="hierRoot2" presStyleCnt="0">
        <dgm:presLayoutVars>
          <dgm:hierBranch val="init"/>
        </dgm:presLayoutVars>
      </dgm:prSet>
      <dgm:spPr/>
    </dgm:pt>
    <dgm:pt modelId="{1417E2F3-7DB1-41F3-84B4-94DE8D2D1131}" type="pres">
      <dgm:prSet presAssocID="{E2089CE7-3C3D-4163-B71E-5F4C559C4748}" presName="rootComposite" presStyleCnt="0"/>
      <dgm:spPr/>
    </dgm:pt>
    <dgm:pt modelId="{82037BCA-ACCB-43E9-9C53-7131C2E313D2}" type="pres">
      <dgm:prSet presAssocID="{E2089CE7-3C3D-4163-B71E-5F4C559C4748}" presName="rootText" presStyleLbl="node2" presStyleIdx="2" presStyleCnt="3">
        <dgm:presLayoutVars>
          <dgm:chPref val="3"/>
        </dgm:presLayoutVars>
      </dgm:prSet>
      <dgm:spPr/>
    </dgm:pt>
    <dgm:pt modelId="{5BF37D1F-3120-46B3-ACCD-E01CA3C65C77}" type="pres">
      <dgm:prSet presAssocID="{E2089CE7-3C3D-4163-B71E-5F4C559C4748}" presName="rootConnector" presStyleLbl="node2" presStyleIdx="2" presStyleCnt="3"/>
      <dgm:spPr/>
    </dgm:pt>
    <dgm:pt modelId="{D0FE3609-212D-49DC-8435-3046ED09BA29}" type="pres">
      <dgm:prSet presAssocID="{E2089CE7-3C3D-4163-B71E-5F4C559C4748}" presName="hierChild4" presStyleCnt="0"/>
      <dgm:spPr/>
    </dgm:pt>
    <dgm:pt modelId="{EC7AECE5-9F4A-4992-8707-D90F79C1A074}" type="pres">
      <dgm:prSet presAssocID="{E2089CE7-3C3D-4163-B71E-5F4C559C4748}" presName="hierChild5" presStyleCnt="0"/>
      <dgm:spPr/>
    </dgm:pt>
    <dgm:pt modelId="{DAA6514C-B1A8-4B87-9C94-2ED8416A9E26}" type="pres">
      <dgm:prSet presAssocID="{D71F475D-74DC-49E0-9EF2-FFD53AF1EECE}" presName="hierChild3" presStyleCnt="0"/>
      <dgm:spPr/>
    </dgm:pt>
  </dgm:ptLst>
  <dgm:cxnLst>
    <dgm:cxn modelId="{EBB36521-157D-4391-85B3-7083BA78A208}" type="presOf" srcId="{D71F475D-74DC-49E0-9EF2-FFD53AF1EECE}" destId="{AE1F455D-08CC-4AD6-9508-09A76E00D612}" srcOrd="1" destOrd="0" presId="urn:microsoft.com/office/officeart/2009/3/layout/HorizontalOrganizationChart"/>
    <dgm:cxn modelId="{863E9D25-734C-4EFB-83FE-F642CCE4B815}" srcId="{D71F475D-74DC-49E0-9EF2-FFD53AF1EECE}" destId="{E2089CE7-3C3D-4163-B71E-5F4C559C4748}" srcOrd="2" destOrd="0" parTransId="{52B9326A-9DDD-4A7C-A9C8-6B078CF42158}" sibTransId="{265CA127-D25A-42AF-960D-98831136A9D8}"/>
    <dgm:cxn modelId="{41576B68-A911-40BD-8A08-E4AAA21FB636}" type="presOf" srcId="{D71F475D-74DC-49E0-9EF2-FFD53AF1EECE}" destId="{01317475-D43D-442F-8EB9-C3BBAC250BC6}" srcOrd="0" destOrd="0" presId="urn:microsoft.com/office/officeart/2009/3/layout/HorizontalOrganizationChart"/>
    <dgm:cxn modelId="{3040794D-CE5E-4F50-93E8-AF594B0BC69F}" type="presOf" srcId="{A322A742-8359-4DC0-B943-E6DAD6ED8575}" destId="{27FF1A0F-9B1C-4BA1-BC0C-244B76E2C494}" srcOrd="0" destOrd="0" presId="urn:microsoft.com/office/officeart/2009/3/layout/HorizontalOrganizationChart"/>
    <dgm:cxn modelId="{81A68B72-9FAE-4408-8DF2-C9EE37EAFE9D}" type="presOf" srcId="{5346FCF5-2389-4C14-8B58-7C3DF1F47FD5}" destId="{558D908B-D602-49D6-94F9-B7B878F31B2D}" srcOrd="0" destOrd="0" presId="urn:microsoft.com/office/officeart/2009/3/layout/HorizontalOrganizationChart"/>
    <dgm:cxn modelId="{797C7176-06C6-4EC7-8545-42569A8A9672}" type="presOf" srcId="{E2089CE7-3C3D-4163-B71E-5F4C559C4748}" destId="{5BF37D1F-3120-46B3-ACCD-E01CA3C65C77}" srcOrd="1" destOrd="0" presId="urn:microsoft.com/office/officeart/2009/3/layout/HorizontalOrganizationChart"/>
    <dgm:cxn modelId="{B4FEEB97-80F9-4943-9CF8-04D8288C9D14}" type="presOf" srcId="{77353BA0-A42F-4D36-B629-C71D2E09F784}" destId="{93F75830-FB29-437B-AE54-980DFC7E79DB}" srcOrd="0" destOrd="0" presId="urn:microsoft.com/office/officeart/2009/3/layout/HorizontalOrganizationChart"/>
    <dgm:cxn modelId="{E10EB8A1-E3C7-4D6E-858A-0D8FF97DF2DB}" type="presOf" srcId="{D7DEE1A2-2C35-4500-83BB-A92C5FE77120}" destId="{1E972ACA-89B4-4521-A886-D217105751E6}" srcOrd="1" destOrd="0" presId="urn:microsoft.com/office/officeart/2009/3/layout/HorizontalOrganizationChart"/>
    <dgm:cxn modelId="{28B01DAE-1F66-455E-8B8A-A8E8EF188459}" type="presOf" srcId="{D7DEE1A2-2C35-4500-83BB-A92C5FE77120}" destId="{4E0F0486-8691-437A-BC0A-E2278462547A}" srcOrd="0" destOrd="0" presId="urn:microsoft.com/office/officeart/2009/3/layout/HorizontalOrganizationChart"/>
    <dgm:cxn modelId="{7E6239BD-6343-4E44-B09C-79EAE1FA64C2}" type="presOf" srcId="{E2089CE7-3C3D-4163-B71E-5F4C559C4748}" destId="{82037BCA-ACCB-43E9-9C53-7131C2E313D2}" srcOrd="0" destOrd="0" presId="urn:microsoft.com/office/officeart/2009/3/layout/HorizontalOrganizationChart"/>
    <dgm:cxn modelId="{1D9C6CC8-2D82-4DE8-A223-5202C47AC0D9}" type="presOf" srcId="{52B9326A-9DDD-4A7C-A9C8-6B078CF42158}" destId="{108F52DD-CB32-4CE9-AC66-C2C689468924}" srcOrd="0" destOrd="0" presId="urn:microsoft.com/office/officeart/2009/3/layout/HorizontalOrganizationChart"/>
    <dgm:cxn modelId="{C94F65C9-0784-4D61-BD1E-5A4F8A40E106}" srcId="{5346FCF5-2389-4C14-8B58-7C3DF1F47FD5}" destId="{D71F475D-74DC-49E0-9EF2-FFD53AF1EECE}" srcOrd="0" destOrd="0" parTransId="{BF3ACAEF-2DC9-44B9-A241-B4F4A2326484}" sibTransId="{DC4E1636-4AC3-4B5F-9566-8FC34EB0F239}"/>
    <dgm:cxn modelId="{7690B5D6-AE6B-4130-981D-6D85E7D7B265}" type="presOf" srcId="{A322A742-8359-4DC0-B943-E6DAD6ED8575}" destId="{A963CC0A-7677-4243-8128-69F7200DA27A}" srcOrd="1" destOrd="0" presId="urn:microsoft.com/office/officeart/2009/3/layout/HorizontalOrganizationChart"/>
    <dgm:cxn modelId="{EBEB48D9-8808-4C6F-901C-85EFF194A558}" srcId="{D71F475D-74DC-49E0-9EF2-FFD53AF1EECE}" destId="{D7DEE1A2-2C35-4500-83BB-A92C5FE77120}" srcOrd="1" destOrd="0" parTransId="{6CE7C5AD-9153-47C9-8800-8CD35AB5C314}" sibTransId="{12C1DBA9-5120-4896-B1CC-44A30350E9A8}"/>
    <dgm:cxn modelId="{77CEFBE2-C228-42AB-B383-0B4475D8CB55}" type="presOf" srcId="{6CE7C5AD-9153-47C9-8800-8CD35AB5C314}" destId="{50076AB1-140C-4FBC-B70B-9DFAF77F5F78}" srcOrd="0" destOrd="0" presId="urn:microsoft.com/office/officeart/2009/3/layout/HorizontalOrganizationChart"/>
    <dgm:cxn modelId="{682098F8-FE13-4101-87A1-35044E827C0B}" srcId="{D71F475D-74DC-49E0-9EF2-FFD53AF1EECE}" destId="{A322A742-8359-4DC0-B943-E6DAD6ED8575}" srcOrd="0" destOrd="0" parTransId="{77353BA0-A42F-4D36-B629-C71D2E09F784}" sibTransId="{B57CAED3-C91A-408C-81A0-8AE1D31543F0}"/>
    <dgm:cxn modelId="{C67481F5-4A05-453D-978D-F24FC800E496}" type="presParOf" srcId="{558D908B-D602-49D6-94F9-B7B878F31B2D}" destId="{2FAB6D3F-F014-417D-9045-F312D1ED1FD1}" srcOrd="0" destOrd="0" presId="urn:microsoft.com/office/officeart/2009/3/layout/HorizontalOrganizationChart"/>
    <dgm:cxn modelId="{0C89FE96-3791-4DC1-B591-0918E3B2CDA6}" type="presParOf" srcId="{2FAB6D3F-F014-417D-9045-F312D1ED1FD1}" destId="{33A864D1-35B4-40FF-923C-AF4DB2CAB201}" srcOrd="0" destOrd="0" presId="urn:microsoft.com/office/officeart/2009/3/layout/HorizontalOrganizationChart"/>
    <dgm:cxn modelId="{60EB7BFD-D28F-45DE-894C-CE50E38CF7AF}" type="presParOf" srcId="{33A864D1-35B4-40FF-923C-AF4DB2CAB201}" destId="{01317475-D43D-442F-8EB9-C3BBAC250BC6}" srcOrd="0" destOrd="0" presId="urn:microsoft.com/office/officeart/2009/3/layout/HorizontalOrganizationChart"/>
    <dgm:cxn modelId="{C2C1A7DF-98AF-4D9D-9748-11EF754CAEBF}" type="presParOf" srcId="{33A864D1-35B4-40FF-923C-AF4DB2CAB201}" destId="{AE1F455D-08CC-4AD6-9508-09A76E00D612}" srcOrd="1" destOrd="0" presId="urn:microsoft.com/office/officeart/2009/3/layout/HorizontalOrganizationChart"/>
    <dgm:cxn modelId="{7BBBC97A-F94D-4D21-A863-6D1CC4821DC0}" type="presParOf" srcId="{2FAB6D3F-F014-417D-9045-F312D1ED1FD1}" destId="{24D02625-A1D2-4A72-8222-F9FF45018487}" srcOrd="1" destOrd="0" presId="urn:microsoft.com/office/officeart/2009/3/layout/HorizontalOrganizationChart"/>
    <dgm:cxn modelId="{BDD7D1A4-D8B8-4F16-BD47-492FB79D25AD}" type="presParOf" srcId="{24D02625-A1D2-4A72-8222-F9FF45018487}" destId="{93F75830-FB29-437B-AE54-980DFC7E79DB}" srcOrd="0" destOrd="0" presId="urn:microsoft.com/office/officeart/2009/3/layout/HorizontalOrganizationChart"/>
    <dgm:cxn modelId="{68452BD9-8A06-4D15-96EC-DB3ECCC2A668}" type="presParOf" srcId="{24D02625-A1D2-4A72-8222-F9FF45018487}" destId="{9CAD15BD-DAC9-4EA4-B264-746C1049BB94}" srcOrd="1" destOrd="0" presId="urn:microsoft.com/office/officeart/2009/3/layout/HorizontalOrganizationChart"/>
    <dgm:cxn modelId="{29864441-94C5-4A99-B95E-71D5B30BA415}" type="presParOf" srcId="{9CAD15BD-DAC9-4EA4-B264-746C1049BB94}" destId="{2846D92D-6536-4B6F-B638-1E867DE10E79}" srcOrd="0" destOrd="0" presId="urn:microsoft.com/office/officeart/2009/3/layout/HorizontalOrganizationChart"/>
    <dgm:cxn modelId="{1E8662F5-8B37-421C-B1D9-E43CFCC86B3A}" type="presParOf" srcId="{2846D92D-6536-4B6F-B638-1E867DE10E79}" destId="{27FF1A0F-9B1C-4BA1-BC0C-244B76E2C494}" srcOrd="0" destOrd="0" presId="urn:microsoft.com/office/officeart/2009/3/layout/HorizontalOrganizationChart"/>
    <dgm:cxn modelId="{60E5B9B4-AF3A-47BB-B509-FE3FED25D762}" type="presParOf" srcId="{2846D92D-6536-4B6F-B638-1E867DE10E79}" destId="{A963CC0A-7677-4243-8128-69F7200DA27A}" srcOrd="1" destOrd="0" presId="urn:microsoft.com/office/officeart/2009/3/layout/HorizontalOrganizationChart"/>
    <dgm:cxn modelId="{1D6492B8-8887-480F-9F29-98881C983B81}" type="presParOf" srcId="{9CAD15BD-DAC9-4EA4-B264-746C1049BB94}" destId="{A1F4D7F7-0BC2-42F1-8666-211AF24E1EA3}" srcOrd="1" destOrd="0" presId="urn:microsoft.com/office/officeart/2009/3/layout/HorizontalOrganizationChart"/>
    <dgm:cxn modelId="{94FC42CA-181C-429A-992C-F5A5A653A19F}" type="presParOf" srcId="{9CAD15BD-DAC9-4EA4-B264-746C1049BB94}" destId="{AC15BF93-FE53-45E1-BDF9-47423A7ECE15}" srcOrd="2" destOrd="0" presId="urn:microsoft.com/office/officeart/2009/3/layout/HorizontalOrganizationChart"/>
    <dgm:cxn modelId="{28D5EAFC-EE25-4C4D-B815-D1C50894D72B}" type="presParOf" srcId="{24D02625-A1D2-4A72-8222-F9FF45018487}" destId="{50076AB1-140C-4FBC-B70B-9DFAF77F5F78}" srcOrd="2" destOrd="0" presId="urn:microsoft.com/office/officeart/2009/3/layout/HorizontalOrganizationChart"/>
    <dgm:cxn modelId="{9EACFE3B-3253-49C4-B79B-F97A915B7414}" type="presParOf" srcId="{24D02625-A1D2-4A72-8222-F9FF45018487}" destId="{8A2845B6-A24C-45DF-AD50-889BFAAF245C}" srcOrd="3" destOrd="0" presId="urn:microsoft.com/office/officeart/2009/3/layout/HorizontalOrganizationChart"/>
    <dgm:cxn modelId="{22B80344-4341-4FDE-BE98-DB283E9CCA23}" type="presParOf" srcId="{8A2845B6-A24C-45DF-AD50-889BFAAF245C}" destId="{485A4801-F342-4CCA-B924-5EFC4937CE98}" srcOrd="0" destOrd="0" presId="urn:microsoft.com/office/officeart/2009/3/layout/HorizontalOrganizationChart"/>
    <dgm:cxn modelId="{D408BD39-9DB6-4475-A8D2-07AF12590889}" type="presParOf" srcId="{485A4801-F342-4CCA-B924-5EFC4937CE98}" destId="{4E0F0486-8691-437A-BC0A-E2278462547A}" srcOrd="0" destOrd="0" presId="urn:microsoft.com/office/officeart/2009/3/layout/HorizontalOrganizationChart"/>
    <dgm:cxn modelId="{BA51606B-3FB2-48D5-B876-586CA529ADCB}" type="presParOf" srcId="{485A4801-F342-4CCA-B924-5EFC4937CE98}" destId="{1E972ACA-89B4-4521-A886-D217105751E6}" srcOrd="1" destOrd="0" presId="urn:microsoft.com/office/officeart/2009/3/layout/HorizontalOrganizationChart"/>
    <dgm:cxn modelId="{57AF0A67-0D14-4949-81A5-A316FE6797B0}" type="presParOf" srcId="{8A2845B6-A24C-45DF-AD50-889BFAAF245C}" destId="{7458942A-7C60-4F3F-A0D9-2FBFB6D26754}" srcOrd="1" destOrd="0" presId="urn:microsoft.com/office/officeart/2009/3/layout/HorizontalOrganizationChart"/>
    <dgm:cxn modelId="{24303BBB-404B-4A26-A694-ED58069DA785}" type="presParOf" srcId="{8A2845B6-A24C-45DF-AD50-889BFAAF245C}" destId="{11F99F25-268E-4901-B57A-595C083452C9}" srcOrd="2" destOrd="0" presId="urn:microsoft.com/office/officeart/2009/3/layout/HorizontalOrganizationChart"/>
    <dgm:cxn modelId="{01DB3E43-CE2C-4906-A9C6-2AE4B86CB77E}" type="presParOf" srcId="{24D02625-A1D2-4A72-8222-F9FF45018487}" destId="{108F52DD-CB32-4CE9-AC66-C2C689468924}" srcOrd="4" destOrd="0" presId="urn:microsoft.com/office/officeart/2009/3/layout/HorizontalOrganizationChart"/>
    <dgm:cxn modelId="{ABB06E55-6EE5-4F90-8986-08512C7C4B27}" type="presParOf" srcId="{24D02625-A1D2-4A72-8222-F9FF45018487}" destId="{BC16F7B4-DF05-4A87-83CB-1D8FE29A3CF3}" srcOrd="5" destOrd="0" presId="urn:microsoft.com/office/officeart/2009/3/layout/HorizontalOrganizationChart"/>
    <dgm:cxn modelId="{D3A341C5-92E0-43D3-B6AF-C4D8A8A5EC10}" type="presParOf" srcId="{BC16F7B4-DF05-4A87-83CB-1D8FE29A3CF3}" destId="{1417E2F3-7DB1-41F3-84B4-94DE8D2D1131}" srcOrd="0" destOrd="0" presId="urn:microsoft.com/office/officeart/2009/3/layout/HorizontalOrganizationChart"/>
    <dgm:cxn modelId="{8B8FF939-8FCD-47E1-8ABE-B570AD6423DE}" type="presParOf" srcId="{1417E2F3-7DB1-41F3-84B4-94DE8D2D1131}" destId="{82037BCA-ACCB-43E9-9C53-7131C2E313D2}" srcOrd="0" destOrd="0" presId="urn:microsoft.com/office/officeart/2009/3/layout/HorizontalOrganizationChart"/>
    <dgm:cxn modelId="{8C47FB31-C0D2-441F-A362-D9AE0A4BB8BC}" type="presParOf" srcId="{1417E2F3-7DB1-41F3-84B4-94DE8D2D1131}" destId="{5BF37D1F-3120-46B3-ACCD-E01CA3C65C77}" srcOrd="1" destOrd="0" presId="urn:microsoft.com/office/officeart/2009/3/layout/HorizontalOrganizationChart"/>
    <dgm:cxn modelId="{A2FE2F34-3A24-49D5-A6C5-1CB33A19E74F}" type="presParOf" srcId="{BC16F7B4-DF05-4A87-83CB-1D8FE29A3CF3}" destId="{D0FE3609-212D-49DC-8435-3046ED09BA29}" srcOrd="1" destOrd="0" presId="urn:microsoft.com/office/officeart/2009/3/layout/HorizontalOrganizationChart"/>
    <dgm:cxn modelId="{F6133B85-1D50-40ED-B22A-1FABA0814B6E}" type="presParOf" srcId="{BC16F7B4-DF05-4A87-83CB-1D8FE29A3CF3}" destId="{EC7AECE5-9F4A-4992-8707-D90F79C1A074}" srcOrd="2" destOrd="0" presId="urn:microsoft.com/office/officeart/2009/3/layout/HorizontalOrganizationChart"/>
    <dgm:cxn modelId="{C288261B-C4C8-41BA-AC68-CDE1C00451DE}" type="presParOf" srcId="{2FAB6D3F-F014-417D-9045-F312D1ED1FD1}" destId="{DAA6514C-B1A8-4B87-9C94-2ED8416A9E26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8F52DD-CB32-4CE9-AC66-C2C689468924}">
      <dsp:nvSpPr>
        <dsp:cNvPr id="0" name=""/>
        <dsp:cNvSpPr/>
      </dsp:nvSpPr>
      <dsp:spPr>
        <a:xfrm>
          <a:off x="4734560" y="3169750"/>
          <a:ext cx="945895" cy="2033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72947" y="0"/>
              </a:lnTo>
              <a:lnTo>
                <a:pt x="472947" y="2033674"/>
              </a:lnTo>
              <a:lnTo>
                <a:pt x="945895" y="20336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76AB1-140C-4FBC-B70B-9DFAF77F5F78}">
      <dsp:nvSpPr>
        <dsp:cNvPr id="0" name=""/>
        <dsp:cNvSpPr/>
      </dsp:nvSpPr>
      <dsp:spPr>
        <a:xfrm>
          <a:off x="4734560" y="3124030"/>
          <a:ext cx="9458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45895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F75830-FB29-437B-AE54-980DFC7E79DB}">
      <dsp:nvSpPr>
        <dsp:cNvPr id="0" name=""/>
        <dsp:cNvSpPr/>
      </dsp:nvSpPr>
      <dsp:spPr>
        <a:xfrm>
          <a:off x="4734560" y="1136076"/>
          <a:ext cx="945895" cy="2033674"/>
        </a:xfrm>
        <a:custGeom>
          <a:avLst/>
          <a:gdLst/>
          <a:ahLst/>
          <a:cxnLst/>
          <a:rect l="0" t="0" r="0" b="0"/>
          <a:pathLst>
            <a:path>
              <a:moveTo>
                <a:pt x="0" y="2033674"/>
              </a:moveTo>
              <a:lnTo>
                <a:pt x="472947" y="2033674"/>
              </a:lnTo>
              <a:lnTo>
                <a:pt x="472947" y="0"/>
              </a:lnTo>
              <a:lnTo>
                <a:pt x="94589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317475-D43D-442F-8EB9-C3BBAC250BC6}">
      <dsp:nvSpPr>
        <dsp:cNvPr id="0" name=""/>
        <dsp:cNvSpPr/>
      </dsp:nvSpPr>
      <dsp:spPr>
        <a:xfrm>
          <a:off x="5085" y="2819059"/>
          <a:ext cx="4729475" cy="7013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  <a:latin typeface="Chaparral Pro Light" panose="02060403030505090203" pitchFamily="18" charset="0"/>
            </a:rPr>
            <a:t>Neural Network</a:t>
          </a:r>
          <a:endParaRPr lang="en-US" sz="3200" b="1" kern="1200" dirty="0">
            <a:solidFill>
              <a:schemeClr val="bg1"/>
            </a:solidFill>
            <a:latin typeface="Chaparral Pro Light" panose="02060403030505090203" pitchFamily="18" charset="0"/>
          </a:endParaRPr>
        </a:p>
      </dsp:txBody>
      <dsp:txXfrm>
        <a:off x="5085" y="2819059"/>
        <a:ext cx="4729475" cy="701381"/>
      </dsp:txXfrm>
    </dsp:sp>
    <dsp:sp modelId="{27FF1A0F-9B1C-4BA1-BC0C-244B76E2C494}">
      <dsp:nvSpPr>
        <dsp:cNvPr id="0" name=""/>
        <dsp:cNvSpPr/>
      </dsp:nvSpPr>
      <dsp:spPr>
        <a:xfrm>
          <a:off x="5680455" y="414831"/>
          <a:ext cx="4729475" cy="1442489"/>
        </a:xfrm>
        <a:prstGeom prst="rect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Artificial Neural Network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(ANN)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ysClr val="windowText" lastClr="000000"/>
              </a:solidFill>
            </a:rPr>
            <a:t>Regression and classification</a:t>
          </a:r>
          <a:endParaRPr lang="en-US" sz="1700" kern="1200" dirty="0">
            <a:solidFill>
              <a:sysClr val="windowText" lastClr="000000"/>
            </a:solidFill>
          </a:endParaRPr>
        </a:p>
      </dsp:txBody>
      <dsp:txXfrm>
        <a:off x="5680455" y="414831"/>
        <a:ext cx="4729475" cy="1442489"/>
      </dsp:txXfrm>
    </dsp:sp>
    <dsp:sp modelId="{4E0F0486-8691-437A-BC0A-E2278462547A}">
      <dsp:nvSpPr>
        <dsp:cNvPr id="0" name=""/>
        <dsp:cNvSpPr/>
      </dsp:nvSpPr>
      <dsp:spPr>
        <a:xfrm>
          <a:off x="5680455" y="2448505"/>
          <a:ext cx="4729475" cy="1442489"/>
        </a:xfrm>
        <a:prstGeom prst="rect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Convolutional Neural Network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(CNN)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ysClr val="windowText" lastClr="000000"/>
              </a:solidFill>
            </a:rPr>
            <a:t>Computer Vision</a:t>
          </a:r>
          <a:endParaRPr lang="en-US" sz="1800" kern="1200" dirty="0">
            <a:solidFill>
              <a:sysClr val="windowText" lastClr="000000"/>
            </a:solidFill>
          </a:endParaRPr>
        </a:p>
      </dsp:txBody>
      <dsp:txXfrm>
        <a:off x="5680455" y="2448505"/>
        <a:ext cx="4729475" cy="1442489"/>
      </dsp:txXfrm>
    </dsp:sp>
    <dsp:sp modelId="{82037BCA-ACCB-43E9-9C53-7131C2E313D2}">
      <dsp:nvSpPr>
        <dsp:cNvPr id="0" name=""/>
        <dsp:cNvSpPr/>
      </dsp:nvSpPr>
      <dsp:spPr>
        <a:xfrm>
          <a:off x="5680455" y="4482179"/>
          <a:ext cx="4729475" cy="1442489"/>
        </a:xfrm>
        <a:prstGeom prst="rect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Recurrent Neural Network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rPr>
            <a:t>(RNN)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solidFill>
                <a:sysClr val="windowText" lastClr="000000"/>
              </a:solidFill>
            </a:rPr>
            <a:t>Time series analysis</a:t>
          </a:r>
          <a:endParaRPr lang="en-US" sz="1800" kern="1200" dirty="0">
            <a:solidFill>
              <a:sysClr val="windowText" lastClr="000000"/>
            </a:solidFill>
          </a:endParaRPr>
        </a:p>
      </dsp:txBody>
      <dsp:txXfrm>
        <a:off x="5680455" y="4482179"/>
        <a:ext cx="4729475" cy="14424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90BE43-6DB1-2CFA-938B-073A8959DE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6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FA358B-5367-19D0-770E-546969008A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6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D60F30-6664-E383-77A9-40D9730149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93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9F042-FC04-7602-7E55-46ED7C4300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93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15125-596D-4970-B171-EC04BDCB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61689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6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6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45" y="4621215"/>
            <a:ext cx="5851524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93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93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0FF26-DA0E-49B0-AF5A-D1265AD6C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81011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15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9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53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98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3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45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4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6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6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26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83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384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60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33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6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601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03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20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529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31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1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20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6/29/2025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BC7B0-D888-4D2A-AB4D-AA6DCBA07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8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png"/><Relationship Id="rId7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microsoft.com/office/2007/relationships/hdphoto" Target="../media/hdphoto1.wdp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15DE17-B368-466F-B25A-C6893CA7E7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54"/>
          <a:stretch/>
        </p:blipFill>
        <p:spPr>
          <a:xfrm>
            <a:off x="0" y="-1654915"/>
            <a:ext cx="12173146" cy="10394072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C28BFDC2-C957-48F3-8B3E-A2032DD96044}"/>
              </a:ext>
            </a:extLst>
          </p:cNvPr>
          <p:cNvSpPr/>
          <p:nvPr/>
        </p:nvSpPr>
        <p:spPr>
          <a:xfrm>
            <a:off x="0" y="1470582"/>
            <a:ext cx="9803876" cy="4014532"/>
          </a:xfrm>
          <a:prstGeom prst="homePlat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17895-16A0-4A21-BFDA-484E49A24FD3}"/>
              </a:ext>
            </a:extLst>
          </p:cNvPr>
          <p:cNvSpPr txBox="1"/>
          <p:nvPr/>
        </p:nvSpPr>
        <p:spPr>
          <a:xfrm>
            <a:off x="1706538" y="2393989"/>
            <a:ext cx="65155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haparral Pro Light" panose="02060403030505090203" pitchFamily="18" charset="0"/>
              </a:rPr>
              <a:t>Introduction to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068969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8AA5D4-1956-450D-84B8-2C575994156A}"/>
              </a:ext>
            </a:extLst>
          </p:cNvPr>
          <p:cNvGrpSpPr/>
          <p:nvPr/>
        </p:nvGrpSpPr>
        <p:grpSpPr>
          <a:xfrm>
            <a:off x="155011" y="213135"/>
            <a:ext cx="11868587" cy="6513948"/>
            <a:chOff x="155011" y="213135"/>
            <a:chExt cx="11868587" cy="6513948"/>
          </a:xfrm>
        </p:grpSpPr>
        <p:pic>
          <p:nvPicPr>
            <p:cNvPr id="2" name="Picture 1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8F45CD5F-3CF8-4104-BBAE-9ECBF1A52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011" y="315751"/>
              <a:ext cx="3021031" cy="333383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8E7410F-B69F-402A-8CD3-208332A5D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330" b="93352" l="9989" r="89900">
                          <a14:foregroundMark x1="14509" y1="93352" x2="14509" y2="93352"/>
                          <a14:foregroundMark x1="25391" y1="92961" x2="25391" y2="92961"/>
                          <a14:foregroundMark x1="23158" y1="9330" x2="23158" y2="9330"/>
                          <a14:foregroundMark x1="55636" y1="40950" x2="55636" y2="409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942" y="4742007"/>
              <a:ext cx="1987294" cy="198507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5" name="Picture 4" descr="A person posing for a photo&#10;&#10;Description automatically generated">
              <a:extLst>
                <a:ext uri="{FF2B5EF4-FFF2-40B4-BE49-F238E27FC236}">
                  <a16:creationId xmlns:a16="http://schemas.microsoft.com/office/drawing/2014/main" id="{4BBB5B75-96D9-4B4D-B3F2-6289C94F4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1362" y="3955383"/>
              <a:ext cx="3412236" cy="277170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7" name="Picture 6" descr="A close up of a dog&#10;&#10;Description automatically generated">
              <a:extLst>
                <a:ext uri="{FF2B5EF4-FFF2-40B4-BE49-F238E27FC236}">
                  <a16:creationId xmlns:a16="http://schemas.microsoft.com/office/drawing/2014/main" id="{09EEEF50-A488-4BC8-8512-8C7267C863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844" t="21501" r="1084" b="9913"/>
            <a:stretch/>
          </p:blipFill>
          <p:spPr>
            <a:xfrm>
              <a:off x="6228613" y="213135"/>
              <a:ext cx="2907428" cy="277170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9" name="Picture 8" descr="A picture containing man, outdoor&#10;&#10;Description automatically generated">
              <a:extLst>
                <a:ext uri="{FF2B5EF4-FFF2-40B4-BE49-F238E27FC236}">
                  <a16:creationId xmlns:a16="http://schemas.microsoft.com/office/drawing/2014/main" id="{92DF661E-263D-405E-BC56-16CDEA6B6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0861" y="315751"/>
              <a:ext cx="2087252" cy="208725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3DE2EA3-C538-492F-B594-2134C9EA0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5047" y="4656106"/>
              <a:ext cx="2976161" cy="198507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13" name="Picture 12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3F1DC892-2AE7-4AAD-BEF9-19E2FFC071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07" t="10753" r="33468"/>
            <a:stretch/>
          </p:blipFill>
          <p:spPr>
            <a:xfrm>
              <a:off x="9536542" y="220588"/>
              <a:ext cx="2269474" cy="3428999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15" name="Picture 14" descr="A close up of text on a white background&#10;&#10;Description automatically generated">
              <a:extLst>
                <a:ext uri="{FF2B5EF4-FFF2-40B4-BE49-F238E27FC236}">
                  <a16:creationId xmlns:a16="http://schemas.microsoft.com/office/drawing/2014/main" id="{57C7C31C-107C-43A4-9528-876118BFB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148" y="4561431"/>
              <a:ext cx="3123121" cy="1972811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43845945-7135-4198-BE72-3D9CCB934F42}"/>
              </a:ext>
            </a:extLst>
          </p:cNvPr>
          <p:cNvSpPr txBox="1">
            <a:spLocks/>
          </p:cNvSpPr>
          <p:nvPr/>
        </p:nvSpPr>
        <p:spPr>
          <a:xfrm>
            <a:off x="4157750" y="3285243"/>
            <a:ext cx="3647132" cy="8537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haparral Pro Light" panose="02060403030505090203" pitchFamily="18" charset="0"/>
              </a:rPr>
              <a:t>Applications</a:t>
            </a:r>
            <a:endParaRPr lang="en-US" sz="5400" b="1" dirty="0">
              <a:latin typeface="Chaparral Pro Light" panose="0206040303050509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03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05" y="1599598"/>
            <a:ext cx="10026316" cy="36846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B99271-B745-43A0-A82F-7338BDDE2B09}"/>
              </a:ext>
            </a:extLst>
          </p:cNvPr>
          <p:cNvSpPr txBox="1">
            <a:spLocks/>
          </p:cNvSpPr>
          <p:nvPr/>
        </p:nvSpPr>
        <p:spPr>
          <a:xfrm>
            <a:off x="3828825" y="369102"/>
            <a:ext cx="4629375" cy="8537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5400" b="1">
                <a:latin typeface="Chaparral Pro Light" panose="020604030305050902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66291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75B8D0-9324-447F-9CC0-FD6DF613DB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48" b="54225"/>
          <a:stretch/>
        </p:blipFill>
        <p:spPr>
          <a:xfrm>
            <a:off x="1037191" y="1140759"/>
            <a:ext cx="9623842" cy="16321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FAE014-985C-49E4-9442-B0E7EB6ACF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88"/>
          <a:stretch/>
        </p:blipFill>
        <p:spPr>
          <a:xfrm>
            <a:off x="1284078" y="4730102"/>
            <a:ext cx="9623842" cy="156096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90A35B6-CEA8-468E-A31D-BF36111BA071}"/>
              </a:ext>
            </a:extLst>
          </p:cNvPr>
          <p:cNvSpPr txBox="1">
            <a:spLocks/>
          </p:cNvSpPr>
          <p:nvPr/>
        </p:nvSpPr>
        <p:spPr>
          <a:xfrm>
            <a:off x="4151643" y="382631"/>
            <a:ext cx="3888711" cy="8537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5400" b="1">
                <a:latin typeface="Chaparral Pro Light" panose="02060403030505090203" pitchFamily="18" charset="0"/>
                <a:ea typeface="+mj-ea"/>
                <a:cs typeface="+mj-cs"/>
              </a:defRPr>
            </a:lvl1pPr>
          </a:lstStyle>
          <a:p>
            <a:r>
              <a:rPr lang="en-US" sz="3200" dirty="0"/>
              <a:t>Shallow learning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21AAB29-6296-487E-893A-66A929BF95BF}"/>
              </a:ext>
            </a:extLst>
          </p:cNvPr>
          <p:cNvSpPr txBox="1">
            <a:spLocks/>
          </p:cNvSpPr>
          <p:nvPr/>
        </p:nvSpPr>
        <p:spPr>
          <a:xfrm>
            <a:off x="4435107" y="3876385"/>
            <a:ext cx="3321784" cy="8537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5400" b="1">
                <a:latin typeface="Chaparral Pro Light" panose="02060403030505090203" pitchFamily="18" charset="0"/>
                <a:ea typeface="+mj-ea"/>
                <a:cs typeface="+mj-cs"/>
              </a:defRPr>
            </a:lvl1pPr>
          </a:lstStyle>
          <a:p>
            <a:r>
              <a:rPr lang="en-US" sz="3200" dirty="0"/>
              <a:t>Deep learning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343A71-6E4B-470D-9331-4C80ED955E5D}"/>
              </a:ext>
            </a:extLst>
          </p:cNvPr>
          <p:cNvCxnSpPr/>
          <p:nvPr/>
        </p:nvCxnSpPr>
        <p:spPr>
          <a:xfrm>
            <a:off x="448056" y="3429000"/>
            <a:ext cx="11228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468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6ADD1ED-ED28-4988-8AB4-515A61977A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9632036"/>
              </p:ext>
            </p:extLst>
          </p:nvPr>
        </p:nvGraphicFramePr>
        <p:xfrm>
          <a:off x="832104" y="185973"/>
          <a:ext cx="10415016" cy="6339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C41D6A52-93AF-40DF-9B95-C8DD2EC6B883}"/>
              </a:ext>
            </a:extLst>
          </p:cNvPr>
          <p:cNvSpPr txBox="1">
            <a:spLocks/>
          </p:cNvSpPr>
          <p:nvPr/>
        </p:nvSpPr>
        <p:spPr>
          <a:xfrm>
            <a:off x="3828825" y="369102"/>
            <a:ext cx="4629375" cy="8537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5400" b="1">
                <a:latin typeface="Chaparral Pro Light" panose="02060403030505090203" pitchFamily="18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482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7B31-6B31-4EDC-9FA9-DE3F92F4D0C5}"/>
              </a:ext>
            </a:extLst>
          </p:cNvPr>
          <p:cNvSpPr txBox="1">
            <a:spLocks/>
          </p:cNvSpPr>
          <p:nvPr/>
        </p:nvSpPr>
        <p:spPr>
          <a:xfrm>
            <a:off x="2420112" y="351396"/>
            <a:ext cx="7351776" cy="8537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5400" b="1">
                <a:latin typeface="Chaparral Pro Light" panose="020604030305050902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Artificial Neural Network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12FFF66-7CB8-4136-BAC1-9EFFB76E9FAF}"/>
              </a:ext>
            </a:extLst>
          </p:cNvPr>
          <p:cNvGrpSpPr/>
          <p:nvPr/>
        </p:nvGrpSpPr>
        <p:grpSpPr>
          <a:xfrm>
            <a:off x="234696" y="1283801"/>
            <a:ext cx="5715000" cy="4095051"/>
            <a:chOff x="234696" y="1283801"/>
            <a:chExt cx="5715000" cy="4095051"/>
          </a:xfrm>
        </p:grpSpPr>
        <p:pic>
          <p:nvPicPr>
            <p:cNvPr id="5" name="Picture 4" descr="A close up of a logo&#10;&#10;Description automatically generated">
              <a:extLst>
                <a:ext uri="{FF2B5EF4-FFF2-40B4-BE49-F238E27FC236}">
                  <a16:creationId xmlns:a16="http://schemas.microsoft.com/office/drawing/2014/main" id="{5300BAC1-5400-4900-830F-72E3A303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696" y="2664227"/>
              <a:ext cx="5715000" cy="271462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A95E2A5-5F13-4215-BD13-D567B32C2875}"/>
                </a:ext>
              </a:extLst>
            </p:cNvPr>
            <p:cNvSpPr txBox="1"/>
            <p:nvPr/>
          </p:nvSpPr>
          <p:spPr>
            <a:xfrm>
              <a:off x="1396521" y="1283801"/>
              <a:ext cx="24323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Single layer perceptron</a:t>
              </a:r>
              <a:endPara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6FC83B2-B297-48A0-B867-F5DC30538B97}"/>
              </a:ext>
            </a:extLst>
          </p:cNvPr>
          <p:cNvGrpSpPr/>
          <p:nvPr/>
        </p:nvGrpSpPr>
        <p:grpSpPr>
          <a:xfrm>
            <a:off x="6701278" y="1283801"/>
            <a:ext cx="4963418" cy="4839038"/>
            <a:chOff x="6701278" y="1283801"/>
            <a:chExt cx="4963418" cy="4839038"/>
          </a:xfrm>
        </p:grpSpPr>
        <p:pic>
          <p:nvPicPr>
            <p:cNvPr id="3" name="Picture 2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FF430CF-933F-4611-82C1-9B9358FBC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1278" y="1920238"/>
              <a:ext cx="4963418" cy="42026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5A70F7-5B75-441F-8091-682B4D8BBF24}"/>
                </a:ext>
              </a:extLst>
            </p:cNvPr>
            <p:cNvSpPr txBox="1"/>
            <p:nvPr/>
          </p:nvSpPr>
          <p:spPr>
            <a:xfrm>
              <a:off x="8043674" y="1283801"/>
              <a:ext cx="24323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70C0"/>
                  </a:solidFill>
                </a:rPr>
                <a:t>Multi-layer perceptron</a:t>
              </a:r>
              <a:endParaRPr lang="en-US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577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F9EB9F2-07E2-4D64-BBD8-BB5B217F1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2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A3187-B8D5-42AD-8EFB-2C8EF5E5B91D}"/>
              </a:ext>
            </a:extLst>
          </p:cNvPr>
          <p:cNvSpPr txBox="1">
            <a:spLocks/>
          </p:cNvSpPr>
          <p:nvPr/>
        </p:nvSpPr>
        <p:spPr>
          <a:xfrm>
            <a:off x="4380588" y="965199"/>
            <a:ext cx="6766078" cy="4927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Chaparral Pro Light" panose="02060403030505090203" pitchFamily="18" charset="0"/>
                <a:ea typeface="+mj-ea"/>
                <a:cs typeface="+mj-cs"/>
              </a:rPr>
              <a:t>Convolutional </a:t>
            </a:r>
          </a:p>
          <a:p>
            <a:pPr marL="0"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Chaparral Pro Light" panose="02060403030505090203" pitchFamily="18" charset="0"/>
                <a:ea typeface="+mj-ea"/>
                <a:cs typeface="+mj-cs"/>
              </a:rPr>
              <a:t>Neural </a:t>
            </a:r>
          </a:p>
          <a:p>
            <a:pPr marL="0"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Chaparral Pro Light" panose="02060403030505090203" pitchFamily="18" charset="0"/>
                <a:ea typeface="+mj-ea"/>
                <a:cs typeface="+mj-cs"/>
              </a:rPr>
              <a:t>Network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C57C7C-DFE9-4A1E-B7A9-DF40E633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775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706" y="1237129"/>
            <a:ext cx="11049000" cy="523090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Convolutional Neural Networks (</a:t>
            </a:r>
            <a:r>
              <a:rPr lang="en-US" b="1" dirty="0"/>
              <a:t>CNNs</a:t>
            </a:r>
            <a:r>
              <a:rPr lang="en-US" dirty="0"/>
              <a:t>) </a:t>
            </a:r>
            <a:r>
              <a:rPr lang="en-US" b="1" dirty="0"/>
              <a:t>learns multi-level features and classifier in a joint fashion</a:t>
            </a:r>
            <a:r>
              <a:rPr lang="en-US" dirty="0"/>
              <a:t> and performs much </a:t>
            </a:r>
            <a:r>
              <a:rPr lang="en-US" b="1" dirty="0"/>
              <a:t>better than traditional approaches</a:t>
            </a:r>
            <a:r>
              <a:rPr lang="en-US" dirty="0"/>
              <a:t> for various image classification and segmentation problems.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6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82706" y="349624"/>
            <a:ext cx="3693460" cy="737534"/>
          </a:xfrm>
        </p:spPr>
        <p:txBody>
          <a:bodyPr>
            <a:noAutofit/>
          </a:bodyPr>
          <a:lstStyle/>
          <a:p>
            <a:r>
              <a:rPr lang="en-US" b="1" dirty="0">
                <a:latin typeface="Chaparral Pro Light" panose="02060403030505090203" pitchFamily="18" charset="0"/>
              </a:rPr>
              <a:t>Introduction</a:t>
            </a:r>
            <a:endParaRPr lang="en-US" sz="4800" b="1" dirty="0">
              <a:latin typeface="Chaparral Pro Light" panose="020604030305050902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6" y="2814356"/>
            <a:ext cx="10997960" cy="342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5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44771" y="2392350"/>
            <a:ext cx="10809029" cy="1228298"/>
            <a:chOff x="380996" y="1801281"/>
            <a:chExt cx="10809029" cy="1228298"/>
          </a:xfrm>
        </p:grpSpPr>
        <p:grpSp>
          <p:nvGrpSpPr>
            <p:cNvPr id="5" name="Group 4"/>
            <p:cNvGrpSpPr/>
            <p:nvPr/>
          </p:nvGrpSpPr>
          <p:grpSpPr>
            <a:xfrm>
              <a:off x="2248745" y="1969854"/>
              <a:ext cx="8941280" cy="923330"/>
              <a:chOff x="2190722" y="2055019"/>
              <a:chExt cx="7235287" cy="697838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2541439" y="2055019"/>
                <a:ext cx="968355" cy="697838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Low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Level Features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067479" y="2055019"/>
                <a:ext cx="917131" cy="697838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Mid Level Features</a:t>
                </a:r>
              </a:p>
            </p:txBody>
          </p:sp>
          <p:cxnSp>
            <p:nvCxnSpPr>
              <p:cNvPr id="9" name="Straight Arrow Connector 8"/>
              <p:cNvCxnSpPr/>
              <p:nvPr/>
            </p:nvCxnSpPr>
            <p:spPr bwMode="auto">
              <a:xfrm>
                <a:off x="2190722" y="2426881"/>
                <a:ext cx="350717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" name="Straight Arrow Connector 9"/>
              <p:cNvCxnSpPr/>
              <p:nvPr/>
            </p:nvCxnSpPr>
            <p:spPr bwMode="auto">
              <a:xfrm flipV="1">
                <a:off x="3526518" y="2424351"/>
                <a:ext cx="527426" cy="253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" name="Straight Arrow Connector 10"/>
              <p:cNvCxnSpPr/>
              <p:nvPr/>
            </p:nvCxnSpPr>
            <p:spPr bwMode="auto">
              <a:xfrm flipV="1">
                <a:off x="6365640" y="2419335"/>
                <a:ext cx="459931" cy="262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" name="TextBox 11"/>
              <p:cNvSpPr txBox="1"/>
              <p:nvPr/>
            </p:nvSpPr>
            <p:spPr>
              <a:xfrm>
                <a:off x="8213345" y="2218977"/>
                <a:ext cx="1212664" cy="395441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Output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(e.g. car, train)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455253" y="2055019"/>
                <a:ext cx="917131" cy="697838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High Level Features</a:t>
                </a:r>
              </a:p>
            </p:txBody>
          </p:sp>
          <p:cxnSp>
            <p:nvCxnSpPr>
              <p:cNvPr id="14" name="Straight Arrow Connector 13"/>
              <p:cNvCxnSpPr/>
              <p:nvPr/>
            </p:nvCxnSpPr>
            <p:spPr bwMode="auto">
              <a:xfrm flipV="1">
                <a:off x="4984610" y="2403703"/>
                <a:ext cx="451781" cy="5967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5" name="TextBox 14"/>
              <p:cNvSpPr txBox="1"/>
              <p:nvPr/>
            </p:nvSpPr>
            <p:spPr>
              <a:xfrm>
                <a:off x="6821415" y="2162741"/>
                <a:ext cx="917131" cy="488486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Trainable Classifier</a:t>
                </a:r>
              </a:p>
            </p:txBody>
          </p:sp>
          <p:cxnSp>
            <p:nvCxnSpPr>
              <p:cNvPr id="16" name="Straight Arrow Connector 15"/>
              <p:cNvCxnSpPr/>
              <p:nvPr/>
            </p:nvCxnSpPr>
            <p:spPr bwMode="auto">
              <a:xfrm flipV="1">
                <a:off x="7753414" y="2421731"/>
                <a:ext cx="459931" cy="262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80996" y="1801281"/>
              <a:ext cx="1869742" cy="1228298"/>
            </a:xfrm>
            <a:prstGeom prst="rect">
              <a:avLst/>
            </a:prstGeom>
          </p:spPr>
        </p:pic>
      </p:grpSp>
      <p:grpSp>
        <p:nvGrpSpPr>
          <p:cNvPr id="17" name="Group 16"/>
          <p:cNvGrpSpPr/>
          <p:nvPr/>
        </p:nvGrpSpPr>
        <p:grpSpPr>
          <a:xfrm>
            <a:off x="2275787" y="3575501"/>
            <a:ext cx="1883391" cy="2824145"/>
            <a:chOff x="2275787" y="2547706"/>
            <a:chExt cx="1883391" cy="2824145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5787" y="3092675"/>
              <a:ext cx="1883391" cy="2279176"/>
            </a:xfrm>
            <a:prstGeom prst="rect">
              <a:avLst/>
            </a:prstGeom>
          </p:spPr>
        </p:pic>
        <p:cxnSp>
          <p:nvCxnSpPr>
            <p:cNvPr id="19" name="Straight Arrow Connector 18"/>
            <p:cNvCxnSpPr/>
            <p:nvPr/>
          </p:nvCxnSpPr>
          <p:spPr>
            <a:xfrm flipV="1">
              <a:off x="3462948" y="2547706"/>
              <a:ext cx="0" cy="54496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4277383" y="3582324"/>
            <a:ext cx="1924334" cy="2817322"/>
            <a:chOff x="4277383" y="2554529"/>
            <a:chExt cx="1924334" cy="2817322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277383" y="3092675"/>
              <a:ext cx="1924334" cy="2279176"/>
            </a:xfrm>
            <a:prstGeom prst="rect">
              <a:avLst/>
            </a:prstGeom>
          </p:spPr>
        </p:pic>
        <p:cxnSp>
          <p:nvCxnSpPr>
            <p:cNvPr id="22" name="Straight Arrow Connector 21"/>
            <p:cNvCxnSpPr/>
            <p:nvPr/>
          </p:nvCxnSpPr>
          <p:spPr>
            <a:xfrm flipV="1">
              <a:off x="5348613" y="2554529"/>
              <a:ext cx="0" cy="54496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6278978" y="3564252"/>
            <a:ext cx="1856096" cy="2828570"/>
            <a:chOff x="6278978" y="2536457"/>
            <a:chExt cx="1856096" cy="2828570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278978" y="3099498"/>
              <a:ext cx="1856096" cy="2265529"/>
            </a:xfrm>
            <a:prstGeom prst="rect">
              <a:avLst/>
            </a:prstGeom>
          </p:spPr>
        </p:pic>
        <p:cxnSp>
          <p:nvCxnSpPr>
            <p:cNvPr id="25" name="Straight Arrow Connector 24"/>
            <p:cNvCxnSpPr/>
            <p:nvPr/>
          </p:nvCxnSpPr>
          <p:spPr>
            <a:xfrm flipV="1">
              <a:off x="7056859" y="2536457"/>
              <a:ext cx="0" cy="54496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500734" y="454079"/>
            <a:ext cx="69933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latin typeface="Chaparral Pro Light" panose="02060403030505090203" pitchFamily="18" charset="0"/>
                <a:ea typeface="+mj-ea"/>
                <a:cs typeface="+mj-cs"/>
              </a:rPr>
              <a:t>CNN – What do they learn?</a:t>
            </a:r>
            <a:endParaRPr lang="en-GB" sz="4800" b="1" dirty="0">
              <a:latin typeface="Chaparral Pro Light" panose="02060403030505090203" pitchFamily="18" charset="0"/>
              <a:ea typeface="+mj-ea"/>
              <a:cs typeface="+mj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608729" y="2184246"/>
            <a:ext cx="5230905" cy="173585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969865" y="2185018"/>
            <a:ext cx="3535125" cy="173585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97397" y="1673164"/>
            <a:ext cx="2702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Convolutional layers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184" y="1673164"/>
            <a:ext cx="2852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Fully connected layers</a:t>
            </a:r>
          </a:p>
        </p:txBody>
      </p:sp>
    </p:spTree>
    <p:extLst>
      <p:ext uri="{BB962C8B-B14F-4D97-AF65-F5344CB8AC3E}">
        <p14:creationId xmlns:p14="http://schemas.microsoft.com/office/powerpoint/2010/main" val="370612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399" y="1275529"/>
            <a:ext cx="6497052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are four main </a:t>
            </a:r>
            <a:r>
              <a:rPr lang="en-US" sz="2600" dirty="0">
                <a:solidFill>
                  <a:prstClr val="black"/>
                </a:solidFill>
                <a:latin typeface="Calibri" panose="020F0502020204030204"/>
              </a:rPr>
              <a:t>components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in the CNN: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Convolution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Non-Linearity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Pooling or Sub Sampling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Classification (Fully Connected Layer)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8559" y="352199"/>
            <a:ext cx="492590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latin typeface="Chaparral Pro Light" panose="02060403030505090203" pitchFamily="18" charset="0"/>
                <a:ea typeface="+mj-ea"/>
                <a:cs typeface="+mj-cs"/>
              </a:rPr>
              <a:t>CNN - Components</a:t>
            </a:r>
            <a:endParaRPr lang="en-GB" sz="4800" b="1" dirty="0">
              <a:latin typeface="Chaparral Pro Light" panose="02060403030505090203" pitchFamily="18" charset="0"/>
              <a:ea typeface="+mj-ea"/>
              <a:cs typeface="+mj-cs"/>
            </a:endParaRPr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695" y="3397297"/>
            <a:ext cx="6725693" cy="3262960"/>
          </a:xfrm>
        </p:spPr>
      </p:pic>
    </p:spTree>
    <p:extLst>
      <p:ext uri="{BB962C8B-B14F-4D97-AF65-F5344CB8AC3E}">
        <p14:creationId xmlns:p14="http://schemas.microsoft.com/office/powerpoint/2010/main" val="154125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192" y="528738"/>
            <a:ext cx="2025316" cy="699245"/>
          </a:xfrm>
        </p:spPr>
        <p:txBody>
          <a:bodyPr>
            <a:normAutofit fontScale="90000"/>
          </a:bodyPr>
          <a:lstStyle/>
          <a:p>
            <a:r>
              <a:rPr lang="en-US" sz="5300" b="1" dirty="0">
                <a:solidFill>
                  <a:srgbClr val="0070C0"/>
                </a:solidFill>
                <a:latin typeface="Chaparral Pro Light" panose="02060403030505090203" pitchFamily="18" charset="0"/>
              </a:rPr>
              <a:t>Input</a:t>
            </a:r>
            <a:endParaRPr lang="en-US" sz="5400" b="1" dirty="0">
              <a:solidFill>
                <a:srgbClr val="0070C0"/>
              </a:solidFill>
              <a:latin typeface="Chaparral Pro Light" panose="020604030305050902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7160" y="1558039"/>
            <a:ext cx="4813375" cy="389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Image is a matrix of pixel values.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we consider a gray scale image, the value of each pixel in the matrix will range from 0 to 255.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we consider an RGB image, each pixel will have the combined values of R, G and B.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302" y="1441745"/>
            <a:ext cx="1963979" cy="1963979"/>
          </a:xfrm>
          <a:prstGeom prst="rect">
            <a:avLst/>
          </a:prstGeom>
        </p:spPr>
      </p:pic>
      <p:pic>
        <p:nvPicPr>
          <p:cNvPr id="1026" name="Picture 2" descr="https://adeshpande3.github.io/assets/Corgi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218" y="3642712"/>
            <a:ext cx="5578149" cy="194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201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950" y="1567544"/>
            <a:ext cx="11078555" cy="497763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The size of the output volume is controlled by three parameters that we need to decide before the convolution step is performed: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Depth:</a:t>
            </a:r>
            <a:r>
              <a:rPr lang="en-US" dirty="0"/>
              <a:t> Depth corresponds to the number of filters we use for the convolution operation.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US" sz="900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Stride: </a:t>
            </a:r>
            <a:r>
              <a:rPr lang="en-US" dirty="0"/>
              <a:t>Stride is</a:t>
            </a:r>
            <a:r>
              <a:rPr lang="en-US" b="1" dirty="0"/>
              <a:t> </a:t>
            </a:r>
            <a:r>
              <a:rPr lang="en-US" dirty="0"/>
              <a:t>the number of pixels by which we slide our filter matrix over the input matrix.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US" sz="1050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Zero-padding: </a:t>
            </a:r>
            <a:r>
              <a:rPr lang="en-US" dirty="0"/>
              <a:t>Sometimes, it is convenient to pad the input matrix with zeros around the border, so that we can apply the filter to bordering elements of our input image matrix. </a:t>
            </a:r>
          </a:p>
          <a:p>
            <a:pPr lvl="2" algn="just">
              <a:lnSpc>
                <a:spcPct val="100000"/>
              </a:lnSpc>
            </a:pPr>
            <a:r>
              <a:rPr lang="en-US" dirty="0"/>
              <a:t>With zero-padding  </a:t>
            </a:r>
            <a:r>
              <a:rPr lang="en-US" i="1" dirty="0"/>
              <a:t>wide convolution</a:t>
            </a:r>
          </a:p>
          <a:p>
            <a:pPr lvl="2" algn="just">
              <a:lnSpc>
                <a:spcPct val="100000"/>
              </a:lnSpc>
            </a:pPr>
            <a:r>
              <a:rPr lang="en-US" dirty="0"/>
              <a:t>Without zero-padding  </a:t>
            </a:r>
            <a:r>
              <a:rPr lang="en-US" i="1" dirty="0"/>
              <a:t>narrow convolution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43950" y="377334"/>
            <a:ext cx="4811344" cy="119021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Chaparral Pro Light" panose="02060403030505090203" pitchFamily="18" charset="0"/>
              </a:rPr>
              <a:t>Convolution...</a:t>
            </a:r>
          </a:p>
        </p:txBody>
      </p:sp>
    </p:spTree>
    <p:extLst>
      <p:ext uri="{BB962C8B-B14F-4D97-AF65-F5344CB8AC3E}">
        <p14:creationId xmlns:p14="http://schemas.microsoft.com/office/powerpoint/2010/main" val="296822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113" y="1584283"/>
            <a:ext cx="4554537" cy="17049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113" y="3489230"/>
            <a:ext cx="4554537" cy="1866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5579" y="2080217"/>
            <a:ext cx="6487885" cy="3395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663" marR="0" lvl="1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Replaces all negative pixel values in the feature map by zero.</a:t>
            </a:r>
          </a:p>
          <a:p>
            <a:pPr marL="347663" marR="0" lvl="1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7663" marR="0" lvl="1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purpose of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to introduce non-linearity in CNN, since most of the real-world data would be non-linear.</a:t>
            </a:r>
          </a:p>
          <a:p>
            <a:pPr marL="347663" marR="0" lvl="1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7663" marR="0" lvl="1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 non-linear functions such as tanh (-1,1) or sigmoid (0,1) can also be used instead of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(0,input).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12648" y="394073"/>
            <a:ext cx="10515600" cy="1190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0070C0"/>
                </a:solidFill>
                <a:latin typeface="Chaparral Pro Light" panose="02060403030505090203" pitchFamily="18" charset="0"/>
              </a:rPr>
              <a:t>Non-Linearity (</a:t>
            </a:r>
            <a:r>
              <a:rPr lang="en-US" sz="4800" b="1" dirty="0" err="1">
                <a:solidFill>
                  <a:srgbClr val="0070C0"/>
                </a:solidFill>
                <a:latin typeface="Chaparral Pro Light" panose="02060403030505090203" pitchFamily="18" charset="0"/>
              </a:rPr>
              <a:t>ReLU</a:t>
            </a:r>
            <a:r>
              <a:rPr lang="en-US" sz="4800" b="1" dirty="0">
                <a:solidFill>
                  <a:srgbClr val="0070C0"/>
                </a:solidFill>
                <a:latin typeface="Chaparral Pro Light" panose="02060403030505090203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479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een Shot 2016-08-07 at 6.11.53 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77096"/>
            <a:ext cx="5360274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73768" y="450549"/>
            <a:ext cx="10515600" cy="992856"/>
          </a:xfrm>
        </p:spPr>
        <p:txBody>
          <a:bodyPr>
            <a:normAutofit/>
          </a:bodyPr>
          <a:lstStyle/>
          <a:p>
            <a:pPr lvl="1"/>
            <a:r>
              <a:rPr lang="en-US" sz="4800" b="1" kern="1200" dirty="0">
                <a:solidFill>
                  <a:srgbClr val="0070C0"/>
                </a:solidFill>
                <a:latin typeface="Chaparral Pro Light" panose="02060403030505090203" pitchFamily="18" charset="0"/>
                <a:ea typeface="+mj-ea"/>
                <a:cs typeface="+mj-cs"/>
              </a:rPr>
              <a:t>Pooling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768" y="1717693"/>
            <a:ext cx="11082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the dimensionality of each feature map but retains the most important information. Pooling can be of different types: Max, Average, Sum etc.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949216" y="3092430"/>
            <a:ext cx="3905250" cy="2655332"/>
            <a:chOff x="7018255" y="3112504"/>
            <a:chExt cx="3905250" cy="265533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8255" y="3112504"/>
              <a:ext cx="3905250" cy="2286000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7576195" y="5398504"/>
              <a:ext cx="1277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2×2 region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23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1586144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Together these layers extract the useful features from the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output from the convolutional and pooling layers represent high-level features of the input image.</a:t>
            </a:r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Chaparral Pro Light" panose="02060403030505090203" pitchFamily="18" charset="0"/>
              </a:rPr>
              <a:t>Story</a:t>
            </a:r>
            <a:r>
              <a:rPr lang="en-US" b="1" dirty="0"/>
              <a:t> </a:t>
            </a:r>
            <a:r>
              <a:rPr lang="en-US" sz="5400" b="1" dirty="0">
                <a:latin typeface="Chaparral Pro Light" panose="02060403030505090203" pitchFamily="18" charset="0"/>
              </a:rPr>
              <a:t>so</a:t>
            </a:r>
            <a:r>
              <a:rPr lang="en-US" b="1" dirty="0"/>
              <a:t> </a:t>
            </a:r>
            <a:r>
              <a:rPr lang="en-US" sz="5400" b="1" dirty="0">
                <a:latin typeface="Chaparral Pro Light" panose="02060403030505090203" pitchFamily="18" charset="0"/>
              </a:rPr>
              <a:t>far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6414319-2F28-42BE-88DA-1737B41DE8DC}"/>
              </a:ext>
            </a:extLst>
          </p:cNvPr>
          <p:cNvGrpSpPr/>
          <p:nvPr/>
        </p:nvGrpSpPr>
        <p:grpSpPr>
          <a:xfrm>
            <a:off x="838200" y="2383659"/>
            <a:ext cx="8626150" cy="4474341"/>
            <a:chOff x="1782925" y="2479528"/>
            <a:chExt cx="8626150" cy="447434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A82C379-F451-4262-A15C-862245674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2925" y="3061345"/>
              <a:ext cx="8626150" cy="3337825"/>
            </a:xfrm>
            <a:prstGeom prst="rect">
              <a:avLst/>
            </a:prstGeom>
          </p:spPr>
        </p:pic>
        <p:sp>
          <p:nvSpPr>
            <p:cNvPr id="2" name="Flowchart: Process 1">
              <a:extLst>
                <a:ext uri="{FF2B5EF4-FFF2-40B4-BE49-F238E27FC236}">
                  <a16:creationId xmlns:a16="http://schemas.microsoft.com/office/drawing/2014/main" id="{A0416DD0-CE4C-4DF7-9755-BD89A03329B7}"/>
                </a:ext>
              </a:extLst>
            </p:cNvPr>
            <p:cNvSpPr/>
            <p:nvPr/>
          </p:nvSpPr>
          <p:spPr>
            <a:xfrm rot="18910649">
              <a:off x="7787019" y="2479528"/>
              <a:ext cx="1546705" cy="447434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Notched Right Arrow 3"/>
          <p:cNvSpPr/>
          <p:nvPr/>
        </p:nvSpPr>
        <p:spPr>
          <a:xfrm>
            <a:off x="6898341" y="4265653"/>
            <a:ext cx="927847" cy="295836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54788" y="4192157"/>
            <a:ext cx="2581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High-level features</a:t>
            </a:r>
          </a:p>
        </p:txBody>
      </p:sp>
    </p:spTree>
    <p:extLst>
      <p:ext uri="{BB962C8B-B14F-4D97-AF65-F5344CB8AC3E}">
        <p14:creationId xmlns:p14="http://schemas.microsoft.com/office/powerpoint/2010/main" val="130537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42" y="1344168"/>
            <a:ext cx="11130390" cy="430682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8FDE82F-9814-48A9-807E-486E70DF0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</p:spPr>
        <p:txBody>
          <a:bodyPr>
            <a:normAutofit/>
          </a:bodyPr>
          <a:lstStyle/>
          <a:p>
            <a:pPr lvl="1"/>
            <a:r>
              <a:rPr lang="en-US" sz="4400" b="1" kern="1200" dirty="0">
                <a:solidFill>
                  <a:schemeClr val="tx1"/>
                </a:solidFill>
                <a:latin typeface="Chaparral Pro Light" panose="02060403030505090203" pitchFamily="18" charset="0"/>
                <a:ea typeface="+mj-ea"/>
                <a:cs typeface="+mj-cs"/>
              </a:rPr>
              <a:t>Overall CNN Architecture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6431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344" y="342001"/>
            <a:ext cx="11552864" cy="105595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haparral Pro Light" panose="02060403030505090203" pitchFamily="18" charset="0"/>
              </a:rPr>
              <a:t>Putting it all together – Training using Backpropagation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28" y="1546412"/>
            <a:ext cx="10823497" cy="5204012"/>
          </a:xfrm>
        </p:spPr>
        <p:txBody>
          <a:bodyPr>
            <a:normAutofit fontScale="70000" lnSpcReduction="20000"/>
          </a:bodyPr>
          <a:lstStyle/>
          <a:p>
            <a:pPr lvl="0" algn="just">
              <a:lnSpc>
                <a:spcPct val="120000"/>
              </a:lnSpc>
            </a:pPr>
            <a:r>
              <a:rPr lang="en-US" sz="3600" b="1" dirty="0"/>
              <a:t>Step 1:</a:t>
            </a:r>
            <a:r>
              <a:rPr lang="en-US" sz="3600" dirty="0"/>
              <a:t> We initialize all filters and parameters / weights with random values.</a:t>
            </a:r>
          </a:p>
          <a:p>
            <a:pPr marL="0" lvl="0" indent="0" algn="just">
              <a:lnSpc>
                <a:spcPct val="120000"/>
              </a:lnSpc>
              <a:buNone/>
            </a:pPr>
            <a:endParaRPr lang="en-US" sz="1700" dirty="0"/>
          </a:p>
          <a:p>
            <a:pPr lvl="0" algn="just">
              <a:lnSpc>
                <a:spcPct val="120000"/>
              </a:lnSpc>
            </a:pPr>
            <a:r>
              <a:rPr lang="en-US" sz="3600" b="1" dirty="0"/>
              <a:t>Step 2:</a:t>
            </a:r>
            <a:r>
              <a:rPr lang="en-US" sz="3600" dirty="0"/>
              <a:t> The network takes a training image as input, goes through the forward propagation step (convolution, </a:t>
            </a:r>
            <a:r>
              <a:rPr lang="en-US" sz="3600" dirty="0" err="1"/>
              <a:t>ReLU</a:t>
            </a:r>
            <a:r>
              <a:rPr lang="en-US" sz="3600" dirty="0"/>
              <a:t> and pooling operations along with forward propagation in the Fully Connected layer) and finds the output probabilities for each class.</a:t>
            </a:r>
          </a:p>
          <a:p>
            <a:pPr lvl="1" algn="just">
              <a:lnSpc>
                <a:spcPct val="120000"/>
              </a:lnSpc>
            </a:pPr>
            <a:r>
              <a:rPr lang="en-US" sz="2900" dirty="0"/>
              <a:t>Let’s say the output probabilities for the boat image above are [0.2, 0.4, 0.1, 0.3].</a:t>
            </a:r>
          </a:p>
          <a:p>
            <a:pPr lvl="1" algn="just">
              <a:lnSpc>
                <a:spcPct val="120000"/>
              </a:lnSpc>
            </a:pPr>
            <a:r>
              <a:rPr lang="en-US" sz="2900" dirty="0"/>
              <a:t>Since weights are randomly assigned for the first training example, output probabilities are also random.</a:t>
            </a:r>
          </a:p>
          <a:p>
            <a:pPr marL="457200" lvl="1" indent="0" algn="just">
              <a:lnSpc>
                <a:spcPct val="120000"/>
              </a:lnSpc>
              <a:buNone/>
            </a:pPr>
            <a:endParaRPr lang="en-US" sz="2300" dirty="0"/>
          </a:p>
          <a:p>
            <a:pPr lvl="0" algn="just">
              <a:lnSpc>
                <a:spcPct val="120000"/>
              </a:lnSpc>
            </a:pPr>
            <a:r>
              <a:rPr lang="en-US" sz="3600" b="1" dirty="0"/>
              <a:t>Step 3:</a:t>
            </a:r>
            <a:r>
              <a:rPr lang="en-US" sz="3600" dirty="0"/>
              <a:t> Calculate the total error at the output layer (summation over all 4 classes).</a:t>
            </a:r>
          </a:p>
        </p:txBody>
      </p:sp>
    </p:spTree>
    <p:extLst>
      <p:ext uri="{BB962C8B-B14F-4D97-AF65-F5344CB8AC3E}">
        <p14:creationId xmlns:p14="http://schemas.microsoft.com/office/powerpoint/2010/main" val="3708398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6859" y="753036"/>
            <a:ext cx="1129553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Step 4:</a:t>
            </a:r>
            <a:r>
              <a:rPr lang="en-US" sz="2500" dirty="0"/>
              <a:t> Use Backpropagation to calculate the gradients of the error with respect to all weights in the network and use gradient descent to update all filter values/ weights and parameter values to minimize the output error.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weights are adjusted in proportion to their contribution to the total error.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When the same image is input again, output probabilities might now be [0.1, 0.1, 0.7, 0.1], which is closer to the target vector [0, 0, 1, 0].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means that the network has learnt to classify this particular image correctly by adjusting its weights / filters such that the output error is reduced.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Parameters like number of filters, filter sizes, architecture of the network etc. have all been fixed before Step 1 and do not change during training process – only the values of the filter matrix and connection weights get updated.</a:t>
            </a:r>
          </a:p>
          <a:p>
            <a:pPr lvl="1" algn="just">
              <a:lnSpc>
                <a:spcPct val="120000"/>
              </a:lnSpc>
            </a:pPr>
            <a:endParaRPr lang="en-US" sz="2500" dirty="0"/>
          </a:p>
          <a:p>
            <a:pPr marL="342900" lvl="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Step 5:</a:t>
            </a:r>
            <a:r>
              <a:rPr lang="en-US" sz="2500" dirty="0"/>
              <a:t> Repeat steps 2-4 with all images in the training set.</a:t>
            </a:r>
          </a:p>
        </p:txBody>
      </p:sp>
    </p:spTree>
    <p:extLst>
      <p:ext uri="{BB962C8B-B14F-4D97-AF65-F5344CB8AC3E}">
        <p14:creationId xmlns:p14="http://schemas.microsoft.com/office/powerpoint/2010/main" val="227448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723</Words>
  <Application>Microsoft Office PowerPoint</Application>
  <PresentationFormat>Widescreen</PresentationFormat>
  <Paragraphs>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Chaparral Pro Light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</vt:lpstr>
      <vt:lpstr>PowerPoint Presentation</vt:lpstr>
      <vt:lpstr>PowerPoint Presentation</vt:lpstr>
      <vt:lpstr>Input</vt:lpstr>
      <vt:lpstr>Convolution...</vt:lpstr>
      <vt:lpstr>PowerPoint Presentation</vt:lpstr>
      <vt:lpstr>Pooling</vt:lpstr>
      <vt:lpstr>Story so far</vt:lpstr>
      <vt:lpstr>Overall CNN Architecture</vt:lpstr>
      <vt:lpstr>Putting it all together – Training using Backpropagation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Shajini M</dc:creator>
  <cp:lastModifiedBy>Himanshu bijja</cp:lastModifiedBy>
  <cp:revision>87</cp:revision>
  <cp:lastPrinted>2025-06-29T17:59:05Z</cp:lastPrinted>
  <dcterms:created xsi:type="dcterms:W3CDTF">2018-12-11T02:14:07Z</dcterms:created>
  <dcterms:modified xsi:type="dcterms:W3CDTF">2025-06-29T18:06:38Z</dcterms:modified>
</cp:coreProperties>
</file>