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304801"/>
            <a:ext cx="7772400" cy="762000"/>
          </a:xfrm>
        </p:spPr>
        <p:txBody>
          <a:bodyPr/>
          <a:lstStyle/>
          <a:p>
            <a:r>
              <a:rPr lang="en-US" b="1" dirty="0" smtClean="0"/>
              <a:t>Bi-connected components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715000"/>
          </a:xfrm>
        </p:spPr>
        <p:txBody>
          <a:bodyPr>
            <a:normAutofit fontScale="55000" lnSpcReduction="20000"/>
          </a:bodyPr>
          <a:lstStyle/>
          <a:p>
            <a:r>
              <a:rPr lang="en-US" sz="4600" b="1" dirty="0" smtClean="0">
                <a:solidFill>
                  <a:schemeClr val="tx1"/>
                </a:solidFill>
              </a:rPr>
              <a:t>Algorithm to find </a:t>
            </a:r>
            <a:r>
              <a:rPr lang="en-US" sz="4600" b="1" dirty="0" err="1" smtClean="0">
                <a:solidFill>
                  <a:schemeClr val="tx1"/>
                </a:solidFill>
              </a:rPr>
              <a:t>Dfn’s</a:t>
            </a:r>
            <a:r>
              <a:rPr lang="en-US" sz="4600" b="1" dirty="0" smtClean="0">
                <a:solidFill>
                  <a:schemeClr val="tx1"/>
                </a:solidFill>
              </a:rPr>
              <a:t> and Low values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Algorithm Art(</a:t>
            </a:r>
            <a:r>
              <a:rPr lang="en-US" sz="4900" dirty="0" err="1" smtClean="0">
                <a:solidFill>
                  <a:schemeClr val="tx1"/>
                </a:solidFill>
              </a:rPr>
              <a:t>u,v</a:t>
            </a:r>
            <a:r>
              <a:rPr lang="en-US" sz="49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//u is a start vertex for depth first </a:t>
            </a:r>
            <a:r>
              <a:rPr lang="en-US" sz="4900" dirty="0" err="1" smtClean="0">
                <a:solidFill>
                  <a:schemeClr val="tx1"/>
                </a:solidFill>
              </a:rPr>
              <a:t>search,v</a:t>
            </a:r>
            <a:r>
              <a:rPr lang="en-US" sz="4900" dirty="0" smtClean="0">
                <a:solidFill>
                  <a:schemeClr val="tx1"/>
                </a:solidFill>
              </a:rPr>
              <a:t> is its parent if any in the depth first spanning tree. If </a:t>
            </a:r>
            <a:r>
              <a:rPr lang="en-US" sz="4900" dirty="0" err="1" smtClean="0">
                <a:solidFill>
                  <a:schemeClr val="tx1"/>
                </a:solidFill>
              </a:rPr>
              <a:t>ssumed</a:t>
            </a:r>
            <a:r>
              <a:rPr lang="en-US" sz="4900" dirty="0" smtClean="0">
                <a:solidFill>
                  <a:schemeClr val="tx1"/>
                </a:solidFill>
              </a:rPr>
              <a:t> that global array </a:t>
            </a:r>
            <a:r>
              <a:rPr lang="en-US" sz="4900" dirty="0" err="1" smtClean="0">
                <a:solidFill>
                  <a:schemeClr val="tx1"/>
                </a:solidFill>
              </a:rPr>
              <a:t>dfn</a:t>
            </a:r>
            <a:r>
              <a:rPr lang="en-US" sz="4900" dirty="0" smtClean="0">
                <a:solidFill>
                  <a:schemeClr val="tx1"/>
                </a:solidFill>
              </a:rPr>
              <a:t> is initialized to zero and that the global variable num is </a:t>
            </a:r>
            <a:r>
              <a:rPr lang="en-US" sz="4900" dirty="0" err="1" smtClean="0">
                <a:solidFill>
                  <a:schemeClr val="tx1"/>
                </a:solidFill>
              </a:rPr>
              <a:t>intialized</a:t>
            </a:r>
            <a:r>
              <a:rPr lang="en-US" sz="4900" dirty="0" smtClean="0">
                <a:solidFill>
                  <a:schemeClr val="tx1"/>
                </a:solidFill>
              </a:rPr>
              <a:t> to 1, n is the no. of vertices in G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{</a:t>
            </a:r>
          </a:p>
          <a:p>
            <a:pPr algn="l"/>
            <a:r>
              <a:rPr lang="en-US" sz="4900" dirty="0" err="1" smtClean="0">
                <a:solidFill>
                  <a:schemeClr val="tx1"/>
                </a:solidFill>
              </a:rPr>
              <a:t>dfn</a:t>
            </a:r>
            <a:r>
              <a:rPr lang="en-US" sz="4900" dirty="0" smtClean="0">
                <a:solidFill>
                  <a:schemeClr val="tx1"/>
                </a:solidFill>
              </a:rPr>
              <a:t>[u]=num;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Low[u]=num;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num=num+1;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For each vertex w adjacent from u do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{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if </a:t>
            </a:r>
            <a:r>
              <a:rPr lang="en-US" sz="4900" dirty="0" err="1" smtClean="0">
                <a:solidFill>
                  <a:schemeClr val="tx1"/>
                </a:solidFill>
              </a:rPr>
              <a:t>dfn</a:t>
            </a:r>
            <a:r>
              <a:rPr lang="en-US" sz="4900" dirty="0" smtClean="0">
                <a:solidFill>
                  <a:schemeClr val="tx1"/>
                </a:solidFill>
              </a:rPr>
              <a:t>[w]=0) then</a:t>
            </a:r>
          </a:p>
          <a:p>
            <a:pPr algn="l"/>
            <a:r>
              <a:rPr lang="en-US" sz="4900" dirty="0" smtClean="0">
                <a:solidFill>
                  <a:schemeClr val="tx1"/>
                </a:solidFill>
              </a:rPr>
              <a:t>{</a:t>
            </a:r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4800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Art(</a:t>
            </a:r>
            <a:r>
              <a:rPr lang="en-US" sz="3200" dirty="0" err="1" smtClean="0"/>
              <a:t>w,u</a:t>
            </a:r>
            <a:r>
              <a:rPr lang="en-US" sz="3200" dirty="0" smtClean="0"/>
              <a:t>);</a:t>
            </a:r>
            <a:br>
              <a:rPr lang="en-US" sz="3200" dirty="0" smtClean="0"/>
            </a:br>
            <a:r>
              <a:rPr lang="en-US" sz="3200" dirty="0" smtClean="0"/>
              <a:t>Low[u]=min(low[u],Low[w])</a:t>
            </a:r>
            <a:br>
              <a:rPr lang="en-US" sz="3200" dirty="0" smtClean="0"/>
            </a:br>
            <a:r>
              <a:rPr lang="en-US" sz="3200" dirty="0" smtClean="0"/>
              <a:t>}</a:t>
            </a:r>
            <a:br>
              <a:rPr lang="en-US" sz="3200" dirty="0" smtClean="0"/>
            </a:br>
            <a:r>
              <a:rPr lang="en-US" sz="3200" dirty="0" smtClean="0"/>
              <a:t>else if(w!=u) then Low[u]=min(Low[u],</a:t>
            </a:r>
            <a:r>
              <a:rPr lang="en-US" sz="3200" dirty="0" err="1" smtClean="0"/>
              <a:t>dfn</a:t>
            </a:r>
            <a:r>
              <a:rPr lang="en-US" sz="3200" dirty="0" smtClean="0"/>
              <a:t>[w]);</a:t>
            </a:r>
            <a:br>
              <a:rPr lang="en-US" sz="3200" dirty="0" smtClean="0"/>
            </a:br>
            <a:r>
              <a:rPr lang="en-US" sz="3200" dirty="0" smtClean="0"/>
              <a:t>}</a:t>
            </a:r>
            <a:br>
              <a:rPr lang="en-US" sz="3200" dirty="0" smtClean="0"/>
            </a:br>
            <a:r>
              <a:rPr lang="en-US" sz="3200" dirty="0" smtClean="0"/>
              <a:t>}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b="1" dirty="0" smtClean="0"/>
              <a:t>Note: Using the L values the articulation points are           computed when the condition is satisfied </a:t>
            </a:r>
            <a:r>
              <a:rPr lang="en-US" sz="3200" b="1" dirty="0" err="1" smtClean="0"/>
              <a:t>i.e</a:t>
            </a:r>
            <a:r>
              <a:rPr lang="en-US" sz="3200" b="1" dirty="0" smtClean="0"/>
              <a:t>, L[w]&gt;=</a:t>
            </a:r>
            <a:r>
              <a:rPr lang="en-US" sz="3200" b="1" dirty="0" err="1" smtClean="0"/>
              <a:t>dfn</a:t>
            </a:r>
            <a:r>
              <a:rPr lang="en-US" sz="3200" b="1" dirty="0" smtClean="0"/>
              <a:t>[u]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04800" y="304801"/>
            <a:ext cx="8458200" cy="76199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Algorithm to find </a:t>
            </a:r>
            <a:r>
              <a:rPr lang="en-US" b="1" dirty="0" err="1" smtClean="0"/>
              <a:t>biconnected</a:t>
            </a:r>
            <a:r>
              <a:rPr lang="en-US" b="1" dirty="0" smtClean="0"/>
              <a:t> components</a:t>
            </a:r>
            <a:endParaRPr lang="en-US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04800" y="1219200"/>
            <a:ext cx="8458200" cy="52578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Algorithm: </a:t>
            </a:r>
            <a:r>
              <a:rPr lang="en-US" dirty="0" err="1" smtClean="0">
                <a:solidFill>
                  <a:schemeClr val="tx1"/>
                </a:solidFill>
              </a:rPr>
              <a:t>Bicomp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u,v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// u is a start vertex for depth first search. V is its parent if any in the depth first spanning </a:t>
            </a:r>
            <a:r>
              <a:rPr lang="en-US" dirty="0" err="1" smtClean="0">
                <a:solidFill>
                  <a:schemeClr val="tx1"/>
                </a:solidFill>
              </a:rPr>
              <a:t>tree.It</a:t>
            </a:r>
            <a:r>
              <a:rPr lang="en-US" dirty="0" smtClean="0">
                <a:solidFill>
                  <a:schemeClr val="tx1"/>
                </a:solidFill>
              </a:rPr>
              <a:t> is assumed that the global array num is initialized to 1 , n is no. of vertices in G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{</a:t>
            </a: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dfn</a:t>
            </a:r>
            <a:r>
              <a:rPr lang="en-US" dirty="0" smtClean="0">
                <a:solidFill>
                  <a:schemeClr val="tx1"/>
                </a:solidFill>
              </a:rPr>
              <a:t>[u]=num;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L[u]=num;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num=num+1;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9144000" cy="6400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for each vertex w adjacent from u do:</a:t>
            </a:r>
            <a:br>
              <a:rPr lang="en-US" sz="3600" dirty="0" smtClean="0"/>
            </a:br>
            <a:r>
              <a:rPr lang="en-US" sz="3600" dirty="0" smtClean="0"/>
              <a:t>{</a:t>
            </a:r>
            <a:br>
              <a:rPr lang="en-US" sz="3600" dirty="0" smtClean="0"/>
            </a:br>
            <a:r>
              <a:rPr lang="en-US" sz="3600" dirty="0" smtClean="0"/>
              <a:t>if ((v!=w) and (</a:t>
            </a:r>
            <a:r>
              <a:rPr lang="en-US" sz="3600" dirty="0" err="1" smtClean="0"/>
              <a:t>dfn</a:t>
            </a:r>
            <a:r>
              <a:rPr lang="en-US" sz="3600" dirty="0" smtClean="0"/>
              <a:t>[w]&lt;=</a:t>
            </a:r>
            <a:r>
              <a:rPr lang="en-US" sz="3600" dirty="0" err="1" smtClean="0"/>
              <a:t>dfn</a:t>
            </a:r>
            <a:r>
              <a:rPr lang="en-US" sz="3600" dirty="0" smtClean="0"/>
              <a:t>[u])) then</a:t>
            </a:r>
            <a:br>
              <a:rPr lang="en-US" sz="3600" dirty="0" smtClean="0"/>
            </a:br>
            <a:r>
              <a:rPr lang="en-US" sz="3600" dirty="0" smtClean="0"/>
              <a:t>add(</a:t>
            </a:r>
            <a:r>
              <a:rPr lang="en-US" sz="3600" dirty="0" err="1" smtClean="0"/>
              <a:t>u,w</a:t>
            </a:r>
            <a:r>
              <a:rPr lang="en-US" sz="3600" dirty="0" smtClean="0"/>
              <a:t>) to the top of a stack s;</a:t>
            </a:r>
            <a:br>
              <a:rPr lang="en-US" sz="3600" dirty="0" smtClean="0"/>
            </a:br>
            <a:r>
              <a:rPr lang="en-US" sz="3600" dirty="0" smtClean="0"/>
              <a:t>if(</a:t>
            </a:r>
            <a:r>
              <a:rPr lang="en-US" sz="3600" dirty="0" err="1" smtClean="0"/>
              <a:t>dfn</a:t>
            </a:r>
            <a:r>
              <a:rPr lang="en-US" sz="3600" dirty="0" smtClean="0"/>
              <a:t>[w]=0) then</a:t>
            </a:r>
            <a:br>
              <a:rPr lang="en-US" sz="3600" dirty="0" smtClean="0"/>
            </a:br>
            <a:r>
              <a:rPr lang="en-US" sz="3600" dirty="0" smtClean="0"/>
              <a:t>{</a:t>
            </a:r>
            <a:br>
              <a:rPr lang="en-US" sz="3600" dirty="0" smtClean="0"/>
            </a:br>
            <a:r>
              <a:rPr lang="en-US" sz="3600" dirty="0" smtClean="0"/>
              <a:t>if(L[w]&gt;= </a:t>
            </a:r>
            <a:r>
              <a:rPr lang="en-US" sz="3600" dirty="0" err="1" smtClean="0"/>
              <a:t>dfn</a:t>
            </a:r>
            <a:r>
              <a:rPr lang="en-US" sz="3600" dirty="0" smtClean="0"/>
              <a:t>[u]) then</a:t>
            </a:r>
            <a:br>
              <a:rPr lang="en-US" sz="3600" dirty="0" smtClean="0"/>
            </a:br>
            <a:r>
              <a:rPr lang="en-US" sz="3600" dirty="0" smtClean="0"/>
              <a:t>{</a:t>
            </a:r>
            <a:br>
              <a:rPr lang="en-US" sz="3600" dirty="0" smtClean="0"/>
            </a:br>
            <a:r>
              <a:rPr lang="en-US" sz="3600" dirty="0" smtClean="0"/>
              <a:t>write(“New </a:t>
            </a:r>
            <a:r>
              <a:rPr lang="en-US" sz="3600" dirty="0" err="1" smtClean="0"/>
              <a:t>bicomponent</a:t>
            </a:r>
            <a:r>
              <a:rPr lang="en-US" sz="3600" dirty="0" smtClean="0"/>
              <a:t>”);</a:t>
            </a:r>
            <a:br>
              <a:rPr lang="en-US" sz="3600" dirty="0" smtClean="0"/>
            </a:br>
            <a:r>
              <a:rPr lang="en-US" sz="3600" dirty="0" smtClean="0"/>
              <a:t>repeat</a:t>
            </a:r>
            <a:br>
              <a:rPr lang="en-US" sz="3600" dirty="0" smtClean="0"/>
            </a:br>
            <a:r>
              <a:rPr lang="en-US" sz="3600" dirty="0" smtClean="0"/>
              <a:t>{</a:t>
            </a:r>
            <a:br>
              <a:rPr lang="en-US" sz="3600" dirty="0" smtClean="0"/>
            </a:br>
            <a:r>
              <a:rPr lang="en-US" sz="3600" dirty="0" smtClean="0"/>
              <a:t>Delete an edge from top of the stack s;</a:t>
            </a:r>
            <a:br>
              <a:rPr lang="en-US" sz="3600" dirty="0" smtClean="0"/>
            </a:br>
            <a:r>
              <a:rPr lang="en-US" sz="3600" dirty="0" smtClean="0"/>
              <a:t>let this edge be (</a:t>
            </a:r>
            <a:r>
              <a:rPr lang="en-US" sz="3600" dirty="0" err="1" smtClean="0"/>
              <a:t>x,y</a:t>
            </a:r>
            <a:r>
              <a:rPr lang="en-US" sz="3600" dirty="0" smtClean="0"/>
              <a:t>);</a:t>
            </a:r>
            <a:br>
              <a:rPr lang="en-US" sz="3600" dirty="0" smtClean="0"/>
            </a:br>
            <a:r>
              <a:rPr lang="en-US" sz="3600" dirty="0" smtClean="0"/>
              <a:t>write(</a:t>
            </a:r>
            <a:r>
              <a:rPr lang="en-US" sz="3600" dirty="0" err="1" smtClean="0"/>
              <a:t>x,y</a:t>
            </a:r>
            <a:r>
              <a:rPr lang="en-US" sz="3600" dirty="0" smtClean="0"/>
              <a:t>);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2484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}until(((</a:t>
            </a:r>
            <a:r>
              <a:rPr lang="en-US" dirty="0" err="1" smtClean="0"/>
              <a:t>x,y</a:t>
            </a:r>
            <a:r>
              <a:rPr lang="en-US" dirty="0" smtClean="0"/>
              <a:t>)=(</a:t>
            </a:r>
            <a:r>
              <a:rPr lang="en-US" dirty="0" err="1" smtClean="0"/>
              <a:t>u,w</a:t>
            </a:r>
            <a:r>
              <a:rPr lang="en-US" dirty="0" smtClean="0"/>
              <a:t>)) or ((</a:t>
            </a:r>
            <a:r>
              <a:rPr lang="en-US" dirty="0" err="1" smtClean="0"/>
              <a:t>x,y</a:t>
            </a:r>
            <a:r>
              <a:rPr lang="en-US" dirty="0" smtClean="0"/>
              <a:t>)=(</a:t>
            </a:r>
            <a:r>
              <a:rPr lang="en-US" dirty="0" err="1" smtClean="0"/>
              <a:t>w,u</a:t>
            </a:r>
            <a:r>
              <a:rPr lang="en-US" dirty="0" smtClean="0"/>
              <a:t>)));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err="1" smtClean="0"/>
              <a:t>Bicomp</a:t>
            </a:r>
            <a:r>
              <a:rPr lang="en-US" dirty="0" smtClean="0"/>
              <a:t>(</a:t>
            </a:r>
            <a:r>
              <a:rPr lang="en-US" dirty="0" err="1" smtClean="0"/>
              <a:t>w,u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smtClean="0"/>
              <a:t>L[u]:=min(L[u],L[w]);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else if(w!=v) then L[u]:=min(L[u],</a:t>
            </a:r>
            <a:r>
              <a:rPr lang="en-US" dirty="0" err="1" smtClean="0"/>
              <a:t>dfn</a:t>
            </a:r>
            <a:r>
              <a:rPr lang="en-US" dirty="0" smtClean="0"/>
              <a:t>[w]);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167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Bi-connected components</vt:lpstr>
      <vt:lpstr>  Art(w,u); Low[u]=min(low[u],Low[w]) } else if(w!=u) then Low[u]=min(Low[u],dfn[w]); } }  Note: Using the L values the articulation points are           computed when the condition is satisfied i.e, L[w]&gt;=dfn[u] </vt:lpstr>
      <vt:lpstr>Algorithm to find biconnected components</vt:lpstr>
      <vt:lpstr> for each vertex w adjacent from u do: { if ((v!=w) and (dfn[w]&lt;=dfn[u])) then add(u,w) to the top of a stack s; if(dfn[w]=0) then { if(L[w]&gt;= dfn[u]) then { write(“New bicomponent”); repeat { Delete an edge from top of the stack s; let this edge be (x,y); write(x,y); </vt:lpstr>
      <vt:lpstr>}until(((x,y)=(u,w)) or ((x,y)=(w,u))); } Bicomp(w,u); L[u]:=min(L[u],L[w]); } else if(w!=v) then L[u]:=min(L[u],dfn[w]); } } 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Bi-connected components</dc:title>
  <dc:creator>Admin</dc:creator>
  <cp:lastModifiedBy>Admin</cp:lastModifiedBy>
  <cp:revision>11</cp:revision>
  <dcterms:created xsi:type="dcterms:W3CDTF">2006-08-16T00:00:00Z</dcterms:created>
  <dcterms:modified xsi:type="dcterms:W3CDTF">2025-09-19T07:29:30Z</dcterms:modified>
</cp:coreProperties>
</file>