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slides/slide147.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xls" ContentType="application/vnd.ms-exce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s/slide139.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docProps/custom.xml" ContentType="application/vnd.openxmlformats-officedocument.custom-properties+xml"/>
  <Override PartName="/ppt/slides/slide129.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Default Extension="doc" ContentType="application/msword"/>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7"/>
  </p:notesMasterIdLst>
  <p:handoutMasterIdLst>
    <p:handoutMasterId r:id="rId158"/>
  </p:handoutMasterIdLst>
  <p:sldIdLst>
    <p:sldId id="1206" r:id="rId2"/>
    <p:sldId id="1114" r:id="rId3"/>
    <p:sldId id="907" r:id="rId4"/>
    <p:sldId id="1218" r:id="rId5"/>
    <p:sldId id="908" r:id="rId6"/>
    <p:sldId id="909" r:id="rId7"/>
    <p:sldId id="910" r:id="rId8"/>
    <p:sldId id="912" r:id="rId9"/>
    <p:sldId id="1196" r:id="rId10"/>
    <p:sldId id="914" r:id="rId11"/>
    <p:sldId id="913" r:id="rId12"/>
    <p:sldId id="1197" r:id="rId13"/>
    <p:sldId id="1013" r:id="rId14"/>
    <p:sldId id="918" r:id="rId15"/>
    <p:sldId id="1219" r:id="rId16"/>
    <p:sldId id="1220" r:id="rId17"/>
    <p:sldId id="1274" r:id="rId18"/>
    <p:sldId id="1275" r:id="rId19"/>
    <p:sldId id="1276" r:id="rId20"/>
    <p:sldId id="1125" r:id="rId21"/>
    <p:sldId id="1014" r:id="rId22"/>
    <p:sldId id="1221" r:id="rId23"/>
    <p:sldId id="1223" r:id="rId24"/>
    <p:sldId id="1225" r:id="rId25"/>
    <p:sldId id="1226" r:id="rId26"/>
    <p:sldId id="1224" r:id="rId27"/>
    <p:sldId id="1227" r:id="rId28"/>
    <p:sldId id="1228" r:id="rId29"/>
    <p:sldId id="1229" r:id="rId30"/>
    <p:sldId id="1230" r:id="rId31"/>
    <p:sldId id="1222" r:id="rId32"/>
    <p:sldId id="932" r:id="rId33"/>
    <p:sldId id="1273" r:id="rId34"/>
    <p:sldId id="1272" r:id="rId35"/>
    <p:sldId id="1017" r:id="rId36"/>
    <p:sldId id="1016" r:id="rId37"/>
    <p:sldId id="1018" r:id="rId38"/>
    <p:sldId id="939" r:id="rId39"/>
    <p:sldId id="941" r:id="rId40"/>
    <p:sldId id="1198" r:id="rId41"/>
    <p:sldId id="1207" r:id="rId42"/>
    <p:sldId id="1154" r:id="rId43"/>
    <p:sldId id="1208" r:id="rId44"/>
    <p:sldId id="1209" r:id="rId45"/>
    <p:sldId id="1210" r:id="rId46"/>
    <p:sldId id="1157" r:id="rId47"/>
    <p:sldId id="1158" r:id="rId48"/>
    <p:sldId id="953" r:id="rId49"/>
    <p:sldId id="1159" r:id="rId50"/>
    <p:sldId id="1160" r:id="rId51"/>
    <p:sldId id="1161" r:id="rId52"/>
    <p:sldId id="1162" r:id="rId53"/>
    <p:sldId id="1199" r:id="rId54"/>
    <p:sldId id="1211" r:id="rId55"/>
    <p:sldId id="1232" r:id="rId56"/>
    <p:sldId id="1233" r:id="rId57"/>
    <p:sldId id="1234" r:id="rId58"/>
    <p:sldId id="1235" r:id="rId59"/>
    <p:sldId id="1236" r:id="rId60"/>
    <p:sldId id="1213" r:id="rId61"/>
    <p:sldId id="1212" r:id="rId62"/>
    <p:sldId id="1214" r:id="rId63"/>
    <p:sldId id="1237" r:id="rId64"/>
    <p:sldId id="1238" r:id="rId65"/>
    <p:sldId id="1239" r:id="rId66"/>
    <p:sldId id="1240" r:id="rId67"/>
    <p:sldId id="1215" r:id="rId68"/>
    <p:sldId id="1091" r:id="rId69"/>
    <p:sldId id="1243" r:id="rId70"/>
    <p:sldId id="1216" r:id="rId71"/>
    <p:sldId id="1244" r:id="rId72"/>
    <p:sldId id="1245" r:id="rId73"/>
    <p:sldId id="1246" r:id="rId74"/>
    <p:sldId id="1247" r:id="rId75"/>
    <p:sldId id="1248" r:id="rId76"/>
    <p:sldId id="1249" r:id="rId77"/>
    <p:sldId id="1250" r:id="rId78"/>
    <p:sldId id="1270" r:id="rId79"/>
    <p:sldId id="1271" r:id="rId80"/>
    <p:sldId id="1251" r:id="rId81"/>
    <p:sldId id="1252" r:id="rId82"/>
    <p:sldId id="1253" r:id="rId83"/>
    <p:sldId id="1254" r:id="rId84"/>
    <p:sldId id="1255" r:id="rId85"/>
    <p:sldId id="1256" r:id="rId86"/>
    <p:sldId id="1257" r:id="rId87"/>
    <p:sldId id="1258" r:id="rId88"/>
    <p:sldId id="1259" r:id="rId89"/>
    <p:sldId id="1260" r:id="rId90"/>
    <p:sldId id="1261" r:id="rId91"/>
    <p:sldId id="1262" r:id="rId92"/>
    <p:sldId id="1263" r:id="rId93"/>
    <p:sldId id="1264" r:id="rId94"/>
    <p:sldId id="1265" r:id="rId95"/>
    <p:sldId id="1266" r:id="rId96"/>
    <p:sldId id="1267" r:id="rId97"/>
    <p:sldId id="1268" r:id="rId98"/>
    <p:sldId id="1269" r:id="rId99"/>
    <p:sldId id="1241" r:id="rId100"/>
    <p:sldId id="1201" r:id="rId101"/>
    <p:sldId id="1277" r:id="rId102"/>
    <p:sldId id="1278" r:id="rId103"/>
    <p:sldId id="1279" r:id="rId104"/>
    <p:sldId id="1280" r:id="rId105"/>
    <p:sldId id="1281" r:id="rId106"/>
    <p:sldId id="1282" r:id="rId107"/>
    <p:sldId id="1283" r:id="rId108"/>
    <p:sldId id="1296" r:id="rId109"/>
    <p:sldId id="1298" r:id="rId110"/>
    <p:sldId id="1299" r:id="rId111"/>
    <p:sldId id="1300" r:id="rId112"/>
    <p:sldId id="1284" r:id="rId113"/>
    <p:sldId id="1285" r:id="rId114"/>
    <p:sldId id="1286" r:id="rId115"/>
    <p:sldId id="1293" r:id="rId116"/>
    <p:sldId id="1294" r:id="rId117"/>
    <p:sldId id="1295" r:id="rId118"/>
    <p:sldId id="1288" r:id="rId119"/>
    <p:sldId id="1202" r:id="rId120"/>
    <p:sldId id="979" r:id="rId121"/>
    <p:sldId id="982" r:id="rId122"/>
    <p:sldId id="987" r:id="rId123"/>
    <p:sldId id="1301" r:id="rId124"/>
    <p:sldId id="983" r:id="rId125"/>
    <p:sldId id="986" r:id="rId126"/>
    <p:sldId id="1303" r:id="rId127"/>
    <p:sldId id="1302" r:id="rId128"/>
    <p:sldId id="980" r:id="rId129"/>
    <p:sldId id="1087" r:id="rId130"/>
    <p:sldId id="1088" r:id="rId131"/>
    <p:sldId id="1203" r:id="rId132"/>
    <p:sldId id="1076" r:id="rId133"/>
    <p:sldId id="990" r:id="rId134"/>
    <p:sldId id="1217" r:id="rId135"/>
    <p:sldId id="1204" r:id="rId136"/>
    <p:sldId id="1304" r:id="rId137"/>
    <p:sldId id="1305" r:id="rId138"/>
    <p:sldId id="1306" r:id="rId139"/>
    <p:sldId id="1307" r:id="rId140"/>
    <p:sldId id="1308" r:id="rId141"/>
    <p:sldId id="1309" r:id="rId142"/>
    <p:sldId id="1310" r:id="rId143"/>
    <p:sldId id="1311" r:id="rId144"/>
    <p:sldId id="1312" r:id="rId145"/>
    <p:sldId id="1313" r:id="rId146"/>
    <p:sldId id="1314" r:id="rId147"/>
    <p:sldId id="1315" r:id="rId148"/>
    <p:sldId id="1316" r:id="rId149"/>
    <p:sldId id="1317" r:id="rId150"/>
    <p:sldId id="1318" r:id="rId151"/>
    <p:sldId id="1187" r:id="rId152"/>
    <p:sldId id="1188" r:id="rId153"/>
    <p:sldId id="1189" r:id="rId154"/>
    <p:sldId id="1205" r:id="rId155"/>
    <p:sldId id="993" r:id="rId156"/>
  </p:sldIdLst>
  <p:sldSz cx="9144000" cy="6858000" type="screen4x3"/>
  <p:notesSz cx="6831013" cy="9117013"/>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xmlns="">
        <p15:guide id="1" orient="horz" pos="217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xmlns="" val="1"/>
      </p:ext>
    </p:extLst>
  </p:showPr>
  <p:clrMru>
    <a:srgbClr val="0000FF"/>
    <a:srgbClr val="008000"/>
    <a:srgbClr val="F6E6EA"/>
    <a:srgbClr val="FAE2F6"/>
    <a:srgbClr val="170981"/>
    <a:srgbClr val="121328"/>
    <a:srgbClr val="8FF9EF"/>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p:scale>
          <a:sx n="50" d="100"/>
          <a:sy n="50" d="100"/>
        </p:scale>
        <p:origin x="-1253" y="-67"/>
      </p:cViewPr>
      <p:guideLst>
        <p:guide orient="horz" pos="2172"/>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0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8.wmf"/><Relationship Id="rId2" Type="http://schemas.openxmlformats.org/officeDocument/2006/relationships/image" Target="../media/image24.wmf"/><Relationship Id="rId1" Type="http://schemas.openxmlformats.org/officeDocument/2006/relationships/image" Target="../media/image23.emf"/><Relationship Id="rId6" Type="http://schemas.openxmlformats.org/officeDocument/2006/relationships/image" Target="../media/image27.wmf"/><Relationship Id="rId5" Type="http://schemas.openxmlformats.org/officeDocument/2006/relationships/image" Target="../media/image9.emf"/><Relationship Id="rId4"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61.wmf"/><Relationship Id="rId5" Type="http://schemas.openxmlformats.org/officeDocument/2006/relationships/image" Target="../media/image62.wmf"/><Relationship Id="rId4"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0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60688" cy="455613"/>
          </a:xfrm>
          <a:prstGeom prst="rect">
            <a:avLst/>
          </a:prstGeom>
          <a:noFill/>
          <a:ln w="9525">
            <a:noFill/>
            <a:miter lim="800000"/>
          </a:ln>
          <a:effectLst/>
        </p:spPr>
        <p:txBody>
          <a:bodyPr vert="horz" wrap="square" lIns="91129" tIns="45565" rIns="91129" bIns="45565" numCol="1" anchor="t"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7" name="Rectangle 3"/>
          <p:cNvSpPr>
            <a:spLocks noGrp="1" noChangeArrowheads="1"/>
          </p:cNvSpPr>
          <p:nvPr>
            <p:ph type="dt" sz="quarter" idx="1"/>
          </p:nvPr>
        </p:nvSpPr>
        <p:spPr bwMode="auto">
          <a:xfrm>
            <a:off x="3870325" y="0"/>
            <a:ext cx="2960688" cy="455613"/>
          </a:xfrm>
          <a:prstGeom prst="rect">
            <a:avLst/>
          </a:prstGeom>
          <a:noFill/>
          <a:ln w="9525">
            <a:noFill/>
            <a:miter lim="800000"/>
          </a:ln>
          <a:effectLst/>
        </p:spPr>
        <p:txBody>
          <a:bodyPr vert="horz" wrap="square" lIns="91129" tIns="45565" rIns="91129" bIns="45565" numCol="1" anchor="t" anchorCtr="0" compatLnSpc="1"/>
          <a:lstStyle>
            <a:lvl1pPr algn="r" defTabSz="911225" eaLnBrk="0" hangingPunct="0">
              <a:defRPr sz="1200">
                <a:latin typeface="Times New Roman" panose="02020603050405020304" pitchFamily="18" charset="0"/>
              </a:defRPr>
            </a:lvl1pPr>
          </a:lstStyle>
          <a:p>
            <a:pPr marL="0" marR="0" lvl="0" indent="0" algn="r"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8" name="Rectangle 4"/>
          <p:cNvSpPr>
            <a:spLocks noGrp="1" noChangeArrowheads="1"/>
          </p:cNvSpPr>
          <p:nvPr>
            <p:ph type="ftr" sz="quarter" idx="2"/>
          </p:nvPr>
        </p:nvSpPr>
        <p:spPr bwMode="auto">
          <a:xfrm>
            <a:off x="0" y="8661400"/>
            <a:ext cx="2960688" cy="455613"/>
          </a:xfrm>
          <a:prstGeom prst="rect">
            <a:avLst/>
          </a:prstGeom>
          <a:noFill/>
          <a:ln w="9525">
            <a:noFill/>
            <a:miter lim="800000"/>
          </a:ln>
          <a:effectLst/>
        </p:spPr>
        <p:txBody>
          <a:bodyPr vert="horz" wrap="square" lIns="91129" tIns="45565" rIns="91129" bIns="45565" numCol="1" anchor="b"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9" name="Rectangle 5"/>
          <p:cNvSpPr>
            <a:spLocks noGrp="1" noChangeArrowheads="1"/>
          </p:cNvSpPr>
          <p:nvPr>
            <p:ph type="sldNum" sz="quarter" idx="3"/>
          </p:nvPr>
        </p:nvSpPr>
        <p:spPr bwMode="auto">
          <a:xfrm>
            <a:off x="3870325" y="8661400"/>
            <a:ext cx="2960688" cy="455613"/>
          </a:xfrm>
          <a:prstGeom prst="rect">
            <a:avLst/>
          </a:prstGeom>
          <a:noFill/>
          <a:ln w="9525">
            <a:noFill/>
            <a:miter lim="800000"/>
          </a:ln>
          <a:effectLst/>
        </p:spPr>
        <p:txBody>
          <a:bodyPr vert="horz" wrap="square" lIns="91129" tIns="45565" rIns="91129" bIns="45565" numCol="1" anchor="b" anchorCtr="0" compatLnSpc="1"/>
          <a:lstStyle>
            <a:lvl1pPr algn="r" defTabSz="911225" eaLnBrk="0" hangingPunct="0">
              <a:defRPr sz="1200">
                <a:latin typeface="Times New Roman" panose="02020603050405020304" pitchFamily="18" charset="0"/>
              </a:defRPr>
            </a:lvl1pPr>
          </a:lstStyle>
          <a:p>
            <a:pPr marL="0" marR="0" lvl="0" indent="0" algn="r" defTabSz="911225" rtl="0" eaLnBrk="0" fontAlgn="base" latinLnBrk="0" hangingPunct="0">
              <a:lnSpc>
                <a:spcPct val="100000"/>
              </a:lnSpc>
              <a:spcBef>
                <a:spcPct val="0"/>
              </a:spcBef>
              <a:spcAft>
                <a:spcPct val="0"/>
              </a:spcAft>
              <a:buClrTx/>
              <a:buSzTx/>
              <a:buFontTx/>
              <a:buNone/>
              <a:defRPr/>
            </a:pPr>
            <a:fld id="{3D6A2F20-6D35-4990-957A-D8FB9B86652F}" type="slidenum">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pPr marL="0" marR="0" lvl="0" indent="0" algn="r" defTabSz="911225" rtl="0" eaLnBrk="0" fontAlgn="base" latinLnBrk="0" hangingPunct="0">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60688" cy="455613"/>
          </a:xfrm>
          <a:prstGeom prst="rect">
            <a:avLst/>
          </a:prstGeom>
          <a:noFill/>
          <a:ln w="9525">
            <a:noFill/>
            <a:miter lim="800000"/>
          </a:ln>
          <a:effectLst/>
        </p:spPr>
        <p:txBody>
          <a:bodyPr vert="horz" wrap="square" lIns="91129" tIns="45565" rIns="91129" bIns="45565" numCol="1" anchor="t"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5" name="Rectangle 3"/>
          <p:cNvSpPr>
            <a:spLocks noGrp="1" noChangeArrowheads="1"/>
          </p:cNvSpPr>
          <p:nvPr>
            <p:ph type="dt" idx="1"/>
          </p:nvPr>
        </p:nvSpPr>
        <p:spPr bwMode="auto">
          <a:xfrm>
            <a:off x="3870325" y="0"/>
            <a:ext cx="2960688" cy="455613"/>
          </a:xfrm>
          <a:prstGeom prst="rect">
            <a:avLst/>
          </a:prstGeom>
          <a:noFill/>
          <a:ln w="9525">
            <a:noFill/>
            <a:miter lim="800000"/>
          </a:ln>
          <a:effectLst/>
        </p:spPr>
        <p:txBody>
          <a:bodyPr vert="horz" wrap="square" lIns="91129" tIns="45565" rIns="91129" bIns="45565" numCol="1" anchor="t" anchorCtr="0" compatLnSpc="1"/>
          <a:lstStyle>
            <a:lvl1pPr algn="r" defTabSz="911225" eaLnBrk="0" hangingPunct="0">
              <a:defRPr sz="1200">
                <a:latin typeface="Times New Roman" panose="02020603050405020304" pitchFamily="18" charset="0"/>
              </a:defRPr>
            </a:lvl1pPr>
          </a:lstStyle>
          <a:p>
            <a:pPr marL="0" marR="0" lvl="0" indent="0" algn="r"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4340" name="Rectangle 4"/>
          <p:cNvSpPr>
            <a:spLocks noGrp="1" noRot="1" noChangeAspect="1" noTextEdit="1"/>
          </p:cNvSpPr>
          <p:nvPr>
            <p:ph type="sldImg" idx="2"/>
          </p:nvPr>
        </p:nvSpPr>
        <p:spPr>
          <a:xfrm>
            <a:off x="1136650" y="684213"/>
            <a:ext cx="4557713" cy="3417887"/>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911225" y="4330700"/>
            <a:ext cx="5008563" cy="4102100"/>
          </a:xfrm>
          <a:prstGeom prst="rect">
            <a:avLst/>
          </a:prstGeom>
          <a:noFill/>
          <a:ln w="9525">
            <a:noFill/>
            <a:miter lim="800000"/>
          </a:ln>
          <a:effectLst/>
        </p:spPr>
        <p:txBody>
          <a:bodyPr vert="horz" wrap="square" lIns="91129" tIns="45565" rIns="91129" bIns="45565"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p>
        </p:txBody>
      </p:sp>
      <p:sp>
        <p:nvSpPr>
          <p:cNvPr id="13318" name="Rectangle 6"/>
          <p:cNvSpPr>
            <a:spLocks noGrp="1" noChangeArrowheads="1"/>
          </p:cNvSpPr>
          <p:nvPr>
            <p:ph type="ftr" sz="quarter" idx="4"/>
          </p:nvPr>
        </p:nvSpPr>
        <p:spPr bwMode="auto">
          <a:xfrm>
            <a:off x="0" y="8661400"/>
            <a:ext cx="2960688" cy="455613"/>
          </a:xfrm>
          <a:prstGeom prst="rect">
            <a:avLst/>
          </a:prstGeom>
          <a:noFill/>
          <a:ln w="9525">
            <a:noFill/>
            <a:miter lim="800000"/>
          </a:ln>
          <a:effectLst/>
        </p:spPr>
        <p:txBody>
          <a:bodyPr vert="horz" wrap="square" lIns="91129" tIns="45565" rIns="91129" bIns="45565" numCol="1" anchor="b"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9" name="Rectangle 7"/>
          <p:cNvSpPr>
            <a:spLocks noGrp="1" noChangeArrowheads="1"/>
          </p:cNvSpPr>
          <p:nvPr>
            <p:ph type="sldNum" sz="quarter" idx="5"/>
          </p:nvPr>
        </p:nvSpPr>
        <p:spPr bwMode="auto">
          <a:xfrm>
            <a:off x="3870325" y="8661400"/>
            <a:ext cx="2960688" cy="455613"/>
          </a:xfrm>
          <a:prstGeom prst="rect">
            <a:avLst/>
          </a:prstGeom>
          <a:noFill/>
          <a:ln w="9525">
            <a:noFill/>
            <a:miter lim="800000"/>
          </a:ln>
          <a:effectLst/>
        </p:spPr>
        <p:txBody>
          <a:bodyPr vert="horz" wrap="square" lIns="91129" tIns="45565" rIns="91129" bIns="45565" numCol="1" anchor="b" anchorCtr="0" compatLnSpc="1"/>
          <a:lstStyle>
            <a:lvl1pPr algn="r" defTabSz="911225" eaLnBrk="0" hangingPunct="0">
              <a:defRPr sz="1200">
                <a:latin typeface="Times New Roman" panose="02020603050405020304" pitchFamily="18" charset="0"/>
              </a:defRPr>
            </a:lvl1pPr>
          </a:lstStyle>
          <a:p>
            <a:pPr marL="0" marR="0" lvl="0" indent="0" algn="r" defTabSz="911225" rtl="0" eaLnBrk="0" fontAlgn="base" latinLnBrk="0" hangingPunct="0">
              <a:lnSpc>
                <a:spcPct val="100000"/>
              </a:lnSpc>
              <a:spcBef>
                <a:spcPct val="0"/>
              </a:spcBef>
              <a:spcAft>
                <a:spcPct val="0"/>
              </a:spcAft>
              <a:buClrTx/>
              <a:buSzTx/>
              <a:buFontTx/>
              <a:buNone/>
              <a:defRPr/>
            </a:pPr>
            <a:fld id="{469A6D26-1F96-4B36-A9B4-7553EF7574DA}" type="slidenum">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pPr marL="0" marR="0" lvl="0" indent="0" algn="r" defTabSz="911225" rtl="0" eaLnBrk="0" fontAlgn="base" latinLnBrk="0" hangingPunct="0">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3</a:t>
            </a:fld>
            <a:endParaRPr lang="en-US" dirty="0"/>
          </a:p>
        </p:txBody>
      </p:sp>
      <p:sp>
        <p:nvSpPr>
          <p:cNvPr id="19459" name="Rectangle 1026"/>
          <p:cNvSpPr>
            <a:spLocks noGrp="1" noRot="1" noChangeAspect="1" noTextEdit="1"/>
          </p:cNvSpPr>
          <p:nvPr>
            <p:ph type="sldImg"/>
          </p:nvPr>
        </p:nvSpPr>
        <p:spPr>
          <a:xfrm>
            <a:off x="1146175" y="688975"/>
            <a:ext cx="4541838" cy="3406775"/>
          </a:xfrm>
          <a:ln w="12700">
            <a:solidFill>
              <a:schemeClr val="tx1">
                <a:alpha val="100000"/>
              </a:schemeClr>
            </a:solidFill>
          </a:ln>
        </p:spPr>
      </p:sp>
      <p:sp>
        <p:nvSpPr>
          <p:cNvPr id="19460" name="Rectangle 1027"/>
          <p:cNvSpPr>
            <a:spLocks noGrp="1"/>
          </p:cNvSpPr>
          <p:nvPr>
            <p:ph type="body" idx="1"/>
          </p:nvPr>
        </p:nvSpPr>
        <p:spPr>
          <a:xfrm>
            <a:off x="911225" y="4330700"/>
            <a:ext cx="5008563" cy="4103688"/>
          </a:xfrm>
        </p:spPr>
        <p:txBody>
          <a:bodyPr wrap="square" lIns="85434" tIns="42716" rIns="85434" bIns="42716" anchor="t" anchorCtr="0"/>
          <a:lstStyle/>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8</a:t>
            </a:fld>
            <a:endParaRPr lang="en-US" dirty="0"/>
          </a:p>
        </p:txBody>
      </p:sp>
      <p:sp>
        <p:nvSpPr>
          <p:cNvPr id="25603" name="Rectangle 2"/>
          <p:cNvSpPr>
            <a:spLocks noGrp="1" noRot="1" noChangeAspect="1" noTextEdit="1"/>
          </p:cNvSpPr>
          <p:nvPr>
            <p:ph type="sldImg"/>
          </p:nvPr>
        </p:nvSpPr>
        <p:spPr>
          <a:xfrm>
            <a:off x="1146175" y="688975"/>
            <a:ext cx="4541838" cy="3406775"/>
          </a:xfrm>
          <a:ln w="12700">
            <a:solidFill>
              <a:schemeClr val="tx1">
                <a:alpha val="100000"/>
              </a:schemeClr>
            </a:solidFill>
          </a:ln>
        </p:spPr>
      </p:sp>
      <p:sp>
        <p:nvSpPr>
          <p:cNvPr id="25604" name="Rectangle 3"/>
          <p:cNvSpPr>
            <a:spLocks noGrp="1"/>
          </p:cNvSpPr>
          <p:nvPr>
            <p:ph type="body" idx="1"/>
          </p:nvPr>
        </p:nvSpPr>
        <p:spPr>
          <a:xfrm>
            <a:off x="911225" y="4330700"/>
            <a:ext cx="5008563" cy="4103688"/>
          </a:xfrm>
        </p:spPr>
        <p:txBody>
          <a:bodyPr wrap="square" lIns="85434" tIns="42716" rIns="85434" bIns="42716" anchor="t" anchorCtr="0"/>
          <a:lstStyle/>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10</a:t>
            </a:fld>
            <a:endParaRPr lang="en-US" dirty="0"/>
          </a:p>
        </p:txBody>
      </p:sp>
      <p:sp>
        <p:nvSpPr>
          <p:cNvPr id="28675" name="Rectangle 2"/>
          <p:cNvSpPr>
            <a:spLocks noGrp="1" noRot="1" noChangeAspect="1" noTextEdit="1"/>
          </p:cNvSpPr>
          <p:nvPr>
            <p:ph type="sldImg"/>
          </p:nvPr>
        </p:nvSpPr>
        <p:spPr>
          <a:xfrm>
            <a:off x="1146175" y="688975"/>
            <a:ext cx="4541838" cy="3406775"/>
          </a:xfrm>
          <a:ln w="12700">
            <a:solidFill>
              <a:schemeClr val="tx1">
                <a:alpha val="100000"/>
              </a:schemeClr>
            </a:solidFill>
          </a:ln>
        </p:spPr>
      </p:sp>
      <p:sp>
        <p:nvSpPr>
          <p:cNvPr id="28676" name="Rectangle 3"/>
          <p:cNvSpPr>
            <a:spLocks noGrp="1"/>
          </p:cNvSpPr>
          <p:nvPr>
            <p:ph type="body" idx="1"/>
          </p:nvPr>
        </p:nvSpPr>
        <p:spPr>
          <a:xfrm>
            <a:off x="911225" y="4330700"/>
            <a:ext cx="5008563" cy="4103688"/>
          </a:xfrm>
        </p:spPr>
        <p:txBody>
          <a:bodyPr wrap="square" lIns="85434" tIns="42716" rIns="85434" bIns="42716" anchor="t" anchorCtr="0"/>
          <a:lstStyle/>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11</a:t>
            </a:fld>
            <a:endParaRPr lang="en-US" dirty="0"/>
          </a:p>
        </p:txBody>
      </p:sp>
      <p:sp>
        <p:nvSpPr>
          <p:cNvPr id="30723" name="Rectangle 2"/>
          <p:cNvSpPr>
            <a:spLocks noGrp="1" noRot="1" noChangeAspect="1" noTextEdit="1"/>
          </p:cNvSpPr>
          <p:nvPr>
            <p:ph type="sldImg"/>
          </p:nvPr>
        </p:nvSpPr>
        <p:spPr>
          <a:xfrm>
            <a:off x="1146175" y="688975"/>
            <a:ext cx="4541838" cy="3406775"/>
          </a:xfrm>
          <a:ln w="12700">
            <a:solidFill>
              <a:schemeClr val="tx1">
                <a:alpha val="100000"/>
              </a:schemeClr>
            </a:solidFill>
          </a:ln>
        </p:spPr>
      </p:sp>
      <p:sp>
        <p:nvSpPr>
          <p:cNvPr id="30724" name="Rectangle 3"/>
          <p:cNvSpPr>
            <a:spLocks noGrp="1"/>
          </p:cNvSpPr>
          <p:nvPr>
            <p:ph type="body" idx="1"/>
          </p:nvPr>
        </p:nvSpPr>
        <p:spPr>
          <a:xfrm>
            <a:off x="911225" y="4330700"/>
            <a:ext cx="5008563" cy="4103688"/>
          </a:xfrm>
        </p:spPr>
        <p:txBody>
          <a:bodyPr wrap="square" lIns="85434" tIns="42716" rIns="85434" bIns="42716" anchor="t" anchorCtr="0"/>
          <a:lstStyle/>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20</a:t>
            </a:fld>
            <a:endParaRPr lang="en-US" dirty="0"/>
          </a:p>
        </p:txBody>
      </p:sp>
      <p:sp>
        <p:nvSpPr>
          <p:cNvPr id="37891" name="Rectangle 2"/>
          <p:cNvSpPr>
            <a:spLocks noGrp="1" noRot="1" noChangeAspect="1" noTextEdit="1"/>
          </p:cNvSpPr>
          <p:nvPr>
            <p:ph type="sldImg"/>
          </p:nvPr>
        </p:nvSpPr>
        <p:spPr/>
      </p:sp>
      <p:sp>
        <p:nvSpPr>
          <p:cNvPr id="37892" name="Rectangle 3"/>
          <p:cNvSpPr>
            <a:spLocks noGrp="1"/>
          </p:cNvSpPr>
          <p:nvPr>
            <p:ph type="body" idx="1"/>
          </p:nvPr>
        </p:nvSpPr>
        <p:spPr/>
        <p:txBody>
          <a:bodyPr wrap="square" lIns="91129" tIns="45565" rIns="91129" bIns="45565" anchor="t" anchorCtr="0"/>
          <a:lstStyle/>
          <a:p>
            <a:pPr lvl="0"/>
            <a:r>
              <a:rPr dirty="0"/>
              <a:t>Then how can we decide a test attribute on each node?    </a:t>
            </a:r>
          </a:p>
          <a:p>
            <a:pPr lvl="0"/>
            <a:r>
              <a:rPr dirty="0"/>
              <a:t>One of the popular methods is using information gain measure, which we covered in chapter 5. </a:t>
            </a:r>
          </a:p>
          <a:p>
            <a:pPr lvl="0"/>
            <a:r>
              <a:rPr dirty="0"/>
              <a:t>It involves rather complicated equations, and I’ll not present the details here. Just basic ideas. </a:t>
            </a:r>
          </a:p>
          <a:p>
            <a:pPr lvl="0"/>
            <a:r>
              <a:rPr dirty="0"/>
              <a:t>The basic idea is that we select the attribute with the highest information gain. </a:t>
            </a:r>
          </a:p>
          <a:p>
            <a:pPr lvl="0"/>
            <a:r>
              <a:rPr dirty="0"/>
              <a:t>This information gain can be calculated from the expected information I and entropy of each attribute, E </a:t>
            </a:r>
          </a:p>
          <a:p>
            <a:pPr lvl="0"/>
            <a:endParaRPr dirty="0"/>
          </a:p>
          <a:p>
            <a:pPr lvl="0"/>
            <a:r>
              <a:rPr dirty="0"/>
              <a:t>I : the expected information needed to classify a given sample</a:t>
            </a:r>
          </a:p>
          <a:p>
            <a:pPr lvl="0"/>
            <a:r>
              <a:rPr dirty="0"/>
              <a:t>E (entropy) : expected information based on the partitioning into subsets by A</a:t>
            </a:r>
          </a:p>
          <a:p>
            <a:pPr lvl="0"/>
            <a:r>
              <a:rPr dirty="0"/>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32</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36</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38</a:t>
            </a:fld>
            <a:endParaRPr lang="en-US" dirty="0"/>
          </a:p>
        </p:txBody>
      </p:sp>
      <p:sp>
        <p:nvSpPr>
          <p:cNvPr id="57347" name="Rectangle 2"/>
          <p:cNvSpPr>
            <a:spLocks noGrp="1" noRot="1" noChangeAspect="1" noTextEdit="1"/>
          </p:cNvSpPr>
          <p:nvPr>
            <p:ph type="sldImg"/>
          </p:nvPr>
        </p:nvSpPr>
        <p:spPr>
          <a:xfrm>
            <a:off x="1146175" y="688975"/>
            <a:ext cx="4541838" cy="3406775"/>
          </a:xfrm>
          <a:ln w="12700">
            <a:solidFill>
              <a:schemeClr val="tx1">
                <a:alpha val="100000"/>
              </a:schemeClr>
            </a:solidFill>
          </a:ln>
        </p:spPr>
      </p:sp>
      <p:sp>
        <p:nvSpPr>
          <p:cNvPr id="57348" name="Rectangle 3"/>
          <p:cNvSpPr>
            <a:spLocks noGrp="1"/>
          </p:cNvSpPr>
          <p:nvPr>
            <p:ph type="body" idx="1"/>
          </p:nvPr>
        </p:nvSpPr>
        <p:spPr>
          <a:xfrm>
            <a:off x="911225" y="4330700"/>
            <a:ext cx="5008563" cy="4103688"/>
          </a:xfrm>
        </p:spPr>
        <p:txBody>
          <a:bodyPr wrap="square" lIns="85434" tIns="42716" rIns="85434" bIns="42716" anchor="t" anchorCtr="0"/>
          <a:lstStyle/>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48</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080F4FF-607F-4113-83DA-BB3FC0D93FAE}"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CAD617B-C86C-4DFA-A3F7-47F3E1C30438}"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0D72E2E-8ECB-4BE5-9CFD-1D1ADC3D3078}"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5DF2CDA-3998-4FB7-9D23-804875CF528C}" type="slidenum">
              <a:rPr lang="en-US" altLang="en-US">
                <a:latin typeface="Times New Roman" panose="02020603050405020304" pitchFamily="18" charset="0"/>
              </a:rPr>
              <a:pPr/>
              <a:t>76</a:t>
            </a:fld>
            <a:endParaRPr lang="en-US" altLang="en-US">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AE4143D-3ADA-461A-A252-CD1193326961}" type="slidenum">
              <a:rPr lang="en-US" altLang="en-US">
                <a:latin typeface="Times New Roman" panose="02020603050405020304" pitchFamily="18" charset="0"/>
              </a:rPr>
              <a:pPr/>
              <a:t>77</a:t>
            </a:fld>
            <a:endParaRPr lang="en-US" altLang="en-US">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A835F6C-CEEA-4542-ADE4-D4523F23887B}" type="slidenum">
              <a:rPr lang="en-US" altLang="en-US">
                <a:latin typeface="Times New Roman" panose="02020603050405020304" pitchFamily="18" charset="0"/>
              </a:rPr>
              <a:pPr/>
              <a:t>98</a:t>
            </a:fld>
            <a:endParaRPr lang="en-US" altLang="en-US">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3870289" y="8661006"/>
            <a:ext cx="2960724" cy="456007"/>
          </a:xfrm>
          <a:prstGeom prst="rect">
            <a:avLst/>
          </a:prstGeom>
          <a:noFill/>
          <a:ln w="9525">
            <a:noFill/>
            <a:miter lim="800000"/>
            <a:headEnd/>
            <a:tailEnd/>
          </a:ln>
        </p:spPr>
        <p:txBody>
          <a:bodyPr lIns="91456" tIns="45729" rIns="91456" bIns="45729" anchor="b"/>
          <a:lstStyle/>
          <a:p>
            <a:pPr algn="r" defTabSz="914717"/>
            <a:fld id="{B8E3E697-9F37-49AC-9136-975FC6840EBA}" type="slidenum">
              <a:rPr lang="en-US" sz="1200">
                <a:latin typeface="Times New Roman" pitchFamily="18" charset="0"/>
              </a:rPr>
              <a:pPr algn="r" defTabSz="914717"/>
              <a:t>101</a:t>
            </a:fld>
            <a:endParaRPr lang="en-US" sz="1200" dirty="0">
              <a:latin typeface="Times New Roman"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noChangeArrowheads="1"/>
          </p:cNvSpPr>
          <p:nvPr/>
        </p:nvSpPr>
        <p:spPr bwMode="auto">
          <a:xfrm>
            <a:off x="3870289" y="8661006"/>
            <a:ext cx="2960724" cy="456007"/>
          </a:xfrm>
          <a:prstGeom prst="rect">
            <a:avLst/>
          </a:prstGeom>
          <a:noFill/>
          <a:ln w="9525">
            <a:noFill/>
            <a:miter lim="800000"/>
            <a:headEnd/>
            <a:tailEnd/>
          </a:ln>
        </p:spPr>
        <p:txBody>
          <a:bodyPr lIns="91456" tIns="45729" rIns="91456" bIns="45729" anchor="b"/>
          <a:lstStyle/>
          <a:p>
            <a:pPr algn="r" defTabSz="914717"/>
            <a:fld id="{84DADB14-3536-499C-B963-B6C912F1DB46}" type="slidenum">
              <a:rPr lang="en-US" sz="1200">
                <a:latin typeface="Times New Roman" pitchFamily="18" charset="0"/>
              </a:rPr>
              <a:pPr algn="r" defTabSz="914717"/>
              <a:t>102</a:t>
            </a:fld>
            <a:endParaRPr lang="en-US" sz="1200" dirty="0">
              <a:latin typeface="Times New Roman" pitchFamily="18" charset="0"/>
            </a:endParaRPr>
          </a:p>
        </p:txBody>
      </p:sp>
      <p:sp>
        <p:nvSpPr>
          <p:cNvPr id="100355" name="Rectangle 2"/>
          <p:cNvSpPr>
            <a:spLocks noGrp="1" noRot="1" noChangeAspect="1" noChangeArrowheads="1" noTextEdit="1"/>
          </p:cNvSpPr>
          <p:nvPr>
            <p:ph type="sldImg"/>
          </p:nvPr>
        </p:nvSpPr>
        <p:spPr>
          <a:xfrm>
            <a:off x="1149350" y="688975"/>
            <a:ext cx="4540250" cy="3406775"/>
          </a:xfrm>
          <a:ln w="12700" cap="flat">
            <a:solidFill>
              <a:schemeClr val="tx1"/>
            </a:solidFill>
          </a:ln>
        </p:spPr>
      </p:sp>
      <p:sp>
        <p:nvSpPr>
          <p:cNvPr id="100356" name="Rectangle 3"/>
          <p:cNvSpPr>
            <a:spLocks noGrp="1" noChangeArrowheads="1"/>
          </p:cNvSpPr>
          <p:nvPr>
            <p:ph type="body" idx="1"/>
          </p:nvPr>
        </p:nvSpPr>
        <p:spPr>
          <a:xfrm>
            <a:off x="911112" y="4332854"/>
            <a:ext cx="5008791" cy="4102499"/>
          </a:xfrm>
          <a:noFill/>
          <a:ln/>
        </p:spPr>
        <p:txBody>
          <a:bodyPr lIns="84308" tIns="42154" rIns="84308" bIns="42154"/>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2A4F567B-2C46-4266-AA70-491467107895}" type="slidenum">
              <a:rPr lang="en-US" smtClean="0"/>
              <a:pPr/>
              <a:t>103</a:t>
            </a:fld>
            <a:endParaRPr lang="en-US"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C2B93C39-A4EF-4FD2-A26D-66F3C7072B9B}" type="slidenum">
              <a:rPr lang="en-US" smtClean="0"/>
              <a:pPr/>
              <a:t>104</a:t>
            </a:fld>
            <a:endParaRPr lang="en-US"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08179E4D-2760-4C15-A07F-BB2A89F602AF}" type="slidenum">
              <a:rPr lang="en-US" smtClean="0"/>
              <a:pPr/>
              <a:t>105</a:t>
            </a:fld>
            <a:endParaRPr lang="en-US" smtClean="0"/>
          </a:p>
        </p:txBody>
      </p:sp>
      <p:sp>
        <p:nvSpPr>
          <p:cNvPr id="103427" name="Rectangle 2"/>
          <p:cNvSpPr>
            <a:spLocks noGrp="1" noRot="1" noChangeAspect="1" noChangeArrowheads="1" noTextEdit="1"/>
          </p:cNvSpPr>
          <p:nvPr>
            <p:ph type="sldImg"/>
          </p:nvPr>
        </p:nvSpPr>
        <p:spPr>
          <a:xfrm>
            <a:off x="1149350" y="688975"/>
            <a:ext cx="4540250" cy="3406775"/>
          </a:xfrm>
          <a:ln w="12700" cap="flat">
            <a:solidFill>
              <a:schemeClr val="tx1"/>
            </a:solidFill>
          </a:ln>
        </p:spPr>
      </p:sp>
      <p:sp>
        <p:nvSpPr>
          <p:cNvPr id="103428" name="Rectangle 3"/>
          <p:cNvSpPr>
            <a:spLocks noGrp="1" noChangeArrowheads="1"/>
          </p:cNvSpPr>
          <p:nvPr>
            <p:ph type="body" idx="1"/>
          </p:nvPr>
        </p:nvSpPr>
        <p:spPr>
          <a:xfrm>
            <a:off x="911112" y="4332854"/>
            <a:ext cx="5008791" cy="4102499"/>
          </a:xfrm>
          <a:noFill/>
          <a:ln/>
        </p:spPr>
        <p:txBody>
          <a:bodyPr lIns="84308" tIns="42154" rIns="84308" bIns="42154"/>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62BC7BBB-AA83-4DE9-AEA9-96A1548F287B}" type="slidenum">
              <a:rPr lang="en-US" smtClean="0"/>
              <a:pPr/>
              <a:t>106</a:t>
            </a:fld>
            <a:endParaRPr lang="en-US"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4559815D-D8E3-4E81-81C1-27A6E1CDA882}" type="slidenum">
              <a:rPr lang="en-US" smtClean="0"/>
              <a:pPr/>
              <a:t>107</a:t>
            </a:fld>
            <a:endParaRPr lang="en-US" smtClean="0"/>
          </a:p>
        </p:txBody>
      </p:sp>
      <p:sp>
        <p:nvSpPr>
          <p:cNvPr id="105475" name="Rectangle 2"/>
          <p:cNvSpPr>
            <a:spLocks noGrp="1" noRot="1" noChangeAspect="1" noChangeArrowheads="1" noTextEdit="1"/>
          </p:cNvSpPr>
          <p:nvPr>
            <p:ph type="sldImg"/>
          </p:nvPr>
        </p:nvSpPr>
        <p:spPr>
          <a:xfrm>
            <a:off x="1149350" y="688975"/>
            <a:ext cx="4540250" cy="3406775"/>
          </a:xfrm>
          <a:ln w="12700" cap="flat">
            <a:solidFill>
              <a:schemeClr val="tx1"/>
            </a:solidFill>
          </a:ln>
        </p:spPr>
      </p:sp>
      <p:sp>
        <p:nvSpPr>
          <p:cNvPr id="105476" name="Rectangle 3"/>
          <p:cNvSpPr>
            <a:spLocks noGrp="1" noChangeArrowheads="1"/>
          </p:cNvSpPr>
          <p:nvPr>
            <p:ph type="body" idx="1"/>
          </p:nvPr>
        </p:nvSpPr>
        <p:spPr>
          <a:xfrm>
            <a:off x="911112" y="4332854"/>
            <a:ext cx="5008791" cy="4102499"/>
          </a:xfrm>
          <a:noFill/>
          <a:ln/>
        </p:spPr>
        <p:txBody>
          <a:bodyPr lIns="84308" tIns="42154" rIns="84308" bIns="42154"/>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1FDBACBB-D6DF-4718-9EA4-AD1537031397}" type="slidenum">
              <a:rPr lang="en-US" smtClean="0"/>
              <a:pPr/>
              <a:t>112</a:t>
            </a:fld>
            <a:endParaRPr 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1D36567E-20EE-43FE-B637-468F93C77A4B}" type="slidenum">
              <a:rPr lang="en-US" smtClean="0"/>
              <a:pPr/>
              <a:t>113</a:t>
            </a:fld>
            <a:endParaRPr lang="en-US"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161703C5-3F6F-4742-81CA-0CE7A6E5A92A}" type="slidenum">
              <a:rPr lang="en-US" smtClean="0"/>
              <a:pPr/>
              <a:t>114</a:t>
            </a:fld>
            <a:endParaRPr lang="en-US"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85C1882A-3D29-48B2-9303-60247D87614A}" type="slidenum">
              <a:rPr lang="en-US" smtClean="0"/>
              <a:pPr/>
              <a:t>118</a:t>
            </a:fld>
            <a:endParaRPr lang="en-US" smtClean="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121</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122</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125</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128</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129</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130</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70325" y="8661400"/>
            <a:ext cx="2960688" cy="455613"/>
          </a:xfrm>
          <a:prstGeom prst="rect">
            <a:avLst/>
          </a:prstGeom>
          <a:noFill/>
          <a:ln w="9525">
            <a:noFill/>
          </a:ln>
        </p:spPr>
        <p:txBody>
          <a:bodyPr lIns="91129" tIns="45565" rIns="91129" bIns="45565" anchor="b" anchorCtr="0"/>
          <a:lstStyle/>
          <a:p>
            <a:pPr lvl="0" algn="r" defTabSz="911225">
              <a:spcBef>
                <a:spcPct val="0"/>
              </a:spcBef>
            </a:pPr>
            <a:fld id="{9A0DB2DC-4C9A-4742-B13C-FB6460FD3503}" type="slidenum">
              <a:rPr lang="en-US" dirty="0"/>
              <a:pPr lvl="0" algn="r" defTabSz="911225">
                <a:spcBef>
                  <a:spcPct val="0"/>
                </a:spcBef>
              </a:pPr>
              <a:t>133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ChangeArrowheads="1" noTextEdit="1"/>
          </p:cNvSpPr>
          <p:nvPr>
            <p:ph type="sldImg"/>
          </p:nvPr>
        </p:nvSpPr>
        <p:spPr>
          <a:ln/>
        </p:spPr>
      </p:sp>
      <p:sp>
        <p:nvSpPr>
          <p:cNvPr id="13414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ChangeArrowheads="1" noTextEdit="1"/>
          </p:cNvSpPr>
          <p:nvPr>
            <p:ph type="sldImg"/>
          </p:nvPr>
        </p:nvSpPr>
        <p:spPr>
          <a:ln/>
        </p:spPr>
      </p:sp>
      <p:sp>
        <p:nvSpPr>
          <p:cNvPr id="13517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noTextEdit="1"/>
          </p:cNvSpPr>
          <p:nvPr>
            <p:ph type="sldImg"/>
          </p:nvPr>
        </p:nvSpPr>
        <p:spPr>
          <a:ln/>
        </p:spPr>
      </p:sp>
      <p:sp>
        <p:nvSpPr>
          <p:cNvPr id="1361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ChangeArrowheads="1" noTextEdit="1"/>
          </p:cNvSpPr>
          <p:nvPr>
            <p:ph type="sldImg"/>
          </p:nvPr>
        </p:nvSpPr>
        <p:spPr>
          <a:ln/>
        </p:spPr>
      </p:sp>
      <p:sp>
        <p:nvSpPr>
          <p:cNvPr id="13721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ChangeArrowheads="1" noTextEdit="1"/>
          </p:cNvSpPr>
          <p:nvPr>
            <p:ph type="sldImg"/>
          </p:nvPr>
        </p:nvSpPr>
        <p:spPr>
          <a:ln/>
        </p:spPr>
      </p:sp>
      <p:sp>
        <p:nvSpPr>
          <p:cNvPr id="13824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D5A53453-4EC5-446F-A3C9-F935D6BB4F9A}" type="slidenum">
              <a:rPr lang="en-US" smtClean="0"/>
              <a:pPr/>
              <a:t>141</a:t>
            </a:fld>
            <a:endParaRPr lang="en-US" smtClean="0"/>
          </a:p>
        </p:txBody>
      </p:sp>
      <p:sp>
        <p:nvSpPr>
          <p:cNvPr id="139267" name="Rectangle 2"/>
          <p:cNvSpPr>
            <a:spLocks noChangeArrowheads="1" noTextEdit="1"/>
          </p:cNvSpPr>
          <p:nvPr>
            <p:ph type="sldImg"/>
          </p:nvPr>
        </p:nvSpPr>
        <p:spPr>
          <a:xfrm>
            <a:off x="1147763" y="688975"/>
            <a:ext cx="4540250" cy="3406775"/>
          </a:xfrm>
          <a:ln w="12700" cap="flat">
            <a:solidFill>
              <a:schemeClr val="tx1"/>
            </a:solidFill>
          </a:ln>
        </p:spPr>
      </p:sp>
      <p:sp>
        <p:nvSpPr>
          <p:cNvPr id="139268" name="Rectangle 3"/>
          <p:cNvSpPr>
            <a:spLocks noGrp="1" noChangeArrowheads="1"/>
          </p:cNvSpPr>
          <p:nvPr>
            <p:ph type="body" idx="1"/>
          </p:nvPr>
        </p:nvSpPr>
        <p:spPr>
          <a:xfrm>
            <a:off x="911112" y="4331287"/>
            <a:ext cx="5008791" cy="4104067"/>
          </a:xfrm>
          <a:noFill/>
          <a:ln/>
        </p:spPr>
        <p:txBody>
          <a:bodyPr lIns="85741" tIns="42869" rIns="85741" bIns="42869"/>
          <a:lstStyle/>
          <a:p>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3406D884-8ED6-4A02-BD73-79321125B8C6}" type="slidenum">
              <a:rPr lang="en-US" smtClean="0"/>
              <a:pPr/>
              <a:t>142</a:t>
            </a:fld>
            <a:endParaRPr lang="en-US" smtClean="0"/>
          </a:p>
        </p:txBody>
      </p:sp>
      <p:sp>
        <p:nvSpPr>
          <p:cNvPr id="140291" name="Rectangle 2"/>
          <p:cNvSpPr>
            <a:spLocks noChangeArrowheads="1" noTextEdit="1"/>
          </p:cNvSpPr>
          <p:nvPr>
            <p:ph type="sldImg"/>
          </p:nvPr>
        </p:nvSpPr>
        <p:spPr>
          <a:xfrm>
            <a:off x="1147763" y="688975"/>
            <a:ext cx="4540250" cy="3406775"/>
          </a:xfrm>
          <a:ln w="12700" cap="flat">
            <a:solidFill>
              <a:schemeClr val="tx1"/>
            </a:solidFill>
          </a:ln>
        </p:spPr>
      </p:sp>
      <p:sp>
        <p:nvSpPr>
          <p:cNvPr id="140292" name="Rectangle 3"/>
          <p:cNvSpPr>
            <a:spLocks noGrp="1" noChangeArrowheads="1"/>
          </p:cNvSpPr>
          <p:nvPr>
            <p:ph type="body" idx="1"/>
          </p:nvPr>
        </p:nvSpPr>
        <p:spPr>
          <a:xfrm>
            <a:off x="911112" y="4331287"/>
            <a:ext cx="5008791" cy="4104067"/>
          </a:xfrm>
          <a:noFill/>
          <a:ln/>
        </p:spPr>
        <p:txBody>
          <a:bodyPr lIns="85741" tIns="42869" rIns="85741" bIns="42869"/>
          <a:lstStyle/>
          <a:p>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ChangeArrowheads="1" noTextEdit="1"/>
          </p:cNvSpPr>
          <p:nvPr>
            <p:ph type="sldImg"/>
          </p:nvPr>
        </p:nvSpPr>
        <p:spPr>
          <a:ln/>
        </p:spPr>
      </p:sp>
      <p:sp>
        <p:nvSpPr>
          <p:cNvPr id="14131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ChangeArrowheads="1" noTextEdit="1"/>
          </p:cNvSpPr>
          <p:nvPr>
            <p:ph type="sldImg"/>
          </p:nvPr>
        </p:nvSpPr>
        <p:spPr>
          <a:ln/>
        </p:spPr>
      </p:sp>
      <p:sp>
        <p:nvSpPr>
          <p:cNvPr id="14233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ChangeArrowheads="1" noTextEdit="1"/>
          </p:cNvSpPr>
          <p:nvPr>
            <p:ph type="sldImg"/>
          </p:nvPr>
        </p:nvSpPr>
        <p:spPr>
          <a:ln/>
        </p:spPr>
      </p:sp>
      <p:sp>
        <p:nvSpPr>
          <p:cNvPr id="14336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ChangeArrowheads="1" noTextEdit="1"/>
          </p:cNvSpPr>
          <p:nvPr>
            <p:ph type="sldImg"/>
          </p:nvPr>
        </p:nvSpPr>
        <p:spPr>
          <a:ln/>
        </p:spPr>
      </p:sp>
      <p:sp>
        <p:nvSpPr>
          <p:cNvPr id="14438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noTextEdit="1"/>
          </p:cNvSpPr>
          <p:nvPr>
            <p:ph type="sldImg"/>
          </p:nvPr>
        </p:nvSpPr>
        <p:spPr>
          <a:ln/>
        </p:spPr>
      </p:sp>
      <p:sp>
        <p:nvSpPr>
          <p:cNvPr id="14541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ChangeArrowheads="1" noTextEdit="1"/>
          </p:cNvSpPr>
          <p:nvPr>
            <p:ph type="sldImg"/>
          </p:nvPr>
        </p:nvSpPr>
        <p:spPr>
          <a:ln/>
        </p:spPr>
      </p:sp>
      <p:sp>
        <p:nvSpPr>
          <p:cNvPr id="14643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txBox="1">
            <a:spLocks noGrp="1" noChangeArrowheads="1"/>
          </p:cNvSpPr>
          <p:nvPr/>
        </p:nvSpPr>
        <p:spPr bwMode="auto">
          <a:xfrm>
            <a:off x="3870289" y="8661006"/>
            <a:ext cx="2960724" cy="456007"/>
          </a:xfrm>
          <a:prstGeom prst="rect">
            <a:avLst/>
          </a:prstGeom>
          <a:noFill/>
          <a:ln w="9525">
            <a:noFill/>
            <a:miter lim="800000"/>
            <a:headEnd/>
            <a:tailEnd/>
          </a:ln>
        </p:spPr>
        <p:txBody>
          <a:bodyPr lIns="91456" tIns="45729" rIns="91456" bIns="45729" anchor="b"/>
          <a:lstStyle/>
          <a:p>
            <a:pPr algn="r" defTabSz="914717"/>
            <a:fld id="{BD0AA624-11C0-49D8-A675-ECBA5F564B3F}" type="slidenum">
              <a:rPr lang="en-US" sz="1200">
                <a:latin typeface="Times New Roman" pitchFamily="18" charset="0"/>
              </a:rPr>
              <a:pPr algn="r" defTabSz="914717"/>
              <a:t>149</a:t>
            </a:fld>
            <a:endParaRPr lang="en-US" sz="1200" dirty="0">
              <a:latin typeface="Times New Roman" pitchFamily="18" charset="0"/>
            </a:endParaRPr>
          </a:p>
        </p:txBody>
      </p:sp>
      <p:sp>
        <p:nvSpPr>
          <p:cNvPr id="147459" name="Rectangle 2"/>
          <p:cNvSpPr>
            <a:spLocks noChangeArrowheads="1" noTextEdit="1"/>
          </p:cNvSpPr>
          <p:nvPr>
            <p:ph type="sldImg"/>
          </p:nvPr>
        </p:nvSpPr>
        <p:spPr>
          <a:xfrm>
            <a:off x="1147763" y="688975"/>
            <a:ext cx="4540250" cy="3406775"/>
          </a:xfrm>
          <a:ln w="12700" cap="flat">
            <a:solidFill>
              <a:schemeClr val="tx1"/>
            </a:solidFill>
          </a:ln>
        </p:spPr>
      </p:sp>
      <p:sp>
        <p:nvSpPr>
          <p:cNvPr id="147460" name="Rectangle 3"/>
          <p:cNvSpPr>
            <a:spLocks noChangeArrowheads="1"/>
          </p:cNvSpPr>
          <p:nvPr>
            <p:ph type="body" idx="1"/>
          </p:nvPr>
        </p:nvSpPr>
        <p:spPr>
          <a:xfrm>
            <a:off x="911112" y="4331287"/>
            <a:ext cx="5008791" cy="4104067"/>
          </a:xfrm>
          <a:noFill/>
          <a:ln/>
        </p:spPr>
        <p:txBody>
          <a:bodyPr lIns="85741" tIns="42869" rIns="85741" bIns="42869"/>
          <a:lstStyle/>
          <a:p>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noChangeArrowheads="1"/>
          </p:cNvSpPr>
          <p:nvPr/>
        </p:nvSpPr>
        <p:spPr bwMode="auto">
          <a:xfrm>
            <a:off x="3870289" y="8661006"/>
            <a:ext cx="2960724" cy="456007"/>
          </a:xfrm>
          <a:prstGeom prst="rect">
            <a:avLst/>
          </a:prstGeom>
          <a:noFill/>
          <a:ln w="9525">
            <a:noFill/>
            <a:miter lim="800000"/>
            <a:headEnd/>
            <a:tailEnd/>
          </a:ln>
        </p:spPr>
        <p:txBody>
          <a:bodyPr lIns="91456" tIns="45729" rIns="91456" bIns="45729" anchor="b"/>
          <a:lstStyle/>
          <a:p>
            <a:pPr algn="r" defTabSz="914717"/>
            <a:fld id="{6897B2EF-16C2-4018-8798-376EE81AE574}" type="slidenum">
              <a:rPr lang="en-US" sz="1200">
                <a:latin typeface="Times New Roman" pitchFamily="18" charset="0"/>
              </a:rPr>
              <a:pPr algn="r" defTabSz="914717"/>
              <a:t>150</a:t>
            </a:fld>
            <a:endParaRPr lang="en-US" sz="1200" dirty="0">
              <a:latin typeface="Times New Roman" pitchFamily="18" charset="0"/>
            </a:endParaRPr>
          </a:p>
        </p:txBody>
      </p:sp>
      <p:sp>
        <p:nvSpPr>
          <p:cNvPr id="148483" name="Rectangle 2"/>
          <p:cNvSpPr>
            <a:spLocks noChangeArrowheads="1" noTextEdit="1"/>
          </p:cNvSpPr>
          <p:nvPr>
            <p:ph type="sldImg"/>
          </p:nvPr>
        </p:nvSpPr>
        <p:spPr>
          <a:ln/>
        </p:spPr>
      </p:sp>
      <p:sp>
        <p:nvSpPr>
          <p:cNvPr id="1484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4" name="Group 3"/>
            <p:cNvGrpSpPr/>
            <p:nvPr/>
          </p:nvGrpSpPr>
          <p:grpSpPr>
            <a:xfrm>
              <a:off x="185" y="1604"/>
              <a:ext cx="449" cy="299"/>
              <a:chOff x="720" y="336"/>
              <a:chExt cx="624" cy="432"/>
            </a:xfrm>
          </p:grpSpPr>
          <p:sp>
            <p:nvSpPr>
              <p:cNvPr id="2061" name="Rectangle 4"/>
              <p:cNvSpPr/>
              <p:nvPr/>
            </p:nvSpPr>
            <p:spPr>
              <a:xfrm>
                <a:off x="720" y="336"/>
                <a:ext cx="384" cy="432"/>
              </a:xfrm>
              <a:prstGeom prst="rect">
                <a:avLst/>
              </a:prstGeom>
              <a:solidFill>
                <a:schemeClr val="folHlink"/>
              </a:solidFill>
              <a:ln w="9525">
                <a:noFill/>
              </a:ln>
            </p:spPr>
            <p:txBody>
              <a:bodyPr wrap="none" anchor="ctr" anchorCtr="0"/>
              <a:lstStyle/>
              <a:p>
                <a:pPr lvl="0" eaLnBrk="1" hangingPunct="1">
                  <a:buNone/>
                </a:pPr>
                <a:endParaRPr dirty="0">
                  <a:latin typeface="Comic Sans MS" panose="030F0702030302020204" pitchFamily="66" charset="0"/>
                </a:endParaRPr>
              </a:p>
            </p:txBody>
          </p:sp>
          <p:sp>
            <p:nvSpPr>
              <p:cNvPr id="2062"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eaLnBrk="1" hangingPunct="1">
                  <a:buNone/>
                </a:pPr>
                <a:endParaRPr dirty="0">
                  <a:latin typeface="Comic Sans MS" panose="030F0702030302020204" pitchFamily="66" charset="0"/>
                </a:endParaRPr>
              </a:p>
            </p:txBody>
          </p:sp>
        </p:grpSp>
        <p:grpSp>
          <p:nvGrpSpPr>
            <p:cNvPr id="2055" name="Group 6"/>
            <p:cNvGrpSpPr/>
            <p:nvPr/>
          </p:nvGrpSpPr>
          <p:grpSpPr>
            <a:xfrm>
              <a:off x="263" y="1870"/>
              <a:ext cx="466" cy="299"/>
              <a:chOff x="912" y="2640"/>
              <a:chExt cx="672" cy="432"/>
            </a:xfrm>
          </p:grpSpPr>
          <p:sp>
            <p:nvSpPr>
              <p:cNvPr id="2059" name="Rectangle 7"/>
              <p:cNvSpPr/>
              <p:nvPr/>
            </p:nvSpPr>
            <p:spPr>
              <a:xfrm>
                <a:off x="912" y="2640"/>
                <a:ext cx="384" cy="432"/>
              </a:xfrm>
              <a:prstGeom prst="rect">
                <a:avLst/>
              </a:prstGeom>
              <a:solidFill>
                <a:schemeClr val="accent2"/>
              </a:solidFill>
              <a:ln w="9525">
                <a:noFill/>
              </a:ln>
            </p:spPr>
            <p:txBody>
              <a:bodyPr wrap="none" anchor="ctr" anchorCtr="0"/>
              <a:lstStyle/>
              <a:p>
                <a:pPr lvl="0" eaLnBrk="1" hangingPunct="1">
                  <a:buNone/>
                </a:pPr>
                <a:endParaRPr dirty="0">
                  <a:latin typeface="Comic Sans MS" panose="030F0702030302020204" pitchFamily="66" charset="0"/>
                </a:endParaRPr>
              </a:p>
            </p:txBody>
          </p:sp>
          <p:sp>
            <p:nvSpPr>
              <p:cNvPr id="2060"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lvl="0" eaLnBrk="1" hangingPunct="1">
                  <a:buNone/>
                </a:pPr>
                <a:endParaRPr dirty="0">
                  <a:latin typeface="Comic Sans MS" panose="030F0702030302020204" pitchFamily="66" charset="0"/>
                </a:endParaRPr>
              </a:p>
            </p:txBody>
          </p:sp>
        </p:grpSp>
        <p:sp>
          <p:nvSpPr>
            <p:cNvPr id="2056"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lvl="0" eaLnBrk="1" hangingPunct="1">
                <a:buNone/>
              </a:pPr>
              <a:endParaRPr dirty="0">
                <a:latin typeface="Comic Sans MS" panose="030F0702030302020204" pitchFamily="66" charset="0"/>
              </a:endParaRPr>
            </a:p>
          </p:txBody>
        </p:sp>
        <p:sp>
          <p:nvSpPr>
            <p:cNvPr id="2057" name="Rectangle 10"/>
            <p:cNvSpPr/>
            <p:nvPr/>
          </p:nvSpPr>
          <p:spPr>
            <a:xfrm>
              <a:off x="400" y="1536"/>
              <a:ext cx="20" cy="663"/>
            </a:xfrm>
            <a:prstGeom prst="rect">
              <a:avLst/>
            </a:prstGeom>
            <a:solidFill>
              <a:schemeClr val="bg2"/>
            </a:solidFill>
            <a:ln w="9525">
              <a:noFill/>
            </a:ln>
          </p:spPr>
          <p:txBody>
            <a:bodyPr wrap="none" anchor="ctr" anchorCtr="0"/>
            <a:lstStyle/>
            <a:p>
              <a:pPr lvl="0" eaLnBrk="1" hangingPunct="1">
                <a:buNone/>
              </a:pPr>
              <a:endParaRPr dirty="0">
                <a:latin typeface="Comic Sans MS" panose="030F0702030302020204" pitchFamily="66" charset="0"/>
              </a:endParaRPr>
            </a:p>
          </p:txBody>
        </p:sp>
        <p:sp>
          <p:nvSpPr>
            <p:cNvPr id="2058"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nchorCtr="0"/>
            <a:lstStyle/>
            <a:p>
              <a:pPr lvl="0" eaLnBrk="1" hangingPunct="1">
                <a:buNone/>
              </a:pPr>
              <a:endParaRPr dirty="0">
                <a:latin typeface="Comic Sans MS" panose="030F0702030302020204" pitchFamily="66" charset="0"/>
              </a:endParaRPr>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t>Click to edit Master subtitle style</a:t>
            </a:r>
          </a:p>
        </p:txBody>
      </p:sp>
      <p:sp>
        <p:nvSpPr>
          <p:cNvPr id="16" name="Rectangle 16"/>
          <p:cNvSpPr>
            <a:spLocks noGrp="1" noChangeArrowheads="1"/>
          </p:cNvSpPr>
          <p:nvPr>
            <p:ph type="sldNum" sz="quarter" idx="4"/>
          </p:nvPr>
        </p:nvSpPr>
        <p:spPr bwMode="auto">
          <a:xfrm>
            <a:off x="7239000" y="6400800"/>
            <a:ext cx="19050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F6DB03E-CD44-401A-B117-C176D642A17E}" type="slidenum">
              <a:rPr kumimoji="0" lang="en-US" sz="1400" b="0" i="0" u="none" strike="noStrike" kern="1200" cap="none" spc="0" normalizeH="0" baseline="0" noProof="0" smtClean="0">
                <a:ln>
                  <a:noFill/>
                </a:ln>
                <a:solidFill>
                  <a:schemeClr val="bg2"/>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400" b="0" i="0" u="none" strike="noStrike" kern="1200" cap="none" spc="0" normalizeH="0" baseline="0" noProof="0" smtClean="0">
              <a:ln>
                <a:noFill/>
              </a:ln>
              <a:solidFill>
                <a:schemeClr val="bg2"/>
              </a:solidFill>
              <a:effectLst/>
              <a:uLnTx/>
              <a:uFillTx/>
              <a:latin typeface="Tahoma" panose="020B060403050404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3"/>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E3CC6A5-4AF4-4D70-8F2D-C63FB1AE4247}"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6" name="Slide Number Placeholder 3"/>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122D503-DE2C-49BC-9B3A-2CA5245D1078}"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066800"/>
            <a:ext cx="41529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066800"/>
            <a:ext cx="41529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4"/>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489433E-BC7B-469A-B3DA-18F71E0680F3}"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AFE69C1-AE56-4278-B37A-72429B748751}"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Slide Number Placeholder 2"/>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DE50EE4-76C3-4079-8C15-08EF6ABA68DB}"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1"/>
        </a:solidFill>
        <a:effectLst/>
      </p:bgPr>
    </p:bg>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FABA189-8A7D-4BCD-966D-BB1F0DD7F649}"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Slide Number Placeholder 4"/>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1477621-BFBB-4E44-ABA5-11A66CC7ADE5}"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Slide Number Placeholder 4"/>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7C5F9BB-2A07-43D6-A5CD-7DCE8EC412BA}"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3"/>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B2F57BE-1286-4D20-8674-5CA41DBE975D}"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solidFill>
          <a:schemeClr val="bg1"/>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705600"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3"/>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0CAEB2F-EFC9-4D98-AEAF-98E1A853E11B}"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066800"/>
            <a:ext cx="4152900" cy="5410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066800"/>
            <a:ext cx="4152900" cy="5410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4"/>
          <p:cNvSpPr>
            <a:spLocks noGrp="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9658453-4362-4379-9841-FA33BC09F9CC}"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14400" y="1600201"/>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76800" y="1600201"/>
            <a:ext cx="38100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76800" y="3941763"/>
            <a:ext cx="38100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9"/>
          <p:cNvSpPr>
            <a:spLocks noGrp="1" noChangeArrowheads="1"/>
          </p:cNvSpPr>
          <p:nvPr>
            <p:ph type="dt" sz="half" idx="10"/>
          </p:nvPr>
        </p:nvSpPr>
        <p:spPr>
          <a:xfrm>
            <a:off x="628650" y="6356350"/>
            <a:ext cx="2057400" cy="365125"/>
          </a:xfrm>
        </p:spPr>
        <p:txBody>
          <a:bodyPr/>
          <a:lstStyle>
            <a:lvl1pPr>
              <a:defRPr/>
            </a:lvl1pPr>
          </a:lstStyle>
          <a:p>
            <a:pPr>
              <a:defRPr/>
            </a:pPr>
            <a:endParaRPr lang="en-US"/>
          </a:p>
        </p:txBody>
      </p:sp>
      <p:sp>
        <p:nvSpPr>
          <p:cNvPr id="7" name="Rectangle 10"/>
          <p:cNvSpPr>
            <a:spLocks noGrp="1" noChangeArrowheads="1"/>
          </p:cNvSpPr>
          <p:nvPr>
            <p:ph type="ftr" sz="quarter" idx="11"/>
          </p:nvPr>
        </p:nvSpPr>
        <p:spPr>
          <a:xfrm>
            <a:off x="3028950" y="6356350"/>
            <a:ext cx="3086100" cy="365125"/>
          </a:xfrm>
        </p:spPr>
        <p:txBody>
          <a:bodyPr/>
          <a:lstStyle>
            <a:lvl1pPr>
              <a:defRPr/>
            </a:lvl1pPr>
          </a:lstStyle>
          <a:p>
            <a:pPr>
              <a:defRPr/>
            </a:pPr>
            <a:endParaRPr lang="en-US"/>
          </a:p>
        </p:txBody>
      </p:sp>
      <p:sp>
        <p:nvSpPr>
          <p:cNvPr id="8" name="Rectangle 11"/>
          <p:cNvSpPr>
            <a:spLocks noGrp="1" noChangeArrowheads="1"/>
          </p:cNvSpPr>
          <p:nvPr>
            <p:ph type="sldNum" sz="quarter" idx="12"/>
          </p:nvPr>
        </p:nvSpPr>
        <p:spPr/>
        <p:txBody>
          <a:bodyPr/>
          <a:lstStyle>
            <a:lvl1pPr>
              <a:defRPr/>
            </a:lvl1pPr>
          </a:lstStyle>
          <a:p>
            <a:fld id="{8E64FE0D-71AF-4F6B-855F-BF6BDD22AA6E}" type="slidenum">
              <a:rPr lang="en-US" altLang="en-US"/>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84582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04800" y="4000500"/>
            <a:ext cx="84582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pPr>
              <a:defRPr/>
            </a:pPr>
            <a:fld id="{C358E3FA-5C05-4FFF-9AE0-5B4869124F6F}"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56"/>
          <p:cNvSpPr/>
          <p:nvPr/>
        </p:nvSpPr>
        <p:spPr>
          <a:xfrm>
            <a:off x="228600" y="914400"/>
            <a:ext cx="8410575" cy="46038"/>
          </a:xfrm>
          <a:prstGeom prst="rect">
            <a:avLst/>
          </a:prstGeom>
          <a:solidFill>
            <a:srgbClr val="008080">
              <a:alpha val="50195"/>
            </a:srgbClr>
          </a:solidFill>
          <a:ln w="9525">
            <a:noFill/>
          </a:ln>
        </p:spPr>
        <p:txBody>
          <a:bodyPr wrap="none" anchor="ctr" anchorCtr="0"/>
          <a:lstStyle/>
          <a:p>
            <a:pPr lvl="0" algn="ctr" eaLnBrk="1" hangingPunct="1">
              <a:buNone/>
            </a:pPr>
            <a:endParaRPr dirty="0">
              <a:latin typeface="Tahoma" panose="020B0604030504040204" pitchFamily="34" charset="0"/>
            </a:endParaRPr>
          </a:p>
        </p:txBody>
      </p:sp>
      <p:sp>
        <p:nvSpPr>
          <p:cNvPr id="1027" name="Rectangle 2057"/>
          <p:cNvSpPr>
            <a:spLocks noGrp="1"/>
          </p:cNvSpPr>
          <p:nvPr>
            <p:ph type="title"/>
          </p:nvPr>
        </p:nvSpPr>
        <p:spPr>
          <a:xfrm>
            <a:off x="0" y="0"/>
            <a:ext cx="9144000" cy="838200"/>
          </a:xfrm>
          <a:prstGeom prst="rect">
            <a:avLst/>
          </a:prstGeom>
          <a:noFill/>
          <a:ln w="9525">
            <a:noFill/>
          </a:ln>
        </p:spPr>
        <p:txBody>
          <a:bodyPr anchor="b" anchorCtr="0"/>
          <a:lstStyle/>
          <a:p>
            <a:pPr lvl="0"/>
            <a:r>
              <a:rPr dirty="0"/>
              <a:t>Click to edit Master title style</a:t>
            </a:r>
          </a:p>
        </p:txBody>
      </p:sp>
      <p:sp>
        <p:nvSpPr>
          <p:cNvPr id="1028" name="Rectangle 2058"/>
          <p:cNvSpPr>
            <a:spLocks noGrp="1"/>
          </p:cNvSpPr>
          <p:nvPr>
            <p:ph type="body" idx="1"/>
          </p:nvPr>
        </p:nvSpPr>
        <p:spPr>
          <a:xfrm>
            <a:off x="304800" y="1066800"/>
            <a:ext cx="8458200" cy="5410200"/>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B64B661-8273-475D-AB82-139A4ECF12E1}" type="slidenum">
              <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smtClean="0">
              <a:ln>
                <a:noFill/>
              </a:ln>
              <a:solidFill>
                <a:schemeClr val="tx1"/>
              </a:solidFill>
              <a:effectLst/>
              <a:uLnTx/>
              <a:uFillTx/>
              <a:latin typeface="Tahoma" panose="020B060403050404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ahoma" panose="020B0604030504040204" pitchFamily="34" charset="0"/>
        </a:defRPr>
      </a:lvl2pPr>
      <a:lvl3pPr algn="l" rtl="0" eaLnBrk="0" fontAlgn="base" hangingPunct="0">
        <a:spcBef>
          <a:spcPct val="0"/>
        </a:spcBef>
        <a:spcAft>
          <a:spcPct val="0"/>
        </a:spcAft>
        <a:defRPr sz="3600">
          <a:solidFill>
            <a:schemeClr val="tx2"/>
          </a:solidFill>
          <a:latin typeface="Tahoma" panose="020B0604030504040204" pitchFamily="34" charset="0"/>
        </a:defRPr>
      </a:lvl3pPr>
      <a:lvl4pPr algn="l" rtl="0" eaLnBrk="0" fontAlgn="base" hangingPunct="0">
        <a:spcBef>
          <a:spcPct val="0"/>
        </a:spcBef>
        <a:spcAft>
          <a:spcPct val="0"/>
        </a:spcAft>
        <a:defRPr sz="3600">
          <a:solidFill>
            <a:schemeClr val="tx2"/>
          </a:solidFill>
          <a:latin typeface="Tahoma" panose="020B0604030504040204" pitchFamily="34" charset="0"/>
        </a:defRPr>
      </a:lvl4pPr>
      <a:lvl5pPr algn="l" rtl="0" eaLnBrk="0" fontAlgn="base" hangingPunct="0">
        <a:spcBef>
          <a:spcPct val="0"/>
        </a:spcBef>
        <a:spcAft>
          <a:spcPct val="0"/>
        </a:spcAft>
        <a:defRPr sz="3600">
          <a:solidFill>
            <a:schemeClr val="tx2"/>
          </a:solidFill>
          <a:latin typeface="Tahoma" panose="020B0604030504040204" pitchFamily="34" charset="0"/>
        </a:defRPr>
      </a:lvl5pPr>
      <a:lvl6pPr marL="457200" algn="l" rtl="0" fontAlgn="base">
        <a:spcBef>
          <a:spcPct val="0"/>
        </a:spcBef>
        <a:spcAft>
          <a:spcPct val="0"/>
        </a:spcAft>
        <a:defRPr sz="3600">
          <a:solidFill>
            <a:schemeClr val="tx2"/>
          </a:solidFill>
          <a:latin typeface="Tahoma" panose="020B0604030504040204" pitchFamily="34" charset="0"/>
        </a:defRPr>
      </a:lvl6pPr>
      <a:lvl7pPr marL="914400" algn="l" rtl="0" fontAlgn="base">
        <a:spcBef>
          <a:spcPct val="0"/>
        </a:spcBef>
        <a:spcAft>
          <a:spcPct val="0"/>
        </a:spcAft>
        <a:defRPr sz="3600">
          <a:solidFill>
            <a:schemeClr val="tx2"/>
          </a:solidFill>
          <a:latin typeface="Tahoma" panose="020B0604030504040204" pitchFamily="34" charset="0"/>
        </a:defRPr>
      </a:lvl7pPr>
      <a:lvl8pPr marL="1371600" algn="l" rtl="0" fontAlgn="base">
        <a:spcBef>
          <a:spcPct val="0"/>
        </a:spcBef>
        <a:spcAft>
          <a:spcPct val="0"/>
        </a:spcAft>
        <a:defRPr sz="3600">
          <a:solidFill>
            <a:schemeClr val="tx2"/>
          </a:solidFill>
          <a:latin typeface="Tahoma" panose="020B0604030504040204" pitchFamily="34" charset="0"/>
        </a:defRPr>
      </a:lvl8pPr>
      <a:lvl9pPr marL="1828800" algn="l" rtl="0" fontAlgn="base">
        <a:spcBef>
          <a:spcPct val="0"/>
        </a:spcBef>
        <a:spcAft>
          <a:spcPct val="0"/>
        </a:spcAft>
        <a:defRPr sz="36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Microsoft_Office_Excel_97-2003_Worksheet1.xls"/></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Microsoft_Office_Excel_97-2003_Worksheet2.xls"/><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Microsoft_Office_Excel_97-2003_Worksheet3.xls"/><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Microsoft_Office_Excel_97-2003_Worksheet4.xls"/><Relationship Id="rId7" Type="http://schemas.openxmlformats.org/officeDocument/2006/relationships/oleObject" Target="../embeddings/Microsoft_Office_Excel_97-2003_Worksheet5.xls"/><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oleObject" Target="../embeddings/oleObject4.bin"/><Relationship Id="rId9"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Microsoft_Office_Excel_97-2003_Worksheet6.xls"/><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Microsoft_Office_Word_97_-_2003_Document7.doc"/><Relationship Id="rId2" Type="http://schemas.openxmlformats.org/officeDocument/2006/relationships/slideLayout" Target="../slideLayouts/slideLayout7.xml"/><Relationship Id="rId1" Type="http://schemas.openxmlformats.org/officeDocument/2006/relationships/vmlDrawing" Target="../drawings/vmlDrawing9.vml"/></Relationships>
</file>

<file path=ppt/slides/_rels/slide64.xml.rels><?xml version="1.0" encoding="UTF-8" standalone="yes"?>
<Relationships xmlns="http://schemas.openxmlformats.org/package/2006/relationships"><Relationship Id="rId3" Type="http://schemas.openxmlformats.org/officeDocument/2006/relationships/oleObject" Target="../embeddings/Microsoft_Office_Word_97_-_2003_Document8.doc"/><Relationship Id="rId2" Type="http://schemas.openxmlformats.org/officeDocument/2006/relationships/slideLayout" Target="../slideLayouts/slideLayout7.xml"/><Relationship Id="rId1" Type="http://schemas.openxmlformats.org/officeDocument/2006/relationships/vmlDrawing" Target="../drawings/vmlDrawing10.v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1.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oleObject" Target="../embeddings/oleObject20.bin"/><Relationship Id="rId5" Type="http://schemas.openxmlformats.org/officeDocument/2006/relationships/oleObject" Target="../embeddings/oleObject19.bin"/><Relationship Id="rId4" Type="http://schemas.openxmlformats.org/officeDocument/2006/relationships/oleObject" Target="../embeddings/oleObject18.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8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4.png"/></Relationships>
</file>

<file path=ppt/slides/_rels/slide8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oleObject" Target="../embeddings/oleObject22.bin"/><Relationship Id="rId4" Type="http://schemas.openxmlformats.org/officeDocument/2006/relationships/image" Target="../media/image96.png"/></Relationships>
</file>

<file path=ppt/slides/_rels/slide11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2.xml"/><Relationship Id="rId1" Type="http://schemas.openxmlformats.org/officeDocument/2006/relationships/vmlDrawing" Target="../drawings/vmlDrawing14.v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09.jpeg"/><Relationship Id="rId5" Type="http://schemas.openxmlformats.org/officeDocument/2006/relationships/image" Target="../media/image108.jpeg"/><Relationship Id="rId4" Type="http://schemas.openxmlformats.org/officeDocument/2006/relationships/image" Target="../media/image107.jpe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12.jpe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13.jpeg"/><Relationship Id="rId7" Type="http://schemas.openxmlformats.org/officeDocument/2006/relationships/image" Target="../media/image115.wmf"/><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1.jpeg"/><Relationship Id="rId4" Type="http://schemas.openxmlformats.org/officeDocument/2006/relationships/image" Target="../media/image112.jpeg"/></Relationships>
</file>

<file path=ppt/slides/_rels/slide14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17.jpeg"/></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16"/>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dirty="0">
                <a:latin typeface="Tahoma" panose="020B0604030504040204" pitchFamily="34" charset="0"/>
                <a:ea typeface="+mn-ea"/>
                <a:cs typeface="+mn-cs"/>
              </a:rPr>
              <a:pPr marL="0" indent="0" algn="r" eaLnBrk="1" hangingPunct="1">
                <a:spcBef>
                  <a:spcPct val="0"/>
                </a:spcBef>
                <a:buClrTx/>
                <a:buSzTx/>
                <a:buFontTx/>
                <a:buNone/>
              </a:pPr>
              <a:t>1</a:t>
            </a:fld>
            <a:endParaRPr lang="en-US" dirty="0">
              <a:latin typeface="Tahoma" panose="020B0604030504040204" pitchFamily="34" charset="0"/>
              <a:ea typeface="+mn-ea"/>
              <a:cs typeface="+mn-cs"/>
            </a:endParaRPr>
          </a:p>
        </p:txBody>
      </p:sp>
      <p:sp>
        <p:nvSpPr>
          <p:cNvPr id="16387" name="Rectangle 2"/>
          <p:cNvSpPr>
            <a:spLocks noGrp="1"/>
          </p:cNvSpPr>
          <p:nvPr>
            <p:ph type="ctrTitle"/>
          </p:nvPr>
        </p:nvSpPr>
        <p:spPr/>
        <p:txBody>
          <a:bodyPr vert="horz" wrap="square" lIns="91440" tIns="45720" rIns="91440" bIns="45720" anchor="b" anchorCtr="0"/>
          <a:lstStyle/>
          <a:p>
            <a:pPr eaLnBrk="1" hangingPunct="1">
              <a:buClrTx/>
              <a:buSzTx/>
              <a:buFontTx/>
            </a:pPr>
            <a:r>
              <a:rPr dirty="0">
                <a:latin typeface="+mj-lt"/>
                <a:ea typeface="+mj-ea"/>
                <a:cs typeface="+mj-cs"/>
              </a:rPr>
              <a:t>Unit V</a:t>
            </a:r>
          </a:p>
        </p:txBody>
      </p:sp>
      <p:sp>
        <p:nvSpPr>
          <p:cNvPr id="16388" name="Rectangle 3"/>
          <p:cNvSpPr>
            <a:spLocks noGrp="1"/>
          </p:cNvSpPr>
          <p:nvPr>
            <p:ph type="subTitle" idx="1"/>
          </p:nvPr>
        </p:nvSpPr>
        <p:spPr>
          <a:xfrm>
            <a:off x="1295400" y="3124200"/>
            <a:ext cx="6400800" cy="1752600"/>
          </a:xfrm>
        </p:spPr>
        <p:txBody>
          <a:bodyPr vert="horz" wrap="square" lIns="91440" tIns="45720" rIns="91440" bIns="45720" anchor="t" anchorCtr="0"/>
          <a:lstStyle/>
          <a:p>
            <a:pPr eaLnBrk="1" hangingPunct="1">
              <a:buSzPct val="60000"/>
            </a:pPr>
            <a:r>
              <a:rPr sz="4000" dirty="0">
                <a:solidFill>
                  <a:srgbClr val="170981"/>
                </a:solidFill>
                <a:latin typeface="+mn-lt"/>
                <a:ea typeface="+mn-ea"/>
                <a:cs typeface="+mn-cs"/>
              </a:rPr>
              <a:t>Classification and Prediction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2</a:t>
            </a:fld>
            <a:endParaRPr lang="en-US" sz="1200" dirty="0">
              <a:latin typeface="Tahoma" panose="020B0604030504040204" pitchFamily="34" charset="0"/>
              <a:ea typeface="+mn-ea"/>
              <a:cs typeface="+mn-cs"/>
            </a:endParaRPr>
          </a:p>
        </p:txBody>
      </p:sp>
      <p:sp>
        <p:nvSpPr>
          <p:cNvPr id="17411"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dirty="0"/>
              <a:t>Classification and Prediction</a:t>
            </a:r>
          </a:p>
        </p:txBody>
      </p:sp>
      <p:sp>
        <p:nvSpPr>
          <p:cNvPr id="17412" name="Rectangle 3"/>
          <p:cNvSpPr>
            <a:spLocks noGrp="1"/>
          </p:cNvSpPr>
          <p:nvPr>
            <p:ph idx="1"/>
          </p:nvPr>
        </p:nvSpPr>
        <p:spPr>
          <a:xfrm>
            <a:off x="457200" y="1143000"/>
            <a:ext cx="8221663" cy="5029200"/>
          </a:xfrm>
        </p:spPr>
        <p:txBody>
          <a:bodyPr vert="horz" wrap="square" lIns="92075" tIns="46038" rIns="92075" bIns="46038" anchor="t" anchorCtr="0"/>
          <a:lstStyle/>
          <a:p>
            <a:pPr eaLnBrk="1" hangingPunct="1">
              <a:lnSpc>
                <a:spcPct val="90000"/>
              </a:lnSpc>
            </a:pPr>
            <a:r>
              <a:rPr sz="2400" dirty="0">
                <a:solidFill>
                  <a:srgbClr val="F01020"/>
                </a:solidFill>
              </a:rPr>
              <a:t>What is classification? What is prediction?</a:t>
            </a:r>
          </a:p>
          <a:p>
            <a:pPr eaLnBrk="1" hangingPunct="1">
              <a:lnSpc>
                <a:spcPct val="90000"/>
              </a:lnSpc>
            </a:pPr>
            <a:r>
              <a:rPr sz="2400" dirty="0"/>
              <a:t>Issues regarding classification and prediction</a:t>
            </a:r>
          </a:p>
          <a:p>
            <a:pPr eaLnBrk="1" hangingPunct="1">
              <a:lnSpc>
                <a:spcPct val="90000"/>
              </a:lnSpc>
            </a:pPr>
            <a:r>
              <a:rPr sz="2400" dirty="0"/>
              <a:t>Classification by decision tree induction</a:t>
            </a:r>
          </a:p>
          <a:p>
            <a:pPr eaLnBrk="1" hangingPunct="1">
              <a:lnSpc>
                <a:spcPct val="90000"/>
              </a:lnSpc>
            </a:pPr>
            <a:r>
              <a:rPr sz="2400" dirty="0"/>
              <a:t>Bayesian Classification</a:t>
            </a:r>
          </a:p>
          <a:p>
            <a:pPr eaLnBrk="1" hangingPunct="1">
              <a:lnSpc>
                <a:spcPct val="90000"/>
              </a:lnSpc>
            </a:pPr>
            <a:r>
              <a:rPr sz="2400" dirty="0"/>
              <a:t>Classification by Neural Networks</a:t>
            </a:r>
            <a:r>
              <a:rPr lang="en-US" sz="2400" dirty="0"/>
              <a:t>,</a:t>
            </a:r>
            <a:r>
              <a:rPr lang="en-US" altLang="en-US" sz="2400" dirty="0">
                <a:sym typeface="+mn-ea"/>
              </a:rPr>
              <a:t>Back propagation</a:t>
            </a:r>
            <a:endParaRPr sz="2400" dirty="0"/>
          </a:p>
          <a:p>
            <a:pPr eaLnBrk="1" hangingPunct="1">
              <a:lnSpc>
                <a:spcPct val="90000"/>
              </a:lnSpc>
            </a:pPr>
            <a:r>
              <a:rPr lang="en-US" altLang="en-US" sz="2400" dirty="0"/>
              <a:t>Support Vector Machines (SVMs)</a:t>
            </a:r>
          </a:p>
          <a:p>
            <a:pPr eaLnBrk="1" hangingPunct="1">
              <a:lnSpc>
                <a:spcPct val="90000"/>
              </a:lnSpc>
            </a:pPr>
            <a:r>
              <a:rPr lang="en-US" altLang="en-US" sz="2400" dirty="0"/>
              <a:t>k-nearest neighbour classifier</a:t>
            </a:r>
          </a:p>
          <a:p>
            <a:pPr eaLnBrk="1" hangingPunct="1">
              <a:lnSpc>
                <a:spcPct val="90000"/>
              </a:lnSpc>
            </a:pPr>
            <a:r>
              <a:rPr sz="2400" dirty="0"/>
              <a:t>Other Classification Methods</a:t>
            </a:r>
          </a:p>
          <a:p>
            <a:pPr eaLnBrk="1" hangingPunct="1">
              <a:lnSpc>
                <a:spcPct val="90000"/>
              </a:lnSpc>
            </a:pPr>
            <a:r>
              <a:rPr sz="2400" dirty="0"/>
              <a:t>Prediction</a:t>
            </a:r>
          </a:p>
          <a:p>
            <a:pPr eaLnBrk="1" hangingPunct="1">
              <a:lnSpc>
                <a:spcPct val="90000"/>
              </a:lnSpc>
            </a:pPr>
            <a:r>
              <a:rPr sz="2400" dirty="0"/>
              <a:t>Classification accuracy</a:t>
            </a:r>
          </a:p>
          <a:p>
            <a:pPr eaLnBrk="1" hangingPunct="1">
              <a:lnSpc>
                <a:spcPct val="90000"/>
              </a:lnSpc>
            </a:pPr>
            <a:r>
              <a:rPr sz="2400" dirty="0"/>
              <a:t>Summary</a:t>
            </a: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a:t>
            </a:fld>
            <a:endParaRPr lang="en-US" sz="1200" dirty="0">
              <a:latin typeface="Tahoma" panose="020B0604030504040204" pitchFamily="34" charset="0"/>
              <a:ea typeface="+mn-ea"/>
              <a:cs typeface="+mn-cs"/>
            </a:endParaRPr>
          </a:p>
        </p:txBody>
      </p:sp>
      <p:sp>
        <p:nvSpPr>
          <p:cNvPr id="18435" name="Rectangle 2"/>
          <p:cNvSpPr>
            <a:spLocks noGrp="1"/>
          </p:cNvSpPr>
          <p:nvPr>
            <p:ph idx="1"/>
          </p:nvPr>
        </p:nvSpPr>
        <p:spPr>
          <a:xfrm>
            <a:off x="228600" y="990600"/>
            <a:ext cx="8763000" cy="5438775"/>
          </a:xfrm>
        </p:spPr>
        <p:txBody>
          <a:bodyPr vert="horz" wrap="square" lIns="92075" tIns="46038" rIns="92075" bIns="46038" anchor="t" anchorCtr="0"/>
          <a:lstStyle/>
          <a:p>
            <a:pPr eaLnBrk="1" hangingPunct="1">
              <a:lnSpc>
                <a:spcPct val="80000"/>
              </a:lnSpc>
            </a:pPr>
            <a:r>
              <a:rPr sz="2400" dirty="0">
                <a:solidFill>
                  <a:srgbClr val="170981"/>
                </a:solidFill>
              </a:rPr>
              <a:t>Classification:</a:t>
            </a:r>
            <a:r>
              <a:rPr sz="2000" dirty="0">
                <a:solidFill>
                  <a:srgbClr val="170981"/>
                </a:solidFill>
              </a:rPr>
              <a:t>  </a:t>
            </a:r>
          </a:p>
          <a:p>
            <a:pPr lvl="1" eaLnBrk="1" hangingPunct="1">
              <a:lnSpc>
                <a:spcPct val="80000"/>
              </a:lnSpc>
            </a:pPr>
            <a:r>
              <a:rPr sz="2400" dirty="0"/>
              <a:t>predicts categorical class labels (discrete or nominal)</a:t>
            </a:r>
          </a:p>
          <a:p>
            <a:pPr lvl="1" eaLnBrk="1" hangingPunct="1">
              <a:lnSpc>
                <a:spcPct val="80000"/>
              </a:lnSpc>
            </a:pPr>
            <a:r>
              <a:rPr sz="2400" dirty="0"/>
              <a:t>classifies data (constructs a model) based on the training set and the values </a:t>
            </a:r>
            <a:r>
              <a:rPr sz="2400" dirty="0">
                <a:solidFill>
                  <a:srgbClr val="170981"/>
                </a:solidFill>
              </a:rPr>
              <a:t>(class labels)</a:t>
            </a:r>
            <a:r>
              <a:rPr sz="2400" dirty="0"/>
              <a:t> in a classifying attribute and uses it in classifying new data.</a:t>
            </a:r>
          </a:p>
          <a:p>
            <a:pPr lvl="1" eaLnBrk="1" hangingPunct="1">
              <a:lnSpc>
                <a:spcPct val="80000"/>
              </a:lnSpc>
            </a:pPr>
            <a:endParaRPr sz="2400" dirty="0"/>
          </a:p>
          <a:p>
            <a:pPr eaLnBrk="1" hangingPunct="1">
              <a:lnSpc>
                <a:spcPct val="80000"/>
              </a:lnSpc>
            </a:pPr>
            <a:r>
              <a:rPr sz="2400" dirty="0">
                <a:solidFill>
                  <a:srgbClr val="170981"/>
                </a:solidFill>
              </a:rPr>
              <a:t>Prediction:</a:t>
            </a:r>
            <a:r>
              <a:rPr sz="2400" dirty="0">
                <a:solidFill>
                  <a:schemeClr val="hlink"/>
                </a:solidFill>
              </a:rPr>
              <a:t>  </a:t>
            </a:r>
          </a:p>
          <a:p>
            <a:pPr lvl="1" eaLnBrk="1" hangingPunct="1">
              <a:lnSpc>
                <a:spcPct val="80000"/>
              </a:lnSpc>
            </a:pPr>
            <a:r>
              <a:rPr sz="2400" dirty="0"/>
              <a:t>models continuous-valued functions, i.e., predicts unknown or missing values </a:t>
            </a:r>
          </a:p>
          <a:p>
            <a:pPr eaLnBrk="1" hangingPunct="1">
              <a:lnSpc>
                <a:spcPct val="80000"/>
              </a:lnSpc>
            </a:pPr>
            <a:r>
              <a:rPr sz="2400" dirty="0"/>
              <a:t>Typical Applications</a:t>
            </a:r>
          </a:p>
          <a:p>
            <a:pPr lvl="1" eaLnBrk="1" hangingPunct="1">
              <a:lnSpc>
                <a:spcPct val="80000"/>
              </a:lnSpc>
              <a:buClr>
                <a:srgbClr val="0000CC"/>
              </a:buClr>
            </a:pPr>
            <a:r>
              <a:rPr sz="2400" dirty="0"/>
              <a:t>credit approval</a:t>
            </a:r>
          </a:p>
          <a:p>
            <a:pPr lvl="1" eaLnBrk="1" hangingPunct="1">
              <a:lnSpc>
                <a:spcPct val="80000"/>
              </a:lnSpc>
              <a:buClr>
                <a:srgbClr val="0000CC"/>
              </a:buClr>
            </a:pPr>
            <a:r>
              <a:rPr sz="2400" dirty="0"/>
              <a:t>target marketing</a:t>
            </a:r>
          </a:p>
          <a:p>
            <a:pPr lvl="1" eaLnBrk="1" hangingPunct="1">
              <a:lnSpc>
                <a:spcPct val="80000"/>
              </a:lnSpc>
              <a:buClr>
                <a:srgbClr val="0000CC"/>
              </a:buClr>
            </a:pPr>
            <a:r>
              <a:rPr sz="2400" dirty="0"/>
              <a:t>medical diagnosis</a:t>
            </a:r>
          </a:p>
          <a:p>
            <a:pPr lvl="1" eaLnBrk="1" hangingPunct="1">
              <a:lnSpc>
                <a:spcPct val="80000"/>
              </a:lnSpc>
              <a:buClr>
                <a:srgbClr val="0000CC"/>
              </a:buClr>
            </a:pPr>
            <a:r>
              <a:rPr sz="2400" dirty="0"/>
              <a:t>treatment effectiveness analysis</a:t>
            </a:r>
          </a:p>
        </p:txBody>
      </p:sp>
      <p:sp>
        <p:nvSpPr>
          <p:cNvPr id="18436" name="Rectangle 3"/>
          <p:cNvSpPr>
            <a:spLocks noGrp="1"/>
          </p:cNvSpPr>
          <p:nvPr>
            <p:ph type="title"/>
          </p:nvPr>
        </p:nvSpPr>
        <p:spPr>
          <a:xfrm>
            <a:off x="1524000" y="0"/>
            <a:ext cx="7162800" cy="819150"/>
          </a:xfrm>
        </p:spPr>
        <p:txBody>
          <a:bodyPr vert="horz" wrap="square" lIns="92075" tIns="46038" rIns="92075" bIns="46038" anchor="ctr" anchorCtr="0"/>
          <a:lstStyle/>
          <a:p>
            <a:pPr eaLnBrk="1" hangingPunct="1"/>
            <a:r>
              <a:rPr dirty="0"/>
              <a:t>Classification vs. Prediction</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a:t>
            </a:fld>
            <a:endParaRPr lang="en-US" sz="1200" dirty="0">
              <a:latin typeface="Tahoma" panose="020B0604030504040204" pitchFamily="34" charset="0"/>
              <a:ea typeface="+mn-ea"/>
              <a:cs typeface="+mn-cs"/>
            </a:endParaRPr>
          </a:p>
        </p:txBody>
      </p:sp>
      <p:sp>
        <p:nvSpPr>
          <p:cNvPr id="20483" name="Rectangle 2"/>
          <p:cNvSpPr>
            <a:spLocks noGrp="1"/>
          </p:cNvSpPr>
          <p:nvPr>
            <p:ph type="title"/>
          </p:nvPr>
        </p:nvSpPr>
        <p:spPr>
          <a:xfrm>
            <a:off x="1447800" y="0"/>
            <a:ext cx="7086600" cy="762000"/>
          </a:xfrm>
        </p:spPr>
        <p:txBody>
          <a:bodyPr vert="horz" wrap="square" lIns="91440" tIns="45720" rIns="91440" bIns="45720" anchor="b" anchorCtr="0"/>
          <a:lstStyle/>
          <a:p>
            <a:pPr eaLnBrk="1" hangingPunct="1"/>
            <a:r>
              <a:rPr sz="3200" dirty="0"/>
              <a:t>Classification—A Two-Step Process</a:t>
            </a:r>
            <a:r>
              <a:rPr sz="2800" dirty="0"/>
              <a:t> </a:t>
            </a:r>
            <a:endParaRPr sz="3200" dirty="0"/>
          </a:p>
        </p:txBody>
      </p:sp>
      <p:sp>
        <p:nvSpPr>
          <p:cNvPr id="20484" name="Rectangle 3"/>
          <p:cNvSpPr>
            <a:spLocks noGrp="1"/>
          </p:cNvSpPr>
          <p:nvPr>
            <p:ph idx="1"/>
          </p:nvPr>
        </p:nvSpPr>
        <p:spPr>
          <a:xfrm>
            <a:off x="457200" y="1143000"/>
            <a:ext cx="8153400" cy="5486400"/>
          </a:xfrm>
        </p:spPr>
        <p:txBody>
          <a:bodyPr vert="horz" wrap="square" lIns="91440" tIns="45720" rIns="91440" bIns="45720" anchor="t" anchorCtr="0"/>
          <a:lstStyle/>
          <a:p>
            <a:pPr marL="533400" indent="-533400" eaLnBrk="1" hangingPunct="1">
              <a:lnSpc>
                <a:spcPct val="80000"/>
              </a:lnSpc>
              <a:buClr>
                <a:schemeClr val="tx2"/>
              </a:buClr>
              <a:buSzTx/>
              <a:buFont typeface="Wingdings" panose="05000000000000000000" pitchFamily="2" charset="2"/>
              <a:buAutoNum type="arabicPeriod"/>
            </a:pPr>
            <a:r>
              <a:rPr sz="2000" dirty="0">
                <a:solidFill>
                  <a:srgbClr val="170981"/>
                </a:solidFill>
              </a:rPr>
              <a:t>Model construction: describing a set of predetermined classes</a:t>
            </a:r>
          </a:p>
          <a:p>
            <a:pPr marL="990600" lvl="1" indent="-533400" eaLnBrk="1" hangingPunct="1">
              <a:lnSpc>
                <a:spcPct val="80000"/>
              </a:lnSpc>
              <a:buClr>
                <a:schemeClr val="tx2"/>
              </a:buClr>
              <a:buSzTx/>
              <a:buFont typeface="Wingdings" panose="05000000000000000000" pitchFamily="2" charset="2"/>
              <a:buAutoNum type="arabicPeriod"/>
            </a:pPr>
            <a:endParaRPr sz="2000" dirty="0"/>
          </a:p>
          <a:p>
            <a:pPr marL="533400" indent="-533400" eaLnBrk="1" hangingPunct="1">
              <a:lnSpc>
                <a:spcPct val="80000"/>
              </a:lnSpc>
              <a:buClr>
                <a:schemeClr val="tx2"/>
              </a:buClr>
              <a:buSzTx/>
              <a:buFont typeface="Wingdings" panose="05000000000000000000" pitchFamily="2" charset="2"/>
              <a:buAutoNum type="arabicPeriod"/>
            </a:pPr>
            <a:r>
              <a:rPr sz="2000" dirty="0">
                <a:solidFill>
                  <a:srgbClr val="170981"/>
                </a:solidFill>
              </a:rPr>
              <a:t>Model usage: for classifying future or unknown objects</a:t>
            </a: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5</a:t>
            </a:fld>
            <a:endParaRPr lang="en-US" sz="1200" dirty="0">
              <a:latin typeface="Tahoma" panose="020B0604030504040204" pitchFamily="34" charset="0"/>
              <a:ea typeface="+mn-ea"/>
              <a:cs typeface="+mn-cs"/>
            </a:endParaRPr>
          </a:p>
        </p:txBody>
      </p:sp>
      <p:sp>
        <p:nvSpPr>
          <p:cNvPr id="21507" name="Rectangle 2"/>
          <p:cNvSpPr>
            <a:spLocks noGrp="1"/>
          </p:cNvSpPr>
          <p:nvPr>
            <p:ph type="title"/>
          </p:nvPr>
        </p:nvSpPr>
        <p:spPr>
          <a:xfrm>
            <a:off x="1447800" y="0"/>
            <a:ext cx="7086600" cy="762000"/>
          </a:xfrm>
        </p:spPr>
        <p:txBody>
          <a:bodyPr vert="horz" wrap="square" lIns="91440" tIns="45720" rIns="91440" bIns="45720" anchor="b" anchorCtr="0"/>
          <a:lstStyle/>
          <a:p>
            <a:pPr eaLnBrk="1" hangingPunct="1"/>
            <a:r>
              <a:rPr sz="3200" dirty="0"/>
              <a:t>Classification—A Two-Step Process</a:t>
            </a:r>
            <a:r>
              <a:rPr sz="2800" dirty="0"/>
              <a:t> </a:t>
            </a:r>
            <a:endParaRPr sz="3200" dirty="0"/>
          </a:p>
        </p:txBody>
      </p:sp>
      <p:sp>
        <p:nvSpPr>
          <p:cNvPr id="21508" name="Rectangle 3"/>
          <p:cNvSpPr>
            <a:spLocks noGrp="1"/>
          </p:cNvSpPr>
          <p:nvPr>
            <p:ph idx="1"/>
          </p:nvPr>
        </p:nvSpPr>
        <p:spPr>
          <a:xfrm>
            <a:off x="457200" y="1143000"/>
            <a:ext cx="8153400" cy="5486400"/>
          </a:xfrm>
        </p:spPr>
        <p:txBody>
          <a:bodyPr vert="horz" wrap="square" lIns="91440" tIns="45720" rIns="91440" bIns="45720" anchor="t" anchorCtr="0"/>
          <a:lstStyle/>
          <a:p>
            <a:pPr marL="533400" indent="-533400" eaLnBrk="1" hangingPunct="1">
              <a:lnSpc>
                <a:spcPct val="80000"/>
              </a:lnSpc>
              <a:buClr>
                <a:schemeClr val="tx2"/>
              </a:buClr>
              <a:buSzTx/>
              <a:buFont typeface="Wingdings" panose="05000000000000000000" pitchFamily="2" charset="2"/>
              <a:buAutoNum type="arabicPeriod"/>
            </a:pPr>
            <a:r>
              <a:rPr sz="2000" dirty="0">
                <a:solidFill>
                  <a:srgbClr val="170981"/>
                </a:solidFill>
              </a:rPr>
              <a:t>Model construction: describing a set of predetermined classes</a:t>
            </a:r>
          </a:p>
          <a:p>
            <a:pPr marL="990600" lvl="1" indent="-533400" eaLnBrk="1" hangingPunct="1">
              <a:lnSpc>
                <a:spcPct val="80000"/>
              </a:lnSpc>
              <a:buClr>
                <a:schemeClr val="tx2"/>
              </a:buClr>
              <a:buSzTx/>
            </a:pPr>
            <a:r>
              <a:rPr sz="2000" dirty="0"/>
              <a:t>Each tuple/sample is assumed to belong to a predefined class, as determined by the </a:t>
            </a:r>
            <a:r>
              <a:rPr sz="2000" dirty="0">
                <a:solidFill>
                  <a:srgbClr val="170981"/>
                </a:solidFill>
              </a:rPr>
              <a:t>class label attribute</a:t>
            </a:r>
          </a:p>
          <a:p>
            <a:pPr marL="990600" lvl="1" indent="-533400" eaLnBrk="1" hangingPunct="1">
              <a:lnSpc>
                <a:spcPct val="80000"/>
              </a:lnSpc>
              <a:buClr>
                <a:schemeClr val="tx2"/>
              </a:buClr>
              <a:buSzTx/>
            </a:pPr>
            <a:r>
              <a:rPr sz="2000" dirty="0"/>
              <a:t>The set of tuples used for model construction is </a:t>
            </a:r>
            <a:r>
              <a:rPr sz="2000" dirty="0">
                <a:solidFill>
                  <a:srgbClr val="170981"/>
                </a:solidFill>
              </a:rPr>
              <a:t>training set</a:t>
            </a:r>
          </a:p>
          <a:p>
            <a:pPr marL="990600" lvl="1" indent="-533400" eaLnBrk="1" hangingPunct="1">
              <a:lnSpc>
                <a:spcPct val="80000"/>
              </a:lnSpc>
              <a:buClr>
                <a:schemeClr val="tx2"/>
              </a:buClr>
              <a:buSzTx/>
            </a:pPr>
            <a:r>
              <a:rPr sz="2000" dirty="0"/>
              <a:t>The model is represented as classification rules, decision trees, or mathematical formulae</a:t>
            </a:r>
          </a:p>
          <a:p>
            <a:pPr marL="990600" lvl="1" indent="-533400" eaLnBrk="1" hangingPunct="1">
              <a:lnSpc>
                <a:spcPct val="80000"/>
              </a:lnSpc>
              <a:buClr>
                <a:schemeClr val="tx2"/>
              </a:buClr>
              <a:buSzTx/>
              <a:buFont typeface="Wingdings" panose="05000000000000000000" pitchFamily="2" charset="2"/>
              <a:buAutoNum type="arabicPeriod"/>
            </a:pPr>
            <a:endParaRPr sz="2000" dirty="0"/>
          </a:p>
          <a:p>
            <a:pPr marL="533400" indent="-533400" eaLnBrk="1" hangingPunct="1">
              <a:lnSpc>
                <a:spcPct val="80000"/>
              </a:lnSpc>
              <a:buClr>
                <a:schemeClr val="tx2"/>
              </a:buClr>
              <a:buSzTx/>
              <a:buFont typeface="Wingdings" panose="05000000000000000000" pitchFamily="2" charset="2"/>
              <a:buAutoNum type="arabicPeriod"/>
            </a:pPr>
            <a:r>
              <a:rPr sz="2000" dirty="0">
                <a:solidFill>
                  <a:srgbClr val="170981"/>
                </a:solidFill>
              </a:rPr>
              <a:t>Model usage: for classifying future or unknown objects</a:t>
            </a:r>
          </a:p>
          <a:p>
            <a:pPr marL="990600" lvl="1" indent="-533400" eaLnBrk="1" hangingPunct="1">
              <a:lnSpc>
                <a:spcPct val="80000"/>
              </a:lnSpc>
              <a:buClr>
                <a:schemeClr val="tx2"/>
              </a:buClr>
              <a:buSzTx/>
            </a:pPr>
            <a:r>
              <a:rPr sz="2000" dirty="0"/>
              <a:t>Estimate accuracy of the model</a:t>
            </a:r>
          </a:p>
          <a:p>
            <a:pPr marL="1371600" lvl="2" indent="-457200" eaLnBrk="1" hangingPunct="1">
              <a:lnSpc>
                <a:spcPct val="80000"/>
              </a:lnSpc>
              <a:buClr>
                <a:schemeClr val="tx2"/>
              </a:buClr>
              <a:buSzTx/>
            </a:pPr>
            <a:r>
              <a:rPr sz="2000" dirty="0"/>
              <a:t>The known label of test sample is compared with the classified result from the model</a:t>
            </a:r>
          </a:p>
          <a:p>
            <a:pPr marL="1371600" lvl="2" indent="-457200" eaLnBrk="1" hangingPunct="1">
              <a:lnSpc>
                <a:spcPct val="80000"/>
              </a:lnSpc>
              <a:buClr>
                <a:schemeClr val="tx2"/>
              </a:buClr>
              <a:buSzTx/>
            </a:pPr>
            <a:r>
              <a:rPr sz="2000" dirty="0">
                <a:solidFill>
                  <a:srgbClr val="660066"/>
                </a:solidFill>
              </a:rPr>
              <a:t>Accuracy rate = % of test set samples that are correctly classified by the model</a:t>
            </a:r>
          </a:p>
          <a:p>
            <a:pPr marL="1371600" lvl="2" indent="-457200" eaLnBrk="1" hangingPunct="1">
              <a:lnSpc>
                <a:spcPct val="80000"/>
              </a:lnSpc>
              <a:buClr>
                <a:schemeClr val="tx2"/>
              </a:buClr>
              <a:buSzTx/>
            </a:pPr>
            <a:r>
              <a:rPr sz="2000" dirty="0"/>
              <a:t>Test set is independent of training set, otherwise over-fitting will occur</a:t>
            </a:r>
          </a:p>
          <a:p>
            <a:pPr marL="990600" lvl="1" indent="-533400" eaLnBrk="1" hangingPunct="1">
              <a:lnSpc>
                <a:spcPct val="80000"/>
              </a:lnSpc>
              <a:buClr>
                <a:schemeClr val="tx2"/>
              </a:buClr>
              <a:buSzTx/>
            </a:pPr>
            <a:r>
              <a:rPr sz="2000" dirty="0"/>
              <a:t>If the accuracy is acceptable, use the model to classify data tuples whose class labels are not known</a:t>
            </a:r>
            <a:endParaRPr sz="2400" dirty="0"/>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6</a:t>
            </a:fld>
            <a:endParaRPr lang="en-US" sz="1200" dirty="0">
              <a:latin typeface="Tahoma" panose="020B0604030504040204" pitchFamily="34" charset="0"/>
              <a:ea typeface="+mn-ea"/>
              <a:cs typeface="+mn-cs"/>
            </a:endParaRPr>
          </a:p>
        </p:txBody>
      </p:sp>
      <p:sp>
        <p:nvSpPr>
          <p:cNvPr id="22531" name="Rectangle 2"/>
          <p:cNvSpPr>
            <a:spLocks noGrp="1"/>
          </p:cNvSpPr>
          <p:nvPr>
            <p:ph type="title"/>
          </p:nvPr>
        </p:nvSpPr>
        <p:spPr>
          <a:xfrm>
            <a:off x="228600" y="76200"/>
            <a:ext cx="8915400" cy="990600"/>
          </a:xfrm>
        </p:spPr>
        <p:txBody>
          <a:bodyPr vert="horz" wrap="square" lIns="92075" tIns="46038" rIns="92075" bIns="46038" anchor="b" anchorCtr="0"/>
          <a:lstStyle/>
          <a:p>
            <a:pPr algn="ctr" eaLnBrk="1" hangingPunct="1"/>
            <a:r>
              <a:rPr dirty="0"/>
              <a:t>Classification Process (1): </a:t>
            </a:r>
            <a:br>
              <a:rPr dirty="0"/>
            </a:br>
            <a:r>
              <a:rPr dirty="0"/>
              <a:t>Model Construction</a:t>
            </a:r>
          </a:p>
        </p:txBody>
      </p:sp>
      <p:grpSp>
        <p:nvGrpSpPr>
          <p:cNvPr id="22532" name="Group 3"/>
          <p:cNvGrpSpPr/>
          <p:nvPr/>
        </p:nvGrpSpPr>
        <p:grpSpPr>
          <a:xfrm>
            <a:off x="2036763" y="1774825"/>
            <a:ext cx="1698625" cy="1506538"/>
            <a:chOff x="1283" y="1118"/>
            <a:chExt cx="1070" cy="949"/>
          </a:xfrm>
        </p:grpSpPr>
        <p:pic>
          <p:nvPicPr>
            <p:cNvPr id="22545" name="Picture 4"/>
            <p:cNvPicPr/>
            <p:nvPr/>
          </p:nvPicPr>
          <p:blipFill>
            <a:blip r:embed="rId3"/>
            <a:stretch>
              <a:fillRect/>
            </a:stretch>
          </p:blipFill>
          <p:spPr>
            <a:xfrm>
              <a:off x="1283" y="1118"/>
              <a:ext cx="1070" cy="949"/>
            </a:xfrm>
            <a:prstGeom prst="rect">
              <a:avLst/>
            </a:prstGeom>
            <a:noFill/>
            <a:ln w="9525">
              <a:noFill/>
            </a:ln>
          </p:spPr>
        </p:pic>
        <p:sp>
          <p:nvSpPr>
            <p:cNvPr id="22546" name="Rectangle 5"/>
            <p:cNvSpPr/>
            <p:nvPr/>
          </p:nvSpPr>
          <p:spPr>
            <a:xfrm>
              <a:off x="1347" y="1427"/>
              <a:ext cx="934" cy="460"/>
            </a:xfrm>
            <a:prstGeom prst="rect">
              <a:avLst/>
            </a:prstGeom>
            <a:noFill/>
            <a:ln w="9525">
              <a:noFill/>
            </a:ln>
          </p:spPr>
          <p:txBody>
            <a:bodyPr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Training</a:t>
              </a:r>
            </a:p>
            <a:p>
              <a:pPr marL="0" lvl="0" indent="0" algn="ctr">
                <a:spcBef>
                  <a:spcPct val="0"/>
                </a:spcBef>
                <a:buClrTx/>
                <a:buSzTx/>
                <a:buFontTx/>
                <a:buNone/>
              </a:pPr>
              <a:r>
                <a:rPr sz="2400" dirty="0">
                  <a:latin typeface="Times New Roman" panose="02020603050405020304" pitchFamily="18" charset="0"/>
                </a:rPr>
                <a:t>Data</a:t>
              </a:r>
            </a:p>
          </p:txBody>
        </p:sp>
      </p:grpSp>
      <p:graphicFrame>
        <p:nvGraphicFramePr>
          <p:cNvPr id="22533" name="Object 6"/>
          <p:cNvGraphicFramePr>
            <a:graphicFrameLocks/>
          </p:cNvGraphicFramePr>
          <p:nvPr/>
        </p:nvGraphicFramePr>
        <p:xfrm>
          <a:off x="288925" y="3825875"/>
          <a:ext cx="5437188" cy="2495550"/>
        </p:xfrm>
        <a:graphic>
          <a:graphicData uri="http://schemas.openxmlformats.org/presentationml/2006/ole">
            <p:oleObj spid="_x0000_s3076" r:id="rId4" imgW="5437188" imgH="2495550" progId="Excel.Sheet.8">
              <p:embed/>
            </p:oleObj>
          </a:graphicData>
        </a:graphic>
      </p:graphicFrame>
      <p:sp>
        <p:nvSpPr>
          <p:cNvPr id="22534" name="Line 7"/>
          <p:cNvSpPr/>
          <p:nvPr/>
        </p:nvSpPr>
        <p:spPr>
          <a:xfrm flipH="1">
            <a:off x="306388" y="3111500"/>
            <a:ext cx="1644650" cy="700088"/>
          </a:xfrm>
          <a:prstGeom prst="line">
            <a:avLst/>
          </a:prstGeom>
          <a:ln w="12700" cap="flat" cmpd="sng">
            <a:solidFill>
              <a:srgbClr val="000000"/>
            </a:solidFill>
            <a:prstDash val="solid"/>
            <a:headEnd type="none" w="sm" len="sm"/>
            <a:tailEnd type="none" w="sm" len="sm"/>
          </a:ln>
        </p:spPr>
      </p:sp>
      <p:sp>
        <p:nvSpPr>
          <p:cNvPr id="22535" name="Line 8"/>
          <p:cNvSpPr/>
          <p:nvPr/>
        </p:nvSpPr>
        <p:spPr>
          <a:xfrm>
            <a:off x="3736975" y="3111500"/>
            <a:ext cx="2025650" cy="700088"/>
          </a:xfrm>
          <a:prstGeom prst="line">
            <a:avLst/>
          </a:prstGeom>
          <a:ln w="12700" cap="flat" cmpd="sng">
            <a:solidFill>
              <a:srgbClr val="000000"/>
            </a:solidFill>
            <a:prstDash val="solid"/>
            <a:headEnd type="none" w="sm" len="sm"/>
            <a:tailEnd type="none" w="sm" len="sm"/>
          </a:ln>
        </p:spPr>
      </p:sp>
      <p:sp>
        <p:nvSpPr>
          <p:cNvPr id="22536" name="Rectangle 9"/>
          <p:cNvSpPr/>
          <p:nvPr/>
        </p:nvSpPr>
        <p:spPr>
          <a:xfrm>
            <a:off x="6481763" y="1622425"/>
            <a:ext cx="1870075" cy="835025"/>
          </a:xfrm>
          <a:prstGeom prst="rect">
            <a:avLst/>
          </a:prstGeom>
          <a:solidFill>
            <a:srgbClr val="CCFFFF"/>
          </a:solidFill>
          <a:ln w="12700" cap="flat" cmpd="sng">
            <a:solidFill>
              <a:schemeClr val="tx1"/>
            </a:solidFill>
            <a:prstDash val="solid"/>
            <a:miter/>
            <a:headEnd type="none" w="med" len="med"/>
            <a:tailEnd type="none" w="med" len="med"/>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Classification</a:t>
            </a:r>
          </a:p>
          <a:p>
            <a:pPr marL="0" lvl="0" indent="0" algn="ctr">
              <a:spcBef>
                <a:spcPct val="0"/>
              </a:spcBef>
              <a:buClrTx/>
              <a:buSzTx/>
              <a:buFontTx/>
              <a:buNone/>
            </a:pPr>
            <a:r>
              <a:rPr sz="2400" dirty="0">
                <a:latin typeface="Times New Roman" panose="02020603050405020304" pitchFamily="18" charset="0"/>
              </a:rPr>
              <a:t>Algorithms</a:t>
            </a:r>
          </a:p>
        </p:txBody>
      </p:sp>
      <p:sp>
        <p:nvSpPr>
          <p:cNvPr id="22537" name="AutoShape 10"/>
          <p:cNvSpPr/>
          <p:nvPr/>
        </p:nvSpPr>
        <p:spPr>
          <a:xfrm rot="-1140000">
            <a:off x="4235450" y="2074863"/>
            <a:ext cx="1657350" cy="484187"/>
          </a:xfrm>
          <a:prstGeom prst="rightArrow">
            <a:avLst>
              <a:gd name="adj1" fmla="val 50000"/>
              <a:gd name="adj2" fmla="val 85605"/>
            </a:avLst>
          </a:prstGeom>
          <a:solidFill>
            <a:srgbClr val="2597B8"/>
          </a:solidFill>
          <a:ln w="12700"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22538" name="Rectangle 11"/>
          <p:cNvSpPr/>
          <p:nvPr/>
        </p:nvSpPr>
        <p:spPr>
          <a:xfrm>
            <a:off x="5948363" y="5311775"/>
            <a:ext cx="3008312" cy="1200150"/>
          </a:xfrm>
          <a:prstGeom prst="rect">
            <a:avLst/>
          </a:prstGeom>
          <a:solidFill>
            <a:srgbClr val="CCFFCC"/>
          </a:solidFill>
          <a:ln w="12700" cap="flat" cmpd="sng">
            <a:solidFill>
              <a:schemeClr val="tx1"/>
            </a:solidFill>
            <a:prstDash val="solid"/>
            <a:miter/>
            <a:headEnd type="none" w="med" len="med"/>
            <a:tailEnd type="none" w="med" len="med"/>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sz="2400" dirty="0">
                <a:latin typeface="Times New Roman" panose="02020603050405020304" pitchFamily="18" charset="0"/>
              </a:rPr>
              <a:t>IF rank = ‘professor’</a:t>
            </a:r>
          </a:p>
          <a:p>
            <a:pPr marL="0" lvl="0" indent="0">
              <a:spcBef>
                <a:spcPct val="0"/>
              </a:spcBef>
              <a:buClrTx/>
              <a:buSzTx/>
              <a:buFontTx/>
              <a:buNone/>
            </a:pPr>
            <a:r>
              <a:rPr sz="2400" dirty="0">
                <a:latin typeface="Times New Roman" panose="02020603050405020304" pitchFamily="18" charset="0"/>
              </a:rPr>
              <a:t>OR years &gt; 6</a:t>
            </a:r>
          </a:p>
          <a:p>
            <a:pPr marL="0" lvl="0" indent="0">
              <a:spcBef>
                <a:spcPct val="0"/>
              </a:spcBef>
              <a:buClrTx/>
              <a:buSzTx/>
              <a:buFontTx/>
              <a:buNone/>
            </a:pPr>
            <a:r>
              <a:rPr sz="2400" dirty="0">
                <a:latin typeface="Times New Roman" panose="02020603050405020304" pitchFamily="18" charset="0"/>
              </a:rPr>
              <a:t>THEN tenured = ‘yes’ </a:t>
            </a:r>
          </a:p>
        </p:txBody>
      </p:sp>
      <p:grpSp>
        <p:nvGrpSpPr>
          <p:cNvPr id="22539" name="Group 12"/>
          <p:cNvGrpSpPr/>
          <p:nvPr/>
        </p:nvGrpSpPr>
        <p:grpSpPr>
          <a:xfrm>
            <a:off x="6478588" y="3216275"/>
            <a:ext cx="1889125" cy="1506538"/>
            <a:chOff x="4081" y="2026"/>
            <a:chExt cx="1190" cy="949"/>
          </a:xfrm>
        </p:grpSpPr>
        <p:pic>
          <p:nvPicPr>
            <p:cNvPr id="22543" name="Picture 13"/>
            <p:cNvPicPr/>
            <p:nvPr/>
          </p:nvPicPr>
          <p:blipFill>
            <a:blip r:embed="rId5"/>
            <a:stretch>
              <a:fillRect/>
            </a:stretch>
          </p:blipFill>
          <p:spPr>
            <a:xfrm>
              <a:off x="4081" y="2026"/>
              <a:ext cx="1190" cy="949"/>
            </a:xfrm>
            <a:prstGeom prst="rect">
              <a:avLst/>
            </a:prstGeom>
            <a:noFill/>
            <a:ln w="9525">
              <a:noFill/>
            </a:ln>
          </p:spPr>
        </p:pic>
        <p:sp>
          <p:nvSpPr>
            <p:cNvPr id="22544" name="Rectangle 14"/>
            <p:cNvSpPr/>
            <p:nvPr/>
          </p:nvSpPr>
          <p:spPr>
            <a:xfrm>
              <a:off x="4245" y="2306"/>
              <a:ext cx="851" cy="518"/>
            </a:xfrm>
            <a:prstGeom prst="rect">
              <a:avLst/>
            </a:prstGeom>
            <a:noFill/>
            <a:ln w="9525">
              <a:noFill/>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Classifier</a:t>
              </a:r>
            </a:p>
            <a:p>
              <a:pPr marL="0" lvl="0" indent="0" algn="ctr">
                <a:spcBef>
                  <a:spcPct val="0"/>
                </a:spcBef>
                <a:buClrTx/>
                <a:buSzTx/>
                <a:buFontTx/>
                <a:buNone/>
              </a:pPr>
              <a:r>
                <a:rPr sz="2400" dirty="0">
                  <a:latin typeface="Times New Roman" panose="02020603050405020304" pitchFamily="18" charset="0"/>
                </a:rPr>
                <a:t>(Model)</a:t>
              </a:r>
            </a:p>
          </p:txBody>
        </p:sp>
      </p:grpSp>
      <p:sp>
        <p:nvSpPr>
          <p:cNvPr id="22540" name="Line 15"/>
          <p:cNvSpPr/>
          <p:nvPr/>
        </p:nvSpPr>
        <p:spPr>
          <a:xfrm flipH="1">
            <a:off x="5946775" y="4621213"/>
            <a:ext cx="531813" cy="714375"/>
          </a:xfrm>
          <a:prstGeom prst="line">
            <a:avLst/>
          </a:prstGeom>
          <a:ln w="12700" cap="flat" cmpd="sng">
            <a:solidFill>
              <a:srgbClr val="000000"/>
            </a:solidFill>
            <a:prstDash val="solid"/>
            <a:headEnd type="none" w="sm" len="sm"/>
            <a:tailEnd type="none" w="sm" len="sm"/>
          </a:ln>
        </p:spPr>
      </p:sp>
      <p:sp>
        <p:nvSpPr>
          <p:cNvPr id="22541" name="Line 16"/>
          <p:cNvSpPr/>
          <p:nvPr/>
        </p:nvSpPr>
        <p:spPr>
          <a:xfrm>
            <a:off x="8369300" y="4543425"/>
            <a:ext cx="577850" cy="790575"/>
          </a:xfrm>
          <a:prstGeom prst="line">
            <a:avLst/>
          </a:prstGeom>
          <a:ln w="12700" cap="flat" cmpd="sng">
            <a:solidFill>
              <a:srgbClr val="000000"/>
            </a:solidFill>
            <a:prstDash val="solid"/>
            <a:headEnd type="none" w="sm" len="sm"/>
            <a:tailEnd type="none" w="sm" len="sm"/>
          </a:ln>
        </p:spPr>
      </p:sp>
      <p:sp>
        <p:nvSpPr>
          <p:cNvPr id="22542" name="AutoShape 17"/>
          <p:cNvSpPr/>
          <p:nvPr/>
        </p:nvSpPr>
        <p:spPr>
          <a:xfrm>
            <a:off x="7143750" y="2576513"/>
            <a:ext cx="546100" cy="592137"/>
          </a:xfrm>
          <a:prstGeom prst="downArrow">
            <a:avLst>
              <a:gd name="adj1" fmla="val 50000"/>
              <a:gd name="adj2" fmla="val 27117"/>
            </a:avLst>
          </a:prstGeom>
          <a:solidFill>
            <a:srgbClr val="2597B8"/>
          </a:solidFill>
          <a:ln w="12700"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7</a:t>
            </a:fld>
            <a:endParaRPr lang="en-US" sz="1200" dirty="0">
              <a:latin typeface="Tahoma" panose="020B0604030504040204" pitchFamily="34" charset="0"/>
              <a:ea typeface="+mn-ea"/>
              <a:cs typeface="+mn-cs"/>
            </a:endParaRPr>
          </a:p>
        </p:txBody>
      </p:sp>
      <p:sp>
        <p:nvSpPr>
          <p:cNvPr id="23555" name="Rectangle 2"/>
          <p:cNvSpPr>
            <a:spLocks noGrp="1"/>
          </p:cNvSpPr>
          <p:nvPr>
            <p:ph type="title"/>
          </p:nvPr>
        </p:nvSpPr>
        <p:spPr>
          <a:xfrm>
            <a:off x="381000" y="228600"/>
            <a:ext cx="8555038" cy="838200"/>
          </a:xfrm>
        </p:spPr>
        <p:txBody>
          <a:bodyPr vert="horz" wrap="square" lIns="92075" tIns="46038" rIns="92075" bIns="46038" anchor="b" anchorCtr="0"/>
          <a:lstStyle/>
          <a:p>
            <a:pPr eaLnBrk="1" hangingPunct="1"/>
            <a:r>
              <a:rPr dirty="0"/>
              <a:t>Classification Process (2): Use the Model in Prediction</a:t>
            </a:r>
          </a:p>
        </p:txBody>
      </p:sp>
      <p:grpSp>
        <p:nvGrpSpPr>
          <p:cNvPr id="23556" name="Group 3"/>
          <p:cNvGrpSpPr/>
          <p:nvPr/>
        </p:nvGrpSpPr>
        <p:grpSpPr>
          <a:xfrm>
            <a:off x="4445000" y="1570038"/>
            <a:ext cx="1889125" cy="1506537"/>
            <a:chOff x="2800" y="989"/>
            <a:chExt cx="1190" cy="949"/>
          </a:xfrm>
        </p:grpSpPr>
        <p:pic>
          <p:nvPicPr>
            <p:cNvPr id="23574" name="Picture 4"/>
            <p:cNvPicPr/>
            <p:nvPr/>
          </p:nvPicPr>
          <p:blipFill>
            <a:blip r:embed="rId3"/>
            <a:stretch>
              <a:fillRect/>
            </a:stretch>
          </p:blipFill>
          <p:spPr>
            <a:xfrm>
              <a:off x="2800" y="989"/>
              <a:ext cx="1190" cy="949"/>
            </a:xfrm>
            <a:prstGeom prst="rect">
              <a:avLst/>
            </a:prstGeom>
            <a:noFill/>
            <a:ln w="9525">
              <a:noFill/>
            </a:ln>
          </p:spPr>
        </p:pic>
        <p:sp>
          <p:nvSpPr>
            <p:cNvPr id="23575" name="Rectangle 5"/>
            <p:cNvSpPr/>
            <p:nvPr/>
          </p:nvSpPr>
          <p:spPr>
            <a:xfrm>
              <a:off x="2964" y="1384"/>
              <a:ext cx="851" cy="288"/>
            </a:xfrm>
            <a:prstGeom prst="rect">
              <a:avLst/>
            </a:prstGeom>
            <a:noFill/>
            <a:ln w="9525">
              <a:noFill/>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Classifier</a:t>
              </a:r>
            </a:p>
          </p:txBody>
        </p:sp>
      </p:grpSp>
      <p:grpSp>
        <p:nvGrpSpPr>
          <p:cNvPr id="23557" name="Group 6"/>
          <p:cNvGrpSpPr/>
          <p:nvPr/>
        </p:nvGrpSpPr>
        <p:grpSpPr>
          <a:xfrm>
            <a:off x="2157413" y="2735263"/>
            <a:ext cx="1698625" cy="1506537"/>
            <a:chOff x="1359" y="1723"/>
            <a:chExt cx="1070" cy="949"/>
          </a:xfrm>
        </p:grpSpPr>
        <p:pic>
          <p:nvPicPr>
            <p:cNvPr id="23572" name="Picture 7"/>
            <p:cNvPicPr/>
            <p:nvPr/>
          </p:nvPicPr>
          <p:blipFill>
            <a:blip r:embed="rId4"/>
            <a:stretch>
              <a:fillRect/>
            </a:stretch>
          </p:blipFill>
          <p:spPr>
            <a:xfrm>
              <a:off x="1359" y="1723"/>
              <a:ext cx="1070" cy="949"/>
            </a:xfrm>
            <a:prstGeom prst="rect">
              <a:avLst/>
            </a:prstGeom>
            <a:noFill/>
            <a:ln w="9525">
              <a:noFill/>
            </a:ln>
          </p:spPr>
        </p:pic>
        <p:sp>
          <p:nvSpPr>
            <p:cNvPr id="23573" name="Rectangle 8"/>
            <p:cNvSpPr/>
            <p:nvPr/>
          </p:nvSpPr>
          <p:spPr>
            <a:xfrm>
              <a:off x="1423" y="2032"/>
              <a:ext cx="934" cy="460"/>
            </a:xfrm>
            <a:prstGeom prst="rect">
              <a:avLst/>
            </a:prstGeom>
            <a:noFill/>
            <a:ln w="9525">
              <a:noFill/>
            </a:ln>
          </p:spPr>
          <p:txBody>
            <a:bodyPr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Testing</a:t>
              </a:r>
            </a:p>
            <a:p>
              <a:pPr marL="0" lvl="0" indent="0" algn="ctr">
                <a:spcBef>
                  <a:spcPct val="0"/>
                </a:spcBef>
                <a:buClrTx/>
                <a:buSzTx/>
                <a:buFontTx/>
                <a:buNone/>
              </a:pPr>
              <a:r>
                <a:rPr sz="2400" dirty="0">
                  <a:latin typeface="Times New Roman" panose="02020603050405020304" pitchFamily="18" charset="0"/>
                </a:rPr>
                <a:t>Data</a:t>
              </a:r>
            </a:p>
          </p:txBody>
        </p:sp>
      </p:grpSp>
      <p:graphicFrame>
        <p:nvGraphicFramePr>
          <p:cNvPr id="23558" name="Object 9"/>
          <p:cNvGraphicFramePr>
            <a:graphicFrameLocks/>
          </p:cNvGraphicFramePr>
          <p:nvPr/>
        </p:nvGraphicFramePr>
        <p:xfrm>
          <a:off x="457200" y="4800600"/>
          <a:ext cx="5438775" cy="1765300"/>
        </p:xfrm>
        <a:graphic>
          <a:graphicData uri="http://schemas.openxmlformats.org/presentationml/2006/ole">
            <p:oleObj spid="_x0000_s25601" r:id="rId5" imgW="5438775" imgH="1765300" progId="Excel.Sheet.8">
              <p:embed/>
            </p:oleObj>
          </a:graphicData>
        </a:graphic>
      </p:graphicFrame>
      <p:sp>
        <p:nvSpPr>
          <p:cNvPr id="23559" name="Line 10"/>
          <p:cNvSpPr/>
          <p:nvPr/>
        </p:nvSpPr>
        <p:spPr>
          <a:xfrm flipH="1">
            <a:off x="427038" y="4071938"/>
            <a:ext cx="1644650" cy="700087"/>
          </a:xfrm>
          <a:prstGeom prst="line">
            <a:avLst/>
          </a:prstGeom>
          <a:ln w="12700" cap="flat" cmpd="sng">
            <a:solidFill>
              <a:srgbClr val="000000"/>
            </a:solidFill>
            <a:prstDash val="solid"/>
            <a:headEnd type="none" w="sm" len="sm"/>
            <a:tailEnd type="none" w="sm" len="sm"/>
          </a:ln>
        </p:spPr>
      </p:sp>
      <p:sp>
        <p:nvSpPr>
          <p:cNvPr id="23560" name="Line 11"/>
          <p:cNvSpPr/>
          <p:nvPr/>
        </p:nvSpPr>
        <p:spPr>
          <a:xfrm>
            <a:off x="3857625" y="4071938"/>
            <a:ext cx="2025650" cy="700087"/>
          </a:xfrm>
          <a:prstGeom prst="line">
            <a:avLst/>
          </a:prstGeom>
          <a:ln w="12700" cap="flat" cmpd="sng">
            <a:solidFill>
              <a:srgbClr val="000000"/>
            </a:solidFill>
            <a:prstDash val="solid"/>
            <a:headEnd type="none" w="sm" len="sm"/>
            <a:tailEnd type="none" w="sm" len="sm"/>
          </a:ln>
        </p:spPr>
      </p:sp>
      <p:sp>
        <p:nvSpPr>
          <p:cNvPr id="23561" name="AutoShape 12"/>
          <p:cNvSpPr/>
          <p:nvPr/>
        </p:nvSpPr>
        <p:spPr>
          <a:xfrm>
            <a:off x="7793038" y="5000625"/>
            <a:ext cx="546100" cy="592138"/>
          </a:xfrm>
          <a:prstGeom prst="downArrow">
            <a:avLst>
              <a:gd name="adj1" fmla="val 50000"/>
              <a:gd name="adj2" fmla="val 27117"/>
            </a:avLst>
          </a:prstGeom>
          <a:solidFill>
            <a:srgbClr val="2597B8"/>
          </a:solidFill>
          <a:ln w="12700"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23562" name="Freeform 13"/>
          <p:cNvSpPr/>
          <p:nvPr/>
        </p:nvSpPr>
        <p:spPr>
          <a:xfrm>
            <a:off x="6523038" y="2173288"/>
            <a:ext cx="941387" cy="766762"/>
          </a:xfrm>
          <a:custGeom>
            <a:avLst/>
            <a:gdLst>
              <a:gd name="txL" fmla="*/ 0 w 593"/>
              <a:gd name="txT" fmla="*/ 0 h 483"/>
              <a:gd name="txR" fmla="*/ 593 w 593"/>
              <a:gd name="txB" fmla="*/ 483 h 483"/>
            </a:gdLst>
            <a:ahLst/>
            <a:cxnLst>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alpha val="100000"/>
            </a:srgbClr>
          </a:solidFill>
          <a:ln w="12700" cap="rnd" cmpd="sng">
            <a:solidFill>
              <a:srgbClr val="000000">
                <a:alpha val="100000"/>
              </a:srgbClr>
            </a:solidFill>
            <a:prstDash val="solid"/>
            <a:round/>
            <a:headEnd type="none" w="med" len="med"/>
            <a:tailEnd type="none" w="med" len="med"/>
          </a:ln>
        </p:spPr>
        <p:txBody>
          <a:bodyPr/>
          <a:lstStyle/>
          <a:p>
            <a:endParaRPr lang="en-US"/>
          </a:p>
        </p:txBody>
      </p:sp>
      <p:grpSp>
        <p:nvGrpSpPr>
          <p:cNvPr id="23563" name="Group 14"/>
          <p:cNvGrpSpPr/>
          <p:nvPr/>
        </p:nvGrpSpPr>
        <p:grpSpPr>
          <a:xfrm>
            <a:off x="6646863" y="3187700"/>
            <a:ext cx="1781175" cy="815975"/>
            <a:chOff x="4187" y="2008"/>
            <a:chExt cx="1122" cy="514"/>
          </a:xfrm>
        </p:grpSpPr>
        <p:pic>
          <p:nvPicPr>
            <p:cNvPr id="23570" name="Picture 15"/>
            <p:cNvPicPr/>
            <p:nvPr/>
          </p:nvPicPr>
          <p:blipFill>
            <a:blip r:embed="rId6"/>
            <a:stretch>
              <a:fillRect/>
            </a:stretch>
          </p:blipFill>
          <p:spPr>
            <a:xfrm>
              <a:off x="4187" y="2008"/>
              <a:ext cx="1122" cy="514"/>
            </a:xfrm>
            <a:prstGeom prst="rect">
              <a:avLst/>
            </a:prstGeom>
            <a:noFill/>
            <a:ln w="9525">
              <a:noFill/>
            </a:ln>
          </p:spPr>
        </p:pic>
        <p:sp>
          <p:nvSpPr>
            <p:cNvPr id="23571" name="Rectangle 16"/>
            <p:cNvSpPr/>
            <p:nvPr/>
          </p:nvSpPr>
          <p:spPr>
            <a:xfrm>
              <a:off x="4251" y="2180"/>
              <a:ext cx="986" cy="230"/>
            </a:xfrm>
            <a:prstGeom prst="rect">
              <a:avLst/>
            </a:prstGeom>
            <a:noFill/>
            <a:ln w="9525">
              <a:noFill/>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Unseen Data</a:t>
              </a:r>
            </a:p>
          </p:txBody>
        </p:sp>
      </p:grpSp>
      <p:sp>
        <p:nvSpPr>
          <p:cNvPr id="23564" name="Rectangle 17"/>
          <p:cNvSpPr/>
          <p:nvPr/>
        </p:nvSpPr>
        <p:spPr>
          <a:xfrm>
            <a:off x="6305550" y="4262438"/>
            <a:ext cx="2454275" cy="457200"/>
          </a:xfrm>
          <a:prstGeom prst="rect">
            <a:avLst/>
          </a:prstGeom>
          <a:solidFill>
            <a:srgbClr val="FFCC99"/>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(Jeff, Professor, 4)</a:t>
            </a:r>
          </a:p>
        </p:txBody>
      </p:sp>
      <p:sp>
        <p:nvSpPr>
          <p:cNvPr id="23565" name="Line 18"/>
          <p:cNvSpPr/>
          <p:nvPr/>
        </p:nvSpPr>
        <p:spPr>
          <a:xfrm flipH="1">
            <a:off x="6167438" y="3903663"/>
            <a:ext cx="471487" cy="393700"/>
          </a:xfrm>
          <a:prstGeom prst="line">
            <a:avLst/>
          </a:prstGeom>
          <a:ln w="12700" cap="flat" cmpd="sng">
            <a:solidFill>
              <a:srgbClr val="000000"/>
            </a:solidFill>
            <a:prstDash val="solid"/>
            <a:headEnd type="none" w="sm" len="sm"/>
            <a:tailEnd type="none" w="sm" len="sm"/>
          </a:ln>
        </p:spPr>
      </p:sp>
      <p:sp>
        <p:nvSpPr>
          <p:cNvPr id="23566" name="Line 19"/>
          <p:cNvSpPr/>
          <p:nvPr/>
        </p:nvSpPr>
        <p:spPr>
          <a:xfrm>
            <a:off x="8448675" y="3903663"/>
            <a:ext cx="363538" cy="349250"/>
          </a:xfrm>
          <a:prstGeom prst="line">
            <a:avLst/>
          </a:prstGeom>
          <a:ln w="12700" cap="flat" cmpd="sng">
            <a:solidFill>
              <a:srgbClr val="000000"/>
            </a:solidFill>
            <a:prstDash val="solid"/>
            <a:headEnd type="none" w="sm" len="sm"/>
            <a:tailEnd type="none" w="sm" len="sm"/>
          </a:ln>
        </p:spPr>
      </p:sp>
      <p:sp>
        <p:nvSpPr>
          <p:cNvPr id="23567" name="Freeform 20"/>
          <p:cNvSpPr/>
          <p:nvPr/>
        </p:nvSpPr>
        <p:spPr>
          <a:xfrm>
            <a:off x="3360738" y="2032000"/>
            <a:ext cx="901700" cy="593725"/>
          </a:xfrm>
          <a:custGeom>
            <a:avLst/>
            <a:gdLst>
              <a:gd name="txL" fmla="*/ 0 w 568"/>
              <a:gd name="txT" fmla="*/ 0 h 374"/>
              <a:gd name="txR" fmla="*/ 568 w 568"/>
              <a:gd name="txB" fmla="*/ 374 h 374"/>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0"/>
              </a:cxn>
              <a:cxn ang="0">
                <a:pos x="2147483646" y="2147483646"/>
              </a:cxn>
            </a:cxnLst>
            <a:rect l="txL" t="txT" r="txR" b="txB"/>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alpha val="100000"/>
            </a:srgbClr>
          </a:solidFill>
          <a:ln w="12700" cap="rnd" cmpd="sng">
            <a:solidFill>
              <a:srgbClr val="000000">
                <a:alpha val="100000"/>
              </a:srgbClr>
            </a:solidFill>
            <a:prstDash val="solid"/>
            <a:round/>
            <a:headEnd type="none" w="med" len="med"/>
            <a:tailEnd type="none" w="med" len="med"/>
          </a:ln>
        </p:spPr>
        <p:txBody>
          <a:bodyPr/>
          <a:lstStyle/>
          <a:p>
            <a:endParaRPr lang="en-US"/>
          </a:p>
        </p:txBody>
      </p:sp>
      <p:pic>
        <p:nvPicPr>
          <p:cNvPr id="23568" name="Picture 21"/>
          <p:cNvPicPr/>
          <p:nvPr/>
        </p:nvPicPr>
        <p:blipFill>
          <a:blip r:embed="rId7"/>
          <a:stretch>
            <a:fillRect/>
          </a:stretch>
        </p:blipFill>
        <p:spPr>
          <a:xfrm>
            <a:off x="7720013" y="5738813"/>
            <a:ext cx="720725" cy="628650"/>
          </a:xfrm>
          <a:prstGeom prst="rect">
            <a:avLst/>
          </a:prstGeom>
          <a:noFill/>
          <a:ln w="9525">
            <a:noFill/>
          </a:ln>
        </p:spPr>
      </p:pic>
      <p:sp>
        <p:nvSpPr>
          <p:cNvPr id="23569" name="Rectangle 22"/>
          <p:cNvSpPr/>
          <p:nvPr/>
        </p:nvSpPr>
        <p:spPr>
          <a:xfrm>
            <a:off x="6221413" y="4959350"/>
            <a:ext cx="15255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dirty="0">
                <a:latin typeface="Times New Roman" panose="02020603050405020304" pitchFamily="18" charset="0"/>
              </a:rPr>
              <a:t>Tenured?</a:t>
            </a: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8</a:t>
            </a:fld>
            <a:endParaRPr lang="en-US" sz="1200" dirty="0">
              <a:latin typeface="Tahoma" panose="020B0604030504040204" pitchFamily="34" charset="0"/>
              <a:ea typeface="+mn-ea"/>
              <a:cs typeface="+mn-cs"/>
            </a:endParaRPr>
          </a:p>
        </p:txBody>
      </p:sp>
      <p:sp>
        <p:nvSpPr>
          <p:cNvPr id="24579" name="Rectangle 2"/>
          <p:cNvSpPr>
            <a:spLocks noGrp="1"/>
          </p:cNvSpPr>
          <p:nvPr>
            <p:ph type="title"/>
          </p:nvPr>
        </p:nvSpPr>
        <p:spPr>
          <a:xfrm>
            <a:off x="0" y="228600"/>
            <a:ext cx="8936038" cy="609600"/>
          </a:xfrm>
        </p:spPr>
        <p:txBody>
          <a:bodyPr vert="horz" wrap="square" lIns="92075" tIns="46038" rIns="92075" bIns="46038" anchor="b" anchorCtr="0"/>
          <a:lstStyle/>
          <a:p>
            <a:pPr eaLnBrk="1" hangingPunct="1"/>
            <a:r>
              <a:rPr dirty="0"/>
              <a:t>Supervised vs. Unsupervised Learning</a:t>
            </a:r>
          </a:p>
        </p:txBody>
      </p:sp>
      <p:sp>
        <p:nvSpPr>
          <p:cNvPr id="24580" name="Rectangle 3"/>
          <p:cNvSpPr>
            <a:spLocks noGrp="1"/>
          </p:cNvSpPr>
          <p:nvPr>
            <p:ph idx="1"/>
          </p:nvPr>
        </p:nvSpPr>
        <p:spPr>
          <a:xfrm>
            <a:off x="228600" y="990600"/>
            <a:ext cx="8534400" cy="5486400"/>
          </a:xfrm>
        </p:spPr>
        <p:txBody>
          <a:bodyPr vert="horz" wrap="square" lIns="92075" tIns="46038" rIns="92075" bIns="46038" anchor="t" anchorCtr="0"/>
          <a:lstStyle/>
          <a:p>
            <a:pPr eaLnBrk="1" hangingPunct="1">
              <a:lnSpc>
                <a:spcPct val="120000"/>
              </a:lnSpc>
            </a:pPr>
            <a:r>
              <a:rPr sz="2400" dirty="0">
                <a:solidFill>
                  <a:srgbClr val="660066"/>
                </a:solidFill>
              </a:rPr>
              <a:t>Supervised learning (classification)</a:t>
            </a:r>
          </a:p>
          <a:p>
            <a:pPr lvl="1" eaLnBrk="1" hangingPunct="1">
              <a:lnSpc>
                <a:spcPct val="120000"/>
              </a:lnSpc>
            </a:pPr>
            <a:r>
              <a:rPr sz="2400" dirty="0"/>
              <a:t>Supervision: The training data are </a:t>
            </a:r>
            <a:r>
              <a:rPr sz="2400" dirty="0">
                <a:solidFill>
                  <a:srgbClr val="660066"/>
                </a:solidFill>
              </a:rPr>
              <a:t>accompanied by labels</a:t>
            </a:r>
            <a:r>
              <a:rPr sz="2400" dirty="0"/>
              <a:t> indicating the class of the observations</a:t>
            </a:r>
          </a:p>
          <a:p>
            <a:pPr lvl="1" eaLnBrk="1" hangingPunct="1">
              <a:lnSpc>
                <a:spcPct val="120000"/>
              </a:lnSpc>
            </a:pPr>
            <a:r>
              <a:rPr sz="2400" dirty="0"/>
              <a:t>New data is classified based on the training set</a:t>
            </a:r>
          </a:p>
          <a:p>
            <a:pPr lvl="1" eaLnBrk="1" hangingPunct="1">
              <a:lnSpc>
                <a:spcPct val="120000"/>
              </a:lnSpc>
            </a:pPr>
            <a:endParaRPr sz="2400" dirty="0"/>
          </a:p>
          <a:p>
            <a:pPr eaLnBrk="1" hangingPunct="1">
              <a:lnSpc>
                <a:spcPct val="120000"/>
              </a:lnSpc>
            </a:pPr>
            <a:r>
              <a:rPr sz="2400" dirty="0">
                <a:solidFill>
                  <a:srgbClr val="660066"/>
                </a:solidFill>
              </a:rPr>
              <a:t>Unsupervised learning (clustering)</a:t>
            </a:r>
          </a:p>
          <a:p>
            <a:pPr lvl="1" eaLnBrk="1" hangingPunct="1">
              <a:lnSpc>
                <a:spcPct val="120000"/>
              </a:lnSpc>
            </a:pPr>
            <a:r>
              <a:rPr sz="2400" dirty="0"/>
              <a:t>The class labels of training data is unknown</a:t>
            </a:r>
          </a:p>
          <a:p>
            <a:pPr lvl="1" eaLnBrk="1" hangingPunct="1">
              <a:lnSpc>
                <a:spcPct val="120000"/>
              </a:lnSpc>
            </a:pPr>
            <a:r>
              <a:rPr sz="2400" dirty="0">
                <a:solidFill>
                  <a:srgbClr val="660066"/>
                </a:solidFill>
              </a:rPr>
              <a:t>Given:</a:t>
            </a:r>
            <a:r>
              <a:rPr sz="2400" dirty="0"/>
              <a:t> a set of measurements, observations, etc.</a:t>
            </a:r>
          </a:p>
          <a:p>
            <a:pPr lvl="1" eaLnBrk="1" hangingPunct="1">
              <a:lnSpc>
                <a:spcPct val="120000"/>
              </a:lnSpc>
            </a:pPr>
            <a:r>
              <a:rPr sz="2400" dirty="0">
                <a:solidFill>
                  <a:srgbClr val="660066"/>
                </a:solidFill>
              </a:rPr>
              <a:t>Aim:</a:t>
            </a:r>
            <a:r>
              <a:rPr sz="2400" dirty="0"/>
              <a:t> Establish the existence of classes or clusters in the data</a:t>
            </a: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9</a:t>
            </a:fld>
            <a:endParaRPr lang="en-US" sz="1200" dirty="0">
              <a:latin typeface="Tahoma" panose="020B0604030504040204" pitchFamily="34" charset="0"/>
              <a:ea typeface="+mn-ea"/>
              <a:cs typeface="+mn-cs"/>
            </a:endParaRPr>
          </a:p>
        </p:txBody>
      </p:sp>
      <p:sp>
        <p:nvSpPr>
          <p:cNvPr id="26627"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26628"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lnSpc>
                <a:spcPct val="90000"/>
              </a:lnSpc>
            </a:pPr>
            <a:r>
              <a:rPr sz="2400" dirty="0"/>
              <a:t>What is classification? What is prediction?</a:t>
            </a:r>
          </a:p>
          <a:p>
            <a:pPr eaLnBrk="1" hangingPunct="1">
              <a:lnSpc>
                <a:spcPct val="90000"/>
              </a:lnSpc>
            </a:pPr>
            <a:r>
              <a:rPr sz="2400" dirty="0">
                <a:solidFill>
                  <a:srgbClr val="660066"/>
                </a:solidFill>
              </a:rPr>
              <a:t>Issues regarding classification and prediction</a:t>
            </a:r>
          </a:p>
          <a:p>
            <a:pPr eaLnBrk="1" hangingPunct="1">
              <a:lnSpc>
                <a:spcPct val="90000"/>
              </a:lnSpc>
            </a:pPr>
            <a:r>
              <a:rPr sz="2400" dirty="0"/>
              <a:t>Classification by decision tree induction</a:t>
            </a:r>
          </a:p>
          <a:p>
            <a:pPr eaLnBrk="1" hangingPunct="1">
              <a:lnSpc>
                <a:spcPct val="90000"/>
              </a:lnSpc>
            </a:pPr>
            <a:r>
              <a:rPr sz="2400" dirty="0"/>
              <a:t>Bayesian Classification</a:t>
            </a:r>
          </a:p>
          <a:p>
            <a:pPr eaLnBrk="1" hangingPunct="1">
              <a:lnSpc>
                <a:spcPct val="90000"/>
              </a:lnSpc>
            </a:pPr>
            <a:r>
              <a:rPr sz="2400" dirty="0"/>
              <a:t>Classification by Neural Networks</a:t>
            </a:r>
          </a:p>
          <a:p>
            <a:pPr eaLnBrk="1" hangingPunct="1">
              <a:lnSpc>
                <a:spcPct val="90000"/>
              </a:lnSpc>
            </a:pPr>
            <a:r>
              <a:rPr sz="2400" dirty="0"/>
              <a:t>Classification by Support Vector Machines (SVM)</a:t>
            </a:r>
          </a:p>
          <a:p>
            <a:pPr eaLnBrk="1" hangingPunct="1">
              <a:lnSpc>
                <a:spcPct val="90000"/>
              </a:lnSpc>
            </a:pPr>
            <a:r>
              <a:rPr sz="2400" dirty="0"/>
              <a:t>Classification based on concepts from association rule mining</a:t>
            </a:r>
          </a:p>
          <a:p>
            <a:pPr eaLnBrk="1" hangingPunct="1">
              <a:lnSpc>
                <a:spcPct val="90000"/>
              </a:lnSpc>
            </a:pPr>
            <a:r>
              <a:rPr sz="2400" dirty="0"/>
              <a:t>Other Classification Methods</a:t>
            </a:r>
          </a:p>
          <a:p>
            <a:pPr eaLnBrk="1" hangingPunct="1">
              <a:lnSpc>
                <a:spcPct val="90000"/>
              </a:lnSpc>
            </a:pPr>
            <a:r>
              <a:rPr sz="2400" dirty="0"/>
              <a:t>Prediction</a:t>
            </a:r>
          </a:p>
          <a:p>
            <a:pPr eaLnBrk="1" hangingPunct="1">
              <a:lnSpc>
                <a:spcPct val="90000"/>
              </a:lnSpc>
            </a:pPr>
            <a:r>
              <a:rPr sz="2400" dirty="0"/>
              <a:t>Classification accuracy</a:t>
            </a:r>
          </a:p>
          <a:p>
            <a:pPr eaLnBrk="1" hangingPunct="1">
              <a:lnSpc>
                <a:spcPct val="90000"/>
              </a:lnSpc>
            </a:pPr>
            <a:r>
              <a:rPr sz="2400" dirty="0"/>
              <a:t>Summary</a:t>
            </a: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10</a:t>
            </a:fld>
            <a:endParaRPr lang="en-US" sz="1200" dirty="0">
              <a:latin typeface="Tahoma" panose="020B0604030504040204" pitchFamily="34" charset="0"/>
              <a:ea typeface="+mn-ea"/>
              <a:cs typeface="+mn-cs"/>
            </a:endParaRPr>
          </a:p>
        </p:txBody>
      </p:sp>
      <p:sp>
        <p:nvSpPr>
          <p:cNvPr id="27651" name="Rectangle 2"/>
          <p:cNvSpPr>
            <a:spLocks noGrp="1"/>
          </p:cNvSpPr>
          <p:nvPr>
            <p:ph type="title"/>
          </p:nvPr>
        </p:nvSpPr>
        <p:spPr>
          <a:xfrm>
            <a:off x="533400" y="228600"/>
            <a:ext cx="8458200" cy="762000"/>
          </a:xfrm>
        </p:spPr>
        <p:txBody>
          <a:bodyPr vert="horz" wrap="square" lIns="92075" tIns="46038" rIns="92075" bIns="46038" anchor="b" anchorCtr="0"/>
          <a:lstStyle/>
          <a:p>
            <a:pPr eaLnBrk="1" hangingPunct="1"/>
            <a:r>
              <a:rPr sz="3200" dirty="0">
                <a:solidFill>
                  <a:srgbClr val="170981"/>
                </a:solidFill>
              </a:rPr>
              <a:t>Issues Regarding Classification and Prediction: </a:t>
            </a:r>
            <a:r>
              <a:rPr sz="3200" dirty="0">
                <a:solidFill>
                  <a:srgbClr val="993300"/>
                </a:solidFill>
              </a:rPr>
              <a:t>1. Data Preparation</a:t>
            </a:r>
          </a:p>
        </p:txBody>
      </p:sp>
      <p:sp>
        <p:nvSpPr>
          <p:cNvPr id="27652" name="Rectangle 3"/>
          <p:cNvSpPr>
            <a:spLocks noGrp="1"/>
          </p:cNvSpPr>
          <p:nvPr>
            <p:ph idx="1"/>
          </p:nvPr>
        </p:nvSpPr>
        <p:spPr>
          <a:xfrm>
            <a:off x="609600" y="1219200"/>
            <a:ext cx="8229600" cy="5638800"/>
          </a:xfrm>
        </p:spPr>
        <p:txBody>
          <a:bodyPr vert="horz" wrap="square" lIns="92075" tIns="46038" rIns="92075" bIns="46038" anchor="t" anchorCtr="0"/>
          <a:lstStyle/>
          <a:p>
            <a:pPr marL="533400" indent="-533400" eaLnBrk="1" hangingPunct="1">
              <a:lnSpc>
                <a:spcPct val="110000"/>
              </a:lnSpc>
              <a:buClr>
                <a:schemeClr val="tx1"/>
              </a:buClr>
              <a:buSzTx/>
              <a:buNone/>
            </a:pPr>
            <a:r>
              <a:rPr sz="1800" dirty="0"/>
              <a:t>Issues are :</a:t>
            </a:r>
          </a:p>
          <a:p>
            <a:pPr marL="533400" indent="-533400" eaLnBrk="1" hangingPunct="1">
              <a:lnSpc>
                <a:spcPct val="110000"/>
              </a:lnSpc>
              <a:buClr>
                <a:schemeClr val="tx1"/>
              </a:buClr>
              <a:buSzTx/>
              <a:buNone/>
            </a:pPr>
            <a:r>
              <a:rPr sz="1800" dirty="0">
                <a:solidFill>
                  <a:srgbClr val="170981"/>
                </a:solidFill>
              </a:rPr>
              <a:t>1. Data Preparation: </a:t>
            </a:r>
            <a:r>
              <a:rPr sz="1800" dirty="0"/>
              <a:t>helps improve efficiency, accuracy and scalability of classification and prediction</a:t>
            </a:r>
          </a:p>
          <a:p>
            <a:pPr marL="533400" indent="-533400" eaLnBrk="1" hangingPunct="1">
              <a:lnSpc>
                <a:spcPct val="110000"/>
              </a:lnSpc>
              <a:buClr>
                <a:schemeClr val="tx1"/>
              </a:buClr>
              <a:buSzTx/>
              <a:buNone/>
            </a:pPr>
            <a:r>
              <a:rPr sz="1800" dirty="0">
                <a:solidFill>
                  <a:srgbClr val="170981"/>
                </a:solidFill>
              </a:rPr>
              <a:t>2. Comparing Classification Methods</a:t>
            </a:r>
          </a:p>
          <a:p>
            <a:pPr marL="533400" indent="-533400" eaLnBrk="1" hangingPunct="1">
              <a:lnSpc>
                <a:spcPct val="110000"/>
              </a:lnSpc>
              <a:buClr>
                <a:schemeClr val="tx1"/>
              </a:buClr>
              <a:buSzTx/>
              <a:buFont typeface="Wingdings" panose="05000000000000000000" pitchFamily="2" charset="2"/>
              <a:buAutoNum type="arabicPeriod"/>
            </a:pPr>
            <a:endParaRPr sz="1800" dirty="0">
              <a:solidFill>
                <a:srgbClr val="170981"/>
              </a:solidFill>
            </a:endParaRPr>
          </a:p>
          <a:p>
            <a:pPr marL="533400" indent="-533400" eaLnBrk="1" hangingPunct="1">
              <a:lnSpc>
                <a:spcPct val="110000"/>
              </a:lnSpc>
              <a:buClr>
                <a:schemeClr val="tx1"/>
              </a:buClr>
              <a:buSzTx/>
              <a:buFont typeface="Wingdings" panose="05000000000000000000" pitchFamily="2" charset="2"/>
              <a:buAutoNum type="alphaUcPeriod"/>
            </a:pPr>
            <a:r>
              <a:rPr sz="1800" dirty="0">
                <a:solidFill>
                  <a:srgbClr val="993300"/>
                </a:solidFill>
              </a:rPr>
              <a:t>Data cleaning</a:t>
            </a:r>
          </a:p>
          <a:p>
            <a:pPr marL="990600" lvl="1" indent="-533400" eaLnBrk="1" hangingPunct="1">
              <a:lnSpc>
                <a:spcPct val="110000"/>
              </a:lnSpc>
              <a:buClr>
                <a:schemeClr val="tx1"/>
              </a:buClr>
              <a:buSzTx/>
            </a:pPr>
            <a:r>
              <a:rPr sz="1800" dirty="0"/>
              <a:t>Preprocess data in order to reduce noise and handle missing values</a:t>
            </a:r>
          </a:p>
          <a:p>
            <a:pPr marL="990600" lvl="1" indent="-533400" eaLnBrk="1" hangingPunct="1">
              <a:lnSpc>
                <a:spcPct val="110000"/>
              </a:lnSpc>
              <a:buClr>
                <a:schemeClr val="tx1"/>
              </a:buClr>
              <a:buSzTx/>
              <a:buFont typeface="Wingdings" panose="05000000000000000000" pitchFamily="2" charset="2"/>
              <a:buAutoNum type="alphaUcPeriod"/>
            </a:pPr>
            <a:endParaRPr sz="1800" dirty="0">
              <a:solidFill>
                <a:srgbClr val="993300"/>
              </a:solidFill>
            </a:endParaRPr>
          </a:p>
          <a:p>
            <a:pPr marL="533400" indent="-533400" eaLnBrk="1" hangingPunct="1">
              <a:lnSpc>
                <a:spcPct val="110000"/>
              </a:lnSpc>
              <a:buClr>
                <a:schemeClr val="tx1"/>
              </a:buClr>
              <a:buSzTx/>
              <a:buFont typeface="Wingdings" panose="05000000000000000000" pitchFamily="2" charset="2"/>
              <a:buAutoNum type="alphaUcPeriod"/>
            </a:pPr>
            <a:r>
              <a:rPr sz="1800" dirty="0">
                <a:solidFill>
                  <a:srgbClr val="993300"/>
                </a:solidFill>
              </a:rPr>
              <a:t>Relevance analysis </a:t>
            </a:r>
            <a:r>
              <a:rPr sz="1800" dirty="0">
                <a:solidFill>
                  <a:srgbClr val="660066"/>
                </a:solidFill>
              </a:rPr>
              <a:t>(feature selection)</a:t>
            </a:r>
          </a:p>
          <a:p>
            <a:pPr marL="990600" lvl="1" indent="-533400" eaLnBrk="1" hangingPunct="1">
              <a:lnSpc>
                <a:spcPct val="110000"/>
              </a:lnSpc>
              <a:buClr>
                <a:schemeClr val="tx1"/>
              </a:buClr>
              <a:buSzTx/>
            </a:pPr>
            <a:r>
              <a:rPr sz="1800" dirty="0"/>
              <a:t>Remove the irrelevant or redundant attributes. This avoids slow-down, misleading of the learning step.</a:t>
            </a:r>
          </a:p>
          <a:p>
            <a:pPr marL="990600" lvl="1" indent="-533400" eaLnBrk="1" hangingPunct="1">
              <a:lnSpc>
                <a:spcPct val="110000"/>
              </a:lnSpc>
              <a:buClr>
                <a:schemeClr val="tx1"/>
              </a:buClr>
              <a:buSzTx/>
              <a:buFont typeface="Wingdings" panose="05000000000000000000" pitchFamily="2" charset="2"/>
              <a:buAutoNum type="alphaUcPeriod"/>
            </a:pPr>
            <a:endParaRPr sz="1800" dirty="0">
              <a:solidFill>
                <a:srgbClr val="993300"/>
              </a:solidFill>
            </a:endParaRPr>
          </a:p>
          <a:p>
            <a:pPr marL="533400" indent="-533400" eaLnBrk="1" hangingPunct="1">
              <a:lnSpc>
                <a:spcPct val="110000"/>
              </a:lnSpc>
              <a:buClr>
                <a:schemeClr val="tx1"/>
              </a:buClr>
              <a:buSzTx/>
              <a:buFont typeface="Wingdings" panose="05000000000000000000" pitchFamily="2" charset="2"/>
              <a:buAutoNum type="alphaUcPeriod"/>
            </a:pPr>
            <a:r>
              <a:rPr sz="1800" dirty="0">
                <a:solidFill>
                  <a:srgbClr val="993300"/>
                </a:solidFill>
              </a:rPr>
              <a:t>Data transformation</a:t>
            </a:r>
          </a:p>
          <a:p>
            <a:pPr marL="990600" lvl="1" indent="-533400" eaLnBrk="1" hangingPunct="1">
              <a:lnSpc>
                <a:spcPct val="110000"/>
              </a:lnSpc>
              <a:buClr>
                <a:schemeClr val="tx1"/>
              </a:buClr>
              <a:buSzTx/>
            </a:pPr>
            <a:r>
              <a:rPr sz="1800" dirty="0"/>
              <a:t>Generalize and/or normalize data. Concept hierarchies can be used.</a:t>
            </a: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11</a:t>
            </a:fld>
            <a:endParaRPr lang="en-US" sz="1200" dirty="0">
              <a:latin typeface="Tahoma" panose="020B0604030504040204" pitchFamily="34" charset="0"/>
              <a:ea typeface="+mn-ea"/>
              <a:cs typeface="+mn-cs"/>
            </a:endParaRPr>
          </a:p>
        </p:txBody>
      </p:sp>
      <p:sp>
        <p:nvSpPr>
          <p:cNvPr id="29699" name="Rectangle 2"/>
          <p:cNvSpPr>
            <a:spLocks noGrp="1"/>
          </p:cNvSpPr>
          <p:nvPr>
            <p:ph type="title"/>
          </p:nvPr>
        </p:nvSpPr>
        <p:spPr>
          <a:xfrm>
            <a:off x="533400" y="152400"/>
            <a:ext cx="7772400" cy="838200"/>
          </a:xfrm>
        </p:spPr>
        <p:txBody>
          <a:bodyPr vert="horz" wrap="square" lIns="92075" tIns="46038" rIns="92075" bIns="46038" anchor="b" anchorCtr="0"/>
          <a:lstStyle/>
          <a:p>
            <a:pPr eaLnBrk="1" hangingPunct="1"/>
            <a:r>
              <a:rPr sz="2800" dirty="0">
                <a:solidFill>
                  <a:srgbClr val="170981"/>
                </a:solidFill>
              </a:rPr>
              <a:t>Issues regarding classification and prediction: </a:t>
            </a:r>
            <a:br>
              <a:rPr sz="2800" dirty="0">
                <a:solidFill>
                  <a:srgbClr val="170981"/>
                </a:solidFill>
              </a:rPr>
            </a:br>
            <a:r>
              <a:rPr sz="2800" dirty="0">
                <a:solidFill>
                  <a:srgbClr val="993300"/>
                </a:solidFill>
              </a:rPr>
              <a:t>2. Comparing Classification Methods</a:t>
            </a:r>
          </a:p>
        </p:txBody>
      </p:sp>
      <p:sp>
        <p:nvSpPr>
          <p:cNvPr id="29700" name="Rectangle 3"/>
          <p:cNvSpPr>
            <a:spLocks noGrp="1"/>
          </p:cNvSpPr>
          <p:nvPr>
            <p:ph idx="1"/>
          </p:nvPr>
        </p:nvSpPr>
        <p:spPr>
          <a:xfrm>
            <a:off x="304800" y="1219200"/>
            <a:ext cx="8378825" cy="5867400"/>
          </a:xfrm>
        </p:spPr>
        <p:txBody>
          <a:bodyPr vert="horz" wrap="square" lIns="92075" tIns="46038" rIns="92075" bIns="46038" anchor="t" anchorCtr="0"/>
          <a:lstStyle/>
          <a:p>
            <a:pPr marL="533400" indent="-533400" eaLnBrk="1" hangingPunct="1">
              <a:lnSpc>
                <a:spcPct val="80000"/>
              </a:lnSpc>
              <a:buClr>
                <a:srgbClr val="660066"/>
              </a:buClr>
              <a:buSzTx/>
              <a:buFont typeface="Wingdings" panose="05000000000000000000" pitchFamily="2" charset="2"/>
              <a:buAutoNum type="arabicPeriod"/>
            </a:pPr>
            <a:r>
              <a:rPr sz="2000" dirty="0">
                <a:solidFill>
                  <a:srgbClr val="170981"/>
                </a:solidFill>
              </a:rPr>
              <a:t>Predictive accuracy : </a:t>
            </a:r>
          </a:p>
          <a:p>
            <a:pPr marL="990600" lvl="1" indent="-533400" eaLnBrk="1" hangingPunct="1">
              <a:lnSpc>
                <a:spcPct val="80000"/>
              </a:lnSpc>
              <a:buClr>
                <a:srgbClr val="660066"/>
              </a:buClr>
              <a:buSzTx/>
            </a:pPr>
            <a:r>
              <a:rPr sz="2000" dirty="0"/>
              <a:t>ability of the model to correctly predict the class label of new/unseen data.</a:t>
            </a:r>
          </a:p>
          <a:p>
            <a:pPr marL="533400" indent="-533400" eaLnBrk="1" hangingPunct="1">
              <a:lnSpc>
                <a:spcPct val="80000"/>
              </a:lnSpc>
              <a:buClr>
                <a:srgbClr val="660066"/>
              </a:buClr>
              <a:buSzTx/>
              <a:buFont typeface="Wingdings" panose="05000000000000000000" pitchFamily="2" charset="2"/>
              <a:buAutoNum type="arabicPeriod"/>
            </a:pPr>
            <a:r>
              <a:rPr sz="2000" dirty="0">
                <a:solidFill>
                  <a:srgbClr val="170981"/>
                </a:solidFill>
              </a:rPr>
              <a:t>Speed </a:t>
            </a:r>
          </a:p>
          <a:p>
            <a:pPr marL="990600" lvl="1" indent="-533400" eaLnBrk="1" hangingPunct="1">
              <a:lnSpc>
                <a:spcPct val="80000"/>
              </a:lnSpc>
              <a:buClr>
                <a:srgbClr val="660066"/>
              </a:buClr>
              <a:buSzTx/>
            </a:pPr>
            <a:r>
              <a:rPr sz="2000" dirty="0"/>
              <a:t>time to construct the model</a:t>
            </a:r>
          </a:p>
          <a:p>
            <a:pPr marL="990600" lvl="1" indent="-533400" eaLnBrk="1" hangingPunct="1">
              <a:lnSpc>
                <a:spcPct val="80000"/>
              </a:lnSpc>
              <a:buClr>
                <a:srgbClr val="660066"/>
              </a:buClr>
              <a:buSzTx/>
            </a:pPr>
            <a:r>
              <a:rPr sz="2000" dirty="0"/>
              <a:t>time to use the model</a:t>
            </a:r>
          </a:p>
          <a:p>
            <a:pPr marL="533400" indent="-533400" eaLnBrk="1" hangingPunct="1">
              <a:lnSpc>
                <a:spcPct val="80000"/>
              </a:lnSpc>
              <a:buClr>
                <a:srgbClr val="660066"/>
              </a:buClr>
              <a:buSzTx/>
              <a:buFont typeface="Wingdings" panose="05000000000000000000" pitchFamily="2" charset="2"/>
              <a:buAutoNum type="arabicPeriod"/>
            </a:pPr>
            <a:r>
              <a:rPr sz="2000" dirty="0">
                <a:solidFill>
                  <a:srgbClr val="170981"/>
                </a:solidFill>
              </a:rPr>
              <a:t>Robustness</a:t>
            </a:r>
          </a:p>
          <a:p>
            <a:pPr marL="990600" lvl="1" indent="-533400" eaLnBrk="1" hangingPunct="1">
              <a:lnSpc>
                <a:spcPct val="80000"/>
              </a:lnSpc>
              <a:buClr>
                <a:srgbClr val="660066"/>
              </a:buClr>
              <a:buSzTx/>
            </a:pPr>
            <a:r>
              <a:rPr sz="2000" dirty="0"/>
              <a:t>handling noise and missing values</a:t>
            </a:r>
          </a:p>
          <a:p>
            <a:pPr marL="533400" indent="-533400" eaLnBrk="1" hangingPunct="1">
              <a:lnSpc>
                <a:spcPct val="80000"/>
              </a:lnSpc>
              <a:buClr>
                <a:srgbClr val="660066"/>
              </a:buClr>
              <a:buSzTx/>
              <a:buFont typeface="Wingdings" panose="05000000000000000000" pitchFamily="2" charset="2"/>
              <a:buAutoNum type="arabicPeriod"/>
            </a:pPr>
            <a:r>
              <a:rPr sz="2000" dirty="0">
                <a:solidFill>
                  <a:srgbClr val="170981"/>
                </a:solidFill>
              </a:rPr>
              <a:t>Scalability</a:t>
            </a:r>
          </a:p>
          <a:p>
            <a:pPr marL="990600" lvl="1" indent="-533400" eaLnBrk="1" hangingPunct="1">
              <a:lnSpc>
                <a:spcPct val="80000"/>
              </a:lnSpc>
              <a:buClr>
                <a:srgbClr val="660066"/>
              </a:buClr>
              <a:buSzTx/>
            </a:pPr>
            <a:r>
              <a:rPr sz="2000" dirty="0"/>
              <a:t>efficiency of the model for large databases </a:t>
            </a:r>
          </a:p>
          <a:p>
            <a:pPr marL="533400" indent="-533400" eaLnBrk="1" hangingPunct="1">
              <a:lnSpc>
                <a:spcPct val="80000"/>
              </a:lnSpc>
              <a:buClr>
                <a:srgbClr val="660066"/>
              </a:buClr>
              <a:buSzTx/>
              <a:buFont typeface="Wingdings" panose="05000000000000000000" pitchFamily="2" charset="2"/>
              <a:buAutoNum type="arabicPeriod"/>
            </a:pPr>
            <a:r>
              <a:rPr sz="2000" dirty="0">
                <a:solidFill>
                  <a:srgbClr val="170981"/>
                </a:solidFill>
              </a:rPr>
              <a:t>Interpretability: </a:t>
            </a:r>
          </a:p>
          <a:p>
            <a:pPr marL="990600" lvl="1" indent="-533400" eaLnBrk="1" hangingPunct="1">
              <a:lnSpc>
                <a:spcPct val="80000"/>
              </a:lnSpc>
              <a:buClr>
                <a:srgbClr val="660066"/>
              </a:buClr>
              <a:buSzTx/>
            </a:pPr>
            <a:r>
              <a:rPr sz="2000" dirty="0"/>
              <a:t>understanding the insight provided by the model</a:t>
            </a:r>
          </a:p>
          <a:p>
            <a:pPr marL="533400" indent="-533400" eaLnBrk="1" hangingPunct="1">
              <a:lnSpc>
                <a:spcPct val="80000"/>
              </a:lnSpc>
              <a:buClr>
                <a:srgbClr val="660066"/>
              </a:buClr>
              <a:buSzTx/>
              <a:buFont typeface="Wingdings" panose="05000000000000000000" pitchFamily="2" charset="2"/>
              <a:buAutoNum type="arabicPeriod"/>
            </a:pPr>
            <a:r>
              <a:rPr sz="2000" dirty="0">
                <a:solidFill>
                  <a:srgbClr val="170981"/>
                </a:solidFill>
              </a:rPr>
              <a:t>Goodness of rules</a:t>
            </a:r>
          </a:p>
          <a:p>
            <a:pPr marL="990600" lvl="1" indent="-533400" eaLnBrk="1" hangingPunct="1">
              <a:lnSpc>
                <a:spcPct val="80000"/>
              </a:lnSpc>
              <a:buClr>
                <a:srgbClr val="660066"/>
              </a:buClr>
              <a:buSzTx/>
            </a:pPr>
            <a:r>
              <a:rPr sz="2000" dirty="0"/>
              <a:t>decision tree size</a:t>
            </a:r>
          </a:p>
          <a:p>
            <a:pPr marL="990600" lvl="1" indent="-533400" eaLnBrk="1" hangingPunct="1">
              <a:lnSpc>
                <a:spcPct val="80000"/>
              </a:lnSpc>
              <a:buClr>
                <a:srgbClr val="660066"/>
              </a:buClr>
              <a:buSzTx/>
            </a:pPr>
            <a:r>
              <a:rPr sz="2000" dirty="0"/>
              <a:t>compactness of classification rules</a:t>
            </a: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a:t>
            </a:fld>
            <a:endParaRPr lang="en-US" sz="1200" dirty="0">
              <a:latin typeface="Tahoma" panose="020B0604030504040204" pitchFamily="34" charset="0"/>
              <a:ea typeface="+mn-ea"/>
              <a:cs typeface="+mn-cs"/>
            </a:endParaRPr>
          </a:p>
        </p:txBody>
      </p:sp>
      <p:sp>
        <p:nvSpPr>
          <p:cNvPr id="31747"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31748"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lnSpc>
                <a:spcPct val="90000"/>
              </a:lnSpc>
            </a:pPr>
            <a:r>
              <a:rPr sz="2400" dirty="0"/>
              <a:t>What is classification? What is prediction?</a:t>
            </a:r>
          </a:p>
          <a:p>
            <a:pPr eaLnBrk="1" hangingPunct="1">
              <a:lnSpc>
                <a:spcPct val="90000"/>
              </a:lnSpc>
            </a:pPr>
            <a:r>
              <a:rPr sz="2400" dirty="0"/>
              <a:t>Issues regarding classification and prediction</a:t>
            </a:r>
          </a:p>
          <a:p>
            <a:pPr eaLnBrk="1" hangingPunct="1">
              <a:lnSpc>
                <a:spcPct val="90000"/>
              </a:lnSpc>
            </a:pPr>
            <a:r>
              <a:rPr sz="2400" dirty="0">
                <a:solidFill>
                  <a:srgbClr val="660066"/>
                </a:solidFill>
              </a:rPr>
              <a:t>Classification by decision tree induction</a:t>
            </a:r>
          </a:p>
          <a:p>
            <a:pPr eaLnBrk="1" hangingPunct="1">
              <a:lnSpc>
                <a:spcPct val="90000"/>
              </a:lnSpc>
            </a:pPr>
            <a:r>
              <a:rPr sz="2400" dirty="0"/>
              <a:t>Bayesian Classification</a:t>
            </a:r>
          </a:p>
          <a:p>
            <a:pPr eaLnBrk="1" hangingPunct="1">
              <a:lnSpc>
                <a:spcPct val="90000"/>
              </a:lnSpc>
            </a:pPr>
            <a:r>
              <a:rPr sz="2400" dirty="0"/>
              <a:t>Classification by Neural Networks</a:t>
            </a:r>
          </a:p>
          <a:p>
            <a:pPr eaLnBrk="1" hangingPunct="1">
              <a:lnSpc>
                <a:spcPct val="90000"/>
              </a:lnSpc>
            </a:pPr>
            <a:r>
              <a:rPr sz="2400" dirty="0"/>
              <a:t>Classification by Support Vector Machines (SVM)</a:t>
            </a:r>
          </a:p>
          <a:p>
            <a:pPr eaLnBrk="1" hangingPunct="1">
              <a:lnSpc>
                <a:spcPct val="90000"/>
              </a:lnSpc>
            </a:pPr>
            <a:r>
              <a:rPr sz="2400" dirty="0"/>
              <a:t>Classification based on concepts from association rule mining</a:t>
            </a:r>
          </a:p>
          <a:p>
            <a:pPr eaLnBrk="1" hangingPunct="1">
              <a:lnSpc>
                <a:spcPct val="90000"/>
              </a:lnSpc>
            </a:pPr>
            <a:r>
              <a:rPr sz="2400" dirty="0"/>
              <a:t>Other Classification Methods</a:t>
            </a:r>
          </a:p>
          <a:p>
            <a:pPr eaLnBrk="1" hangingPunct="1">
              <a:lnSpc>
                <a:spcPct val="90000"/>
              </a:lnSpc>
            </a:pPr>
            <a:r>
              <a:rPr sz="2400" dirty="0"/>
              <a:t>Prediction</a:t>
            </a:r>
          </a:p>
          <a:p>
            <a:pPr eaLnBrk="1" hangingPunct="1">
              <a:lnSpc>
                <a:spcPct val="90000"/>
              </a:lnSpc>
            </a:pPr>
            <a:r>
              <a:rPr sz="2400" dirty="0"/>
              <a:t>Classification accuracy</a:t>
            </a:r>
          </a:p>
          <a:p>
            <a:pPr eaLnBrk="1" hangingPunct="1">
              <a:lnSpc>
                <a:spcPct val="90000"/>
              </a:lnSpc>
            </a:pPr>
            <a:r>
              <a:rPr sz="2400" dirty="0"/>
              <a:t>Summary</a:t>
            </a: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a:t>
            </a:fld>
            <a:endParaRPr lang="en-US" sz="1200" dirty="0">
              <a:latin typeface="Tahoma" panose="020B0604030504040204" pitchFamily="34" charset="0"/>
              <a:ea typeface="+mn-ea"/>
              <a:cs typeface="+mn-cs"/>
            </a:endParaRPr>
          </a:p>
        </p:txBody>
      </p:sp>
      <p:sp>
        <p:nvSpPr>
          <p:cNvPr id="32771" name="Rectangle 1026"/>
          <p:cNvSpPr>
            <a:spLocks noGrp="1"/>
          </p:cNvSpPr>
          <p:nvPr>
            <p:ph type="title"/>
          </p:nvPr>
        </p:nvSpPr>
        <p:spPr>
          <a:xfrm>
            <a:off x="984250" y="0"/>
            <a:ext cx="5095875" cy="838200"/>
          </a:xfrm>
        </p:spPr>
        <p:txBody>
          <a:bodyPr vert="horz" wrap="square" lIns="91440" tIns="45720" rIns="91440" bIns="45720" anchor="b" anchorCtr="0"/>
          <a:lstStyle/>
          <a:p>
            <a:pPr eaLnBrk="1" hangingPunct="1"/>
            <a:r>
              <a:rPr dirty="0"/>
              <a:t>Training Dataset</a:t>
            </a:r>
          </a:p>
        </p:txBody>
      </p:sp>
      <p:graphicFrame>
        <p:nvGraphicFramePr>
          <p:cNvPr id="32772" name="Object 1027"/>
          <p:cNvGraphicFramePr>
            <a:graphicFrameLocks/>
          </p:cNvGraphicFramePr>
          <p:nvPr>
            <p:ph idx="1"/>
          </p:nvPr>
        </p:nvGraphicFramePr>
        <p:xfrm>
          <a:off x="2133600" y="1228725"/>
          <a:ext cx="6629400" cy="5086350"/>
        </p:xfrm>
        <a:graphic>
          <a:graphicData uri="http://schemas.openxmlformats.org/presentationml/2006/ole">
            <p:oleObj spid="_x0000_s26625" r:id="rId3" imgW="5778000" imgH="3948840" progId="Excel.Sheet.8">
              <p:embed/>
            </p:oleObj>
          </a:graphicData>
        </a:graphic>
      </p:graphicFrame>
      <p:sp>
        <p:nvSpPr>
          <p:cNvPr id="32773" name="Text Box 1028"/>
          <p:cNvSpPr txBox="1"/>
          <p:nvPr/>
        </p:nvSpPr>
        <p:spPr>
          <a:xfrm>
            <a:off x="228600" y="2133600"/>
            <a:ext cx="1905000" cy="265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
                <a:srgbClr val="170981"/>
              </a:buClr>
              <a:buSzPct val="75000"/>
              <a:buNone/>
            </a:pPr>
            <a:r>
              <a:rPr dirty="0">
                <a:latin typeface="Tahoma" panose="020B0604030504040204" pitchFamily="34" charset="0"/>
              </a:rPr>
              <a:t>This follows an  example from Quinlan’s ID3</a:t>
            </a: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Slide Number Placeholder 2"/>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14</a:t>
            </a:fld>
            <a:endParaRPr lang="en-US" sz="1200" dirty="0">
              <a:latin typeface="Tahoma" panose="020B0604030504040204" pitchFamily="34" charset="0"/>
              <a:ea typeface="+mn-ea"/>
              <a:cs typeface="+mn-cs"/>
            </a:endParaRPr>
          </a:p>
        </p:txBody>
      </p:sp>
      <p:sp>
        <p:nvSpPr>
          <p:cNvPr id="33795" name="Rectangle 2"/>
          <p:cNvSpPr>
            <a:spLocks noGrp="1"/>
          </p:cNvSpPr>
          <p:nvPr>
            <p:ph type="title"/>
          </p:nvPr>
        </p:nvSpPr>
        <p:spPr>
          <a:xfrm>
            <a:off x="1143000" y="381000"/>
            <a:ext cx="7793038" cy="609600"/>
          </a:xfrm>
        </p:spPr>
        <p:txBody>
          <a:bodyPr vert="horz" wrap="square" lIns="92075" tIns="46038" rIns="92075" bIns="46038" anchor="b" anchorCtr="0"/>
          <a:lstStyle/>
          <a:p>
            <a:pPr eaLnBrk="1" hangingPunct="1"/>
            <a:r>
              <a:rPr sz="2800" b="1" dirty="0">
                <a:solidFill>
                  <a:srgbClr val="170981"/>
                </a:solidFill>
                <a:latin typeface="Times New Roman" panose="02020603050405020304" pitchFamily="18" charset="0"/>
              </a:rPr>
              <a:t>Output: A Decision Tree for “</a:t>
            </a:r>
            <a:r>
              <a:rPr sz="2800" b="1" i="1" dirty="0">
                <a:solidFill>
                  <a:srgbClr val="170981"/>
                </a:solidFill>
                <a:latin typeface="Times New Roman" panose="02020603050405020304" pitchFamily="18" charset="0"/>
              </a:rPr>
              <a:t>buys_computer”</a:t>
            </a:r>
          </a:p>
        </p:txBody>
      </p:sp>
      <p:grpSp>
        <p:nvGrpSpPr>
          <p:cNvPr id="33796" name="Group 31"/>
          <p:cNvGrpSpPr/>
          <p:nvPr/>
        </p:nvGrpSpPr>
        <p:grpSpPr>
          <a:xfrm>
            <a:off x="1185863" y="1901825"/>
            <a:ext cx="5934075" cy="4189413"/>
            <a:chOff x="1185863" y="1901825"/>
            <a:chExt cx="5934075" cy="4189413"/>
          </a:xfrm>
        </p:grpSpPr>
        <p:sp>
          <p:nvSpPr>
            <p:cNvPr id="33797" name="Rectangle 3"/>
            <p:cNvSpPr/>
            <p:nvPr/>
          </p:nvSpPr>
          <p:spPr>
            <a:xfrm>
              <a:off x="3527425" y="1901825"/>
              <a:ext cx="754063" cy="469900"/>
            </a:xfrm>
            <a:prstGeom prst="rect">
              <a:avLst/>
            </a:prstGeom>
            <a:solidFill>
              <a:srgbClr val="00CCFF"/>
            </a:solidFill>
            <a:ln w="12700" cap="flat" cmpd="sng">
              <a:solidFill>
                <a:schemeClr val="tx1"/>
              </a:solidFill>
              <a:prstDash val="solid"/>
              <a:miter/>
              <a:headEnd type="none" w="med" len="med"/>
              <a:tailEnd type="none" w="med" len="med"/>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age?</a:t>
              </a:r>
            </a:p>
          </p:txBody>
        </p:sp>
        <p:sp>
          <p:nvSpPr>
            <p:cNvPr id="33798" name="Rectangle 4"/>
            <p:cNvSpPr/>
            <p:nvPr/>
          </p:nvSpPr>
          <p:spPr>
            <a:xfrm>
              <a:off x="3302000" y="2876550"/>
              <a:ext cx="1198563"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overcast</a:t>
              </a:r>
            </a:p>
          </p:txBody>
        </p:sp>
        <p:sp>
          <p:nvSpPr>
            <p:cNvPr id="33799" name="Rectangle 5"/>
            <p:cNvSpPr/>
            <p:nvPr/>
          </p:nvSpPr>
          <p:spPr>
            <a:xfrm>
              <a:off x="1689100" y="3790950"/>
              <a:ext cx="1211263" cy="469900"/>
            </a:xfrm>
            <a:prstGeom prst="rect">
              <a:avLst/>
            </a:prstGeom>
            <a:solidFill>
              <a:srgbClr val="00FFCC"/>
            </a:solidFill>
            <a:ln w="12700" cap="flat" cmpd="sng">
              <a:solidFill>
                <a:schemeClr val="tx1"/>
              </a:solidFill>
              <a:prstDash val="solid"/>
              <a:miter/>
              <a:headEnd type="none" w="med" len="med"/>
              <a:tailEnd type="none" w="med" len="med"/>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student?</a:t>
              </a:r>
            </a:p>
          </p:txBody>
        </p:sp>
        <p:sp>
          <p:nvSpPr>
            <p:cNvPr id="33800" name="Rectangle 6"/>
            <p:cNvSpPr/>
            <p:nvPr/>
          </p:nvSpPr>
          <p:spPr>
            <a:xfrm>
              <a:off x="5186363" y="3790950"/>
              <a:ext cx="1809750" cy="469900"/>
            </a:xfrm>
            <a:prstGeom prst="rect">
              <a:avLst/>
            </a:prstGeom>
            <a:solidFill>
              <a:srgbClr val="99CCFF"/>
            </a:solidFill>
            <a:ln w="12700" cap="flat" cmpd="sng">
              <a:solidFill>
                <a:schemeClr val="tx1"/>
              </a:solidFill>
              <a:prstDash val="solid"/>
              <a:miter/>
              <a:headEnd type="none" w="med" len="med"/>
              <a:tailEnd type="none" w="med" len="med"/>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credit rating?</a:t>
              </a:r>
            </a:p>
          </p:txBody>
        </p:sp>
        <p:sp>
          <p:nvSpPr>
            <p:cNvPr id="33801" name="Rectangle 7"/>
            <p:cNvSpPr/>
            <p:nvPr/>
          </p:nvSpPr>
          <p:spPr>
            <a:xfrm>
              <a:off x="1187450" y="4757738"/>
              <a:ext cx="488950"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no</a:t>
              </a:r>
            </a:p>
          </p:txBody>
        </p:sp>
        <p:sp>
          <p:nvSpPr>
            <p:cNvPr id="33802" name="Rectangle 8"/>
            <p:cNvSpPr/>
            <p:nvPr/>
          </p:nvSpPr>
          <p:spPr>
            <a:xfrm>
              <a:off x="2751138" y="4757738"/>
              <a:ext cx="590550"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yes</a:t>
              </a:r>
            </a:p>
          </p:txBody>
        </p:sp>
        <p:sp>
          <p:nvSpPr>
            <p:cNvPr id="33803" name="Rectangle 9"/>
            <p:cNvSpPr/>
            <p:nvPr/>
          </p:nvSpPr>
          <p:spPr>
            <a:xfrm>
              <a:off x="6513513" y="4772025"/>
              <a:ext cx="606425"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fair</a:t>
              </a:r>
            </a:p>
          </p:txBody>
        </p:sp>
        <p:sp>
          <p:nvSpPr>
            <p:cNvPr id="33804" name="Rectangle 10"/>
            <p:cNvSpPr/>
            <p:nvPr/>
          </p:nvSpPr>
          <p:spPr>
            <a:xfrm>
              <a:off x="4879975" y="4786313"/>
              <a:ext cx="1281113"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excellent</a:t>
              </a:r>
            </a:p>
          </p:txBody>
        </p:sp>
        <p:sp>
          <p:nvSpPr>
            <p:cNvPr id="33805" name="Line 11"/>
            <p:cNvSpPr/>
            <p:nvPr/>
          </p:nvSpPr>
          <p:spPr>
            <a:xfrm flipH="1">
              <a:off x="2308225" y="2393950"/>
              <a:ext cx="992188" cy="1323975"/>
            </a:xfrm>
            <a:prstGeom prst="line">
              <a:avLst/>
            </a:prstGeom>
            <a:ln w="12700" cap="flat" cmpd="sng">
              <a:solidFill>
                <a:srgbClr val="000000"/>
              </a:solidFill>
              <a:prstDash val="solid"/>
              <a:headEnd type="none" w="sm" len="sm"/>
              <a:tailEnd type="none" w="sm" len="sm"/>
            </a:ln>
          </p:spPr>
        </p:sp>
        <p:sp>
          <p:nvSpPr>
            <p:cNvPr id="33806" name="Line 12"/>
            <p:cNvSpPr/>
            <p:nvPr/>
          </p:nvSpPr>
          <p:spPr>
            <a:xfrm flipH="1">
              <a:off x="3900488" y="2439988"/>
              <a:ext cx="1587" cy="546100"/>
            </a:xfrm>
            <a:prstGeom prst="line">
              <a:avLst/>
            </a:prstGeom>
            <a:ln w="12700" cap="flat" cmpd="sng">
              <a:solidFill>
                <a:srgbClr val="000000"/>
              </a:solidFill>
              <a:prstDash val="solid"/>
              <a:headEnd type="none" w="sm" len="sm"/>
              <a:tailEnd type="none" w="sm" len="sm"/>
            </a:ln>
          </p:spPr>
        </p:sp>
        <p:sp>
          <p:nvSpPr>
            <p:cNvPr id="33807" name="Line 13"/>
            <p:cNvSpPr/>
            <p:nvPr/>
          </p:nvSpPr>
          <p:spPr>
            <a:xfrm>
              <a:off x="4565650" y="2470150"/>
              <a:ext cx="1489075" cy="1309688"/>
            </a:xfrm>
            <a:prstGeom prst="line">
              <a:avLst/>
            </a:prstGeom>
            <a:ln w="12700" cap="flat" cmpd="sng">
              <a:solidFill>
                <a:srgbClr val="000000"/>
              </a:solidFill>
              <a:prstDash val="solid"/>
              <a:headEnd type="none" w="sm" len="sm"/>
              <a:tailEnd type="none" w="sm" len="sm"/>
            </a:ln>
          </p:spPr>
        </p:sp>
        <p:sp>
          <p:nvSpPr>
            <p:cNvPr id="33808" name="Rectangle 14"/>
            <p:cNvSpPr/>
            <p:nvPr/>
          </p:nvSpPr>
          <p:spPr>
            <a:xfrm>
              <a:off x="2139950" y="2819400"/>
              <a:ext cx="847725" cy="469900"/>
            </a:xfrm>
            <a:prstGeom prst="rect">
              <a:avLst/>
            </a:prstGeom>
            <a:solidFill>
              <a:srgbClr val="FFFF00"/>
            </a:solidFill>
            <a:ln w="12700" cap="flat" cmpd="sng">
              <a:solidFill>
                <a:schemeClr val="bg1"/>
              </a:solidFill>
              <a:prstDash val="solid"/>
              <a:miter/>
              <a:headEnd type="none" w="med" len="med"/>
              <a:tailEnd type="none" w="med" len="med"/>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&lt;=30</a:t>
              </a:r>
              <a:endParaRPr sz="2400" dirty="0">
                <a:latin typeface="Times New Roman" panose="02020603050405020304" pitchFamily="18" charset="0"/>
              </a:endParaRPr>
            </a:p>
          </p:txBody>
        </p:sp>
        <p:sp>
          <p:nvSpPr>
            <p:cNvPr id="33809" name="Rectangle 15"/>
            <p:cNvSpPr/>
            <p:nvPr/>
          </p:nvSpPr>
          <p:spPr>
            <a:xfrm>
              <a:off x="5078413" y="2936875"/>
              <a:ext cx="661987" cy="457200"/>
            </a:xfrm>
            <a:prstGeom prst="rect">
              <a:avLst/>
            </a:prstGeom>
            <a:solidFill>
              <a:srgbClr val="FFFF00"/>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&gt;40</a:t>
              </a:r>
              <a:endParaRPr sz="2400" dirty="0">
                <a:latin typeface="Times New Roman" panose="02020603050405020304" pitchFamily="18" charset="0"/>
              </a:endParaRPr>
            </a:p>
          </p:txBody>
        </p:sp>
        <p:sp>
          <p:nvSpPr>
            <p:cNvPr id="33810" name="Line 16"/>
            <p:cNvSpPr/>
            <p:nvPr/>
          </p:nvSpPr>
          <p:spPr>
            <a:xfrm flipH="1">
              <a:off x="1479550" y="4344988"/>
              <a:ext cx="493713" cy="515937"/>
            </a:xfrm>
            <a:prstGeom prst="line">
              <a:avLst/>
            </a:prstGeom>
            <a:ln w="12700" cap="flat" cmpd="sng">
              <a:solidFill>
                <a:srgbClr val="000000"/>
              </a:solidFill>
              <a:prstDash val="solid"/>
              <a:headEnd type="none" w="sm" len="sm"/>
              <a:tailEnd type="none" w="sm" len="sm"/>
            </a:ln>
          </p:spPr>
        </p:sp>
        <p:sp>
          <p:nvSpPr>
            <p:cNvPr id="33811" name="Line 17"/>
            <p:cNvSpPr/>
            <p:nvPr/>
          </p:nvSpPr>
          <p:spPr>
            <a:xfrm>
              <a:off x="2608263" y="4391025"/>
              <a:ext cx="420687" cy="423863"/>
            </a:xfrm>
            <a:prstGeom prst="line">
              <a:avLst/>
            </a:prstGeom>
            <a:ln w="12700" cap="flat" cmpd="sng">
              <a:solidFill>
                <a:srgbClr val="000000"/>
              </a:solidFill>
              <a:prstDash val="solid"/>
              <a:headEnd type="none" w="sm" len="sm"/>
              <a:tailEnd type="none" w="sm" len="sm"/>
            </a:ln>
          </p:spPr>
        </p:sp>
        <p:sp>
          <p:nvSpPr>
            <p:cNvPr id="33812" name="Line 18"/>
            <p:cNvSpPr/>
            <p:nvPr/>
          </p:nvSpPr>
          <p:spPr>
            <a:xfrm flipH="1">
              <a:off x="5454650" y="4391025"/>
              <a:ext cx="344488" cy="455613"/>
            </a:xfrm>
            <a:prstGeom prst="line">
              <a:avLst/>
            </a:prstGeom>
            <a:ln w="12700" cap="flat" cmpd="sng">
              <a:solidFill>
                <a:srgbClr val="000000"/>
              </a:solidFill>
              <a:prstDash val="solid"/>
              <a:headEnd type="none" w="sm" len="sm"/>
              <a:tailEnd type="none" w="sm" len="sm"/>
            </a:ln>
          </p:spPr>
        </p:sp>
        <p:sp>
          <p:nvSpPr>
            <p:cNvPr id="33813" name="Line 19"/>
            <p:cNvSpPr/>
            <p:nvPr/>
          </p:nvSpPr>
          <p:spPr>
            <a:xfrm>
              <a:off x="6434138" y="4405313"/>
              <a:ext cx="328612" cy="395287"/>
            </a:xfrm>
            <a:prstGeom prst="line">
              <a:avLst/>
            </a:prstGeom>
            <a:ln w="12700" cap="flat" cmpd="sng">
              <a:solidFill>
                <a:srgbClr val="000000"/>
              </a:solidFill>
              <a:prstDash val="solid"/>
              <a:headEnd type="none" w="sm" len="sm"/>
              <a:tailEnd type="none" w="sm" len="sm"/>
            </a:ln>
          </p:spPr>
        </p:sp>
        <p:sp>
          <p:nvSpPr>
            <p:cNvPr id="33814" name="Line 20"/>
            <p:cNvSpPr/>
            <p:nvPr/>
          </p:nvSpPr>
          <p:spPr>
            <a:xfrm>
              <a:off x="1430338" y="5229225"/>
              <a:ext cx="0" cy="439738"/>
            </a:xfrm>
            <a:prstGeom prst="line">
              <a:avLst/>
            </a:prstGeom>
            <a:ln w="12700" cap="flat" cmpd="sng">
              <a:solidFill>
                <a:srgbClr val="000000"/>
              </a:solidFill>
              <a:prstDash val="solid"/>
              <a:headEnd type="none" w="sm" len="sm"/>
              <a:tailEnd type="none" w="sm" len="sm"/>
            </a:ln>
          </p:spPr>
        </p:sp>
        <p:sp>
          <p:nvSpPr>
            <p:cNvPr id="33815" name="Line 21"/>
            <p:cNvSpPr/>
            <p:nvPr/>
          </p:nvSpPr>
          <p:spPr>
            <a:xfrm>
              <a:off x="6815138" y="5183188"/>
              <a:ext cx="0" cy="439737"/>
            </a:xfrm>
            <a:prstGeom prst="line">
              <a:avLst/>
            </a:prstGeom>
            <a:ln w="12700" cap="flat" cmpd="sng">
              <a:solidFill>
                <a:srgbClr val="000000"/>
              </a:solidFill>
              <a:prstDash val="solid"/>
              <a:headEnd type="none" w="sm" len="sm"/>
              <a:tailEnd type="none" w="sm" len="sm"/>
            </a:ln>
          </p:spPr>
        </p:sp>
        <p:sp>
          <p:nvSpPr>
            <p:cNvPr id="33816" name="Line 22"/>
            <p:cNvSpPr/>
            <p:nvPr/>
          </p:nvSpPr>
          <p:spPr>
            <a:xfrm>
              <a:off x="5516563" y="5199063"/>
              <a:ext cx="0" cy="439737"/>
            </a:xfrm>
            <a:prstGeom prst="line">
              <a:avLst/>
            </a:prstGeom>
            <a:ln w="12700" cap="flat" cmpd="sng">
              <a:solidFill>
                <a:srgbClr val="000000"/>
              </a:solidFill>
              <a:prstDash val="solid"/>
              <a:headEnd type="none" w="sm" len="sm"/>
              <a:tailEnd type="none" w="sm" len="sm"/>
            </a:ln>
          </p:spPr>
        </p:sp>
        <p:sp>
          <p:nvSpPr>
            <p:cNvPr id="33817" name="Line 23"/>
            <p:cNvSpPr/>
            <p:nvPr/>
          </p:nvSpPr>
          <p:spPr>
            <a:xfrm>
              <a:off x="3044825" y="5199063"/>
              <a:ext cx="0" cy="439737"/>
            </a:xfrm>
            <a:prstGeom prst="line">
              <a:avLst/>
            </a:prstGeom>
            <a:ln w="12700" cap="flat" cmpd="sng">
              <a:solidFill>
                <a:srgbClr val="000000"/>
              </a:solidFill>
              <a:prstDash val="solid"/>
              <a:headEnd type="none" w="sm" len="sm"/>
              <a:tailEnd type="none" w="sm" len="sm"/>
            </a:ln>
          </p:spPr>
        </p:sp>
        <p:sp>
          <p:nvSpPr>
            <p:cNvPr id="33818" name="Line 24"/>
            <p:cNvSpPr/>
            <p:nvPr/>
          </p:nvSpPr>
          <p:spPr>
            <a:xfrm>
              <a:off x="3902075" y="3294063"/>
              <a:ext cx="0" cy="439737"/>
            </a:xfrm>
            <a:prstGeom prst="line">
              <a:avLst/>
            </a:prstGeom>
            <a:ln w="12700" cap="flat" cmpd="sng">
              <a:solidFill>
                <a:srgbClr val="000000"/>
              </a:solidFill>
              <a:prstDash val="solid"/>
              <a:headEnd type="none" w="sm" len="sm"/>
              <a:tailEnd type="none" w="sm" len="sm"/>
            </a:ln>
          </p:spPr>
        </p:sp>
        <p:sp>
          <p:nvSpPr>
            <p:cNvPr id="33819" name="Rectangle 25"/>
            <p:cNvSpPr/>
            <p:nvPr/>
          </p:nvSpPr>
          <p:spPr>
            <a:xfrm>
              <a:off x="1185863" y="5634038"/>
              <a:ext cx="488950" cy="457200"/>
            </a:xfrm>
            <a:prstGeom prst="rect">
              <a:avLst/>
            </a:prstGeom>
            <a:solidFill>
              <a:srgbClr val="FFCC99"/>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no</a:t>
              </a:r>
            </a:p>
          </p:txBody>
        </p:sp>
        <p:sp>
          <p:nvSpPr>
            <p:cNvPr id="33820" name="Rectangle 26"/>
            <p:cNvSpPr/>
            <p:nvPr/>
          </p:nvSpPr>
          <p:spPr>
            <a:xfrm>
              <a:off x="5270500" y="5634038"/>
              <a:ext cx="488950" cy="457200"/>
            </a:xfrm>
            <a:prstGeom prst="rect">
              <a:avLst/>
            </a:prstGeom>
            <a:solidFill>
              <a:srgbClr val="FFCC99"/>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no</a:t>
              </a:r>
            </a:p>
          </p:txBody>
        </p:sp>
        <p:sp>
          <p:nvSpPr>
            <p:cNvPr id="33821" name="Rectangle 27"/>
            <p:cNvSpPr/>
            <p:nvPr/>
          </p:nvSpPr>
          <p:spPr>
            <a:xfrm>
              <a:off x="2747963" y="5634038"/>
              <a:ext cx="590550" cy="457200"/>
            </a:xfrm>
            <a:prstGeom prst="rect">
              <a:avLst/>
            </a:prstGeom>
            <a:solidFill>
              <a:srgbClr val="00FF00"/>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yes</a:t>
              </a:r>
            </a:p>
          </p:txBody>
        </p:sp>
        <p:sp>
          <p:nvSpPr>
            <p:cNvPr id="33822" name="Rectangle 28"/>
            <p:cNvSpPr/>
            <p:nvPr/>
          </p:nvSpPr>
          <p:spPr>
            <a:xfrm>
              <a:off x="6519863" y="5634038"/>
              <a:ext cx="590550" cy="457200"/>
            </a:xfrm>
            <a:prstGeom prst="rect">
              <a:avLst/>
            </a:prstGeom>
            <a:solidFill>
              <a:srgbClr val="00FF00"/>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yes</a:t>
              </a:r>
            </a:p>
          </p:txBody>
        </p:sp>
        <p:sp>
          <p:nvSpPr>
            <p:cNvPr id="33823" name="Rectangle 29"/>
            <p:cNvSpPr/>
            <p:nvPr/>
          </p:nvSpPr>
          <p:spPr>
            <a:xfrm>
              <a:off x="3606800" y="3794125"/>
              <a:ext cx="590550" cy="457200"/>
            </a:xfrm>
            <a:prstGeom prst="rect">
              <a:avLst/>
            </a:prstGeom>
            <a:solidFill>
              <a:srgbClr val="00FF00"/>
            </a:solid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dirty="0">
                  <a:latin typeface="Times New Roman" panose="02020603050405020304" pitchFamily="18" charset="0"/>
                </a:rPr>
                <a:t>yes</a:t>
              </a:r>
            </a:p>
          </p:txBody>
        </p:sp>
        <p:sp>
          <p:nvSpPr>
            <p:cNvPr id="33824" name="Rectangle 30"/>
            <p:cNvSpPr/>
            <p:nvPr/>
          </p:nvSpPr>
          <p:spPr>
            <a:xfrm>
              <a:off x="3352800" y="2971800"/>
              <a:ext cx="1066800" cy="304800"/>
            </a:xfrm>
            <a:prstGeom prst="rect">
              <a:avLst/>
            </a:prstGeom>
            <a:solidFill>
              <a:srgbClr val="FFFF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000" b="1" dirty="0">
                  <a:latin typeface="Times New Roman" panose="02020603050405020304" pitchFamily="18" charset="0"/>
                </a:rPr>
                <a:t>30..40</a:t>
              </a:r>
              <a:endParaRPr sz="1800" dirty="0">
                <a:latin typeface="Times New Roman" panose="02020603050405020304" pitchFamily="18" charset="0"/>
              </a:endParaRPr>
            </a:p>
          </p:txBody>
        </p:sp>
      </p:gr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0" y="0"/>
            <a:ext cx="9144000" cy="1447800"/>
          </a:xfrm>
        </p:spPr>
        <p:txBody>
          <a:bodyPr vert="horz" wrap="square" lIns="91440" tIns="45720" rIns="91440" bIns="45720" anchor="b" anchorCtr="0"/>
          <a:lstStyle/>
          <a:p>
            <a:r>
              <a:rPr dirty="0"/>
              <a:t>Basic algorithm for inducing a decision tree from training tuples</a:t>
            </a:r>
          </a:p>
        </p:txBody>
      </p:sp>
      <p:sp>
        <p:nvSpPr>
          <p:cNvPr id="34819"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15</a:t>
            </a:fld>
            <a:endParaRPr lang="en-US" sz="1200" dirty="0">
              <a:latin typeface="Tahoma" panose="020B0604030504040204" pitchFamily="34" charset="0"/>
              <a:ea typeface="+mn-ea"/>
              <a:cs typeface="+mn-cs"/>
            </a:endParaRPr>
          </a:p>
        </p:txBody>
      </p:sp>
      <p:pic>
        <p:nvPicPr>
          <p:cNvPr id="34820" name="Picture 2"/>
          <p:cNvPicPr>
            <a:picLocks noGrp="1" noChangeAspect="1"/>
          </p:cNvPicPr>
          <p:nvPr>
            <p:ph idx="1"/>
          </p:nvPr>
        </p:nvPicPr>
        <p:blipFill>
          <a:blip r:embed="rId2"/>
          <a:srcRect l="30630" t="20357" r="12611" b="39584"/>
          <a:stretch>
            <a:fillRect/>
          </a:stretch>
        </p:blipFill>
        <p:spPr>
          <a:xfrm>
            <a:off x="228600" y="1828800"/>
            <a:ext cx="8448675" cy="4343400"/>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16</a:t>
            </a:fld>
            <a:endParaRPr lang="en-US" sz="1200" dirty="0">
              <a:latin typeface="Tahoma" panose="020B0604030504040204" pitchFamily="34" charset="0"/>
              <a:ea typeface="+mn-ea"/>
              <a:cs typeface="+mn-cs"/>
            </a:endParaRPr>
          </a:p>
        </p:txBody>
      </p:sp>
      <p:pic>
        <p:nvPicPr>
          <p:cNvPr id="35843" name="Picture 2"/>
          <p:cNvPicPr>
            <a:picLocks noGrp="1" noChangeAspect="1"/>
          </p:cNvPicPr>
          <p:nvPr>
            <p:ph idx="1"/>
          </p:nvPr>
        </p:nvPicPr>
        <p:blipFill>
          <a:blip r:embed="rId2"/>
          <a:srcRect l="29730" t="17151" r="9911" b="19534"/>
          <a:stretch>
            <a:fillRect/>
          </a:stretch>
        </p:blipFill>
        <p:spPr>
          <a:xfrm>
            <a:off x="228600" y="609600"/>
            <a:ext cx="8763000" cy="6172200"/>
          </a:xfrm>
          <a:ln>
            <a:solidFill>
              <a:schemeClr val="accent1">
                <a:alpha val="100000"/>
              </a:schemeClr>
            </a:solidFill>
            <a:miter lim="800000"/>
            <a:headEnd/>
            <a:tailEnd/>
          </a:ln>
        </p:spPr>
      </p:pic>
      <p:sp>
        <p:nvSpPr>
          <p:cNvPr id="35844" name="Title 1"/>
          <p:cNvSpPr>
            <a:spLocks noGrp="1"/>
          </p:cNvSpPr>
          <p:nvPr>
            <p:ph type="title"/>
          </p:nvPr>
        </p:nvSpPr>
        <p:spPr>
          <a:xfrm>
            <a:off x="0" y="0"/>
            <a:ext cx="8229600" cy="685800"/>
          </a:xfrm>
        </p:spPr>
        <p:txBody>
          <a:bodyPr vert="horz" wrap="square" lIns="91440" tIns="45720" rIns="91440" bIns="45720" anchor="b" anchorCtr="0"/>
          <a:lstStyle/>
          <a:p>
            <a:pPr algn="ctr"/>
            <a:r>
              <a:rPr sz="2400" dirty="0"/>
              <a:t>Basic algorithm for inducing a decision tree</a:t>
            </a:r>
            <a:br>
              <a:rPr sz="2400" dirty="0"/>
            </a:br>
            <a:r>
              <a:rPr sz="2400" dirty="0"/>
              <a:t> from training tuples (contd..)</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ahoma" panose="020B0604030504040204" pitchFamily="34" charset="0"/>
              </a:rPr>
              <a:t>Attribute Selection Measures</a:t>
            </a:r>
            <a:endParaRPr lang="en-US" dirty="0"/>
          </a:p>
        </p:txBody>
      </p:sp>
      <p:sp>
        <p:nvSpPr>
          <p:cNvPr id="3" name="Content Placeholder 2"/>
          <p:cNvSpPr>
            <a:spLocks noGrp="1"/>
          </p:cNvSpPr>
          <p:nvPr>
            <p:ph idx="1"/>
          </p:nvPr>
        </p:nvSpPr>
        <p:spPr/>
        <p:txBody>
          <a:bodyPr/>
          <a:lstStyle/>
          <a:p>
            <a:r>
              <a:rPr lang="en-US" b="1" dirty="0" smtClean="0"/>
              <a:t>Information Gain</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dirty="0"/>
          </a:p>
        </p:txBody>
      </p:sp>
      <p:pic>
        <p:nvPicPr>
          <p:cNvPr id="145411" name="Picture 3"/>
          <p:cNvPicPr>
            <a:picLocks noChangeAspect="1" noChangeArrowheads="1"/>
          </p:cNvPicPr>
          <p:nvPr/>
        </p:nvPicPr>
        <p:blipFill>
          <a:blip r:embed="rId2"/>
          <a:srcRect/>
          <a:stretch>
            <a:fillRect/>
          </a:stretch>
        </p:blipFill>
        <p:spPr bwMode="auto">
          <a:xfrm>
            <a:off x="914400" y="1691120"/>
            <a:ext cx="7162800" cy="1147330"/>
          </a:xfrm>
          <a:prstGeom prst="rect">
            <a:avLst/>
          </a:prstGeom>
          <a:noFill/>
          <a:ln w="9525">
            <a:noFill/>
            <a:miter lim="800000"/>
            <a:headEnd/>
            <a:tailEnd/>
          </a:ln>
          <a:effectLst/>
        </p:spPr>
      </p:pic>
      <p:pic>
        <p:nvPicPr>
          <p:cNvPr id="145413" name="Picture 5"/>
          <p:cNvPicPr>
            <a:picLocks noChangeAspect="1" noChangeArrowheads="1"/>
          </p:cNvPicPr>
          <p:nvPr/>
        </p:nvPicPr>
        <p:blipFill>
          <a:blip r:embed="rId3"/>
          <a:srcRect/>
          <a:stretch>
            <a:fillRect/>
          </a:stretch>
        </p:blipFill>
        <p:spPr bwMode="auto">
          <a:xfrm>
            <a:off x="3581400" y="2995613"/>
            <a:ext cx="4343400" cy="866775"/>
          </a:xfrm>
          <a:prstGeom prst="rect">
            <a:avLst/>
          </a:prstGeom>
          <a:noFill/>
          <a:ln w="9525">
            <a:noFill/>
            <a:miter lim="800000"/>
            <a:headEnd/>
            <a:tailEnd/>
          </a:ln>
          <a:effectLst/>
        </p:spPr>
      </p:pic>
      <p:pic>
        <p:nvPicPr>
          <p:cNvPr id="145414" name="Picture 6"/>
          <p:cNvPicPr>
            <a:picLocks noChangeAspect="1" noChangeArrowheads="1"/>
          </p:cNvPicPr>
          <p:nvPr/>
        </p:nvPicPr>
        <p:blipFill>
          <a:blip r:embed="rId4"/>
          <a:srcRect/>
          <a:stretch>
            <a:fillRect/>
          </a:stretch>
        </p:blipFill>
        <p:spPr bwMode="auto">
          <a:xfrm>
            <a:off x="4267200" y="4114800"/>
            <a:ext cx="2533650" cy="70485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Gain Ratio</a:t>
            </a:r>
          </a:p>
          <a:p>
            <a:endParaRPr lang="en-US" dirty="0"/>
          </a:p>
        </p:txBody>
      </p:sp>
      <p:pic>
        <p:nvPicPr>
          <p:cNvPr id="146434" name="Picture 2"/>
          <p:cNvPicPr>
            <a:picLocks noChangeAspect="1" noChangeArrowheads="1"/>
          </p:cNvPicPr>
          <p:nvPr/>
        </p:nvPicPr>
        <p:blipFill>
          <a:blip r:embed="rId2"/>
          <a:srcRect/>
          <a:stretch>
            <a:fillRect/>
          </a:stretch>
        </p:blipFill>
        <p:spPr bwMode="auto">
          <a:xfrm>
            <a:off x="609599" y="1752600"/>
            <a:ext cx="8038171" cy="2209800"/>
          </a:xfrm>
          <a:prstGeom prst="rect">
            <a:avLst/>
          </a:prstGeom>
          <a:noFill/>
          <a:ln w="9525">
            <a:noFill/>
            <a:miter lim="800000"/>
            <a:headEnd/>
            <a:tailEnd/>
          </a:ln>
          <a:effectLst/>
        </p:spPr>
      </p:pic>
      <p:pic>
        <p:nvPicPr>
          <p:cNvPr id="146435" name="Picture 3"/>
          <p:cNvPicPr>
            <a:picLocks noChangeAspect="1" noChangeArrowheads="1"/>
          </p:cNvPicPr>
          <p:nvPr/>
        </p:nvPicPr>
        <p:blipFill>
          <a:blip r:embed="rId3"/>
          <a:srcRect/>
          <a:stretch>
            <a:fillRect/>
          </a:stretch>
        </p:blipFill>
        <p:spPr bwMode="auto">
          <a:xfrm>
            <a:off x="2590800" y="4419600"/>
            <a:ext cx="5943600" cy="9906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458200" cy="5410200"/>
          </a:xfrm>
        </p:spPr>
        <p:txBody>
          <a:bodyPr/>
          <a:lstStyle/>
          <a:p>
            <a:r>
              <a:rPr lang="en-US" b="1" dirty="0" err="1" smtClean="0"/>
              <a:t>Gini</a:t>
            </a:r>
            <a:r>
              <a:rPr lang="en-US" b="1" dirty="0" smtClean="0"/>
              <a:t> Index</a:t>
            </a:r>
          </a:p>
          <a:p>
            <a:endParaRPr lang="en-US" dirty="0"/>
          </a:p>
        </p:txBody>
      </p:sp>
      <p:pic>
        <p:nvPicPr>
          <p:cNvPr id="147458" name="Picture 2"/>
          <p:cNvPicPr>
            <a:picLocks noChangeAspect="1" noChangeArrowheads="1"/>
          </p:cNvPicPr>
          <p:nvPr/>
        </p:nvPicPr>
        <p:blipFill>
          <a:blip r:embed="rId2"/>
          <a:srcRect/>
          <a:stretch>
            <a:fillRect/>
          </a:stretch>
        </p:blipFill>
        <p:spPr bwMode="auto">
          <a:xfrm>
            <a:off x="533400" y="1219200"/>
            <a:ext cx="7980218" cy="1371600"/>
          </a:xfrm>
          <a:prstGeom prst="rect">
            <a:avLst/>
          </a:prstGeom>
          <a:noFill/>
          <a:ln w="9525">
            <a:noFill/>
            <a:miter lim="800000"/>
            <a:headEnd/>
            <a:tailEnd/>
          </a:ln>
          <a:effectLst/>
        </p:spPr>
      </p:pic>
      <p:pic>
        <p:nvPicPr>
          <p:cNvPr id="147459" name="Picture 3"/>
          <p:cNvPicPr>
            <a:picLocks noChangeAspect="1" noChangeArrowheads="1"/>
          </p:cNvPicPr>
          <p:nvPr/>
        </p:nvPicPr>
        <p:blipFill>
          <a:blip r:embed="rId3"/>
          <a:srcRect/>
          <a:stretch>
            <a:fillRect/>
          </a:stretch>
        </p:blipFill>
        <p:spPr bwMode="auto">
          <a:xfrm>
            <a:off x="304800" y="2819400"/>
            <a:ext cx="8229600" cy="1880040"/>
          </a:xfrm>
          <a:prstGeom prst="rect">
            <a:avLst/>
          </a:prstGeom>
          <a:noFill/>
          <a:ln w="9525">
            <a:noFill/>
            <a:miter lim="800000"/>
            <a:headEnd/>
            <a:tailEnd/>
          </a:ln>
          <a:effectLst/>
        </p:spPr>
      </p:pic>
      <p:pic>
        <p:nvPicPr>
          <p:cNvPr id="147460" name="Picture 4"/>
          <p:cNvPicPr>
            <a:picLocks noChangeAspect="1" noChangeArrowheads="1"/>
          </p:cNvPicPr>
          <p:nvPr/>
        </p:nvPicPr>
        <p:blipFill>
          <a:blip r:embed="rId4"/>
          <a:srcRect/>
          <a:stretch>
            <a:fillRect/>
          </a:stretch>
        </p:blipFill>
        <p:spPr bwMode="auto">
          <a:xfrm>
            <a:off x="914400" y="5181600"/>
            <a:ext cx="7543800" cy="12192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Slide Number Placeholder 1"/>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20</a:t>
            </a:fld>
            <a:endParaRPr lang="en-US" sz="1200" dirty="0">
              <a:latin typeface="Tahoma" panose="020B0604030504040204" pitchFamily="34" charset="0"/>
              <a:ea typeface="+mn-ea"/>
              <a:cs typeface="+mn-cs"/>
            </a:endParaRPr>
          </a:p>
        </p:txBody>
      </p:sp>
      <p:sp>
        <p:nvSpPr>
          <p:cNvPr id="36867" name="Rectangle 1026"/>
          <p:cNvSpPr/>
          <p:nvPr/>
        </p:nvSpPr>
        <p:spPr>
          <a:xfrm>
            <a:off x="1219200" y="0"/>
            <a:ext cx="7162800" cy="10668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3600" dirty="0">
                <a:solidFill>
                  <a:schemeClr val="tx2"/>
                </a:solidFill>
                <a:latin typeface="Tahoma" panose="020B0604030504040204" pitchFamily="34" charset="0"/>
              </a:rPr>
              <a:t>Attribute Selection Measure: Information Gain (ID3/C4.5)</a:t>
            </a:r>
          </a:p>
        </p:txBody>
      </p:sp>
      <p:sp>
        <p:nvSpPr>
          <p:cNvPr id="36868" name="Rectangle 1027"/>
          <p:cNvSpPr/>
          <p:nvPr/>
        </p:nvSpPr>
        <p:spPr>
          <a:xfrm>
            <a:off x="304800" y="1143000"/>
            <a:ext cx="8686800" cy="53340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342900" lvl="0" indent="-342900" eaLnBrk="1" hangingPunct="1"/>
            <a:r>
              <a:rPr sz="2000" dirty="0">
                <a:latin typeface="Tahoma" panose="020B0604030504040204" pitchFamily="34" charset="0"/>
              </a:rPr>
              <a:t>Select the attribute with the highest information gain</a:t>
            </a:r>
          </a:p>
          <a:p>
            <a:pPr marL="342900" lvl="0" indent="-342900" eaLnBrk="1" hangingPunct="1"/>
            <a:r>
              <a:rPr sz="2000" dirty="0">
                <a:latin typeface="Tahoma" panose="020B0604030504040204" pitchFamily="34" charset="0"/>
              </a:rPr>
              <a:t>S contains s</a:t>
            </a:r>
            <a:r>
              <a:rPr sz="2000" baseline="-25000" dirty="0">
                <a:latin typeface="Tahoma" panose="020B0604030504040204" pitchFamily="34" charset="0"/>
              </a:rPr>
              <a:t>i</a:t>
            </a:r>
            <a:r>
              <a:rPr sz="2000" dirty="0">
                <a:latin typeface="Tahoma" panose="020B0604030504040204" pitchFamily="34" charset="0"/>
              </a:rPr>
              <a:t> tuples of class C</a:t>
            </a:r>
            <a:r>
              <a:rPr sz="2000" baseline="-25000" dirty="0">
                <a:latin typeface="Tahoma" panose="020B0604030504040204" pitchFamily="34" charset="0"/>
              </a:rPr>
              <a:t>i</a:t>
            </a:r>
            <a:r>
              <a:rPr sz="2000" dirty="0">
                <a:latin typeface="Tahoma" panose="020B0604030504040204" pitchFamily="34" charset="0"/>
              </a:rPr>
              <a:t> for i = {1, …, m} </a:t>
            </a:r>
          </a:p>
          <a:p>
            <a:pPr marL="342900" lvl="0" indent="-342900" eaLnBrk="1" hangingPunct="1"/>
            <a:r>
              <a:rPr sz="2000" dirty="0">
                <a:solidFill>
                  <a:srgbClr val="170981"/>
                </a:solidFill>
                <a:latin typeface="Tahoma" panose="020B0604030504040204" pitchFamily="34" charset="0"/>
              </a:rPr>
              <a:t>information </a:t>
            </a:r>
            <a:r>
              <a:rPr sz="2000" dirty="0">
                <a:latin typeface="Tahoma" panose="020B0604030504040204" pitchFamily="34" charset="0"/>
              </a:rPr>
              <a:t>measures: info required to classify any arbitrary tuple</a:t>
            </a:r>
          </a:p>
          <a:p>
            <a:pPr marL="342900" lvl="0" indent="-342900" eaLnBrk="1" hangingPunct="1"/>
            <a:endParaRPr sz="2000" dirty="0">
              <a:latin typeface="Tahoma" panose="020B0604030504040204" pitchFamily="34" charset="0"/>
            </a:endParaRPr>
          </a:p>
          <a:p>
            <a:pPr marL="342900" lvl="0" indent="-342900" eaLnBrk="1" hangingPunct="1"/>
            <a:endParaRPr sz="2000" dirty="0">
              <a:solidFill>
                <a:srgbClr val="170981"/>
              </a:solidFill>
              <a:latin typeface="Tahoma" panose="020B0604030504040204" pitchFamily="34" charset="0"/>
            </a:endParaRPr>
          </a:p>
          <a:p>
            <a:pPr marL="342900" lvl="0" indent="-342900" eaLnBrk="1" hangingPunct="1"/>
            <a:endParaRPr sz="2000" dirty="0">
              <a:solidFill>
                <a:srgbClr val="170981"/>
              </a:solidFill>
              <a:latin typeface="Tahoma" panose="020B0604030504040204" pitchFamily="34" charset="0"/>
            </a:endParaRPr>
          </a:p>
          <a:p>
            <a:pPr marL="342900" lvl="0" indent="-342900" eaLnBrk="1" hangingPunct="1"/>
            <a:endParaRPr sz="2000" dirty="0">
              <a:solidFill>
                <a:srgbClr val="170981"/>
              </a:solidFill>
              <a:latin typeface="Tahoma" panose="020B0604030504040204" pitchFamily="34" charset="0"/>
            </a:endParaRPr>
          </a:p>
          <a:p>
            <a:pPr marL="342900" lvl="0" indent="-342900" eaLnBrk="1" hangingPunct="1"/>
            <a:r>
              <a:rPr sz="2000" dirty="0">
                <a:solidFill>
                  <a:srgbClr val="170981"/>
                </a:solidFill>
                <a:latin typeface="Tahoma" panose="020B0604030504040204" pitchFamily="34" charset="0"/>
              </a:rPr>
              <a:t>entropy</a:t>
            </a:r>
            <a:r>
              <a:rPr sz="2000" dirty="0">
                <a:latin typeface="Tahoma" panose="020B0604030504040204" pitchFamily="34" charset="0"/>
              </a:rPr>
              <a:t> of attribute A with values {a</a:t>
            </a:r>
            <a:r>
              <a:rPr sz="2000" baseline="-25000" dirty="0">
                <a:latin typeface="Tahoma" panose="020B0604030504040204" pitchFamily="34" charset="0"/>
              </a:rPr>
              <a:t>1</a:t>
            </a:r>
            <a:r>
              <a:rPr sz="2000" dirty="0">
                <a:latin typeface="Tahoma" panose="020B0604030504040204" pitchFamily="34" charset="0"/>
              </a:rPr>
              <a:t>,a</a:t>
            </a:r>
            <a:r>
              <a:rPr sz="2000" baseline="-25000" dirty="0">
                <a:latin typeface="Tahoma" panose="020B0604030504040204" pitchFamily="34" charset="0"/>
              </a:rPr>
              <a:t>2</a:t>
            </a:r>
            <a:r>
              <a:rPr sz="2000" dirty="0">
                <a:latin typeface="Tahoma" panose="020B0604030504040204" pitchFamily="34" charset="0"/>
              </a:rPr>
              <a:t>,…,a</a:t>
            </a:r>
            <a:r>
              <a:rPr sz="2000" baseline="-25000" dirty="0">
                <a:latin typeface="Tahoma" panose="020B0604030504040204" pitchFamily="34" charset="0"/>
              </a:rPr>
              <a:t>v</a:t>
            </a:r>
            <a:r>
              <a:rPr sz="2000" dirty="0">
                <a:latin typeface="Tahoma" panose="020B0604030504040204" pitchFamily="34" charset="0"/>
              </a:rPr>
              <a:t>}</a:t>
            </a:r>
          </a:p>
          <a:p>
            <a:pPr marL="342900" lvl="0" indent="-342900" eaLnBrk="1" hangingPunct="1"/>
            <a:endParaRPr sz="2000" dirty="0">
              <a:latin typeface="Tahoma" panose="020B0604030504040204" pitchFamily="34" charset="0"/>
            </a:endParaRPr>
          </a:p>
          <a:p>
            <a:pPr marL="342900" lvl="0" indent="-342900" eaLnBrk="1" hangingPunct="1"/>
            <a:endParaRPr sz="2000" dirty="0">
              <a:latin typeface="Tahoma" panose="020B0604030504040204" pitchFamily="34" charset="0"/>
            </a:endParaRPr>
          </a:p>
          <a:p>
            <a:pPr marL="342900" lvl="0" indent="-342900" eaLnBrk="1" hangingPunct="1"/>
            <a:endParaRPr sz="2000" dirty="0">
              <a:solidFill>
                <a:srgbClr val="170981"/>
              </a:solidFill>
              <a:latin typeface="Tahoma" panose="020B0604030504040204" pitchFamily="34" charset="0"/>
            </a:endParaRPr>
          </a:p>
          <a:p>
            <a:pPr marL="342900" lvl="0" indent="-342900" eaLnBrk="1" hangingPunct="1"/>
            <a:r>
              <a:rPr sz="2000" dirty="0">
                <a:solidFill>
                  <a:srgbClr val="170981"/>
                </a:solidFill>
                <a:latin typeface="Tahoma" panose="020B0604030504040204" pitchFamily="34" charset="0"/>
              </a:rPr>
              <a:t>information gained</a:t>
            </a:r>
            <a:r>
              <a:rPr sz="2000" dirty="0">
                <a:latin typeface="Tahoma" panose="020B0604030504040204" pitchFamily="34" charset="0"/>
              </a:rPr>
              <a:t> by branching on attribute A</a:t>
            </a:r>
          </a:p>
          <a:p>
            <a:pPr marL="342900" lvl="0" indent="-342900" eaLnBrk="1" hangingPunct="1"/>
            <a:endParaRPr sz="2000" dirty="0">
              <a:latin typeface="Tahoma" panose="020B0604030504040204" pitchFamily="34" charset="0"/>
            </a:endParaRPr>
          </a:p>
        </p:txBody>
      </p:sp>
      <p:graphicFrame>
        <p:nvGraphicFramePr>
          <p:cNvPr id="36869" name="Object 1028"/>
          <p:cNvGraphicFramePr>
            <a:graphicFrameLocks/>
          </p:cNvGraphicFramePr>
          <p:nvPr/>
        </p:nvGraphicFramePr>
        <p:xfrm>
          <a:off x="2438400" y="2514600"/>
          <a:ext cx="4191000" cy="1066800"/>
        </p:xfrm>
        <a:graphic>
          <a:graphicData uri="http://schemas.openxmlformats.org/presentationml/2006/ole">
            <p:oleObj spid="_x0000_s35843" r:id="rId4" imgW="1777229" imgH="431613" progId="Equation.3">
              <p:embed/>
            </p:oleObj>
          </a:graphicData>
        </a:graphic>
      </p:graphicFrame>
      <p:graphicFrame>
        <p:nvGraphicFramePr>
          <p:cNvPr id="36870" name="Object 1029"/>
          <p:cNvGraphicFramePr>
            <a:graphicFrameLocks/>
          </p:cNvGraphicFramePr>
          <p:nvPr/>
        </p:nvGraphicFramePr>
        <p:xfrm>
          <a:off x="2438400" y="4114800"/>
          <a:ext cx="3962400" cy="1066800"/>
        </p:xfrm>
        <a:graphic>
          <a:graphicData uri="http://schemas.openxmlformats.org/presentationml/2006/ole">
            <p:oleObj spid="_x0000_s35842" r:id="rId5" imgW="2094591" imgH="444307" progId="Equation.3">
              <p:embed/>
            </p:oleObj>
          </a:graphicData>
        </a:graphic>
      </p:graphicFrame>
      <p:graphicFrame>
        <p:nvGraphicFramePr>
          <p:cNvPr id="36871" name="Object 1030"/>
          <p:cNvGraphicFramePr>
            <a:graphicFrameLocks/>
          </p:cNvGraphicFramePr>
          <p:nvPr/>
        </p:nvGraphicFramePr>
        <p:xfrm>
          <a:off x="2362200" y="5867400"/>
          <a:ext cx="4191000" cy="381000"/>
        </p:xfrm>
        <a:graphic>
          <a:graphicData uri="http://schemas.openxmlformats.org/presentationml/2006/ole">
            <p:oleObj spid="_x0000_s35841" r:id="rId6" imgW="1879600" imgH="203200" progId="Equation.3">
              <p:embed/>
            </p:oleObj>
          </a:graphicData>
        </a:graphic>
      </p:graphicFrame>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Slide Number Placeholder 4"/>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21</a:t>
            </a:fld>
            <a:endParaRPr lang="en-US" sz="1200" dirty="0">
              <a:latin typeface="Tahoma" panose="020B0604030504040204" pitchFamily="34" charset="0"/>
              <a:ea typeface="+mn-ea"/>
              <a:cs typeface="+mn-cs"/>
            </a:endParaRPr>
          </a:p>
        </p:txBody>
      </p:sp>
      <p:sp>
        <p:nvSpPr>
          <p:cNvPr id="38915" name="Rectangle 2"/>
          <p:cNvSpPr>
            <a:spLocks noGrp="1"/>
          </p:cNvSpPr>
          <p:nvPr>
            <p:ph type="title"/>
          </p:nvPr>
        </p:nvSpPr>
        <p:spPr>
          <a:xfrm>
            <a:off x="914400" y="-76200"/>
            <a:ext cx="7793038" cy="1066800"/>
          </a:xfrm>
        </p:spPr>
        <p:txBody>
          <a:bodyPr vert="horz" wrap="square" lIns="91440" tIns="45720" rIns="91440" bIns="45720" anchor="b" anchorCtr="0"/>
          <a:lstStyle/>
          <a:p>
            <a:pPr eaLnBrk="1" hangingPunct="1"/>
            <a:r>
              <a:rPr sz="3200" dirty="0"/>
              <a:t>Attribute Selection by Information Gain Computation</a:t>
            </a:r>
          </a:p>
        </p:txBody>
      </p:sp>
      <p:sp>
        <p:nvSpPr>
          <p:cNvPr id="38916" name="Rectangle 3"/>
          <p:cNvSpPr>
            <a:spLocks noGrp="1"/>
          </p:cNvSpPr>
          <p:nvPr>
            <p:ph sz="half" idx="1"/>
          </p:nvPr>
        </p:nvSpPr>
        <p:spPr>
          <a:xfrm>
            <a:off x="304800" y="1066800"/>
            <a:ext cx="4152900" cy="1695450"/>
          </a:xfrm>
        </p:spPr>
        <p:txBody>
          <a:bodyPr vert="horz" wrap="square" lIns="91440" tIns="45720" rIns="91440" bIns="45720" anchor="t" anchorCtr="0"/>
          <a:lstStyle/>
          <a:p>
            <a:pPr eaLnBrk="1" hangingPunct="1">
              <a:lnSpc>
                <a:spcPct val="80000"/>
              </a:lnSpc>
              <a:spcBef>
                <a:spcPct val="30000"/>
              </a:spcBef>
              <a:buSzPct val="80000"/>
              <a:buFont typeface="Marlett" pitchFamily="2" charset="2"/>
              <a:buChar char="g"/>
            </a:pPr>
            <a:r>
              <a:rPr sz="2000" dirty="0">
                <a:solidFill>
                  <a:srgbClr val="121328"/>
                </a:solidFill>
                <a:latin typeface="+mn-lt"/>
                <a:ea typeface="+mn-ea"/>
                <a:cs typeface="+mn-cs"/>
              </a:rPr>
              <a:t>Class P: buys_computer = “yes”</a:t>
            </a:r>
          </a:p>
          <a:p>
            <a:pPr eaLnBrk="1" hangingPunct="1">
              <a:lnSpc>
                <a:spcPct val="80000"/>
              </a:lnSpc>
              <a:spcBef>
                <a:spcPct val="30000"/>
              </a:spcBef>
              <a:buSzPct val="80000"/>
              <a:buFont typeface="Marlett" pitchFamily="2" charset="2"/>
              <a:buChar char="g"/>
            </a:pPr>
            <a:r>
              <a:rPr sz="2000" dirty="0">
                <a:solidFill>
                  <a:srgbClr val="121328"/>
                </a:solidFill>
                <a:latin typeface="+mn-lt"/>
                <a:ea typeface="+mn-ea"/>
                <a:cs typeface="+mn-cs"/>
              </a:rPr>
              <a:t>Class N: buys_computer = “no”</a:t>
            </a:r>
          </a:p>
          <a:p>
            <a:pPr eaLnBrk="1" hangingPunct="1">
              <a:lnSpc>
                <a:spcPct val="80000"/>
              </a:lnSpc>
              <a:spcBef>
                <a:spcPct val="30000"/>
              </a:spcBef>
              <a:buSzPct val="80000"/>
              <a:buFont typeface="Marlett" pitchFamily="2" charset="2"/>
              <a:buChar char="g"/>
            </a:pPr>
            <a:r>
              <a:rPr sz="2000" dirty="0">
                <a:solidFill>
                  <a:srgbClr val="121328"/>
                </a:solidFill>
                <a:latin typeface="+mn-lt"/>
                <a:ea typeface="+mn-ea"/>
                <a:cs typeface="+mn-cs"/>
              </a:rPr>
              <a:t>I(p, n) = I(9, 5) =0.940</a:t>
            </a:r>
          </a:p>
          <a:p>
            <a:pPr eaLnBrk="1" hangingPunct="1">
              <a:lnSpc>
                <a:spcPct val="80000"/>
              </a:lnSpc>
              <a:spcBef>
                <a:spcPct val="30000"/>
              </a:spcBef>
              <a:buSzPct val="80000"/>
              <a:buFont typeface="Marlett" pitchFamily="2" charset="2"/>
              <a:buChar char="g"/>
            </a:pPr>
            <a:r>
              <a:rPr sz="2000" dirty="0">
                <a:solidFill>
                  <a:srgbClr val="121328"/>
                </a:solidFill>
                <a:latin typeface="+mn-lt"/>
                <a:ea typeface="+mn-ea"/>
                <a:cs typeface="+mn-cs"/>
              </a:rPr>
              <a:t>Compute the entropy for </a:t>
            </a:r>
            <a:r>
              <a:rPr sz="2000" i="1" dirty="0">
                <a:solidFill>
                  <a:srgbClr val="121328"/>
                </a:solidFill>
                <a:latin typeface="+mn-lt"/>
                <a:ea typeface="+mn-ea"/>
                <a:cs typeface="+mn-cs"/>
              </a:rPr>
              <a:t>age</a:t>
            </a:r>
            <a:r>
              <a:rPr sz="2000" dirty="0">
                <a:solidFill>
                  <a:srgbClr val="121328"/>
                </a:solidFill>
                <a:latin typeface="+mn-lt"/>
                <a:ea typeface="+mn-ea"/>
                <a:cs typeface="+mn-cs"/>
              </a:rPr>
              <a:t>:</a:t>
            </a:r>
          </a:p>
          <a:p>
            <a:pPr lvl="1" eaLnBrk="1" hangingPunct="1">
              <a:lnSpc>
                <a:spcPct val="110000"/>
              </a:lnSpc>
              <a:spcBef>
                <a:spcPct val="30000"/>
              </a:spcBef>
              <a:buSzPct val="80000"/>
              <a:buFont typeface="Marlett" pitchFamily="2" charset="2"/>
              <a:buChar char="g"/>
            </a:pPr>
            <a:endParaRPr sz="2000" dirty="0">
              <a:latin typeface="+mn-lt"/>
            </a:endParaRPr>
          </a:p>
          <a:p>
            <a:pPr lvl="1" eaLnBrk="1" hangingPunct="1">
              <a:buSzPct val="55000"/>
            </a:pPr>
            <a:endParaRPr dirty="0">
              <a:latin typeface="+mn-lt"/>
            </a:endParaRPr>
          </a:p>
          <a:p>
            <a:pPr lvl="1" eaLnBrk="1" hangingPunct="1">
              <a:buSzPct val="55000"/>
            </a:pPr>
            <a:endParaRPr dirty="0">
              <a:latin typeface="+mn-lt"/>
            </a:endParaRPr>
          </a:p>
          <a:p>
            <a:pPr lvl="1" eaLnBrk="1" hangingPunct="1">
              <a:buSzPct val="55000"/>
            </a:pPr>
            <a:endParaRPr dirty="0">
              <a:latin typeface="+mn-lt"/>
            </a:endParaRPr>
          </a:p>
          <a:p>
            <a:pPr eaLnBrk="1" hangingPunct="1">
              <a:buSzPct val="60000"/>
            </a:pPr>
            <a:endParaRPr sz="2400" dirty="0">
              <a:latin typeface="+mn-lt"/>
              <a:ea typeface="+mn-ea"/>
              <a:cs typeface="+mn-cs"/>
            </a:endParaRPr>
          </a:p>
        </p:txBody>
      </p:sp>
      <p:sp>
        <p:nvSpPr>
          <p:cNvPr id="38917" name="Rectangle 4"/>
          <p:cNvSpPr>
            <a:spLocks noGrp="1"/>
          </p:cNvSpPr>
          <p:nvPr>
            <p:ph sz="half" idx="2"/>
          </p:nvPr>
        </p:nvSpPr>
        <p:spPr>
          <a:xfrm>
            <a:off x="4724400" y="2743200"/>
            <a:ext cx="4152900" cy="2209800"/>
          </a:xfrm>
        </p:spPr>
        <p:txBody>
          <a:bodyPr vert="horz" wrap="square" lIns="91440" tIns="45720" rIns="91440" bIns="45720" anchor="t" anchorCtr="0"/>
          <a:lstStyle/>
          <a:p>
            <a:pPr eaLnBrk="1" hangingPunct="1">
              <a:lnSpc>
                <a:spcPct val="130000"/>
              </a:lnSpc>
              <a:buSzPct val="60000"/>
              <a:buFont typeface="Wingdings" panose="05000000000000000000" pitchFamily="2" charset="2"/>
              <a:buNone/>
            </a:pPr>
            <a:r>
              <a:rPr sz="2000" dirty="0">
                <a:solidFill>
                  <a:srgbClr val="121328"/>
                </a:solidFill>
                <a:latin typeface="+mn-lt"/>
                <a:ea typeface="+mn-ea"/>
                <a:cs typeface="+mn-cs"/>
              </a:rPr>
              <a:t>            means “age &lt;=30” has 5 out of 14 samples, with 2 yes’es  and 3 no’s.   Hence</a:t>
            </a:r>
            <a:endParaRPr sz="2000" dirty="0">
              <a:latin typeface="+mn-lt"/>
              <a:ea typeface="+mn-ea"/>
              <a:cs typeface="+mn-cs"/>
            </a:endParaRPr>
          </a:p>
          <a:p>
            <a:pPr eaLnBrk="1" hangingPunct="1">
              <a:lnSpc>
                <a:spcPct val="90000"/>
              </a:lnSpc>
              <a:buClr>
                <a:schemeClr val="accent1"/>
              </a:buClr>
              <a:buSzPct val="60000"/>
              <a:buFont typeface="Wingdings 2" pitchFamily="18" charset="2"/>
              <a:buNone/>
            </a:pPr>
            <a:endParaRPr sz="2000" dirty="0">
              <a:latin typeface="+mn-lt"/>
              <a:ea typeface="+mn-ea"/>
              <a:cs typeface="+mn-cs"/>
            </a:endParaRPr>
          </a:p>
          <a:p>
            <a:pPr eaLnBrk="1" hangingPunct="1">
              <a:lnSpc>
                <a:spcPct val="90000"/>
              </a:lnSpc>
              <a:buClr>
                <a:schemeClr val="accent1"/>
              </a:buClr>
              <a:buSzPct val="60000"/>
              <a:buFont typeface="Wingdings 2" pitchFamily="18" charset="2"/>
              <a:buNone/>
            </a:pPr>
            <a:endParaRPr sz="2000" dirty="0">
              <a:solidFill>
                <a:srgbClr val="121328"/>
              </a:solidFill>
              <a:latin typeface="+mn-lt"/>
              <a:ea typeface="+mn-ea"/>
              <a:cs typeface="+mn-cs"/>
            </a:endParaRPr>
          </a:p>
          <a:p>
            <a:pPr eaLnBrk="1" hangingPunct="1">
              <a:lnSpc>
                <a:spcPct val="90000"/>
              </a:lnSpc>
              <a:buClr>
                <a:schemeClr val="accent1"/>
              </a:buClr>
              <a:buSzPct val="60000"/>
              <a:buFont typeface="Wingdings 2" pitchFamily="18" charset="2"/>
              <a:buNone/>
            </a:pPr>
            <a:r>
              <a:rPr sz="2000" dirty="0">
                <a:solidFill>
                  <a:srgbClr val="121328"/>
                </a:solidFill>
                <a:latin typeface="+mn-lt"/>
                <a:ea typeface="+mn-ea"/>
                <a:cs typeface="+mn-cs"/>
              </a:rPr>
              <a:t>Similarly,</a:t>
            </a:r>
          </a:p>
        </p:txBody>
      </p:sp>
      <p:graphicFrame>
        <p:nvGraphicFramePr>
          <p:cNvPr id="38918" name="Object 5"/>
          <p:cNvGraphicFramePr>
            <a:graphicFrameLocks/>
          </p:cNvGraphicFramePr>
          <p:nvPr/>
        </p:nvGraphicFramePr>
        <p:xfrm>
          <a:off x="762000" y="2743200"/>
          <a:ext cx="3354388" cy="1439863"/>
        </p:xfrm>
        <a:graphic>
          <a:graphicData uri="http://schemas.openxmlformats.org/presentationml/2006/ole">
            <p:oleObj spid="_x0000_s39943" r:id="rId3" imgW="3341160" imgH="1436760" progId="Excel.Sheet.8">
              <p:embed/>
            </p:oleObj>
          </a:graphicData>
        </a:graphic>
      </p:graphicFrame>
      <p:graphicFrame>
        <p:nvGraphicFramePr>
          <p:cNvPr id="38919" name="Object 6"/>
          <p:cNvGraphicFramePr>
            <a:graphicFrameLocks/>
          </p:cNvGraphicFramePr>
          <p:nvPr/>
        </p:nvGraphicFramePr>
        <p:xfrm>
          <a:off x="4953000" y="1219200"/>
          <a:ext cx="3429000" cy="1371600"/>
        </p:xfrm>
        <a:graphic>
          <a:graphicData uri="http://schemas.openxmlformats.org/presentationml/2006/ole">
            <p:oleObj spid="_x0000_s39942" r:id="rId4" imgW="1866900" imgH="812800" progId="Equation.3">
              <p:embed/>
            </p:oleObj>
          </a:graphicData>
        </a:graphic>
      </p:graphicFrame>
      <p:graphicFrame>
        <p:nvGraphicFramePr>
          <p:cNvPr id="38920" name="Object 7"/>
          <p:cNvGraphicFramePr>
            <a:graphicFrameLocks/>
          </p:cNvGraphicFramePr>
          <p:nvPr/>
        </p:nvGraphicFramePr>
        <p:xfrm>
          <a:off x="5029200" y="5257800"/>
          <a:ext cx="3594100" cy="1193800"/>
        </p:xfrm>
        <a:graphic>
          <a:graphicData uri="http://schemas.openxmlformats.org/presentationml/2006/ole">
            <p:oleObj spid="_x0000_s39941" r:id="rId5" imgW="3594100" imgH="1193800" progId="Equation.3">
              <p:embed/>
            </p:oleObj>
          </a:graphicData>
        </a:graphic>
      </p:graphicFrame>
      <p:graphicFrame>
        <p:nvGraphicFramePr>
          <p:cNvPr id="38921" name="Object 8"/>
          <p:cNvGraphicFramePr>
            <a:graphicFrameLocks/>
          </p:cNvGraphicFramePr>
          <p:nvPr/>
        </p:nvGraphicFramePr>
        <p:xfrm>
          <a:off x="4648200" y="4114800"/>
          <a:ext cx="4495800" cy="381000"/>
        </p:xfrm>
        <a:graphic>
          <a:graphicData uri="http://schemas.openxmlformats.org/presentationml/2006/ole">
            <p:oleObj spid="_x0000_s39940" r:id="rId6" imgW="2311400" imgH="203200" progId="Equation.3">
              <p:embed/>
            </p:oleObj>
          </a:graphicData>
        </a:graphic>
      </p:graphicFrame>
      <p:graphicFrame>
        <p:nvGraphicFramePr>
          <p:cNvPr id="38922" name="Object 9"/>
          <p:cNvGraphicFramePr>
            <a:graphicFrameLocks/>
          </p:cNvGraphicFramePr>
          <p:nvPr/>
        </p:nvGraphicFramePr>
        <p:xfrm>
          <a:off x="152400" y="4191000"/>
          <a:ext cx="4419600" cy="2667000"/>
        </p:xfrm>
        <a:graphic>
          <a:graphicData uri="http://schemas.openxmlformats.org/presentationml/2006/ole">
            <p:oleObj spid="_x0000_s39939" r:id="rId7" imgW="5778000" imgH="3948840" progId="Excel.Sheet.8">
              <p:embed/>
            </p:oleObj>
          </a:graphicData>
        </a:graphic>
      </p:graphicFrame>
      <p:graphicFrame>
        <p:nvGraphicFramePr>
          <p:cNvPr id="38923" name="Object 10"/>
          <p:cNvGraphicFramePr>
            <a:graphicFrameLocks/>
          </p:cNvGraphicFramePr>
          <p:nvPr/>
        </p:nvGraphicFramePr>
        <p:xfrm>
          <a:off x="4495800" y="2743200"/>
          <a:ext cx="1073150" cy="665163"/>
        </p:xfrm>
        <a:graphic>
          <a:graphicData uri="http://schemas.openxmlformats.org/presentationml/2006/ole">
            <p:oleObj spid="_x0000_s39938" r:id="rId8" imgW="583947" imgH="393529" progId="Equation.3">
              <p:embed/>
            </p:oleObj>
          </a:graphicData>
        </a:graphic>
      </p:graphicFrame>
      <p:graphicFrame>
        <p:nvGraphicFramePr>
          <p:cNvPr id="38924" name="Object 11"/>
          <p:cNvGraphicFramePr>
            <a:graphicFrameLocks/>
          </p:cNvGraphicFramePr>
          <p:nvPr/>
        </p:nvGraphicFramePr>
        <p:xfrm>
          <a:off x="4116388" y="582613"/>
          <a:ext cx="4800600" cy="523875"/>
        </p:xfrm>
        <a:graphic>
          <a:graphicData uri="http://schemas.openxmlformats.org/presentationml/2006/ole">
            <p:oleObj spid="_x0000_s39937" r:id="rId9" imgW="3314700" imgH="393700" progId="Equation.3">
              <p:embed/>
            </p:oleObj>
          </a:graphicData>
        </a:graphic>
      </p:graphicFrame>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vert="horz" wrap="square" lIns="91440" tIns="45720" rIns="91440" bIns="45720" anchor="b" anchorCtr="0"/>
          <a:lstStyle/>
          <a:p>
            <a:pPr>
              <a:buNone/>
            </a:pPr>
            <a:endParaRPr lang="en-IN" altLang="x-none" dirty="0"/>
          </a:p>
        </p:txBody>
      </p:sp>
      <p:pic>
        <p:nvPicPr>
          <p:cNvPr id="39939" name="Content Placeholder 5"/>
          <p:cNvPicPr>
            <a:picLocks noGrp="1" noChangeAspect="1"/>
          </p:cNvPicPr>
          <p:nvPr>
            <p:ph sz="half" idx="1"/>
          </p:nvPr>
        </p:nvPicPr>
        <p:blipFill>
          <a:blip r:embed="rId2"/>
          <a:stretch>
            <a:fillRect/>
          </a:stretch>
        </p:blipFill>
        <p:spPr>
          <a:xfrm>
            <a:off x="304800" y="228600"/>
            <a:ext cx="8686800" cy="6248400"/>
          </a:xfrm>
        </p:spPr>
      </p:pic>
      <p:sp>
        <p:nvSpPr>
          <p:cNvPr id="39940"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22</a:t>
            </a:fld>
            <a:endParaRPr lang="en-US" sz="1200" dirty="0">
              <a:latin typeface="Tahoma" panose="020B060403050404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vert="horz" wrap="square" lIns="91440" tIns="45720" rIns="91440" bIns="45720" anchor="b" anchorCtr="0"/>
          <a:lstStyle/>
          <a:p>
            <a:pPr>
              <a:buNone/>
            </a:pPr>
            <a:endParaRPr lang="en-IN" altLang="x-none" dirty="0"/>
          </a:p>
        </p:txBody>
      </p:sp>
      <p:sp>
        <p:nvSpPr>
          <p:cNvPr id="40963"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23</a:t>
            </a:fld>
            <a:endParaRPr lang="en-US" sz="1200" dirty="0">
              <a:latin typeface="Tahoma" panose="020B0604030504040204" pitchFamily="34" charset="0"/>
            </a:endParaRPr>
          </a:p>
        </p:txBody>
      </p:sp>
      <p:pic>
        <p:nvPicPr>
          <p:cNvPr id="40964" name="Picture 5"/>
          <p:cNvPicPr>
            <a:picLocks noChangeAspect="1"/>
          </p:cNvPicPr>
          <p:nvPr/>
        </p:nvPicPr>
        <p:blipFill>
          <a:blip r:embed="rId2"/>
          <a:stretch>
            <a:fillRect/>
          </a:stretch>
        </p:blipFill>
        <p:spPr>
          <a:xfrm>
            <a:off x="381000" y="474663"/>
            <a:ext cx="8477250" cy="6078537"/>
          </a:xfrm>
          <a:prstGeom prst="rect">
            <a:avLst/>
          </a:prstGeom>
          <a:noFill/>
          <a:ln w="9525">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vert="horz" wrap="square" lIns="91440" tIns="45720" rIns="91440" bIns="45720" anchor="b" anchorCtr="0"/>
          <a:lstStyle/>
          <a:p>
            <a:pPr>
              <a:buNone/>
            </a:pPr>
            <a:endParaRPr lang="en-IN" altLang="x-none" dirty="0"/>
          </a:p>
        </p:txBody>
      </p:sp>
      <p:sp>
        <p:nvSpPr>
          <p:cNvPr id="41987"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24</a:t>
            </a:fld>
            <a:endParaRPr lang="en-US" sz="1200" dirty="0">
              <a:latin typeface="Tahoma" panose="020B0604030504040204" pitchFamily="34" charset="0"/>
            </a:endParaRPr>
          </a:p>
        </p:txBody>
      </p:sp>
      <p:pic>
        <p:nvPicPr>
          <p:cNvPr id="41988" name="Picture 5"/>
          <p:cNvPicPr>
            <a:picLocks noChangeAspect="1"/>
          </p:cNvPicPr>
          <p:nvPr/>
        </p:nvPicPr>
        <p:blipFill>
          <a:blip r:embed="rId2"/>
          <a:stretch>
            <a:fillRect/>
          </a:stretch>
        </p:blipFill>
        <p:spPr>
          <a:xfrm>
            <a:off x="304800" y="0"/>
            <a:ext cx="8534400" cy="6721475"/>
          </a:xfrm>
          <a:prstGeom prst="rect">
            <a:avLst/>
          </a:prstGeom>
          <a:noFill/>
          <a:ln w="9525">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vert="horz" wrap="square" lIns="91440" tIns="45720" rIns="91440" bIns="45720" anchor="b" anchorCtr="0"/>
          <a:lstStyle/>
          <a:p>
            <a:pPr>
              <a:buNone/>
            </a:pPr>
            <a:endParaRPr lang="en-IN" altLang="x-none" dirty="0"/>
          </a:p>
        </p:txBody>
      </p:sp>
      <p:sp>
        <p:nvSpPr>
          <p:cNvPr id="43011"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25</a:t>
            </a:fld>
            <a:endParaRPr lang="en-US" sz="1200" dirty="0">
              <a:latin typeface="Tahoma" panose="020B0604030504040204" pitchFamily="34" charset="0"/>
            </a:endParaRPr>
          </a:p>
        </p:txBody>
      </p:sp>
      <p:pic>
        <p:nvPicPr>
          <p:cNvPr id="43012" name="Picture 5"/>
          <p:cNvPicPr>
            <a:picLocks noChangeAspect="1"/>
          </p:cNvPicPr>
          <p:nvPr/>
        </p:nvPicPr>
        <p:blipFill>
          <a:blip r:embed="rId2"/>
          <a:stretch>
            <a:fillRect/>
          </a:stretch>
        </p:blipFill>
        <p:spPr>
          <a:xfrm>
            <a:off x="304800" y="528638"/>
            <a:ext cx="8458200" cy="5948362"/>
          </a:xfrm>
          <a:prstGeom prst="rect">
            <a:avLst/>
          </a:prstGeom>
          <a:noFill/>
          <a:ln w="9525">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vert="horz" wrap="square" lIns="91440" tIns="45720" rIns="91440" bIns="45720" anchor="b" anchorCtr="0"/>
          <a:lstStyle/>
          <a:p>
            <a:pPr>
              <a:buNone/>
            </a:pPr>
            <a:endParaRPr lang="en-IN" altLang="x-none" dirty="0"/>
          </a:p>
        </p:txBody>
      </p:sp>
      <p:sp>
        <p:nvSpPr>
          <p:cNvPr id="44035"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26</a:t>
            </a:fld>
            <a:endParaRPr lang="en-US" sz="1200" dirty="0">
              <a:latin typeface="Tahoma" panose="020B0604030504040204" pitchFamily="34" charset="0"/>
            </a:endParaRPr>
          </a:p>
        </p:txBody>
      </p:sp>
      <p:pic>
        <p:nvPicPr>
          <p:cNvPr id="44036" name="Picture 5"/>
          <p:cNvPicPr>
            <a:picLocks noChangeAspect="1"/>
          </p:cNvPicPr>
          <p:nvPr/>
        </p:nvPicPr>
        <p:blipFill>
          <a:blip r:embed="rId2"/>
          <a:stretch>
            <a:fillRect/>
          </a:stretch>
        </p:blipFill>
        <p:spPr>
          <a:xfrm>
            <a:off x="457200" y="152400"/>
            <a:ext cx="8566150" cy="6172200"/>
          </a:xfrm>
          <a:prstGeom prst="rect">
            <a:avLst/>
          </a:prstGeom>
          <a:noFill/>
          <a:ln w="9525">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vert="horz" wrap="square" lIns="91440" tIns="45720" rIns="91440" bIns="45720" anchor="b" anchorCtr="0"/>
          <a:lstStyle/>
          <a:p>
            <a:pPr>
              <a:buNone/>
            </a:pPr>
            <a:endParaRPr lang="en-IN" altLang="x-none" dirty="0"/>
          </a:p>
        </p:txBody>
      </p:sp>
      <p:pic>
        <p:nvPicPr>
          <p:cNvPr id="45059" name="Content Placeholder 5"/>
          <p:cNvPicPr>
            <a:picLocks noGrp="1" noChangeAspect="1"/>
          </p:cNvPicPr>
          <p:nvPr>
            <p:ph sz="half" idx="1"/>
          </p:nvPr>
        </p:nvPicPr>
        <p:blipFill>
          <a:blip r:embed="rId2"/>
          <a:stretch>
            <a:fillRect/>
          </a:stretch>
        </p:blipFill>
        <p:spPr>
          <a:xfrm>
            <a:off x="228600" y="74613"/>
            <a:ext cx="8166100" cy="3200400"/>
          </a:xfrm>
        </p:spPr>
      </p:pic>
      <p:sp>
        <p:nvSpPr>
          <p:cNvPr id="45060"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27</a:t>
            </a:fld>
            <a:endParaRPr lang="en-US" sz="1200" dirty="0">
              <a:latin typeface="Tahoma" panose="020B0604030504040204" pitchFamily="34" charset="0"/>
            </a:endParaRPr>
          </a:p>
        </p:txBody>
      </p:sp>
      <p:pic>
        <p:nvPicPr>
          <p:cNvPr id="45061" name="Picture 6"/>
          <p:cNvPicPr>
            <a:picLocks noChangeAspect="1"/>
          </p:cNvPicPr>
          <p:nvPr/>
        </p:nvPicPr>
        <p:blipFill>
          <a:blip r:embed="rId3"/>
          <a:stretch>
            <a:fillRect/>
          </a:stretch>
        </p:blipFill>
        <p:spPr>
          <a:xfrm>
            <a:off x="762000" y="3429000"/>
            <a:ext cx="8064500" cy="2895600"/>
          </a:xfrm>
          <a:prstGeom prst="rect">
            <a:avLst/>
          </a:prstGeom>
          <a:noFill/>
          <a:ln w="9525">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28</a:t>
            </a:fld>
            <a:endParaRPr lang="en-US" sz="1200" dirty="0">
              <a:latin typeface="Tahoma" panose="020B0604030504040204" pitchFamily="34" charset="0"/>
            </a:endParaRPr>
          </a:p>
        </p:txBody>
      </p:sp>
      <p:pic>
        <p:nvPicPr>
          <p:cNvPr id="46083" name="Picture 5"/>
          <p:cNvPicPr>
            <a:picLocks noChangeAspect="1"/>
          </p:cNvPicPr>
          <p:nvPr/>
        </p:nvPicPr>
        <p:blipFill>
          <a:blip r:embed="rId2"/>
          <a:stretch>
            <a:fillRect/>
          </a:stretch>
        </p:blipFill>
        <p:spPr>
          <a:xfrm>
            <a:off x="228600" y="0"/>
            <a:ext cx="8915400" cy="6477000"/>
          </a:xfrm>
          <a:prstGeom prst="rect">
            <a:avLst/>
          </a:prstGeom>
          <a:noFill/>
          <a:ln w="9525">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vert="horz" wrap="square" lIns="91440" tIns="45720" rIns="91440" bIns="45720" anchor="b" anchorCtr="0"/>
          <a:lstStyle/>
          <a:p>
            <a:pPr>
              <a:buNone/>
            </a:pPr>
            <a:endParaRPr lang="en-IN" altLang="x-none" dirty="0"/>
          </a:p>
        </p:txBody>
      </p:sp>
      <p:pic>
        <p:nvPicPr>
          <p:cNvPr id="47107" name="Content Placeholder 5"/>
          <p:cNvPicPr>
            <a:picLocks noGrp="1" noChangeAspect="1"/>
          </p:cNvPicPr>
          <p:nvPr>
            <p:ph sz="half" idx="1"/>
          </p:nvPr>
        </p:nvPicPr>
        <p:blipFill>
          <a:blip r:embed="rId2"/>
          <a:stretch>
            <a:fillRect/>
          </a:stretch>
        </p:blipFill>
        <p:spPr>
          <a:xfrm>
            <a:off x="304800" y="685800"/>
            <a:ext cx="8308975" cy="5791200"/>
          </a:xfrm>
        </p:spPr>
      </p:pic>
      <p:sp>
        <p:nvSpPr>
          <p:cNvPr id="47108" name="Content Placeholder 3"/>
          <p:cNvSpPr>
            <a:spLocks noGrp="1"/>
          </p:cNvSpPr>
          <p:nvPr>
            <p:ph sz="half" idx="2"/>
          </p:nvPr>
        </p:nvSpPr>
        <p:spPr/>
        <p:txBody>
          <a:bodyPr vert="horz" wrap="square" lIns="91440" tIns="45720" rIns="91440" bIns="45720" anchor="t" anchorCtr="0"/>
          <a:lstStyle/>
          <a:p>
            <a:pPr>
              <a:buSzPct val="60000"/>
            </a:pPr>
            <a:endParaRPr lang="en-IN" altLang="x-none" dirty="0">
              <a:latin typeface="+mn-lt"/>
              <a:ea typeface="+mn-ea"/>
              <a:cs typeface="+mn-cs"/>
            </a:endParaRPr>
          </a:p>
        </p:txBody>
      </p:sp>
      <p:sp>
        <p:nvSpPr>
          <p:cNvPr id="47109"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29</a:t>
            </a:fld>
            <a:endParaRPr lang="en-US" sz="1200" dirty="0">
              <a:latin typeface="Tahoma" panose="020B060403050404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5"/>
          <p:cNvPicPr>
            <a:picLocks noChangeAspect="1"/>
          </p:cNvPicPr>
          <p:nvPr/>
        </p:nvPicPr>
        <p:blipFill>
          <a:blip r:embed="rId2"/>
          <a:stretch>
            <a:fillRect/>
          </a:stretch>
        </p:blipFill>
        <p:spPr>
          <a:xfrm>
            <a:off x="0" y="0"/>
            <a:ext cx="3505200" cy="2501900"/>
          </a:xfrm>
          <a:prstGeom prst="rect">
            <a:avLst/>
          </a:prstGeom>
          <a:noFill/>
          <a:ln w="9525">
            <a:noFill/>
          </a:ln>
        </p:spPr>
      </p:pic>
      <p:sp>
        <p:nvSpPr>
          <p:cNvPr id="48131" name="Title 1"/>
          <p:cNvSpPr>
            <a:spLocks noGrp="1"/>
          </p:cNvSpPr>
          <p:nvPr>
            <p:ph type="title"/>
          </p:nvPr>
        </p:nvSpPr>
        <p:spPr/>
        <p:txBody>
          <a:bodyPr vert="horz" wrap="square" lIns="91440" tIns="45720" rIns="91440" bIns="45720" anchor="b" anchorCtr="0"/>
          <a:lstStyle/>
          <a:p>
            <a:pPr>
              <a:buNone/>
            </a:pPr>
            <a:endParaRPr lang="en-IN" altLang="x-none" dirty="0"/>
          </a:p>
        </p:txBody>
      </p:sp>
      <p:pic>
        <p:nvPicPr>
          <p:cNvPr id="48132" name="Content Placeholder 6"/>
          <p:cNvPicPr>
            <a:picLocks noGrp="1" noChangeAspect="1"/>
          </p:cNvPicPr>
          <p:nvPr>
            <p:ph sz="half" idx="1"/>
          </p:nvPr>
        </p:nvPicPr>
        <p:blipFill>
          <a:blip r:embed="rId3"/>
          <a:stretch>
            <a:fillRect/>
          </a:stretch>
        </p:blipFill>
        <p:spPr>
          <a:xfrm>
            <a:off x="533400" y="2501900"/>
            <a:ext cx="7658100" cy="3746500"/>
          </a:xfrm>
        </p:spPr>
      </p:pic>
      <p:sp>
        <p:nvSpPr>
          <p:cNvPr id="48133" name="Content Placeholder 3"/>
          <p:cNvSpPr>
            <a:spLocks noGrp="1"/>
          </p:cNvSpPr>
          <p:nvPr>
            <p:ph sz="half" idx="2"/>
          </p:nvPr>
        </p:nvSpPr>
        <p:spPr/>
        <p:txBody>
          <a:bodyPr vert="horz" wrap="square" lIns="91440" tIns="45720" rIns="91440" bIns="45720" anchor="t" anchorCtr="0"/>
          <a:lstStyle/>
          <a:p>
            <a:pPr>
              <a:buSzPct val="60000"/>
            </a:pPr>
            <a:endParaRPr lang="en-IN" altLang="x-none" dirty="0">
              <a:latin typeface="+mn-lt"/>
              <a:ea typeface="+mn-ea"/>
              <a:cs typeface="+mn-cs"/>
            </a:endParaRPr>
          </a:p>
        </p:txBody>
      </p:sp>
      <p:sp>
        <p:nvSpPr>
          <p:cNvPr id="48134"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30</a:t>
            </a:fld>
            <a:endParaRPr lang="en-US" sz="1200" dirty="0">
              <a:latin typeface="Tahoma" panose="020B0604030504040204"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vert="horz" wrap="square" lIns="91440" tIns="45720" rIns="91440" bIns="45720" anchor="b" anchorCtr="0"/>
          <a:lstStyle/>
          <a:p>
            <a:pPr>
              <a:buNone/>
            </a:pPr>
            <a:endParaRPr lang="en-IN" altLang="x-none" dirty="0"/>
          </a:p>
        </p:txBody>
      </p:sp>
      <p:pic>
        <p:nvPicPr>
          <p:cNvPr id="49155" name="Content Placeholder 5"/>
          <p:cNvPicPr>
            <a:picLocks noGrp="1" noChangeAspect="1"/>
          </p:cNvPicPr>
          <p:nvPr>
            <p:ph sz="half" idx="1"/>
          </p:nvPr>
        </p:nvPicPr>
        <p:blipFill>
          <a:blip r:embed="rId2"/>
          <a:stretch>
            <a:fillRect/>
          </a:stretch>
        </p:blipFill>
        <p:spPr>
          <a:xfrm>
            <a:off x="660400" y="1752600"/>
            <a:ext cx="7899400" cy="4191000"/>
          </a:xfrm>
        </p:spPr>
      </p:pic>
      <p:sp>
        <p:nvSpPr>
          <p:cNvPr id="49156" name="Content Placeholder 3"/>
          <p:cNvSpPr>
            <a:spLocks noGrp="1"/>
          </p:cNvSpPr>
          <p:nvPr>
            <p:ph sz="half" idx="2"/>
          </p:nvPr>
        </p:nvSpPr>
        <p:spPr/>
        <p:txBody>
          <a:bodyPr vert="horz" wrap="square" lIns="91440" tIns="45720" rIns="91440" bIns="45720" anchor="t" anchorCtr="0"/>
          <a:lstStyle/>
          <a:p>
            <a:pPr>
              <a:buSzPct val="60000"/>
            </a:pPr>
            <a:endParaRPr lang="en-IN" altLang="x-none" dirty="0">
              <a:latin typeface="+mn-lt"/>
              <a:ea typeface="+mn-ea"/>
              <a:cs typeface="+mn-cs"/>
            </a:endParaRPr>
          </a:p>
        </p:txBody>
      </p:sp>
      <p:sp>
        <p:nvSpPr>
          <p:cNvPr id="49157" name="Slide Number Placeholder 4"/>
          <p:cNvSpPr txBox="1">
            <a:spLocks noGrp="1"/>
          </p:cNvSpPr>
          <p:nvPr>
            <p:ph type="sldNum" sz="quarter" idx="4"/>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Comic Sans MS" panose="030F0702030302020204" pitchFamily="66" charset="0"/>
                <a:ea typeface="+mn-ea"/>
                <a:cs typeface="+mn-cs"/>
              </a:defRPr>
            </a:lvl5pPr>
          </a:lstStyle>
          <a:p>
            <a:pPr lvl="0" algn="r" eaLnBrk="1" hangingPunct="1"/>
            <a:fld id="{9A0DB2DC-4C9A-4742-B13C-FB6460FD3503}" type="slidenum">
              <a:rPr lang="en-US" sz="1200" dirty="0">
                <a:latin typeface="Tahoma" panose="020B0604030504040204" pitchFamily="34" charset="0"/>
              </a:rPr>
              <a:pPr lvl="0" algn="r" eaLnBrk="1" hangingPunct="1"/>
              <a:t>31</a:t>
            </a:fld>
            <a:endParaRPr lang="en-US" sz="1200" dirty="0">
              <a:latin typeface="Tahoma" panose="020B0604030504040204"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32</a:t>
            </a:fld>
            <a:endParaRPr lang="en-US" sz="1200" dirty="0">
              <a:latin typeface="Tahoma" panose="020B0604030504040204" pitchFamily="34" charset="0"/>
              <a:ea typeface="+mn-ea"/>
              <a:cs typeface="+mn-cs"/>
            </a:endParaRPr>
          </a:p>
        </p:txBody>
      </p:sp>
      <p:sp>
        <p:nvSpPr>
          <p:cNvPr id="50179" name="Rectangle 2"/>
          <p:cNvSpPr>
            <a:spLocks noGrp="1"/>
          </p:cNvSpPr>
          <p:nvPr>
            <p:ph type="title"/>
          </p:nvPr>
        </p:nvSpPr>
        <p:spPr>
          <a:xfrm>
            <a:off x="0" y="152400"/>
            <a:ext cx="9144000" cy="685800"/>
          </a:xfrm>
        </p:spPr>
        <p:txBody>
          <a:bodyPr vert="horz" wrap="square" lIns="92075" tIns="46038" rIns="92075" bIns="46038" anchor="ctr" anchorCtr="0"/>
          <a:lstStyle/>
          <a:p>
            <a:pPr eaLnBrk="1" hangingPunct="1"/>
            <a:r>
              <a:rPr sz="3200" dirty="0">
                <a:solidFill>
                  <a:srgbClr val="660066"/>
                </a:solidFill>
              </a:rPr>
              <a:t>Tree Pruning:</a:t>
            </a:r>
            <a:r>
              <a:rPr sz="3200" dirty="0"/>
              <a:t> Avoid Overfitting in Classification</a:t>
            </a:r>
            <a:endParaRPr sz="2800" dirty="0"/>
          </a:p>
        </p:txBody>
      </p:sp>
      <p:sp>
        <p:nvSpPr>
          <p:cNvPr id="50180" name="Rectangle 3"/>
          <p:cNvSpPr>
            <a:spLocks noGrp="1"/>
          </p:cNvSpPr>
          <p:nvPr>
            <p:ph idx="1"/>
          </p:nvPr>
        </p:nvSpPr>
        <p:spPr>
          <a:xfrm>
            <a:off x="228600" y="1066800"/>
            <a:ext cx="8534400" cy="5410200"/>
          </a:xfrm>
        </p:spPr>
        <p:txBody>
          <a:bodyPr vert="horz" wrap="square" lIns="92075" tIns="46038" rIns="92075" bIns="46038" anchor="t" anchorCtr="0"/>
          <a:lstStyle/>
          <a:p>
            <a:pPr eaLnBrk="1" hangingPunct="1">
              <a:lnSpc>
                <a:spcPct val="90000"/>
              </a:lnSpc>
            </a:pPr>
            <a:r>
              <a:rPr sz="2400" dirty="0">
                <a:solidFill>
                  <a:srgbClr val="170981"/>
                </a:solidFill>
              </a:rPr>
              <a:t>Overfitting:  An induced tree may overfit the training data</a:t>
            </a:r>
            <a:r>
              <a:rPr sz="2000" dirty="0">
                <a:solidFill>
                  <a:srgbClr val="170981"/>
                </a:solidFill>
              </a:rPr>
              <a:t> </a:t>
            </a:r>
          </a:p>
          <a:p>
            <a:pPr lvl="1" eaLnBrk="1" hangingPunct="1">
              <a:lnSpc>
                <a:spcPct val="90000"/>
              </a:lnSpc>
            </a:pPr>
            <a:r>
              <a:rPr sz="2400" dirty="0"/>
              <a:t>Too many branches, some may reflect anomalies due to noise or outliers</a:t>
            </a:r>
            <a:endParaRPr dirty="0"/>
          </a:p>
          <a:p>
            <a:pPr lvl="1" eaLnBrk="1" hangingPunct="1">
              <a:lnSpc>
                <a:spcPct val="90000"/>
              </a:lnSpc>
            </a:pPr>
            <a:r>
              <a:rPr sz="2400" dirty="0"/>
              <a:t>Poor accuracy for unseen samples</a:t>
            </a:r>
          </a:p>
          <a:p>
            <a:pPr lvl="1" eaLnBrk="1" hangingPunct="1">
              <a:lnSpc>
                <a:spcPct val="90000"/>
              </a:lnSpc>
            </a:pPr>
            <a:endParaRPr sz="2400" dirty="0">
              <a:solidFill>
                <a:srgbClr val="660066"/>
              </a:solidFill>
            </a:endParaRPr>
          </a:p>
          <a:p>
            <a:pPr eaLnBrk="1" hangingPunct="1">
              <a:lnSpc>
                <a:spcPct val="90000"/>
              </a:lnSpc>
            </a:pPr>
            <a:r>
              <a:rPr sz="2400" dirty="0">
                <a:solidFill>
                  <a:srgbClr val="660066"/>
                </a:solidFill>
              </a:rPr>
              <a:t>Two approaches to avoid overfitting </a:t>
            </a:r>
          </a:p>
          <a:p>
            <a:pPr lvl="1" eaLnBrk="1" hangingPunct="1">
              <a:lnSpc>
                <a:spcPct val="90000"/>
              </a:lnSpc>
            </a:pPr>
            <a:r>
              <a:rPr sz="2400" dirty="0">
                <a:solidFill>
                  <a:srgbClr val="170981"/>
                </a:solidFill>
              </a:rPr>
              <a:t>Prepruning:</a:t>
            </a:r>
            <a:r>
              <a:rPr sz="2400" dirty="0"/>
              <a:t> Halt tree construction early</a:t>
            </a:r>
            <a:r>
              <a:rPr sz="2400" dirty="0">
                <a:cs typeface="Tahoma" panose="020B0604030504040204" pitchFamily="34" charset="0"/>
              </a:rPr>
              <a:t>—</a:t>
            </a:r>
            <a:r>
              <a:rPr sz="2400" dirty="0"/>
              <a:t>do not split a node if this would result in the goodness measure falling below a threshold</a:t>
            </a:r>
          </a:p>
          <a:p>
            <a:pPr lvl="2" eaLnBrk="1" hangingPunct="1">
              <a:lnSpc>
                <a:spcPct val="90000"/>
              </a:lnSpc>
            </a:pPr>
            <a:r>
              <a:rPr dirty="0">
                <a:solidFill>
                  <a:srgbClr val="990000"/>
                </a:solidFill>
              </a:rPr>
              <a:t>Difficult to choose an appropriate threshold</a:t>
            </a:r>
          </a:p>
          <a:p>
            <a:pPr lvl="1" eaLnBrk="1" hangingPunct="1">
              <a:lnSpc>
                <a:spcPct val="90000"/>
              </a:lnSpc>
            </a:pPr>
            <a:r>
              <a:rPr sz="2400" dirty="0">
                <a:solidFill>
                  <a:srgbClr val="170981"/>
                </a:solidFill>
              </a:rPr>
              <a:t>Postpruning:</a:t>
            </a:r>
            <a:r>
              <a:rPr sz="2400" dirty="0"/>
              <a:t> Remove branches from a “fully grown” tree</a:t>
            </a:r>
            <a:r>
              <a:rPr sz="2400" dirty="0">
                <a:cs typeface="Tahoma" panose="020B0604030504040204" pitchFamily="34" charset="0"/>
              </a:rPr>
              <a:t>—</a:t>
            </a:r>
            <a:r>
              <a:rPr sz="2400" dirty="0"/>
              <a:t>get a sequence of progressively pruned trees</a:t>
            </a:r>
          </a:p>
          <a:p>
            <a:pPr lvl="2" eaLnBrk="1" hangingPunct="1">
              <a:lnSpc>
                <a:spcPct val="90000"/>
              </a:lnSpc>
            </a:pPr>
            <a:r>
              <a:rPr dirty="0"/>
              <a:t>Use a set of data different from the training data to decide which is the “best pruned tree”</a:t>
            </a: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4386" name="Picture 2"/>
          <p:cNvPicPr>
            <a:picLocks noGrp="1" noChangeAspect="1" noChangeArrowheads="1"/>
          </p:cNvPicPr>
          <p:nvPr>
            <p:ph idx="1"/>
          </p:nvPr>
        </p:nvPicPr>
        <p:blipFill>
          <a:blip r:embed="rId2"/>
          <a:srcRect/>
          <a:stretch>
            <a:fillRect/>
          </a:stretch>
        </p:blipFill>
        <p:spPr bwMode="auto">
          <a:xfrm>
            <a:off x="304800" y="304800"/>
            <a:ext cx="8001000" cy="62690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3362" name="Picture 2"/>
          <p:cNvPicPr>
            <a:picLocks noGrp="1" noChangeAspect="1" noChangeArrowheads="1"/>
          </p:cNvPicPr>
          <p:nvPr>
            <p:ph idx="1"/>
          </p:nvPr>
        </p:nvPicPr>
        <p:blipFill>
          <a:blip r:embed="rId2"/>
          <a:srcRect/>
          <a:stretch>
            <a:fillRect/>
          </a:stretch>
        </p:blipFill>
        <p:spPr bwMode="auto">
          <a:xfrm>
            <a:off x="685800" y="914400"/>
            <a:ext cx="8121366" cy="518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35</a:t>
            </a:fld>
            <a:endParaRPr lang="en-US" sz="1200" dirty="0">
              <a:latin typeface="Tahoma" panose="020B0604030504040204" pitchFamily="34" charset="0"/>
              <a:ea typeface="+mn-ea"/>
              <a:cs typeface="+mn-cs"/>
            </a:endParaRPr>
          </a:p>
        </p:txBody>
      </p:sp>
      <p:sp>
        <p:nvSpPr>
          <p:cNvPr id="52227" name="Rectangle 3074"/>
          <p:cNvSpPr>
            <a:spLocks noGrp="1"/>
          </p:cNvSpPr>
          <p:nvPr>
            <p:ph type="title"/>
          </p:nvPr>
        </p:nvSpPr>
        <p:spPr>
          <a:xfrm>
            <a:off x="1143000" y="381000"/>
            <a:ext cx="7793038" cy="609600"/>
          </a:xfrm>
        </p:spPr>
        <p:txBody>
          <a:bodyPr vert="horz" wrap="square" lIns="91440" tIns="45720" rIns="91440" bIns="45720" anchor="b" anchorCtr="0"/>
          <a:lstStyle/>
          <a:p>
            <a:pPr eaLnBrk="1" hangingPunct="1"/>
            <a:r>
              <a:rPr sz="3200" dirty="0"/>
              <a:t>Extracting Classification Rules from Trees</a:t>
            </a:r>
          </a:p>
        </p:txBody>
      </p:sp>
      <p:sp>
        <p:nvSpPr>
          <p:cNvPr id="52228" name="Rectangle 3075"/>
          <p:cNvSpPr>
            <a:spLocks noGrp="1"/>
          </p:cNvSpPr>
          <p:nvPr>
            <p:ph idx="1"/>
          </p:nvPr>
        </p:nvSpPr>
        <p:spPr>
          <a:xfrm>
            <a:off x="228600" y="990600"/>
            <a:ext cx="8610600" cy="5006975"/>
          </a:xfrm>
        </p:spPr>
        <p:txBody>
          <a:bodyPr vert="horz" wrap="square" lIns="91440" tIns="45720" rIns="91440" bIns="45720" anchor="t" anchorCtr="0"/>
          <a:lstStyle/>
          <a:p>
            <a:pPr eaLnBrk="1" hangingPunct="1">
              <a:lnSpc>
                <a:spcPct val="110000"/>
              </a:lnSpc>
            </a:pPr>
            <a:r>
              <a:rPr sz="1800" dirty="0"/>
              <a:t>Represent the knowledge in the form of </a:t>
            </a:r>
            <a:r>
              <a:rPr sz="1800" dirty="0">
                <a:solidFill>
                  <a:srgbClr val="170981"/>
                </a:solidFill>
              </a:rPr>
              <a:t>IF-THEN </a:t>
            </a:r>
            <a:r>
              <a:rPr sz="1800" dirty="0"/>
              <a:t>rules</a:t>
            </a:r>
          </a:p>
          <a:p>
            <a:pPr eaLnBrk="1" hangingPunct="1">
              <a:lnSpc>
                <a:spcPct val="110000"/>
              </a:lnSpc>
            </a:pPr>
            <a:r>
              <a:rPr sz="1800" dirty="0"/>
              <a:t>One rule is created for each path from the root to a leaf</a:t>
            </a:r>
          </a:p>
          <a:p>
            <a:pPr eaLnBrk="1" hangingPunct="1">
              <a:lnSpc>
                <a:spcPct val="110000"/>
              </a:lnSpc>
            </a:pPr>
            <a:r>
              <a:rPr sz="1800" dirty="0"/>
              <a:t>Each attribute-value pair along a path forms a conjunction</a:t>
            </a:r>
          </a:p>
          <a:p>
            <a:pPr eaLnBrk="1" hangingPunct="1">
              <a:lnSpc>
                <a:spcPct val="110000"/>
              </a:lnSpc>
            </a:pPr>
            <a:r>
              <a:rPr sz="1800" dirty="0"/>
              <a:t>The leaf node holds the class prediction</a:t>
            </a:r>
          </a:p>
          <a:p>
            <a:pPr eaLnBrk="1" hangingPunct="1">
              <a:lnSpc>
                <a:spcPct val="110000"/>
              </a:lnSpc>
            </a:pPr>
            <a:r>
              <a:rPr sz="1800" dirty="0"/>
              <a:t>Rules are easier for humans to understand</a:t>
            </a:r>
          </a:p>
          <a:p>
            <a:pPr eaLnBrk="1" hangingPunct="1">
              <a:lnSpc>
                <a:spcPct val="110000"/>
              </a:lnSpc>
              <a:buNone/>
            </a:pPr>
            <a:endParaRPr sz="1800" dirty="0"/>
          </a:p>
          <a:p>
            <a:pPr eaLnBrk="1" hangingPunct="1">
              <a:lnSpc>
                <a:spcPct val="110000"/>
              </a:lnSpc>
              <a:buNone/>
            </a:pPr>
            <a:endParaRPr sz="1800" dirty="0"/>
          </a:p>
          <a:p>
            <a:pPr eaLnBrk="1" hangingPunct="1">
              <a:lnSpc>
                <a:spcPct val="110000"/>
              </a:lnSpc>
              <a:buNone/>
            </a:pPr>
            <a:endParaRPr sz="1800" dirty="0"/>
          </a:p>
          <a:p>
            <a:pPr eaLnBrk="1" hangingPunct="1">
              <a:lnSpc>
                <a:spcPct val="110000"/>
              </a:lnSpc>
              <a:buNone/>
            </a:pPr>
            <a:endParaRPr sz="1800" dirty="0"/>
          </a:p>
          <a:p>
            <a:pPr eaLnBrk="1" hangingPunct="1">
              <a:lnSpc>
                <a:spcPct val="110000"/>
              </a:lnSpc>
              <a:buNone/>
            </a:pPr>
            <a:r>
              <a:rPr sz="1800" dirty="0"/>
              <a:t>Example</a:t>
            </a:r>
          </a:p>
          <a:p>
            <a:pPr lvl="1" eaLnBrk="1" hangingPunct="1">
              <a:lnSpc>
                <a:spcPct val="110000"/>
              </a:lnSpc>
              <a:spcBef>
                <a:spcPct val="40000"/>
              </a:spcBef>
              <a:buNone/>
            </a:pPr>
            <a:r>
              <a:rPr sz="1800" dirty="0">
                <a:solidFill>
                  <a:srgbClr val="170981"/>
                </a:solidFill>
              </a:rPr>
              <a:t>IF </a:t>
            </a:r>
            <a:r>
              <a:rPr sz="1800" i="1" dirty="0">
                <a:solidFill>
                  <a:srgbClr val="170981"/>
                </a:solidFill>
              </a:rPr>
              <a:t>age</a:t>
            </a:r>
            <a:r>
              <a:rPr sz="1800" dirty="0">
                <a:solidFill>
                  <a:srgbClr val="170981"/>
                </a:solidFill>
              </a:rPr>
              <a:t> = “&lt;=30” AND </a:t>
            </a:r>
            <a:r>
              <a:rPr sz="1800" i="1" dirty="0">
                <a:solidFill>
                  <a:srgbClr val="170981"/>
                </a:solidFill>
              </a:rPr>
              <a:t>student</a:t>
            </a:r>
            <a:r>
              <a:rPr sz="1800" dirty="0">
                <a:solidFill>
                  <a:srgbClr val="170981"/>
                </a:solidFill>
              </a:rPr>
              <a:t> = “</a:t>
            </a:r>
            <a:r>
              <a:rPr sz="1800" i="1" dirty="0">
                <a:solidFill>
                  <a:srgbClr val="170981"/>
                </a:solidFill>
              </a:rPr>
              <a:t>no</a:t>
            </a:r>
            <a:r>
              <a:rPr sz="1800" dirty="0">
                <a:solidFill>
                  <a:srgbClr val="170981"/>
                </a:solidFill>
              </a:rPr>
              <a:t>”   THEN </a:t>
            </a:r>
            <a:r>
              <a:rPr sz="1800" i="1" dirty="0">
                <a:solidFill>
                  <a:srgbClr val="170981"/>
                </a:solidFill>
              </a:rPr>
              <a:t>buys_computer</a:t>
            </a:r>
            <a:r>
              <a:rPr sz="1800" dirty="0">
                <a:solidFill>
                  <a:srgbClr val="170981"/>
                </a:solidFill>
              </a:rPr>
              <a:t> = “</a:t>
            </a:r>
            <a:r>
              <a:rPr sz="1800" i="1" dirty="0">
                <a:solidFill>
                  <a:srgbClr val="170981"/>
                </a:solidFill>
              </a:rPr>
              <a:t>no</a:t>
            </a:r>
            <a:r>
              <a:rPr sz="1800" dirty="0">
                <a:solidFill>
                  <a:srgbClr val="170981"/>
                </a:solidFill>
              </a:rPr>
              <a:t>”</a:t>
            </a:r>
          </a:p>
          <a:p>
            <a:pPr lvl="1" eaLnBrk="1" hangingPunct="1">
              <a:lnSpc>
                <a:spcPct val="110000"/>
              </a:lnSpc>
              <a:buNone/>
            </a:pPr>
            <a:r>
              <a:rPr sz="1800" dirty="0">
                <a:solidFill>
                  <a:srgbClr val="170981"/>
                </a:solidFill>
              </a:rPr>
              <a:t>IF </a:t>
            </a:r>
            <a:r>
              <a:rPr sz="1800" i="1" dirty="0">
                <a:solidFill>
                  <a:srgbClr val="170981"/>
                </a:solidFill>
              </a:rPr>
              <a:t>age</a:t>
            </a:r>
            <a:r>
              <a:rPr sz="1800" dirty="0">
                <a:solidFill>
                  <a:srgbClr val="170981"/>
                </a:solidFill>
              </a:rPr>
              <a:t> = “&lt;=30” AND </a:t>
            </a:r>
            <a:r>
              <a:rPr sz="1800" i="1" dirty="0">
                <a:solidFill>
                  <a:srgbClr val="170981"/>
                </a:solidFill>
              </a:rPr>
              <a:t>student</a:t>
            </a:r>
            <a:r>
              <a:rPr sz="1800" dirty="0">
                <a:solidFill>
                  <a:srgbClr val="170981"/>
                </a:solidFill>
              </a:rPr>
              <a:t> = “</a:t>
            </a:r>
            <a:r>
              <a:rPr sz="1800" i="1" dirty="0">
                <a:solidFill>
                  <a:srgbClr val="170981"/>
                </a:solidFill>
              </a:rPr>
              <a:t>yes</a:t>
            </a:r>
            <a:r>
              <a:rPr sz="1800" dirty="0">
                <a:solidFill>
                  <a:srgbClr val="170981"/>
                </a:solidFill>
              </a:rPr>
              <a:t>”  THEN </a:t>
            </a:r>
            <a:r>
              <a:rPr sz="1800" i="1" dirty="0">
                <a:solidFill>
                  <a:srgbClr val="170981"/>
                </a:solidFill>
              </a:rPr>
              <a:t>buys_computer</a:t>
            </a:r>
            <a:r>
              <a:rPr sz="1800" dirty="0">
                <a:solidFill>
                  <a:srgbClr val="170981"/>
                </a:solidFill>
              </a:rPr>
              <a:t> = “</a:t>
            </a:r>
            <a:r>
              <a:rPr sz="1800" i="1" dirty="0">
                <a:solidFill>
                  <a:srgbClr val="170981"/>
                </a:solidFill>
              </a:rPr>
              <a:t>yes</a:t>
            </a:r>
            <a:r>
              <a:rPr sz="1800" dirty="0">
                <a:solidFill>
                  <a:srgbClr val="170981"/>
                </a:solidFill>
              </a:rPr>
              <a:t>”</a:t>
            </a:r>
          </a:p>
          <a:p>
            <a:pPr lvl="1" eaLnBrk="1" hangingPunct="1">
              <a:lnSpc>
                <a:spcPct val="110000"/>
              </a:lnSpc>
              <a:buNone/>
            </a:pPr>
            <a:r>
              <a:rPr sz="1800" dirty="0">
                <a:solidFill>
                  <a:srgbClr val="170981"/>
                </a:solidFill>
              </a:rPr>
              <a:t>IF </a:t>
            </a:r>
            <a:r>
              <a:rPr sz="1800" i="1" dirty="0">
                <a:solidFill>
                  <a:srgbClr val="170981"/>
                </a:solidFill>
              </a:rPr>
              <a:t>age</a:t>
            </a:r>
            <a:r>
              <a:rPr sz="1800" dirty="0">
                <a:solidFill>
                  <a:srgbClr val="170981"/>
                </a:solidFill>
              </a:rPr>
              <a:t> = “31…40”  THEN </a:t>
            </a:r>
            <a:r>
              <a:rPr sz="1800" i="1" dirty="0">
                <a:solidFill>
                  <a:srgbClr val="170981"/>
                </a:solidFill>
              </a:rPr>
              <a:t>buys_computer</a:t>
            </a:r>
            <a:r>
              <a:rPr sz="1800" dirty="0">
                <a:solidFill>
                  <a:srgbClr val="170981"/>
                </a:solidFill>
              </a:rPr>
              <a:t> = “</a:t>
            </a:r>
            <a:r>
              <a:rPr sz="1800" i="1" dirty="0">
                <a:solidFill>
                  <a:srgbClr val="170981"/>
                </a:solidFill>
              </a:rPr>
              <a:t>yes</a:t>
            </a:r>
            <a:r>
              <a:rPr sz="1800" dirty="0">
                <a:solidFill>
                  <a:srgbClr val="170981"/>
                </a:solidFill>
              </a:rPr>
              <a:t>” IF </a:t>
            </a:r>
            <a:r>
              <a:rPr sz="1800" i="1" dirty="0">
                <a:solidFill>
                  <a:srgbClr val="170981"/>
                </a:solidFill>
              </a:rPr>
              <a:t>age</a:t>
            </a:r>
            <a:r>
              <a:rPr sz="1800" dirty="0">
                <a:solidFill>
                  <a:srgbClr val="170981"/>
                </a:solidFill>
              </a:rPr>
              <a:t> = “&gt;40”   AND </a:t>
            </a:r>
            <a:r>
              <a:rPr sz="1800" i="1" dirty="0">
                <a:solidFill>
                  <a:srgbClr val="170981"/>
                </a:solidFill>
              </a:rPr>
              <a:t>credit_rating</a:t>
            </a:r>
            <a:r>
              <a:rPr sz="1800" dirty="0">
                <a:solidFill>
                  <a:srgbClr val="170981"/>
                </a:solidFill>
              </a:rPr>
              <a:t> = “</a:t>
            </a:r>
            <a:r>
              <a:rPr sz="1800" i="1" dirty="0">
                <a:solidFill>
                  <a:srgbClr val="170981"/>
                </a:solidFill>
              </a:rPr>
              <a:t>excellent</a:t>
            </a:r>
            <a:r>
              <a:rPr sz="1800" dirty="0">
                <a:solidFill>
                  <a:srgbClr val="170981"/>
                </a:solidFill>
              </a:rPr>
              <a:t>”   THEN </a:t>
            </a:r>
            <a:r>
              <a:rPr sz="1800" i="1" dirty="0">
                <a:solidFill>
                  <a:srgbClr val="170981"/>
                </a:solidFill>
              </a:rPr>
              <a:t>buys_computer </a:t>
            </a:r>
            <a:r>
              <a:rPr sz="1800" dirty="0">
                <a:solidFill>
                  <a:srgbClr val="170981"/>
                </a:solidFill>
              </a:rPr>
              <a:t>= “</a:t>
            </a:r>
            <a:r>
              <a:rPr sz="1800" i="1" dirty="0">
                <a:solidFill>
                  <a:srgbClr val="170981"/>
                </a:solidFill>
              </a:rPr>
              <a:t>yes</a:t>
            </a:r>
            <a:r>
              <a:rPr sz="1800" dirty="0">
                <a:solidFill>
                  <a:srgbClr val="170981"/>
                </a:solidFill>
              </a:rPr>
              <a:t>”</a:t>
            </a:r>
          </a:p>
          <a:p>
            <a:pPr lvl="1" eaLnBrk="1" hangingPunct="1">
              <a:lnSpc>
                <a:spcPct val="110000"/>
              </a:lnSpc>
              <a:buNone/>
            </a:pPr>
            <a:r>
              <a:rPr sz="1800" dirty="0">
                <a:solidFill>
                  <a:srgbClr val="170981"/>
                </a:solidFill>
              </a:rPr>
              <a:t>IF </a:t>
            </a:r>
            <a:r>
              <a:rPr sz="1800" i="1" dirty="0">
                <a:solidFill>
                  <a:srgbClr val="170981"/>
                </a:solidFill>
              </a:rPr>
              <a:t>age</a:t>
            </a:r>
            <a:r>
              <a:rPr sz="1800" dirty="0">
                <a:solidFill>
                  <a:srgbClr val="170981"/>
                </a:solidFill>
              </a:rPr>
              <a:t> = “&lt;=30” AND </a:t>
            </a:r>
            <a:r>
              <a:rPr sz="1800" i="1" dirty="0">
                <a:solidFill>
                  <a:srgbClr val="170981"/>
                </a:solidFill>
              </a:rPr>
              <a:t>credit_rating</a:t>
            </a:r>
            <a:r>
              <a:rPr sz="1800" dirty="0">
                <a:solidFill>
                  <a:srgbClr val="170981"/>
                </a:solidFill>
              </a:rPr>
              <a:t> = “</a:t>
            </a:r>
            <a:r>
              <a:rPr sz="1800" i="1" dirty="0">
                <a:solidFill>
                  <a:srgbClr val="170981"/>
                </a:solidFill>
              </a:rPr>
              <a:t>fair</a:t>
            </a:r>
            <a:r>
              <a:rPr sz="1800" dirty="0">
                <a:solidFill>
                  <a:srgbClr val="170981"/>
                </a:solidFill>
              </a:rPr>
              <a:t>”  THEN </a:t>
            </a:r>
            <a:r>
              <a:rPr sz="1800" i="1" dirty="0">
                <a:solidFill>
                  <a:srgbClr val="170981"/>
                </a:solidFill>
              </a:rPr>
              <a:t>buys_computer</a:t>
            </a:r>
            <a:r>
              <a:rPr sz="1800" dirty="0">
                <a:solidFill>
                  <a:srgbClr val="170981"/>
                </a:solidFill>
              </a:rPr>
              <a:t> = “</a:t>
            </a:r>
            <a:r>
              <a:rPr sz="1800" i="1" dirty="0">
                <a:solidFill>
                  <a:srgbClr val="170981"/>
                </a:solidFill>
              </a:rPr>
              <a:t>no</a:t>
            </a:r>
            <a:r>
              <a:rPr sz="1800" dirty="0">
                <a:solidFill>
                  <a:srgbClr val="170981"/>
                </a:solidFill>
              </a:rPr>
              <a:t>”</a:t>
            </a:r>
          </a:p>
        </p:txBody>
      </p:sp>
      <p:grpSp>
        <p:nvGrpSpPr>
          <p:cNvPr id="52229" name="Group 4"/>
          <p:cNvGrpSpPr/>
          <p:nvPr/>
        </p:nvGrpSpPr>
        <p:grpSpPr>
          <a:xfrm>
            <a:off x="6019800" y="2133600"/>
            <a:ext cx="2803525" cy="2233613"/>
            <a:chOff x="1185863" y="1901825"/>
            <a:chExt cx="6162517" cy="4228686"/>
          </a:xfrm>
        </p:grpSpPr>
        <p:sp>
          <p:nvSpPr>
            <p:cNvPr id="6" name="Rectangle 3"/>
            <p:cNvSpPr>
              <a:spLocks noChangeArrowheads="1"/>
            </p:cNvSpPr>
            <p:nvPr/>
          </p:nvSpPr>
          <p:spPr bwMode="auto">
            <a:xfrm>
              <a:off x="3527341" y="1901825"/>
              <a:ext cx="977070" cy="495902"/>
            </a:xfrm>
            <a:prstGeom prst="rect">
              <a:avLst/>
            </a:prstGeom>
            <a:solidFill>
              <a:srgbClr val="00CCFF"/>
            </a:solidFill>
            <a:ln w="12700">
              <a:solidFill>
                <a:schemeClr val="tx1"/>
              </a:solid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age?</a:t>
              </a:r>
            </a:p>
          </p:txBody>
        </p:sp>
        <p:sp>
          <p:nvSpPr>
            <p:cNvPr id="7" name="Rectangle 4"/>
            <p:cNvSpPr>
              <a:spLocks noChangeArrowheads="1"/>
            </p:cNvSpPr>
            <p:nvPr/>
          </p:nvSpPr>
          <p:spPr bwMode="auto">
            <a:xfrm>
              <a:off x="3300521" y="2875595"/>
              <a:ext cx="1437688" cy="498907"/>
            </a:xfrm>
            <a:prstGeom prst="rect">
              <a:avLst/>
            </a:prstGeom>
            <a:no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overcast</a:t>
              </a:r>
            </a:p>
          </p:txBody>
        </p:sp>
        <p:sp>
          <p:nvSpPr>
            <p:cNvPr id="8" name="Rectangle 5"/>
            <p:cNvSpPr>
              <a:spLocks noChangeArrowheads="1"/>
            </p:cNvSpPr>
            <p:nvPr/>
          </p:nvSpPr>
          <p:spPr bwMode="auto">
            <a:xfrm>
              <a:off x="1688356" y="3792262"/>
              <a:ext cx="1437688" cy="495900"/>
            </a:xfrm>
            <a:prstGeom prst="rect">
              <a:avLst/>
            </a:prstGeom>
            <a:solidFill>
              <a:srgbClr val="00FFCC"/>
            </a:solidFill>
            <a:ln w="12700">
              <a:solidFill>
                <a:schemeClr val="tx1"/>
              </a:solid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student?</a:t>
              </a:r>
            </a:p>
          </p:txBody>
        </p:sp>
        <p:sp>
          <p:nvSpPr>
            <p:cNvPr id="9" name="Rectangle 6"/>
            <p:cNvSpPr>
              <a:spLocks noChangeArrowheads="1"/>
            </p:cNvSpPr>
            <p:nvPr/>
          </p:nvSpPr>
          <p:spPr bwMode="auto">
            <a:xfrm>
              <a:off x="5184869" y="3792262"/>
              <a:ext cx="2044867" cy="495900"/>
            </a:xfrm>
            <a:prstGeom prst="rect">
              <a:avLst/>
            </a:prstGeom>
            <a:solidFill>
              <a:srgbClr val="99CCFF"/>
            </a:solidFill>
            <a:ln w="12700">
              <a:solidFill>
                <a:schemeClr val="tx1"/>
              </a:solid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credit rating?</a:t>
              </a:r>
            </a:p>
          </p:txBody>
        </p:sp>
        <p:sp>
          <p:nvSpPr>
            <p:cNvPr id="10" name="Rectangle 7"/>
            <p:cNvSpPr>
              <a:spLocks noChangeArrowheads="1"/>
            </p:cNvSpPr>
            <p:nvPr/>
          </p:nvSpPr>
          <p:spPr bwMode="auto">
            <a:xfrm>
              <a:off x="1185863" y="4757014"/>
              <a:ext cx="718844" cy="495902"/>
            </a:xfrm>
            <a:prstGeom prst="rect">
              <a:avLst/>
            </a:prstGeom>
            <a:no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a:t>
              </a:r>
            </a:p>
          </p:txBody>
        </p:sp>
        <p:sp>
          <p:nvSpPr>
            <p:cNvPr id="11" name="Rectangle 8"/>
            <p:cNvSpPr>
              <a:spLocks noChangeArrowheads="1"/>
            </p:cNvSpPr>
            <p:nvPr/>
          </p:nvSpPr>
          <p:spPr bwMode="auto">
            <a:xfrm>
              <a:off x="2752665" y="4757014"/>
              <a:ext cx="820039" cy="495902"/>
            </a:xfrm>
            <a:prstGeom prst="rect">
              <a:avLst/>
            </a:prstGeom>
            <a:no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yes</a:t>
              </a:r>
            </a:p>
          </p:txBody>
        </p:sp>
        <p:sp>
          <p:nvSpPr>
            <p:cNvPr id="12" name="Rectangle 9"/>
            <p:cNvSpPr>
              <a:spLocks noChangeArrowheads="1"/>
            </p:cNvSpPr>
            <p:nvPr/>
          </p:nvSpPr>
          <p:spPr bwMode="auto">
            <a:xfrm>
              <a:off x="6514382" y="4772042"/>
              <a:ext cx="833998" cy="495900"/>
            </a:xfrm>
            <a:prstGeom prst="rect">
              <a:avLst/>
            </a:prstGeom>
            <a:no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fair</a:t>
              </a:r>
            </a:p>
          </p:txBody>
        </p:sp>
        <p:sp>
          <p:nvSpPr>
            <p:cNvPr id="13" name="Rectangle 10"/>
            <p:cNvSpPr>
              <a:spLocks noChangeArrowheads="1"/>
            </p:cNvSpPr>
            <p:nvPr/>
          </p:nvSpPr>
          <p:spPr bwMode="auto">
            <a:xfrm>
              <a:off x="4881281" y="4787069"/>
              <a:ext cx="1521437" cy="495902"/>
            </a:xfrm>
            <a:prstGeom prst="rect">
              <a:avLst/>
            </a:prstGeom>
            <a:no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excellent</a:t>
              </a:r>
            </a:p>
          </p:txBody>
        </p:sp>
        <p:sp>
          <p:nvSpPr>
            <p:cNvPr id="14" name="Line 11"/>
            <p:cNvSpPr>
              <a:spLocks noChangeShapeType="1"/>
            </p:cNvSpPr>
            <p:nvPr/>
          </p:nvSpPr>
          <p:spPr bwMode="auto">
            <a:xfrm flipH="1">
              <a:off x="2309493" y="2394721"/>
              <a:ext cx="991028" cy="1322403"/>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15" name="Line 12"/>
            <p:cNvSpPr>
              <a:spLocks noChangeShapeType="1"/>
            </p:cNvSpPr>
            <p:nvPr/>
          </p:nvSpPr>
          <p:spPr bwMode="auto">
            <a:xfrm flipH="1">
              <a:off x="3900720" y="2439804"/>
              <a:ext cx="0" cy="546994"/>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16" name="Line 13"/>
            <p:cNvSpPr>
              <a:spLocks noChangeShapeType="1"/>
            </p:cNvSpPr>
            <p:nvPr/>
          </p:nvSpPr>
          <p:spPr bwMode="auto">
            <a:xfrm>
              <a:off x="4567223" y="2469858"/>
              <a:ext cx="1486541" cy="1310381"/>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17" name="Rectangle 14"/>
            <p:cNvSpPr>
              <a:spLocks noChangeArrowheads="1"/>
            </p:cNvSpPr>
            <p:nvPr/>
          </p:nvSpPr>
          <p:spPr bwMode="auto">
            <a:xfrm>
              <a:off x="2138507" y="2818492"/>
              <a:ext cx="1071286" cy="495900"/>
            </a:xfrm>
            <a:prstGeom prst="rect">
              <a:avLst/>
            </a:prstGeom>
            <a:solidFill>
              <a:srgbClr val="FFFF00"/>
            </a:solidFill>
            <a:ln w="12700">
              <a:solidFill>
                <a:schemeClr val="bg1"/>
              </a:solid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&lt;=30</a:t>
              </a:r>
              <a:endParaRPr kumimoji="0" lang="en-US" sz="105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18" name="Rectangle 15"/>
            <p:cNvSpPr>
              <a:spLocks noChangeArrowheads="1"/>
            </p:cNvSpPr>
            <p:nvPr/>
          </p:nvSpPr>
          <p:spPr bwMode="auto">
            <a:xfrm>
              <a:off x="5076694" y="2935704"/>
              <a:ext cx="896809" cy="498907"/>
            </a:xfrm>
            <a:prstGeom prst="rect">
              <a:avLst/>
            </a:prstGeom>
            <a:solidFill>
              <a:srgbClr val="FFFF00"/>
            </a:solid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&gt;40</a:t>
              </a:r>
              <a:endPar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9" name="Line 16"/>
            <p:cNvSpPr>
              <a:spLocks noChangeShapeType="1"/>
            </p:cNvSpPr>
            <p:nvPr/>
          </p:nvSpPr>
          <p:spPr bwMode="auto">
            <a:xfrm flipH="1">
              <a:off x="1478984" y="4345267"/>
              <a:ext cx="495514" cy="516939"/>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0" name="Line 17"/>
            <p:cNvSpPr>
              <a:spLocks noChangeShapeType="1"/>
            </p:cNvSpPr>
            <p:nvPr/>
          </p:nvSpPr>
          <p:spPr bwMode="auto">
            <a:xfrm>
              <a:off x="2609593" y="4390348"/>
              <a:ext cx="418744" cy="423771"/>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1" name="Line 18"/>
            <p:cNvSpPr>
              <a:spLocks noChangeShapeType="1"/>
            </p:cNvSpPr>
            <p:nvPr/>
          </p:nvSpPr>
          <p:spPr bwMode="auto">
            <a:xfrm flipH="1">
              <a:off x="5453564" y="4390348"/>
              <a:ext cx="345463" cy="456830"/>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2" name="Line 19"/>
            <p:cNvSpPr>
              <a:spLocks noChangeShapeType="1"/>
            </p:cNvSpPr>
            <p:nvPr/>
          </p:nvSpPr>
          <p:spPr bwMode="auto">
            <a:xfrm>
              <a:off x="6434122" y="4405376"/>
              <a:ext cx="328016" cy="396721"/>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3" name="Line 20"/>
            <p:cNvSpPr>
              <a:spLocks noChangeShapeType="1"/>
            </p:cNvSpPr>
            <p:nvPr/>
          </p:nvSpPr>
          <p:spPr bwMode="auto">
            <a:xfrm>
              <a:off x="1430130" y="5228872"/>
              <a:ext cx="0" cy="438797"/>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4" name="Line 21"/>
            <p:cNvSpPr>
              <a:spLocks noChangeShapeType="1"/>
            </p:cNvSpPr>
            <p:nvPr/>
          </p:nvSpPr>
          <p:spPr bwMode="auto">
            <a:xfrm>
              <a:off x="6814482" y="5183790"/>
              <a:ext cx="0" cy="438797"/>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5" name="Line 22"/>
            <p:cNvSpPr>
              <a:spLocks noChangeShapeType="1"/>
            </p:cNvSpPr>
            <p:nvPr/>
          </p:nvSpPr>
          <p:spPr bwMode="auto">
            <a:xfrm>
              <a:off x="5516376" y="5198818"/>
              <a:ext cx="0" cy="438797"/>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6" name="Line 23"/>
            <p:cNvSpPr>
              <a:spLocks noChangeShapeType="1"/>
            </p:cNvSpPr>
            <p:nvPr/>
          </p:nvSpPr>
          <p:spPr bwMode="auto">
            <a:xfrm>
              <a:off x="3045786" y="5198818"/>
              <a:ext cx="0" cy="438797"/>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7" name="Line 24"/>
            <p:cNvSpPr>
              <a:spLocks noChangeShapeType="1"/>
            </p:cNvSpPr>
            <p:nvPr/>
          </p:nvSpPr>
          <p:spPr bwMode="auto">
            <a:xfrm>
              <a:off x="3900720" y="3293355"/>
              <a:ext cx="0" cy="441802"/>
            </a:xfrm>
            <a:prstGeom prst="line">
              <a:avLst/>
            </a:prstGeom>
            <a:noFill/>
            <a:ln w="12700">
              <a:solidFill>
                <a:srgbClr val="000000"/>
              </a:solidFill>
              <a:round/>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050" b="0" i="0"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28" name="Rectangle 25"/>
            <p:cNvSpPr>
              <a:spLocks noChangeArrowheads="1"/>
            </p:cNvSpPr>
            <p:nvPr/>
          </p:nvSpPr>
          <p:spPr bwMode="auto">
            <a:xfrm>
              <a:off x="1185863" y="5634609"/>
              <a:ext cx="718844" cy="495902"/>
            </a:xfrm>
            <a:prstGeom prst="rect">
              <a:avLst/>
            </a:prstGeom>
            <a:solidFill>
              <a:srgbClr val="FFCC99"/>
            </a:solid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a:t>
              </a:r>
            </a:p>
          </p:txBody>
        </p:sp>
        <p:sp>
          <p:nvSpPr>
            <p:cNvPr id="29" name="Rectangle 26"/>
            <p:cNvSpPr>
              <a:spLocks noChangeArrowheads="1"/>
            </p:cNvSpPr>
            <p:nvPr/>
          </p:nvSpPr>
          <p:spPr bwMode="auto">
            <a:xfrm>
              <a:off x="5272108" y="5634609"/>
              <a:ext cx="715353" cy="495902"/>
            </a:xfrm>
            <a:prstGeom prst="rect">
              <a:avLst/>
            </a:prstGeom>
            <a:solidFill>
              <a:srgbClr val="FFCC99"/>
            </a:solid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a:t>
              </a:r>
            </a:p>
          </p:txBody>
        </p:sp>
        <p:sp>
          <p:nvSpPr>
            <p:cNvPr id="30" name="Rectangle 27"/>
            <p:cNvSpPr>
              <a:spLocks noChangeArrowheads="1"/>
            </p:cNvSpPr>
            <p:nvPr/>
          </p:nvSpPr>
          <p:spPr bwMode="auto">
            <a:xfrm>
              <a:off x="2749174" y="5634609"/>
              <a:ext cx="820042" cy="495902"/>
            </a:xfrm>
            <a:prstGeom prst="rect">
              <a:avLst/>
            </a:prstGeom>
            <a:solidFill>
              <a:srgbClr val="00FF00"/>
            </a:solid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yes</a:t>
              </a:r>
            </a:p>
          </p:txBody>
        </p:sp>
        <p:sp>
          <p:nvSpPr>
            <p:cNvPr id="31" name="Rectangle 28"/>
            <p:cNvSpPr>
              <a:spLocks noChangeArrowheads="1"/>
            </p:cNvSpPr>
            <p:nvPr/>
          </p:nvSpPr>
          <p:spPr bwMode="auto">
            <a:xfrm>
              <a:off x="6521362" y="5634609"/>
              <a:ext cx="820039" cy="495902"/>
            </a:xfrm>
            <a:prstGeom prst="rect">
              <a:avLst/>
            </a:prstGeom>
            <a:solidFill>
              <a:srgbClr val="00FF00"/>
            </a:solid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yes</a:t>
              </a:r>
            </a:p>
          </p:txBody>
        </p:sp>
        <p:sp>
          <p:nvSpPr>
            <p:cNvPr id="32" name="Rectangle 29"/>
            <p:cNvSpPr>
              <a:spLocks noChangeArrowheads="1"/>
            </p:cNvSpPr>
            <p:nvPr/>
          </p:nvSpPr>
          <p:spPr bwMode="auto">
            <a:xfrm>
              <a:off x="3607600" y="3795266"/>
              <a:ext cx="820042" cy="495902"/>
            </a:xfrm>
            <a:prstGeom prst="rect">
              <a:avLst/>
            </a:prstGeom>
            <a:solidFill>
              <a:srgbClr val="00FF00"/>
            </a:solidFill>
            <a:ln w="9525">
              <a:noFill/>
              <a:miter lim="800000"/>
            </a:ln>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05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yes</a:t>
              </a:r>
            </a:p>
          </p:txBody>
        </p:sp>
        <p:sp>
          <p:nvSpPr>
            <p:cNvPr id="52257" name="Rectangle 30"/>
            <p:cNvSpPr/>
            <p:nvPr/>
          </p:nvSpPr>
          <p:spPr>
            <a:xfrm>
              <a:off x="3352800" y="2971800"/>
              <a:ext cx="1066800" cy="304800"/>
            </a:xfrm>
            <a:prstGeom prst="rect">
              <a:avLst/>
            </a:prstGeom>
            <a:solidFill>
              <a:srgbClr val="FFFF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000" b="1" dirty="0">
                  <a:latin typeface="Times New Roman" panose="02020603050405020304" pitchFamily="18" charset="0"/>
                </a:rPr>
                <a:t>30..40</a:t>
              </a:r>
              <a:endParaRPr sz="900" dirty="0">
                <a:latin typeface="Times New Roman" panose="02020603050405020304" pitchFamily="18" charset="0"/>
              </a:endParaRPr>
            </a:p>
          </p:txBody>
        </p:sp>
      </p:gr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36</a:t>
            </a:fld>
            <a:endParaRPr lang="en-US" sz="1200" dirty="0">
              <a:latin typeface="Tahoma" panose="020B0604030504040204" pitchFamily="34" charset="0"/>
              <a:ea typeface="+mn-ea"/>
              <a:cs typeface="+mn-cs"/>
            </a:endParaRPr>
          </a:p>
        </p:txBody>
      </p:sp>
      <p:sp>
        <p:nvSpPr>
          <p:cNvPr id="53251" name="Rectangle 2050"/>
          <p:cNvSpPr>
            <a:spLocks noGrp="1"/>
          </p:cNvSpPr>
          <p:nvPr>
            <p:ph type="title"/>
          </p:nvPr>
        </p:nvSpPr>
        <p:spPr>
          <a:xfrm>
            <a:off x="1371600" y="0"/>
            <a:ext cx="7259638" cy="858838"/>
          </a:xfrm>
        </p:spPr>
        <p:txBody>
          <a:bodyPr vert="horz" wrap="square" lIns="92075" tIns="46038" rIns="92075" bIns="46038" anchor="ctr" anchorCtr="0"/>
          <a:lstStyle/>
          <a:p>
            <a:pPr eaLnBrk="1" hangingPunct="1"/>
            <a:r>
              <a:rPr sz="3200" dirty="0"/>
              <a:t>Approaches to Determine </a:t>
            </a:r>
            <a:br>
              <a:rPr sz="3200" dirty="0"/>
            </a:br>
            <a:r>
              <a:rPr sz="3200" dirty="0"/>
              <a:t>the Final Tree Size</a:t>
            </a:r>
            <a:endParaRPr dirty="0"/>
          </a:p>
        </p:txBody>
      </p:sp>
      <p:sp>
        <p:nvSpPr>
          <p:cNvPr id="53252" name="Rectangle 2051"/>
          <p:cNvSpPr>
            <a:spLocks noGrp="1"/>
          </p:cNvSpPr>
          <p:nvPr>
            <p:ph idx="1"/>
          </p:nvPr>
        </p:nvSpPr>
        <p:spPr>
          <a:xfrm>
            <a:off x="457200" y="1309688"/>
            <a:ext cx="8153400" cy="5086350"/>
          </a:xfrm>
        </p:spPr>
        <p:txBody>
          <a:bodyPr vert="horz" wrap="square" lIns="92075" tIns="46038" rIns="92075" bIns="46038" anchor="t" anchorCtr="0"/>
          <a:lstStyle/>
          <a:p>
            <a:pPr eaLnBrk="1" hangingPunct="1">
              <a:lnSpc>
                <a:spcPct val="110000"/>
              </a:lnSpc>
              <a:spcBef>
                <a:spcPct val="30000"/>
              </a:spcBef>
            </a:pPr>
            <a:r>
              <a:rPr dirty="0"/>
              <a:t>Separate training (2/3) and testing (1/3) sets</a:t>
            </a:r>
          </a:p>
          <a:p>
            <a:pPr eaLnBrk="1" hangingPunct="1">
              <a:lnSpc>
                <a:spcPct val="110000"/>
              </a:lnSpc>
              <a:spcBef>
                <a:spcPct val="30000"/>
              </a:spcBef>
            </a:pPr>
            <a:r>
              <a:rPr dirty="0"/>
              <a:t>Use </a:t>
            </a:r>
            <a:r>
              <a:rPr dirty="0">
                <a:solidFill>
                  <a:srgbClr val="170981"/>
                </a:solidFill>
              </a:rPr>
              <a:t>minimum description length</a:t>
            </a:r>
            <a:r>
              <a:rPr dirty="0"/>
              <a:t> (MDL) principle</a:t>
            </a:r>
          </a:p>
          <a:p>
            <a:pPr lvl="1" eaLnBrk="1" hangingPunct="1">
              <a:lnSpc>
                <a:spcPct val="110000"/>
              </a:lnSpc>
              <a:spcBef>
                <a:spcPct val="30000"/>
              </a:spcBef>
            </a:pPr>
            <a:r>
              <a:rPr dirty="0"/>
              <a:t>halting growth of the tree when the encoding is minimized</a:t>
            </a:r>
          </a:p>
        </p:txBody>
      </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37</a:t>
            </a:fld>
            <a:endParaRPr lang="en-US" sz="1200" dirty="0">
              <a:latin typeface="Tahoma" panose="020B0604030504040204" pitchFamily="34" charset="0"/>
              <a:ea typeface="+mn-ea"/>
              <a:cs typeface="+mn-cs"/>
            </a:endParaRPr>
          </a:p>
        </p:txBody>
      </p:sp>
      <p:sp>
        <p:nvSpPr>
          <p:cNvPr id="55299" name="Rectangle 2050"/>
          <p:cNvSpPr>
            <a:spLocks noGrp="1"/>
          </p:cNvSpPr>
          <p:nvPr>
            <p:ph type="title"/>
          </p:nvPr>
        </p:nvSpPr>
        <p:spPr>
          <a:xfrm>
            <a:off x="381000" y="0"/>
            <a:ext cx="8305800" cy="990600"/>
          </a:xfrm>
        </p:spPr>
        <p:txBody>
          <a:bodyPr vert="horz" wrap="square" lIns="92075" tIns="46038" rIns="92075" bIns="46038" anchor="ctr" anchorCtr="0"/>
          <a:lstStyle/>
          <a:p>
            <a:pPr eaLnBrk="1" hangingPunct="1"/>
            <a:r>
              <a:rPr dirty="0"/>
              <a:t>Enhancements to basic decision </a:t>
            </a:r>
            <a:br>
              <a:rPr dirty="0"/>
            </a:br>
            <a:r>
              <a:rPr dirty="0"/>
              <a:t>tree induction</a:t>
            </a:r>
          </a:p>
        </p:txBody>
      </p:sp>
      <p:sp>
        <p:nvSpPr>
          <p:cNvPr id="55300" name="AutoShape 2051"/>
          <p:cNvSpPr>
            <a:spLocks noGrp="1"/>
          </p:cNvSpPr>
          <p:nvPr>
            <p:ph idx="1"/>
          </p:nvPr>
        </p:nvSpPr>
        <p:spPr>
          <a:xfrm>
            <a:off x="381000" y="1066800"/>
            <a:ext cx="8382000" cy="5486400"/>
          </a:xfrm>
          <a:prstGeom prst="flowChartProcess">
            <a:avLst/>
          </a:prstGeom>
        </p:spPr>
        <p:txBody>
          <a:bodyPr vert="horz" wrap="square" lIns="92075" tIns="46038" rIns="92075" bIns="46038" anchor="t" anchorCtr="0"/>
          <a:lstStyle/>
          <a:p>
            <a:pPr eaLnBrk="1" hangingPunct="1">
              <a:lnSpc>
                <a:spcPct val="105000"/>
              </a:lnSpc>
              <a:spcBef>
                <a:spcPct val="25000"/>
              </a:spcBef>
            </a:pPr>
            <a:r>
              <a:rPr sz="2400" dirty="0">
                <a:solidFill>
                  <a:srgbClr val="C00000"/>
                </a:solidFill>
              </a:rPr>
              <a:t>Allow for continuous-valued attributes</a:t>
            </a:r>
          </a:p>
          <a:p>
            <a:pPr lvl="1" eaLnBrk="1" hangingPunct="1">
              <a:lnSpc>
                <a:spcPct val="105000"/>
              </a:lnSpc>
              <a:spcBef>
                <a:spcPct val="25000"/>
              </a:spcBef>
            </a:pPr>
            <a:r>
              <a:rPr sz="2400" dirty="0"/>
              <a:t>Dynamically define new discrete-valued attributes that partition the continuous attribute value into a discrete set of intervals</a:t>
            </a:r>
          </a:p>
          <a:p>
            <a:pPr eaLnBrk="1" hangingPunct="1">
              <a:lnSpc>
                <a:spcPct val="105000"/>
              </a:lnSpc>
              <a:spcBef>
                <a:spcPct val="25000"/>
              </a:spcBef>
            </a:pPr>
            <a:r>
              <a:rPr sz="2400" dirty="0">
                <a:solidFill>
                  <a:srgbClr val="C00000"/>
                </a:solidFill>
              </a:rPr>
              <a:t>Handle missing attribute values</a:t>
            </a:r>
          </a:p>
          <a:p>
            <a:pPr lvl="1" eaLnBrk="1" hangingPunct="1">
              <a:lnSpc>
                <a:spcPct val="105000"/>
              </a:lnSpc>
              <a:spcBef>
                <a:spcPct val="25000"/>
              </a:spcBef>
            </a:pPr>
            <a:r>
              <a:rPr sz="2400" dirty="0"/>
              <a:t>Assign the most common value of the attribute</a:t>
            </a:r>
          </a:p>
          <a:p>
            <a:pPr lvl="1" eaLnBrk="1" hangingPunct="1">
              <a:lnSpc>
                <a:spcPct val="105000"/>
              </a:lnSpc>
              <a:spcBef>
                <a:spcPct val="25000"/>
              </a:spcBef>
            </a:pPr>
            <a:r>
              <a:rPr sz="2400" dirty="0"/>
              <a:t>Assign probability to each of the possible values</a:t>
            </a:r>
          </a:p>
          <a:p>
            <a:pPr eaLnBrk="1" hangingPunct="1">
              <a:lnSpc>
                <a:spcPct val="105000"/>
              </a:lnSpc>
              <a:spcBef>
                <a:spcPct val="25000"/>
              </a:spcBef>
            </a:pPr>
            <a:r>
              <a:rPr sz="2400" dirty="0">
                <a:solidFill>
                  <a:srgbClr val="C00000"/>
                </a:solidFill>
              </a:rPr>
              <a:t>Attribute construction</a:t>
            </a:r>
          </a:p>
          <a:p>
            <a:pPr lvl="1" eaLnBrk="1" hangingPunct="1">
              <a:lnSpc>
                <a:spcPct val="105000"/>
              </a:lnSpc>
              <a:spcBef>
                <a:spcPct val="25000"/>
              </a:spcBef>
            </a:pPr>
            <a:r>
              <a:rPr sz="2400" dirty="0"/>
              <a:t>Create new attributes based on existing ones that are sparsely represented</a:t>
            </a:r>
          </a:p>
          <a:p>
            <a:pPr lvl="1" eaLnBrk="1" hangingPunct="1">
              <a:lnSpc>
                <a:spcPct val="105000"/>
              </a:lnSpc>
              <a:spcBef>
                <a:spcPct val="25000"/>
              </a:spcBef>
            </a:pPr>
            <a:r>
              <a:rPr sz="2400" dirty="0"/>
              <a:t>This reduces fragmentation, repetition, and replication</a:t>
            </a:r>
          </a:p>
        </p:txBody>
      </p:sp>
      <p:sp>
        <p:nvSpPr>
          <p:cNvPr id="55301" name="AutoShape 2052"/>
          <p:cNvSpPr/>
          <p:nvPr/>
        </p:nvSpPr>
        <p:spPr>
          <a:xfrm>
            <a:off x="1905000" y="3352800"/>
            <a:ext cx="76200" cy="76200"/>
          </a:xfrm>
          <a:prstGeom prst="flowChartInternalStorage">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55302" name="Line 2053"/>
          <p:cNvSpPr/>
          <p:nvPr/>
        </p:nvSpPr>
        <p:spPr>
          <a:xfrm>
            <a:off x="990600" y="3581400"/>
            <a:ext cx="7086600" cy="0"/>
          </a:xfrm>
          <a:prstGeom prst="line">
            <a:avLst/>
          </a:prstGeom>
          <a:ln w="9525">
            <a:noFill/>
          </a:ln>
        </p:spPr>
      </p:sp>
      <p:sp>
        <p:nvSpPr>
          <p:cNvPr id="55303" name="Line 2054"/>
          <p:cNvSpPr/>
          <p:nvPr/>
        </p:nvSpPr>
        <p:spPr>
          <a:xfrm>
            <a:off x="990600" y="3505200"/>
            <a:ext cx="7162800" cy="0"/>
          </a:xfrm>
          <a:prstGeom prst="line">
            <a:avLst/>
          </a:prstGeom>
          <a:ln w="9525">
            <a:noFill/>
          </a:ln>
        </p:spPr>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38</a:t>
            </a:fld>
            <a:endParaRPr lang="en-US" sz="1200" dirty="0">
              <a:latin typeface="Tahoma" panose="020B0604030504040204" pitchFamily="34" charset="0"/>
              <a:ea typeface="+mn-ea"/>
              <a:cs typeface="+mn-cs"/>
            </a:endParaRPr>
          </a:p>
        </p:txBody>
      </p:sp>
      <p:sp>
        <p:nvSpPr>
          <p:cNvPr id="56323" name="Rectangle 2"/>
          <p:cNvSpPr>
            <a:spLocks noGrp="1"/>
          </p:cNvSpPr>
          <p:nvPr>
            <p:ph type="title"/>
          </p:nvPr>
        </p:nvSpPr>
        <p:spPr>
          <a:xfrm>
            <a:off x="1143000" y="0"/>
            <a:ext cx="7793038" cy="762000"/>
          </a:xfrm>
        </p:spPr>
        <p:txBody>
          <a:bodyPr vert="horz" wrap="square" lIns="92075" tIns="46038" rIns="92075" bIns="46038" anchor="b" anchorCtr="0"/>
          <a:lstStyle/>
          <a:p>
            <a:pPr eaLnBrk="1" hangingPunct="1"/>
            <a:r>
              <a:rPr dirty="0"/>
              <a:t>Classification in Large Databases</a:t>
            </a:r>
          </a:p>
        </p:txBody>
      </p:sp>
      <p:sp>
        <p:nvSpPr>
          <p:cNvPr id="56324" name="Rectangle 3"/>
          <p:cNvSpPr>
            <a:spLocks noGrp="1"/>
          </p:cNvSpPr>
          <p:nvPr>
            <p:ph idx="1"/>
          </p:nvPr>
        </p:nvSpPr>
        <p:spPr>
          <a:xfrm>
            <a:off x="381000" y="1143000"/>
            <a:ext cx="8539163" cy="4846638"/>
          </a:xfrm>
        </p:spPr>
        <p:txBody>
          <a:bodyPr vert="horz" wrap="square" lIns="92075" tIns="46038" rIns="92075" bIns="46038" anchor="t" anchorCtr="0"/>
          <a:lstStyle/>
          <a:p>
            <a:pPr eaLnBrk="1" hangingPunct="1">
              <a:lnSpc>
                <a:spcPct val="110000"/>
              </a:lnSpc>
            </a:pPr>
            <a:r>
              <a:rPr sz="2400" dirty="0">
                <a:solidFill>
                  <a:srgbClr val="990000"/>
                </a:solidFill>
              </a:rPr>
              <a:t>Classification</a:t>
            </a:r>
            <a:r>
              <a:rPr sz="2400" dirty="0">
                <a:solidFill>
                  <a:srgbClr val="990000"/>
                </a:solidFill>
                <a:cs typeface="Tahoma" panose="020B0604030504040204" pitchFamily="34" charset="0"/>
              </a:rPr>
              <a:t>—</a:t>
            </a:r>
            <a:r>
              <a:rPr sz="2400" dirty="0"/>
              <a:t>a classical problem extensively studied by statisticians and machine learning researchers</a:t>
            </a:r>
          </a:p>
          <a:p>
            <a:pPr eaLnBrk="1" hangingPunct="1">
              <a:lnSpc>
                <a:spcPct val="110000"/>
              </a:lnSpc>
            </a:pPr>
            <a:r>
              <a:rPr sz="2400" dirty="0">
                <a:solidFill>
                  <a:srgbClr val="990000"/>
                </a:solidFill>
              </a:rPr>
              <a:t>Scalability:</a:t>
            </a:r>
            <a:r>
              <a:rPr sz="2400" dirty="0"/>
              <a:t> Classifying data sets with millions of examples and hundreds of attributes with reasonable speed</a:t>
            </a:r>
          </a:p>
          <a:p>
            <a:pPr eaLnBrk="1" hangingPunct="1">
              <a:lnSpc>
                <a:spcPct val="110000"/>
              </a:lnSpc>
            </a:pPr>
            <a:r>
              <a:rPr sz="2400" dirty="0">
                <a:solidFill>
                  <a:srgbClr val="990000"/>
                </a:solidFill>
              </a:rPr>
              <a:t>Why decision tree induction in data mining?</a:t>
            </a:r>
          </a:p>
          <a:p>
            <a:pPr lvl="1" eaLnBrk="1" hangingPunct="1"/>
            <a:r>
              <a:rPr sz="2400" dirty="0">
                <a:solidFill>
                  <a:srgbClr val="0000FF"/>
                </a:solidFill>
              </a:rPr>
              <a:t>relatively faster </a:t>
            </a:r>
            <a:r>
              <a:rPr sz="2400" dirty="0"/>
              <a:t>learning speed (than other classification methods)</a:t>
            </a:r>
          </a:p>
          <a:p>
            <a:pPr lvl="1" eaLnBrk="1" hangingPunct="1"/>
            <a:r>
              <a:rPr sz="2400" dirty="0">
                <a:solidFill>
                  <a:srgbClr val="0000FF"/>
                </a:solidFill>
              </a:rPr>
              <a:t>convertible to simple and easy </a:t>
            </a:r>
            <a:r>
              <a:rPr sz="2400" dirty="0"/>
              <a:t>to understand classification rules</a:t>
            </a:r>
          </a:p>
          <a:p>
            <a:pPr lvl="1" eaLnBrk="1" hangingPunct="1"/>
            <a:r>
              <a:rPr sz="2400" dirty="0">
                <a:solidFill>
                  <a:srgbClr val="0000FF"/>
                </a:solidFill>
              </a:rPr>
              <a:t>can use SQL queries</a:t>
            </a:r>
            <a:r>
              <a:rPr sz="2400" dirty="0"/>
              <a:t> for accessing databases</a:t>
            </a:r>
          </a:p>
          <a:p>
            <a:pPr lvl="1" eaLnBrk="1" hangingPunct="1"/>
            <a:r>
              <a:rPr sz="2400" dirty="0">
                <a:solidFill>
                  <a:srgbClr val="0000FF"/>
                </a:solidFill>
              </a:rPr>
              <a:t>comparable classification accuracy</a:t>
            </a:r>
            <a:r>
              <a:rPr sz="2400" dirty="0"/>
              <a:t> with other methods                                         </a:t>
            </a: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39</a:t>
            </a:fld>
            <a:endParaRPr lang="en-US" sz="1200" dirty="0">
              <a:latin typeface="Tahoma" panose="020B0604030504040204" pitchFamily="34" charset="0"/>
              <a:ea typeface="+mn-ea"/>
              <a:cs typeface="+mn-cs"/>
            </a:endParaRPr>
          </a:p>
        </p:txBody>
      </p:sp>
      <p:sp>
        <p:nvSpPr>
          <p:cNvPr id="58371" name="Rectangle 2"/>
          <p:cNvSpPr>
            <a:spLocks noGrp="1"/>
          </p:cNvSpPr>
          <p:nvPr>
            <p:ph type="title"/>
          </p:nvPr>
        </p:nvSpPr>
        <p:spPr>
          <a:xfrm>
            <a:off x="0" y="0"/>
            <a:ext cx="9144000" cy="1066800"/>
          </a:xfrm>
        </p:spPr>
        <p:txBody>
          <a:bodyPr vert="horz" wrap="square" lIns="91440" tIns="45720" rIns="91440" bIns="45720" anchor="b" anchorCtr="0"/>
          <a:lstStyle/>
          <a:p>
            <a:pPr algn="ctr" eaLnBrk="1" hangingPunct="1"/>
            <a:r>
              <a:rPr sz="2800" dirty="0"/>
              <a:t>Scalable Decision Tree Induction Methods </a:t>
            </a:r>
            <a:br>
              <a:rPr sz="2800" dirty="0"/>
            </a:br>
            <a:r>
              <a:rPr sz="2800" dirty="0"/>
              <a:t>in Data Mining Studies</a:t>
            </a:r>
          </a:p>
        </p:txBody>
      </p:sp>
      <p:sp>
        <p:nvSpPr>
          <p:cNvPr id="58372" name="Rectangle 3"/>
          <p:cNvSpPr>
            <a:spLocks noGrp="1"/>
          </p:cNvSpPr>
          <p:nvPr>
            <p:ph idx="1"/>
          </p:nvPr>
        </p:nvSpPr>
        <p:spPr>
          <a:xfrm>
            <a:off x="381000" y="1524000"/>
            <a:ext cx="8534400" cy="4953000"/>
          </a:xfrm>
        </p:spPr>
        <p:txBody>
          <a:bodyPr vert="horz" wrap="square" lIns="91440" tIns="45720" rIns="91440" bIns="45720" anchor="t" anchorCtr="0"/>
          <a:lstStyle/>
          <a:p>
            <a:pPr eaLnBrk="1" hangingPunct="1"/>
            <a:r>
              <a:rPr sz="2400" dirty="0">
                <a:solidFill>
                  <a:srgbClr val="FF3300"/>
                </a:solidFill>
              </a:rPr>
              <a:t>SLIQ</a:t>
            </a:r>
            <a:r>
              <a:rPr sz="2400" dirty="0"/>
              <a:t> </a:t>
            </a:r>
          </a:p>
          <a:p>
            <a:pPr lvl="1" eaLnBrk="1" hangingPunct="1"/>
            <a:r>
              <a:rPr sz="2000" dirty="0"/>
              <a:t>builds an index for each attribute and only class list and the current attribute list reside in memory</a:t>
            </a:r>
          </a:p>
          <a:p>
            <a:pPr eaLnBrk="1" hangingPunct="1"/>
            <a:r>
              <a:rPr sz="2400" dirty="0">
                <a:solidFill>
                  <a:srgbClr val="FF3300"/>
                </a:solidFill>
              </a:rPr>
              <a:t>SPRINT</a:t>
            </a:r>
            <a:r>
              <a:rPr sz="2400" dirty="0"/>
              <a:t> </a:t>
            </a:r>
          </a:p>
          <a:p>
            <a:pPr lvl="1" eaLnBrk="1" hangingPunct="1"/>
            <a:r>
              <a:rPr sz="2000" dirty="0"/>
              <a:t>constructs an attribute list data structure </a:t>
            </a:r>
          </a:p>
          <a:p>
            <a:pPr eaLnBrk="1" hangingPunct="1"/>
            <a:r>
              <a:rPr sz="2400" dirty="0">
                <a:solidFill>
                  <a:srgbClr val="FF3300"/>
                </a:solidFill>
              </a:rPr>
              <a:t>PUBLIC</a:t>
            </a:r>
            <a:endParaRPr sz="2400" dirty="0"/>
          </a:p>
          <a:p>
            <a:pPr lvl="1" eaLnBrk="1" hangingPunct="1"/>
            <a:r>
              <a:rPr sz="2000" dirty="0"/>
              <a:t>integrates tree splitting and tree pruning: stop growing the tree earlier</a:t>
            </a:r>
          </a:p>
          <a:p>
            <a:pPr eaLnBrk="1" hangingPunct="1"/>
            <a:r>
              <a:rPr sz="2400" dirty="0">
                <a:solidFill>
                  <a:srgbClr val="FF3300"/>
                </a:solidFill>
              </a:rPr>
              <a:t>RainForest</a:t>
            </a:r>
            <a:endParaRPr sz="2400" dirty="0"/>
          </a:p>
          <a:p>
            <a:pPr lvl="1" eaLnBrk="1" hangingPunct="1"/>
            <a:r>
              <a:rPr sz="2000" dirty="0"/>
              <a:t>separates the scalability aspects from the criteria that determine the quality of the tree</a:t>
            </a:r>
          </a:p>
          <a:p>
            <a:pPr lvl="1" eaLnBrk="1" hangingPunct="1"/>
            <a:r>
              <a:rPr sz="2000" dirty="0"/>
              <a:t>builds an AVC-list (attribute, value, class label)</a:t>
            </a:r>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40</a:t>
            </a:fld>
            <a:endParaRPr lang="en-US" sz="1200" dirty="0">
              <a:latin typeface="Tahoma" panose="020B0604030504040204" pitchFamily="34" charset="0"/>
              <a:ea typeface="+mn-ea"/>
              <a:cs typeface="+mn-cs"/>
            </a:endParaRPr>
          </a:p>
        </p:txBody>
      </p:sp>
      <p:sp>
        <p:nvSpPr>
          <p:cNvPr id="59395"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59396"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lnSpc>
                <a:spcPct val="90000"/>
              </a:lnSpc>
            </a:pPr>
            <a:r>
              <a:rPr sz="2400" dirty="0"/>
              <a:t>What is classification? What is prediction?</a:t>
            </a:r>
          </a:p>
          <a:p>
            <a:pPr eaLnBrk="1" hangingPunct="1">
              <a:lnSpc>
                <a:spcPct val="90000"/>
              </a:lnSpc>
            </a:pPr>
            <a:r>
              <a:rPr sz="2400" dirty="0"/>
              <a:t>Issues regarding classification and prediction</a:t>
            </a:r>
          </a:p>
          <a:p>
            <a:pPr eaLnBrk="1" hangingPunct="1">
              <a:lnSpc>
                <a:spcPct val="90000"/>
              </a:lnSpc>
            </a:pPr>
            <a:r>
              <a:rPr sz="2400" dirty="0"/>
              <a:t>Classification by decision tree induction</a:t>
            </a:r>
          </a:p>
          <a:p>
            <a:pPr eaLnBrk="1" hangingPunct="1">
              <a:lnSpc>
                <a:spcPct val="90000"/>
              </a:lnSpc>
            </a:pPr>
            <a:r>
              <a:rPr sz="2400" dirty="0">
                <a:solidFill>
                  <a:srgbClr val="990000"/>
                </a:solidFill>
              </a:rPr>
              <a:t>Bayesian Classification</a:t>
            </a:r>
          </a:p>
          <a:p>
            <a:pPr eaLnBrk="1" hangingPunct="1">
              <a:lnSpc>
                <a:spcPct val="90000"/>
              </a:lnSpc>
            </a:pPr>
            <a:r>
              <a:rPr lang="en-US" sz="2400" dirty="0" smtClean="0"/>
              <a:t>Classification by Neural </a:t>
            </a:r>
            <a:r>
              <a:rPr lang="en-US" sz="2400" dirty="0" err="1" smtClean="0"/>
              <a:t>Networks,</a:t>
            </a:r>
            <a:r>
              <a:rPr lang="en-US" altLang="en-US" sz="2400" dirty="0" err="1" smtClean="0">
                <a:sym typeface="+mn-ea"/>
              </a:rPr>
              <a:t>Back</a:t>
            </a:r>
            <a:r>
              <a:rPr lang="en-US" altLang="en-US" sz="2400" dirty="0" smtClean="0">
                <a:sym typeface="+mn-ea"/>
              </a:rPr>
              <a:t> propagation</a:t>
            </a:r>
            <a:endParaRPr lang="en-US" sz="2400" dirty="0" smtClean="0"/>
          </a:p>
          <a:p>
            <a:pPr eaLnBrk="1" hangingPunct="1">
              <a:lnSpc>
                <a:spcPct val="90000"/>
              </a:lnSpc>
            </a:pPr>
            <a:r>
              <a:rPr lang="en-US" altLang="en-US" sz="2400" dirty="0" smtClean="0"/>
              <a:t>Support Vector Machines (SVMs)</a:t>
            </a:r>
          </a:p>
          <a:p>
            <a:pPr eaLnBrk="1" hangingPunct="1">
              <a:lnSpc>
                <a:spcPct val="90000"/>
              </a:lnSpc>
            </a:pPr>
            <a:r>
              <a:rPr lang="en-US" altLang="en-US" sz="2400" dirty="0" smtClean="0"/>
              <a:t>k-nearest </a:t>
            </a:r>
            <a:r>
              <a:rPr lang="en-US" altLang="en-US" sz="2400" dirty="0" err="1" smtClean="0"/>
              <a:t>neighbour</a:t>
            </a:r>
            <a:r>
              <a:rPr lang="en-US" altLang="en-US" sz="2400" dirty="0" smtClean="0"/>
              <a:t> classifier</a:t>
            </a:r>
          </a:p>
          <a:p>
            <a:pPr eaLnBrk="1" hangingPunct="1">
              <a:lnSpc>
                <a:spcPct val="90000"/>
              </a:lnSpc>
            </a:pPr>
            <a:r>
              <a:rPr lang="en-US" sz="2400" dirty="0" smtClean="0"/>
              <a:t>Other Classification Methods</a:t>
            </a:r>
          </a:p>
          <a:p>
            <a:pPr eaLnBrk="1" hangingPunct="1">
              <a:lnSpc>
                <a:spcPct val="90000"/>
              </a:lnSpc>
            </a:pPr>
            <a:r>
              <a:rPr sz="2400" smtClean="0"/>
              <a:t>Prediction</a:t>
            </a:r>
            <a:endParaRPr sz="2400" dirty="0"/>
          </a:p>
          <a:p>
            <a:pPr eaLnBrk="1" hangingPunct="1">
              <a:lnSpc>
                <a:spcPct val="90000"/>
              </a:lnSpc>
            </a:pPr>
            <a:r>
              <a:rPr sz="2400" dirty="0"/>
              <a:t>Classification accuracy</a:t>
            </a:r>
          </a:p>
          <a:p>
            <a:pPr eaLnBrk="1" hangingPunct="1">
              <a:lnSpc>
                <a:spcPct val="90000"/>
              </a:lnSpc>
            </a:pPr>
            <a:r>
              <a:rPr sz="2400" dirty="0"/>
              <a:t>Summary</a:t>
            </a: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41</a:t>
            </a:fld>
            <a:endParaRPr lang="en-US" sz="1200" dirty="0">
              <a:latin typeface="Tahoma" panose="020B0604030504040204" pitchFamily="34" charset="0"/>
              <a:ea typeface="+mn-ea"/>
              <a:cs typeface="+mn-cs"/>
            </a:endParaRPr>
          </a:p>
        </p:txBody>
      </p:sp>
      <p:sp>
        <p:nvSpPr>
          <p:cNvPr id="60419" name="Rectangle 2"/>
          <p:cNvSpPr>
            <a:spLocks noGrp="1"/>
          </p:cNvSpPr>
          <p:nvPr>
            <p:ph type="title"/>
          </p:nvPr>
        </p:nvSpPr>
        <p:spPr/>
        <p:txBody>
          <a:bodyPr vert="horz" wrap="square" lIns="91440" tIns="45720" rIns="91440" bIns="45720" anchor="b" anchorCtr="0"/>
          <a:lstStyle/>
          <a:p>
            <a:pPr eaLnBrk="1" hangingPunct="1"/>
            <a:r>
              <a:rPr dirty="0"/>
              <a:t>	Bayesian Classification</a:t>
            </a:r>
          </a:p>
        </p:txBody>
      </p:sp>
      <p:sp>
        <p:nvSpPr>
          <p:cNvPr id="60420" name="Rectangle 3"/>
          <p:cNvSpPr>
            <a:spLocks noGrp="1"/>
          </p:cNvSpPr>
          <p:nvPr>
            <p:ph idx="1"/>
          </p:nvPr>
        </p:nvSpPr>
        <p:spPr/>
        <p:txBody>
          <a:bodyPr vert="horz" wrap="square" lIns="91440" tIns="45720" rIns="91440" bIns="45720" anchor="t" anchorCtr="0"/>
          <a:lstStyle/>
          <a:p>
            <a:pPr eaLnBrk="1" hangingPunct="1">
              <a:lnSpc>
                <a:spcPct val="80000"/>
              </a:lnSpc>
            </a:pPr>
            <a:r>
              <a:rPr sz="2400" dirty="0"/>
              <a:t>Bayesian classifiers are statistical classifiers. </a:t>
            </a:r>
          </a:p>
          <a:p>
            <a:pPr eaLnBrk="1" hangingPunct="1">
              <a:lnSpc>
                <a:spcPct val="80000"/>
              </a:lnSpc>
            </a:pPr>
            <a:endParaRPr sz="2400" dirty="0"/>
          </a:p>
          <a:p>
            <a:pPr eaLnBrk="1" hangingPunct="1">
              <a:lnSpc>
                <a:spcPct val="80000"/>
              </a:lnSpc>
            </a:pPr>
            <a:r>
              <a:rPr sz="2400" dirty="0">
                <a:solidFill>
                  <a:srgbClr val="990000"/>
                </a:solidFill>
              </a:rPr>
              <a:t>They can predict class membership  probabilities:- probability that a given sample belongs to a particular class.</a:t>
            </a:r>
          </a:p>
          <a:p>
            <a:pPr eaLnBrk="1" hangingPunct="1">
              <a:lnSpc>
                <a:spcPct val="80000"/>
              </a:lnSpc>
            </a:pPr>
            <a:endParaRPr sz="2400" dirty="0">
              <a:solidFill>
                <a:srgbClr val="990000"/>
              </a:solidFill>
            </a:endParaRPr>
          </a:p>
          <a:p>
            <a:pPr eaLnBrk="1" hangingPunct="1">
              <a:lnSpc>
                <a:spcPct val="80000"/>
              </a:lnSpc>
            </a:pPr>
            <a:r>
              <a:rPr sz="2400" dirty="0">
                <a:solidFill>
                  <a:srgbClr val="990000"/>
                </a:solidFill>
              </a:rPr>
              <a:t>Have high accuracy and speed for large databases.</a:t>
            </a:r>
          </a:p>
          <a:p>
            <a:pPr eaLnBrk="1" hangingPunct="1">
              <a:lnSpc>
                <a:spcPct val="80000"/>
              </a:lnSpc>
            </a:pPr>
            <a:endParaRPr sz="2400" dirty="0">
              <a:solidFill>
                <a:srgbClr val="990000"/>
              </a:solidFill>
            </a:endParaRPr>
          </a:p>
          <a:p>
            <a:pPr eaLnBrk="1" hangingPunct="1">
              <a:lnSpc>
                <a:spcPct val="80000"/>
              </a:lnSpc>
            </a:pPr>
            <a:r>
              <a:rPr sz="2400" dirty="0">
                <a:solidFill>
                  <a:srgbClr val="0000FF"/>
                </a:solidFill>
              </a:rPr>
              <a:t>class conditional independence : </a:t>
            </a:r>
            <a:r>
              <a:rPr sz="2400" dirty="0">
                <a:solidFill>
                  <a:srgbClr val="008000"/>
                </a:solidFill>
              </a:rPr>
              <a:t>Naive Bayesian classifiers assume that the effect of an attribute value on a given class is independent of the values of the other attributes.  </a:t>
            </a:r>
          </a:p>
          <a:p>
            <a:pPr eaLnBrk="1" hangingPunct="1">
              <a:lnSpc>
                <a:spcPct val="80000"/>
              </a:lnSpc>
            </a:pPr>
            <a:endParaRPr sz="2400" dirty="0"/>
          </a:p>
          <a:p>
            <a:pPr eaLnBrk="1" hangingPunct="1">
              <a:lnSpc>
                <a:spcPct val="80000"/>
              </a:lnSpc>
            </a:pPr>
            <a:r>
              <a:rPr sz="2400" dirty="0"/>
              <a:t>It is made to simplify the computations involved, and in this sense, is considered “naive".</a:t>
            </a:r>
          </a:p>
          <a:p>
            <a:pPr eaLnBrk="1" hangingPunct="1">
              <a:lnSpc>
                <a:spcPct val="80000"/>
              </a:lnSpc>
            </a:pPr>
            <a:endParaRPr sz="2400" dirty="0"/>
          </a:p>
          <a:p>
            <a:pPr eaLnBrk="1" hangingPunct="1">
              <a:lnSpc>
                <a:spcPct val="80000"/>
              </a:lnSpc>
            </a:pPr>
            <a:endParaRPr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42</a:t>
            </a:fld>
            <a:endParaRPr lang="en-US" sz="1200" dirty="0">
              <a:latin typeface="Tahoma" panose="020B0604030504040204" pitchFamily="34" charset="0"/>
              <a:ea typeface="+mn-ea"/>
              <a:cs typeface="+mn-cs"/>
            </a:endParaRPr>
          </a:p>
        </p:txBody>
      </p:sp>
      <p:sp>
        <p:nvSpPr>
          <p:cNvPr id="61443" name="Rectangle 2"/>
          <p:cNvSpPr>
            <a:spLocks noGrp="1"/>
          </p:cNvSpPr>
          <p:nvPr>
            <p:ph type="title"/>
          </p:nvPr>
        </p:nvSpPr>
        <p:spPr>
          <a:xfrm>
            <a:off x="1371600" y="228600"/>
            <a:ext cx="7315200" cy="609600"/>
          </a:xfrm>
        </p:spPr>
        <p:txBody>
          <a:bodyPr vert="horz" wrap="square" lIns="91440" tIns="45720" rIns="91440" bIns="45720" anchor="b" anchorCtr="0"/>
          <a:lstStyle/>
          <a:p>
            <a:pPr eaLnBrk="1" hangingPunct="1"/>
            <a:r>
              <a:rPr dirty="0"/>
              <a:t>Bayesian Theorem Basics</a:t>
            </a:r>
          </a:p>
        </p:txBody>
      </p:sp>
      <p:sp>
        <p:nvSpPr>
          <p:cNvPr id="61444" name="Rectangle 3"/>
          <p:cNvSpPr>
            <a:spLocks noGrp="1"/>
          </p:cNvSpPr>
          <p:nvPr>
            <p:ph idx="1"/>
          </p:nvPr>
        </p:nvSpPr>
        <p:spPr>
          <a:xfrm>
            <a:off x="304800" y="1143000"/>
            <a:ext cx="8458200" cy="5715000"/>
          </a:xfrm>
        </p:spPr>
        <p:txBody>
          <a:bodyPr vert="horz" wrap="square" lIns="91440" tIns="45720" rIns="91440" bIns="45720" anchor="t" anchorCtr="0"/>
          <a:lstStyle/>
          <a:p>
            <a:pPr eaLnBrk="1" hangingPunct="1">
              <a:lnSpc>
                <a:spcPct val="80000"/>
              </a:lnSpc>
            </a:pPr>
            <a:r>
              <a:rPr sz="1800" dirty="0"/>
              <a:t>Given training data</a:t>
            </a:r>
            <a:r>
              <a:rPr sz="1800" i="1" dirty="0"/>
              <a:t> X, posteriori probability of a hypothesis H, P(H|X) </a:t>
            </a:r>
            <a:r>
              <a:rPr sz="1800" dirty="0"/>
              <a:t>follows the Bayes theorem</a:t>
            </a:r>
          </a:p>
          <a:p>
            <a:pPr eaLnBrk="1" hangingPunct="1">
              <a:lnSpc>
                <a:spcPct val="80000"/>
              </a:lnSpc>
              <a:buNone/>
            </a:pPr>
            <a:r>
              <a:rPr sz="1800" dirty="0"/>
              <a:t>			</a:t>
            </a:r>
          </a:p>
          <a:p>
            <a:pPr eaLnBrk="1" hangingPunct="1">
              <a:lnSpc>
                <a:spcPct val="80000"/>
              </a:lnSpc>
            </a:pPr>
            <a:endParaRPr sz="1800" dirty="0"/>
          </a:p>
          <a:p>
            <a:pPr eaLnBrk="1" hangingPunct="1">
              <a:lnSpc>
                <a:spcPct val="80000"/>
              </a:lnSpc>
            </a:pPr>
            <a:r>
              <a:rPr sz="1800" dirty="0"/>
              <a:t>Informally, this can be written as </a:t>
            </a:r>
          </a:p>
          <a:p>
            <a:pPr lvl="1" eaLnBrk="1" hangingPunct="1">
              <a:lnSpc>
                <a:spcPct val="80000"/>
              </a:lnSpc>
              <a:buNone/>
            </a:pPr>
            <a:r>
              <a:rPr sz="1800" dirty="0"/>
              <a:t>		posterior =likelihood x prior / evidence</a:t>
            </a:r>
          </a:p>
          <a:p>
            <a:pPr lvl="1" eaLnBrk="1" hangingPunct="1">
              <a:lnSpc>
                <a:spcPct val="80000"/>
              </a:lnSpc>
              <a:buNone/>
            </a:pPr>
            <a:endParaRPr sz="1800" dirty="0"/>
          </a:p>
          <a:p>
            <a:pPr eaLnBrk="1" hangingPunct="1">
              <a:lnSpc>
                <a:spcPct val="80000"/>
              </a:lnSpc>
            </a:pPr>
            <a:r>
              <a:rPr sz="1800" dirty="0"/>
              <a:t>Let </a:t>
            </a:r>
          </a:p>
          <a:p>
            <a:pPr lvl="1" eaLnBrk="1" hangingPunct="1">
              <a:lnSpc>
                <a:spcPct val="80000"/>
              </a:lnSpc>
            </a:pPr>
            <a:r>
              <a:rPr sz="2000" dirty="0"/>
              <a:t>X- a data sample whose class label is unknown</a:t>
            </a:r>
          </a:p>
          <a:p>
            <a:pPr lvl="1" eaLnBrk="1" hangingPunct="1">
              <a:lnSpc>
                <a:spcPct val="80000"/>
              </a:lnSpc>
            </a:pPr>
            <a:r>
              <a:rPr sz="2000" dirty="0"/>
              <a:t>H- hypothesis that X belongs to class C </a:t>
            </a:r>
          </a:p>
          <a:p>
            <a:pPr lvl="1" eaLnBrk="1" hangingPunct="1">
              <a:lnSpc>
                <a:spcPct val="80000"/>
              </a:lnSpc>
            </a:pPr>
            <a:endParaRPr sz="2000" dirty="0"/>
          </a:p>
          <a:p>
            <a:pPr eaLnBrk="1" hangingPunct="1">
              <a:lnSpc>
                <a:spcPct val="80000"/>
              </a:lnSpc>
            </a:pPr>
            <a:r>
              <a:rPr sz="1800" dirty="0">
                <a:solidFill>
                  <a:srgbClr val="990000"/>
                </a:solidFill>
              </a:rPr>
              <a:t>For classification problems, determine P(H/X): the probability that the hypothesis holds given the observed data sample X</a:t>
            </a:r>
          </a:p>
          <a:p>
            <a:pPr eaLnBrk="1" hangingPunct="1">
              <a:lnSpc>
                <a:spcPct val="80000"/>
              </a:lnSpc>
            </a:pPr>
            <a:endParaRPr sz="1800" dirty="0">
              <a:solidFill>
                <a:srgbClr val="990000"/>
              </a:solidFill>
            </a:endParaRPr>
          </a:p>
          <a:p>
            <a:pPr eaLnBrk="1" hangingPunct="1">
              <a:lnSpc>
                <a:spcPct val="80000"/>
              </a:lnSpc>
            </a:pPr>
            <a:r>
              <a:rPr sz="1800" dirty="0"/>
              <a:t>P(H): prior probability of hypothesis H (i.e. the initial probability before we observe any data, reflects the background knowledge)</a:t>
            </a:r>
          </a:p>
          <a:p>
            <a:pPr eaLnBrk="1" hangingPunct="1">
              <a:lnSpc>
                <a:spcPct val="80000"/>
              </a:lnSpc>
            </a:pPr>
            <a:endParaRPr sz="1800" dirty="0"/>
          </a:p>
          <a:p>
            <a:pPr eaLnBrk="1" hangingPunct="1">
              <a:lnSpc>
                <a:spcPct val="80000"/>
              </a:lnSpc>
            </a:pPr>
            <a:r>
              <a:rPr sz="1800" dirty="0"/>
              <a:t>P(X): probability that sample data is observed</a:t>
            </a:r>
          </a:p>
          <a:p>
            <a:pPr eaLnBrk="1" hangingPunct="1">
              <a:lnSpc>
                <a:spcPct val="80000"/>
              </a:lnSpc>
            </a:pPr>
            <a:endParaRPr sz="1800" dirty="0"/>
          </a:p>
          <a:p>
            <a:pPr eaLnBrk="1" hangingPunct="1">
              <a:lnSpc>
                <a:spcPct val="80000"/>
              </a:lnSpc>
            </a:pPr>
            <a:r>
              <a:rPr sz="1800" dirty="0"/>
              <a:t>P(X|H) : probability of observing the sample X, given that the hypothesis holds</a:t>
            </a:r>
            <a:endParaRPr sz="1600" dirty="0"/>
          </a:p>
        </p:txBody>
      </p:sp>
      <p:graphicFrame>
        <p:nvGraphicFramePr>
          <p:cNvPr id="61445" name="Object 4"/>
          <p:cNvGraphicFramePr>
            <a:graphicFrameLocks/>
          </p:cNvGraphicFramePr>
          <p:nvPr/>
        </p:nvGraphicFramePr>
        <p:xfrm>
          <a:off x="4419600" y="1524000"/>
          <a:ext cx="4038600" cy="874713"/>
        </p:xfrm>
        <a:graphic>
          <a:graphicData uri="http://schemas.openxmlformats.org/presentationml/2006/ole">
            <p:oleObj spid="_x0000_s41985" r:id="rId3" imgW="2514600" imgH="558800" progId="Equation.3">
              <p:embed/>
            </p:oleObj>
          </a:graphicData>
        </a:graphic>
      </p:graphicFrame>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43</a:t>
            </a:fld>
            <a:endParaRPr lang="en-US" sz="1200" dirty="0">
              <a:latin typeface="Tahoma" panose="020B0604030504040204" pitchFamily="34" charset="0"/>
              <a:ea typeface="+mn-ea"/>
              <a:cs typeface="+mn-cs"/>
            </a:endParaRPr>
          </a:p>
        </p:txBody>
      </p:sp>
      <p:sp>
        <p:nvSpPr>
          <p:cNvPr id="62467" name="Rectangle 2"/>
          <p:cNvSpPr>
            <a:spLocks noGrp="1"/>
          </p:cNvSpPr>
          <p:nvPr>
            <p:ph type="title"/>
          </p:nvPr>
        </p:nvSpPr>
        <p:spPr/>
        <p:txBody>
          <a:bodyPr vert="horz" wrap="square" lIns="91440" tIns="45720" rIns="91440" bIns="45720" anchor="b" anchorCtr="0"/>
          <a:lstStyle/>
          <a:p>
            <a:pPr eaLnBrk="1" hangingPunct="1"/>
            <a:r>
              <a:rPr dirty="0"/>
              <a:t> Bayesian Classification: Practical difficulty</a:t>
            </a:r>
          </a:p>
        </p:txBody>
      </p:sp>
      <p:sp>
        <p:nvSpPr>
          <p:cNvPr id="62468" name="Rectangle 3"/>
          <p:cNvSpPr>
            <a:spLocks noGrp="1"/>
          </p:cNvSpPr>
          <p:nvPr>
            <p:ph idx="1"/>
          </p:nvPr>
        </p:nvSpPr>
        <p:spPr/>
        <p:txBody>
          <a:bodyPr vert="horz" wrap="square" lIns="91440" tIns="45720" rIns="91440" bIns="45720" anchor="t" anchorCtr="0"/>
          <a:lstStyle/>
          <a:p>
            <a:pPr eaLnBrk="1" hangingPunct="1"/>
            <a:r>
              <a:rPr dirty="0"/>
              <a:t>require initial knowledge of many probabilities, significant computational cost</a:t>
            </a:r>
          </a:p>
          <a:p>
            <a:pPr eaLnBrk="1" hangingPunct="1"/>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44</a:t>
            </a:fld>
            <a:endParaRPr lang="en-US" sz="1200" dirty="0">
              <a:latin typeface="Tahoma" panose="020B0604030504040204" pitchFamily="34" charset="0"/>
              <a:ea typeface="+mn-ea"/>
              <a:cs typeface="+mn-cs"/>
            </a:endParaRPr>
          </a:p>
        </p:txBody>
      </p:sp>
      <p:sp>
        <p:nvSpPr>
          <p:cNvPr id="63491" name="Rectangle 2"/>
          <p:cNvSpPr>
            <a:spLocks noGrp="1"/>
          </p:cNvSpPr>
          <p:nvPr>
            <p:ph type="title"/>
          </p:nvPr>
        </p:nvSpPr>
        <p:spPr/>
        <p:txBody>
          <a:bodyPr vert="horz" wrap="square" lIns="91440" tIns="45720" rIns="91440" bIns="45720" anchor="b" anchorCtr="0"/>
          <a:lstStyle/>
          <a:p>
            <a:pPr eaLnBrk="1" hangingPunct="1"/>
            <a:r>
              <a:rPr dirty="0"/>
              <a:t>Naive Bayesian classification</a:t>
            </a:r>
          </a:p>
        </p:txBody>
      </p:sp>
      <p:sp>
        <p:nvSpPr>
          <p:cNvPr id="63492" name="Rectangle 3"/>
          <p:cNvSpPr>
            <a:spLocks noGrp="1"/>
          </p:cNvSpPr>
          <p:nvPr>
            <p:ph idx="1"/>
          </p:nvPr>
        </p:nvSpPr>
        <p:spPr/>
        <p:txBody>
          <a:bodyPr vert="horz" wrap="square" lIns="91440" tIns="45720" rIns="91440" bIns="45720" anchor="t" anchorCtr="0"/>
          <a:lstStyle/>
          <a:p>
            <a:pPr marL="533400" indent="-533400" eaLnBrk="1" hangingPunct="1"/>
            <a:r>
              <a:rPr dirty="0"/>
              <a:t>Suppose</a:t>
            </a:r>
          </a:p>
          <a:p>
            <a:pPr marL="990600" lvl="1" indent="-533400" eaLnBrk="1" hangingPunct="1"/>
            <a:r>
              <a:rPr sz="2400" dirty="0"/>
              <a:t>1. Each data sample, X = (x1,x2,…,xn), depicting n measurements for n attributes, respectively A1,A2,…,An</a:t>
            </a:r>
          </a:p>
          <a:p>
            <a:pPr marL="990600" lvl="1" indent="-533400" eaLnBrk="1" hangingPunct="1"/>
            <a:r>
              <a:rPr sz="2400" dirty="0"/>
              <a:t>2. There are m classes, C1,C2,…,Cm. </a:t>
            </a:r>
          </a:p>
          <a:p>
            <a:pPr marL="990600" lvl="1" indent="-533400" eaLnBrk="1" hangingPunct="1"/>
            <a:endParaRPr sz="2400" dirty="0"/>
          </a:p>
          <a:p>
            <a:pPr marL="533400" indent="-533400" eaLnBrk="1" hangingPunct="1"/>
            <a:r>
              <a:rPr dirty="0"/>
              <a:t>Given : unknown data sample, X </a:t>
            </a:r>
          </a:p>
          <a:p>
            <a:pPr marL="533400" indent="-533400" eaLnBrk="1" hangingPunct="1"/>
            <a:r>
              <a:rPr dirty="0"/>
              <a:t>the naive Bayesian classier assigns an unknown sample X to the class Ci iff</a:t>
            </a:r>
          </a:p>
        </p:txBody>
      </p:sp>
      <p:pic>
        <p:nvPicPr>
          <p:cNvPr id="63493" name="Picture 4"/>
          <p:cNvPicPr>
            <a:picLocks noChangeAspect="1"/>
          </p:cNvPicPr>
          <p:nvPr/>
        </p:nvPicPr>
        <p:blipFill>
          <a:blip r:embed="rId2"/>
          <a:stretch>
            <a:fillRect/>
          </a:stretch>
        </p:blipFill>
        <p:spPr>
          <a:xfrm>
            <a:off x="2667000" y="5105400"/>
            <a:ext cx="4953000" cy="1066800"/>
          </a:xfrm>
          <a:prstGeom prst="rect">
            <a:avLst/>
          </a:prstGeom>
          <a:noFill/>
          <a:ln w="9525" cap="flat" cmpd="sng">
            <a:solidFill>
              <a:srgbClr val="990000"/>
            </a:solidFill>
            <a:prstDash val="solid"/>
            <a:miter/>
            <a:headEnd type="none" w="med" len="med"/>
            <a:tailEnd type="none" w="med" len="me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45</a:t>
            </a:fld>
            <a:endParaRPr lang="en-US" sz="1200" dirty="0">
              <a:latin typeface="Tahoma" panose="020B0604030504040204" pitchFamily="34" charset="0"/>
              <a:ea typeface="+mn-ea"/>
              <a:cs typeface="+mn-cs"/>
            </a:endParaRPr>
          </a:p>
        </p:txBody>
      </p:sp>
      <p:sp>
        <p:nvSpPr>
          <p:cNvPr id="64515" name="Rectangle 2"/>
          <p:cNvSpPr>
            <a:spLocks noGrp="1"/>
          </p:cNvSpPr>
          <p:nvPr>
            <p:ph type="title"/>
          </p:nvPr>
        </p:nvSpPr>
        <p:spPr/>
        <p:txBody>
          <a:bodyPr vert="horz" wrap="square" lIns="91440" tIns="45720" rIns="91440" bIns="45720" anchor="b" anchorCtr="0"/>
          <a:lstStyle/>
          <a:p>
            <a:pPr eaLnBrk="1" hangingPunct="1"/>
            <a:endParaRPr dirty="0"/>
          </a:p>
        </p:txBody>
      </p:sp>
      <p:pic>
        <p:nvPicPr>
          <p:cNvPr id="64516" name="Picture 4"/>
          <p:cNvPicPr>
            <a:picLocks noChangeAspect="1"/>
          </p:cNvPicPr>
          <p:nvPr/>
        </p:nvPicPr>
        <p:blipFill>
          <a:blip r:embed="rId2"/>
          <a:stretch>
            <a:fillRect/>
          </a:stretch>
        </p:blipFill>
        <p:spPr>
          <a:xfrm>
            <a:off x="4572000" y="2055813"/>
            <a:ext cx="3425825" cy="915987"/>
          </a:xfrm>
          <a:prstGeom prst="rect">
            <a:avLst/>
          </a:prstGeom>
          <a:noFill/>
          <a:ln w="9525" cap="flat" cmpd="sng">
            <a:solidFill>
              <a:srgbClr val="990000"/>
            </a:solidFill>
            <a:prstDash val="solid"/>
            <a:miter/>
            <a:headEnd type="none" w="med" len="med"/>
            <a:tailEnd type="none" w="med" len="med"/>
          </a:ln>
        </p:spPr>
      </p:pic>
      <p:sp>
        <p:nvSpPr>
          <p:cNvPr id="64517" name="Rectangle 5"/>
          <p:cNvSpPr/>
          <p:nvPr/>
        </p:nvSpPr>
        <p:spPr>
          <a:xfrm>
            <a:off x="304800" y="1066800"/>
            <a:ext cx="27320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dirty="0"/>
              <a:t>By Bayes theorem</a:t>
            </a:r>
          </a:p>
        </p:txBody>
      </p:sp>
      <p:sp>
        <p:nvSpPr>
          <p:cNvPr id="64518" name="Rectangle 6"/>
          <p:cNvSpPr/>
          <p:nvPr/>
        </p:nvSpPr>
        <p:spPr>
          <a:xfrm>
            <a:off x="304800" y="1905000"/>
            <a:ext cx="42608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dirty="0"/>
              <a:t>Probability of X conditioned </a:t>
            </a:r>
          </a:p>
          <a:p>
            <a:pPr marL="0" lvl="0" indent="0" eaLnBrk="1" hangingPunct="1">
              <a:spcBef>
                <a:spcPct val="0"/>
              </a:spcBef>
              <a:buClrTx/>
              <a:buSzTx/>
              <a:buFontTx/>
              <a:buNone/>
            </a:pPr>
            <a:r>
              <a:rPr sz="2400" dirty="0"/>
              <a:t>on Ci is given by</a:t>
            </a:r>
          </a:p>
        </p:txBody>
      </p:sp>
      <p:sp>
        <p:nvSpPr>
          <p:cNvPr id="64519" name="Text Box 7"/>
          <p:cNvSpPr txBox="1"/>
          <p:nvPr/>
        </p:nvSpPr>
        <p:spPr>
          <a:xfrm>
            <a:off x="990600" y="3276600"/>
            <a:ext cx="7162800" cy="1004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sz="2400" dirty="0">
                <a:solidFill>
                  <a:srgbClr val="170981"/>
                </a:solidFill>
              </a:rPr>
              <a:t>i.e., P(X/Ci) = P(x1/Ci) * P(x2/Ci) *……  *P(xn/Ci)</a:t>
            </a:r>
          </a:p>
          <a:p>
            <a:pPr marL="0" lvl="0" indent="0" eaLnBrk="1" hangingPunct="1">
              <a:spcBef>
                <a:spcPct val="50000"/>
              </a:spcBef>
              <a:buClrTx/>
              <a:buSzTx/>
              <a:buFontTx/>
              <a:buNone/>
            </a:pPr>
            <a:r>
              <a:rPr sz="2400" dirty="0">
                <a:solidFill>
                  <a:srgbClr val="170981"/>
                </a:solidFill>
              </a:rPr>
              <a:t>where unknown data sample, X=(x1,x2,…..xn)</a:t>
            </a:r>
          </a:p>
        </p:txBody>
      </p:sp>
      <p:grpSp>
        <p:nvGrpSpPr>
          <p:cNvPr id="64520" name="Group 10"/>
          <p:cNvGrpSpPr/>
          <p:nvPr/>
        </p:nvGrpSpPr>
        <p:grpSpPr>
          <a:xfrm>
            <a:off x="3505200" y="990600"/>
            <a:ext cx="3810000" cy="1004888"/>
            <a:chOff x="1104" y="3120"/>
            <a:chExt cx="2400" cy="633"/>
          </a:xfrm>
        </p:grpSpPr>
        <p:sp>
          <p:nvSpPr>
            <p:cNvPr id="64521" name="Text Box 8"/>
            <p:cNvSpPr txBox="1"/>
            <p:nvPr/>
          </p:nvSpPr>
          <p:spPr>
            <a:xfrm>
              <a:off x="1104" y="3120"/>
              <a:ext cx="2400" cy="63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sz="2400" dirty="0">
                  <a:solidFill>
                    <a:srgbClr val="170981"/>
                  </a:solidFill>
                </a:rPr>
                <a:t>P(Ci/X)= P(X/Ci) * P(Ci)</a:t>
              </a:r>
            </a:p>
            <a:p>
              <a:pPr marL="0" lvl="0" indent="0" eaLnBrk="1" hangingPunct="1">
                <a:spcBef>
                  <a:spcPct val="50000"/>
                </a:spcBef>
                <a:buClrTx/>
                <a:buSzTx/>
                <a:buFontTx/>
                <a:buNone/>
              </a:pPr>
              <a:r>
                <a:rPr sz="2400" dirty="0">
                  <a:solidFill>
                    <a:srgbClr val="170981"/>
                  </a:solidFill>
                </a:rPr>
                <a:t>		P(X)</a:t>
              </a:r>
            </a:p>
          </p:txBody>
        </p:sp>
        <p:sp>
          <p:nvSpPr>
            <p:cNvPr id="64522" name="Line 9"/>
            <p:cNvSpPr/>
            <p:nvPr/>
          </p:nvSpPr>
          <p:spPr>
            <a:xfrm>
              <a:off x="1920" y="3408"/>
              <a:ext cx="1344" cy="0"/>
            </a:xfrm>
            <a:prstGeom prst="line">
              <a:avLst/>
            </a:prstGeom>
            <a:ln w="9525" cap="flat" cmpd="sng">
              <a:solidFill>
                <a:srgbClr val="990000"/>
              </a:solidFill>
              <a:prstDash val="solid"/>
              <a:miter/>
              <a:headEnd type="none" w="med" len="med"/>
              <a:tailEnd type="none" w="med" len="med"/>
            </a:ln>
          </p:spPr>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46</a:t>
            </a:fld>
            <a:endParaRPr lang="en-US" sz="1200" dirty="0">
              <a:latin typeface="Tahoma" panose="020B0604030504040204" pitchFamily="34" charset="0"/>
              <a:ea typeface="+mn-ea"/>
              <a:cs typeface="+mn-cs"/>
            </a:endParaRPr>
          </a:p>
        </p:txBody>
      </p:sp>
      <p:sp>
        <p:nvSpPr>
          <p:cNvPr id="65539" name="Rectangle 2"/>
          <p:cNvSpPr>
            <a:spLocks noGrp="1"/>
          </p:cNvSpPr>
          <p:nvPr>
            <p:ph type="title"/>
          </p:nvPr>
        </p:nvSpPr>
        <p:spPr/>
        <p:txBody>
          <a:bodyPr vert="horz" wrap="square" lIns="91440" tIns="45720" rIns="91440" bIns="45720" anchor="b" anchorCtr="0"/>
          <a:lstStyle/>
          <a:p>
            <a:pPr eaLnBrk="1" hangingPunct="1"/>
            <a:r>
              <a:rPr dirty="0"/>
              <a:t>Training dataset</a:t>
            </a:r>
          </a:p>
        </p:txBody>
      </p:sp>
      <p:graphicFrame>
        <p:nvGraphicFramePr>
          <p:cNvPr id="65540" name="Object 3"/>
          <p:cNvGraphicFramePr>
            <a:graphicFrameLocks/>
          </p:cNvGraphicFramePr>
          <p:nvPr>
            <p:ph idx="1"/>
          </p:nvPr>
        </p:nvGraphicFramePr>
        <p:xfrm>
          <a:off x="2976563" y="914400"/>
          <a:ext cx="6167437" cy="5410200"/>
        </p:xfrm>
        <a:graphic>
          <a:graphicData uri="http://schemas.openxmlformats.org/presentationml/2006/ole">
            <p:oleObj spid="_x0000_s64513" r:id="rId3" imgW="6094080" imgH="4453200" progId="Excel.Sheet.8">
              <p:embed/>
            </p:oleObj>
          </a:graphicData>
        </a:graphic>
      </p:graphicFrame>
      <p:sp>
        <p:nvSpPr>
          <p:cNvPr id="65541" name="Text Box 4"/>
          <p:cNvSpPr txBox="1"/>
          <p:nvPr/>
        </p:nvSpPr>
        <p:spPr>
          <a:xfrm>
            <a:off x="228600" y="2057400"/>
            <a:ext cx="2559050" cy="3749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000" dirty="0">
                <a:latin typeface="Tahoma" panose="020B0604030504040204" pitchFamily="34" charset="0"/>
              </a:rPr>
              <a:t>Class:</a:t>
            </a:r>
          </a:p>
          <a:p>
            <a:pPr marL="0" lvl="0" indent="0" eaLnBrk="1" hangingPunct="1">
              <a:spcBef>
                <a:spcPct val="0"/>
              </a:spcBef>
              <a:buClrTx/>
              <a:buSzTx/>
              <a:buFontTx/>
              <a:buNone/>
            </a:pPr>
            <a:r>
              <a:rPr sz="2000" dirty="0">
                <a:solidFill>
                  <a:srgbClr val="990000"/>
                </a:solidFill>
                <a:latin typeface="Tahoma" panose="020B0604030504040204" pitchFamily="34" charset="0"/>
              </a:rPr>
              <a:t>C1:buys_computer=</a:t>
            </a:r>
          </a:p>
          <a:p>
            <a:pPr marL="0" lvl="0" indent="0" eaLnBrk="1" hangingPunct="1">
              <a:spcBef>
                <a:spcPct val="0"/>
              </a:spcBef>
              <a:buClrTx/>
              <a:buSzTx/>
              <a:buFontTx/>
              <a:buNone/>
            </a:pPr>
            <a:r>
              <a:rPr sz="2000" dirty="0">
                <a:solidFill>
                  <a:srgbClr val="990000"/>
                </a:solidFill>
                <a:latin typeface="Tahoma" panose="020B0604030504040204" pitchFamily="34" charset="0"/>
              </a:rPr>
              <a:t>‘yes’</a:t>
            </a:r>
          </a:p>
          <a:p>
            <a:pPr marL="0" lvl="0" indent="0" eaLnBrk="1" hangingPunct="1">
              <a:spcBef>
                <a:spcPct val="0"/>
              </a:spcBef>
              <a:buClrTx/>
              <a:buSzTx/>
              <a:buFontTx/>
              <a:buNone/>
            </a:pPr>
            <a:r>
              <a:rPr sz="2000" dirty="0">
                <a:solidFill>
                  <a:srgbClr val="990000"/>
                </a:solidFill>
                <a:latin typeface="Tahoma" panose="020B0604030504040204" pitchFamily="34" charset="0"/>
              </a:rPr>
              <a:t>C2:buys_computer=</a:t>
            </a:r>
          </a:p>
          <a:p>
            <a:pPr marL="0" lvl="0" indent="0" eaLnBrk="1" hangingPunct="1">
              <a:spcBef>
                <a:spcPct val="0"/>
              </a:spcBef>
              <a:buClrTx/>
              <a:buSzTx/>
              <a:buFontTx/>
              <a:buNone/>
            </a:pPr>
            <a:r>
              <a:rPr sz="2000" dirty="0">
                <a:solidFill>
                  <a:srgbClr val="990000"/>
                </a:solidFill>
                <a:latin typeface="Tahoma" panose="020B0604030504040204" pitchFamily="34" charset="0"/>
              </a:rPr>
              <a:t>‘no’</a:t>
            </a:r>
          </a:p>
          <a:p>
            <a:pPr marL="0" lvl="0" indent="0" eaLnBrk="1" hangingPunct="1">
              <a:spcBef>
                <a:spcPct val="0"/>
              </a:spcBef>
              <a:buClrTx/>
              <a:buSzTx/>
              <a:buFontTx/>
              <a:buNone/>
            </a:pPr>
            <a:endParaRPr sz="2000" dirty="0">
              <a:solidFill>
                <a:srgbClr val="990000"/>
              </a:solidFill>
              <a:latin typeface="Tahoma" panose="020B0604030504040204" pitchFamily="34" charset="0"/>
            </a:endParaRPr>
          </a:p>
          <a:p>
            <a:pPr marL="0" lvl="0" indent="0" eaLnBrk="1" hangingPunct="1">
              <a:spcBef>
                <a:spcPct val="0"/>
              </a:spcBef>
              <a:buClrTx/>
              <a:buSzTx/>
              <a:buFontTx/>
              <a:buNone/>
            </a:pPr>
            <a:r>
              <a:rPr sz="2000" dirty="0">
                <a:latin typeface="Times New Roman" panose="02020603050405020304" pitchFamily="18" charset="0"/>
              </a:rPr>
              <a:t>Data sample(unknown)</a:t>
            </a:r>
          </a:p>
          <a:p>
            <a:pPr marL="0" lvl="0" indent="0" eaLnBrk="1" hangingPunct="1">
              <a:spcBef>
                <a:spcPct val="0"/>
              </a:spcBef>
              <a:buClrTx/>
              <a:buSzTx/>
              <a:buFontTx/>
              <a:buNone/>
            </a:pPr>
            <a:r>
              <a:rPr sz="2000" dirty="0">
                <a:solidFill>
                  <a:srgbClr val="170981"/>
                </a:solidFill>
                <a:latin typeface="Times New Roman" panose="02020603050405020304" pitchFamily="18" charset="0"/>
              </a:rPr>
              <a:t>X =(age&lt;=30,</a:t>
            </a:r>
          </a:p>
          <a:p>
            <a:pPr marL="0" lvl="0" indent="0" eaLnBrk="1" hangingPunct="1">
              <a:spcBef>
                <a:spcPct val="0"/>
              </a:spcBef>
              <a:buClrTx/>
              <a:buSzTx/>
              <a:buFontTx/>
              <a:buNone/>
            </a:pPr>
            <a:r>
              <a:rPr sz="2000" dirty="0">
                <a:solidFill>
                  <a:srgbClr val="170981"/>
                </a:solidFill>
                <a:latin typeface="Times New Roman" panose="02020603050405020304" pitchFamily="18" charset="0"/>
              </a:rPr>
              <a:t>Income=medium,</a:t>
            </a:r>
          </a:p>
          <a:p>
            <a:pPr marL="0" lvl="0" indent="0" eaLnBrk="1" hangingPunct="1">
              <a:spcBef>
                <a:spcPct val="0"/>
              </a:spcBef>
              <a:buClrTx/>
              <a:buSzTx/>
              <a:buFontTx/>
              <a:buNone/>
            </a:pPr>
            <a:r>
              <a:rPr sz="2000" dirty="0">
                <a:solidFill>
                  <a:srgbClr val="170981"/>
                </a:solidFill>
                <a:latin typeface="Times New Roman" panose="02020603050405020304" pitchFamily="18" charset="0"/>
              </a:rPr>
              <a:t>Student=yes</a:t>
            </a:r>
          </a:p>
          <a:p>
            <a:pPr marL="0" lvl="0" indent="0" eaLnBrk="1" hangingPunct="1">
              <a:spcBef>
                <a:spcPct val="0"/>
              </a:spcBef>
              <a:buClrTx/>
              <a:buSzTx/>
              <a:buFontTx/>
              <a:buNone/>
            </a:pPr>
            <a:r>
              <a:rPr sz="2000" dirty="0">
                <a:solidFill>
                  <a:srgbClr val="170981"/>
                </a:solidFill>
                <a:latin typeface="Times New Roman" panose="02020603050405020304" pitchFamily="18" charset="0"/>
              </a:rPr>
              <a:t>Credit_rating=</a:t>
            </a:r>
          </a:p>
          <a:p>
            <a:pPr marL="0" lvl="0" indent="0" eaLnBrk="1" hangingPunct="1">
              <a:spcBef>
                <a:spcPct val="0"/>
              </a:spcBef>
              <a:buClrTx/>
              <a:buSzTx/>
              <a:buFontTx/>
              <a:buNone/>
            </a:pPr>
            <a:r>
              <a:rPr sz="2000" dirty="0">
                <a:solidFill>
                  <a:srgbClr val="170981"/>
                </a:solidFill>
                <a:latin typeface="Times New Roman" panose="02020603050405020304" pitchFamily="18" charset="0"/>
              </a:rPr>
              <a:t>Fair)</a:t>
            </a: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47</a:t>
            </a:fld>
            <a:endParaRPr lang="en-US" sz="1200" dirty="0">
              <a:latin typeface="Tahoma" panose="020B0604030504040204" pitchFamily="34" charset="0"/>
              <a:ea typeface="+mn-ea"/>
              <a:cs typeface="+mn-cs"/>
            </a:endParaRPr>
          </a:p>
        </p:txBody>
      </p:sp>
      <p:sp>
        <p:nvSpPr>
          <p:cNvPr id="66563" name="Rectangle 2"/>
          <p:cNvSpPr>
            <a:spLocks noGrp="1"/>
          </p:cNvSpPr>
          <p:nvPr>
            <p:ph type="title"/>
          </p:nvPr>
        </p:nvSpPr>
        <p:spPr>
          <a:xfrm>
            <a:off x="228600" y="0"/>
            <a:ext cx="8915400" cy="990600"/>
          </a:xfrm>
        </p:spPr>
        <p:txBody>
          <a:bodyPr vert="horz" wrap="square" lIns="91440" tIns="45720" rIns="91440" bIns="45720" anchor="b" anchorCtr="0"/>
          <a:lstStyle/>
          <a:p>
            <a:pPr algn="ctr" eaLnBrk="1" hangingPunct="1"/>
            <a:r>
              <a:rPr sz="3200" dirty="0"/>
              <a:t>Naïve Bayesian Classifier:  Example</a:t>
            </a:r>
            <a:br>
              <a:rPr sz="3200" dirty="0"/>
            </a:br>
            <a:r>
              <a:rPr sz="3200" dirty="0"/>
              <a:t>Compute P(X/Ci) for each class</a:t>
            </a:r>
          </a:p>
        </p:txBody>
      </p:sp>
      <p:sp>
        <p:nvSpPr>
          <p:cNvPr id="66564" name="Rectangle 3"/>
          <p:cNvSpPr>
            <a:spLocks noGrp="1"/>
          </p:cNvSpPr>
          <p:nvPr>
            <p:ph idx="1"/>
          </p:nvPr>
        </p:nvSpPr>
        <p:spPr>
          <a:xfrm>
            <a:off x="0" y="1228725"/>
            <a:ext cx="9144000" cy="5629275"/>
          </a:xfrm>
        </p:spPr>
        <p:txBody>
          <a:bodyPr vert="horz" wrap="square" lIns="91440" tIns="45720" rIns="91440" bIns="45720" anchor="t" anchorCtr="0"/>
          <a:lstStyle/>
          <a:p>
            <a:pPr eaLnBrk="1" hangingPunct="1">
              <a:lnSpc>
                <a:spcPct val="80000"/>
              </a:lnSpc>
            </a:pPr>
            <a:r>
              <a:rPr sz="1800" dirty="0">
                <a:solidFill>
                  <a:srgbClr val="990000"/>
                </a:solidFill>
              </a:rPr>
              <a:t>Data sample  X =(age&lt;=30, Income=medium, Student=yes Credit_rating= Fair)</a:t>
            </a:r>
          </a:p>
          <a:p>
            <a:pPr eaLnBrk="1" hangingPunct="1">
              <a:lnSpc>
                <a:spcPct val="80000"/>
              </a:lnSpc>
            </a:pPr>
            <a:endParaRPr sz="2000" dirty="0">
              <a:solidFill>
                <a:srgbClr val="990000"/>
              </a:solidFill>
            </a:endParaRPr>
          </a:p>
          <a:p>
            <a:pPr eaLnBrk="1" hangingPunct="1">
              <a:lnSpc>
                <a:spcPct val="80000"/>
              </a:lnSpc>
            </a:pPr>
            <a:r>
              <a:rPr sz="1800" dirty="0"/>
              <a:t>P(age=“&lt;30” | buys_computer=“yes”)  = 2/9=0.222</a:t>
            </a:r>
          </a:p>
          <a:p>
            <a:pPr eaLnBrk="1" hangingPunct="1">
              <a:lnSpc>
                <a:spcPct val="80000"/>
              </a:lnSpc>
              <a:buNone/>
            </a:pPr>
            <a:r>
              <a:rPr sz="1800" dirty="0"/>
              <a:t>     P(age=“&lt;30” | buys_computer=“no”) = 3/5 =0.6</a:t>
            </a:r>
          </a:p>
          <a:p>
            <a:pPr eaLnBrk="1" hangingPunct="1">
              <a:lnSpc>
                <a:spcPct val="80000"/>
              </a:lnSpc>
              <a:buNone/>
            </a:pPr>
            <a:r>
              <a:rPr sz="1800" dirty="0"/>
              <a:t>     P(income=“medium” | buys_computer=“yes”)= 4/9 =0.444</a:t>
            </a:r>
          </a:p>
          <a:p>
            <a:pPr eaLnBrk="1" hangingPunct="1">
              <a:lnSpc>
                <a:spcPct val="80000"/>
              </a:lnSpc>
              <a:buNone/>
            </a:pPr>
            <a:r>
              <a:rPr sz="1800" dirty="0"/>
              <a:t>     P(income=“medium” | buys_computer=“no”) = 2/5 = 0.4</a:t>
            </a:r>
          </a:p>
          <a:p>
            <a:pPr eaLnBrk="1" hangingPunct="1">
              <a:lnSpc>
                <a:spcPct val="80000"/>
              </a:lnSpc>
              <a:buNone/>
            </a:pPr>
            <a:r>
              <a:rPr sz="1800" dirty="0"/>
              <a:t>     P(student=“yes” | buys_computer=“yes)= 6/9 =0.667</a:t>
            </a:r>
          </a:p>
          <a:p>
            <a:pPr eaLnBrk="1" hangingPunct="1">
              <a:lnSpc>
                <a:spcPct val="80000"/>
              </a:lnSpc>
              <a:buNone/>
            </a:pPr>
            <a:r>
              <a:rPr sz="1800" dirty="0"/>
              <a:t>     P(student=“yes” | buys_computer=“no”)= 1/5=0.2</a:t>
            </a:r>
          </a:p>
          <a:p>
            <a:pPr eaLnBrk="1" hangingPunct="1">
              <a:lnSpc>
                <a:spcPct val="80000"/>
              </a:lnSpc>
              <a:buNone/>
            </a:pPr>
            <a:r>
              <a:rPr sz="1800" dirty="0"/>
              <a:t>     P(credit_rating=“fair” | buys_computer=“yes”)=6/9=0.667</a:t>
            </a:r>
          </a:p>
          <a:p>
            <a:pPr eaLnBrk="1" hangingPunct="1">
              <a:lnSpc>
                <a:spcPct val="80000"/>
              </a:lnSpc>
              <a:buNone/>
            </a:pPr>
            <a:r>
              <a:rPr sz="1800" dirty="0"/>
              <a:t>     P(credit_rating=“fair” | buys_computer=“no”)=2/5=0.4</a:t>
            </a:r>
          </a:p>
          <a:p>
            <a:pPr eaLnBrk="1" hangingPunct="1">
              <a:lnSpc>
                <a:spcPct val="80000"/>
              </a:lnSpc>
              <a:buNone/>
            </a:pPr>
            <a:endParaRPr sz="1800" dirty="0"/>
          </a:p>
          <a:p>
            <a:pPr eaLnBrk="1" hangingPunct="1">
              <a:lnSpc>
                <a:spcPct val="80000"/>
              </a:lnSpc>
              <a:buNone/>
            </a:pPr>
            <a:r>
              <a:rPr sz="1600" b="1" dirty="0"/>
              <a:t> </a:t>
            </a:r>
            <a:r>
              <a:rPr sz="1800" dirty="0">
                <a:solidFill>
                  <a:srgbClr val="993300"/>
                </a:solidFill>
              </a:rPr>
              <a:t>P(buys_computer=“yes”)=9/14=0.643 </a:t>
            </a:r>
          </a:p>
          <a:p>
            <a:pPr eaLnBrk="1" hangingPunct="1">
              <a:lnSpc>
                <a:spcPct val="80000"/>
              </a:lnSpc>
              <a:buNone/>
            </a:pPr>
            <a:r>
              <a:rPr sz="1800" dirty="0">
                <a:solidFill>
                  <a:srgbClr val="993300"/>
                </a:solidFill>
              </a:rPr>
              <a:t>   P(buys_computer=“no”)=5/14=0.357</a:t>
            </a:r>
            <a:endParaRPr sz="1600" b="1" dirty="0">
              <a:solidFill>
                <a:srgbClr val="993300"/>
              </a:solidFill>
            </a:endParaRPr>
          </a:p>
          <a:p>
            <a:pPr eaLnBrk="1" hangingPunct="1">
              <a:lnSpc>
                <a:spcPct val="80000"/>
              </a:lnSpc>
              <a:buNone/>
            </a:pPr>
            <a:endParaRPr sz="1600" b="1" dirty="0">
              <a:solidFill>
                <a:srgbClr val="993300"/>
              </a:solidFill>
            </a:endParaRPr>
          </a:p>
          <a:p>
            <a:pPr eaLnBrk="1" hangingPunct="1">
              <a:lnSpc>
                <a:spcPct val="80000"/>
              </a:lnSpc>
              <a:buNone/>
            </a:pPr>
            <a:r>
              <a:rPr sz="1600" dirty="0"/>
              <a:t> </a:t>
            </a:r>
            <a:r>
              <a:rPr sz="1800" b="1" dirty="0">
                <a:solidFill>
                  <a:srgbClr val="170981"/>
                </a:solidFill>
              </a:rPr>
              <a:t>P(X|Ci) :</a:t>
            </a:r>
            <a:r>
              <a:rPr sz="1800" dirty="0">
                <a:solidFill>
                  <a:srgbClr val="170981"/>
                </a:solidFill>
              </a:rPr>
              <a:t> </a:t>
            </a:r>
            <a:r>
              <a:rPr sz="1800" dirty="0">
                <a:solidFill>
                  <a:srgbClr val="990000"/>
                </a:solidFill>
              </a:rPr>
              <a:t>P(X|buys_computer=“yes”)=</a:t>
            </a:r>
            <a:r>
              <a:rPr sz="1800" dirty="0">
                <a:solidFill>
                  <a:srgbClr val="170981"/>
                </a:solidFill>
              </a:rPr>
              <a:t> 0.222 x 0.444 x 0.667 x 0.667 =0.044</a:t>
            </a:r>
          </a:p>
          <a:p>
            <a:pPr eaLnBrk="1" hangingPunct="1">
              <a:lnSpc>
                <a:spcPct val="80000"/>
              </a:lnSpc>
              <a:buNone/>
            </a:pPr>
            <a:r>
              <a:rPr sz="1800" dirty="0">
                <a:solidFill>
                  <a:srgbClr val="170981"/>
                </a:solidFill>
              </a:rPr>
              <a:t>                </a:t>
            </a:r>
            <a:r>
              <a:rPr sz="1800" dirty="0">
                <a:solidFill>
                  <a:srgbClr val="990000"/>
                </a:solidFill>
              </a:rPr>
              <a:t>P(X|buys_computer=“no”)=</a:t>
            </a:r>
            <a:r>
              <a:rPr sz="1800" dirty="0">
                <a:solidFill>
                  <a:srgbClr val="170981"/>
                </a:solidFill>
              </a:rPr>
              <a:t> 0.6 x 0.4 x 0.2 x 0.4 =0.019</a:t>
            </a:r>
          </a:p>
          <a:p>
            <a:pPr eaLnBrk="1" hangingPunct="1">
              <a:lnSpc>
                <a:spcPct val="80000"/>
              </a:lnSpc>
              <a:buNone/>
            </a:pPr>
            <a:r>
              <a:rPr sz="1800" b="1" dirty="0">
                <a:solidFill>
                  <a:srgbClr val="170981"/>
                </a:solidFill>
              </a:rPr>
              <a:t>P(X|Ci)*P(Ci ) : </a:t>
            </a:r>
            <a:r>
              <a:rPr sz="1800" dirty="0">
                <a:solidFill>
                  <a:srgbClr val="170981"/>
                </a:solidFill>
              </a:rPr>
              <a:t>P(X|buys_computer=“yes”) * P(buys_computer=“yes”)=0.028</a:t>
            </a:r>
          </a:p>
          <a:p>
            <a:pPr eaLnBrk="1" hangingPunct="1">
              <a:lnSpc>
                <a:spcPct val="80000"/>
              </a:lnSpc>
              <a:buNone/>
            </a:pPr>
            <a:r>
              <a:rPr sz="1800" b="1" dirty="0">
                <a:solidFill>
                  <a:srgbClr val="170981"/>
                </a:solidFill>
              </a:rPr>
              <a:t>	              </a:t>
            </a:r>
            <a:r>
              <a:rPr sz="1800" dirty="0">
                <a:solidFill>
                  <a:srgbClr val="170981"/>
                </a:solidFill>
              </a:rPr>
              <a:t>P(X|buys_computer=“no”) * P(buys_computer=“no”)=0.007</a:t>
            </a:r>
          </a:p>
          <a:p>
            <a:pPr eaLnBrk="1" hangingPunct="1">
              <a:lnSpc>
                <a:spcPct val="80000"/>
              </a:lnSpc>
              <a:buNone/>
            </a:pPr>
            <a:endParaRPr sz="1800" b="1" dirty="0">
              <a:solidFill>
                <a:srgbClr val="170981"/>
              </a:solidFill>
            </a:endParaRPr>
          </a:p>
          <a:p>
            <a:pPr eaLnBrk="1" hangingPunct="1">
              <a:lnSpc>
                <a:spcPct val="80000"/>
              </a:lnSpc>
              <a:buNone/>
            </a:pPr>
            <a:r>
              <a:rPr sz="2000" b="1" dirty="0">
                <a:solidFill>
                  <a:srgbClr val="990000"/>
                </a:solidFill>
              </a:rPr>
              <a:t>X belongs to  class “buys_computer=yes”		</a:t>
            </a:r>
          </a:p>
        </p:txBody>
      </p:sp>
      <p:sp>
        <p:nvSpPr>
          <p:cNvPr id="66565" name="Line 4"/>
          <p:cNvSpPr/>
          <p:nvPr/>
        </p:nvSpPr>
        <p:spPr>
          <a:xfrm flipH="1">
            <a:off x="8305800" y="5486400"/>
            <a:ext cx="381000" cy="228600"/>
          </a:xfrm>
          <a:prstGeom prst="line">
            <a:avLst/>
          </a:prstGeom>
          <a:ln w="19050" cap="flat" cmpd="sng">
            <a:solidFill>
              <a:srgbClr val="990000"/>
            </a:solidFill>
            <a:prstDash val="solid"/>
            <a:miter/>
            <a:headEnd type="none" w="med" len="med"/>
            <a:tailEnd type="triangle" w="med" len="med"/>
          </a:ln>
        </p:spPr>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48</a:t>
            </a:fld>
            <a:endParaRPr lang="en-US" sz="1200" dirty="0">
              <a:latin typeface="Tahoma" panose="020B0604030504040204" pitchFamily="34" charset="0"/>
              <a:ea typeface="+mn-ea"/>
              <a:cs typeface="+mn-cs"/>
            </a:endParaRPr>
          </a:p>
        </p:txBody>
      </p:sp>
      <p:sp>
        <p:nvSpPr>
          <p:cNvPr id="67587" name="Rectangle 2"/>
          <p:cNvSpPr>
            <a:spLocks noGrp="1"/>
          </p:cNvSpPr>
          <p:nvPr>
            <p:ph type="title"/>
          </p:nvPr>
        </p:nvSpPr>
        <p:spPr>
          <a:xfrm>
            <a:off x="1143000" y="381000"/>
            <a:ext cx="7696200" cy="685800"/>
          </a:xfrm>
        </p:spPr>
        <p:txBody>
          <a:bodyPr vert="horz" wrap="square" lIns="92075" tIns="46038" rIns="92075" bIns="46038" anchor="ctr" anchorCtr="0"/>
          <a:lstStyle/>
          <a:p>
            <a:pPr eaLnBrk="1" hangingPunct="1"/>
            <a:r>
              <a:rPr dirty="0"/>
              <a:t>Bayesian Classification: Why?</a:t>
            </a:r>
            <a:endParaRPr sz="2400" dirty="0"/>
          </a:p>
        </p:txBody>
      </p:sp>
      <p:sp>
        <p:nvSpPr>
          <p:cNvPr id="67588" name="Rectangle 3"/>
          <p:cNvSpPr>
            <a:spLocks noGrp="1"/>
          </p:cNvSpPr>
          <p:nvPr>
            <p:ph idx="1"/>
          </p:nvPr>
        </p:nvSpPr>
        <p:spPr>
          <a:xfrm>
            <a:off x="381000" y="1143000"/>
            <a:ext cx="8458200" cy="4953000"/>
          </a:xfrm>
        </p:spPr>
        <p:txBody>
          <a:bodyPr vert="horz" wrap="square" lIns="92075" tIns="46038" rIns="92075" bIns="46038" anchor="t" anchorCtr="0"/>
          <a:lstStyle/>
          <a:p>
            <a:pPr eaLnBrk="1" hangingPunct="1"/>
            <a:r>
              <a:rPr sz="2000" u="sng" dirty="0"/>
              <a:t>Probabilistic learning</a:t>
            </a:r>
            <a:r>
              <a:rPr sz="2000" dirty="0"/>
              <a:t>:  Calculate explicit probabilities for hypothesis, among the most practical approaches to certain types of learning problems</a:t>
            </a:r>
          </a:p>
          <a:p>
            <a:pPr eaLnBrk="1" hangingPunct="1"/>
            <a:endParaRPr sz="2000" dirty="0"/>
          </a:p>
          <a:p>
            <a:pPr eaLnBrk="1" hangingPunct="1"/>
            <a:r>
              <a:rPr sz="2000" u="sng" dirty="0"/>
              <a:t>Incremental</a:t>
            </a:r>
            <a:r>
              <a:rPr sz="2000" dirty="0"/>
              <a:t>: Each training example can incrementally increase/decrease the probability that a hypothesis is correct.  Prior knowledge can be combined with observed data.</a:t>
            </a:r>
          </a:p>
          <a:p>
            <a:pPr eaLnBrk="1" hangingPunct="1"/>
            <a:endParaRPr sz="2000" dirty="0"/>
          </a:p>
          <a:p>
            <a:pPr eaLnBrk="1" hangingPunct="1"/>
            <a:r>
              <a:rPr sz="2000" u="sng" dirty="0"/>
              <a:t>Probabilistic prediction</a:t>
            </a:r>
            <a:r>
              <a:rPr sz="2000" dirty="0"/>
              <a:t>:  Predict multiple hypotheses, weighted by their probabilities</a:t>
            </a:r>
          </a:p>
          <a:p>
            <a:pPr eaLnBrk="1" hangingPunct="1"/>
            <a:endParaRPr sz="2000" dirty="0"/>
          </a:p>
          <a:p>
            <a:pPr eaLnBrk="1" hangingPunct="1"/>
            <a:r>
              <a:rPr sz="2000" u="sng" dirty="0"/>
              <a:t>Standard</a:t>
            </a:r>
            <a:r>
              <a:rPr sz="2000" dirty="0"/>
              <a:t>: Even when Bayesian methods are computationally intractable, they can provide a standard of optimal decision making against which other methods can be measured</a:t>
            </a:r>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49</a:t>
            </a:fld>
            <a:endParaRPr lang="en-US" sz="1200" dirty="0">
              <a:latin typeface="Tahoma" panose="020B0604030504040204" pitchFamily="34" charset="0"/>
              <a:ea typeface="+mn-ea"/>
              <a:cs typeface="+mn-cs"/>
            </a:endParaRPr>
          </a:p>
        </p:txBody>
      </p:sp>
      <p:sp>
        <p:nvSpPr>
          <p:cNvPr id="69635" name="Rectangle 2"/>
          <p:cNvSpPr>
            <a:spLocks noGrp="1"/>
          </p:cNvSpPr>
          <p:nvPr>
            <p:ph type="title"/>
          </p:nvPr>
        </p:nvSpPr>
        <p:spPr>
          <a:xfrm>
            <a:off x="1066800" y="381000"/>
            <a:ext cx="7793038" cy="609600"/>
          </a:xfrm>
        </p:spPr>
        <p:txBody>
          <a:bodyPr vert="horz" wrap="square" lIns="91440" tIns="45720" rIns="91440" bIns="45720" anchor="b" anchorCtr="0"/>
          <a:lstStyle/>
          <a:p>
            <a:pPr eaLnBrk="1" hangingPunct="1"/>
            <a:r>
              <a:rPr dirty="0"/>
              <a:t>Naïve Bayesian Classifier: Comments</a:t>
            </a:r>
          </a:p>
        </p:txBody>
      </p:sp>
      <p:sp>
        <p:nvSpPr>
          <p:cNvPr id="53252" name="Rectangle 3"/>
          <p:cNvSpPr>
            <a:spLocks noGrp="1" noChangeArrowheads="1"/>
          </p:cNvSpPr>
          <p:nvPr>
            <p:ph idx="1"/>
          </p:nvPr>
        </p:nvSpPr>
        <p:spPr>
          <a:xfrm>
            <a:off x="457200" y="1219200"/>
            <a:ext cx="83820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en-US" sz="2000" b="0" i="0" u="none" strike="noStrike" kern="0" cap="none" spc="0" normalizeH="0" baseline="0" noProof="0" dirty="0" smtClean="0">
                <a:ln>
                  <a:noFill/>
                </a:ln>
                <a:solidFill>
                  <a:srgbClr val="0000FF"/>
                </a:solidFill>
                <a:effectLst/>
                <a:uLnTx/>
                <a:uFillTx/>
                <a:latin typeface="+mn-lt"/>
                <a:ea typeface="+mn-ea"/>
                <a:cs typeface="+mn-cs"/>
              </a:rPr>
              <a:t>Advantages : </a:t>
            </a:r>
          </a:p>
          <a:p>
            <a:pPr marL="914400" marR="0" lvl="1" indent="-457200" algn="l" defTabSz="914400" rtl="0" eaLnBrk="1" fontAlgn="base" latinLnBrk="0" hangingPunct="1">
              <a:lnSpc>
                <a:spcPct val="100000"/>
              </a:lnSpc>
              <a:spcBef>
                <a:spcPct val="20000"/>
              </a:spcBef>
              <a:spcAft>
                <a:spcPct val="0"/>
              </a:spcAft>
              <a:buClr>
                <a:schemeClr val="hlink"/>
              </a:buClr>
              <a:buSzPct val="55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Easy to implement </a:t>
            </a:r>
          </a:p>
          <a:p>
            <a:pPr marL="914400" marR="0" lvl="1" indent="-457200" algn="l" defTabSz="914400" rtl="0" eaLnBrk="1" fontAlgn="base" latinLnBrk="0" hangingPunct="1">
              <a:lnSpc>
                <a:spcPct val="100000"/>
              </a:lnSpc>
              <a:spcBef>
                <a:spcPct val="20000"/>
              </a:spcBef>
              <a:spcAft>
                <a:spcPct val="0"/>
              </a:spcAft>
              <a:buClr>
                <a:schemeClr val="hlink"/>
              </a:buClr>
              <a:buSzPct val="55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Good results obtained in most of the cases</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en-US" sz="2000" b="0" i="0" u="none" strike="noStrike" kern="0" cap="none" spc="0" normalizeH="0" baseline="0" noProof="0" dirty="0" smtClean="0">
                <a:ln>
                  <a:noFill/>
                </a:ln>
                <a:solidFill>
                  <a:srgbClr val="FF0000"/>
                </a:solidFill>
                <a:effectLst/>
                <a:uLnTx/>
                <a:uFillTx/>
                <a:latin typeface="+mn-lt"/>
                <a:ea typeface="+mn-ea"/>
                <a:cs typeface="+mn-cs"/>
              </a:rPr>
              <a:t>Disadvantages</a:t>
            </a:r>
          </a:p>
          <a:p>
            <a:pPr marL="914400" marR="0" lvl="1" indent="-457200" algn="l" defTabSz="914400" rtl="0" eaLnBrk="1" fontAlgn="base" latinLnBrk="0" hangingPunct="1">
              <a:lnSpc>
                <a:spcPct val="100000"/>
              </a:lnSpc>
              <a:spcBef>
                <a:spcPct val="20000"/>
              </a:spcBef>
              <a:spcAft>
                <a:spcPct val="0"/>
              </a:spcAft>
              <a:buClr>
                <a:schemeClr val="hlink"/>
              </a:buClr>
              <a:buSzPct val="55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Assumption: class conditional independence , therefore loss of accuracy</a:t>
            </a:r>
          </a:p>
          <a:p>
            <a:pPr marL="914400" marR="0" lvl="1" indent="-457200" algn="l" defTabSz="914400" rtl="0" eaLnBrk="1" fontAlgn="base" latinLnBrk="0" hangingPunct="1">
              <a:lnSpc>
                <a:spcPct val="100000"/>
              </a:lnSpc>
              <a:spcBef>
                <a:spcPct val="20000"/>
              </a:spcBef>
              <a:spcAft>
                <a:spcPct val="0"/>
              </a:spcAft>
              <a:buClr>
                <a:schemeClr val="hlink"/>
              </a:buClr>
              <a:buSzPct val="55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Practically, dependencies exist among variables </a:t>
            </a:r>
          </a:p>
          <a:p>
            <a:pPr marL="1371600" marR="0" lvl="2" indent="-457200" algn="l" defTabSz="914400" rtl="0" eaLnBrk="1" fontAlgn="base" latinLnBrk="0" hangingPunct="1">
              <a:lnSpc>
                <a:spcPct val="100000"/>
              </a:lnSpc>
              <a:spcBef>
                <a:spcPct val="20000"/>
              </a:spcBef>
              <a:spcAft>
                <a:spcPct val="0"/>
              </a:spcAft>
              <a:buClr>
                <a:schemeClr val="folHlink"/>
              </a:buClr>
              <a:buSzPct val="50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E.g.,  hospitals: patients: Profile: age, family history etc </a:t>
            </a:r>
          </a:p>
          <a:p>
            <a:pPr marL="1371600" marR="0" lvl="2" indent="-457200" algn="l" defTabSz="914400" rtl="0" eaLnBrk="1" fontAlgn="base" latinLnBrk="0" hangingPunct="1">
              <a:lnSpc>
                <a:spcPct val="100000"/>
              </a:lnSpc>
              <a:spcBef>
                <a:spcPct val="20000"/>
              </a:spcBef>
              <a:spcAft>
                <a:spcPct val="0"/>
              </a:spcAft>
              <a:buClr>
                <a:schemeClr val="folHlink"/>
              </a:buClr>
              <a:buSzPct val="50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    Symptoms: fever, cough etc., Disease: lung cancer, diabetes etc </a:t>
            </a:r>
          </a:p>
          <a:p>
            <a:pPr marL="914400" marR="0" lvl="1" indent="-457200" algn="l" defTabSz="914400" rtl="0" eaLnBrk="1" fontAlgn="base" latinLnBrk="0" hangingPunct="1">
              <a:lnSpc>
                <a:spcPct val="100000"/>
              </a:lnSpc>
              <a:spcBef>
                <a:spcPct val="20000"/>
              </a:spcBef>
              <a:spcAft>
                <a:spcPct val="0"/>
              </a:spcAft>
              <a:buClr>
                <a:schemeClr val="hlink"/>
              </a:buClr>
              <a:buSzPct val="55000"/>
              <a:buFont typeface="+mj-lt"/>
              <a:buAutoNum type="arabicPeriod"/>
              <a:defRPr/>
            </a:pPr>
            <a:r>
              <a:rPr kumimoji="0" lang="en-US" sz="2000" b="0" i="0" u="none" strike="noStrike" kern="0" cap="none" spc="0" normalizeH="0" baseline="0" noProof="0" dirty="0" smtClean="0">
                <a:ln>
                  <a:noFill/>
                </a:ln>
                <a:solidFill>
                  <a:schemeClr val="tx1"/>
                </a:solidFill>
                <a:effectLst/>
                <a:uLnTx/>
                <a:uFillTx/>
                <a:latin typeface="+mn-lt"/>
              </a:rPr>
              <a:t>Dependencies among these cannot be modeled by Naïve Bayesian Classifier</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endParaRPr kumimoji="0" lang="en-US" sz="2000" b="0" i="0" u="none" strike="noStrike" kern="0" cap="none" spc="0" normalizeH="0" baseline="0" noProof="0" dirty="0" smtClean="0">
              <a:ln>
                <a:noFill/>
              </a:ln>
              <a:solidFill>
                <a:schemeClr val="tx1"/>
              </a:solidFill>
              <a:effectLst/>
              <a:uLnTx/>
              <a:uFillTx/>
              <a:latin typeface="+mn-lt"/>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en-US" sz="2000" b="0" i="0" u="none" strike="noStrike" kern="0" cap="none" spc="0" normalizeH="0" baseline="0" noProof="0" dirty="0" smtClean="0">
                <a:ln>
                  <a:noFill/>
                </a:ln>
                <a:solidFill>
                  <a:srgbClr val="170981"/>
                </a:solidFill>
                <a:effectLst/>
                <a:uLnTx/>
                <a:uFillTx/>
                <a:latin typeface="+mn-lt"/>
                <a:ea typeface="+mn-ea"/>
                <a:cs typeface="+mn-cs"/>
              </a:rPr>
              <a:t>How to deal with these dependencies?</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0" lang="en-US" sz="2000" b="0" i="0" u="none" strike="noStrike" kern="0" cap="none" spc="0" normalizeH="0" baseline="0" noProof="0" dirty="0" smtClean="0">
                <a:ln>
                  <a:noFill/>
                </a:ln>
                <a:solidFill>
                  <a:srgbClr val="170981"/>
                </a:solidFill>
                <a:effectLst/>
                <a:uLnTx/>
                <a:uFillTx/>
                <a:latin typeface="+mn-lt"/>
              </a:rPr>
              <a:t>Bayesian Belief Networks </a:t>
            </a:r>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50</a:t>
            </a:fld>
            <a:endParaRPr lang="en-US" sz="1200" dirty="0">
              <a:latin typeface="Tahoma" panose="020B0604030504040204" pitchFamily="34" charset="0"/>
              <a:ea typeface="+mn-ea"/>
              <a:cs typeface="+mn-cs"/>
            </a:endParaRPr>
          </a:p>
        </p:txBody>
      </p:sp>
      <p:sp>
        <p:nvSpPr>
          <p:cNvPr id="70659" name="Rectangle 1026"/>
          <p:cNvSpPr>
            <a:spLocks noGrp="1"/>
          </p:cNvSpPr>
          <p:nvPr>
            <p:ph type="title"/>
          </p:nvPr>
        </p:nvSpPr>
        <p:spPr/>
        <p:txBody>
          <a:bodyPr vert="horz" wrap="square" lIns="91440" tIns="45720" rIns="91440" bIns="45720" anchor="b" anchorCtr="0"/>
          <a:lstStyle/>
          <a:p>
            <a:pPr eaLnBrk="1" hangingPunct="1"/>
            <a:r>
              <a:rPr dirty="0"/>
              <a:t>Bayesian Networks</a:t>
            </a:r>
          </a:p>
        </p:txBody>
      </p:sp>
      <p:sp>
        <p:nvSpPr>
          <p:cNvPr id="70660" name="Rectangle 1027"/>
          <p:cNvSpPr>
            <a:spLocks noGrp="1"/>
          </p:cNvSpPr>
          <p:nvPr>
            <p:ph idx="1"/>
          </p:nvPr>
        </p:nvSpPr>
        <p:spPr>
          <a:xfrm>
            <a:off x="533400" y="1309688"/>
            <a:ext cx="8229600" cy="5167312"/>
          </a:xfrm>
        </p:spPr>
        <p:txBody>
          <a:bodyPr vert="horz" wrap="square" lIns="91440" tIns="45720" rIns="91440" bIns="45720" anchor="t" anchorCtr="0"/>
          <a:lstStyle/>
          <a:p>
            <a:pPr eaLnBrk="1" hangingPunct="1">
              <a:lnSpc>
                <a:spcPct val="130000"/>
              </a:lnSpc>
            </a:pPr>
            <a:r>
              <a:rPr sz="2400" dirty="0"/>
              <a:t>Bayesian belief network allows a </a:t>
            </a:r>
            <a:r>
              <a:rPr sz="2400" i="1" dirty="0"/>
              <a:t>subset</a:t>
            </a:r>
            <a:r>
              <a:rPr sz="2400" dirty="0"/>
              <a:t> of the variables conditionally independent</a:t>
            </a:r>
          </a:p>
          <a:p>
            <a:pPr eaLnBrk="1" hangingPunct="1">
              <a:lnSpc>
                <a:spcPct val="130000"/>
              </a:lnSpc>
            </a:pPr>
            <a:r>
              <a:rPr sz="2400" dirty="0"/>
              <a:t>A graphical model of causal relationships</a:t>
            </a:r>
          </a:p>
          <a:p>
            <a:pPr lvl="1" eaLnBrk="1" hangingPunct="1"/>
            <a:r>
              <a:rPr sz="2400" dirty="0"/>
              <a:t>Represents </a:t>
            </a:r>
            <a:r>
              <a:rPr sz="2400" u="sng" dirty="0"/>
              <a:t>dependency</a:t>
            </a:r>
            <a:r>
              <a:rPr sz="2400" dirty="0"/>
              <a:t> among the variables </a:t>
            </a:r>
          </a:p>
          <a:p>
            <a:pPr lvl="1" eaLnBrk="1" hangingPunct="1"/>
            <a:r>
              <a:rPr sz="2400" dirty="0"/>
              <a:t>Gives a specification of joint probability distribution </a:t>
            </a:r>
          </a:p>
        </p:txBody>
      </p:sp>
      <p:sp>
        <p:nvSpPr>
          <p:cNvPr id="70661" name="AutoShape 1028"/>
          <p:cNvSpPr/>
          <p:nvPr/>
        </p:nvSpPr>
        <p:spPr>
          <a:xfrm>
            <a:off x="1447800" y="4876800"/>
            <a:ext cx="457200" cy="457200"/>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b="1" dirty="0">
                <a:latin typeface="Tahoma" panose="020B0604030504040204" pitchFamily="34" charset="0"/>
              </a:rPr>
              <a:t>X</a:t>
            </a:r>
          </a:p>
        </p:txBody>
      </p:sp>
      <p:grpSp>
        <p:nvGrpSpPr>
          <p:cNvPr id="70662" name="Group 1038"/>
          <p:cNvGrpSpPr/>
          <p:nvPr/>
        </p:nvGrpSpPr>
        <p:grpSpPr>
          <a:xfrm>
            <a:off x="1676400" y="4419600"/>
            <a:ext cx="1905000" cy="1905000"/>
            <a:chOff x="1344" y="2400"/>
            <a:chExt cx="1200" cy="1200"/>
          </a:xfrm>
        </p:grpSpPr>
        <p:sp>
          <p:nvSpPr>
            <p:cNvPr id="70664" name="AutoShape 1029"/>
            <p:cNvSpPr/>
            <p:nvPr/>
          </p:nvSpPr>
          <p:spPr>
            <a:xfrm>
              <a:off x="2064" y="2640"/>
              <a:ext cx="288" cy="288"/>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b="1" dirty="0">
                  <a:latin typeface="Tahoma" panose="020B0604030504040204" pitchFamily="34" charset="0"/>
                </a:rPr>
                <a:t>Y</a:t>
              </a:r>
            </a:p>
          </p:txBody>
        </p:sp>
        <p:sp>
          <p:nvSpPr>
            <p:cNvPr id="70665" name="AutoShape 1030"/>
            <p:cNvSpPr/>
            <p:nvPr/>
          </p:nvSpPr>
          <p:spPr>
            <a:xfrm>
              <a:off x="1584" y="3168"/>
              <a:ext cx="288" cy="288"/>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b="1" dirty="0">
                  <a:latin typeface="Tahoma" panose="020B0604030504040204" pitchFamily="34" charset="0"/>
                </a:rPr>
                <a:t>Z</a:t>
              </a:r>
            </a:p>
          </p:txBody>
        </p:sp>
        <p:sp>
          <p:nvSpPr>
            <p:cNvPr id="70666" name="Line 1031"/>
            <p:cNvSpPr/>
            <p:nvPr/>
          </p:nvSpPr>
          <p:spPr>
            <a:xfrm>
              <a:off x="1440" y="2928"/>
              <a:ext cx="192" cy="288"/>
            </a:xfrm>
            <a:prstGeom prst="line">
              <a:avLst/>
            </a:prstGeom>
            <a:ln w="9525" cap="flat" cmpd="sng">
              <a:solidFill>
                <a:schemeClr val="tx1"/>
              </a:solidFill>
              <a:prstDash val="solid"/>
              <a:miter/>
              <a:headEnd type="none" w="med" len="med"/>
              <a:tailEnd type="triangle" w="med" len="med"/>
            </a:ln>
          </p:spPr>
        </p:sp>
        <p:sp>
          <p:nvSpPr>
            <p:cNvPr id="70667" name="Line 1032"/>
            <p:cNvSpPr/>
            <p:nvPr/>
          </p:nvSpPr>
          <p:spPr>
            <a:xfrm flipH="1">
              <a:off x="1776" y="2880"/>
              <a:ext cx="336" cy="336"/>
            </a:xfrm>
            <a:prstGeom prst="line">
              <a:avLst/>
            </a:prstGeom>
            <a:ln w="9525" cap="flat" cmpd="sng">
              <a:solidFill>
                <a:schemeClr val="tx1"/>
              </a:solidFill>
              <a:prstDash val="solid"/>
              <a:miter/>
              <a:headEnd type="none" w="med" len="med"/>
              <a:tailEnd type="triangle" w="med" len="med"/>
            </a:ln>
          </p:spPr>
        </p:sp>
        <p:sp>
          <p:nvSpPr>
            <p:cNvPr id="70668" name="AutoShape 1033"/>
            <p:cNvSpPr/>
            <p:nvPr/>
          </p:nvSpPr>
          <p:spPr>
            <a:xfrm>
              <a:off x="2256" y="3312"/>
              <a:ext cx="288" cy="288"/>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b="1" dirty="0">
                  <a:latin typeface="Tahoma" panose="020B0604030504040204" pitchFamily="34" charset="0"/>
                </a:rPr>
                <a:t>P</a:t>
              </a:r>
            </a:p>
          </p:txBody>
        </p:sp>
        <p:sp>
          <p:nvSpPr>
            <p:cNvPr id="70669" name="Line 1034"/>
            <p:cNvSpPr/>
            <p:nvPr/>
          </p:nvSpPr>
          <p:spPr>
            <a:xfrm>
              <a:off x="2256" y="2928"/>
              <a:ext cx="96" cy="432"/>
            </a:xfrm>
            <a:prstGeom prst="line">
              <a:avLst/>
            </a:prstGeom>
            <a:ln w="9525" cap="flat" cmpd="sng">
              <a:solidFill>
                <a:schemeClr val="tx1"/>
              </a:solidFill>
              <a:prstDash val="solid"/>
              <a:miter/>
              <a:headEnd type="none" w="med" len="med"/>
              <a:tailEnd type="triangle" w="med" len="med"/>
            </a:ln>
          </p:spPr>
        </p:sp>
        <p:sp>
          <p:nvSpPr>
            <p:cNvPr id="70670" name="Line 1035"/>
            <p:cNvSpPr/>
            <p:nvPr/>
          </p:nvSpPr>
          <p:spPr>
            <a:xfrm>
              <a:off x="1344" y="2400"/>
              <a:ext cx="0" cy="288"/>
            </a:xfrm>
            <a:prstGeom prst="line">
              <a:avLst/>
            </a:prstGeom>
            <a:ln w="9525" cap="flat" cmpd="sng">
              <a:solidFill>
                <a:schemeClr val="tx1"/>
              </a:solidFill>
              <a:prstDash val="solid"/>
              <a:miter/>
              <a:headEnd type="none" w="med" len="med"/>
              <a:tailEnd type="triangle" w="med" len="med"/>
            </a:ln>
          </p:spPr>
        </p:sp>
        <p:sp>
          <p:nvSpPr>
            <p:cNvPr id="70671" name="Line 1036"/>
            <p:cNvSpPr/>
            <p:nvPr/>
          </p:nvSpPr>
          <p:spPr>
            <a:xfrm>
              <a:off x="2112" y="2400"/>
              <a:ext cx="48" cy="240"/>
            </a:xfrm>
            <a:prstGeom prst="line">
              <a:avLst/>
            </a:prstGeom>
            <a:ln w="9525" cap="flat" cmpd="sng">
              <a:solidFill>
                <a:schemeClr val="tx1"/>
              </a:solidFill>
              <a:prstDash val="solid"/>
              <a:miter/>
              <a:headEnd type="none" w="med" len="med"/>
              <a:tailEnd type="triangle" w="med" len="med"/>
            </a:ln>
          </p:spPr>
        </p:sp>
      </p:grpSp>
      <p:sp>
        <p:nvSpPr>
          <p:cNvPr id="70663" name="Text Box 1037"/>
          <p:cNvSpPr txBox="1"/>
          <p:nvPr/>
        </p:nvSpPr>
        <p:spPr>
          <a:xfrm>
            <a:off x="4038600" y="4343400"/>
            <a:ext cx="4938713"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 typeface="Wingdings" panose="05000000000000000000" pitchFamily="2" charset="2"/>
              <a:buChar char="q"/>
            </a:pPr>
            <a:r>
              <a:rPr sz="2000" dirty="0">
                <a:latin typeface="Tahoma" panose="020B0604030504040204" pitchFamily="34" charset="0"/>
              </a:rPr>
              <a:t>Nodes: random variables</a:t>
            </a:r>
          </a:p>
          <a:p>
            <a:pPr marL="0" lvl="0" indent="0" eaLnBrk="1" hangingPunct="1">
              <a:spcBef>
                <a:spcPct val="0"/>
              </a:spcBef>
              <a:buClrTx/>
              <a:buSzTx/>
              <a:buFont typeface="Wingdings" panose="05000000000000000000" pitchFamily="2" charset="2"/>
              <a:buChar char="q"/>
            </a:pPr>
            <a:r>
              <a:rPr sz="2000" dirty="0">
                <a:latin typeface="Tahoma" panose="020B0604030504040204" pitchFamily="34" charset="0"/>
              </a:rPr>
              <a:t>Links: dependency</a:t>
            </a:r>
          </a:p>
          <a:p>
            <a:pPr marL="0" lvl="0" indent="0" eaLnBrk="1" hangingPunct="1">
              <a:spcBef>
                <a:spcPct val="0"/>
              </a:spcBef>
              <a:buClrTx/>
              <a:buSzTx/>
              <a:buFont typeface="Wingdings" panose="05000000000000000000" pitchFamily="2" charset="2"/>
              <a:buChar char="q"/>
            </a:pPr>
            <a:r>
              <a:rPr sz="2000" dirty="0">
                <a:latin typeface="Tahoma" panose="020B0604030504040204" pitchFamily="34" charset="0"/>
              </a:rPr>
              <a:t>X,Y are the parents of Z, and Y is the parent of P</a:t>
            </a:r>
          </a:p>
          <a:p>
            <a:pPr marL="0" lvl="0" indent="0" eaLnBrk="1" hangingPunct="1">
              <a:spcBef>
                <a:spcPct val="0"/>
              </a:spcBef>
              <a:buClrTx/>
              <a:buSzTx/>
              <a:buFont typeface="Wingdings" panose="05000000000000000000" pitchFamily="2" charset="2"/>
              <a:buChar char="q"/>
            </a:pPr>
            <a:r>
              <a:rPr sz="2000" dirty="0">
                <a:latin typeface="Tahoma" panose="020B0604030504040204" pitchFamily="34" charset="0"/>
              </a:rPr>
              <a:t>No dependency between Z and P</a:t>
            </a:r>
          </a:p>
          <a:p>
            <a:pPr marL="0" lvl="0" indent="0" eaLnBrk="1" hangingPunct="1">
              <a:spcBef>
                <a:spcPct val="0"/>
              </a:spcBef>
              <a:buClrTx/>
              <a:buSzTx/>
              <a:buFont typeface="Wingdings" panose="05000000000000000000" pitchFamily="2" charset="2"/>
              <a:buChar char="q"/>
            </a:pPr>
            <a:r>
              <a:rPr sz="2000" dirty="0">
                <a:latin typeface="Tahoma" panose="020B0604030504040204" pitchFamily="34" charset="0"/>
              </a:rPr>
              <a:t>Has no loops or cycles</a:t>
            </a:r>
          </a:p>
        </p:txBody>
      </p:sp>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51</a:t>
            </a:fld>
            <a:endParaRPr lang="en-US" sz="1200" dirty="0">
              <a:latin typeface="Tahoma" panose="020B0604030504040204" pitchFamily="34" charset="0"/>
              <a:ea typeface="+mn-ea"/>
              <a:cs typeface="+mn-cs"/>
            </a:endParaRPr>
          </a:p>
        </p:txBody>
      </p:sp>
      <p:sp>
        <p:nvSpPr>
          <p:cNvPr id="71683" name="Rectangle 2"/>
          <p:cNvSpPr>
            <a:spLocks noGrp="1"/>
          </p:cNvSpPr>
          <p:nvPr>
            <p:ph type="title"/>
          </p:nvPr>
        </p:nvSpPr>
        <p:spPr>
          <a:xfrm>
            <a:off x="1143000" y="457200"/>
            <a:ext cx="7793038" cy="609600"/>
          </a:xfrm>
        </p:spPr>
        <p:txBody>
          <a:bodyPr vert="horz" wrap="square" lIns="91440" tIns="45720" rIns="91440" bIns="45720" anchor="b" anchorCtr="0"/>
          <a:lstStyle/>
          <a:p>
            <a:pPr eaLnBrk="1" hangingPunct="1"/>
            <a:r>
              <a:rPr sz="3200" dirty="0"/>
              <a:t>Bayesian Belief Network: An Example</a:t>
            </a:r>
          </a:p>
        </p:txBody>
      </p:sp>
      <p:sp>
        <p:nvSpPr>
          <p:cNvPr id="71684" name="Oval 3"/>
          <p:cNvSpPr/>
          <p:nvPr/>
        </p:nvSpPr>
        <p:spPr>
          <a:xfrm>
            <a:off x="457200" y="1447800"/>
            <a:ext cx="1295400" cy="762000"/>
          </a:xfrm>
          <a:prstGeom prst="ellipse">
            <a:avLst/>
          </a:prstGeom>
          <a:solidFill>
            <a:srgbClr val="F6E6EA"/>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800" b="1" dirty="0">
                <a:solidFill>
                  <a:srgbClr val="000000"/>
                </a:solidFill>
                <a:latin typeface="Times New Roman" panose="02020603050405020304" pitchFamily="18" charset="0"/>
              </a:rPr>
              <a:t>Family</a:t>
            </a:r>
          </a:p>
          <a:p>
            <a:pPr marL="0" lvl="0" indent="0" algn="ctr">
              <a:spcBef>
                <a:spcPct val="0"/>
              </a:spcBef>
              <a:buClrTx/>
              <a:buSzTx/>
              <a:buFontTx/>
              <a:buNone/>
            </a:pPr>
            <a:r>
              <a:rPr sz="1800" b="1" dirty="0">
                <a:solidFill>
                  <a:srgbClr val="000000"/>
                </a:solidFill>
                <a:latin typeface="Times New Roman" panose="02020603050405020304" pitchFamily="18" charset="0"/>
              </a:rPr>
              <a:t>History</a:t>
            </a:r>
            <a:endParaRPr sz="1800" dirty="0">
              <a:latin typeface="Times New Roman" panose="02020603050405020304" pitchFamily="18" charset="0"/>
            </a:endParaRPr>
          </a:p>
        </p:txBody>
      </p:sp>
      <p:sp>
        <p:nvSpPr>
          <p:cNvPr id="71685" name="Oval 4"/>
          <p:cNvSpPr/>
          <p:nvPr/>
        </p:nvSpPr>
        <p:spPr>
          <a:xfrm>
            <a:off x="457200" y="3048000"/>
            <a:ext cx="1295400" cy="762000"/>
          </a:xfrm>
          <a:prstGeom prst="ellipse">
            <a:avLst/>
          </a:prstGeom>
          <a:solidFill>
            <a:srgbClr val="CCCC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800" b="1" dirty="0">
                <a:solidFill>
                  <a:srgbClr val="000000"/>
                </a:solidFill>
                <a:latin typeface="Times New Roman" panose="02020603050405020304" pitchFamily="18" charset="0"/>
              </a:rPr>
              <a:t>LungCancer</a:t>
            </a:r>
            <a:endParaRPr sz="1800" dirty="0">
              <a:latin typeface="Times New Roman" panose="02020603050405020304" pitchFamily="18" charset="0"/>
            </a:endParaRPr>
          </a:p>
        </p:txBody>
      </p:sp>
      <p:sp>
        <p:nvSpPr>
          <p:cNvPr id="71686" name="Oval 5"/>
          <p:cNvSpPr/>
          <p:nvPr/>
        </p:nvSpPr>
        <p:spPr>
          <a:xfrm>
            <a:off x="533400" y="4724400"/>
            <a:ext cx="1295400" cy="762000"/>
          </a:xfrm>
          <a:prstGeom prst="ellipse">
            <a:avLst/>
          </a:prstGeom>
          <a:solidFill>
            <a:srgbClr val="FAE2F6"/>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800" b="1" dirty="0">
                <a:solidFill>
                  <a:srgbClr val="000000"/>
                </a:solidFill>
                <a:latin typeface="Times New Roman" panose="02020603050405020304" pitchFamily="18" charset="0"/>
              </a:rPr>
              <a:t>PositiveXRay</a:t>
            </a:r>
            <a:endParaRPr sz="1800" dirty="0">
              <a:latin typeface="Times New Roman" panose="02020603050405020304" pitchFamily="18" charset="0"/>
            </a:endParaRPr>
          </a:p>
        </p:txBody>
      </p:sp>
      <p:sp>
        <p:nvSpPr>
          <p:cNvPr id="71687" name="Oval 6"/>
          <p:cNvSpPr/>
          <p:nvPr/>
        </p:nvSpPr>
        <p:spPr>
          <a:xfrm>
            <a:off x="2667000" y="1447800"/>
            <a:ext cx="1295400" cy="762000"/>
          </a:xfrm>
          <a:prstGeom prst="ellipse">
            <a:avLst/>
          </a:prstGeom>
          <a:solidFill>
            <a:srgbClr val="FFFF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800" b="1" dirty="0">
                <a:solidFill>
                  <a:srgbClr val="000000"/>
                </a:solidFill>
                <a:latin typeface="Times New Roman" panose="02020603050405020304" pitchFamily="18" charset="0"/>
              </a:rPr>
              <a:t>Smoker</a:t>
            </a:r>
          </a:p>
        </p:txBody>
      </p:sp>
      <p:sp>
        <p:nvSpPr>
          <p:cNvPr id="71688" name="Oval 7"/>
          <p:cNvSpPr/>
          <p:nvPr/>
        </p:nvSpPr>
        <p:spPr>
          <a:xfrm>
            <a:off x="2743200" y="3048000"/>
            <a:ext cx="1295400" cy="762000"/>
          </a:xfrm>
          <a:prstGeom prst="ellipse">
            <a:avLst/>
          </a:prstGeom>
          <a:solidFill>
            <a:srgbClr val="CCFF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800" b="1" dirty="0">
                <a:solidFill>
                  <a:srgbClr val="000000"/>
                </a:solidFill>
                <a:latin typeface="Times New Roman" panose="02020603050405020304" pitchFamily="18" charset="0"/>
              </a:rPr>
              <a:t>Emphysema</a:t>
            </a:r>
            <a:endParaRPr sz="1800" dirty="0">
              <a:latin typeface="Times New Roman" panose="02020603050405020304" pitchFamily="18" charset="0"/>
            </a:endParaRPr>
          </a:p>
        </p:txBody>
      </p:sp>
      <p:sp>
        <p:nvSpPr>
          <p:cNvPr id="71689" name="Oval 8"/>
          <p:cNvSpPr/>
          <p:nvPr/>
        </p:nvSpPr>
        <p:spPr>
          <a:xfrm>
            <a:off x="2895600" y="4724400"/>
            <a:ext cx="1295400" cy="762000"/>
          </a:xfrm>
          <a:prstGeom prst="ellipse">
            <a:avLst/>
          </a:prstGeom>
          <a:solidFill>
            <a:srgbClr val="99CCFF"/>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1800" b="1" dirty="0">
                <a:solidFill>
                  <a:srgbClr val="000000"/>
                </a:solidFill>
                <a:latin typeface="Times New Roman" panose="02020603050405020304" pitchFamily="18" charset="0"/>
              </a:rPr>
              <a:t>Dyspnoea</a:t>
            </a:r>
          </a:p>
        </p:txBody>
      </p:sp>
      <p:sp>
        <p:nvSpPr>
          <p:cNvPr id="71690" name="Line 9"/>
          <p:cNvSpPr/>
          <p:nvPr/>
        </p:nvSpPr>
        <p:spPr>
          <a:xfrm>
            <a:off x="1143000" y="2209800"/>
            <a:ext cx="0" cy="838200"/>
          </a:xfrm>
          <a:prstGeom prst="line">
            <a:avLst/>
          </a:prstGeom>
          <a:ln w="38100" cap="flat" cmpd="sng">
            <a:solidFill>
              <a:srgbClr val="CC0099"/>
            </a:solidFill>
            <a:prstDash val="solid"/>
            <a:headEnd type="none" w="sm" len="sm"/>
            <a:tailEnd type="stealth" w="lg" len="lg"/>
          </a:ln>
        </p:spPr>
      </p:sp>
      <p:sp>
        <p:nvSpPr>
          <p:cNvPr id="71691" name="Line 10"/>
          <p:cNvSpPr/>
          <p:nvPr/>
        </p:nvSpPr>
        <p:spPr>
          <a:xfrm>
            <a:off x="1143000" y="3810000"/>
            <a:ext cx="0" cy="914400"/>
          </a:xfrm>
          <a:prstGeom prst="line">
            <a:avLst/>
          </a:prstGeom>
          <a:ln w="12700" cap="flat" cmpd="sng">
            <a:solidFill>
              <a:schemeClr val="tx1"/>
            </a:solidFill>
            <a:prstDash val="solid"/>
            <a:headEnd type="none" w="sm" len="sm"/>
            <a:tailEnd type="stealth" w="lg" len="lg"/>
          </a:ln>
        </p:spPr>
      </p:sp>
      <p:sp>
        <p:nvSpPr>
          <p:cNvPr id="71692" name="Line 11"/>
          <p:cNvSpPr/>
          <p:nvPr/>
        </p:nvSpPr>
        <p:spPr>
          <a:xfrm>
            <a:off x="3352800" y="2209800"/>
            <a:ext cx="0" cy="838200"/>
          </a:xfrm>
          <a:prstGeom prst="line">
            <a:avLst/>
          </a:prstGeom>
          <a:ln w="12700" cap="flat" cmpd="sng">
            <a:solidFill>
              <a:schemeClr val="tx1"/>
            </a:solidFill>
            <a:prstDash val="solid"/>
            <a:headEnd type="none" w="sm" len="sm"/>
            <a:tailEnd type="stealth" w="lg" len="lg"/>
          </a:ln>
        </p:spPr>
      </p:sp>
      <p:sp>
        <p:nvSpPr>
          <p:cNvPr id="71693" name="Line 12"/>
          <p:cNvSpPr/>
          <p:nvPr/>
        </p:nvSpPr>
        <p:spPr>
          <a:xfrm>
            <a:off x="3429000" y="3810000"/>
            <a:ext cx="0" cy="914400"/>
          </a:xfrm>
          <a:prstGeom prst="line">
            <a:avLst/>
          </a:prstGeom>
          <a:ln w="12700" cap="flat" cmpd="sng">
            <a:solidFill>
              <a:schemeClr val="tx1"/>
            </a:solidFill>
            <a:prstDash val="solid"/>
            <a:headEnd type="none" w="sm" len="sm"/>
            <a:tailEnd type="stealth" w="lg" len="lg"/>
          </a:ln>
        </p:spPr>
      </p:sp>
      <p:sp>
        <p:nvSpPr>
          <p:cNvPr id="71694" name="Line 13"/>
          <p:cNvSpPr/>
          <p:nvPr/>
        </p:nvSpPr>
        <p:spPr>
          <a:xfrm flipH="1">
            <a:off x="1219200" y="2133600"/>
            <a:ext cx="1752600" cy="914400"/>
          </a:xfrm>
          <a:prstGeom prst="line">
            <a:avLst/>
          </a:prstGeom>
          <a:ln w="38100" cap="flat" cmpd="sng">
            <a:solidFill>
              <a:srgbClr val="CC0099"/>
            </a:solidFill>
            <a:prstDash val="solid"/>
            <a:headEnd type="none" w="sm" len="sm"/>
            <a:tailEnd type="stealth" w="lg" len="lg"/>
          </a:ln>
        </p:spPr>
      </p:sp>
      <p:sp>
        <p:nvSpPr>
          <p:cNvPr id="71695" name="Line 14"/>
          <p:cNvSpPr/>
          <p:nvPr/>
        </p:nvSpPr>
        <p:spPr>
          <a:xfrm>
            <a:off x="1143000" y="3810000"/>
            <a:ext cx="2209800" cy="838200"/>
          </a:xfrm>
          <a:prstGeom prst="line">
            <a:avLst/>
          </a:prstGeom>
          <a:ln w="12700" cap="flat" cmpd="sng">
            <a:solidFill>
              <a:schemeClr val="tx1"/>
            </a:solidFill>
            <a:prstDash val="solid"/>
            <a:headEnd type="none" w="sm" len="sm"/>
            <a:tailEnd type="stealth" w="lg" len="lg"/>
          </a:ln>
        </p:spPr>
      </p:sp>
      <p:grpSp>
        <p:nvGrpSpPr>
          <p:cNvPr id="71696" name="Group 40"/>
          <p:cNvGrpSpPr/>
          <p:nvPr/>
        </p:nvGrpSpPr>
        <p:grpSpPr>
          <a:xfrm>
            <a:off x="4419600" y="1371600"/>
            <a:ext cx="4724400" cy="1600200"/>
            <a:chOff x="4419600" y="2209800"/>
            <a:chExt cx="4724400" cy="1600200"/>
          </a:xfrm>
        </p:grpSpPr>
        <p:sp>
          <p:nvSpPr>
            <p:cNvPr id="71701" name="Rectangle 15"/>
            <p:cNvSpPr/>
            <p:nvPr/>
          </p:nvSpPr>
          <p:spPr>
            <a:xfrm>
              <a:off x="4419600" y="2590800"/>
              <a:ext cx="4648200" cy="1219200"/>
            </a:xfrm>
            <a:prstGeom prst="rect">
              <a:avLst/>
            </a:prstGeom>
            <a:solidFill>
              <a:srgbClr val="FFFF99"/>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endParaRPr sz="1800" dirty="0">
                <a:latin typeface="Times New Roman" panose="02020603050405020304" pitchFamily="18" charset="0"/>
              </a:endParaRPr>
            </a:p>
          </p:txBody>
        </p:sp>
        <p:sp>
          <p:nvSpPr>
            <p:cNvPr id="71702" name="Line 16"/>
            <p:cNvSpPr/>
            <p:nvPr/>
          </p:nvSpPr>
          <p:spPr>
            <a:xfrm>
              <a:off x="4419600" y="3200400"/>
              <a:ext cx="4495800" cy="0"/>
            </a:xfrm>
            <a:prstGeom prst="line">
              <a:avLst/>
            </a:prstGeom>
            <a:ln w="12700" cap="flat" cmpd="sng">
              <a:solidFill>
                <a:schemeClr val="tx1"/>
              </a:solidFill>
              <a:prstDash val="solid"/>
              <a:headEnd type="none" w="sm" len="sm"/>
              <a:tailEnd type="none" w="sm" len="sm"/>
            </a:ln>
          </p:spPr>
        </p:sp>
        <p:sp>
          <p:nvSpPr>
            <p:cNvPr id="71703" name="Line 17"/>
            <p:cNvSpPr/>
            <p:nvPr/>
          </p:nvSpPr>
          <p:spPr>
            <a:xfrm>
              <a:off x="5105400" y="2590800"/>
              <a:ext cx="0" cy="0"/>
            </a:xfrm>
            <a:prstGeom prst="line">
              <a:avLst/>
            </a:prstGeom>
            <a:ln w="12700" cap="flat" cmpd="sng">
              <a:solidFill>
                <a:schemeClr val="tx1"/>
              </a:solidFill>
              <a:prstDash val="solid"/>
              <a:headEnd type="none" w="sm" len="sm"/>
              <a:tailEnd type="none" w="sm" len="sm"/>
            </a:ln>
          </p:spPr>
        </p:sp>
        <p:sp>
          <p:nvSpPr>
            <p:cNvPr id="71704" name="Line 18"/>
            <p:cNvSpPr/>
            <p:nvPr/>
          </p:nvSpPr>
          <p:spPr>
            <a:xfrm>
              <a:off x="5486400" y="2590800"/>
              <a:ext cx="0" cy="1219200"/>
            </a:xfrm>
            <a:prstGeom prst="line">
              <a:avLst/>
            </a:prstGeom>
            <a:ln w="12700" cap="flat" cmpd="sng">
              <a:solidFill>
                <a:schemeClr val="tx1"/>
              </a:solidFill>
              <a:prstDash val="solid"/>
              <a:headEnd type="none" w="sm" len="sm"/>
              <a:tailEnd type="none" w="sm" len="sm"/>
            </a:ln>
          </p:spPr>
        </p:sp>
        <p:sp>
          <p:nvSpPr>
            <p:cNvPr id="71705" name="Line 19"/>
            <p:cNvSpPr/>
            <p:nvPr/>
          </p:nvSpPr>
          <p:spPr>
            <a:xfrm>
              <a:off x="7315200" y="2590800"/>
              <a:ext cx="0" cy="1219200"/>
            </a:xfrm>
            <a:prstGeom prst="line">
              <a:avLst/>
            </a:prstGeom>
            <a:ln w="12700" cap="flat" cmpd="sng">
              <a:solidFill>
                <a:schemeClr val="tx1"/>
              </a:solidFill>
              <a:prstDash val="solid"/>
              <a:headEnd type="none" w="sm" len="sm"/>
              <a:tailEnd type="none" w="sm" len="sm"/>
            </a:ln>
          </p:spPr>
        </p:sp>
        <p:sp>
          <p:nvSpPr>
            <p:cNvPr id="71706" name="Line 20"/>
            <p:cNvSpPr/>
            <p:nvPr/>
          </p:nvSpPr>
          <p:spPr>
            <a:xfrm>
              <a:off x="6400800" y="2590800"/>
              <a:ext cx="0" cy="1219200"/>
            </a:xfrm>
            <a:prstGeom prst="line">
              <a:avLst/>
            </a:prstGeom>
            <a:ln w="12700" cap="flat" cmpd="sng">
              <a:solidFill>
                <a:schemeClr val="tx1"/>
              </a:solidFill>
              <a:prstDash val="solid"/>
              <a:headEnd type="none" w="sm" len="sm"/>
              <a:tailEnd type="none" w="sm" len="sm"/>
            </a:ln>
          </p:spPr>
        </p:sp>
        <p:sp>
          <p:nvSpPr>
            <p:cNvPr id="71707" name="Line 21"/>
            <p:cNvSpPr/>
            <p:nvPr/>
          </p:nvSpPr>
          <p:spPr>
            <a:xfrm>
              <a:off x="8153400" y="2590800"/>
              <a:ext cx="0" cy="1219200"/>
            </a:xfrm>
            <a:prstGeom prst="line">
              <a:avLst/>
            </a:prstGeom>
            <a:ln w="12700" cap="flat" cmpd="sng">
              <a:solidFill>
                <a:schemeClr val="tx1"/>
              </a:solidFill>
              <a:prstDash val="solid"/>
              <a:headEnd type="none" w="sm" len="sm"/>
              <a:tailEnd type="none" w="sm" len="sm"/>
            </a:ln>
          </p:spPr>
        </p:sp>
        <p:sp>
          <p:nvSpPr>
            <p:cNvPr id="71708" name="Text Box 22"/>
            <p:cNvSpPr txBox="1"/>
            <p:nvPr/>
          </p:nvSpPr>
          <p:spPr>
            <a:xfrm>
              <a:off x="4738688" y="2719388"/>
              <a:ext cx="538162"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LC</a:t>
              </a:r>
              <a:endParaRPr sz="1800" dirty="0">
                <a:latin typeface="Times New Roman" panose="02020603050405020304" pitchFamily="18" charset="0"/>
              </a:endParaRPr>
            </a:p>
          </p:txBody>
        </p:sp>
        <p:sp>
          <p:nvSpPr>
            <p:cNvPr id="71709" name="Text Box 23"/>
            <p:cNvSpPr txBox="1"/>
            <p:nvPr/>
          </p:nvSpPr>
          <p:spPr>
            <a:xfrm>
              <a:off x="4578350" y="3252788"/>
              <a:ext cx="669925"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~LC</a:t>
              </a:r>
              <a:endParaRPr sz="1800" dirty="0">
                <a:latin typeface="Times New Roman" panose="02020603050405020304" pitchFamily="18" charset="0"/>
              </a:endParaRPr>
            </a:p>
          </p:txBody>
        </p:sp>
        <p:sp>
          <p:nvSpPr>
            <p:cNvPr id="71710" name="Text Box 24"/>
            <p:cNvSpPr txBox="1"/>
            <p:nvPr/>
          </p:nvSpPr>
          <p:spPr>
            <a:xfrm>
              <a:off x="5487988" y="2233613"/>
              <a:ext cx="817562"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1600" b="1" dirty="0">
                  <a:solidFill>
                    <a:srgbClr val="CC0099"/>
                  </a:solidFill>
                  <a:latin typeface="Times New Roman" panose="02020603050405020304" pitchFamily="18" charset="0"/>
                </a:rPr>
                <a:t>(FH, S)</a:t>
              </a:r>
              <a:endParaRPr sz="1800" b="1" dirty="0">
                <a:solidFill>
                  <a:srgbClr val="000000"/>
                </a:solidFill>
                <a:latin typeface="Times New Roman" panose="02020603050405020304" pitchFamily="18" charset="0"/>
              </a:endParaRPr>
            </a:p>
          </p:txBody>
        </p:sp>
        <p:sp>
          <p:nvSpPr>
            <p:cNvPr id="71711" name="Text Box 25"/>
            <p:cNvSpPr txBox="1"/>
            <p:nvPr/>
          </p:nvSpPr>
          <p:spPr>
            <a:xfrm>
              <a:off x="6324600" y="2209800"/>
              <a:ext cx="923925"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1600" b="1" dirty="0">
                  <a:solidFill>
                    <a:srgbClr val="CC0099"/>
                  </a:solidFill>
                  <a:latin typeface="Times New Roman" panose="02020603050405020304" pitchFamily="18" charset="0"/>
                </a:rPr>
                <a:t>(FH, ~S)</a:t>
              </a:r>
              <a:endParaRPr sz="1600" dirty="0">
                <a:latin typeface="Times New Roman" panose="02020603050405020304" pitchFamily="18" charset="0"/>
              </a:endParaRPr>
            </a:p>
          </p:txBody>
        </p:sp>
        <p:sp>
          <p:nvSpPr>
            <p:cNvPr id="71712" name="Text Box 26"/>
            <p:cNvSpPr txBox="1"/>
            <p:nvPr/>
          </p:nvSpPr>
          <p:spPr>
            <a:xfrm>
              <a:off x="7239000" y="2209800"/>
              <a:ext cx="923925"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1600" b="1" dirty="0">
                  <a:solidFill>
                    <a:srgbClr val="CC0099"/>
                  </a:solidFill>
                  <a:latin typeface="Times New Roman" panose="02020603050405020304" pitchFamily="18" charset="0"/>
                </a:rPr>
                <a:t>(~FH, S)</a:t>
              </a:r>
              <a:endParaRPr sz="1600" dirty="0">
                <a:latin typeface="Times New Roman" panose="02020603050405020304" pitchFamily="18" charset="0"/>
              </a:endParaRPr>
            </a:p>
          </p:txBody>
        </p:sp>
        <p:sp>
          <p:nvSpPr>
            <p:cNvPr id="71713" name="Text Box 27"/>
            <p:cNvSpPr txBox="1"/>
            <p:nvPr/>
          </p:nvSpPr>
          <p:spPr>
            <a:xfrm>
              <a:off x="8113713" y="2209800"/>
              <a:ext cx="1030287"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1600" b="1" dirty="0">
                  <a:solidFill>
                    <a:srgbClr val="CC0099"/>
                  </a:solidFill>
                  <a:latin typeface="Times New Roman" panose="02020603050405020304" pitchFamily="18" charset="0"/>
                </a:rPr>
                <a:t>(~FH, ~S)</a:t>
              </a:r>
              <a:endParaRPr sz="1600" dirty="0">
                <a:latin typeface="Times New Roman" panose="02020603050405020304" pitchFamily="18" charset="0"/>
              </a:endParaRPr>
            </a:p>
          </p:txBody>
        </p:sp>
        <p:sp>
          <p:nvSpPr>
            <p:cNvPr id="71714" name="Text Box 28"/>
            <p:cNvSpPr txBox="1"/>
            <p:nvPr/>
          </p:nvSpPr>
          <p:spPr>
            <a:xfrm>
              <a:off x="5762625" y="27574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0.8</a:t>
              </a:r>
              <a:endParaRPr sz="1800" dirty="0">
                <a:latin typeface="Times New Roman" panose="02020603050405020304" pitchFamily="18" charset="0"/>
              </a:endParaRPr>
            </a:p>
          </p:txBody>
        </p:sp>
        <p:sp>
          <p:nvSpPr>
            <p:cNvPr id="71715" name="Text Box 29"/>
            <p:cNvSpPr txBox="1"/>
            <p:nvPr/>
          </p:nvSpPr>
          <p:spPr>
            <a:xfrm>
              <a:off x="5759450" y="33289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0.2</a:t>
              </a:r>
              <a:endParaRPr sz="1800" dirty="0">
                <a:latin typeface="Times New Roman" panose="02020603050405020304" pitchFamily="18" charset="0"/>
              </a:endParaRPr>
            </a:p>
          </p:txBody>
        </p:sp>
        <p:sp>
          <p:nvSpPr>
            <p:cNvPr id="71716" name="Text Box 30"/>
            <p:cNvSpPr txBox="1"/>
            <p:nvPr/>
          </p:nvSpPr>
          <p:spPr>
            <a:xfrm>
              <a:off x="6677025" y="27574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0.5</a:t>
              </a:r>
              <a:endParaRPr sz="1800" dirty="0">
                <a:latin typeface="Times New Roman" panose="02020603050405020304" pitchFamily="18" charset="0"/>
              </a:endParaRPr>
            </a:p>
          </p:txBody>
        </p:sp>
        <p:sp>
          <p:nvSpPr>
            <p:cNvPr id="71717" name="Text Box 31"/>
            <p:cNvSpPr txBox="1"/>
            <p:nvPr/>
          </p:nvSpPr>
          <p:spPr>
            <a:xfrm>
              <a:off x="6673850" y="33289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0.5</a:t>
              </a:r>
              <a:endParaRPr sz="1800" dirty="0">
                <a:latin typeface="Times New Roman" panose="02020603050405020304" pitchFamily="18" charset="0"/>
              </a:endParaRPr>
            </a:p>
          </p:txBody>
        </p:sp>
        <p:sp>
          <p:nvSpPr>
            <p:cNvPr id="71718" name="Text Box 32"/>
            <p:cNvSpPr txBox="1"/>
            <p:nvPr/>
          </p:nvSpPr>
          <p:spPr>
            <a:xfrm>
              <a:off x="7512050" y="27193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0.7</a:t>
              </a:r>
              <a:endParaRPr sz="1800" dirty="0">
                <a:latin typeface="Times New Roman" panose="02020603050405020304" pitchFamily="18" charset="0"/>
              </a:endParaRPr>
            </a:p>
          </p:txBody>
        </p:sp>
        <p:sp>
          <p:nvSpPr>
            <p:cNvPr id="71719" name="Text Box 33"/>
            <p:cNvSpPr txBox="1"/>
            <p:nvPr/>
          </p:nvSpPr>
          <p:spPr>
            <a:xfrm>
              <a:off x="7515225" y="32908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0.3</a:t>
              </a:r>
              <a:endParaRPr sz="1800" dirty="0">
                <a:latin typeface="Times New Roman" panose="02020603050405020304" pitchFamily="18" charset="0"/>
              </a:endParaRPr>
            </a:p>
          </p:txBody>
        </p:sp>
        <p:sp>
          <p:nvSpPr>
            <p:cNvPr id="71720" name="Text Box 34"/>
            <p:cNvSpPr txBox="1"/>
            <p:nvPr/>
          </p:nvSpPr>
          <p:spPr>
            <a:xfrm>
              <a:off x="8277225" y="27574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0.1</a:t>
              </a:r>
              <a:endParaRPr sz="1800" dirty="0">
                <a:latin typeface="Times New Roman" panose="02020603050405020304" pitchFamily="18" charset="0"/>
              </a:endParaRPr>
            </a:p>
          </p:txBody>
        </p:sp>
        <p:sp>
          <p:nvSpPr>
            <p:cNvPr id="71721" name="Text Box 35"/>
            <p:cNvSpPr txBox="1"/>
            <p:nvPr/>
          </p:nvSpPr>
          <p:spPr>
            <a:xfrm>
              <a:off x="8274050" y="33289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000" b="1" dirty="0">
                  <a:solidFill>
                    <a:srgbClr val="000000"/>
                  </a:solidFill>
                  <a:latin typeface="Times New Roman" panose="02020603050405020304" pitchFamily="18" charset="0"/>
                </a:rPr>
                <a:t>0.9</a:t>
              </a:r>
              <a:endParaRPr sz="1800" dirty="0">
                <a:latin typeface="Times New Roman" panose="02020603050405020304" pitchFamily="18" charset="0"/>
              </a:endParaRPr>
            </a:p>
          </p:txBody>
        </p:sp>
      </p:grpSp>
      <p:sp>
        <p:nvSpPr>
          <p:cNvPr id="71697" name="Text Box 36"/>
          <p:cNvSpPr txBox="1"/>
          <p:nvPr/>
        </p:nvSpPr>
        <p:spPr>
          <a:xfrm>
            <a:off x="609600" y="5715000"/>
            <a:ext cx="3502025"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sz="2400" b="1" dirty="0">
                <a:solidFill>
                  <a:srgbClr val="000000"/>
                </a:solidFill>
                <a:latin typeface="Times New Roman" panose="02020603050405020304" pitchFamily="18" charset="0"/>
              </a:rPr>
              <a:t>Bayesian Belief Networks</a:t>
            </a:r>
            <a:endParaRPr sz="1800" dirty="0">
              <a:latin typeface="Times New Roman" panose="02020603050405020304" pitchFamily="18" charset="0"/>
            </a:endParaRPr>
          </a:p>
        </p:txBody>
      </p:sp>
      <p:sp>
        <p:nvSpPr>
          <p:cNvPr id="71698" name="Text Box 37"/>
          <p:cNvSpPr txBox="1"/>
          <p:nvPr/>
        </p:nvSpPr>
        <p:spPr>
          <a:xfrm>
            <a:off x="4592638" y="3276600"/>
            <a:ext cx="4551362" cy="1890713"/>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sz="2000" dirty="0">
                <a:solidFill>
                  <a:srgbClr val="000000"/>
                </a:solidFill>
                <a:latin typeface="Times New Roman" panose="02020603050405020304" pitchFamily="18" charset="0"/>
              </a:rPr>
              <a:t>The </a:t>
            </a:r>
            <a:r>
              <a:rPr sz="2000" b="1" dirty="0">
                <a:solidFill>
                  <a:srgbClr val="170981"/>
                </a:solidFill>
                <a:latin typeface="Times New Roman" panose="02020603050405020304" pitchFamily="18" charset="0"/>
              </a:rPr>
              <a:t>Conditional Probability Table</a:t>
            </a:r>
            <a:r>
              <a:rPr sz="2000" b="1" dirty="0">
                <a:solidFill>
                  <a:srgbClr val="000000"/>
                </a:solidFill>
                <a:latin typeface="Times New Roman" panose="02020603050405020304" pitchFamily="18" charset="0"/>
              </a:rPr>
              <a:t> (CPT) </a:t>
            </a:r>
            <a:r>
              <a:rPr sz="2000" dirty="0">
                <a:solidFill>
                  <a:srgbClr val="000000"/>
                </a:solidFill>
                <a:latin typeface="Times New Roman" panose="02020603050405020304" pitchFamily="18" charset="0"/>
              </a:rPr>
              <a:t>for the variable </a:t>
            </a:r>
            <a:r>
              <a:rPr sz="2000" dirty="0">
                <a:solidFill>
                  <a:srgbClr val="170981"/>
                </a:solidFill>
                <a:latin typeface="Times New Roman" panose="02020603050405020304" pitchFamily="18" charset="0"/>
              </a:rPr>
              <a:t>LungCancer:</a:t>
            </a:r>
          </a:p>
          <a:p>
            <a:pPr marL="0" lvl="0" indent="0">
              <a:spcBef>
                <a:spcPct val="0"/>
              </a:spcBef>
              <a:buClrTx/>
              <a:buSzTx/>
              <a:buFontTx/>
              <a:buNone/>
            </a:pPr>
            <a:r>
              <a:rPr sz="2000" dirty="0">
                <a:solidFill>
                  <a:srgbClr val="000000"/>
                </a:solidFill>
                <a:latin typeface="Times New Roman" panose="02020603050405020304" pitchFamily="18" charset="0"/>
              </a:rPr>
              <a:t>Shows the conditional probability for each possible combination of its parents</a:t>
            </a:r>
          </a:p>
          <a:p>
            <a:pPr marL="0" lvl="0" indent="0" algn="r">
              <a:spcBef>
                <a:spcPct val="0"/>
              </a:spcBef>
              <a:buClrTx/>
              <a:buSzTx/>
              <a:buFontTx/>
              <a:buNone/>
            </a:pPr>
            <a:endParaRPr sz="2000" dirty="0">
              <a:solidFill>
                <a:srgbClr val="000000"/>
              </a:solidFill>
              <a:latin typeface="Times New Roman" panose="02020603050405020304" pitchFamily="18" charset="0"/>
            </a:endParaRPr>
          </a:p>
          <a:p>
            <a:pPr marL="0" lvl="0" indent="0" algn="r">
              <a:spcBef>
                <a:spcPct val="0"/>
              </a:spcBef>
              <a:buClrTx/>
              <a:buSzTx/>
              <a:buFontTx/>
              <a:buNone/>
            </a:pPr>
            <a:endParaRPr sz="1800" dirty="0">
              <a:latin typeface="Times New Roman" panose="02020603050405020304" pitchFamily="18" charset="0"/>
            </a:endParaRPr>
          </a:p>
        </p:txBody>
      </p:sp>
      <p:graphicFrame>
        <p:nvGraphicFramePr>
          <p:cNvPr id="71699" name="Object 38"/>
          <p:cNvGraphicFramePr>
            <a:graphicFrameLocks/>
          </p:cNvGraphicFramePr>
          <p:nvPr/>
        </p:nvGraphicFramePr>
        <p:xfrm>
          <a:off x="4572000" y="4800600"/>
          <a:ext cx="4386263" cy="838200"/>
        </p:xfrm>
        <a:graphic>
          <a:graphicData uri="http://schemas.openxmlformats.org/presentationml/2006/ole">
            <p:oleObj spid="_x0000_s68609" r:id="rId3" imgW="2476500" imgH="508000" progId="Equation.3">
              <p:embed/>
            </p:oleObj>
          </a:graphicData>
        </a:graphic>
      </p:graphicFrame>
      <p:sp>
        <p:nvSpPr>
          <p:cNvPr id="71700" name="Text Box 39"/>
          <p:cNvSpPr txBox="1"/>
          <p:nvPr/>
        </p:nvSpPr>
        <p:spPr>
          <a:xfrm>
            <a:off x="228600" y="6400800"/>
            <a:ext cx="86868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eaLnBrk="1" hangingPunct="1">
              <a:spcBef>
                <a:spcPct val="50000"/>
              </a:spcBef>
              <a:buClrTx/>
              <a:buSzTx/>
              <a:buFontTx/>
              <a:buNone/>
            </a:pPr>
            <a:r>
              <a:rPr sz="1800" dirty="0"/>
              <a:t>Where tuple(z1,…,zn) correspond to attributes Z1,Z2,…,Zn)</a:t>
            </a:r>
          </a:p>
        </p:txBody>
      </p:sp>
    </p:spTree>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52</a:t>
            </a:fld>
            <a:endParaRPr lang="en-US" sz="1200" dirty="0">
              <a:latin typeface="Tahoma" panose="020B0604030504040204" pitchFamily="34" charset="0"/>
              <a:ea typeface="+mn-ea"/>
              <a:cs typeface="+mn-cs"/>
            </a:endParaRPr>
          </a:p>
        </p:txBody>
      </p:sp>
      <p:sp>
        <p:nvSpPr>
          <p:cNvPr id="72707" name="Rectangle 2"/>
          <p:cNvSpPr>
            <a:spLocks noGrp="1"/>
          </p:cNvSpPr>
          <p:nvPr>
            <p:ph type="title"/>
          </p:nvPr>
        </p:nvSpPr>
        <p:spPr>
          <a:xfrm>
            <a:off x="1066800" y="228600"/>
            <a:ext cx="7793038" cy="609600"/>
          </a:xfrm>
        </p:spPr>
        <p:txBody>
          <a:bodyPr vert="horz" wrap="square" lIns="91440" tIns="45720" rIns="91440" bIns="45720" anchor="b" anchorCtr="0"/>
          <a:lstStyle/>
          <a:p>
            <a:pPr eaLnBrk="1" hangingPunct="1"/>
            <a:r>
              <a:rPr dirty="0"/>
              <a:t>Learning Bayesian Networks</a:t>
            </a:r>
          </a:p>
        </p:txBody>
      </p:sp>
      <p:sp>
        <p:nvSpPr>
          <p:cNvPr id="72708" name="Rectangle 3"/>
          <p:cNvSpPr>
            <a:spLocks noGrp="1"/>
          </p:cNvSpPr>
          <p:nvPr>
            <p:ph idx="1"/>
          </p:nvPr>
        </p:nvSpPr>
        <p:spPr>
          <a:xfrm>
            <a:off x="304800" y="1389063"/>
            <a:ext cx="8305800" cy="5087937"/>
          </a:xfrm>
        </p:spPr>
        <p:txBody>
          <a:bodyPr vert="horz" wrap="square" lIns="91440" tIns="45720" rIns="91440" bIns="45720" anchor="t" anchorCtr="0"/>
          <a:lstStyle/>
          <a:p>
            <a:pPr marL="533400" indent="-533400" eaLnBrk="1" hangingPunct="1"/>
            <a:r>
              <a:rPr dirty="0"/>
              <a:t>Several cases</a:t>
            </a:r>
          </a:p>
          <a:p>
            <a:pPr marL="990600" lvl="1" indent="-533400" eaLnBrk="1" hangingPunct="1">
              <a:buClr>
                <a:schemeClr val="tx1"/>
              </a:buClr>
              <a:buSzTx/>
              <a:buFont typeface="Wingdings" panose="05000000000000000000" pitchFamily="2" charset="2"/>
              <a:buAutoNum type="arabicPeriod"/>
            </a:pPr>
            <a:r>
              <a:rPr sz="2000" dirty="0"/>
              <a:t>Given both the </a:t>
            </a:r>
            <a:r>
              <a:rPr sz="2000" dirty="0">
                <a:solidFill>
                  <a:srgbClr val="660033"/>
                </a:solidFill>
              </a:rPr>
              <a:t>network structure and all variables</a:t>
            </a:r>
            <a:r>
              <a:rPr sz="2000" dirty="0"/>
              <a:t> observable: learn only the </a:t>
            </a:r>
            <a:r>
              <a:rPr sz="2000" dirty="0">
                <a:solidFill>
                  <a:srgbClr val="660033"/>
                </a:solidFill>
              </a:rPr>
              <a:t>CPTs</a:t>
            </a:r>
          </a:p>
          <a:p>
            <a:pPr marL="990600" lvl="1" indent="-533400" eaLnBrk="1" hangingPunct="1">
              <a:buClr>
                <a:schemeClr val="tx1"/>
              </a:buClr>
              <a:buSzTx/>
              <a:buFont typeface="Wingdings" panose="05000000000000000000" pitchFamily="2" charset="2"/>
              <a:buAutoNum type="arabicPeriod"/>
            </a:pPr>
            <a:endParaRPr sz="2000" dirty="0">
              <a:solidFill>
                <a:srgbClr val="660033"/>
              </a:solidFill>
            </a:endParaRPr>
          </a:p>
          <a:p>
            <a:pPr marL="990600" lvl="1" indent="-533400" eaLnBrk="1" hangingPunct="1">
              <a:buClr>
                <a:schemeClr val="tx1"/>
              </a:buClr>
              <a:buSzTx/>
              <a:buFont typeface="Wingdings" panose="05000000000000000000" pitchFamily="2" charset="2"/>
              <a:buAutoNum type="arabicPeriod"/>
            </a:pPr>
            <a:r>
              <a:rPr sz="2000" dirty="0">
                <a:solidFill>
                  <a:srgbClr val="003300"/>
                </a:solidFill>
              </a:rPr>
              <a:t>Network structure known, some hidden variables</a:t>
            </a:r>
            <a:r>
              <a:rPr sz="2000" dirty="0"/>
              <a:t>: method of </a:t>
            </a:r>
            <a:r>
              <a:rPr sz="2000" dirty="0">
                <a:solidFill>
                  <a:srgbClr val="003300"/>
                </a:solidFill>
              </a:rPr>
              <a:t>gradient descent</a:t>
            </a:r>
            <a:r>
              <a:rPr sz="2000" dirty="0"/>
              <a:t>, analogous to neural network learning</a:t>
            </a:r>
          </a:p>
          <a:p>
            <a:pPr marL="990600" lvl="1" indent="-533400" eaLnBrk="1" hangingPunct="1">
              <a:buClr>
                <a:schemeClr val="tx1"/>
              </a:buClr>
              <a:buSzTx/>
              <a:buFont typeface="Wingdings" panose="05000000000000000000" pitchFamily="2" charset="2"/>
              <a:buAutoNum type="arabicPeriod"/>
            </a:pPr>
            <a:endParaRPr sz="2000" dirty="0"/>
          </a:p>
          <a:p>
            <a:pPr marL="990600" lvl="1" indent="-533400" eaLnBrk="1" hangingPunct="1">
              <a:buClr>
                <a:schemeClr val="tx1"/>
              </a:buClr>
              <a:buSzTx/>
              <a:buFont typeface="Wingdings" panose="05000000000000000000" pitchFamily="2" charset="2"/>
              <a:buAutoNum type="arabicPeriod"/>
            </a:pPr>
            <a:r>
              <a:rPr sz="2000" dirty="0">
                <a:solidFill>
                  <a:schemeClr val="accent2"/>
                </a:solidFill>
              </a:rPr>
              <a:t>Network structure unknown, all variables observable</a:t>
            </a:r>
            <a:r>
              <a:rPr sz="2000" dirty="0"/>
              <a:t>: search through the model space to </a:t>
            </a:r>
            <a:r>
              <a:rPr sz="2000" dirty="0">
                <a:solidFill>
                  <a:schemeClr val="accent2"/>
                </a:solidFill>
              </a:rPr>
              <a:t>reconstruct graph topology </a:t>
            </a:r>
          </a:p>
          <a:p>
            <a:pPr marL="990600" lvl="1" indent="-533400" eaLnBrk="1" hangingPunct="1">
              <a:buClr>
                <a:schemeClr val="tx1"/>
              </a:buClr>
              <a:buSzTx/>
              <a:buFont typeface="Wingdings" panose="05000000000000000000" pitchFamily="2" charset="2"/>
              <a:buAutoNum type="arabicPeriod"/>
            </a:pPr>
            <a:endParaRPr sz="2000" dirty="0">
              <a:solidFill>
                <a:schemeClr val="accent2"/>
              </a:solidFill>
            </a:endParaRPr>
          </a:p>
          <a:p>
            <a:pPr marL="990600" lvl="1" indent="-533400" eaLnBrk="1" hangingPunct="1">
              <a:buClr>
                <a:schemeClr val="tx1"/>
              </a:buClr>
              <a:buSzTx/>
              <a:buFont typeface="Wingdings" panose="05000000000000000000" pitchFamily="2" charset="2"/>
              <a:buAutoNum type="arabicPeriod"/>
            </a:pPr>
            <a:r>
              <a:rPr sz="2000" dirty="0">
                <a:solidFill>
                  <a:srgbClr val="660033"/>
                </a:solidFill>
              </a:rPr>
              <a:t>Unknown structure, all hidden variables</a:t>
            </a:r>
            <a:r>
              <a:rPr sz="2000" dirty="0"/>
              <a:t>: </a:t>
            </a:r>
            <a:r>
              <a:rPr sz="2000" dirty="0">
                <a:solidFill>
                  <a:srgbClr val="660033"/>
                </a:solidFill>
              </a:rPr>
              <a:t>no good algorithms</a:t>
            </a:r>
            <a:r>
              <a:rPr sz="2000" dirty="0"/>
              <a:t> known for this purpose</a:t>
            </a:r>
          </a:p>
        </p:txBody>
      </p:sp>
    </p:spTree>
  </p:cSld>
  <p:clrMapOvr>
    <a:masterClrMapping/>
  </p:clrMapOvr>
  <p:transition>
    <p:zo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53</a:t>
            </a:fld>
            <a:endParaRPr lang="en-US" sz="1200" dirty="0">
              <a:latin typeface="Tahoma" panose="020B0604030504040204" pitchFamily="34" charset="0"/>
              <a:ea typeface="+mn-ea"/>
              <a:cs typeface="+mn-cs"/>
            </a:endParaRPr>
          </a:p>
        </p:txBody>
      </p:sp>
      <p:sp>
        <p:nvSpPr>
          <p:cNvPr id="73731"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73732"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r>
              <a:rPr sz="2400" dirty="0"/>
              <a:t>What is classification? What is prediction?</a:t>
            </a:r>
          </a:p>
          <a:p>
            <a:pPr eaLnBrk="1" hangingPunct="1"/>
            <a:r>
              <a:rPr sz="2400" dirty="0"/>
              <a:t>Issues regarding classification and prediction</a:t>
            </a:r>
          </a:p>
          <a:p>
            <a:pPr eaLnBrk="1" hangingPunct="1"/>
            <a:r>
              <a:rPr sz="2400" dirty="0"/>
              <a:t>Classification by decision tree induction</a:t>
            </a:r>
          </a:p>
          <a:p>
            <a:pPr eaLnBrk="1" hangingPunct="1"/>
            <a:r>
              <a:rPr sz="2400" dirty="0"/>
              <a:t>Bayesian Classification</a:t>
            </a:r>
          </a:p>
          <a:p>
            <a:pPr eaLnBrk="1" hangingPunct="1"/>
            <a:r>
              <a:rPr sz="2400" dirty="0">
                <a:solidFill>
                  <a:srgbClr val="660033"/>
                </a:solidFill>
              </a:rPr>
              <a:t>Classification by Neural Networks (Backpropagation)</a:t>
            </a:r>
          </a:p>
          <a:p>
            <a:pPr eaLnBrk="1" hangingPunct="1">
              <a:lnSpc>
                <a:spcPct val="90000"/>
              </a:lnSpc>
            </a:pPr>
            <a:r>
              <a:rPr lang="en-US" altLang="en-US" sz="2400" dirty="0" smtClean="0"/>
              <a:t>Support Vector Machines (SVMs)</a:t>
            </a:r>
          </a:p>
          <a:p>
            <a:pPr eaLnBrk="1" hangingPunct="1">
              <a:lnSpc>
                <a:spcPct val="90000"/>
              </a:lnSpc>
            </a:pPr>
            <a:r>
              <a:rPr lang="en-US" altLang="en-US" sz="2400" dirty="0" smtClean="0"/>
              <a:t>k-nearest </a:t>
            </a:r>
            <a:r>
              <a:rPr lang="en-US" altLang="en-US" sz="2400" dirty="0" err="1" smtClean="0"/>
              <a:t>neighbour</a:t>
            </a:r>
            <a:r>
              <a:rPr lang="en-US" altLang="en-US" sz="2400" dirty="0" smtClean="0"/>
              <a:t> classifier</a:t>
            </a:r>
          </a:p>
          <a:p>
            <a:pPr eaLnBrk="1" hangingPunct="1">
              <a:lnSpc>
                <a:spcPct val="90000"/>
              </a:lnSpc>
            </a:pPr>
            <a:r>
              <a:rPr lang="en-US" sz="2400" dirty="0" smtClean="0"/>
              <a:t>Other Classification Methods</a:t>
            </a:r>
          </a:p>
          <a:p>
            <a:pPr eaLnBrk="1" hangingPunct="1"/>
            <a:r>
              <a:rPr sz="2400" smtClean="0"/>
              <a:t>Prediction</a:t>
            </a:r>
            <a:endParaRPr sz="2400" dirty="0"/>
          </a:p>
          <a:p>
            <a:pPr eaLnBrk="1" hangingPunct="1"/>
            <a:r>
              <a:rPr sz="2400" dirty="0"/>
              <a:t>Classification accuracy</a:t>
            </a:r>
          </a:p>
          <a:p>
            <a:pPr eaLnBrk="1" hangingPunct="1"/>
            <a:r>
              <a:rPr sz="2400" dirty="0"/>
              <a:t>Summary</a:t>
            </a:r>
          </a:p>
        </p:txBody>
      </p:sp>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54</a:t>
            </a:fld>
            <a:endParaRPr lang="en-US" sz="1200" dirty="0">
              <a:latin typeface="Tahoma" panose="020B0604030504040204" pitchFamily="34" charset="0"/>
              <a:ea typeface="+mn-ea"/>
              <a:cs typeface="+mn-cs"/>
            </a:endParaRPr>
          </a:p>
        </p:txBody>
      </p:sp>
      <p:sp>
        <p:nvSpPr>
          <p:cNvPr id="74755" name="Rectangle 2"/>
          <p:cNvSpPr>
            <a:spLocks noGrp="1"/>
          </p:cNvSpPr>
          <p:nvPr>
            <p:ph type="title"/>
          </p:nvPr>
        </p:nvSpPr>
        <p:spPr/>
        <p:txBody>
          <a:bodyPr vert="horz" wrap="square" lIns="91440" tIns="45720" rIns="91440" bIns="45720" anchor="b" anchorCtr="0"/>
          <a:lstStyle/>
          <a:p>
            <a:pPr eaLnBrk="1" hangingPunct="1"/>
            <a:r>
              <a:rPr sz="2800" dirty="0">
                <a:solidFill>
                  <a:srgbClr val="660033"/>
                </a:solidFill>
              </a:rPr>
              <a:t>Classification by Neural Networks (Backpropagation)</a:t>
            </a:r>
          </a:p>
        </p:txBody>
      </p:sp>
      <p:sp>
        <p:nvSpPr>
          <p:cNvPr id="74756" name="Rectangle 3"/>
          <p:cNvSpPr>
            <a:spLocks noGrp="1"/>
          </p:cNvSpPr>
          <p:nvPr>
            <p:ph idx="1"/>
          </p:nvPr>
        </p:nvSpPr>
        <p:spPr/>
        <p:txBody>
          <a:bodyPr vert="horz" wrap="square" lIns="91440" tIns="45720" rIns="91440" bIns="45720" anchor="t" anchorCtr="0"/>
          <a:lstStyle/>
          <a:p>
            <a:pPr eaLnBrk="1" hangingPunct="1">
              <a:buNone/>
            </a:pPr>
            <a:r>
              <a:rPr sz="2000" dirty="0">
                <a:solidFill>
                  <a:srgbClr val="660033"/>
                </a:solidFill>
              </a:rPr>
              <a:t>“What is backpropagation?"</a:t>
            </a:r>
          </a:p>
          <a:p>
            <a:pPr eaLnBrk="1" hangingPunct="1"/>
            <a:r>
              <a:rPr sz="2000" dirty="0"/>
              <a:t>Its a neural network learning algorithm.</a:t>
            </a:r>
          </a:p>
          <a:p>
            <a:pPr eaLnBrk="1" hangingPunct="1"/>
            <a:endParaRPr sz="2000" dirty="0"/>
          </a:p>
          <a:p>
            <a:pPr eaLnBrk="1" hangingPunct="1">
              <a:buNone/>
            </a:pPr>
            <a:r>
              <a:rPr sz="2000" dirty="0">
                <a:solidFill>
                  <a:srgbClr val="660033"/>
                </a:solidFill>
              </a:rPr>
              <a:t>Neural Network </a:t>
            </a:r>
          </a:p>
          <a:p>
            <a:pPr eaLnBrk="1" hangingPunct="1"/>
            <a:r>
              <a:rPr sz="2000" dirty="0"/>
              <a:t>Its a set of connected input/output units where each connection has a weight associated with it.</a:t>
            </a:r>
          </a:p>
          <a:p>
            <a:pPr eaLnBrk="1" hangingPunct="1"/>
            <a:r>
              <a:rPr sz="2000" dirty="0"/>
              <a:t>During the learning phase, the network learns by </a:t>
            </a:r>
            <a:r>
              <a:rPr sz="2000" dirty="0">
                <a:solidFill>
                  <a:srgbClr val="170981"/>
                </a:solidFill>
              </a:rPr>
              <a:t>adjusting</a:t>
            </a:r>
            <a:r>
              <a:rPr sz="2000" dirty="0"/>
              <a:t> the weights so as to be able to predict the correct class label of the input samples. </a:t>
            </a:r>
          </a:p>
        </p:txBody>
      </p:sp>
      <p:sp>
        <p:nvSpPr>
          <p:cNvPr id="74757" name="Rectangle 6"/>
          <p:cNvSpPr/>
          <p:nvPr/>
        </p:nvSpPr>
        <p:spPr>
          <a:xfrm>
            <a:off x="762000" y="4648200"/>
            <a:ext cx="7543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000" dirty="0">
                <a:solidFill>
                  <a:srgbClr val="660033"/>
                </a:solidFill>
              </a:rPr>
              <a:t>A multilayer feed-forward neural network</a:t>
            </a:r>
            <a:endParaRPr sz="1800" dirty="0">
              <a:solidFill>
                <a:srgbClr val="17098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600200" y="1143000"/>
            <a:ext cx="5829300" cy="742950"/>
          </a:xfrm>
        </p:spPr>
        <p:txBody>
          <a:bodyPr/>
          <a:lstStyle/>
          <a:p>
            <a:pPr eaLnBrk="1" hangingPunct="1"/>
            <a:r>
              <a:rPr lang="en-US" altLang="en-US" sz="3000"/>
              <a:t>Single Layer Feed-forward</a:t>
            </a:r>
            <a:r>
              <a:rPr lang="en-US" altLang="en-US"/>
              <a:t> </a:t>
            </a:r>
          </a:p>
        </p:txBody>
      </p:sp>
      <p:sp>
        <p:nvSpPr>
          <p:cNvPr id="36867" name="Text Box 4"/>
          <p:cNvSpPr txBox="1">
            <a:spLocks noChangeArrowheads="1"/>
          </p:cNvSpPr>
          <p:nvPr/>
        </p:nvSpPr>
        <p:spPr bwMode="auto">
          <a:xfrm>
            <a:off x="2050892" y="2686051"/>
            <a:ext cx="1408430" cy="9220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800" b="1" i="1">
                <a:solidFill>
                  <a:srgbClr val="0000FF"/>
                </a:solidFill>
                <a:latin typeface="Times New Roman" panose="02020603050405020304" pitchFamily="18" charset="0"/>
              </a:rPr>
              <a:t>Input layer</a:t>
            </a:r>
          </a:p>
          <a:p>
            <a:pPr algn="ctr"/>
            <a:r>
              <a:rPr lang="en-US" altLang="en-US" sz="1800" b="1" i="1">
                <a:solidFill>
                  <a:srgbClr val="0000FF"/>
                </a:solidFill>
                <a:latin typeface="Times New Roman" panose="02020603050405020304" pitchFamily="18" charset="0"/>
              </a:rPr>
              <a:t>of</a:t>
            </a:r>
          </a:p>
          <a:p>
            <a:pPr algn="ctr"/>
            <a:r>
              <a:rPr lang="en-US" altLang="en-US" sz="1800" b="1" i="1">
                <a:solidFill>
                  <a:srgbClr val="0000FF"/>
                </a:solidFill>
                <a:latin typeface="Times New Roman" panose="02020603050405020304" pitchFamily="18" charset="0"/>
              </a:rPr>
              <a:t>source nodes</a:t>
            </a:r>
            <a:endParaRPr lang="en-US" altLang="en-US" sz="1800">
              <a:latin typeface="Times New Roman" panose="02020603050405020304" pitchFamily="18" charset="0"/>
            </a:endParaRPr>
          </a:p>
        </p:txBody>
      </p:sp>
      <p:sp>
        <p:nvSpPr>
          <p:cNvPr id="36868" name="Text Box 5"/>
          <p:cNvSpPr txBox="1">
            <a:spLocks noChangeArrowheads="1"/>
          </p:cNvSpPr>
          <p:nvPr/>
        </p:nvSpPr>
        <p:spPr bwMode="auto">
          <a:xfrm>
            <a:off x="6400244" y="2743201"/>
            <a:ext cx="1370330" cy="9220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800" b="1" i="1">
                <a:solidFill>
                  <a:srgbClr val="009900"/>
                </a:solidFill>
                <a:latin typeface="Times New Roman" panose="02020603050405020304" pitchFamily="18" charset="0"/>
              </a:rPr>
              <a:t>Output layer</a:t>
            </a:r>
          </a:p>
          <a:p>
            <a:pPr algn="ctr"/>
            <a:r>
              <a:rPr lang="en-US" altLang="en-US" sz="1800" b="1" i="1">
                <a:solidFill>
                  <a:srgbClr val="009900"/>
                </a:solidFill>
                <a:latin typeface="Times New Roman" panose="02020603050405020304" pitchFamily="18" charset="0"/>
              </a:rPr>
              <a:t>of</a:t>
            </a:r>
          </a:p>
          <a:p>
            <a:pPr algn="ctr"/>
            <a:r>
              <a:rPr lang="en-US" altLang="en-US" sz="1800" b="1" i="1">
                <a:solidFill>
                  <a:srgbClr val="009900"/>
                </a:solidFill>
                <a:latin typeface="Times New Roman" panose="02020603050405020304" pitchFamily="18" charset="0"/>
              </a:rPr>
              <a:t>neurons</a:t>
            </a:r>
            <a:endParaRPr lang="en-US" altLang="en-US" sz="1800">
              <a:latin typeface="Times New Roman" panose="02020603050405020304" pitchFamily="18" charset="0"/>
            </a:endParaRPr>
          </a:p>
        </p:txBody>
      </p:sp>
      <p:grpSp>
        <p:nvGrpSpPr>
          <p:cNvPr id="36869" name="Group 6"/>
          <p:cNvGrpSpPr/>
          <p:nvPr/>
        </p:nvGrpSpPr>
        <p:grpSpPr bwMode="auto">
          <a:xfrm>
            <a:off x="4114800" y="2343150"/>
            <a:ext cx="1885950" cy="1771650"/>
            <a:chOff x="2688" y="2352"/>
            <a:chExt cx="1584" cy="1488"/>
          </a:xfrm>
        </p:grpSpPr>
        <p:grpSp>
          <p:nvGrpSpPr>
            <p:cNvPr id="36870" name="Group 7"/>
            <p:cNvGrpSpPr/>
            <p:nvPr/>
          </p:nvGrpSpPr>
          <p:grpSpPr bwMode="auto">
            <a:xfrm>
              <a:off x="2688" y="2352"/>
              <a:ext cx="1056" cy="1488"/>
              <a:chOff x="2688" y="2352"/>
              <a:chExt cx="1056" cy="1488"/>
            </a:xfrm>
          </p:grpSpPr>
          <p:sp>
            <p:nvSpPr>
              <p:cNvPr id="36875" name="Line 8"/>
              <p:cNvSpPr>
                <a:spLocks noChangeShapeType="1"/>
              </p:cNvSpPr>
              <p:nvPr/>
            </p:nvSpPr>
            <p:spPr bwMode="auto">
              <a:xfrm flipV="1">
                <a:off x="2832" y="2496"/>
                <a:ext cx="672" cy="24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76" name="Line 9"/>
              <p:cNvSpPr>
                <a:spLocks noChangeShapeType="1"/>
              </p:cNvSpPr>
              <p:nvPr/>
            </p:nvSpPr>
            <p:spPr bwMode="auto">
              <a:xfrm flipV="1">
                <a:off x="2832" y="2496"/>
                <a:ext cx="672" cy="576"/>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grpSp>
            <p:nvGrpSpPr>
              <p:cNvPr id="36877" name="Group 10"/>
              <p:cNvGrpSpPr/>
              <p:nvPr/>
            </p:nvGrpSpPr>
            <p:grpSpPr bwMode="auto">
              <a:xfrm>
                <a:off x="2688" y="2352"/>
                <a:ext cx="1056" cy="1488"/>
                <a:chOff x="2688" y="2352"/>
                <a:chExt cx="1056" cy="1488"/>
              </a:xfrm>
            </p:grpSpPr>
            <p:sp>
              <p:nvSpPr>
                <p:cNvPr id="36878" name="Oval 11"/>
                <p:cNvSpPr>
                  <a:spLocks noChangeArrowheads="1"/>
                </p:cNvSpPr>
                <p:nvPr/>
              </p:nvSpPr>
              <p:spPr bwMode="auto">
                <a:xfrm>
                  <a:off x="3504" y="2352"/>
                  <a:ext cx="240" cy="240"/>
                </a:xfrm>
                <a:prstGeom prst="ellipse">
                  <a:avLst/>
                </a:prstGeom>
                <a:solidFill>
                  <a:srgbClr val="009900"/>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79" name="Oval 12"/>
                <p:cNvSpPr>
                  <a:spLocks noChangeArrowheads="1"/>
                </p:cNvSpPr>
                <p:nvPr/>
              </p:nvSpPr>
              <p:spPr bwMode="auto">
                <a:xfrm>
                  <a:off x="3504" y="2736"/>
                  <a:ext cx="240" cy="240"/>
                </a:xfrm>
                <a:prstGeom prst="ellipse">
                  <a:avLst/>
                </a:prstGeom>
                <a:solidFill>
                  <a:srgbClr val="009900"/>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80" name="Oval 13"/>
                <p:cNvSpPr>
                  <a:spLocks noChangeArrowheads="1"/>
                </p:cNvSpPr>
                <p:nvPr/>
              </p:nvSpPr>
              <p:spPr bwMode="auto">
                <a:xfrm>
                  <a:off x="3504" y="3168"/>
                  <a:ext cx="240" cy="240"/>
                </a:xfrm>
                <a:prstGeom prst="ellipse">
                  <a:avLst/>
                </a:prstGeom>
                <a:solidFill>
                  <a:srgbClr val="009900"/>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81" name="Oval 14"/>
                <p:cNvSpPr>
                  <a:spLocks noChangeArrowheads="1"/>
                </p:cNvSpPr>
                <p:nvPr/>
              </p:nvSpPr>
              <p:spPr bwMode="auto">
                <a:xfrm>
                  <a:off x="3504" y="3600"/>
                  <a:ext cx="240" cy="240"/>
                </a:xfrm>
                <a:prstGeom prst="ellipse">
                  <a:avLst/>
                </a:prstGeom>
                <a:solidFill>
                  <a:srgbClr val="009900"/>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82" name="Rectangle 15"/>
                <p:cNvSpPr>
                  <a:spLocks noChangeArrowheads="1"/>
                </p:cNvSpPr>
                <p:nvPr/>
              </p:nvSpPr>
              <p:spPr bwMode="auto">
                <a:xfrm>
                  <a:off x="2688" y="2688"/>
                  <a:ext cx="144" cy="144"/>
                </a:xfrm>
                <a:prstGeom prst="rect">
                  <a:avLst/>
                </a:prstGeom>
                <a:solidFill>
                  <a:srgbClr val="0000FF"/>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83" name="Rectangle 16"/>
                <p:cNvSpPr>
                  <a:spLocks noChangeArrowheads="1"/>
                </p:cNvSpPr>
                <p:nvPr/>
              </p:nvSpPr>
              <p:spPr bwMode="auto">
                <a:xfrm>
                  <a:off x="2688" y="3024"/>
                  <a:ext cx="144" cy="144"/>
                </a:xfrm>
                <a:prstGeom prst="rect">
                  <a:avLst/>
                </a:prstGeom>
                <a:solidFill>
                  <a:srgbClr val="0000FF"/>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84" name="Rectangle 17"/>
                <p:cNvSpPr>
                  <a:spLocks noChangeArrowheads="1"/>
                </p:cNvSpPr>
                <p:nvPr/>
              </p:nvSpPr>
              <p:spPr bwMode="auto">
                <a:xfrm>
                  <a:off x="2688" y="3408"/>
                  <a:ext cx="144" cy="144"/>
                </a:xfrm>
                <a:prstGeom prst="rect">
                  <a:avLst/>
                </a:prstGeom>
                <a:solidFill>
                  <a:srgbClr val="0000FF"/>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36885" name="Line 18"/>
                <p:cNvSpPr>
                  <a:spLocks noChangeShapeType="1"/>
                </p:cNvSpPr>
                <p:nvPr/>
              </p:nvSpPr>
              <p:spPr bwMode="auto">
                <a:xfrm>
                  <a:off x="2832" y="2736"/>
                  <a:ext cx="672" cy="96"/>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86" name="Line 19"/>
                <p:cNvSpPr>
                  <a:spLocks noChangeShapeType="1"/>
                </p:cNvSpPr>
                <p:nvPr/>
              </p:nvSpPr>
              <p:spPr bwMode="auto">
                <a:xfrm>
                  <a:off x="2832" y="2736"/>
                  <a:ext cx="672" cy="528"/>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87" name="Line 20"/>
                <p:cNvSpPr>
                  <a:spLocks noChangeShapeType="1"/>
                </p:cNvSpPr>
                <p:nvPr/>
              </p:nvSpPr>
              <p:spPr bwMode="auto">
                <a:xfrm>
                  <a:off x="2832" y="2736"/>
                  <a:ext cx="672" cy="96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88" name="Line 21"/>
                <p:cNvSpPr>
                  <a:spLocks noChangeShapeType="1"/>
                </p:cNvSpPr>
                <p:nvPr/>
              </p:nvSpPr>
              <p:spPr bwMode="auto">
                <a:xfrm flipV="1">
                  <a:off x="2832" y="2832"/>
                  <a:ext cx="672" cy="24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89" name="Line 22"/>
                <p:cNvSpPr>
                  <a:spLocks noChangeShapeType="1"/>
                </p:cNvSpPr>
                <p:nvPr/>
              </p:nvSpPr>
              <p:spPr bwMode="auto">
                <a:xfrm>
                  <a:off x="2832" y="3072"/>
                  <a:ext cx="672" cy="192"/>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90" name="Line 23"/>
                <p:cNvSpPr>
                  <a:spLocks noChangeShapeType="1"/>
                </p:cNvSpPr>
                <p:nvPr/>
              </p:nvSpPr>
              <p:spPr bwMode="auto">
                <a:xfrm>
                  <a:off x="2832" y="3072"/>
                  <a:ext cx="672" cy="624"/>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91" name="Line 24"/>
                <p:cNvSpPr>
                  <a:spLocks noChangeShapeType="1"/>
                </p:cNvSpPr>
                <p:nvPr/>
              </p:nvSpPr>
              <p:spPr bwMode="auto">
                <a:xfrm flipV="1">
                  <a:off x="2832" y="2496"/>
                  <a:ext cx="672" cy="96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92" name="Line 25"/>
                <p:cNvSpPr>
                  <a:spLocks noChangeShapeType="1"/>
                </p:cNvSpPr>
                <p:nvPr/>
              </p:nvSpPr>
              <p:spPr bwMode="auto">
                <a:xfrm flipV="1">
                  <a:off x="2832" y="2880"/>
                  <a:ext cx="672" cy="576"/>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93" name="Line 26"/>
                <p:cNvSpPr>
                  <a:spLocks noChangeShapeType="1"/>
                </p:cNvSpPr>
                <p:nvPr/>
              </p:nvSpPr>
              <p:spPr bwMode="auto">
                <a:xfrm flipV="1">
                  <a:off x="2832" y="3312"/>
                  <a:ext cx="672" cy="144"/>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94" name="Line 27"/>
                <p:cNvSpPr>
                  <a:spLocks noChangeShapeType="1"/>
                </p:cNvSpPr>
                <p:nvPr/>
              </p:nvSpPr>
              <p:spPr bwMode="auto">
                <a:xfrm>
                  <a:off x="2832" y="3456"/>
                  <a:ext cx="672" cy="24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grpSp>
        </p:grpSp>
        <p:sp>
          <p:nvSpPr>
            <p:cNvPr id="36871" name="Line 28"/>
            <p:cNvSpPr>
              <a:spLocks noChangeShapeType="1"/>
            </p:cNvSpPr>
            <p:nvPr/>
          </p:nvSpPr>
          <p:spPr bwMode="auto">
            <a:xfrm flipV="1">
              <a:off x="3744" y="2448"/>
              <a:ext cx="528" cy="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72" name="Line 29"/>
            <p:cNvSpPr>
              <a:spLocks noChangeShapeType="1"/>
            </p:cNvSpPr>
            <p:nvPr/>
          </p:nvSpPr>
          <p:spPr bwMode="auto">
            <a:xfrm flipV="1">
              <a:off x="3744" y="2880"/>
              <a:ext cx="528" cy="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73" name="Line 30"/>
            <p:cNvSpPr>
              <a:spLocks noChangeShapeType="1"/>
            </p:cNvSpPr>
            <p:nvPr/>
          </p:nvSpPr>
          <p:spPr bwMode="auto">
            <a:xfrm flipV="1">
              <a:off x="3744" y="3312"/>
              <a:ext cx="528" cy="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36874" name="Line 31"/>
            <p:cNvSpPr>
              <a:spLocks noChangeShapeType="1"/>
            </p:cNvSpPr>
            <p:nvPr/>
          </p:nvSpPr>
          <p:spPr bwMode="auto">
            <a:xfrm flipV="1">
              <a:off x="3744" y="3744"/>
              <a:ext cx="528" cy="0"/>
            </a:xfrm>
            <a:prstGeom prst="line">
              <a:avLst/>
            </a:prstGeom>
            <a:noFill/>
            <a:ln w="9525">
              <a:solidFill>
                <a:schemeClr val="tx1"/>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60</a:t>
            </a:fld>
            <a:endParaRPr lang="en-US" sz="1200" dirty="0">
              <a:latin typeface="Tahoma" panose="020B0604030504040204" pitchFamily="34" charset="0"/>
              <a:ea typeface="+mn-ea"/>
              <a:cs typeface="+mn-cs"/>
            </a:endParaRPr>
          </a:p>
        </p:txBody>
      </p:sp>
      <p:sp>
        <p:nvSpPr>
          <p:cNvPr id="75779" name="Rectangle 2"/>
          <p:cNvSpPr>
            <a:spLocks noGrp="1"/>
          </p:cNvSpPr>
          <p:nvPr>
            <p:ph type="title"/>
          </p:nvPr>
        </p:nvSpPr>
        <p:spPr/>
        <p:txBody>
          <a:bodyPr vert="horz" wrap="square" lIns="91440" tIns="45720" rIns="91440" bIns="45720" anchor="b" anchorCtr="0"/>
          <a:lstStyle/>
          <a:p>
            <a:pPr eaLnBrk="1" hangingPunct="1"/>
            <a:r>
              <a:rPr dirty="0"/>
              <a:t>Multilayer Feed-forward Neural Network</a:t>
            </a:r>
          </a:p>
        </p:txBody>
      </p:sp>
      <p:sp>
        <p:nvSpPr>
          <p:cNvPr id="75780" name="Rectangle 3"/>
          <p:cNvSpPr>
            <a:spLocks noGrp="1"/>
          </p:cNvSpPr>
          <p:nvPr>
            <p:ph idx="1"/>
          </p:nvPr>
        </p:nvSpPr>
        <p:spPr>
          <a:xfrm>
            <a:off x="304800" y="1066800"/>
            <a:ext cx="8458200" cy="2362200"/>
          </a:xfrm>
        </p:spPr>
        <p:txBody>
          <a:bodyPr vert="horz" wrap="square" lIns="91440" tIns="45720" rIns="91440" bIns="45720" anchor="t" anchorCtr="0"/>
          <a:lstStyle/>
          <a:p>
            <a:pPr eaLnBrk="1" hangingPunct="1">
              <a:lnSpc>
                <a:spcPct val="90000"/>
              </a:lnSpc>
            </a:pPr>
            <a:r>
              <a:rPr sz="1800" dirty="0">
                <a:solidFill>
                  <a:srgbClr val="170981"/>
                </a:solidFill>
              </a:rPr>
              <a:t>A training sample, X = (x1; x2; …; xi), is fed to the input layer. </a:t>
            </a:r>
          </a:p>
          <a:p>
            <a:pPr eaLnBrk="1" hangingPunct="1">
              <a:lnSpc>
                <a:spcPct val="90000"/>
              </a:lnSpc>
            </a:pPr>
            <a:r>
              <a:rPr sz="1800" dirty="0"/>
              <a:t>The weighted outputs of these units are, in turn, fed simultaneously to a second layer, known as a hidden layer. </a:t>
            </a:r>
          </a:p>
          <a:p>
            <a:pPr eaLnBrk="1" hangingPunct="1">
              <a:lnSpc>
                <a:spcPct val="90000"/>
              </a:lnSpc>
            </a:pPr>
            <a:r>
              <a:rPr sz="1800" dirty="0"/>
              <a:t>The hidden layer's weighted outputs can be input to another hidden layer, and so on. The number of hidden layers is arbitrary, although in practice, usually only one is used. </a:t>
            </a:r>
          </a:p>
          <a:p>
            <a:pPr eaLnBrk="1" hangingPunct="1">
              <a:lnSpc>
                <a:spcPct val="90000"/>
              </a:lnSpc>
            </a:pPr>
            <a:r>
              <a:rPr sz="1800" dirty="0"/>
              <a:t>The weighted outputs of the last hidden layer are input to units making up the output layer, which emits the network's prediction for given samples.</a:t>
            </a:r>
          </a:p>
          <a:p>
            <a:pPr eaLnBrk="1" hangingPunct="1">
              <a:lnSpc>
                <a:spcPct val="90000"/>
              </a:lnSpc>
            </a:pPr>
            <a:endParaRPr sz="1600" dirty="0">
              <a:solidFill>
                <a:srgbClr val="170981"/>
              </a:solidFill>
            </a:endParaRPr>
          </a:p>
        </p:txBody>
      </p:sp>
      <p:pic>
        <p:nvPicPr>
          <p:cNvPr id="75781" name="Picture 4"/>
          <p:cNvPicPr>
            <a:picLocks noChangeAspect="1"/>
          </p:cNvPicPr>
          <p:nvPr/>
        </p:nvPicPr>
        <p:blipFill>
          <a:blip r:embed="rId2"/>
          <a:srcRect l="5556"/>
          <a:stretch>
            <a:fillRect/>
          </a:stretch>
        </p:blipFill>
        <p:spPr>
          <a:xfrm>
            <a:off x="3581400" y="3505200"/>
            <a:ext cx="5183188" cy="3348038"/>
          </a:xfrm>
          <a:prstGeom prst="rect">
            <a:avLst/>
          </a:prstGeom>
          <a:noFill/>
          <a:ln w="9525" cap="flat" cmpd="sng">
            <a:solidFill>
              <a:srgbClr val="660033"/>
            </a:solidFill>
            <a:prstDash val="solid"/>
            <a:miter/>
            <a:headEnd type="none" w="med" len="med"/>
            <a:tailEnd type="none" w="med" len="med"/>
          </a:ln>
        </p:spPr>
      </p:pic>
      <p:sp>
        <p:nvSpPr>
          <p:cNvPr id="75782" name="Text Box 5"/>
          <p:cNvSpPr txBox="1"/>
          <p:nvPr/>
        </p:nvSpPr>
        <p:spPr>
          <a:xfrm>
            <a:off x="0" y="3733800"/>
            <a:ext cx="3733800" cy="31956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dirty="0">
                <a:solidFill>
                  <a:srgbClr val="170981"/>
                </a:solidFill>
              </a:rPr>
              <a:t>Weighted connections exist between each layer, where wij denotes the weight from a unit j in one layer to a unit i in the previous layer.</a:t>
            </a:r>
          </a:p>
          <a:p>
            <a:pPr marL="0" lvl="0" indent="0" eaLnBrk="1" hangingPunct="1">
              <a:spcBef>
                <a:spcPct val="0"/>
              </a:spcBef>
              <a:buClrTx/>
              <a:buSzTx/>
              <a:buFontTx/>
              <a:buNone/>
            </a:pPr>
            <a:endParaRPr sz="2400" dirty="0"/>
          </a:p>
          <a:p>
            <a:pPr marL="0" lvl="0" indent="0" eaLnBrk="1" hangingPunct="1">
              <a:spcBef>
                <a:spcPct val="50000"/>
              </a:spcBef>
              <a:buClrTx/>
              <a:buSzTx/>
              <a:buFontTx/>
              <a:buNone/>
            </a:pPr>
            <a:endParaRPr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61</a:t>
            </a:fld>
            <a:endParaRPr lang="en-US" sz="1200" dirty="0">
              <a:latin typeface="Tahoma" panose="020B0604030504040204" pitchFamily="34" charset="0"/>
              <a:ea typeface="+mn-ea"/>
              <a:cs typeface="+mn-cs"/>
            </a:endParaRPr>
          </a:p>
        </p:txBody>
      </p:sp>
      <p:sp>
        <p:nvSpPr>
          <p:cNvPr id="76803" name="Rectangle 2"/>
          <p:cNvSpPr>
            <a:spLocks noGrp="1"/>
          </p:cNvSpPr>
          <p:nvPr>
            <p:ph type="title"/>
          </p:nvPr>
        </p:nvSpPr>
        <p:spPr/>
        <p:txBody>
          <a:bodyPr vert="horz" wrap="square" lIns="91440" tIns="45720" rIns="91440" bIns="45720" anchor="b" anchorCtr="0"/>
          <a:lstStyle/>
          <a:p>
            <a:pPr eaLnBrk="1" hangingPunct="1"/>
            <a:r>
              <a:rPr dirty="0"/>
              <a:t>Benefits and drawbacks of Neural Networks</a:t>
            </a:r>
          </a:p>
        </p:txBody>
      </p:sp>
      <p:sp>
        <p:nvSpPr>
          <p:cNvPr id="76804" name="Rectangle 3"/>
          <p:cNvSpPr>
            <a:spLocks noGrp="1"/>
          </p:cNvSpPr>
          <p:nvPr>
            <p:ph idx="1"/>
          </p:nvPr>
        </p:nvSpPr>
        <p:spPr/>
        <p:txBody>
          <a:bodyPr vert="horz" wrap="square" lIns="91440" tIns="45720" rIns="91440" bIns="45720" anchor="t" anchorCtr="0"/>
          <a:lstStyle/>
          <a:p>
            <a:pPr marL="457200" indent="-457200" eaLnBrk="1" hangingPunct="1">
              <a:lnSpc>
                <a:spcPct val="80000"/>
              </a:lnSpc>
            </a:pPr>
            <a:r>
              <a:rPr sz="2000" dirty="0">
                <a:solidFill>
                  <a:srgbClr val="170981"/>
                </a:solidFill>
              </a:rPr>
              <a:t>The network is feed-forward in that none of the weights cycle back to an input unit or to an output unit of a previous layer.</a:t>
            </a:r>
          </a:p>
          <a:p>
            <a:pPr marL="457200" indent="-457200" eaLnBrk="1" hangingPunct="1">
              <a:lnSpc>
                <a:spcPct val="80000"/>
              </a:lnSpc>
            </a:pPr>
            <a:endParaRPr sz="2000" dirty="0">
              <a:solidFill>
                <a:srgbClr val="170981"/>
              </a:solidFill>
            </a:endParaRPr>
          </a:p>
          <a:p>
            <a:pPr marL="457200" indent="-457200" eaLnBrk="1" hangingPunct="1">
              <a:lnSpc>
                <a:spcPct val="80000"/>
              </a:lnSpc>
              <a:buNone/>
            </a:pPr>
            <a:r>
              <a:rPr sz="2400" dirty="0">
                <a:solidFill>
                  <a:srgbClr val="660033"/>
                </a:solidFill>
              </a:rPr>
              <a:t>Benefits:</a:t>
            </a:r>
          </a:p>
          <a:p>
            <a:pPr marL="457200" indent="-457200" eaLnBrk="1" hangingPunct="1">
              <a:lnSpc>
                <a:spcPct val="80000"/>
              </a:lnSpc>
            </a:pPr>
            <a:r>
              <a:rPr sz="2400" dirty="0"/>
              <a:t>include their </a:t>
            </a:r>
            <a:r>
              <a:rPr sz="2400" dirty="0">
                <a:solidFill>
                  <a:srgbClr val="170981"/>
                </a:solidFill>
              </a:rPr>
              <a:t>high tolerance to noisy</a:t>
            </a:r>
            <a:r>
              <a:rPr sz="2400" dirty="0"/>
              <a:t> data</a:t>
            </a:r>
          </a:p>
          <a:p>
            <a:pPr marL="457200" indent="-457200" eaLnBrk="1" hangingPunct="1">
              <a:lnSpc>
                <a:spcPct val="80000"/>
              </a:lnSpc>
            </a:pPr>
            <a:r>
              <a:rPr sz="2400" dirty="0"/>
              <a:t>able to </a:t>
            </a:r>
            <a:r>
              <a:rPr sz="2400" dirty="0">
                <a:solidFill>
                  <a:srgbClr val="170981"/>
                </a:solidFill>
              </a:rPr>
              <a:t>classify patterns</a:t>
            </a:r>
            <a:r>
              <a:rPr sz="2400" dirty="0"/>
              <a:t> on which they have not been trained.</a:t>
            </a:r>
          </a:p>
          <a:p>
            <a:pPr marL="457200" indent="-457200" eaLnBrk="1" hangingPunct="1">
              <a:lnSpc>
                <a:spcPct val="80000"/>
              </a:lnSpc>
              <a:buFont typeface="Wingdings" panose="05000000000000000000" pitchFamily="2" charset="2"/>
              <a:buAutoNum type="arabicPeriod"/>
            </a:pPr>
            <a:endParaRPr sz="2400" dirty="0"/>
          </a:p>
          <a:p>
            <a:pPr marL="457200" indent="-457200" eaLnBrk="1" hangingPunct="1">
              <a:lnSpc>
                <a:spcPct val="80000"/>
              </a:lnSpc>
              <a:buNone/>
            </a:pPr>
            <a:r>
              <a:rPr sz="2400" dirty="0">
                <a:solidFill>
                  <a:srgbClr val="660033"/>
                </a:solidFill>
              </a:rPr>
              <a:t>Disadvantages:</a:t>
            </a:r>
          </a:p>
          <a:p>
            <a:pPr marL="457200" indent="-457200" eaLnBrk="1" hangingPunct="1">
              <a:lnSpc>
                <a:spcPct val="80000"/>
              </a:lnSpc>
            </a:pPr>
            <a:r>
              <a:rPr sz="2400" dirty="0">
                <a:solidFill>
                  <a:srgbClr val="170981"/>
                </a:solidFill>
              </a:rPr>
              <a:t>involve long training times</a:t>
            </a:r>
            <a:r>
              <a:rPr sz="2400" dirty="0"/>
              <a:t>, so more suitable for applications where this is feasible.</a:t>
            </a:r>
          </a:p>
          <a:p>
            <a:pPr marL="457200" indent="-457200" eaLnBrk="1" hangingPunct="1">
              <a:lnSpc>
                <a:spcPct val="80000"/>
              </a:lnSpc>
            </a:pPr>
            <a:r>
              <a:rPr sz="2400" dirty="0"/>
              <a:t>Need to know </a:t>
            </a:r>
            <a:r>
              <a:rPr sz="2400" dirty="0">
                <a:solidFill>
                  <a:srgbClr val="170981"/>
                </a:solidFill>
              </a:rPr>
              <a:t>network topology or “structure</a:t>
            </a:r>
            <a:r>
              <a:rPr sz="2400" dirty="0"/>
              <a:t>". </a:t>
            </a:r>
          </a:p>
          <a:p>
            <a:pPr marL="457200" indent="-457200" eaLnBrk="1" hangingPunct="1">
              <a:lnSpc>
                <a:spcPct val="80000"/>
              </a:lnSpc>
            </a:pPr>
            <a:r>
              <a:rPr sz="2400" dirty="0">
                <a:solidFill>
                  <a:srgbClr val="170981"/>
                </a:solidFill>
              </a:rPr>
              <a:t>poor interpretability</a:t>
            </a:r>
            <a:r>
              <a:rPr sz="2400" dirty="0"/>
              <a:t>, as its difficult for humans to interpret the symbolic meaning behind the learned weights.</a:t>
            </a:r>
          </a:p>
          <a:p>
            <a:pPr marL="457200" indent="-457200" eaLnBrk="1" hangingPunct="1">
              <a:lnSpc>
                <a:spcPct val="80000"/>
              </a:lnSpc>
            </a:pPr>
            <a:endParaRPr sz="2400" dirty="0"/>
          </a:p>
          <a:p>
            <a:pPr marL="457200" indent="-457200" eaLnBrk="1" hangingPunct="1">
              <a:lnSpc>
                <a:spcPct val="80000"/>
              </a:lnSpc>
              <a:buNone/>
            </a:pPr>
            <a:endParaRPr sz="1800" dirty="0">
              <a:solidFill>
                <a:srgbClr val="660033"/>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62</a:t>
            </a:fld>
            <a:endParaRPr lang="en-US" sz="1200" dirty="0">
              <a:latin typeface="Tahoma" panose="020B0604030504040204" pitchFamily="34" charset="0"/>
              <a:ea typeface="+mn-ea"/>
              <a:cs typeface="+mn-cs"/>
            </a:endParaRPr>
          </a:p>
        </p:txBody>
      </p:sp>
      <p:sp>
        <p:nvSpPr>
          <p:cNvPr id="77827" name="Rectangle 2"/>
          <p:cNvSpPr>
            <a:spLocks noGrp="1"/>
          </p:cNvSpPr>
          <p:nvPr>
            <p:ph type="title"/>
          </p:nvPr>
        </p:nvSpPr>
        <p:spPr/>
        <p:txBody>
          <a:bodyPr vert="horz" wrap="square" lIns="91440" tIns="45720" rIns="91440" bIns="45720" anchor="b" anchorCtr="0"/>
          <a:lstStyle/>
          <a:p>
            <a:pPr eaLnBrk="1" hangingPunct="1"/>
            <a:r>
              <a:rPr dirty="0"/>
              <a:t>Defining a network topology</a:t>
            </a:r>
          </a:p>
        </p:txBody>
      </p:sp>
      <p:sp>
        <p:nvSpPr>
          <p:cNvPr id="77828" name="Rectangle 3"/>
          <p:cNvSpPr>
            <a:spLocks noGrp="1"/>
          </p:cNvSpPr>
          <p:nvPr>
            <p:ph idx="1"/>
          </p:nvPr>
        </p:nvSpPr>
        <p:spPr/>
        <p:txBody>
          <a:bodyPr vert="horz" wrap="square" lIns="91440" tIns="45720" rIns="91440" bIns="45720" anchor="t" anchorCtr="0"/>
          <a:lstStyle/>
          <a:p>
            <a:pPr marL="533400" indent="-533400" eaLnBrk="1" hangingPunct="1"/>
            <a:r>
              <a:rPr sz="2400" dirty="0"/>
              <a:t>Before training can begin, the user must decide on the network topology by specifying </a:t>
            </a:r>
          </a:p>
          <a:p>
            <a:pPr marL="990600" lvl="1" indent="-533400" eaLnBrk="1" hangingPunct="1">
              <a:buFont typeface="Wingdings" panose="05000000000000000000" pitchFamily="2" charset="2"/>
              <a:buAutoNum type="arabicPeriod"/>
            </a:pPr>
            <a:r>
              <a:rPr sz="2000" dirty="0"/>
              <a:t>the number of units in the input layer, </a:t>
            </a:r>
          </a:p>
          <a:p>
            <a:pPr marL="990600" lvl="1" indent="-533400" eaLnBrk="1" hangingPunct="1">
              <a:buFont typeface="Wingdings" panose="05000000000000000000" pitchFamily="2" charset="2"/>
              <a:buAutoNum type="arabicPeriod"/>
            </a:pPr>
            <a:r>
              <a:rPr sz="2000" dirty="0"/>
              <a:t>the number of hidden layers (if more than one), </a:t>
            </a:r>
          </a:p>
          <a:p>
            <a:pPr marL="990600" lvl="1" indent="-533400" eaLnBrk="1" hangingPunct="1">
              <a:buFont typeface="Wingdings" panose="05000000000000000000" pitchFamily="2" charset="2"/>
              <a:buAutoNum type="arabicPeriod"/>
            </a:pPr>
            <a:r>
              <a:rPr sz="2000" dirty="0"/>
              <a:t>the number of units in each hidden layer, and</a:t>
            </a:r>
          </a:p>
          <a:p>
            <a:pPr marL="990600" lvl="1" indent="-533400" eaLnBrk="1" hangingPunct="1">
              <a:buFont typeface="Wingdings" panose="05000000000000000000" pitchFamily="2" charset="2"/>
              <a:buAutoNum type="arabicPeriod"/>
            </a:pPr>
            <a:r>
              <a:rPr sz="2000" dirty="0"/>
              <a:t> the number of units in the output layer.</a:t>
            </a:r>
          </a:p>
          <a:p>
            <a:pPr marL="990600" lvl="1" indent="-533400" eaLnBrk="1" hangingPunct="1">
              <a:buFont typeface="Wingdings" panose="05000000000000000000" pitchFamily="2" charset="2"/>
              <a:buAutoNum type="arabicPeriod"/>
            </a:pPr>
            <a:endParaRPr sz="2000" dirty="0"/>
          </a:p>
          <a:p>
            <a:pPr marL="533400" indent="-533400" eaLnBrk="1" hangingPunct="1"/>
            <a:r>
              <a:rPr sz="2400" dirty="0"/>
              <a:t>Normalizing the input values for each attribute in the training samples to fall between 0 and 1.0.</a:t>
            </a:r>
          </a:p>
          <a:p>
            <a:pPr marL="533400" indent="-533400" eaLnBrk="1" hangingPunct="1"/>
            <a:endParaRPr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5"/>
          <p:cNvSpPr>
            <a:spLocks noChangeArrowheads="1"/>
          </p:cNvSpPr>
          <p:nvPr/>
        </p:nvSpPr>
        <p:spPr bwMode="auto">
          <a:xfrm>
            <a:off x="1143001" y="2259013"/>
            <a:ext cx="30988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graphicFrame>
        <p:nvGraphicFramePr>
          <p:cNvPr id="6146" name="Object 4"/>
          <p:cNvGraphicFramePr>
            <a:graphicFrameLocks noChangeAspect="1"/>
          </p:cNvGraphicFramePr>
          <p:nvPr/>
        </p:nvGraphicFramePr>
        <p:xfrm>
          <a:off x="1143000" y="2114550"/>
          <a:ext cx="6515100" cy="3657600"/>
        </p:xfrm>
        <a:graphic>
          <a:graphicData uri="http://schemas.openxmlformats.org/presentationml/2006/ole">
            <p:oleObj spid="_x0000_s83969" name="Document" r:id="rId3" imgW="5491445" imgH="2625238" progId="Word.Document.8">
              <p:embed/>
            </p:oleObj>
          </a:graphicData>
        </a:graphic>
      </p:graphicFrame>
      <p:sp>
        <p:nvSpPr>
          <p:cNvPr id="6148" name="Text Box 6"/>
          <p:cNvSpPr txBox="1">
            <a:spLocks noChangeArrowheads="1"/>
          </p:cNvSpPr>
          <p:nvPr/>
        </p:nvSpPr>
        <p:spPr bwMode="auto">
          <a:xfrm>
            <a:off x="1657350" y="1085850"/>
            <a:ext cx="6115050" cy="5067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700">
                <a:solidFill>
                  <a:schemeClr val="tx2"/>
                </a:solidFill>
                <a:latin typeface="Times New Roman" panose="02020603050405020304" pitchFamily="18" charset="0"/>
              </a:rPr>
              <a:t>Boolean function OR – Linearly separable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5"/>
          <p:cNvSpPr>
            <a:spLocks noChangeArrowheads="1"/>
          </p:cNvSpPr>
          <p:nvPr/>
        </p:nvSpPr>
        <p:spPr bwMode="auto">
          <a:xfrm>
            <a:off x="1143001" y="2259013"/>
            <a:ext cx="30988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graphicFrame>
        <p:nvGraphicFramePr>
          <p:cNvPr id="7170" name="Object 2"/>
          <p:cNvGraphicFramePr>
            <a:graphicFrameLocks noChangeAspect="1"/>
          </p:cNvGraphicFramePr>
          <p:nvPr/>
        </p:nvGraphicFramePr>
        <p:xfrm>
          <a:off x="1371600" y="1885951"/>
          <a:ext cx="6378179" cy="3051572"/>
        </p:xfrm>
        <a:graphic>
          <a:graphicData uri="http://schemas.openxmlformats.org/presentationml/2006/ole">
            <p:oleObj spid="_x0000_s91137" name="Document" r:id="rId3" imgW="5485703" imgH="2629174" progId="Word.Document.8">
              <p:embed/>
            </p:oleObj>
          </a:graphicData>
        </a:graphic>
      </p:graphicFrame>
      <p:sp>
        <p:nvSpPr>
          <p:cNvPr id="7172" name="Text Box 6"/>
          <p:cNvSpPr txBox="1">
            <a:spLocks noChangeArrowheads="1"/>
          </p:cNvSpPr>
          <p:nvPr/>
        </p:nvSpPr>
        <p:spPr bwMode="auto">
          <a:xfrm>
            <a:off x="1657350" y="1085850"/>
            <a:ext cx="6115050" cy="9220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700">
                <a:solidFill>
                  <a:schemeClr val="tx2"/>
                </a:solidFill>
                <a:latin typeface="Times New Roman" panose="02020603050405020304" pitchFamily="18" charset="0"/>
              </a:rPr>
              <a:t>Boolean function AND – Linearly separable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p:cNvSpPr>
            <a:spLocks noGrp="1" noRot="1" noChangeAspect="1" noMove="1" noResize="1" noEditPoints="1" noAdjustHandles="1" noChangeArrowheads="1" noChangeShapeType="1" noTextEdit="1"/>
          </p:cNvSpPr>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useBgFill="1">
        <p:nvSpPr>
          <p:cNvPr id="15" name="Rectangle 14"/>
          <p:cNvSpPr>
            <a:spLocks noGrp="1" noRot="1" noChangeAspect="1" noMove="1" noResize="1" noEditPoints="1" noAdjustHandles="1" noChangeArrowheads="1" noChangeShapeType="1" noTextEdit="1"/>
          </p:cNvSpPr>
          <p:nvPr/>
        </p:nvSpPr>
        <p:spPr>
          <a:xfrm>
            <a:off x="413665" y="1085852"/>
            <a:ext cx="8323012" cy="117986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51510" y="1161431"/>
            <a:ext cx="2825222" cy="269137"/>
          </a:xfrm>
        </p:spPr>
        <p:txBody>
          <a:bodyPr vert="horz" lIns="68580" tIns="34290" rIns="68580" bIns="34290" rtlCol="0" anchor="ctr">
            <a:normAutofit fontScale="90000"/>
          </a:bodyPr>
          <a:lstStyle/>
          <a:p>
            <a:r>
              <a:rPr lang="en-US" altLang="en-US" sz="2700" dirty="0"/>
              <a:t>Perceptron for XOR </a:t>
            </a:r>
            <a:endParaRPr lang="en-US" sz="2700" dirty="0"/>
          </a:p>
        </p:txBody>
      </p:sp>
      <p:sp>
        <p:nvSpPr>
          <p:cNvPr id="17" name="Rectangle 16"/>
          <p:cNvSpPr>
            <a:spLocks noGrp="1" noRot="1" noChangeAspect="1" noMove="1" noResize="1" noEditPoints="1" noAdjustHandles="1" noChangeArrowheads="1" noChangeShapeType="1" noTextEdit="1"/>
          </p:cNvSpPr>
          <p:nvPr/>
        </p:nvSpPr>
        <p:spPr>
          <a:xfrm>
            <a:off x="371088" y="1430568"/>
            <a:ext cx="96012" cy="4904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p:cNvSpPr>
            <a:spLocks noGrp="1" noRot="1" noChangeAspect="1" noMove="1" noResize="1" noEditPoints="1" noAdjustHandles="1" noChangeArrowheads="1" noChangeShapeType="1" noTextEdit="1"/>
          </p:cNvSpPr>
          <p:nvPr/>
        </p:nvSpPr>
        <p:spPr>
          <a:xfrm rot="5400000">
            <a:off x="4190238" y="1661127"/>
            <a:ext cx="766094" cy="685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p:cNvPicPr>
            <a:picLocks noChangeAspect="1"/>
          </p:cNvPicPr>
          <p:nvPr/>
        </p:nvPicPr>
        <p:blipFill>
          <a:blip r:embed="rId2"/>
          <a:stretch>
            <a:fillRect/>
          </a:stretch>
        </p:blipFill>
        <p:spPr>
          <a:xfrm>
            <a:off x="113603" y="1775285"/>
            <a:ext cx="3611542" cy="2817003"/>
          </a:xfrm>
          <a:prstGeom prst="rect">
            <a:avLst/>
          </a:prstGeom>
        </p:spPr>
      </p:pic>
      <p:pic>
        <p:nvPicPr>
          <p:cNvPr id="8" name="Picture 7"/>
          <p:cNvPicPr>
            <a:picLocks noChangeAspect="1"/>
          </p:cNvPicPr>
          <p:nvPr/>
        </p:nvPicPr>
        <p:blipFill>
          <a:blip r:embed="rId3"/>
          <a:stretch>
            <a:fillRect/>
          </a:stretch>
        </p:blipFill>
        <p:spPr>
          <a:xfrm>
            <a:off x="5187308" y="1161431"/>
            <a:ext cx="2392180" cy="1784990"/>
          </a:xfrm>
          <a:prstGeom prst="rect">
            <a:avLst/>
          </a:prstGeom>
        </p:spPr>
      </p:pic>
      <p:pic>
        <p:nvPicPr>
          <p:cNvPr id="10" name="Picture 9"/>
          <p:cNvPicPr>
            <a:picLocks noChangeAspect="1"/>
          </p:cNvPicPr>
          <p:nvPr/>
        </p:nvPicPr>
        <p:blipFill>
          <a:blip r:embed="rId4"/>
          <a:stretch>
            <a:fillRect/>
          </a:stretch>
        </p:blipFill>
        <p:spPr>
          <a:xfrm>
            <a:off x="4005500" y="3142079"/>
            <a:ext cx="4731177" cy="2749496"/>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67</a:t>
            </a:fld>
            <a:endParaRPr lang="en-US" sz="1200" dirty="0">
              <a:latin typeface="Tahoma" panose="020B0604030504040204" pitchFamily="34" charset="0"/>
              <a:ea typeface="+mn-ea"/>
              <a:cs typeface="+mn-cs"/>
            </a:endParaRPr>
          </a:p>
        </p:txBody>
      </p:sp>
      <p:sp>
        <p:nvSpPr>
          <p:cNvPr id="78851" name="Rectangle 2"/>
          <p:cNvSpPr>
            <a:spLocks noGrp="1"/>
          </p:cNvSpPr>
          <p:nvPr>
            <p:ph type="title"/>
          </p:nvPr>
        </p:nvSpPr>
        <p:spPr/>
        <p:txBody>
          <a:bodyPr vert="horz" wrap="square" lIns="91440" tIns="45720" rIns="91440" bIns="45720" anchor="b" anchorCtr="0"/>
          <a:lstStyle/>
          <a:p>
            <a:pPr eaLnBrk="1" hangingPunct="1"/>
            <a:r>
              <a:rPr dirty="0"/>
              <a:t>Backpropagation</a:t>
            </a:r>
          </a:p>
        </p:txBody>
      </p:sp>
      <p:sp>
        <p:nvSpPr>
          <p:cNvPr id="78852" name="Rectangle 3"/>
          <p:cNvSpPr>
            <a:spLocks noGrp="1"/>
          </p:cNvSpPr>
          <p:nvPr>
            <p:ph idx="1"/>
          </p:nvPr>
        </p:nvSpPr>
        <p:spPr/>
        <p:txBody>
          <a:bodyPr vert="horz" wrap="square" lIns="91440" tIns="45720" rIns="91440" bIns="45720" anchor="t" anchorCtr="0"/>
          <a:lstStyle/>
          <a:p>
            <a:pPr eaLnBrk="1" hangingPunct="1">
              <a:lnSpc>
                <a:spcPct val="90000"/>
              </a:lnSpc>
              <a:buNone/>
            </a:pPr>
            <a:r>
              <a:rPr sz="2400" dirty="0">
                <a:solidFill>
                  <a:srgbClr val="660033"/>
                </a:solidFill>
              </a:rPr>
              <a:t>“What is backpropagation?"</a:t>
            </a:r>
          </a:p>
          <a:p>
            <a:pPr eaLnBrk="1" hangingPunct="1">
              <a:lnSpc>
                <a:spcPct val="90000"/>
              </a:lnSpc>
            </a:pPr>
            <a:r>
              <a:rPr sz="2400" dirty="0"/>
              <a:t>Its a neural network learning algorithm.</a:t>
            </a:r>
          </a:p>
          <a:p>
            <a:pPr eaLnBrk="1" hangingPunct="1">
              <a:lnSpc>
                <a:spcPct val="90000"/>
              </a:lnSpc>
              <a:buNone/>
            </a:pPr>
            <a:endParaRPr dirty="0">
              <a:solidFill>
                <a:srgbClr val="660033"/>
              </a:solidFill>
            </a:endParaRPr>
          </a:p>
          <a:p>
            <a:pPr eaLnBrk="1" hangingPunct="1">
              <a:lnSpc>
                <a:spcPct val="90000"/>
              </a:lnSpc>
              <a:buNone/>
            </a:pPr>
            <a:r>
              <a:rPr sz="2400" dirty="0">
                <a:solidFill>
                  <a:srgbClr val="660033"/>
                </a:solidFill>
              </a:rPr>
              <a:t>How does it work?</a:t>
            </a:r>
          </a:p>
          <a:p>
            <a:pPr eaLnBrk="1" hangingPunct="1">
              <a:lnSpc>
                <a:spcPct val="90000"/>
              </a:lnSpc>
            </a:pPr>
            <a:r>
              <a:rPr sz="2000" dirty="0"/>
              <a:t>Backpropagation learns by iteratively processing a set of training samples, comparing the network's prediction for each sample with the actual known class label.</a:t>
            </a:r>
          </a:p>
          <a:p>
            <a:pPr eaLnBrk="1" hangingPunct="1">
              <a:lnSpc>
                <a:spcPct val="90000"/>
              </a:lnSpc>
            </a:pPr>
            <a:endParaRPr sz="2000" dirty="0"/>
          </a:p>
          <a:p>
            <a:pPr eaLnBrk="1" hangingPunct="1">
              <a:lnSpc>
                <a:spcPct val="90000"/>
              </a:lnSpc>
            </a:pPr>
            <a:r>
              <a:rPr sz="2000" dirty="0"/>
              <a:t>For each training sample, the weights are modified so as to minimize the error between the network's prediction and the actual class. </a:t>
            </a:r>
          </a:p>
          <a:p>
            <a:pPr eaLnBrk="1" hangingPunct="1">
              <a:lnSpc>
                <a:spcPct val="90000"/>
              </a:lnSpc>
            </a:pPr>
            <a:endParaRPr sz="2000" dirty="0"/>
          </a:p>
          <a:p>
            <a:pPr eaLnBrk="1" hangingPunct="1">
              <a:lnSpc>
                <a:spcPct val="90000"/>
              </a:lnSpc>
            </a:pPr>
            <a:r>
              <a:rPr sz="2000" dirty="0"/>
              <a:t>These modifications are made in the “backwards" direction, i.e., from the output layer, through each hidden layer down to the first hidden layer (hence the name backpropagation).</a:t>
            </a:r>
          </a:p>
          <a:p>
            <a:pPr eaLnBrk="1" hangingPunct="1">
              <a:lnSpc>
                <a:spcPct val="90000"/>
              </a:lnSpc>
            </a:pPr>
            <a:endParaRPr sz="3200" dirty="0"/>
          </a:p>
          <a:p>
            <a:pPr eaLnBrk="1" hangingPunct="1">
              <a:lnSpc>
                <a:spcPct val="90000"/>
              </a:lnSpc>
            </a:pPr>
            <a:endParaRPr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Rectangle 2"/>
          <p:cNvSpPr>
            <a:spLocks noGrp="1"/>
          </p:cNvSpPr>
          <p:nvPr>
            <p:ph type="title"/>
          </p:nvPr>
        </p:nvSpPr>
        <p:spPr>
          <a:xfrm>
            <a:off x="536575" y="104775"/>
            <a:ext cx="6794500" cy="733425"/>
          </a:xfrm>
        </p:spPr>
        <p:txBody>
          <a:bodyPr vert="horz" wrap="square" lIns="92075" tIns="46038" rIns="92075" bIns="46038" anchor="b" anchorCtr="0"/>
          <a:lstStyle/>
          <a:p>
            <a:pPr eaLnBrk="1" hangingPunct="1"/>
            <a:r>
              <a:rPr dirty="0"/>
              <a:t>Multi-Layer Perceptron</a:t>
            </a:r>
          </a:p>
        </p:txBody>
      </p:sp>
      <p:grpSp>
        <p:nvGrpSpPr>
          <p:cNvPr id="79875" name="Group 3"/>
          <p:cNvGrpSpPr/>
          <p:nvPr/>
        </p:nvGrpSpPr>
        <p:grpSpPr>
          <a:xfrm>
            <a:off x="2438400" y="1701800"/>
            <a:ext cx="3409950" cy="4948238"/>
            <a:chOff x="1536" y="1072"/>
            <a:chExt cx="2148" cy="3117"/>
          </a:xfrm>
        </p:grpSpPr>
        <p:sp>
          <p:nvSpPr>
            <p:cNvPr id="79889" name="Oval 4"/>
            <p:cNvSpPr/>
            <p:nvPr/>
          </p:nvSpPr>
          <p:spPr>
            <a:xfrm>
              <a:off x="1730" y="1625"/>
              <a:ext cx="340" cy="316"/>
            </a:xfrm>
            <a:prstGeom prst="ellipse">
              <a:avLst/>
            </a:prstGeom>
            <a:no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0" name="Oval 5"/>
            <p:cNvSpPr/>
            <p:nvPr/>
          </p:nvSpPr>
          <p:spPr>
            <a:xfrm>
              <a:off x="2430" y="1642"/>
              <a:ext cx="340" cy="316"/>
            </a:xfrm>
            <a:prstGeom prst="ellipse">
              <a:avLst/>
            </a:prstGeom>
            <a:no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1" name="Oval 6"/>
            <p:cNvSpPr/>
            <p:nvPr/>
          </p:nvSpPr>
          <p:spPr>
            <a:xfrm>
              <a:off x="3094" y="1642"/>
              <a:ext cx="340" cy="316"/>
            </a:xfrm>
            <a:prstGeom prst="ellipse">
              <a:avLst/>
            </a:prstGeom>
            <a:no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2" name="Oval 7"/>
            <p:cNvSpPr/>
            <p:nvPr/>
          </p:nvSpPr>
          <p:spPr>
            <a:xfrm>
              <a:off x="2449" y="2432"/>
              <a:ext cx="339" cy="316"/>
            </a:xfrm>
            <a:prstGeom prst="ellipse">
              <a:avLst/>
            </a:prstGeom>
            <a:solidFill>
              <a:schemeClr val="tx1"/>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3" name="Oval 8"/>
            <p:cNvSpPr/>
            <p:nvPr/>
          </p:nvSpPr>
          <p:spPr>
            <a:xfrm>
              <a:off x="3344" y="2432"/>
              <a:ext cx="340" cy="316"/>
            </a:xfrm>
            <a:prstGeom prst="ellipse">
              <a:avLst/>
            </a:prstGeom>
            <a:solidFill>
              <a:schemeClr val="tx1"/>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4" name="Oval 9"/>
            <p:cNvSpPr/>
            <p:nvPr/>
          </p:nvSpPr>
          <p:spPr>
            <a:xfrm>
              <a:off x="1536" y="2448"/>
              <a:ext cx="340" cy="316"/>
            </a:xfrm>
            <a:prstGeom prst="ellipse">
              <a:avLst/>
            </a:prstGeom>
            <a:solidFill>
              <a:schemeClr val="tx1"/>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5" name="Oval 10"/>
            <p:cNvSpPr/>
            <p:nvPr/>
          </p:nvSpPr>
          <p:spPr>
            <a:xfrm>
              <a:off x="2055" y="3288"/>
              <a:ext cx="339" cy="316"/>
            </a:xfrm>
            <a:prstGeom prst="ellipse">
              <a:avLst/>
            </a:prstGeom>
            <a:no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6" name="Oval 11"/>
            <p:cNvSpPr/>
            <p:nvPr/>
          </p:nvSpPr>
          <p:spPr>
            <a:xfrm>
              <a:off x="2897" y="3269"/>
              <a:ext cx="339" cy="316"/>
            </a:xfrm>
            <a:prstGeom prst="ellipse">
              <a:avLst/>
            </a:prstGeom>
            <a:no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79897" name="Line 12"/>
            <p:cNvSpPr/>
            <p:nvPr/>
          </p:nvSpPr>
          <p:spPr>
            <a:xfrm flipH="1" flipV="1">
              <a:off x="1768" y="2781"/>
              <a:ext cx="320" cy="537"/>
            </a:xfrm>
            <a:prstGeom prst="line">
              <a:avLst/>
            </a:prstGeom>
            <a:ln w="12700" cap="flat" cmpd="sng">
              <a:solidFill>
                <a:srgbClr val="000000"/>
              </a:solidFill>
              <a:prstDash val="solid"/>
              <a:headEnd type="none" w="sm" len="sm"/>
              <a:tailEnd type="stealth" w="med" len="med"/>
            </a:ln>
          </p:spPr>
        </p:sp>
        <p:sp>
          <p:nvSpPr>
            <p:cNvPr id="79898" name="Line 13"/>
            <p:cNvSpPr/>
            <p:nvPr/>
          </p:nvSpPr>
          <p:spPr>
            <a:xfrm flipV="1">
              <a:off x="2217" y="2732"/>
              <a:ext cx="303" cy="551"/>
            </a:xfrm>
            <a:prstGeom prst="line">
              <a:avLst/>
            </a:prstGeom>
            <a:ln w="12700" cap="flat" cmpd="sng">
              <a:solidFill>
                <a:srgbClr val="000000"/>
              </a:solidFill>
              <a:prstDash val="solid"/>
              <a:headEnd type="none" w="sm" len="sm"/>
              <a:tailEnd type="stealth" w="med" len="med"/>
            </a:ln>
          </p:spPr>
        </p:sp>
        <p:sp>
          <p:nvSpPr>
            <p:cNvPr id="79899" name="Line 14"/>
            <p:cNvSpPr/>
            <p:nvPr/>
          </p:nvSpPr>
          <p:spPr>
            <a:xfrm flipV="1">
              <a:off x="2358" y="2715"/>
              <a:ext cx="1022" cy="619"/>
            </a:xfrm>
            <a:prstGeom prst="line">
              <a:avLst/>
            </a:prstGeom>
            <a:ln w="12700" cap="flat" cmpd="sng">
              <a:solidFill>
                <a:srgbClr val="000000"/>
              </a:solidFill>
              <a:prstDash val="solid"/>
              <a:headEnd type="none" w="sm" len="sm"/>
              <a:tailEnd type="stealth" w="med" len="med"/>
            </a:ln>
          </p:spPr>
        </p:sp>
        <p:sp>
          <p:nvSpPr>
            <p:cNvPr id="79900" name="Line 15"/>
            <p:cNvSpPr/>
            <p:nvPr/>
          </p:nvSpPr>
          <p:spPr>
            <a:xfrm flipH="1" flipV="1">
              <a:off x="1875" y="2714"/>
              <a:ext cx="1020" cy="586"/>
            </a:xfrm>
            <a:prstGeom prst="line">
              <a:avLst/>
            </a:prstGeom>
            <a:ln w="12700" cap="flat" cmpd="sng">
              <a:solidFill>
                <a:srgbClr val="000000"/>
              </a:solidFill>
              <a:prstDash val="solid"/>
              <a:headEnd type="none" w="sm" len="sm"/>
              <a:tailEnd type="stealth" w="med" len="med"/>
            </a:ln>
          </p:spPr>
        </p:sp>
        <p:sp>
          <p:nvSpPr>
            <p:cNvPr id="79901" name="Line 16"/>
            <p:cNvSpPr/>
            <p:nvPr/>
          </p:nvSpPr>
          <p:spPr>
            <a:xfrm flipH="1" flipV="1">
              <a:off x="2735" y="2765"/>
              <a:ext cx="322" cy="502"/>
            </a:xfrm>
            <a:prstGeom prst="line">
              <a:avLst/>
            </a:prstGeom>
            <a:ln w="12700" cap="flat" cmpd="sng">
              <a:solidFill>
                <a:srgbClr val="000000"/>
              </a:solidFill>
              <a:prstDash val="solid"/>
              <a:headEnd type="none" w="sm" len="sm"/>
              <a:tailEnd type="stealth" w="med" len="med"/>
            </a:ln>
          </p:spPr>
        </p:sp>
        <p:sp>
          <p:nvSpPr>
            <p:cNvPr id="79902" name="Line 17"/>
            <p:cNvSpPr/>
            <p:nvPr/>
          </p:nvSpPr>
          <p:spPr>
            <a:xfrm flipV="1">
              <a:off x="3219" y="2799"/>
              <a:ext cx="287" cy="469"/>
            </a:xfrm>
            <a:prstGeom prst="line">
              <a:avLst/>
            </a:prstGeom>
            <a:ln w="12700" cap="flat" cmpd="sng">
              <a:solidFill>
                <a:srgbClr val="000000"/>
              </a:solidFill>
              <a:prstDash val="solid"/>
              <a:headEnd type="none" w="sm" len="sm"/>
              <a:tailEnd type="stealth" w="med" len="med"/>
            </a:ln>
          </p:spPr>
        </p:sp>
        <p:sp>
          <p:nvSpPr>
            <p:cNvPr id="79903" name="Line 18"/>
            <p:cNvSpPr/>
            <p:nvPr/>
          </p:nvSpPr>
          <p:spPr>
            <a:xfrm flipV="1">
              <a:off x="1606" y="1943"/>
              <a:ext cx="268" cy="519"/>
            </a:xfrm>
            <a:prstGeom prst="line">
              <a:avLst/>
            </a:prstGeom>
            <a:ln w="12700" cap="flat" cmpd="sng">
              <a:solidFill>
                <a:srgbClr val="000000"/>
              </a:solidFill>
              <a:prstDash val="solid"/>
              <a:headEnd type="none" w="sm" len="sm"/>
              <a:tailEnd type="stealth" w="med" len="med"/>
            </a:ln>
          </p:spPr>
        </p:sp>
        <p:sp>
          <p:nvSpPr>
            <p:cNvPr id="79904" name="Line 19"/>
            <p:cNvSpPr/>
            <p:nvPr/>
          </p:nvSpPr>
          <p:spPr>
            <a:xfrm flipV="1">
              <a:off x="1767" y="1940"/>
              <a:ext cx="787" cy="504"/>
            </a:xfrm>
            <a:prstGeom prst="line">
              <a:avLst/>
            </a:prstGeom>
            <a:ln w="12700" cap="flat" cmpd="sng">
              <a:solidFill>
                <a:srgbClr val="000000"/>
              </a:solidFill>
              <a:prstDash val="solid"/>
              <a:headEnd type="none" w="sm" len="sm"/>
              <a:tailEnd type="stealth" w="med" len="med"/>
            </a:ln>
          </p:spPr>
        </p:sp>
        <p:sp>
          <p:nvSpPr>
            <p:cNvPr id="79905" name="Line 20"/>
            <p:cNvSpPr/>
            <p:nvPr/>
          </p:nvSpPr>
          <p:spPr>
            <a:xfrm flipV="1">
              <a:off x="1858" y="1959"/>
              <a:ext cx="1380" cy="502"/>
            </a:xfrm>
            <a:prstGeom prst="line">
              <a:avLst/>
            </a:prstGeom>
            <a:ln w="12700" cap="flat" cmpd="sng">
              <a:solidFill>
                <a:srgbClr val="000000"/>
              </a:solidFill>
              <a:prstDash val="solid"/>
              <a:headEnd type="none" w="sm" len="sm"/>
              <a:tailEnd type="stealth" w="med" len="med"/>
            </a:ln>
          </p:spPr>
        </p:sp>
        <p:sp>
          <p:nvSpPr>
            <p:cNvPr id="79906" name="Line 21"/>
            <p:cNvSpPr/>
            <p:nvPr/>
          </p:nvSpPr>
          <p:spPr>
            <a:xfrm flipH="1" flipV="1">
              <a:off x="2017" y="1905"/>
              <a:ext cx="1342" cy="572"/>
            </a:xfrm>
            <a:prstGeom prst="line">
              <a:avLst/>
            </a:prstGeom>
            <a:ln w="12700" cap="flat" cmpd="sng">
              <a:solidFill>
                <a:srgbClr val="000000"/>
              </a:solidFill>
              <a:prstDash val="solid"/>
              <a:headEnd type="none" w="sm" len="sm"/>
              <a:tailEnd type="stealth" w="med" len="med"/>
            </a:ln>
          </p:spPr>
        </p:sp>
        <p:sp>
          <p:nvSpPr>
            <p:cNvPr id="79907" name="Line 22"/>
            <p:cNvSpPr/>
            <p:nvPr/>
          </p:nvSpPr>
          <p:spPr>
            <a:xfrm flipH="1" flipV="1">
              <a:off x="3341" y="1940"/>
              <a:ext cx="197" cy="504"/>
            </a:xfrm>
            <a:prstGeom prst="line">
              <a:avLst/>
            </a:prstGeom>
            <a:ln w="12700" cap="flat" cmpd="sng">
              <a:solidFill>
                <a:srgbClr val="000000"/>
              </a:solidFill>
              <a:prstDash val="solid"/>
              <a:headEnd type="none" w="sm" len="sm"/>
              <a:tailEnd type="stealth" w="med" len="med"/>
            </a:ln>
          </p:spPr>
        </p:sp>
        <p:sp>
          <p:nvSpPr>
            <p:cNvPr id="79908" name="Line 23"/>
            <p:cNvSpPr/>
            <p:nvPr/>
          </p:nvSpPr>
          <p:spPr>
            <a:xfrm flipH="1" flipV="1">
              <a:off x="2679" y="1990"/>
              <a:ext cx="734" cy="453"/>
            </a:xfrm>
            <a:prstGeom prst="line">
              <a:avLst/>
            </a:prstGeom>
            <a:ln w="12700" cap="flat" cmpd="sng">
              <a:solidFill>
                <a:srgbClr val="000000"/>
              </a:solidFill>
              <a:prstDash val="solid"/>
              <a:headEnd type="none" w="sm" len="sm"/>
              <a:tailEnd type="stealth" w="med" len="med"/>
            </a:ln>
          </p:spPr>
        </p:sp>
        <p:sp>
          <p:nvSpPr>
            <p:cNvPr id="79909" name="Line 24"/>
            <p:cNvSpPr/>
            <p:nvPr/>
          </p:nvSpPr>
          <p:spPr>
            <a:xfrm flipH="1" flipV="1">
              <a:off x="1965" y="1960"/>
              <a:ext cx="537" cy="469"/>
            </a:xfrm>
            <a:prstGeom prst="line">
              <a:avLst/>
            </a:prstGeom>
            <a:ln w="12700" cap="flat" cmpd="sng">
              <a:solidFill>
                <a:srgbClr val="000000"/>
              </a:solidFill>
              <a:prstDash val="solid"/>
              <a:headEnd type="none" w="sm" len="sm"/>
              <a:tailEnd type="stealth" w="med" len="med"/>
            </a:ln>
          </p:spPr>
        </p:sp>
        <p:sp>
          <p:nvSpPr>
            <p:cNvPr id="79910" name="Line 25"/>
            <p:cNvSpPr/>
            <p:nvPr/>
          </p:nvSpPr>
          <p:spPr>
            <a:xfrm flipV="1">
              <a:off x="2610" y="1977"/>
              <a:ext cx="0" cy="434"/>
            </a:xfrm>
            <a:prstGeom prst="line">
              <a:avLst/>
            </a:prstGeom>
            <a:ln w="12700" cap="flat" cmpd="sng">
              <a:solidFill>
                <a:srgbClr val="000000"/>
              </a:solidFill>
              <a:prstDash val="solid"/>
              <a:headEnd type="none" w="sm" len="sm"/>
              <a:tailEnd type="stealth" w="med" len="med"/>
            </a:ln>
          </p:spPr>
        </p:sp>
        <p:sp>
          <p:nvSpPr>
            <p:cNvPr id="79911" name="Line 26"/>
            <p:cNvSpPr/>
            <p:nvPr/>
          </p:nvSpPr>
          <p:spPr>
            <a:xfrm flipV="1">
              <a:off x="2736" y="2011"/>
              <a:ext cx="501" cy="451"/>
            </a:xfrm>
            <a:prstGeom prst="line">
              <a:avLst/>
            </a:prstGeom>
            <a:ln w="12700" cap="flat" cmpd="sng">
              <a:solidFill>
                <a:srgbClr val="000000"/>
              </a:solidFill>
              <a:prstDash val="solid"/>
              <a:headEnd type="none" w="sm" len="sm"/>
              <a:tailEnd type="stealth" w="med" len="med"/>
            </a:ln>
          </p:spPr>
        </p:sp>
        <p:sp>
          <p:nvSpPr>
            <p:cNvPr id="79912" name="Line 27"/>
            <p:cNvSpPr/>
            <p:nvPr/>
          </p:nvSpPr>
          <p:spPr>
            <a:xfrm flipV="1">
              <a:off x="2179" y="3604"/>
              <a:ext cx="0" cy="569"/>
            </a:xfrm>
            <a:prstGeom prst="line">
              <a:avLst/>
            </a:prstGeom>
            <a:ln w="12700" cap="flat" cmpd="sng">
              <a:solidFill>
                <a:srgbClr val="000000"/>
              </a:solidFill>
              <a:prstDash val="solid"/>
              <a:headEnd type="none" w="sm" len="sm"/>
              <a:tailEnd type="stealth" w="med" len="med"/>
            </a:ln>
          </p:spPr>
        </p:sp>
        <p:sp>
          <p:nvSpPr>
            <p:cNvPr id="79913" name="Line 28"/>
            <p:cNvSpPr/>
            <p:nvPr/>
          </p:nvSpPr>
          <p:spPr>
            <a:xfrm flipV="1">
              <a:off x="3075" y="3621"/>
              <a:ext cx="0" cy="568"/>
            </a:xfrm>
            <a:prstGeom prst="line">
              <a:avLst/>
            </a:prstGeom>
            <a:ln w="12700" cap="flat" cmpd="sng">
              <a:solidFill>
                <a:srgbClr val="000000"/>
              </a:solidFill>
              <a:prstDash val="solid"/>
              <a:headEnd type="none" w="sm" len="sm"/>
              <a:tailEnd type="stealth" w="med" len="med"/>
            </a:ln>
          </p:spPr>
        </p:sp>
        <p:sp>
          <p:nvSpPr>
            <p:cNvPr id="79914" name="Line 29"/>
            <p:cNvSpPr/>
            <p:nvPr/>
          </p:nvSpPr>
          <p:spPr>
            <a:xfrm flipV="1">
              <a:off x="1875" y="1088"/>
              <a:ext cx="0" cy="568"/>
            </a:xfrm>
            <a:prstGeom prst="line">
              <a:avLst/>
            </a:prstGeom>
            <a:ln w="12700" cap="flat" cmpd="sng">
              <a:solidFill>
                <a:srgbClr val="000000"/>
              </a:solidFill>
              <a:prstDash val="solid"/>
              <a:headEnd type="none" w="sm" len="sm"/>
              <a:tailEnd type="stealth" w="med" len="med"/>
            </a:ln>
          </p:spPr>
        </p:sp>
        <p:sp>
          <p:nvSpPr>
            <p:cNvPr id="79915" name="Line 30"/>
            <p:cNvSpPr/>
            <p:nvPr/>
          </p:nvSpPr>
          <p:spPr>
            <a:xfrm flipV="1">
              <a:off x="2591" y="1072"/>
              <a:ext cx="0" cy="568"/>
            </a:xfrm>
            <a:prstGeom prst="line">
              <a:avLst/>
            </a:prstGeom>
            <a:ln w="12700" cap="flat" cmpd="sng">
              <a:solidFill>
                <a:srgbClr val="000000"/>
              </a:solidFill>
              <a:prstDash val="solid"/>
              <a:headEnd type="none" w="sm" len="sm"/>
              <a:tailEnd type="stealth" w="med" len="med"/>
            </a:ln>
          </p:spPr>
        </p:sp>
        <p:sp>
          <p:nvSpPr>
            <p:cNvPr id="79916" name="Line 31"/>
            <p:cNvSpPr/>
            <p:nvPr/>
          </p:nvSpPr>
          <p:spPr>
            <a:xfrm flipV="1">
              <a:off x="3235" y="1072"/>
              <a:ext cx="0" cy="568"/>
            </a:xfrm>
            <a:prstGeom prst="line">
              <a:avLst/>
            </a:prstGeom>
            <a:ln w="12700" cap="flat" cmpd="sng">
              <a:solidFill>
                <a:srgbClr val="000000"/>
              </a:solidFill>
              <a:prstDash val="solid"/>
              <a:headEnd type="none" w="sm" len="sm"/>
              <a:tailEnd type="stealth" w="med" len="med"/>
            </a:ln>
          </p:spPr>
        </p:sp>
      </p:grpSp>
      <p:sp>
        <p:nvSpPr>
          <p:cNvPr id="79876" name="Rectangle 32"/>
          <p:cNvSpPr/>
          <p:nvPr/>
        </p:nvSpPr>
        <p:spPr>
          <a:xfrm>
            <a:off x="465138" y="2514600"/>
            <a:ext cx="1955800"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Output nodes</a:t>
            </a:r>
            <a:endParaRPr sz="2400" dirty="0">
              <a:latin typeface="Times New Roman" panose="02020603050405020304" pitchFamily="18" charset="0"/>
            </a:endParaRPr>
          </a:p>
        </p:txBody>
      </p:sp>
      <p:sp>
        <p:nvSpPr>
          <p:cNvPr id="79877" name="Rectangle 33"/>
          <p:cNvSpPr/>
          <p:nvPr/>
        </p:nvSpPr>
        <p:spPr>
          <a:xfrm>
            <a:off x="452438" y="5191125"/>
            <a:ext cx="1736725"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Input nodes</a:t>
            </a:r>
          </a:p>
        </p:txBody>
      </p:sp>
      <p:sp>
        <p:nvSpPr>
          <p:cNvPr id="79878" name="Rectangle 34"/>
          <p:cNvSpPr/>
          <p:nvPr/>
        </p:nvSpPr>
        <p:spPr>
          <a:xfrm>
            <a:off x="461963" y="3863975"/>
            <a:ext cx="1971675"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Hidden nodes</a:t>
            </a:r>
            <a:endParaRPr sz="2400" dirty="0">
              <a:latin typeface="Times New Roman" panose="02020603050405020304" pitchFamily="18" charset="0"/>
            </a:endParaRPr>
          </a:p>
        </p:txBody>
      </p:sp>
      <p:sp>
        <p:nvSpPr>
          <p:cNvPr id="79879" name="Rectangle 35"/>
          <p:cNvSpPr/>
          <p:nvPr/>
        </p:nvSpPr>
        <p:spPr>
          <a:xfrm>
            <a:off x="403225" y="1677988"/>
            <a:ext cx="2020888"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Output vector</a:t>
            </a:r>
            <a:endParaRPr sz="2400" dirty="0">
              <a:latin typeface="Times New Roman" panose="02020603050405020304" pitchFamily="18" charset="0"/>
            </a:endParaRPr>
          </a:p>
        </p:txBody>
      </p:sp>
      <p:sp>
        <p:nvSpPr>
          <p:cNvPr id="79880" name="Rectangle 36"/>
          <p:cNvSpPr/>
          <p:nvPr/>
        </p:nvSpPr>
        <p:spPr>
          <a:xfrm>
            <a:off x="417513" y="6076950"/>
            <a:ext cx="2189162"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sz="2400" b="1" dirty="0">
                <a:latin typeface="Times New Roman" panose="02020603050405020304" pitchFamily="18" charset="0"/>
              </a:rPr>
              <a:t>Input vector: </a:t>
            </a:r>
            <a:r>
              <a:rPr sz="2400" b="1" i="1" dirty="0">
                <a:latin typeface="Times New Roman" panose="02020603050405020304" pitchFamily="18" charset="0"/>
              </a:rPr>
              <a:t>x</a:t>
            </a:r>
            <a:r>
              <a:rPr sz="2400" b="1" i="1" baseline="-25000" dirty="0">
                <a:latin typeface="Times New Roman" panose="02020603050405020304" pitchFamily="18" charset="0"/>
              </a:rPr>
              <a:t>i</a:t>
            </a:r>
          </a:p>
        </p:txBody>
      </p:sp>
      <p:sp>
        <p:nvSpPr>
          <p:cNvPr id="79881" name="Rectangle 37"/>
          <p:cNvSpPr/>
          <p:nvPr/>
        </p:nvSpPr>
        <p:spPr>
          <a:xfrm>
            <a:off x="5983288" y="4521200"/>
            <a:ext cx="501650" cy="4572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i="1" dirty="0">
                <a:latin typeface="Times New Roman" panose="02020603050405020304" pitchFamily="18" charset="0"/>
              </a:rPr>
              <a:t>w</a:t>
            </a:r>
            <a:r>
              <a:rPr sz="2400" i="1" baseline="-25000" dirty="0">
                <a:latin typeface="Times New Roman" panose="02020603050405020304" pitchFamily="18" charset="0"/>
              </a:rPr>
              <a:t>ij</a:t>
            </a:r>
          </a:p>
        </p:txBody>
      </p:sp>
      <p:sp>
        <p:nvSpPr>
          <p:cNvPr id="79882" name="Freeform 38"/>
          <p:cNvSpPr/>
          <p:nvPr/>
        </p:nvSpPr>
        <p:spPr>
          <a:xfrm>
            <a:off x="5249863" y="4808538"/>
            <a:ext cx="611187" cy="160337"/>
          </a:xfrm>
          <a:custGeom>
            <a:avLst/>
            <a:gdLst>
              <a:gd name="txL" fmla="*/ 0 w 385"/>
              <a:gd name="txT" fmla="*/ 0 h 101"/>
              <a:gd name="txR" fmla="*/ 385 w 385"/>
              <a:gd name="txB" fmla="*/ 101 h 101"/>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385" h="101">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noFill/>
          <a:ln w="12700" cap="rnd" cmpd="sng">
            <a:solidFill>
              <a:srgbClr val="000000">
                <a:alpha val="100000"/>
              </a:srgbClr>
            </a:solidFill>
            <a:prstDash val="solid"/>
            <a:round/>
            <a:headEnd type="none" w="sm" len="sm"/>
            <a:tailEnd type="stealth" w="med" len="med"/>
          </a:ln>
        </p:spPr>
        <p:txBody>
          <a:bodyPr/>
          <a:lstStyle/>
          <a:p>
            <a:endParaRPr lang="en-US"/>
          </a:p>
        </p:txBody>
      </p:sp>
      <p:graphicFrame>
        <p:nvGraphicFramePr>
          <p:cNvPr id="79883" name="Object 39"/>
          <p:cNvGraphicFramePr>
            <a:graphicFrameLocks/>
          </p:cNvGraphicFramePr>
          <p:nvPr/>
        </p:nvGraphicFramePr>
        <p:xfrm>
          <a:off x="6591300" y="5448300"/>
          <a:ext cx="2095500" cy="571500"/>
        </p:xfrm>
        <a:graphic>
          <a:graphicData uri="http://schemas.openxmlformats.org/presentationml/2006/ole">
            <p:oleObj spid="_x0000_s93190" r:id="rId3" imgW="2095500" imgH="571500" progId="Equation.3">
              <p:embed/>
            </p:oleObj>
          </a:graphicData>
        </a:graphic>
      </p:graphicFrame>
      <p:graphicFrame>
        <p:nvGraphicFramePr>
          <p:cNvPr id="79884" name="Object 40"/>
          <p:cNvGraphicFramePr>
            <a:graphicFrameLocks/>
          </p:cNvGraphicFramePr>
          <p:nvPr/>
        </p:nvGraphicFramePr>
        <p:xfrm>
          <a:off x="6819900" y="4559300"/>
          <a:ext cx="1562100" cy="774700"/>
        </p:xfrm>
        <a:graphic>
          <a:graphicData uri="http://schemas.openxmlformats.org/presentationml/2006/ole">
            <p:oleObj spid="_x0000_s93189" r:id="rId4" imgW="1562100" imgH="774700" progId="Equation.3">
              <p:embed/>
            </p:oleObj>
          </a:graphicData>
        </a:graphic>
      </p:graphicFrame>
      <p:graphicFrame>
        <p:nvGraphicFramePr>
          <p:cNvPr id="79885" name="Object 41"/>
          <p:cNvGraphicFramePr>
            <a:graphicFrameLocks/>
          </p:cNvGraphicFramePr>
          <p:nvPr/>
        </p:nvGraphicFramePr>
        <p:xfrm>
          <a:off x="5905500" y="4000500"/>
          <a:ext cx="3238500" cy="419100"/>
        </p:xfrm>
        <a:graphic>
          <a:graphicData uri="http://schemas.openxmlformats.org/presentationml/2006/ole">
            <p:oleObj spid="_x0000_s93188" r:id="rId5" imgW="3238500" imgH="419100" progId="Equation.3">
              <p:embed/>
            </p:oleObj>
          </a:graphicData>
        </a:graphic>
      </p:graphicFrame>
      <p:graphicFrame>
        <p:nvGraphicFramePr>
          <p:cNvPr id="79886" name="Object 42"/>
          <p:cNvGraphicFramePr>
            <a:graphicFrameLocks/>
          </p:cNvGraphicFramePr>
          <p:nvPr/>
        </p:nvGraphicFramePr>
        <p:xfrm>
          <a:off x="5753100" y="2247900"/>
          <a:ext cx="3390900" cy="571500"/>
        </p:xfrm>
        <a:graphic>
          <a:graphicData uri="http://schemas.openxmlformats.org/presentationml/2006/ole">
            <p:oleObj spid="_x0000_s93187" r:id="rId6" imgW="3390900" imgH="571500" progId="Equation.3">
              <p:embed/>
            </p:oleObj>
          </a:graphicData>
        </a:graphic>
      </p:graphicFrame>
      <p:graphicFrame>
        <p:nvGraphicFramePr>
          <p:cNvPr id="79887" name="Object 43"/>
          <p:cNvGraphicFramePr>
            <a:graphicFrameLocks/>
          </p:cNvGraphicFramePr>
          <p:nvPr/>
        </p:nvGraphicFramePr>
        <p:xfrm>
          <a:off x="6197600" y="3467100"/>
          <a:ext cx="2413000" cy="419100"/>
        </p:xfrm>
        <a:graphic>
          <a:graphicData uri="http://schemas.openxmlformats.org/presentationml/2006/ole">
            <p:oleObj spid="_x0000_s93186" r:id="rId7" imgW="2413000" imgH="419100" progId="Equation.3">
              <p:embed/>
            </p:oleObj>
          </a:graphicData>
        </a:graphic>
      </p:graphicFrame>
      <p:graphicFrame>
        <p:nvGraphicFramePr>
          <p:cNvPr id="79888" name="Object 44"/>
          <p:cNvGraphicFramePr>
            <a:graphicFrameLocks/>
          </p:cNvGraphicFramePr>
          <p:nvPr/>
        </p:nvGraphicFramePr>
        <p:xfrm>
          <a:off x="6400800" y="2933700"/>
          <a:ext cx="2019300" cy="419100"/>
        </p:xfrm>
        <a:graphic>
          <a:graphicData uri="http://schemas.openxmlformats.org/presentationml/2006/ole">
            <p:oleObj spid="_x0000_s93185" r:id="rId8" imgW="2019300" imgH="419100" progId="Equation.3">
              <p:embed/>
            </p:oleObj>
          </a:graphicData>
        </a:graphic>
      </p:graphicFrame>
    </p:spTree>
  </p:cSld>
  <p:clrMapOvr>
    <a:masterClrMapping/>
  </p:clrMapOvr>
  <p:transition>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662" y="1047154"/>
            <a:ext cx="7886700" cy="548650"/>
          </a:xfrm>
        </p:spPr>
        <p:txBody>
          <a:bodyPr>
            <a:normAutofit fontScale="90000"/>
          </a:bodyPr>
          <a:lstStyle/>
          <a:p>
            <a:r>
              <a:rPr lang="en-GB" b="0" i="0" dirty="0">
                <a:solidFill>
                  <a:srgbClr val="610B4B"/>
                </a:solidFill>
                <a:effectLst/>
                <a:latin typeface="erdana"/>
              </a:rPr>
              <a:t>Gradient Descent learning</a:t>
            </a:r>
            <a:endParaRPr lang="en-IN" dirty="0"/>
          </a:p>
        </p:txBody>
      </p:sp>
      <p:sp>
        <p:nvSpPr>
          <p:cNvPr id="3" name="Content Placeholder 2"/>
          <p:cNvSpPr>
            <a:spLocks noGrp="1"/>
          </p:cNvSpPr>
          <p:nvPr>
            <p:ph idx="1"/>
          </p:nvPr>
        </p:nvSpPr>
        <p:spPr>
          <a:xfrm>
            <a:off x="375432" y="1709480"/>
            <a:ext cx="4914790" cy="4101365"/>
          </a:xfrm>
        </p:spPr>
        <p:txBody>
          <a:bodyPr>
            <a:normAutofit fontScale="62500" lnSpcReduction="20000"/>
          </a:bodyPr>
          <a:lstStyle/>
          <a:p>
            <a:pPr algn="just"/>
            <a:r>
              <a:rPr lang="en-IN" b="0" i="0" dirty="0">
                <a:solidFill>
                  <a:srgbClr val="000000"/>
                </a:solidFill>
                <a:effectLst/>
                <a:latin typeface="inter-regular"/>
              </a:rPr>
              <a:t> </a:t>
            </a:r>
            <a:r>
              <a:rPr lang="en-GB" b="0" i="0" dirty="0">
                <a:solidFill>
                  <a:srgbClr val="333333"/>
                </a:solidFill>
                <a:effectLst/>
                <a:latin typeface="inter-regular"/>
              </a:rPr>
              <a:t>The starting point is random point</a:t>
            </a:r>
          </a:p>
          <a:p>
            <a:pPr algn="just"/>
            <a:r>
              <a:rPr lang="en-GB" b="0" i="0" dirty="0">
                <a:solidFill>
                  <a:srgbClr val="333333"/>
                </a:solidFill>
                <a:effectLst/>
                <a:latin typeface="inter-regular"/>
              </a:rPr>
              <a:t>At starting point, derive the first derivative or slope and then use a tangent line to calculate the steepness of this slope. Further, this slope will inform the updates to the parameters (weights and bias).</a:t>
            </a:r>
          </a:p>
          <a:p>
            <a:pPr algn="just"/>
            <a:endParaRPr lang="en-GB" b="0" i="0" dirty="0">
              <a:solidFill>
                <a:srgbClr val="333333"/>
              </a:solidFill>
              <a:effectLst/>
              <a:latin typeface="inter-regular"/>
            </a:endParaRPr>
          </a:p>
          <a:p>
            <a:pPr algn="just"/>
            <a:endParaRPr lang="en-GB" b="0" i="0" dirty="0">
              <a:solidFill>
                <a:srgbClr val="333333"/>
              </a:solidFill>
              <a:effectLst/>
              <a:latin typeface="inter-regular"/>
            </a:endParaRPr>
          </a:p>
          <a:p>
            <a:pPr algn="just"/>
            <a:r>
              <a:rPr lang="en-GB" b="0" i="0" dirty="0">
                <a:solidFill>
                  <a:srgbClr val="333333"/>
                </a:solidFill>
                <a:effectLst/>
                <a:latin typeface="inter-regular"/>
              </a:rPr>
              <a:t>The slope becomes steeper at the starting point but whenever new parameters are generated, then steepness gradually reduces, and at the lowest point, it approaches the lowest point, which is called </a:t>
            </a:r>
            <a:r>
              <a:rPr lang="en-GB" b="1" i="0" dirty="0">
                <a:solidFill>
                  <a:srgbClr val="333333"/>
                </a:solidFill>
                <a:effectLst/>
                <a:latin typeface="inter-bold"/>
              </a:rPr>
              <a:t>a point of convergence.</a:t>
            </a:r>
            <a:endParaRPr lang="en-GB" b="0" i="0" dirty="0">
              <a:solidFill>
                <a:srgbClr val="333333"/>
              </a:solidFill>
              <a:effectLst/>
              <a:latin typeface="inter-regular"/>
            </a:endParaRPr>
          </a:p>
          <a:p>
            <a:pPr algn="just"/>
            <a:r>
              <a:rPr lang="en-GB" b="0" i="0" dirty="0">
                <a:solidFill>
                  <a:srgbClr val="333333"/>
                </a:solidFill>
                <a:effectLst/>
                <a:latin typeface="inter-regular"/>
              </a:rPr>
              <a:t>The main objective of gradient descent is to minimize the cost function or the error between expected and actual. </a:t>
            </a:r>
            <a:endParaRPr lang="en-IN" b="0" i="0" dirty="0">
              <a:solidFill>
                <a:srgbClr val="000000"/>
              </a:solidFill>
              <a:effectLst/>
              <a:latin typeface="inter-regular"/>
            </a:endParaRPr>
          </a:p>
          <a:p>
            <a:endParaRPr lang="en-IN" dirty="0"/>
          </a:p>
        </p:txBody>
      </p:sp>
      <p:pic>
        <p:nvPicPr>
          <p:cNvPr id="5" name="Picture 4"/>
          <p:cNvPicPr>
            <a:picLocks noChangeAspect="1"/>
          </p:cNvPicPr>
          <p:nvPr/>
        </p:nvPicPr>
        <p:blipFill>
          <a:blip r:embed="rId2" cstate="print"/>
          <a:stretch>
            <a:fillRect/>
          </a:stretch>
        </p:blipFill>
        <p:spPr>
          <a:xfrm>
            <a:off x="5668181" y="2033165"/>
            <a:ext cx="3100388" cy="2893219"/>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Slide Number Placeholder 4"/>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70</a:t>
            </a:fld>
            <a:endParaRPr lang="en-US" sz="1200" dirty="0">
              <a:latin typeface="Tahoma" panose="020B0604030504040204" pitchFamily="34" charset="0"/>
              <a:ea typeface="+mn-ea"/>
              <a:cs typeface="+mn-cs"/>
            </a:endParaRPr>
          </a:p>
        </p:txBody>
      </p:sp>
      <p:sp>
        <p:nvSpPr>
          <p:cNvPr id="80899" name="Rectangle 57"/>
          <p:cNvSpPr>
            <a:spLocks noGrp="1"/>
          </p:cNvSpPr>
          <p:nvPr>
            <p:ph type="title"/>
          </p:nvPr>
        </p:nvSpPr>
        <p:spPr/>
        <p:txBody>
          <a:bodyPr vert="horz" wrap="square" lIns="91440" tIns="45720" rIns="91440" bIns="45720" anchor="b" anchorCtr="0"/>
          <a:lstStyle/>
          <a:p>
            <a:pPr eaLnBrk="1" hangingPunct="1"/>
            <a:endParaRPr dirty="0"/>
          </a:p>
        </p:txBody>
      </p:sp>
      <p:sp>
        <p:nvSpPr>
          <p:cNvPr id="80900" name="Rectangle 5"/>
          <p:cNvSpPr>
            <a:spLocks noGrp="1"/>
          </p:cNvSpPr>
          <p:nvPr>
            <p:ph type="body" sz="half" idx="1"/>
          </p:nvPr>
        </p:nvSpPr>
        <p:spPr/>
        <p:txBody>
          <a:bodyPr vert="horz" wrap="square" lIns="91440" tIns="45720" rIns="91440" bIns="45720" anchor="t" anchorCtr="0"/>
          <a:lstStyle/>
          <a:p>
            <a:pPr eaLnBrk="1" hangingPunct="1">
              <a:buClr>
                <a:schemeClr val="folHlink"/>
              </a:buClr>
              <a:buSzPct val="60000"/>
              <a:buFont typeface="Wingdings" panose="05000000000000000000" pitchFamily="2" charset="2"/>
            </a:pPr>
            <a:r>
              <a:rPr sz="1800" dirty="0"/>
              <a:t>Given a unit j in a hidden or output layer, the net input, </a:t>
            </a:r>
          </a:p>
          <a:p>
            <a:pPr eaLnBrk="1" hangingPunct="1">
              <a:buClr>
                <a:schemeClr val="folHlink"/>
              </a:buClr>
              <a:buSzPct val="60000"/>
              <a:buFont typeface="Wingdings" panose="05000000000000000000" pitchFamily="2" charset="2"/>
              <a:buNone/>
            </a:pPr>
            <a:r>
              <a:rPr sz="1800" dirty="0"/>
              <a:t>	Ij, to unit j is:</a:t>
            </a:r>
          </a:p>
          <a:p>
            <a:pPr eaLnBrk="1" hangingPunct="1">
              <a:buClr>
                <a:schemeClr val="folHlink"/>
              </a:buClr>
              <a:buSzPct val="60000"/>
              <a:buFont typeface="Wingdings" panose="05000000000000000000" pitchFamily="2" charset="2"/>
            </a:pPr>
            <a:endParaRPr sz="1800" dirty="0"/>
          </a:p>
        </p:txBody>
      </p:sp>
      <p:sp>
        <p:nvSpPr>
          <p:cNvPr id="80901" name="Oval 6"/>
          <p:cNvSpPr/>
          <p:nvPr/>
        </p:nvSpPr>
        <p:spPr>
          <a:xfrm>
            <a:off x="3962400" y="11430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x1</a:t>
            </a:r>
          </a:p>
        </p:txBody>
      </p:sp>
      <p:sp>
        <p:nvSpPr>
          <p:cNvPr id="80902" name="Oval 7"/>
          <p:cNvSpPr/>
          <p:nvPr/>
        </p:nvSpPr>
        <p:spPr>
          <a:xfrm>
            <a:off x="3962400" y="19812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x2</a:t>
            </a:r>
          </a:p>
        </p:txBody>
      </p:sp>
      <p:sp>
        <p:nvSpPr>
          <p:cNvPr id="80903" name="Oval 8"/>
          <p:cNvSpPr/>
          <p:nvPr/>
        </p:nvSpPr>
        <p:spPr>
          <a:xfrm>
            <a:off x="3962400" y="28956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xn</a:t>
            </a:r>
          </a:p>
        </p:txBody>
      </p:sp>
      <p:sp>
        <p:nvSpPr>
          <p:cNvPr id="80904" name="Oval 9"/>
          <p:cNvSpPr/>
          <p:nvPr/>
        </p:nvSpPr>
        <p:spPr>
          <a:xfrm>
            <a:off x="5486400" y="28956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80905" name="Oval 10"/>
          <p:cNvSpPr/>
          <p:nvPr/>
        </p:nvSpPr>
        <p:spPr>
          <a:xfrm>
            <a:off x="5486400" y="19812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i</a:t>
            </a:r>
          </a:p>
        </p:txBody>
      </p:sp>
      <p:sp>
        <p:nvSpPr>
          <p:cNvPr id="80906" name="Oval 11"/>
          <p:cNvSpPr/>
          <p:nvPr/>
        </p:nvSpPr>
        <p:spPr>
          <a:xfrm>
            <a:off x="7010400" y="19812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j</a:t>
            </a:r>
          </a:p>
        </p:txBody>
      </p:sp>
      <p:sp>
        <p:nvSpPr>
          <p:cNvPr id="80907" name="Oval 12"/>
          <p:cNvSpPr/>
          <p:nvPr/>
        </p:nvSpPr>
        <p:spPr>
          <a:xfrm>
            <a:off x="7010400" y="28956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80908" name="Oval 13"/>
          <p:cNvSpPr/>
          <p:nvPr/>
        </p:nvSpPr>
        <p:spPr>
          <a:xfrm>
            <a:off x="5486400" y="11430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80909" name="Oval 14"/>
          <p:cNvSpPr/>
          <p:nvPr/>
        </p:nvSpPr>
        <p:spPr>
          <a:xfrm>
            <a:off x="7010400" y="11430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80910" name="Line 16"/>
          <p:cNvSpPr/>
          <p:nvPr/>
        </p:nvSpPr>
        <p:spPr>
          <a:xfrm>
            <a:off x="4648200" y="1447800"/>
            <a:ext cx="838200" cy="0"/>
          </a:xfrm>
          <a:prstGeom prst="line">
            <a:avLst/>
          </a:prstGeom>
          <a:ln w="9525" cap="flat" cmpd="sng">
            <a:solidFill>
              <a:srgbClr val="660033"/>
            </a:solidFill>
            <a:prstDash val="solid"/>
            <a:miter/>
            <a:headEnd type="none" w="med" len="med"/>
            <a:tailEnd type="triangle" w="med" len="med"/>
          </a:ln>
        </p:spPr>
      </p:sp>
      <p:sp>
        <p:nvSpPr>
          <p:cNvPr id="80911" name="Line 17"/>
          <p:cNvSpPr/>
          <p:nvPr/>
        </p:nvSpPr>
        <p:spPr>
          <a:xfrm>
            <a:off x="4648200" y="2286000"/>
            <a:ext cx="838200" cy="0"/>
          </a:xfrm>
          <a:prstGeom prst="line">
            <a:avLst/>
          </a:prstGeom>
          <a:ln w="9525" cap="flat" cmpd="sng">
            <a:solidFill>
              <a:srgbClr val="660033"/>
            </a:solidFill>
            <a:prstDash val="solid"/>
            <a:miter/>
            <a:headEnd type="none" w="med" len="med"/>
            <a:tailEnd type="triangle" w="med" len="med"/>
          </a:ln>
        </p:spPr>
      </p:sp>
      <p:sp>
        <p:nvSpPr>
          <p:cNvPr id="80912" name="Line 18"/>
          <p:cNvSpPr/>
          <p:nvPr/>
        </p:nvSpPr>
        <p:spPr>
          <a:xfrm>
            <a:off x="4648200" y="3200400"/>
            <a:ext cx="838200" cy="0"/>
          </a:xfrm>
          <a:prstGeom prst="line">
            <a:avLst/>
          </a:prstGeom>
          <a:ln w="9525" cap="flat" cmpd="sng">
            <a:solidFill>
              <a:srgbClr val="660033"/>
            </a:solidFill>
            <a:prstDash val="solid"/>
            <a:miter/>
            <a:headEnd type="none" w="med" len="med"/>
            <a:tailEnd type="triangle" w="med" len="med"/>
          </a:ln>
        </p:spPr>
      </p:sp>
      <p:sp>
        <p:nvSpPr>
          <p:cNvPr id="80913" name="Line 19"/>
          <p:cNvSpPr/>
          <p:nvPr/>
        </p:nvSpPr>
        <p:spPr>
          <a:xfrm>
            <a:off x="6172200" y="1447800"/>
            <a:ext cx="838200" cy="0"/>
          </a:xfrm>
          <a:prstGeom prst="line">
            <a:avLst/>
          </a:prstGeom>
          <a:ln w="9525" cap="flat" cmpd="sng">
            <a:solidFill>
              <a:srgbClr val="660033"/>
            </a:solidFill>
            <a:prstDash val="solid"/>
            <a:miter/>
            <a:headEnd type="none" w="med" len="med"/>
            <a:tailEnd type="triangle" w="med" len="med"/>
          </a:ln>
        </p:spPr>
      </p:sp>
      <p:sp>
        <p:nvSpPr>
          <p:cNvPr id="80914" name="Line 20"/>
          <p:cNvSpPr/>
          <p:nvPr/>
        </p:nvSpPr>
        <p:spPr>
          <a:xfrm>
            <a:off x="6172200" y="2286000"/>
            <a:ext cx="838200" cy="0"/>
          </a:xfrm>
          <a:prstGeom prst="line">
            <a:avLst/>
          </a:prstGeom>
          <a:ln w="9525" cap="flat" cmpd="sng">
            <a:solidFill>
              <a:srgbClr val="660033"/>
            </a:solidFill>
            <a:prstDash val="solid"/>
            <a:miter/>
            <a:headEnd type="none" w="med" len="med"/>
            <a:tailEnd type="triangle" w="med" len="med"/>
          </a:ln>
        </p:spPr>
      </p:sp>
      <p:sp>
        <p:nvSpPr>
          <p:cNvPr id="80915" name="Line 21"/>
          <p:cNvSpPr/>
          <p:nvPr/>
        </p:nvSpPr>
        <p:spPr>
          <a:xfrm>
            <a:off x="6172200" y="3200400"/>
            <a:ext cx="838200" cy="0"/>
          </a:xfrm>
          <a:prstGeom prst="line">
            <a:avLst/>
          </a:prstGeom>
          <a:ln w="9525" cap="flat" cmpd="sng">
            <a:solidFill>
              <a:srgbClr val="660033"/>
            </a:solidFill>
            <a:prstDash val="solid"/>
            <a:miter/>
            <a:headEnd type="none" w="med" len="med"/>
            <a:tailEnd type="triangle" w="med" len="med"/>
          </a:ln>
        </p:spPr>
      </p:sp>
      <p:sp>
        <p:nvSpPr>
          <p:cNvPr id="80916" name="Line 22"/>
          <p:cNvSpPr/>
          <p:nvPr/>
        </p:nvSpPr>
        <p:spPr>
          <a:xfrm flipV="1">
            <a:off x="4648200" y="2286000"/>
            <a:ext cx="762000" cy="914400"/>
          </a:xfrm>
          <a:prstGeom prst="line">
            <a:avLst/>
          </a:prstGeom>
          <a:ln w="9525" cap="flat" cmpd="sng">
            <a:solidFill>
              <a:srgbClr val="660033"/>
            </a:solidFill>
            <a:prstDash val="solid"/>
            <a:miter/>
            <a:headEnd type="none" w="med" len="med"/>
            <a:tailEnd type="triangle" w="med" len="med"/>
          </a:ln>
        </p:spPr>
      </p:sp>
      <p:sp>
        <p:nvSpPr>
          <p:cNvPr id="80917" name="Line 23"/>
          <p:cNvSpPr/>
          <p:nvPr/>
        </p:nvSpPr>
        <p:spPr>
          <a:xfrm>
            <a:off x="4648200" y="1447800"/>
            <a:ext cx="838200" cy="838200"/>
          </a:xfrm>
          <a:prstGeom prst="line">
            <a:avLst/>
          </a:prstGeom>
          <a:ln w="9525" cap="flat" cmpd="sng">
            <a:solidFill>
              <a:srgbClr val="660033"/>
            </a:solidFill>
            <a:prstDash val="solid"/>
            <a:miter/>
            <a:headEnd type="none" w="med" len="med"/>
            <a:tailEnd type="triangle" w="med" len="med"/>
          </a:ln>
        </p:spPr>
      </p:sp>
      <p:sp>
        <p:nvSpPr>
          <p:cNvPr id="80918" name="Line 24"/>
          <p:cNvSpPr/>
          <p:nvPr/>
        </p:nvSpPr>
        <p:spPr>
          <a:xfrm flipV="1">
            <a:off x="4648200" y="1447800"/>
            <a:ext cx="762000" cy="838200"/>
          </a:xfrm>
          <a:prstGeom prst="line">
            <a:avLst/>
          </a:prstGeom>
          <a:ln w="9525" cap="flat" cmpd="sng">
            <a:solidFill>
              <a:srgbClr val="660033"/>
            </a:solidFill>
            <a:prstDash val="solid"/>
            <a:miter/>
            <a:headEnd type="none" w="med" len="med"/>
            <a:tailEnd type="triangle" w="med" len="med"/>
          </a:ln>
        </p:spPr>
      </p:sp>
      <p:sp>
        <p:nvSpPr>
          <p:cNvPr id="80919" name="Line 25"/>
          <p:cNvSpPr/>
          <p:nvPr/>
        </p:nvSpPr>
        <p:spPr>
          <a:xfrm flipV="1">
            <a:off x="6172200" y="2286000"/>
            <a:ext cx="762000" cy="914400"/>
          </a:xfrm>
          <a:prstGeom prst="line">
            <a:avLst/>
          </a:prstGeom>
          <a:ln w="9525" cap="flat" cmpd="sng">
            <a:solidFill>
              <a:srgbClr val="660033"/>
            </a:solidFill>
            <a:prstDash val="solid"/>
            <a:miter/>
            <a:headEnd type="none" w="med" len="med"/>
            <a:tailEnd type="triangle" w="med" len="med"/>
          </a:ln>
        </p:spPr>
      </p:sp>
      <p:sp>
        <p:nvSpPr>
          <p:cNvPr id="80920" name="Line 26"/>
          <p:cNvSpPr/>
          <p:nvPr/>
        </p:nvSpPr>
        <p:spPr>
          <a:xfrm flipV="1">
            <a:off x="6172200" y="1447800"/>
            <a:ext cx="838200" cy="838200"/>
          </a:xfrm>
          <a:prstGeom prst="line">
            <a:avLst/>
          </a:prstGeom>
          <a:ln w="9525" cap="flat" cmpd="sng">
            <a:solidFill>
              <a:srgbClr val="660033"/>
            </a:solidFill>
            <a:prstDash val="solid"/>
            <a:miter/>
            <a:headEnd type="none" w="med" len="med"/>
            <a:tailEnd type="triangle" w="med" len="med"/>
          </a:ln>
        </p:spPr>
      </p:sp>
      <p:sp>
        <p:nvSpPr>
          <p:cNvPr id="80921" name="Line 27"/>
          <p:cNvSpPr/>
          <p:nvPr/>
        </p:nvSpPr>
        <p:spPr>
          <a:xfrm>
            <a:off x="4648200" y="2286000"/>
            <a:ext cx="838200" cy="838200"/>
          </a:xfrm>
          <a:prstGeom prst="line">
            <a:avLst/>
          </a:prstGeom>
          <a:ln w="9525" cap="flat" cmpd="sng">
            <a:solidFill>
              <a:srgbClr val="660033"/>
            </a:solidFill>
            <a:prstDash val="solid"/>
            <a:miter/>
            <a:headEnd type="none" w="med" len="med"/>
            <a:tailEnd type="triangle" w="med" len="med"/>
          </a:ln>
        </p:spPr>
      </p:sp>
      <p:sp>
        <p:nvSpPr>
          <p:cNvPr id="80922" name="Line 28"/>
          <p:cNvSpPr/>
          <p:nvPr/>
        </p:nvSpPr>
        <p:spPr>
          <a:xfrm>
            <a:off x="6172200" y="2286000"/>
            <a:ext cx="838200" cy="838200"/>
          </a:xfrm>
          <a:prstGeom prst="line">
            <a:avLst/>
          </a:prstGeom>
          <a:ln w="9525" cap="flat" cmpd="sng">
            <a:solidFill>
              <a:srgbClr val="660033"/>
            </a:solidFill>
            <a:prstDash val="solid"/>
            <a:miter/>
            <a:headEnd type="none" w="med" len="med"/>
            <a:tailEnd type="triangle" w="med" len="med"/>
          </a:ln>
        </p:spPr>
      </p:sp>
      <p:sp>
        <p:nvSpPr>
          <p:cNvPr id="80923" name="Line 29"/>
          <p:cNvSpPr/>
          <p:nvPr/>
        </p:nvSpPr>
        <p:spPr>
          <a:xfrm>
            <a:off x="6172200" y="1447800"/>
            <a:ext cx="838200" cy="838200"/>
          </a:xfrm>
          <a:prstGeom prst="line">
            <a:avLst/>
          </a:prstGeom>
          <a:ln w="9525" cap="flat" cmpd="sng">
            <a:solidFill>
              <a:srgbClr val="660033"/>
            </a:solidFill>
            <a:prstDash val="solid"/>
            <a:miter/>
            <a:headEnd type="none" w="med" len="med"/>
            <a:tailEnd type="triangle" w="med" len="med"/>
          </a:ln>
        </p:spPr>
      </p:sp>
      <p:sp>
        <p:nvSpPr>
          <p:cNvPr id="80924" name="Text Box 31"/>
          <p:cNvSpPr txBox="1"/>
          <p:nvPr/>
        </p:nvSpPr>
        <p:spPr>
          <a:xfrm>
            <a:off x="4175125" y="2514600"/>
            <a:ext cx="18415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sz="2400" dirty="0"/>
              <a:t>.</a:t>
            </a:r>
          </a:p>
          <a:p>
            <a:pPr marL="0" lvl="0" indent="0" eaLnBrk="1" hangingPunct="1">
              <a:spcBef>
                <a:spcPct val="50000"/>
              </a:spcBef>
              <a:buClrTx/>
              <a:buSzTx/>
              <a:buFontTx/>
              <a:buNone/>
            </a:pPr>
            <a:r>
              <a:rPr sz="2400" dirty="0"/>
              <a:t>.</a:t>
            </a:r>
          </a:p>
          <a:p>
            <a:pPr marL="0" lvl="0" indent="0" eaLnBrk="1" hangingPunct="1">
              <a:spcBef>
                <a:spcPct val="50000"/>
              </a:spcBef>
              <a:buClrTx/>
              <a:buSzTx/>
              <a:buFontTx/>
              <a:buNone/>
            </a:pPr>
            <a:r>
              <a:rPr sz="2400" dirty="0"/>
              <a:t>.</a:t>
            </a:r>
          </a:p>
        </p:txBody>
      </p:sp>
      <p:sp>
        <p:nvSpPr>
          <p:cNvPr id="80925" name="Oval 32"/>
          <p:cNvSpPr/>
          <p:nvPr/>
        </p:nvSpPr>
        <p:spPr>
          <a:xfrm>
            <a:off x="8534400" y="19812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k</a:t>
            </a:r>
          </a:p>
        </p:txBody>
      </p:sp>
      <p:sp>
        <p:nvSpPr>
          <p:cNvPr id="80926" name="Oval 33"/>
          <p:cNvSpPr/>
          <p:nvPr/>
        </p:nvSpPr>
        <p:spPr>
          <a:xfrm>
            <a:off x="8534400" y="28956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80927" name="Oval 34"/>
          <p:cNvSpPr/>
          <p:nvPr/>
        </p:nvSpPr>
        <p:spPr>
          <a:xfrm>
            <a:off x="8534400" y="1143000"/>
            <a:ext cx="685800" cy="609600"/>
          </a:xfrm>
          <a:prstGeom prst="ellipse">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80928" name="Line 35"/>
          <p:cNvSpPr/>
          <p:nvPr/>
        </p:nvSpPr>
        <p:spPr>
          <a:xfrm>
            <a:off x="7696200" y="1447800"/>
            <a:ext cx="838200" cy="0"/>
          </a:xfrm>
          <a:prstGeom prst="line">
            <a:avLst/>
          </a:prstGeom>
          <a:ln w="9525" cap="flat" cmpd="sng">
            <a:solidFill>
              <a:srgbClr val="660033"/>
            </a:solidFill>
            <a:prstDash val="solid"/>
            <a:miter/>
            <a:headEnd type="none" w="med" len="med"/>
            <a:tailEnd type="triangle" w="med" len="med"/>
          </a:ln>
        </p:spPr>
      </p:sp>
      <p:sp>
        <p:nvSpPr>
          <p:cNvPr id="80929" name="Line 36"/>
          <p:cNvSpPr/>
          <p:nvPr/>
        </p:nvSpPr>
        <p:spPr>
          <a:xfrm>
            <a:off x="7696200" y="2286000"/>
            <a:ext cx="838200" cy="0"/>
          </a:xfrm>
          <a:prstGeom prst="line">
            <a:avLst/>
          </a:prstGeom>
          <a:ln w="9525" cap="flat" cmpd="sng">
            <a:solidFill>
              <a:srgbClr val="660033"/>
            </a:solidFill>
            <a:prstDash val="solid"/>
            <a:miter/>
            <a:headEnd type="none" w="med" len="med"/>
            <a:tailEnd type="triangle" w="med" len="med"/>
          </a:ln>
        </p:spPr>
      </p:sp>
      <p:sp>
        <p:nvSpPr>
          <p:cNvPr id="80930" name="Line 37"/>
          <p:cNvSpPr/>
          <p:nvPr/>
        </p:nvSpPr>
        <p:spPr>
          <a:xfrm>
            <a:off x="7696200" y="3200400"/>
            <a:ext cx="838200" cy="0"/>
          </a:xfrm>
          <a:prstGeom prst="line">
            <a:avLst/>
          </a:prstGeom>
          <a:ln w="9525" cap="flat" cmpd="sng">
            <a:solidFill>
              <a:srgbClr val="660033"/>
            </a:solidFill>
            <a:prstDash val="solid"/>
            <a:miter/>
            <a:headEnd type="none" w="med" len="med"/>
            <a:tailEnd type="triangle" w="med" len="med"/>
          </a:ln>
        </p:spPr>
      </p:sp>
      <p:sp>
        <p:nvSpPr>
          <p:cNvPr id="80931" name="Line 38"/>
          <p:cNvSpPr/>
          <p:nvPr/>
        </p:nvSpPr>
        <p:spPr>
          <a:xfrm flipV="1">
            <a:off x="7696200" y="2286000"/>
            <a:ext cx="762000" cy="914400"/>
          </a:xfrm>
          <a:prstGeom prst="line">
            <a:avLst/>
          </a:prstGeom>
          <a:ln w="9525" cap="flat" cmpd="sng">
            <a:solidFill>
              <a:srgbClr val="660033"/>
            </a:solidFill>
            <a:prstDash val="solid"/>
            <a:miter/>
            <a:headEnd type="none" w="med" len="med"/>
            <a:tailEnd type="triangle" w="med" len="med"/>
          </a:ln>
        </p:spPr>
      </p:sp>
      <p:sp>
        <p:nvSpPr>
          <p:cNvPr id="80932" name="Line 39"/>
          <p:cNvSpPr/>
          <p:nvPr/>
        </p:nvSpPr>
        <p:spPr>
          <a:xfrm flipV="1">
            <a:off x="7696200" y="1447800"/>
            <a:ext cx="838200" cy="838200"/>
          </a:xfrm>
          <a:prstGeom prst="line">
            <a:avLst/>
          </a:prstGeom>
          <a:ln w="9525" cap="flat" cmpd="sng">
            <a:solidFill>
              <a:srgbClr val="660033"/>
            </a:solidFill>
            <a:prstDash val="solid"/>
            <a:miter/>
            <a:headEnd type="none" w="med" len="med"/>
            <a:tailEnd type="triangle" w="med" len="med"/>
          </a:ln>
        </p:spPr>
      </p:sp>
      <p:sp>
        <p:nvSpPr>
          <p:cNvPr id="80933" name="Line 40"/>
          <p:cNvSpPr/>
          <p:nvPr/>
        </p:nvSpPr>
        <p:spPr>
          <a:xfrm>
            <a:off x="7696200" y="2286000"/>
            <a:ext cx="838200" cy="838200"/>
          </a:xfrm>
          <a:prstGeom prst="line">
            <a:avLst/>
          </a:prstGeom>
          <a:ln w="9525" cap="flat" cmpd="sng">
            <a:solidFill>
              <a:srgbClr val="660033"/>
            </a:solidFill>
            <a:prstDash val="solid"/>
            <a:miter/>
            <a:headEnd type="none" w="med" len="med"/>
            <a:tailEnd type="triangle" w="med" len="med"/>
          </a:ln>
        </p:spPr>
      </p:sp>
      <p:sp>
        <p:nvSpPr>
          <p:cNvPr id="80934" name="Line 41"/>
          <p:cNvSpPr/>
          <p:nvPr/>
        </p:nvSpPr>
        <p:spPr>
          <a:xfrm>
            <a:off x="7696200" y="1447800"/>
            <a:ext cx="838200" cy="838200"/>
          </a:xfrm>
          <a:prstGeom prst="line">
            <a:avLst/>
          </a:prstGeom>
          <a:ln w="9525" cap="flat" cmpd="sng">
            <a:solidFill>
              <a:srgbClr val="660033"/>
            </a:solidFill>
            <a:prstDash val="solid"/>
            <a:miter/>
            <a:headEnd type="none" w="med" len="med"/>
            <a:tailEnd type="triangle" w="med" len="med"/>
          </a:ln>
        </p:spPr>
      </p:sp>
      <p:graphicFrame>
        <p:nvGraphicFramePr>
          <p:cNvPr id="80935" name="Object 42"/>
          <p:cNvGraphicFramePr>
            <a:graphicFrameLocks/>
          </p:cNvGraphicFramePr>
          <p:nvPr/>
        </p:nvGraphicFramePr>
        <p:xfrm>
          <a:off x="1143000" y="2057400"/>
          <a:ext cx="1974850" cy="533400"/>
        </p:xfrm>
        <a:graphic>
          <a:graphicData uri="http://schemas.openxmlformats.org/presentationml/2006/ole">
            <p:oleObj spid="_x0000_s97285" r:id="rId3" imgW="1091726" imgH="342751" progId="Equation.3">
              <p:embed/>
            </p:oleObj>
          </a:graphicData>
        </a:graphic>
      </p:graphicFrame>
      <p:graphicFrame>
        <p:nvGraphicFramePr>
          <p:cNvPr id="80936" name="Object 43"/>
          <p:cNvGraphicFramePr>
            <a:graphicFrameLocks/>
          </p:cNvGraphicFramePr>
          <p:nvPr/>
        </p:nvGraphicFramePr>
        <p:xfrm>
          <a:off x="3200400" y="3657600"/>
          <a:ext cx="1905000" cy="774700"/>
        </p:xfrm>
        <a:graphic>
          <a:graphicData uri="http://schemas.openxmlformats.org/presentationml/2006/ole">
            <p:oleObj spid="_x0000_s97284" r:id="rId4" imgW="1562100" imgH="774700" progId="Equation.3">
              <p:embed/>
            </p:oleObj>
          </a:graphicData>
        </a:graphic>
      </p:graphicFrame>
      <p:graphicFrame>
        <p:nvGraphicFramePr>
          <p:cNvPr id="80937" name="Object 44"/>
          <p:cNvGraphicFramePr>
            <a:graphicFrameLocks/>
          </p:cNvGraphicFramePr>
          <p:nvPr/>
        </p:nvGraphicFramePr>
        <p:xfrm>
          <a:off x="838200" y="5638800"/>
          <a:ext cx="3238500" cy="419100"/>
        </p:xfrm>
        <a:graphic>
          <a:graphicData uri="http://schemas.openxmlformats.org/presentationml/2006/ole">
            <p:oleObj spid="_x0000_s97283" r:id="rId5" imgW="3238500" imgH="419100" progId="Equation.3">
              <p:embed/>
            </p:oleObj>
          </a:graphicData>
        </a:graphic>
      </p:graphicFrame>
      <p:graphicFrame>
        <p:nvGraphicFramePr>
          <p:cNvPr id="80938" name="Object 45"/>
          <p:cNvGraphicFramePr>
            <a:graphicFrameLocks/>
          </p:cNvGraphicFramePr>
          <p:nvPr/>
        </p:nvGraphicFramePr>
        <p:xfrm>
          <a:off x="5029200" y="5638800"/>
          <a:ext cx="3390900" cy="571500"/>
        </p:xfrm>
        <a:graphic>
          <a:graphicData uri="http://schemas.openxmlformats.org/presentationml/2006/ole">
            <p:oleObj spid="_x0000_s97282" r:id="rId6" imgW="3390900" imgH="571500" progId="Equation.3">
              <p:embed/>
            </p:oleObj>
          </a:graphicData>
        </a:graphic>
      </p:graphicFrame>
      <p:sp>
        <p:nvSpPr>
          <p:cNvPr id="80939" name="Text Box 54"/>
          <p:cNvSpPr txBox="1"/>
          <p:nvPr/>
        </p:nvSpPr>
        <p:spPr>
          <a:xfrm>
            <a:off x="6400800" y="2133600"/>
            <a:ext cx="685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sz="2400" dirty="0"/>
              <a:t>w</a:t>
            </a:r>
            <a:r>
              <a:rPr sz="2400" baseline="-25000" dirty="0"/>
              <a:t>ij</a:t>
            </a:r>
          </a:p>
        </p:txBody>
      </p:sp>
      <p:sp>
        <p:nvSpPr>
          <p:cNvPr id="80940" name="Rectangle 55"/>
          <p:cNvSpPr/>
          <p:nvPr/>
        </p:nvSpPr>
        <p:spPr>
          <a:xfrm>
            <a:off x="381000" y="2743200"/>
            <a:ext cx="2667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sz="2400" dirty="0"/>
              <a:t>=Bias(threshold)</a:t>
            </a:r>
          </a:p>
        </p:txBody>
      </p:sp>
      <p:graphicFrame>
        <p:nvGraphicFramePr>
          <p:cNvPr id="80941" name="Object 56"/>
          <p:cNvGraphicFramePr>
            <a:graphicFrameLocks/>
          </p:cNvGraphicFramePr>
          <p:nvPr>
            <p:ph sz="half" idx="2"/>
          </p:nvPr>
        </p:nvGraphicFramePr>
        <p:xfrm>
          <a:off x="165100" y="2667000"/>
          <a:ext cx="520700" cy="533400"/>
        </p:xfrm>
        <a:graphic>
          <a:graphicData uri="http://schemas.openxmlformats.org/presentationml/2006/ole">
            <p:oleObj spid="_x0000_s97281" r:id="rId7" imgW="164957" imgH="241091" progId="Equation.3">
              <p:embed/>
            </p:oleObj>
          </a:graphicData>
        </a:graphic>
      </p:graphicFrame>
      <p:sp>
        <p:nvSpPr>
          <p:cNvPr id="80942" name="Text Box 60"/>
          <p:cNvSpPr txBox="1"/>
          <p:nvPr/>
        </p:nvSpPr>
        <p:spPr>
          <a:xfrm>
            <a:off x="228600" y="3386138"/>
            <a:ext cx="3124200" cy="13287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50000"/>
              </a:spcBef>
              <a:buClrTx/>
              <a:buSzTx/>
              <a:buFontTx/>
              <a:buNone/>
            </a:pPr>
            <a:r>
              <a:rPr sz="1800" dirty="0"/>
              <a:t>Given the net input Ij to unit j, then Oj, the output of unit j, is computed as:</a:t>
            </a:r>
          </a:p>
          <a:p>
            <a:pPr marL="0" lvl="0" indent="0" eaLnBrk="1" hangingPunct="1">
              <a:spcBef>
                <a:spcPct val="50000"/>
              </a:spcBef>
              <a:buClrTx/>
              <a:buSzTx/>
              <a:buFontTx/>
              <a:buNone/>
            </a:pPr>
            <a:endParaRPr sz="1800" dirty="0"/>
          </a:p>
        </p:txBody>
      </p:sp>
      <p:sp>
        <p:nvSpPr>
          <p:cNvPr id="80943" name="Text Box 61"/>
          <p:cNvSpPr txBox="1"/>
          <p:nvPr/>
        </p:nvSpPr>
        <p:spPr>
          <a:xfrm>
            <a:off x="152400" y="4419600"/>
            <a:ext cx="8534400" cy="174466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dirty="0"/>
              <a:t>Backpropagate the error. The error is propagated backwards by updating the weights and biases to reflect the error of the network's prediction. Tj=true o/p</a:t>
            </a:r>
          </a:p>
          <a:p>
            <a:pPr marL="0" lvl="0" indent="0" eaLnBrk="1" hangingPunct="1">
              <a:spcBef>
                <a:spcPct val="50000"/>
              </a:spcBef>
              <a:buClrTx/>
              <a:buSzTx/>
              <a:buFontTx/>
              <a:buNone/>
            </a:pPr>
            <a:endParaRPr sz="2400" dirty="0"/>
          </a:p>
        </p:txBody>
      </p:sp>
      <p:sp>
        <p:nvSpPr>
          <p:cNvPr id="80944" name="AutoShape 62"/>
          <p:cNvSpPr/>
          <p:nvPr/>
        </p:nvSpPr>
        <p:spPr>
          <a:xfrm>
            <a:off x="4267200" y="5867400"/>
            <a:ext cx="609600" cy="228600"/>
          </a:xfrm>
          <a:prstGeom prst="rightArrow">
            <a:avLst>
              <a:gd name="adj1" fmla="val 50000"/>
              <a:gd name="adj2" fmla="val 66666"/>
            </a:avLst>
          </a:prstGeom>
          <a:noFill/>
          <a:ln w="9525" cap="flat" cmpd="sng">
            <a:solidFill>
              <a:srgbClr val="6600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657350" y="1085850"/>
            <a:ext cx="6057900" cy="685800"/>
          </a:xfrm>
        </p:spPr>
        <p:txBody>
          <a:bodyPr/>
          <a:lstStyle/>
          <a:p>
            <a:pPr eaLnBrk="1" hangingPunct="1"/>
            <a:r>
              <a:rPr lang="en-US" altLang="en-US" sz="3000" dirty="0"/>
              <a:t>Training Algorithm: Backpropagation</a:t>
            </a:r>
            <a:r>
              <a:rPr lang="en-US" altLang="en-US" sz="2175" dirty="0"/>
              <a:t>  </a:t>
            </a:r>
            <a:r>
              <a:rPr lang="en-US" altLang="en-US" dirty="0"/>
              <a:t> </a:t>
            </a:r>
          </a:p>
        </p:txBody>
      </p:sp>
      <p:sp>
        <p:nvSpPr>
          <p:cNvPr id="44035" name="Rectangle 3"/>
          <p:cNvSpPr>
            <a:spLocks noGrp="1" noChangeArrowheads="1"/>
          </p:cNvSpPr>
          <p:nvPr>
            <p:ph type="body" idx="1"/>
          </p:nvPr>
        </p:nvSpPr>
        <p:spPr>
          <a:xfrm>
            <a:off x="1657350" y="2057400"/>
            <a:ext cx="6057900" cy="3314700"/>
          </a:xfrm>
        </p:spPr>
        <p:txBody>
          <a:bodyPr/>
          <a:lstStyle/>
          <a:p>
            <a:pPr algn="just" eaLnBrk="1" hangingPunct="1">
              <a:lnSpc>
                <a:spcPct val="80000"/>
              </a:lnSpc>
              <a:buClr>
                <a:schemeClr val="tx1"/>
              </a:buClr>
              <a:buSzTx/>
              <a:buFont typeface="Arial" panose="020B0604020202020204" pitchFamily="34" charset="0"/>
              <a:buChar char="●"/>
            </a:pPr>
            <a:r>
              <a:rPr lang="en-US" altLang="en-US" sz="1800"/>
              <a:t>The Backpropagation  algorithm learns in the same way as single perceptron.</a:t>
            </a:r>
          </a:p>
          <a:p>
            <a:pPr algn="just" eaLnBrk="1" hangingPunct="1">
              <a:lnSpc>
                <a:spcPct val="80000"/>
              </a:lnSpc>
              <a:buClr>
                <a:schemeClr val="tx1"/>
              </a:buClr>
              <a:buSzTx/>
              <a:buFont typeface="Arial" panose="020B0604020202020204" pitchFamily="34" charset="0"/>
              <a:buChar char="●"/>
            </a:pPr>
            <a:r>
              <a:rPr lang="en-US" altLang="en-US" sz="1800"/>
              <a:t>It searches for weight values that minimize the total error of the network over the set of training examples (training set).</a:t>
            </a:r>
          </a:p>
          <a:p>
            <a:pPr algn="just" eaLnBrk="1" hangingPunct="1">
              <a:lnSpc>
                <a:spcPct val="80000"/>
              </a:lnSpc>
              <a:buClr>
                <a:schemeClr val="tx1"/>
              </a:buClr>
              <a:buSzTx/>
              <a:buFont typeface="Arial" panose="020B0604020202020204" pitchFamily="34" charset="0"/>
              <a:buChar char="●"/>
            </a:pPr>
            <a:r>
              <a:rPr lang="en-US" altLang="en-US" sz="1800"/>
              <a:t>Backpropagation consists of the repeated application of the following two passes:</a:t>
            </a:r>
          </a:p>
          <a:p>
            <a:pPr lvl="1" algn="just" eaLnBrk="1" hangingPunct="1">
              <a:lnSpc>
                <a:spcPct val="80000"/>
              </a:lnSpc>
              <a:buClr>
                <a:schemeClr val="tx1"/>
              </a:buClr>
              <a:buSzTx/>
              <a:buFont typeface="Arial" panose="020B0604020202020204" pitchFamily="34" charset="0"/>
              <a:buChar char="−"/>
            </a:pPr>
            <a:r>
              <a:rPr lang="en-US" altLang="en-US" sz="1500" b="1"/>
              <a:t>Forward pass</a:t>
            </a:r>
            <a:r>
              <a:rPr lang="en-US" altLang="en-US" sz="1500"/>
              <a:t>: In this step, the network is activated on one example and the error of (each neuron of) the output layer is computed.</a:t>
            </a:r>
          </a:p>
          <a:p>
            <a:pPr lvl="1" algn="just" eaLnBrk="1" hangingPunct="1">
              <a:lnSpc>
                <a:spcPct val="80000"/>
              </a:lnSpc>
              <a:buClr>
                <a:schemeClr val="tx1"/>
              </a:buClr>
              <a:buSzTx/>
              <a:buFont typeface="Arial" panose="020B0604020202020204" pitchFamily="34" charset="0"/>
              <a:buChar char="−"/>
            </a:pPr>
            <a:r>
              <a:rPr lang="en-US" altLang="en-US" sz="1500" b="1"/>
              <a:t>Backward pass</a:t>
            </a:r>
            <a:r>
              <a:rPr lang="en-US" altLang="en-US" sz="1500"/>
              <a:t>: in this step the network error is used for updating the weights. The error is propagated backwards from the output layer through the network layer by layer. This is done by recursively computing the </a:t>
            </a:r>
            <a:r>
              <a:rPr lang="en-US" altLang="en-US" sz="1500">
                <a:sym typeface="Symbol" panose="05050102010706020507" pitchFamily="18" charset="2"/>
              </a:rPr>
              <a:t>local gradient of each neuron.</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600200" y="971550"/>
            <a:ext cx="6057900"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50">
                <a:solidFill>
                  <a:schemeClr val="tx2"/>
                </a:solidFill>
                <a:latin typeface="Times New Roman" panose="02020603050405020304" pitchFamily="18" charset="0"/>
              </a:rPr>
              <a:t>Backpropagation </a:t>
            </a:r>
          </a:p>
        </p:txBody>
      </p:sp>
      <p:sp>
        <p:nvSpPr>
          <p:cNvPr id="45059" name="Rectangle 3"/>
          <p:cNvSpPr>
            <a:spLocks noChangeArrowheads="1"/>
          </p:cNvSpPr>
          <p:nvPr/>
        </p:nvSpPr>
        <p:spPr bwMode="auto">
          <a:xfrm>
            <a:off x="1543050" y="2114550"/>
            <a:ext cx="6229350" cy="3200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tx1"/>
              </a:buClr>
              <a:buFont typeface="Arial" panose="020B0604020202020204" pitchFamily="34" charset="0"/>
              <a:buChar char="●"/>
            </a:pPr>
            <a:r>
              <a:rPr lang="en-US" altLang="en-US" sz="1800"/>
              <a:t>Back-propagation training algorithm</a:t>
            </a:r>
            <a:endParaRPr lang="en-US" altLang="en-US" sz="2100"/>
          </a:p>
          <a:p>
            <a:pPr eaLnBrk="1" hangingPunct="1">
              <a:spcBef>
                <a:spcPct val="20000"/>
              </a:spcBef>
              <a:buClr>
                <a:schemeClr val="folHlink"/>
              </a:buClr>
              <a:buSzPct val="90000"/>
              <a:buFont typeface="Wingdings" panose="05000000000000000000" pitchFamily="2" charset="2"/>
              <a:buChar char="n"/>
            </a:pPr>
            <a:endParaRPr lang="en-US" altLang="en-US" sz="2100"/>
          </a:p>
          <a:p>
            <a:pPr eaLnBrk="1" hangingPunct="1">
              <a:spcBef>
                <a:spcPct val="20000"/>
              </a:spcBef>
              <a:buClr>
                <a:schemeClr val="folHlink"/>
              </a:buClr>
              <a:buSzPct val="90000"/>
              <a:buFont typeface="Wingdings" panose="05000000000000000000" pitchFamily="2" charset="2"/>
              <a:buChar char="n"/>
            </a:pPr>
            <a:endParaRPr lang="en-US" altLang="en-US" sz="2100"/>
          </a:p>
          <a:p>
            <a:pPr eaLnBrk="1" hangingPunct="1">
              <a:spcBef>
                <a:spcPct val="20000"/>
              </a:spcBef>
              <a:buClr>
                <a:schemeClr val="folHlink"/>
              </a:buClr>
              <a:buSzPct val="90000"/>
              <a:buFont typeface="Wingdings" panose="05000000000000000000" pitchFamily="2" charset="2"/>
              <a:buChar char="n"/>
            </a:pPr>
            <a:endParaRPr lang="en-US" altLang="en-US" sz="2100"/>
          </a:p>
          <a:p>
            <a:pPr eaLnBrk="1" hangingPunct="1">
              <a:spcBef>
                <a:spcPct val="20000"/>
              </a:spcBef>
              <a:buClr>
                <a:schemeClr val="folHlink"/>
              </a:buClr>
              <a:buSzPct val="90000"/>
              <a:buFont typeface="Wingdings" panose="05000000000000000000" pitchFamily="2" charset="2"/>
              <a:buChar char="n"/>
            </a:pPr>
            <a:endParaRPr lang="en-US" altLang="en-US" sz="2100"/>
          </a:p>
          <a:p>
            <a:pPr eaLnBrk="1" hangingPunct="1">
              <a:spcBef>
                <a:spcPct val="20000"/>
              </a:spcBef>
              <a:buClr>
                <a:schemeClr val="folHlink"/>
              </a:buClr>
              <a:buSzPct val="90000"/>
              <a:buFont typeface="Wingdings" panose="05000000000000000000" pitchFamily="2" charset="2"/>
              <a:buChar char="n"/>
            </a:pPr>
            <a:endParaRPr lang="en-US" altLang="en-US" sz="2100"/>
          </a:p>
          <a:p>
            <a:pPr eaLnBrk="1" hangingPunct="1">
              <a:spcBef>
                <a:spcPct val="20000"/>
              </a:spcBef>
              <a:buClr>
                <a:schemeClr val="folHlink"/>
              </a:buClr>
              <a:buSzPct val="90000"/>
              <a:buFont typeface="Wingdings" panose="05000000000000000000" pitchFamily="2" charset="2"/>
              <a:buChar char="n"/>
            </a:pPr>
            <a:endParaRPr lang="en-US" altLang="en-US" sz="1500"/>
          </a:p>
          <a:p>
            <a:pPr eaLnBrk="1" hangingPunct="1">
              <a:spcBef>
                <a:spcPct val="20000"/>
              </a:spcBef>
              <a:buClr>
                <a:schemeClr val="tx1"/>
              </a:buClr>
              <a:buFont typeface="Arial" panose="020B0604020202020204" pitchFamily="34" charset="0"/>
              <a:buChar char="●"/>
            </a:pPr>
            <a:r>
              <a:rPr lang="en-US" altLang="en-US" sz="1800"/>
              <a:t>Backpropagation adjusts the weights of the NN in order to minimize the network total mean squared error.</a:t>
            </a:r>
          </a:p>
        </p:txBody>
      </p:sp>
      <p:cxnSp>
        <p:nvCxnSpPr>
          <p:cNvPr id="45060" name="AutoShape 5"/>
          <p:cNvCxnSpPr>
            <a:cxnSpLocks noChangeShapeType="1"/>
            <a:stCxn id="45059" idx="0"/>
            <a:endCxn id="45059" idx="0"/>
          </p:cNvCxnSpPr>
          <p:nvPr/>
        </p:nvCxnSpPr>
        <p:spPr bwMode="auto">
          <a:xfrm>
            <a:off x="4657725" y="2114550"/>
            <a:ext cx="0" cy="0"/>
          </a:xfrm>
          <a:prstGeom prst="straightConnector1">
            <a:avLst/>
          </a:prstGeom>
          <a:noFill/>
          <a:ln w="9525">
            <a:solidFill>
              <a:schemeClr val="tx1"/>
            </a:solidFill>
            <a:round/>
          </a:ln>
          <a:extLst>
            <a:ext uri="{909E8E84-426E-40DD-AFC4-6F175D3DCCD1}">
              <a14:hiddenFill xmlns:a14="http://schemas.microsoft.com/office/drawing/2010/main" xmlns="">
                <a:noFill/>
              </a14:hiddenFill>
            </a:ext>
          </a:extLst>
        </p:spPr>
      </p:cxnSp>
      <p:sp>
        <p:nvSpPr>
          <p:cNvPr id="45061" name="Oval 6"/>
          <p:cNvSpPr>
            <a:spLocks noChangeArrowheads="1"/>
          </p:cNvSpPr>
          <p:nvPr/>
        </p:nvSpPr>
        <p:spPr bwMode="auto">
          <a:xfrm>
            <a:off x="2800350" y="2628900"/>
            <a:ext cx="285750" cy="342900"/>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45062" name="Oval 7"/>
          <p:cNvSpPr>
            <a:spLocks noChangeArrowheads="1"/>
          </p:cNvSpPr>
          <p:nvPr/>
        </p:nvSpPr>
        <p:spPr bwMode="auto">
          <a:xfrm>
            <a:off x="2800350" y="3200400"/>
            <a:ext cx="285750" cy="342900"/>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45063" name="Oval 8"/>
          <p:cNvSpPr>
            <a:spLocks noChangeArrowheads="1"/>
          </p:cNvSpPr>
          <p:nvPr/>
        </p:nvSpPr>
        <p:spPr bwMode="auto">
          <a:xfrm>
            <a:off x="2800350" y="3771900"/>
            <a:ext cx="285750" cy="342900"/>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45064" name="Oval 9"/>
          <p:cNvSpPr>
            <a:spLocks noChangeArrowheads="1"/>
          </p:cNvSpPr>
          <p:nvPr/>
        </p:nvSpPr>
        <p:spPr bwMode="auto">
          <a:xfrm>
            <a:off x="4171950" y="3200400"/>
            <a:ext cx="285750" cy="342900"/>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800"/>
          </a:p>
        </p:txBody>
      </p:sp>
      <p:sp>
        <p:nvSpPr>
          <p:cNvPr id="45065" name="Line 10"/>
          <p:cNvSpPr>
            <a:spLocks noChangeShapeType="1"/>
          </p:cNvSpPr>
          <p:nvPr/>
        </p:nvSpPr>
        <p:spPr bwMode="auto">
          <a:xfrm>
            <a:off x="2400300" y="2743200"/>
            <a:ext cx="400050" cy="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66" name="Line 11"/>
          <p:cNvSpPr>
            <a:spLocks noChangeShapeType="1"/>
          </p:cNvSpPr>
          <p:nvPr/>
        </p:nvSpPr>
        <p:spPr bwMode="auto">
          <a:xfrm>
            <a:off x="2400300" y="3314700"/>
            <a:ext cx="400050" cy="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67" name="Line 12"/>
          <p:cNvSpPr>
            <a:spLocks noChangeShapeType="1"/>
          </p:cNvSpPr>
          <p:nvPr/>
        </p:nvSpPr>
        <p:spPr bwMode="auto">
          <a:xfrm>
            <a:off x="2400300" y="3886200"/>
            <a:ext cx="400050" cy="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68" name="Line 13"/>
          <p:cNvSpPr>
            <a:spLocks noChangeShapeType="1"/>
          </p:cNvSpPr>
          <p:nvPr/>
        </p:nvSpPr>
        <p:spPr bwMode="auto">
          <a:xfrm>
            <a:off x="3086100" y="2743200"/>
            <a:ext cx="628650" cy="0"/>
          </a:xfrm>
          <a:prstGeom prst="line">
            <a:avLst/>
          </a:prstGeom>
          <a:noFill/>
          <a:ln w="28575">
            <a:solidFill>
              <a:srgbClr val="009900"/>
            </a:solidFill>
            <a:roun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69" name="Line 14"/>
          <p:cNvSpPr>
            <a:spLocks noChangeShapeType="1"/>
          </p:cNvSpPr>
          <p:nvPr/>
        </p:nvSpPr>
        <p:spPr bwMode="auto">
          <a:xfrm>
            <a:off x="3086100" y="3886200"/>
            <a:ext cx="628650" cy="0"/>
          </a:xfrm>
          <a:prstGeom prst="line">
            <a:avLst/>
          </a:prstGeom>
          <a:noFill/>
          <a:ln w="28575">
            <a:solidFill>
              <a:srgbClr val="009900"/>
            </a:solidFill>
            <a:round/>
          </a:ln>
          <a:extLst>
            <a:ext uri="{909E8E84-426E-40DD-AFC4-6F175D3DCCD1}">
              <a14:hiddenFill xmlns:a14="http://schemas.microsoft.com/office/drawing/2010/main" xmlns="">
                <a:noFill/>
              </a14:hiddenFill>
            </a:ext>
          </a:extLst>
        </p:spPr>
        <p:txBody>
          <a:bodyPr wrap="none" anchor="ctr"/>
          <a:lstStyle/>
          <a:p>
            <a:endParaRPr lang="en-IN" sz="1800"/>
          </a:p>
        </p:txBody>
      </p:sp>
      <p:cxnSp>
        <p:nvCxnSpPr>
          <p:cNvPr id="45070" name="AutoShape 15"/>
          <p:cNvCxnSpPr>
            <a:cxnSpLocks noChangeShapeType="1"/>
            <a:stCxn id="45069" idx="1"/>
            <a:endCxn id="45064" idx="3"/>
          </p:cNvCxnSpPr>
          <p:nvPr/>
        </p:nvCxnSpPr>
        <p:spPr bwMode="auto">
          <a:xfrm flipV="1">
            <a:off x="3714751" y="3493295"/>
            <a:ext cx="498872" cy="403622"/>
          </a:xfrm>
          <a:prstGeom prst="straightConnector1">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cxnSp>
      <p:sp>
        <p:nvSpPr>
          <p:cNvPr id="45071" name="Line 16"/>
          <p:cNvSpPr>
            <a:spLocks noChangeShapeType="1"/>
          </p:cNvSpPr>
          <p:nvPr/>
        </p:nvSpPr>
        <p:spPr bwMode="auto">
          <a:xfrm flipH="1">
            <a:off x="4457700" y="3429000"/>
            <a:ext cx="4000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2" name="Line 17"/>
          <p:cNvSpPr>
            <a:spLocks noChangeShapeType="1"/>
          </p:cNvSpPr>
          <p:nvPr/>
        </p:nvSpPr>
        <p:spPr bwMode="auto">
          <a:xfrm flipH="1">
            <a:off x="2400300" y="2857500"/>
            <a:ext cx="4000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3" name="Line 18"/>
          <p:cNvSpPr>
            <a:spLocks noChangeShapeType="1"/>
          </p:cNvSpPr>
          <p:nvPr/>
        </p:nvSpPr>
        <p:spPr bwMode="auto">
          <a:xfrm flipH="1">
            <a:off x="2400300" y="3429000"/>
            <a:ext cx="4000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4" name="Line 19"/>
          <p:cNvSpPr>
            <a:spLocks noChangeShapeType="1"/>
          </p:cNvSpPr>
          <p:nvPr/>
        </p:nvSpPr>
        <p:spPr bwMode="auto">
          <a:xfrm flipH="1">
            <a:off x="2400300" y="4000500"/>
            <a:ext cx="4000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5" name="Line 20"/>
          <p:cNvSpPr>
            <a:spLocks noChangeShapeType="1"/>
          </p:cNvSpPr>
          <p:nvPr/>
        </p:nvSpPr>
        <p:spPr bwMode="auto">
          <a:xfrm flipH="1">
            <a:off x="3714750" y="3543300"/>
            <a:ext cx="514350" cy="457200"/>
          </a:xfrm>
          <a:prstGeom prst="line">
            <a:avLst/>
          </a:prstGeom>
          <a:noFill/>
          <a:ln w="28575">
            <a:solidFill>
              <a:schemeClr val="tx2"/>
            </a:solidFill>
            <a:prstDash val="sysDot"/>
            <a:roun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6" name="Line 21"/>
          <p:cNvSpPr>
            <a:spLocks noChangeShapeType="1"/>
          </p:cNvSpPr>
          <p:nvPr/>
        </p:nvSpPr>
        <p:spPr bwMode="auto">
          <a:xfrm flipH="1">
            <a:off x="3086100" y="3429000"/>
            <a:ext cx="10858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7" name="Line 22"/>
          <p:cNvSpPr>
            <a:spLocks noChangeShapeType="1"/>
          </p:cNvSpPr>
          <p:nvPr/>
        </p:nvSpPr>
        <p:spPr bwMode="auto">
          <a:xfrm>
            <a:off x="3086100" y="3314700"/>
            <a:ext cx="1085850" cy="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8" name="Line 23"/>
          <p:cNvSpPr>
            <a:spLocks noChangeShapeType="1"/>
          </p:cNvSpPr>
          <p:nvPr/>
        </p:nvSpPr>
        <p:spPr bwMode="auto">
          <a:xfrm flipH="1">
            <a:off x="3086100" y="4000500"/>
            <a:ext cx="6286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79" name="Line 24"/>
          <p:cNvSpPr>
            <a:spLocks noChangeShapeType="1"/>
          </p:cNvSpPr>
          <p:nvPr/>
        </p:nvSpPr>
        <p:spPr bwMode="auto">
          <a:xfrm>
            <a:off x="3714750" y="2743200"/>
            <a:ext cx="571500" cy="45720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80" name="Line 25"/>
          <p:cNvSpPr>
            <a:spLocks noChangeShapeType="1"/>
          </p:cNvSpPr>
          <p:nvPr/>
        </p:nvSpPr>
        <p:spPr bwMode="auto">
          <a:xfrm flipH="1" flipV="1">
            <a:off x="3714750" y="2857500"/>
            <a:ext cx="514350" cy="400050"/>
          </a:xfrm>
          <a:prstGeom prst="line">
            <a:avLst/>
          </a:prstGeom>
          <a:noFill/>
          <a:ln w="28575">
            <a:solidFill>
              <a:schemeClr val="tx2"/>
            </a:solidFill>
            <a:prstDash val="sysDot"/>
            <a:roun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81" name="Line 26"/>
          <p:cNvSpPr>
            <a:spLocks noChangeShapeType="1"/>
          </p:cNvSpPr>
          <p:nvPr/>
        </p:nvSpPr>
        <p:spPr bwMode="auto">
          <a:xfrm flipH="1">
            <a:off x="3086100" y="2857500"/>
            <a:ext cx="6286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82" name="Line 27"/>
          <p:cNvSpPr>
            <a:spLocks noChangeShapeType="1"/>
          </p:cNvSpPr>
          <p:nvPr/>
        </p:nvSpPr>
        <p:spPr bwMode="auto">
          <a:xfrm>
            <a:off x="4457700" y="3314700"/>
            <a:ext cx="400050" cy="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83" name="Line 28"/>
          <p:cNvSpPr>
            <a:spLocks noChangeShapeType="1"/>
          </p:cNvSpPr>
          <p:nvPr/>
        </p:nvSpPr>
        <p:spPr bwMode="auto">
          <a:xfrm>
            <a:off x="5429250" y="2971800"/>
            <a:ext cx="400050" cy="0"/>
          </a:xfrm>
          <a:prstGeom prst="line">
            <a:avLst/>
          </a:prstGeom>
          <a:noFill/>
          <a:ln w="28575">
            <a:solidFill>
              <a:srgbClr val="009900"/>
            </a:solidFill>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
        <p:nvSpPr>
          <p:cNvPr id="45084" name="Text Box 29"/>
          <p:cNvSpPr txBox="1">
            <a:spLocks noChangeArrowheads="1"/>
          </p:cNvSpPr>
          <p:nvPr/>
        </p:nvSpPr>
        <p:spPr bwMode="auto">
          <a:xfrm>
            <a:off x="5886450" y="2658667"/>
            <a:ext cx="2114550" cy="645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800" i="1">
                <a:solidFill>
                  <a:srgbClr val="009900"/>
                </a:solidFill>
                <a:latin typeface="Times New Roman" panose="02020603050405020304" pitchFamily="18" charset="0"/>
              </a:rPr>
              <a:t>Network activation</a:t>
            </a:r>
          </a:p>
          <a:p>
            <a:r>
              <a:rPr lang="en-US" altLang="en-US" sz="1800" i="1">
                <a:solidFill>
                  <a:srgbClr val="009900"/>
                </a:solidFill>
                <a:latin typeface="Times New Roman" panose="02020603050405020304" pitchFamily="18" charset="0"/>
              </a:rPr>
              <a:t>Forward Step</a:t>
            </a:r>
            <a:endParaRPr lang="en-US" altLang="en-US" sz="1800">
              <a:latin typeface="Times New Roman" panose="02020603050405020304" pitchFamily="18" charset="0"/>
            </a:endParaRPr>
          </a:p>
        </p:txBody>
      </p:sp>
      <p:sp>
        <p:nvSpPr>
          <p:cNvPr id="45085" name="Text Box 30"/>
          <p:cNvSpPr txBox="1">
            <a:spLocks noChangeArrowheads="1"/>
          </p:cNvSpPr>
          <p:nvPr/>
        </p:nvSpPr>
        <p:spPr bwMode="auto">
          <a:xfrm>
            <a:off x="5829300" y="3486151"/>
            <a:ext cx="1943100" cy="9220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1800">
              <a:latin typeface="Times New Roman" panose="02020603050405020304" pitchFamily="18" charset="0"/>
            </a:endParaRPr>
          </a:p>
          <a:p>
            <a:r>
              <a:rPr lang="en-US" altLang="en-US" sz="1800" i="1">
                <a:solidFill>
                  <a:schemeClr val="tx2"/>
                </a:solidFill>
                <a:latin typeface="Times New Roman" panose="02020603050405020304" pitchFamily="18" charset="0"/>
              </a:rPr>
              <a:t>Error propagation</a:t>
            </a:r>
          </a:p>
          <a:p>
            <a:r>
              <a:rPr lang="en-US" altLang="en-US" sz="1800" i="1">
                <a:solidFill>
                  <a:schemeClr val="tx2"/>
                </a:solidFill>
                <a:latin typeface="Times New Roman" panose="02020603050405020304" pitchFamily="18" charset="0"/>
              </a:rPr>
              <a:t>Backward Step</a:t>
            </a:r>
            <a:endParaRPr lang="en-US" altLang="en-US" sz="1800">
              <a:latin typeface="Times New Roman" panose="02020603050405020304" pitchFamily="18" charset="0"/>
            </a:endParaRPr>
          </a:p>
        </p:txBody>
      </p:sp>
      <p:sp>
        <p:nvSpPr>
          <p:cNvPr id="45086" name="Line 31"/>
          <p:cNvSpPr>
            <a:spLocks noChangeShapeType="1"/>
          </p:cNvSpPr>
          <p:nvPr/>
        </p:nvSpPr>
        <p:spPr bwMode="auto">
          <a:xfrm flipH="1">
            <a:off x="5372100" y="3943350"/>
            <a:ext cx="400050" cy="0"/>
          </a:xfrm>
          <a:prstGeom prst="line">
            <a:avLst/>
          </a:prstGeom>
          <a:noFill/>
          <a:ln w="28575">
            <a:solidFill>
              <a:schemeClr val="tx2"/>
            </a:solidFill>
            <a:prstDash val="sysDot"/>
            <a:round/>
            <a:tailEnd type="triangle" w="med" len="med"/>
          </a:ln>
          <a:extLst>
            <a:ext uri="{909E8E84-426E-40DD-AFC4-6F175D3DCCD1}">
              <a14:hiddenFill xmlns:a14="http://schemas.microsoft.com/office/drawing/2010/main" xmlns="">
                <a:noFill/>
              </a14:hiddenFill>
            </a:ext>
          </a:extLst>
        </p:spPr>
        <p:txBody>
          <a:bodyPr wrap="none" anchor="ctr"/>
          <a:lstStyle/>
          <a:p>
            <a:endParaRPr lang="en-IN" sz="180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657350" y="1085850"/>
            <a:ext cx="5829300" cy="800100"/>
          </a:xfrm>
        </p:spPr>
        <p:txBody>
          <a:bodyPr/>
          <a:lstStyle/>
          <a:p>
            <a:pPr eaLnBrk="1" hangingPunct="1"/>
            <a:r>
              <a:rPr lang="en-US" altLang="en-US"/>
              <a:t>Contd..</a:t>
            </a:r>
          </a:p>
        </p:txBody>
      </p:sp>
      <p:sp>
        <p:nvSpPr>
          <p:cNvPr id="12292" name="Rectangle 3"/>
          <p:cNvSpPr>
            <a:spLocks noGrp="1" noChangeArrowheads="1"/>
          </p:cNvSpPr>
          <p:nvPr>
            <p:ph type="body" sz="half" idx="1"/>
          </p:nvPr>
        </p:nvSpPr>
        <p:spPr>
          <a:xfrm>
            <a:off x="1657350" y="2057400"/>
            <a:ext cx="6000750" cy="3771900"/>
          </a:xfrm>
        </p:spPr>
        <p:txBody>
          <a:bodyPr/>
          <a:lstStyle/>
          <a:p>
            <a:pPr algn="just" eaLnBrk="1" hangingPunct="1">
              <a:lnSpc>
                <a:spcPct val="90000"/>
              </a:lnSpc>
              <a:buClr>
                <a:schemeClr val="tx1"/>
              </a:buClr>
              <a:buSzTx/>
              <a:buFont typeface="Arial" panose="020B0604020202020204" pitchFamily="34" charset="0"/>
              <a:buChar char="●"/>
            </a:pPr>
            <a:r>
              <a:rPr lang="en-US" altLang="en-US" sz="1800" dirty="0"/>
              <a:t>Consider a network of three layers. </a:t>
            </a:r>
          </a:p>
          <a:p>
            <a:pPr algn="just" eaLnBrk="1" hangingPunct="1">
              <a:lnSpc>
                <a:spcPct val="90000"/>
              </a:lnSpc>
              <a:buClr>
                <a:schemeClr val="tx1"/>
              </a:buClr>
              <a:buSzTx/>
              <a:buFont typeface="Arial" panose="020B0604020202020204" pitchFamily="34" charset="0"/>
              <a:buChar char="●"/>
            </a:pPr>
            <a:r>
              <a:rPr lang="en-US" altLang="en-US" sz="1800" dirty="0"/>
              <a:t>Let us use </a:t>
            </a:r>
            <a:r>
              <a:rPr lang="en-US" altLang="en-US" sz="1800" dirty="0" err="1"/>
              <a:t>i</a:t>
            </a:r>
            <a:r>
              <a:rPr lang="en-US" altLang="en-US" sz="1800" dirty="0"/>
              <a:t> to represent nodes in input layer, j to represent nodes in hidden layer and k represent nodes in output layer.</a:t>
            </a:r>
          </a:p>
          <a:p>
            <a:pPr algn="just" eaLnBrk="1" hangingPunct="1">
              <a:lnSpc>
                <a:spcPct val="90000"/>
              </a:lnSpc>
              <a:buClr>
                <a:schemeClr val="tx1"/>
              </a:buClr>
              <a:buSzTx/>
              <a:buFont typeface="Arial" panose="020B0604020202020204" pitchFamily="34" charset="0"/>
              <a:buChar char="●"/>
            </a:pPr>
            <a:r>
              <a:rPr lang="en-US" altLang="en-US" sz="1800" dirty="0" err="1"/>
              <a:t>w</a:t>
            </a:r>
            <a:r>
              <a:rPr lang="en-US" altLang="en-US" sz="1800" baseline="-25000" dirty="0" err="1"/>
              <a:t>ij</a:t>
            </a:r>
            <a:r>
              <a:rPr lang="en-US" altLang="en-US" sz="1800" dirty="0"/>
              <a:t> refers to weight of connection between a node in input layer and node in hidden layer.</a:t>
            </a:r>
          </a:p>
          <a:p>
            <a:pPr algn="just" eaLnBrk="1" hangingPunct="1">
              <a:lnSpc>
                <a:spcPct val="90000"/>
              </a:lnSpc>
              <a:buClr>
                <a:schemeClr val="tx1"/>
              </a:buClr>
              <a:buSzTx/>
              <a:buFont typeface="Arial" panose="020B0604020202020204" pitchFamily="34" charset="0"/>
              <a:buChar char="●"/>
            </a:pPr>
            <a:r>
              <a:rPr lang="en-US" altLang="en-US" sz="1800" dirty="0"/>
              <a:t>The following equation is used to derive the output value </a:t>
            </a:r>
            <a:r>
              <a:rPr lang="en-US" altLang="en-US" sz="1800" dirty="0" err="1"/>
              <a:t>Yj</a:t>
            </a:r>
            <a:r>
              <a:rPr lang="en-US" altLang="en-US" sz="1800" dirty="0"/>
              <a:t> of node j </a:t>
            </a:r>
          </a:p>
          <a:p>
            <a:pPr algn="just" eaLnBrk="1" hangingPunct="1">
              <a:lnSpc>
                <a:spcPct val="90000"/>
              </a:lnSpc>
              <a:buFont typeface="Wingdings" panose="05000000000000000000" pitchFamily="2" charset="2"/>
              <a:buNone/>
            </a:pPr>
            <a:r>
              <a:rPr lang="en-US" altLang="en-US" sz="1500" dirty="0"/>
              <a:t> 		</a:t>
            </a:r>
          </a:p>
          <a:p>
            <a:pPr algn="just" eaLnBrk="1" hangingPunct="1">
              <a:lnSpc>
                <a:spcPct val="90000"/>
              </a:lnSpc>
              <a:buFont typeface="Wingdings" panose="05000000000000000000" pitchFamily="2" charset="2"/>
              <a:buNone/>
            </a:pPr>
            <a:endParaRPr lang="en-US" altLang="en-US" sz="1500" dirty="0"/>
          </a:p>
          <a:p>
            <a:pPr algn="just" eaLnBrk="1" hangingPunct="1">
              <a:lnSpc>
                <a:spcPct val="90000"/>
              </a:lnSpc>
              <a:buFont typeface="Wingdings" panose="05000000000000000000" pitchFamily="2" charset="2"/>
              <a:buNone/>
            </a:pPr>
            <a:r>
              <a:rPr lang="en-US" altLang="en-US" sz="1500" dirty="0"/>
              <a:t>	</a:t>
            </a:r>
          </a:p>
          <a:p>
            <a:pPr algn="just" eaLnBrk="1" hangingPunct="1">
              <a:lnSpc>
                <a:spcPct val="90000"/>
              </a:lnSpc>
              <a:buFont typeface="Wingdings" panose="05000000000000000000" pitchFamily="2" charset="2"/>
              <a:buNone/>
            </a:pPr>
            <a:r>
              <a:rPr lang="en-US" altLang="en-US" sz="1500" dirty="0"/>
              <a:t>	where,   </a:t>
            </a:r>
            <a:r>
              <a:rPr lang="en-US" altLang="en-US" sz="1500" dirty="0" err="1"/>
              <a:t>X</a:t>
            </a:r>
            <a:r>
              <a:rPr lang="en-US" altLang="en-US" sz="1500" baseline="-25000" dirty="0" err="1"/>
              <a:t>j</a:t>
            </a:r>
            <a:r>
              <a:rPr lang="en-US" altLang="en-US" sz="1500" baseline="-25000" dirty="0"/>
              <a:t> </a:t>
            </a:r>
            <a:r>
              <a:rPr lang="en-US" altLang="en-US" sz="1500" dirty="0"/>
              <a:t>= </a:t>
            </a:r>
            <a:r>
              <a:rPr lang="en-US" altLang="en-US" sz="1500" dirty="0">
                <a:sym typeface="Symbol" panose="05050102010706020507" pitchFamily="18" charset="2"/>
              </a:rPr>
              <a:t> x</a:t>
            </a:r>
            <a:r>
              <a:rPr lang="en-US" altLang="en-US" sz="1500" baseline="-25000" dirty="0">
                <a:sym typeface="Symbol" panose="05050102010706020507" pitchFamily="18" charset="2"/>
              </a:rPr>
              <a:t>i</a:t>
            </a:r>
            <a:r>
              <a:rPr lang="en-US" altLang="en-US" sz="1500" dirty="0">
                <a:sym typeface="Symbol" panose="05050102010706020507" pitchFamily="18" charset="2"/>
              </a:rPr>
              <a:t> . </a:t>
            </a:r>
            <a:r>
              <a:rPr lang="en-US" altLang="en-US" sz="1500" dirty="0" err="1">
                <a:sym typeface="Symbol" panose="05050102010706020507" pitchFamily="18" charset="2"/>
              </a:rPr>
              <a:t>w</a:t>
            </a:r>
            <a:r>
              <a:rPr lang="en-US" altLang="en-US" sz="1500" baseline="-25000" dirty="0" err="1">
                <a:sym typeface="Symbol" panose="05050102010706020507" pitchFamily="18" charset="2"/>
              </a:rPr>
              <a:t>ij</a:t>
            </a:r>
            <a:r>
              <a:rPr lang="en-US" altLang="en-US" sz="1500" dirty="0">
                <a:sym typeface="Symbol" panose="05050102010706020507" pitchFamily="18" charset="2"/>
              </a:rPr>
              <a:t> - </a:t>
            </a:r>
            <a:r>
              <a:rPr lang="en-US" altLang="en-US" sz="1500" baseline="-25000" dirty="0">
                <a:sym typeface="Symbol" panose="05050102010706020507" pitchFamily="18" charset="2"/>
              </a:rPr>
              <a:t>j</a:t>
            </a:r>
            <a:r>
              <a:rPr lang="en-US" altLang="en-US" sz="1500" dirty="0">
                <a:sym typeface="Symbol" panose="05050102010706020507" pitchFamily="18" charset="2"/>
              </a:rPr>
              <a:t> , 1  </a:t>
            </a:r>
            <a:r>
              <a:rPr lang="en-US" altLang="en-US" sz="1500" dirty="0" err="1">
                <a:sym typeface="Symbol" panose="05050102010706020507" pitchFamily="18" charset="2"/>
              </a:rPr>
              <a:t>i</a:t>
            </a:r>
            <a:r>
              <a:rPr lang="en-US" altLang="en-US" sz="1500" dirty="0">
                <a:sym typeface="Symbol" panose="05050102010706020507" pitchFamily="18" charset="2"/>
              </a:rPr>
              <a:t>  n; n is the number of inputs to node j, and </a:t>
            </a:r>
            <a:r>
              <a:rPr lang="en-US" altLang="en-US" sz="1500" baseline="-25000" dirty="0">
                <a:sym typeface="Symbol" panose="05050102010706020507" pitchFamily="18" charset="2"/>
              </a:rPr>
              <a:t>j</a:t>
            </a:r>
            <a:r>
              <a:rPr lang="en-US" altLang="en-US" sz="1500" dirty="0">
                <a:sym typeface="Symbol" panose="05050102010706020507" pitchFamily="18" charset="2"/>
              </a:rPr>
              <a:t> is </a:t>
            </a:r>
            <a:r>
              <a:rPr lang="en-US" altLang="en-US" sz="1500" dirty="0"/>
              <a:t>threshold for node j</a:t>
            </a:r>
          </a:p>
          <a:p>
            <a:pPr lvl="1" algn="just" eaLnBrk="1" hangingPunct="1">
              <a:lnSpc>
                <a:spcPct val="90000"/>
              </a:lnSpc>
              <a:buClr>
                <a:schemeClr val="tx1"/>
              </a:buClr>
              <a:buSzPct val="45000"/>
              <a:buFont typeface="Wingdings" panose="05000000000000000000" pitchFamily="2" charset="2"/>
              <a:buNone/>
            </a:pPr>
            <a:endParaRPr lang="en-US" altLang="en-US" sz="1500"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pPr eaLnBrk="1" hangingPunct="1"/>
            <a:r>
              <a:rPr lang="en-US" altLang="en-US" sz="3000"/>
              <a:t>Weight Update Rule</a:t>
            </a:r>
          </a:p>
        </p:txBody>
      </p:sp>
      <p:sp>
        <p:nvSpPr>
          <p:cNvPr id="14341" name="Rectangle 3"/>
          <p:cNvSpPr>
            <a:spLocks noGrp="1" noChangeArrowheads="1"/>
          </p:cNvSpPr>
          <p:nvPr>
            <p:ph type="body" sz="half" idx="1"/>
          </p:nvPr>
        </p:nvSpPr>
        <p:spPr>
          <a:xfrm>
            <a:off x="1657350" y="2057400"/>
            <a:ext cx="5886450" cy="2571750"/>
          </a:xfrm>
        </p:spPr>
        <p:txBody>
          <a:bodyPr/>
          <a:lstStyle/>
          <a:p>
            <a:pPr algn="just" eaLnBrk="1" hangingPunct="1">
              <a:buClr>
                <a:schemeClr val="tx1"/>
              </a:buClr>
              <a:buSzTx/>
              <a:buFont typeface="Arial" panose="020B0604020202020204" pitchFamily="34" charset="0"/>
              <a:buChar char="●"/>
            </a:pPr>
            <a:r>
              <a:rPr lang="en-US" altLang="en-US" sz="1800" dirty="0"/>
              <a:t>The Backprop weight update rule is based on the gradient descent method:  </a:t>
            </a:r>
          </a:p>
          <a:p>
            <a:pPr lvl="1" algn="just" eaLnBrk="1" hangingPunct="1">
              <a:buClr>
                <a:schemeClr val="tx1"/>
              </a:buClr>
              <a:buSzTx/>
              <a:buFont typeface="Arial" panose="020B0604020202020204" pitchFamily="34" charset="0"/>
              <a:buChar char="−"/>
            </a:pPr>
            <a:r>
              <a:rPr lang="en-US" altLang="en-US" sz="1500" dirty="0"/>
              <a:t>It takes a step in the direction yielding the maximum decrease of the network error E. </a:t>
            </a:r>
          </a:p>
          <a:p>
            <a:pPr lvl="1" algn="just" eaLnBrk="1" hangingPunct="1">
              <a:buClr>
                <a:schemeClr val="tx1"/>
              </a:buClr>
              <a:buSzTx/>
              <a:buFont typeface="Arial" panose="020B0604020202020204" pitchFamily="34" charset="0"/>
              <a:buChar char="−"/>
            </a:pPr>
            <a:r>
              <a:rPr lang="en-US" altLang="en-US" sz="1500" dirty="0"/>
              <a:t>This direction is the opposite of the gradient of E.</a:t>
            </a:r>
          </a:p>
          <a:p>
            <a:pPr algn="just" eaLnBrk="1" hangingPunct="1">
              <a:buClr>
                <a:schemeClr val="tx1"/>
              </a:buClr>
              <a:buSzTx/>
              <a:buFont typeface="Arial" panose="020B0604020202020204" pitchFamily="34" charset="0"/>
              <a:buChar char="●"/>
            </a:pPr>
            <a:r>
              <a:rPr lang="en-US" altLang="en-US" sz="1800" dirty="0"/>
              <a:t>Iteration of the Backprop algorithm is usually terminated when the sum of squares of errors of the output values for all training data in an epoch is less than some threshold such as 0.01</a:t>
            </a:r>
          </a:p>
          <a:p>
            <a:pPr algn="just" eaLnBrk="1" hangingPunct="1">
              <a:buClr>
                <a:schemeClr val="tx1"/>
              </a:buClr>
              <a:buSzTx/>
              <a:buFont typeface="Arial" panose="020B0604020202020204" pitchFamily="34" charset="0"/>
              <a:buChar char="●"/>
            </a:pPr>
            <a:endParaRPr lang="en-US" altLang="en-US" sz="1800" dirty="0"/>
          </a:p>
          <a:p>
            <a:pPr eaLnBrk="1" hangingPunct="1"/>
            <a:endParaRPr lang="en-US" altLang="en-US" sz="15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1026"/>
          <p:cNvSpPr>
            <a:spLocks noGrp="1" noChangeArrowheads="1"/>
          </p:cNvSpPr>
          <p:nvPr>
            <p:ph type="title"/>
          </p:nvPr>
        </p:nvSpPr>
        <p:spPr>
          <a:xfrm>
            <a:off x="1657350" y="1028700"/>
            <a:ext cx="6057900" cy="800100"/>
          </a:xfrm>
        </p:spPr>
        <p:txBody>
          <a:bodyPr>
            <a:normAutofit fontScale="90000"/>
          </a:bodyPr>
          <a:lstStyle/>
          <a:p>
            <a:pPr eaLnBrk="1" hangingPunct="1"/>
            <a:r>
              <a:rPr lang="en-US" altLang="en-US" sz="2700"/>
              <a:t>Backprop learning algorithm</a:t>
            </a:r>
            <a:br>
              <a:rPr lang="en-US" altLang="en-US" sz="2700"/>
            </a:br>
            <a:r>
              <a:rPr lang="en-US" altLang="en-US" sz="2700"/>
              <a:t>(incremental-mode)</a:t>
            </a:r>
          </a:p>
        </p:txBody>
      </p:sp>
      <p:sp>
        <p:nvSpPr>
          <p:cNvPr id="15365" name="Rectangle 1027"/>
          <p:cNvSpPr>
            <a:spLocks noGrp="1" noChangeArrowheads="1"/>
          </p:cNvSpPr>
          <p:nvPr>
            <p:ph type="body" idx="1"/>
          </p:nvPr>
        </p:nvSpPr>
        <p:spPr>
          <a:xfrm>
            <a:off x="1714500" y="2057400"/>
            <a:ext cx="5829300" cy="3829050"/>
          </a:xfrm>
        </p:spPr>
        <p:txBody>
          <a:bodyPr/>
          <a:lstStyle/>
          <a:p>
            <a:pPr eaLnBrk="1" hangingPunct="1">
              <a:buClr>
                <a:schemeClr val="tx1"/>
              </a:buClr>
              <a:buFont typeface="Wingdings" panose="05000000000000000000" pitchFamily="2" charset="2"/>
              <a:buNone/>
            </a:pPr>
            <a:r>
              <a:rPr lang="en-US" altLang="en-US" sz="1500"/>
              <a:t>n=1;</a:t>
            </a:r>
          </a:p>
          <a:p>
            <a:pPr eaLnBrk="1" hangingPunct="1">
              <a:buClr>
                <a:schemeClr val="tx1"/>
              </a:buClr>
              <a:buFont typeface="Wingdings" panose="05000000000000000000" pitchFamily="2" charset="2"/>
              <a:buNone/>
            </a:pPr>
            <a:r>
              <a:rPr lang="en-US" altLang="en-US" sz="1500"/>
              <a:t>initialize</a:t>
            </a:r>
            <a:r>
              <a:rPr lang="en-US" altLang="en-US" sz="1500">
                <a:solidFill>
                  <a:schemeClr val="accent2"/>
                </a:solidFill>
              </a:rPr>
              <a:t> </a:t>
            </a:r>
            <a:r>
              <a:rPr lang="en-US" altLang="en-US" sz="1500" b="1"/>
              <a:t>weights</a:t>
            </a:r>
            <a:r>
              <a:rPr lang="en-US" altLang="en-US" sz="1500"/>
              <a:t> randomly;</a:t>
            </a:r>
          </a:p>
          <a:p>
            <a:pPr eaLnBrk="1" hangingPunct="1">
              <a:buClr>
                <a:schemeClr val="tx1"/>
              </a:buClr>
              <a:buFont typeface="Wingdings" panose="05000000000000000000" pitchFamily="2" charset="2"/>
              <a:buNone/>
            </a:pPr>
            <a:r>
              <a:rPr lang="en-US" altLang="en-US" sz="1500" b="1"/>
              <a:t>while</a:t>
            </a:r>
            <a:r>
              <a:rPr lang="en-US" altLang="en-US" sz="1500"/>
              <a:t> (stopping criterion not satisfied or n &lt;max_iterations)</a:t>
            </a:r>
            <a:endParaRPr lang="en-US" altLang="en-US" sz="1500">
              <a:solidFill>
                <a:schemeClr val="accent2"/>
              </a:solidFill>
            </a:endParaRPr>
          </a:p>
          <a:p>
            <a:pPr lvl="1" eaLnBrk="1" hangingPunct="1">
              <a:buClr>
                <a:schemeClr val="tx1"/>
              </a:buClr>
              <a:buFont typeface="Wingdings" panose="05000000000000000000" pitchFamily="2" charset="2"/>
              <a:buNone/>
            </a:pPr>
            <a:r>
              <a:rPr lang="en-US" altLang="en-US" sz="1650" b="1"/>
              <a:t>for</a:t>
            </a:r>
            <a:r>
              <a:rPr lang="en-US" altLang="en-US" sz="1650"/>
              <a:t> each example (</a:t>
            </a:r>
            <a:r>
              <a:rPr lang="en-US" altLang="en-US" sz="1650" b="1"/>
              <a:t>x</a:t>
            </a:r>
            <a:r>
              <a:rPr lang="en-US" altLang="en-US" sz="1650"/>
              <a:t>,</a:t>
            </a:r>
            <a:r>
              <a:rPr lang="en-US" altLang="en-US" sz="1650" i="1"/>
              <a:t>d</a:t>
            </a:r>
            <a:r>
              <a:rPr lang="en-US" altLang="en-US" sz="1650"/>
              <a:t>)</a:t>
            </a:r>
          </a:p>
          <a:p>
            <a:pPr lvl="1" eaLnBrk="1" hangingPunct="1">
              <a:buClr>
                <a:schemeClr val="tx1"/>
              </a:buClr>
              <a:buFont typeface="Wingdings" panose="05000000000000000000" pitchFamily="2" charset="2"/>
              <a:buNone/>
            </a:pPr>
            <a:r>
              <a:rPr lang="en-US" altLang="en-US" sz="1650"/>
              <a:t>- run the network with input x and compute the output y </a:t>
            </a:r>
          </a:p>
          <a:p>
            <a:pPr lvl="1" eaLnBrk="1" hangingPunct="1">
              <a:buClr>
                <a:schemeClr val="tx1"/>
              </a:buClr>
              <a:buFont typeface="Wingdings" panose="05000000000000000000" pitchFamily="2" charset="2"/>
              <a:buNone/>
            </a:pPr>
            <a:r>
              <a:rPr lang="en-US" altLang="en-US" sz="1650"/>
              <a:t>- update the weights in backward order starting from  those of the output layer:</a:t>
            </a:r>
          </a:p>
          <a:p>
            <a:pPr lvl="1" eaLnBrk="1" hangingPunct="1">
              <a:buClr>
                <a:schemeClr val="tx1"/>
              </a:buClr>
              <a:buFont typeface="Wingdings" panose="05000000000000000000" pitchFamily="2" charset="2"/>
              <a:buNone/>
            </a:pPr>
            <a:endParaRPr lang="en-US" altLang="en-US" sz="1650"/>
          </a:p>
          <a:p>
            <a:pPr lvl="1" eaLnBrk="1" hangingPunct="1">
              <a:buClr>
                <a:schemeClr val="tx1"/>
              </a:buClr>
              <a:buFont typeface="Wingdings" panose="05000000000000000000" pitchFamily="2" charset="2"/>
              <a:buNone/>
            </a:pPr>
            <a:r>
              <a:rPr lang="en-US" altLang="en-US" sz="1650">
                <a:sym typeface="Bookshelf Symbol 4" pitchFamily="34" charset="2"/>
              </a:rPr>
              <a:t>with           computed using the (generalized) Delta rule</a:t>
            </a:r>
            <a:endParaRPr lang="en-US" altLang="en-US" sz="1650" b="1">
              <a:sym typeface="Bookshelf Symbol 4" pitchFamily="34" charset="2"/>
            </a:endParaRPr>
          </a:p>
          <a:p>
            <a:pPr lvl="1" eaLnBrk="1" hangingPunct="1">
              <a:buClr>
                <a:schemeClr val="tx1"/>
              </a:buClr>
              <a:buFont typeface="Wingdings" panose="05000000000000000000" pitchFamily="2" charset="2"/>
              <a:buNone/>
            </a:pPr>
            <a:r>
              <a:rPr lang="en-US" altLang="en-US" sz="1650" b="1">
                <a:sym typeface="Bookshelf Symbol 4" pitchFamily="34" charset="2"/>
              </a:rPr>
              <a:t>end-for</a:t>
            </a:r>
            <a:endParaRPr lang="en-US" altLang="en-US" sz="1650"/>
          </a:p>
          <a:p>
            <a:pPr eaLnBrk="1" hangingPunct="1">
              <a:buClr>
                <a:schemeClr val="tx1"/>
              </a:buClr>
              <a:buFont typeface="Wingdings" panose="05000000000000000000" pitchFamily="2" charset="2"/>
              <a:buNone/>
            </a:pPr>
            <a:r>
              <a:rPr lang="en-US" altLang="en-US" sz="1500"/>
              <a:t>	  n = n+1;</a:t>
            </a:r>
          </a:p>
          <a:p>
            <a:pPr eaLnBrk="1" hangingPunct="1">
              <a:buClr>
                <a:schemeClr val="tx1"/>
              </a:buClr>
              <a:buFont typeface="Wingdings" panose="05000000000000000000" pitchFamily="2" charset="2"/>
              <a:buNone/>
            </a:pPr>
            <a:r>
              <a:rPr lang="en-US" altLang="en-US" sz="1500"/>
              <a:t> </a:t>
            </a:r>
            <a:r>
              <a:rPr lang="en-US" altLang="en-US" sz="1500" b="1"/>
              <a:t>end-while;</a:t>
            </a:r>
          </a:p>
          <a:p>
            <a:pPr eaLnBrk="1" hangingPunct="1">
              <a:buClr>
                <a:schemeClr val="tx1"/>
              </a:buClr>
              <a:buFont typeface="Wingdings" panose="05000000000000000000" pitchFamily="2" charset="2"/>
              <a:buNone/>
            </a:pPr>
            <a:endParaRPr lang="en-US" altLang="en-US" sz="1800">
              <a:solidFill>
                <a:srgbClr val="009900"/>
              </a:solidFill>
              <a:sym typeface="Bookshelf Symbol 4" pitchFamily="34" charset="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title"/>
          </p:nvPr>
        </p:nvSpPr>
        <p:spPr>
          <a:xfrm>
            <a:off x="1600200" y="1028700"/>
            <a:ext cx="5829300" cy="800100"/>
          </a:xfrm>
        </p:spPr>
        <p:txBody>
          <a:bodyPr/>
          <a:lstStyle/>
          <a:p>
            <a:pPr eaLnBrk="1" hangingPunct="1"/>
            <a:r>
              <a:rPr lang="en-US" altLang="en-US"/>
              <a:t>Stopping criterions</a:t>
            </a:r>
          </a:p>
        </p:txBody>
      </p:sp>
      <p:sp>
        <p:nvSpPr>
          <p:cNvPr id="46083" name="Rectangle 4"/>
          <p:cNvSpPr>
            <a:spLocks noGrp="1" noChangeArrowheads="1"/>
          </p:cNvSpPr>
          <p:nvPr>
            <p:ph type="body" idx="1"/>
          </p:nvPr>
        </p:nvSpPr>
        <p:spPr>
          <a:xfrm>
            <a:off x="1600200" y="2057400"/>
            <a:ext cx="5829300" cy="3200400"/>
          </a:xfrm>
        </p:spPr>
        <p:txBody>
          <a:bodyPr/>
          <a:lstStyle/>
          <a:p>
            <a:pPr algn="just" eaLnBrk="1" hangingPunct="1">
              <a:buClr>
                <a:schemeClr val="tx1"/>
              </a:buClr>
              <a:buSzTx/>
              <a:buFont typeface="Arial" panose="020B0604020202020204" pitchFamily="34" charset="0"/>
              <a:buChar char="●"/>
            </a:pPr>
            <a:r>
              <a:rPr lang="en-US" altLang="en-US" sz="1800"/>
              <a:t>Total mean squared error change: 		</a:t>
            </a:r>
          </a:p>
          <a:p>
            <a:pPr lvl="1" algn="just" eaLnBrk="1" hangingPunct="1">
              <a:buClr>
                <a:schemeClr val="tx1"/>
              </a:buClr>
              <a:buSzTx/>
              <a:buFont typeface="Arial" panose="020B0604020202020204" pitchFamily="34" charset="0"/>
              <a:buChar char="−"/>
            </a:pPr>
            <a:r>
              <a:rPr lang="en-US" altLang="en-US" sz="1500"/>
              <a:t>Back-prop is considered to have converged when the absolute rate of change in the average squared error per epoch is sufficiently small (in the range [0.1, 0.01]).</a:t>
            </a:r>
          </a:p>
          <a:p>
            <a:pPr algn="just" eaLnBrk="1" hangingPunct="1">
              <a:buClr>
                <a:schemeClr val="tx1"/>
              </a:buClr>
              <a:buSzTx/>
              <a:buFont typeface="Arial" panose="020B0604020202020204" pitchFamily="34" charset="0"/>
              <a:buChar char="●"/>
            </a:pPr>
            <a:r>
              <a:rPr lang="en-US" altLang="en-US" sz="1800"/>
              <a:t>Generalization based criterion: 		</a:t>
            </a:r>
          </a:p>
          <a:p>
            <a:pPr lvl="1" algn="just" eaLnBrk="1" hangingPunct="1">
              <a:buClr>
                <a:schemeClr val="tx1"/>
              </a:buClr>
              <a:buSzTx/>
              <a:buFont typeface="Arial" panose="020B0604020202020204" pitchFamily="34" charset="0"/>
              <a:buChar char="−"/>
            </a:pPr>
            <a:r>
              <a:rPr lang="en-US" altLang="en-US" sz="1500"/>
              <a:t>After each epoch, the NN is tested for generalization. </a:t>
            </a:r>
          </a:p>
          <a:p>
            <a:pPr lvl="1" algn="just" eaLnBrk="1" hangingPunct="1">
              <a:buClr>
                <a:schemeClr val="tx1"/>
              </a:buClr>
              <a:buSzTx/>
              <a:buFont typeface="Arial" panose="020B0604020202020204" pitchFamily="34" charset="0"/>
              <a:buChar char="−"/>
            </a:pPr>
            <a:r>
              <a:rPr lang="en-US" altLang="en-US" sz="1500"/>
              <a:t>If the generalization performance is adequate then stop. </a:t>
            </a:r>
          </a:p>
          <a:p>
            <a:pPr lvl="1" algn="just" eaLnBrk="1" hangingPunct="1">
              <a:buClr>
                <a:schemeClr val="tx1"/>
              </a:buClr>
              <a:buSzTx/>
              <a:buFont typeface="Arial" panose="020B0604020202020204" pitchFamily="34" charset="0"/>
              <a:buChar char="−"/>
            </a:pPr>
            <a:r>
              <a:rPr lang="en-US" altLang="en-US" sz="1500"/>
              <a:t>If this stopping criterion is used then the part of the training set used for testing the network generalization will not used for updating the weights.</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Processing at node</a:t>
            </a:r>
            <a:endParaRPr lang="en-IN" dirty="0"/>
          </a:p>
        </p:txBody>
      </p:sp>
      <p:sp>
        <p:nvSpPr>
          <p:cNvPr id="3" name="Content Placeholder 2"/>
          <p:cNvSpPr>
            <a:spLocks noGrp="1"/>
          </p:cNvSpPr>
          <p:nvPr>
            <p:ph idx="1"/>
          </p:nvPr>
        </p:nvSpPr>
        <p:spPr/>
        <p:txBody>
          <a:bodyPr>
            <a:normAutofit/>
          </a:bodyPr>
          <a:lstStyle/>
          <a:p>
            <a:pPr marL="0" indent="0">
              <a:buNone/>
            </a:pPr>
            <a:r>
              <a:rPr lang="en-IN" b="0" i="0" dirty="0">
                <a:effectLst/>
                <a:latin typeface="Heebo" pitchFamily="2" charset="-79"/>
                <a:cs typeface="Heebo" pitchFamily="2" charset="-79"/>
              </a:rPr>
              <a:t>Input layer(input Node)</a:t>
            </a:r>
          </a:p>
          <a:p>
            <a:r>
              <a:rPr lang="en-GB" sz="1500" b="0" i="0" dirty="0">
                <a:solidFill>
                  <a:srgbClr val="000000"/>
                </a:solidFill>
                <a:effectLst/>
                <a:latin typeface="Times New Roman" panose="02020603050405020304" pitchFamily="18" charset="0"/>
                <a:cs typeface="Times New Roman" panose="02020603050405020304" pitchFamily="18" charset="0"/>
              </a:rPr>
              <a:t>Neurons take in information and send it to the network's other levels. The number of neurons in the input layer must equal the number of features or attributes in the dataset.</a:t>
            </a:r>
          </a:p>
          <a:p>
            <a:r>
              <a:rPr lang="en-GB" sz="1500" b="0" i="0" dirty="0">
                <a:solidFill>
                  <a:srgbClr val="000000"/>
                </a:solidFill>
                <a:effectLst/>
                <a:latin typeface="Times New Roman" panose="02020603050405020304" pitchFamily="18" charset="0"/>
                <a:cs typeface="Times New Roman" panose="02020603050405020304" pitchFamily="18" charset="0"/>
              </a:rPr>
              <a:t>No processing at input node.</a:t>
            </a:r>
          </a:p>
          <a:p>
            <a:r>
              <a:rPr lang="en-GB" sz="1500" dirty="0">
                <a:solidFill>
                  <a:srgbClr val="000000"/>
                </a:solidFill>
                <a:latin typeface="Times New Roman" panose="02020603050405020304" pitchFamily="18" charset="0"/>
                <a:cs typeface="Times New Roman" panose="02020603050405020304" pitchFamily="18" charset="0"/>
              </a:rPr>
              <a:t>Represented with Xi.</a:t>
            </a:r>
            <a:endParaRPr lang="en-GB" sz="1500"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IN" b="0" i="0" dirty="0">
                <a:effectLst/>
                <a:latin typeface="Times New Roman" panose="02020603050405020304" pitchFamily="18" charset="0"/>
                <a:cs typeface="Times New Roman" panose="02020603050405020304" pitchFamily="18" charset="0"/>
              </a:rPr>
              <a:t>Hidden layer(Hidden node)</a:t>
            </a:r>
          </a:p>
          <a:p>
            <a:r>
              <a:rPr lang="en-GB" sz="1500" b="0" i="0" dirty="0">
                <a:solidFill>
                  <a:srgbClr val="000000"/>
                </a:solidFill>
                <a:effectLst/>
                <a:latin typeface="Times New Roman" panose="02020603050405020304" pitchFamily="18" charset="0"/>
                <a:cs typeface="Times New Roman" panose="02020603050405020304" pitchFamily="18" charset="0"/>
              </a:rPr>
              <a:t>The number of hidden layers will depend on the type of model. In order to actually transfer the input to the next layer, numerous neurons in hidden layers first modify it.</a:t>
            </a:r>
          </a:p>
          <a:p>
            <a:r>
              <a:rPr lang="en-GB" sz="1500" b="0" i="0" dirty="0">
                <a:solidFill>
                  <a:srgbClr val="000000"/>
                </a:solidFill>
                <a:effectLst/>
                <a:latin typeface="Times New Roman" panose="02020603050405020304" pitchFamily="18" charset="0"/>
                <a:cs typeface="Times New Roman" panose="02020603050405020304" pitchFamily="18" charset="0"/>
              </a:rPr>
              <a:t>For the purpose of improving predictability, this network's weights are adjusted continuously.</a:t>
            </a:r>
          </a:p>
          <a:p>
            <a:pPr lvl="2"/>
            <a:r>
              <a:rPr lang="en-GB" altLang="en-US" i="1" dirty="0"/>
              <a:t>IH</a:t>
            </a:r>
            <a:r>
              <a:rPr lang="en-GB" altLang="en-US" i="1" baseline="-25000" dirty="0"/>
              <a:t>j</a:t>
            </a:r>
            <a:r>
              <a:rPr lang="en-GB" altLang="en-US" dirty="0"/>
              <a:t> = </a:t>
            </a:r>
            <a:r>
              <a:rPr lang="en-GB" altLang="en-US" dirty="0">
                <a:sym typeface="Symbol" panose="05050102010706020507" pitchFamily="18" charset="2"/>
              </a:rPr>
              <a:t></a:t>
            </a:r>
            <a:r>
              <a:rPr lang="en-GB" altLang="en-US" dirty="0"/>
              <a:t> (</a:t>
            </a:r>
            <a:r>
              <a:rPr lang="en-GB" altLang="en-US" i="1" dirty="0"/>
              <a:t>W</a:t>
            </a:r>
            <a:r>
              <a:rPr lang="en-GB" altLang="en-US" i="1" baseline="-25000" dirty="0"/>
              <a:t>ij</a:t>
            </a:r>
            <a:r>
              <a:rPr lang="en-GB" altLang="en-US" dirty="0"/>
              <a:t> * </a:t>
            </a:r>
            <a:r>
              <a:rPr lang="en-GB" altLang="en-US" dirty="0" err="1"/>
              <a:t>X</a:t>
            </a:r>
            <a:r>
              <a:rPr lang="en-GB" altLang="en-US" i="1" baseline="-25000" dirty="0" err="1"/>
              <a:t>j</a:t>
            </a:r>
            <a:r>
              <a:rPr lang="en-GB" altLang="en-US" i="1" dirty="0"/>
              <a:t>)+b</a:t>
            </a:r>
            <a:r>
              <a:rPr lang="en-GB" altLang="en-US" i="1" baseline="-25000" dirty="0"/>
              <a:t>j</a:t>
            </a:r>
            <a:r>
              <a:rPr lang="en-GB" altLang="en-US" dirty="0"/>
              <a:t> </a:t>
            </a:r>
            <a:endParaRPr lang="en-GB" altLang="en-US" i="1" dirty="0"/>
          </a:p>
          <a:p>
            <a:pPr lvl="2"/>
            <a:r>
              <a:rPr lang="en-GB" altLang="en-US" i="1" dirty="0"/>
              <a:t>OH</a:t>
            </a:r>
            <a:r>
              <a:rPr lang="en-GB" altLang="en-US" i="1" baseline="-25000" dirty="0"/>
              <a:t>j</a:t>
            </a:r>
            <a:r>
              <a:rPr lang="en-GB" altLang="en-US" dirty="0"/>
              <a:t> = sigmoid(</a:t>
            </a:r>
            <a:r>
              <a:rPr lang="en-GB" altLang="en-US" i="1" dirty="0"/>
              <a:t>IH</a:t>
            </a:r>
            <a:r>
              <a:rPr lang="en-GB" altLang="en-US" i="1" baseline="-25000" dirty="0"/>
              <a:t>j</a:t>
            </a:r>
            <a:r>
              <a:rPr lang="en-GB" altLang="en-US" i="1" dirty="0"/>
              <a:t>)</a:t>
            </a:r>
            <a:endParaRPr lang="en-IN" sz="1500" b="0" i="0" dirty="0">
              <a:effectLst/>
              <a:latin typeface="Times New Roman" panose="02020603050405020304" pitchFamily="18" charset="0"/>
              <a:cs typeface="Times New Roman" panose="02020603050405020304" pitchFamily="18" charset="0"/>
            </a:endParaRPr>
          </a:p>
          <a:p>
            <a:endParaRPr lang="en-IN" sz="1500" b="0" i="0" dirty="0">
              <a:effectLst/>
              <a:latin typeface="Times New Roman" panose="02020603050405020304" pitchFamily="18" charset="0"/>
              <a:cs typeface="Times New Roman" panose="02020603050405020304" pitchFamily="18" charset="0"/>
            </a:endParaRPr>
          </a:p>
          <a:p>
            <a:endParaRPr lang="en-IN"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latin typeface="Heebo" pitchFamily="2" charset="-79"/>
                <a:cs typeface="Heebo" pitchFamily="2" charset="-79"/>
              </a:rPr>
              <a:t>Out</a:t>
            </a:r>
            <a:r>
              <a:rPr lang="en-IN" b="0" i="0" dirty="0">
                <a:effectLst/>
                <a:latin typeface="Heebo" pitchFamily="2" charset="-79"/>
                <a:cs typeface="Heebo" pitchFamily="2" charset="-79"/>
              </a:rPr>
              <a:t>put layer(Output Node)</a:t>
            </a:r>
          </a:p>
          <a:p>
            <a:r>
              <a:rPr lang="en-GB" sz="1500" b="0" i="0" dirty="0">
                <a:solidFill>
                  <a:srgbClr val="000000"/>
                </a:solidFill>
                <a:effectLst/>
                <a:latin typeface="Nunito" pitchFamily="2" charset="0"/>
              </a:rPr>
              <a:t>For various issues, a distinct activation function should be used in this layer. We want the result to be either 0 or 1 for a binary classification task.</a:t>
            </a:r>
            <a:endParaRPr lang="en-GB" sz="1500" dirty="0"/>
          </a:p>
          <a:p>
            <a:pPr lvl="2"/>
            <a:r>
              <a:rPr lang="en-GB" altLang="en-US" i="1" dirty="0" err="1"/>
              <a:t>IY</a:t>
            </a:r>
            <a:r>
              <a:rPr lang="en-GB" altLang="en-US" i="1" baseline="-25000" dirty="0" err="1"/>
              <a:t>j</a:t>
            </a:r>
            <a:r>
              <a:rPr lang="en-GB" altLang="en-US" dirty="0"/>
              <a:t> = </a:t>
            </a:r>
            <a:r>
              <a:rPr lang="en-GB" altLang="en-US" dirty="0">
                <a:sym typeface="Symbol" panose="05050102010706020507" pitchFamily="18" charset="2"/>
              </a:rPr>
              <a:t></a:t>
            </a:r>
            <a:r>
              <a:rPr lang="en-GB" altLang="en-US" dirty="0"/>
              <a:t> (</a:t>
            </a:r>
            <a:r>
              <a:rPr lang="en-GB" altLang="en-US" i="1" dirty="0"/>
              <a:t>U</a:t>
            </a:r>
            <a:r>
              <a:rPr lang="en-GB" altLang="en-US" i="1" baseline="-25000" dirty="0"/>
              <a:t>ij</a:t>
            </a:r>
            <a:r>
              <a:rPr lang="en-GB" altLang="en-US" dirty="0"/>
              <a:t> * </a:t>
            </a:r>
            <a:r>
              <a:rPr lang="en-GB" altLang="en-US" i="1" dirty="0" err="1"/>
              <a:t>OH</a:t>
            </a:r>
            <a:r>
              <a:rPr lang="en-GB" altLang="en-US" i="1" baseline="-25000" dirty="0" err="1"/>
              <a:t>j</a:t>
            </a:r>
            <a:r>
              <a:rPr lang="en-GB" altLang="en-US" i="1" dirty="0"/>
              <a:t>)+ b</a:t>
            </a:r>
            <a:r>
              <a:rPr lang="en-GB" altLang="en-US" i="1" baseline="-25000" dirty="0"/>
              <a:t>j</a:t>
            </a:r>
            <a:r>
              <a:rPr lang="en-GB" altLang="en-US" dirty="0"/>
              <a:t> </a:t>
            </a:r>
            <a:endParaRPr lang="en-GB" altLang="en-US" i="1" dirty="0"/>
          </a:p>
          <a:p>
            <a:pPr lvl="2"/>
            <a:r>
              <a:rPr lang="en-GB" altLang="en-US" i="1" dirty="0" err="1"/>
              <a:t>OY</a:t>
            </a:r>
            <a:r>
              <a:rPr lang="en-GB" altLang="en-US" i="1" baseline="-25000" dirty="0" err="1"/>
              <a:t>j</a:t>
            </a:r>
            <a:r>
              <a:rPr lang="en-GB" altLang="en-US" dirty="0"/>
              <a:t> = sigmoid(</a:t>
            </a:r>
            <a:r>
              <a:rPr lang="en-GB" altLang="en-US" i="1" dirty="0" err="1"/>
              <a:t>IY</a:t>
            </a:r>
            <a:r>
              <a:rPr lang="en-GB" altLang="en-US" i="1" baseline="-25000" dirty="0" err="1"/>
              <a:t>j</a:t>
            </a:r>
            <a:r>
              <a:rPr lang="en-GB" altLang="en-US" i="1" dirty="0"/>
              <a:t>)</a:t>
            </a:r>
            <a:endParaRPr lang="en-IN" sz="2100" b="0" i="0" dirty="0">
              <a:effectLst/>
              <a:latin typeface="Times New Roman" panose="02020603050405020304" pitchFamily="18" charset="0"/>
              <a:cs typeface="Times New Roman" panose="02020603050405020304" pitchFamily="18" charset="0"/>
            </a:endParaRPr>
          </a:p>
          <a:p>
            <a:endParaRPr lang="en-IN"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stretch>
            <a:fillRect/>
          </a:stretch>
        </p:blipFill>
        <p:spPr>
          <a:xfrm>
            <a:off x="1772529" y="1186800"/>
            <a:ext cx="4642339" cy="371822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84334"/>
            <a:ext cx="7886700" cy="559667"/>
          </a:xfrm>
        </p:spPr>
        <p:txBody>
          <a:bodyPr/>
          <a:lstStyle/>
          <a:p>
            <a:r>
              <a:rPr lang="en-IN" b="1" i="0" dirty="0">
                <a:solidFill>
                  <a:srgbClr val="333333"/>
                </a:solidFill>
                <a:effectLst/>
                <a:latin typeface="PT Serif" panose="020A0603040505020204" pitchFamily="18" charset="0"/>
              </a:rPr>
              <a:t>The Forward Pass</a:t>
            </a:r>
            <a:endParaRPr lang="en-IN" dirty="0"/>
          </a:p>
        </p:txBody>
      </p:sp>
      <p:sp>
        <p:nvSpPr>
          <p:cNvPr id="3" name="Content Placeholder 2"/>
          <p:cNvSpPr>
            <a:spLocks noGrp="1"/>
          </p:cNvSpPr>
          <p:nvPr>
            <p:ph idx="1"/>
          </p:nvPr>
        </p:nvSpPr>
        <p:spPr>
          <a:xfrm>
            <a:off x="435219" y="1816967"/>
            <a:ext cx="7886700" cy="3263504"/>
          </a:xfrm>
        </p:spPr>
        <p:txBody>
          <a:bodyPr/>
          <a:lstStyle/>
          <a:p>
            <a:r>
              <a:rPr lang="en-GB" dirty="0"/>
              <a:t>‘</a:t>
            </a:r>
            <a:endParaRPr lang="en-IN" dirty="0"/>
          </a:p>
        </p:txBody>
      </p:sp>
      <p:sp>
        <p:nvSpPr>
          <p:cNvPr id="4" name="Rectangle 1"/>
          <p:cNvSpPr>
            <a:spLocks noChangeArrowheads="1"/>
          </p:cNvSpPr>
          <p:nvPr/>
        </p:nvSpPr>
        <p:spPr bwMode="auto">
          <a:xfrm>
            <a:off x="380902" y="1219308"/>
            <a:ext cx="9233902" cy="3115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Here’s how we calculate the total net input for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We then squash it using the logistic function to get the output of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                                                                            </a:t>
            </a:r>
          </a:p>
          <a:p>
            <a:pPr marL="0" marR="0" lvl="0" indent="0" algn="l" defTabSz="914400" rtl="0" eaLnBrk="0" fontAlgn="base" latinLnBrk="0" hangingPunct="0">
              <a:lnSpc>
                <a:spcPct val="100000"/>
              </a:lnSpc>
              <a:spcBef>
                <a:spcPct val="0"/>
              </a:spcBef>
              <a:spcAft>
                <a:spcPct val="0"/>
              </a:spcAft>
              <a:buClrTx/>
              <a:buSzTx/>
              <a:buFontTx/>
              <a:buNone/>
            </a:pPr>
            <a:endParaRPr lang="en-US" altLang="en-US" sz="1800" dirty="0">
              <a:solidFill>
                <a:srgbClr val="444444"/>
              </a:solidFill>
              <a:latin typeface="PT Serif" panose="020A060304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Carrying out the same process for          we get: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444444"/>
                </a:solidFill>
                <a:effectLst/>
                <a:latin typeface="PT Serif" panose="020A06030405050202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h_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98127" y="606028"/>
            <a:ext cx="100013" cy="107156"/>
          </a:xfrm>
          <a:prstGeom prst="rect">
            <a:avLst/>
          </a:prstGeom>
          <a:noFill/>
          <a:extLst>
            <a:ext uri="{909E8E84-426E-40DD-AFC4-6F175D3DCCD1}">
              <a14:hiddenFill xmlns:a14="http://schemas.microsoft.com/office/drawing/2010/main" xmlns="">
                <a:solidFill>
                  <a:srgbClr val="FFFFFF"/>
                </a:solidFill>
              </a14:hiddenFill>
            </a:ext>
          </a:extLst>
        </p:spPr>
      </p:pic>
      <p:pic>
        <p:nvPicPr>
          <p:cNvPr id="1027" name="Picture 3" descr="net_{h1} = w_1 * i_1 + w_2 * i_2 + b_1 * 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66360" y="2057158"/>
            <a:ext cx="3012207" cy="199925"/>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net_{h1} = 0.15 * 0.05 + 0.2 * 0.1 + 0.35 * 1 = 0.377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914681" y="3276518"/>
            <a:ext cx="5344954" cy="229726"/>
          </a:xfrm>
          <a:prstGeom prst="rect">
            <a:avLst/>
          </a:prstGeom>
          <a:noFill/>
          <a:extLst>
            <a:ext uri="{909E8E84-426E-40DD-AFC4-6F175D3DCCD1}">
              <a14:hiddenFill xmlns:a14="http://schemas.microsoft.com/office/drawing/2010/main" xmlns="">
                <a:solidFill>
                  <a:srgbClr val="FFFFFF"/>
                </a:solidFill>
              </a14:hiddenFill>
            </a:ext>
          </a:extLst>
        </p:spPr>
      </p:pic>
      <p:pic>
        <p:nvPicPr>
          <p:cNvPr id="1029" name="Picture 5" descr="h_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56568" y="983456"/>
            <a:ext cx="100013" cy="107156"/>
          </a:xfrm>
          <a:prstGeom prst="rect">
            <a:avLst/>
          </a:prstGeom>
          <a:noFill/>
          <a:extLst>
            <a:ext uri="{909E8E84-426E-40DD-AFC4-6F175D3DCCD1}">
              <a14:hiddenFill xmlns:a14="http://schemas.microsoft.com/office/drawing/2010/main" xmlns="">
                <a:solidFill>
                  <a:srgbClr val="FFFFFF"/>
                </a:solidFill>
              </a14:hiddenFill>
            </a:ext>
          </a:extLst>
        </p:spPr>
      </p:pic>
      <p:pic>
        <p:nvPicPr>
          <p:cNvPr id="1030" name="Picture 6" descr="out_{h1} = \frac{1}{1+e^{-net_{h1}}} = \frac{1}{1+e^{-0.3775}} = 0.59326999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295265" y="4953189"/>
            <a:ext cx="6059319" cy="453956"/>
          </a:xfrm>
          <a:prstGeom prst="rect">
            <a:avLst/>
          </a:prstGeom>
          <a:noFill/>
          <a:extLst>
            <a:ext uri="{909E8E84-426E-40DD-AFC4-6F175D3DCCD1}">
              <a14:hiddenFill xmlns:a14="http://schemas.microsoft.com/office/drawing/2010/main" xmlns="">
                <a:solidFill>
                  <a:srgbClr val="FFFFFF"/>
                </a:solidFill>
              </a14:hiddenFill>
            </a:ext>
          </a:extLst>
        </p:spPr>
      </p:pic>
      <p:pic>
        <p:nvPicPr>
          <p:cNvPr id="1031" name="Picture 7" descr="h_2"/>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2007577" y="1257300"/>
            <a:ext cx="107156" cy="107156"/>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out_{h2} = 0.596884378"/>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1752784" y="5943295"/>
            <a:ext cx="2426418" cy="254519"/>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19052" y="976819"/>
            <a:ext cx="7132321" cy="41198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500" b="0" i="0" u="none" strike="noStrike" cap="none" normalizeH="0" baseline="0" dirty="0">
                <a:ln>
                  <a:noFill/>
                </a:ln>
                <a:solidFill>
                  <a:srgbClr val="444444"/>
                </a:solidFill>
                <a:effectLst/>
                <a:latin typeface="PT Serif" panose="020A0603040505020204" pitchFamily="18" charset="0"/>
              </a:rPr>
              <a:t>Repeat this process for the output layer neurons, using the output from the hidden layer neurons as inputs.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5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500" b="0" i="0" u="none" strike="noStrike" cap="none" normalizeH="0" baseline="0" dirty="0">
                <a:ln>
                  <a:noFill/>
                </a:ln>
                <a:solidFill>
                  <a:srgbClr val="444444"/>
                </a:solidFill>
                <a:effectLst/>
                <a:latin typeface="PT Serif" panose="020A0603040505020204" pitchFamily="18" charset="0"/>
              </a:rPr>
              <a:t>Here’s the output for          :</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                                                                                                   </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                                                                                                                                                                                   </a:t>
            </a:r>
          </a:p>
          <a:p>
            <a:pPr marL="0" marR="0" lvl="0" indent="0" algn="l" defTabSz="914400" rtl="0" eaLnBrk="0" fontAlgn="base" latinLnBrk="0" hangingPunct="0">
              <a:lnSpc>
                <a:spcPct val="100000"/>
              </a:lnSpc>
              <a:spcBef>
                <a:spcPct val="0"/>
              </a:spcBef>
              <a:spcAft>
                <a:spcPct val="0"/>
              </a:spcAft>
              <a:buClrTx/>
              <a:buSzTx/>
              <a:buFontTx/>
              <a:buNone/>
            </a:pPr>
            <a:endParaRPr lang="en-US" altLang="en-US" sz="1500" dirty="0">
              <a:solidFill>
                <a:srgbClr val="444444"/>
              </a:solidFill>
              <a:latin typeface="PT Serif" panose="020A060304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500" b="0" i="0" u="none" strike="noStrike" cap="none" normalizeH="0" baseline="0" dirty="0">
              <a:ln>
                <a:noFill/>
              </a:ln>
              <a:solidFill>
                <a:srgbClr val="444444"/>
              </a:solidFill>
              <a:effectLst/>
              <a:latin typeface="PT Serif" panose="020A060304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                                                   </a:t>
            </a:r>
            <a:endParaRPr kumimoji="0" lang="en-US" altLang="en-US" sz="15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500" b="0" i="0" u="none" strike="noStrike" cap="none" normalizeH="0" baseline="0" dirty="0">
              <a:ln>
                <a:noFill/>
              </a:ln>
              <a:solidFill>
                <a:srgbClr val="444444"/>
              </a:solidFill>
              <a:effectLst/>
              <a:latin typeface="PT Serif" panose="020A06030405050202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500" b="0" i="0" u="none" strike="noStrike" cap="none" normalizeH="0" baseline="0" dirty="0">
                <a:ln>
                  <a:noFill/>
                </a:ln>
                <a:solidFill>
                  <a:srgbClr val="444444"/>
                </a:solidFill>
                <a:effectLst/>
                <a:latin typeface="PT Serif" panose="020A0603040505020204" pitchFamily="18" charset="0"/>
              </a:rPr>
              <a:t>And carrying out the same process for           we get: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825" b="0" i="0" u="none" strike="noStrike" cap="none" normalizeH="0" baseline="0" dirty="0">
                <a:ln>
                  <a:noFill/>
                </a:ln>
                <a:solidFill>
                  <a:srgbClr val="444444"/>
                </a:solidFill>
                <a:effectLst/>
                <a:latin typeface="PT Serif" panose="020A0603040505020204" pitchFamily="18" charset="0"/>
              </a:rPr>
              <a:t>  </a:t>
            </a:r>
            <a:r>
              <a:rPr kumimoji="0" lang="en-US" altLang="en-US" sz="675" b="0" i="0" u="none" strike="noStrike" cap="none" normalizeH="0" baseline="0" dirty="0">
                <a:ln>
                  <a:noFill/>
                </a:ln>
                <a:solidFill>
                  <a:srgbClr val="444444"/>
                </a:solidFill>
                <a:effectLst/>
                <a:latin typeface="PT Serif" panose="020A0603040505020204" pitchFamily="18" charset="0"/>
              </a:rPr>
              <a:t>                                                  </a:t>
            </a:r>
            <a:endParaRPr kumimoji="0" lang="en-US" altLang="en-US" sz="1350" b="0" i="0" u="none" strike="noStrike" cap="none" normalizeH="0" baseline="0" dirty="0">
              <a:ln>
                <a:noFill/>
              </a:ln>
              <a:solidFill>
                <a:schemeClr val="tx1"/>
              </a:solidFill>
              <a:effectLst/>
              <a:latin typeface="Arial" panose="020B0604020202020204" pitchFamily="34" charset="0"/>
            </a:endParaRPr>
          </a:p>
        </p:txBody>
      </p:sp>
      <p:pic>
        <p:nvPicPr>
          <p:cNvPr id="2050" name="Picture 2" descr="o_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43810" y="2156170"/>
            <a:ext cx="186862" cy="158114"/>
          </a:xfrm>
          <a:prstGeom prst="rect">
            <a:avLst/>
          </a:prstGeom>
          <a:noFill/>
          <a:extLst>
            <a:ext uri="{909E8E84-426E-40DD-AFC4-6F175D3DCCD1}">
              <a14:hiddenFill xmlns:a14="http://schemas.microsoft.com/office/drawing/2010/main" xmlns="">
                <a:solidFill>
                  <a:srgbClr val="FFFFFF"/>
                </a:solidFill>
              </a14:hiddenFill>
            </a:ext>
          </a:extLst>
        </p:spPr>
      </p:pic>
      <p:pic>
        <p:nvPicPr>
          <p:cNvPr id="2051" name="Picture 3" descr="net_{o1} = w_5 * out_{h1} + w_6 * out_{h2} + b_2 * 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91066" y="2428933"/>
            <a:ext cx="4972250" cy="272204"/>
          </a:xfrm>
          <a:prstGeom prst="rect">
            <a:avLst/>
          </a:prstGeom>
          <a:noFill/>
          <a:extLst>
            <a:ext uri="{909E8E84-426E-40DD-AFC4-6F175D3DCCD1}">
              <a14:hiddenFill xmlns:a14="http://schemas.microsoft.com/office/drawing/2010/main" xmlns="">
                <a:solidFill>
                  <a:srgbClr val="FFFFFF"/>
                </a:solidFill>
              </a14:hiddenFill>
            </a:ext>
          </a:extLst>
        </p:spPr>
      </p:pic>
      <p:pic>
        <p:nvPicPr>
          <p:cNvPr id="2052" name="Picture 4" descr="net_{o1} = 0.4 * 0.593269992 + 0.45 * 0.596884378 + 0.6 * 1 = 1.10590596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52502" y="2987101"/>
            <a:ext cx="6598871" cy="197571"/>
          </a:xfrm>
          <a:prstGeom prst="rect">
            <a:avLst/>
          </a:prstGeom>
          <a:noFill/>
          <a:extLst>
            <a:ext uri="{909E8E84-426E-40DD-AFC4-6F175D3DCCD1}">
              <a14:hiddenFill xmlns:a14="http://schemas.microsoft.com/office/drawing/2010/main" xmlns="">
                <a:solidFill>
                  <a:srgbClr val="FFFFFF"/>
                </a:solidFill>
              </a14:hiddenFill>
            </a:ext>
          </a:extLst>
        </p:spPr>
      </p:pic>
      <p:pic>
        <p:nvPicPr>
          <p:cNvPr id="2053" name="Picture 5" descr="out_{o1} = \frac{1}{1+e^{-net_{o1}}} = \frac{1}{1+e^{-1.105905967}} = 0.75136507"/>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511704" y="3379295"/>
            <a:ext cx="6181538" cy="421034"/>
          </a:xfrm>
          <a:prstGeom prst="rect">
            <a:avLst/>
          </a:prstGeom>
          <a:noFill/>
          <a:extLst>
            <a:ext uri="{909E8E84-426E-40DD-AFC4-6F175D3DCCD1}">
              <a14:hiddenFill xmlns:a14="http://schemas.microsoft.com/office/drawing/2010/main" xmlns="">
                <a:solidFill>
                  <a:srgbClr val="FFFFFF"/>
                </a:solidFill>
              </a14:hiddenFill>
            </a:ext>
          </a:extLst>
        </p:spPr>
      </p:pic>
      <p:pic>
        <p:nvPicPr>
          <p:cNvPr id="2054" name="Picture 6" descr="o_2"/>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705158" y="4345868"/>
            <a:ext cx="286896" cy="225419"/>
          </a:xfrm>
          <a:prstGeom prst="rect">
            <a:avLst/>
          </a:prstGeom>
          <a:noFill/>
          <a:extLst>
            <a:ext uri="{909E8E84-426E-40DD-AFC4-6F175D3DCCD1}">
              <a14:hiddenFill xmlns:a14="http://schemas.microsoft.com/office/drawing/2010/main" xmlns="">
                <a:solidFill>
                  <a:srgbClr val="FFFFFF"/>
                </a:solidFill>
              </a14:hiddenFill>
            </a:ext>
          </a:extLst>
        </p:spPr>
      </p:pic>
      <p:pic>
        <p:nvPicPr>
          <p:cNvPr id="2055" name="Picture 7" descr="out_{o2} = 0.772928465"/>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1511704" y="4942036"/>
            <a:ext cx="2831168" cy="197571"/>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42064"/>
            <a:ext cx="7886700" cy="601870"/>
          </a:xfrm>
        </p:spPr>
        <p:txBody>
          <a:bodyPr>
            <a:normAutofit/>
          </a:bodyPr>
          <a:lstStyle/>
          <a:p>
            <a:r>
              <a:rPr lang="en-IN" sz="2400" b="1" i="0" dirty="0">
                <a:effectLst/>
                <a:latin typeface="PT Serif" panose="020A0603040505020204" pitchFamily="18" charset="0"/>
              </a:rPr>
              <a:t>Calculating the Total Error (squared error function)</a:t>
            </a:r>
            <a:endParaRPr lang="en-IN" sz="2400" b="1" dirty="0"/>
          </a:p>
        </p:txBody>
      </p:sp>
      <p:pic>
        <p:nvPicPr>
          <p:cNvPr id="3076" name="Picture 4" descr="E_{total} = \sum \frac{1}{2}(target - output)^{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46823" y="1831520"/>
            <a:ext cx="4877201" cy="449514"/>
          </a:xfrm>
          <a:prstGeom prst="rect">
            <a:avLst/>
          </a:prstGeom>
          <a:noFill/>
          <a:extLst>
            <a:ext uri="{909E8E84-426E-40DD-AFC4-6F175D3DCCD1}">
              <a14:hiddenFill xmlns:a14="http://schemas.microsoft.com/office/drawing/2010/main" xmlns="">
                <a:solidFill>
                  <a:srgbClr val="FFFFFF"/>
                </a:solidFill>
              </a14:hiddenFill>
            </a:ext>
          </a:extLst>
        </p:spPr>
      </p:pic>
      <p:sp>
        <p:nvSpPr>
          <p:cNvPr id="8" name="Rectangle 5"/>
          <p:cNvSpPr>
            <a:spLocks noChangeArrowheads="1"/>
          </p:cNvSpPr>
          <p:nvPr/>
        </p:nvSpPr>
        <p:spPr bwMode="auto">
          <a:xfrm>
            <a:off x="728005" y="2027738"/>
            <a:ext cx="6372663" cy="2539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25"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825" b="0" i="0" u="none" strike="noStrike" cap="none" normalizeH="0" baseline="0" dirty="0">
                <a:ln>
                  <a:noFill/>
                </a:ln>
                <a:solidFill>
                  <a:srgbClr val="444444"/>
                </a:solidFill>
                <a:effectLst/>
                <a:latin typeface="PT Serif" panose="020A0603040505020204" pitchFamily="18" charset="0"/>
              </a:rPr>
              <a:t>  </a:t>
            </a:r>
            <a:r>
              <a:rPr kumimoji="0" lang="en-US" altLang="en-US" sz="900" b="0" i="0" u="none" strike="noStrike" cap="none" normalizeH="0" baseline="0" dirty="0">
                <a:ln>
                  <a:noFill/>
                </a:ln>
                <a:solidFill>
                  <a:srgbClr val="444444"/>
                </a:solidFill>
                <a:effectLst/>
                <a:latin typeface="PT Serif" panose="020A0603040505020204" pitchFamily="18" charset="0"/>
              </a:rPr>
              <a:t>                                                                                                                           </a:t>
            </a:r>
            <a:endParaRPr kumimoji="0" lang="en-US" altLang="en-US" sz="825"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500" b="0" i="0" u="none" strike="noStrike" cap="none" normalizeH="0" baseline="0" dirty="0">
              <a:ln>
                <a:noFill/>
              </a:ln>
              <a:solidFill>
                <a:srgbClr val="444444"/>
              </a:solidFill>
              <a:effectLst/>
              <a:latin typeface="PT Serif" panose="020A060304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500" b="0" i="0" u="none" strike="noStrike" cap="none" normalizeH="0" baseline="0" dirty="0">
              <a:ln>
                <a:noFill/>
              </a:ln>
              <a:solidFill>
                <a:srgbClr val="444444"/>
              </a:solidFill>
              <a:effectLst/>
              <a:latin typeface="PT Serif" panose="020A060304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Repeating this process for           (remembering that the target is 0.99) we get: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     </a:t>
            </a:r>
          </a:p>
          <a:p>
            <a:pPr marL="0" marR="0" lvl="0" indent="0" algn="l" defTabSz="914400" rtl="0" eaLnBrk="0" fontAlgn="base" latinLnBrk="0" hangingPunct="0">
              <a:lnSpc>
                <a:spcPct val="100000"/>
              </a:lnSpc>
              <a:spcBef>
                <a:spcPct val="0"/>
              </a:spcBef>
              <a:spcAft>
                <a:spcPct val="0"/>
              </a:spcAft>
              <a:buClrTx/>
              <a:buSzTx/>
              <a:buFontTx/>
              <a:buNone/>
            </a:pPr>
            <a:endParaRPr lang="en-US" altLang="en-US" sz="1500" dirty="0">
              <a:solidFill>
                <a:srgbClr val="444444"/>
              </a:solidFill>
              <a:latin typeface="PT Serif" panose="020A060304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                                            </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500" b="0" i="0" u="none" strike="noStrike" cap="none" normalizeH="0" baseline="0" dirty="0">
                <a:ln>
                  <a:noFill/>
                </a:ln>
                <a:solidFill>
                  <a:srgbClr val="444444"/>
                </a:solidFill>
                <a:effectLst/>
                <a:latin typeface="PT Serif" panose="020A0603040505020204" pitchFamily="18" charset="0"/>
              </a:rPr>
              <a:t>The total error for the neural network is the sum of these errors:</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825" b="0" i="0" u="none" strike="noStrike" cap="none" normalizeH="0" baseline="0" dirty="0">
                <a:ln>
                  <a:noFill/>
                </a:ln>
                <a:solidFill>
                  <a:srgbClr val="444444"/>
                </a:solidFill>
                <a:effectLst/>
                <a:latin typeface="PT Serif" panose="020A0603040505020204" pitchFamily="18" charset="0"/>
              </a:rPr>
              <a:t>  </a:t>
            </a:r>
            <a:r>
              <a:rPr kumimoji="0" lang="en-US" altLang="en-US" sz="675" b="0" i="0" u="none" strike="noStrike" cap="none" normalizeH="0" baseline="0" dirty="0">
                <a:ln>
                  <a:noFill/>
                </a:ln>
                <a:solidFill>
                  <a:srgbClr val="444444"/>
                </a:solidFill>
                <a:effectLst/>
                <a:latin typeface="PT Serif" panose="020A0603040505020204" pitchFamily="18" charset="0"/>
              </a:rPr>
              <a:t>                                                                                                                                                              </a:t>
            </a:r>
            <a:endParaRPr kumimoji="0" lang="en-US" altLang="en-US" sz="1350" b="0" i="0" u="none" strike="noStrike" cap="none" normalizeH="0" baseline="0" dirty="0">
              <a:ln>
                <a:noFill/>
              </a:ln>
              <a:solidFill>
                <a:schemeClr val="tx1"/>
              </a:solidFill>
              <a:effectLst/>
              <a:latin typeface="Arial" panose="020B0604020202020204" pitchFamily="34" charset="0"/>
            </a:endParaRPr>
          </a:p>
        </p:txBody>
      </p:sp>
      <p:pic>
        <p:nvPicPr>
          <p:cNvPr id="3078" name="Picture 6" descr="E_{o1} = \frac{1}{2}(target_{o1} - out_{o1})^{2} = \frac{1}{2}(0.01 - 0.75136507)^{2} = 0.27481108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57374" y="2517221"/>
            <a:ext cx="6944498" cy="295511"/>
          </a:xfrm>
          <a:prstGeom prst="rect">
            <a:avLst/>
          </a:prstGeom>
          <a:noFill/>
          <a:extLst>
            <a:ext uri="{909E8E84-426E-40DD-AFC4-6F175D3DCCD1}">
              <a14:hiddenFill xmlns:a14="http://schemas.microsoft.com/office/drawing/2010/main" xmlns="">
                <a:solidFill>
                  <a:srgbClr val="FFFFFF"/>
                </a:solidFill>
              </a14:hiddenFill>
            </a:ext>
          </a:extLst>
        </p:spPr>
      </p:pic>
      <p:pic>
        <p:nvPicPr>
          <p:cNvPr id="3079" name="Picture 7" descr="o_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049710" y="2934605"/>
            <a:ext cx="337088" cy="264854"/>
          </a:xfrm>
          <a:prstGeom prst="rect">
            <a:avLst/>
          </a:prstGeom>
          <a:noFill/>
          <a:extLst>
            <a:ext uri="{909E8E84-426E-40DD-AFC4-6F175D3DCCD1}">
              <a14:hiddenFill xmlns:a14="http://schemas.microsoft.com/office/drawing/2010/main" xmlns="">
                <a:solidFill>
                  <a:srgbClr val="FFFFFF"/>
                </a:solidFill>
              </a14:hiddenFill>
            </a:ext>
          </a:extLst>
        </p:spPr>
      </p:pic>
      <p:pic>
        <p:nvPicPr>
          <p:cNvPr id="3080" name="Picture 8" descr="E_{o2} = 0.02356002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277392" y="3418484"/>
            <a:ext cx="2313060" cy="264854"/>
          </a:xfrm>
          <a:prstGeom prst="rect">
            <a:avLst/>
          </a:prstGeom>
          <a:noFill/>
          <a:extLst>
            <a:ext uri="{909E8E84-426E-40DD-AFC4-6F175D3DCCD1}">
              <a14:hiddenFill xmlns:a14="http://schemas.microsoft.com/office/drawing/2010/main" xmlns="">
                <a:solidFill>
                  <a:srgbClr val="FFFFFF"/>
                </a:solidFill>
              </a14:hiddenFill>
            </a:ext>
          </a:extLst>
        </p:spPr>
      </p:pic>
      <p:pic>
        <p:nvPicPr>
          <p:cNvPr id="3081" name="Picture 9" descr="E_{total} = E_{o1} + E_{o2} = 0.274811083 + 0.023560026 = 0.298371109"/>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946823" y="4746981"/>
            <a:ext cx="7886700" cy="264064"/>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4"/>
            <a:ext cx="7886700" cy="485812"/>
          </a:xfrm>
        </p:spPr>
        <p:txBody>
          <a:bodyPr>
            <a:normAutofit fontScale="90000"/>
          </a:bodyPr>
          <a:lstStyle/>
          <a:p>
            <a:r>
              <a:rPr lang="en-IN" b="1" i="0" dirty="0">
                <a:solidFill>
                  <a:srgbClr val="333333"/>
                </a:solidFill>
                <a:effectLst/>
                <a:latin typeface="PT Serif" panose="020A0603040505020204" pitchFamily="18" charset="0"/>
              </a:rPr>
              <a:t>Backwards Pass</a:t>
            </a:r>
            <a:endParaRPr lang="en-IN" dirty="0"/>
          </a:p>
        </p:txBody>
      </p:sp>
      <p:sp>
        <p:nvSpPr>
          <p:cNvPr id="5" name="Content Placeholder 2"/>
          <p:cNvSpPr>
            <a:spLocks noGrp="1"/>
          </p:cNvSpPr>
          <p:nvPr>
            <p:ph idx="1"/>
          </p:nvPr>
        </p:nvSpPr>
        <p:spPr>
          <a:xfrm>
            <a:off x="628650" y="1797248"/>
            <a:ext cx="7886700" cy="3263504"/>
          </a:xfrm>
        </p:spPr>
        <p:txBody>
          <a:bodyPr/>
          <a:lstStyle/>
          <a:p>
            <a:r>
              <a:rPr lang="en-IN" b="0" i="0" dirty="0">
                <a:solidFill>
                  <a:srgbClr val="444444"/>
                </a:solidFill>
                <a:effectLst/>
                <a:latin typeface="PT Serif" panose="020A0603040505020204" pitchFamily="18" charset="0"/>
              </a:rPr>
              <a:t>Applying the </a:t>
            </a:r>
            <a:r>
              <a:rPr lang="en-IN" b="0" i="0" dirty="0">
                <a:effectLst/>
                <a:latin typeface="PT Serif" panose="020A0603040505020204" pitchFamily="18" charset="0"/>
              </a:rPr>
              <a:t>chain rule</a:t>
            </a:r>
          </a:p>
          <a:p>
            <a:endParaRPr lang="en-IN" dirty="0"/>
          </a:p>
        </p:txBody>
      </p:sp>
      <p:pic>
        <p:nvPicPr>
          <p:cNvPr id="6" name="Picture 2" descr="\frac{\partial E_{total}}{\partial w_{5}} = \frac{\partial E_{total}}{\partial out_{o1}} * \frac{\partial out_{o1}}{\partial net_{o1}} * \frac{\partial net_{o1}}{\partial w_{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28650" y="2530206"/>
            <a:ext cx="6377140" cy="81991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650843" y="1576234"/>
            <a:ext cx="8076412" cy="3816146"/>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807474" y="1197600"/>
            <a:ext cx="6700210" cy="4312539"/>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186" y="1013130"/>
            <a:ext cx="7886700" cy="3263504"/>
          </a:xfrm>
        </p:spPr>
        <p:txBody>
          <a:bodyPr/>
          <a:lstStyle/>
          <a:p>
            <a:r>
              <a:rPr lang="en-IN" b="0" i="0" dirty="0">
                <a:solidFill>
                  <a:srgbClr val="444444"/>
                </a:solidFill>
                <a:effectLst/>
                <a:latin typeface="PT Serif" panose="020A0603040505020204" pitchFamily="18" charset="0"/>
              </a:rPr>
              <a:t>Applying the </a:t>
            </a:r>
            <a:r>
              <a:rPr lang="en-IN" b="0" i="0" dirty="0">
                <a:effectLst/>
                <a:latin typeface="PT Serif" panose="020A0603040505020204" pitchFamily="18" charset="0"/>
              </a:rPr>
              <a:t>chain rule</a:t>
            </a:r>
            <a:endParaRPr lang="en-IN" dirty="0"/>
          </a:p>
        </p:txBody>
      </p:sp>
      <p:pic>
        <p:nvPicPr>
          <p:cNvPr id="1026" name="Picture 2" descr="\frac{\partial E_{total}}{\partial w_{5}} = \frac{\partial E_{total}}{\partial out_{o1}} * \frac{\partial out_{o1}}{\partial net_{o1}} * \frac{\partial net_{o1}}{\partial w_{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9115" y="1485680"/>
            <a:ext cx="6377140" cy="819918"/>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frac{\partial E_{total}}{\partial w_{5}} = -(target_{o1} - out_{o1}) * out_{o1}(1 - out_{o1}) * out_{h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29115" y="2872063"/>
            <a:ext cx="7168369" cy="563119"/>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stretch>
            <a:fillRect/>
          </a:stretch>
        </p:blipFill>
        <p:spPr>
          <a:xfrm>
            <a:off x="636563" y="1010789"/>
            <a:ext cx="7870874" cy="4836423"/>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526106" y="1680210"/>
            <a:ext cx="8274861" cy="3576711"/>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314" y="1034232"/>
            <a:ext cx="7886700" cy="477166"/>
          </a:xfrm>
        </p:spPr>
        <p:txBody>
          <a:bodyPr>
            <a:normAutofit fontScale="50000" lnSpcReduction="20000"/>
          </a:bodyPr>
          <a:lstStyle/>
          <a:p>
            <a:r>
              <a:rPr lang="en-GB" dirty="0"/>
              <a:t>Output y=0.5</a:t>
            </a:r>
          </a:p>
          <a:p>
            <a:r>
              <a:rPr lang="en-GB" dirty="0"/>
              <a:t>Learning rate=1</a:t>
            </a:r>
            <a:endParaRPr lang="en-IN" dirty="0"/>
          </a:p>
        </p:txBody>
      </p:sp>
      <p:pic>
        <p:nvPicPr>
          <p:cNvPr id="7" name="Picture 6"/>
          <p:cNvPicPr>
            <a:picLocks noChangeAspect="1"/>
          </p:cNvPicPr>
          <p:nvPr/>
        </p:nvPicPr>
        <p:blipFill>
          <a:blip r:embed="rId2" cstate="print"/>
          <a:stretch>
            <a:fillRect/>
          </a:stretch>
        </p:blipFill>
        <p:spPr>
          <a:xfrm>
            <a:off x="284871" y="1513475"/>
            <a:ext cx="8614327" cy="4310294"/>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stretch>
            <a:fillRect/>
          </a:stretch>
        </p:blipFill>
        <p:spPr>
          <a:xfrm>
            <a:off x="219209" y="1163223"/>
            <a:ext cx="8426597" cy="4642338"/>
          </a:xfr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627342" y="1437543"/>
            <a:ext cx="7691880" cy="3397347"/>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866" y="1013131"/>
            <a:ext cx="7886700" cy="371658"/>
          </a:xfrm>
        </p:spPr>
        <p:txBody>
          <a:bodyPr/>
          <a:lstStyle/>
          <a:p>
            <a:r>
              <a:rPr lang="en-GB" dirty="0"/>
              <a:t>With updated weights</a:t>
            </a:r>
            <a:endParaRPr lang="en-IN" dirty="0"/>
          </a:p>
        </p:txBody>
      </p:sp>
      <p:pic>
        <p:nvPicPr>
          <p:cNvPr id="7" name="Picture 6"/>
          <p:cNvPicPr>
            <a:picLocks noChangeAspect="1"/>
          </p:cNvPicPr>
          <p:nvPr/>
        </p:nvPicPr>
        <p:blipFill>
          <a:blip r:embed="rId2" cstate="print"/>
          <a:stretch>
            <a:fillRect/>
          </a:stretch>
        </p:blipFill>
        <p:spPr>
          <a:xfrm>
            <a:off x="890831" y="1732964"/>
            <a:ext cx="6572290" cy="3028071"/>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389157" y="1152672"/>
            <a:ext cx="8404580" cy="432581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Continue until minimum mean squared error</a:t>
            </a:r>
            <a:endParaRPr lang="en-I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1714500" y="2171700"/>
            <a:ext cx="6057900" cy="3543300"/>
          </a:xfrm>
        </p:spPr>
        <p:txBody>
          <a:bodyPr/>
          <a:lstStyle/>
          <a:p>
            <a:pPr eaLnBrk="1" hangingPunct="1">
              <a:buClr>
                <a:schemeClr val="tx1"/>
              </a:buClr>
              <a:buSzTx/>
              <a:buFont typeface="Arial" panose="020B0604020202020204" pitchFamily="34" charset="0"/>
              <a:buChar char="●"/>
            </a:pPr>
            <a:r>
              <a:rPr lang="en-US" altLang="en-US"/>
              <a:t>Data representation</a:t>
            </a:r>
          </a:p>
          <a:p>
            <a:pPr eaLnBrk="1" hangingPunct="1">
              <a:buClr>
                <a:schemeClr val="tx1"/>
              </a:buClr>
              <a:buSzTx/>
              <a:buFont typeface="Arial" panose="020B0604020202020204" pitchFamily="34" charset="0"/>
              <a:buChar char="●"/>
            </a:pPr>
            <a:r>
              <a:rPr lang="en-US" altLang="en-US"/>
              <a:t>Network Topology</a:t>
            </a:r>
            <a:endParaRPr lang="en-US" altLang="en-US">
              <a:sym typeface="Symbol" panose="05050102010706020507" pitchFamily="18" charset="2"/>
            </a:endParaRPr>
          </a:p>
          <a:p>
            <a:pPr eaLnBrk="1" hangingPunct="1">
              <a:buClr>
                <a:schemeClr val="tx1"/>
              </a:buClr>
              <a:buSzTx/>
              <a:buFont typeface="Arial" panose="020B0604020202020204" pitchFamily="34" charset="0"/>
              <a:buChar char="●"/>
            </a:pPr>
            <a:r>
              <a:rPr lang="en-US" altLang="en-US">
                <a:sym typeface="Symbol" panose="05050102010706020507" pitchFamily="18" charset="2"/>
              </a:rPr>
              <a:t>Network Parameters</a:t>
            </a:r>
          </a:p>
          <a:p>
            <a:pPr eaLnBrk="1" hangingPunct="1">
              <a:buClr>
                <a:schemeClr val="tx1"/>
              </a:buClr>
              <a:buSzTx/>
              <a:buFont typeface="Arial" panose="020B0604020202020204" pitchFamily="34" charset="0"/>
              <a:buChar char="●"/>
            </a:pPr>
            <a:r>
              <a:rPr lang="en-US" altLang="en-US">
                <a:sym typeface="Symbol" panose="05050102010706020507" pitchFamily="18" charset="2"/>
              </a:rPr>
              <a:t>Training </a:t>
            </a:r>
          </a:p>
          <a:p>
            <a:pPr eaLnBrk="1" hangingPunct="1">
              <a:buClr>
                <a:schemeClr val="tx1"/>
              </a:buClr>
              <a:buSzTx/>
              <a:buFont typeface="Arial" panose="020B0604020202020204" pitchFamily="34" charset="0"/>
              <a:buChar char="●"/>
            </a:pPr>
            <a:r>
              <a:rPr lang="en-US" altLang="en-US">
                <a:sym typeface="Symbol" panose="05050102010706020507" pitchFamily="18" charset="2"/>
              </a:rPr>
              <a:t>Validation</a:t>
            </a:r>
          </a:p>
        </p:txBody>
      </p:sp>
      <p:sp>
        <p:nvSpPr>
          <p:cNvPr id="47107" name="Rectangle 3"/>
          <p:cNvSpPr>
            <a:spLocks noChangeArrowheads="1"/>
          </p:cNvSpPr>
          <p:nvPr/>
        </p:nvSpPr>
        <p:spPr bwMode="auto">
          <a:xfrm>
            <a:off x="1600200" y="971550"/>
            <a:ext cx="5829300"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150">
                <a:solidFill>
                  <a:schemeClr val="tx2"/>
                </a:solidFill>
                <a:latin typeface="Times New Roman" panose="02020603050405020304" pitchFamily="18" charset="0"/>
              </a:rPr>
              <a:t>NN DESIGN ISSUES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66" y="972833"/>
            <a:ext cx="7886700" cy="601870"/>
          </a:xfrm>
        </p:spPr>
        <p:txBody>
          <a:bodyPr/>
          <a:lstStyle/>
          <a:p>
            <a:r>
              <a:rPr lang="en-GB" dirty="0"/>
              <a:t>Potential users of ANN</a:t>
            </a:r>
            <a:endParaRPr lang="en-IN" dirty="0"/>
          </a:p>
        </p:txBody>
      </p:sp>
      <p:sp>
        <p:nvSpPr>
          <p:cNvPr id="3" name="Content Placeholder 2"/>
          <p:cNvSpPr>
            <a:spLocks noGrp="1"/>
          </p:cNvSpPr>
          <p:nvPr>
            <p:ph idx="1"/>
          </p:nvPr>
        </p:nvSpPr>
        <p:spPr>
          <a:xfrm>
            <a:off x="628650" y="1797248"/>
            <a:ext cx="7886700" cy="3263504"/>
          </a:xfrm>
        </p:spPr>
        <p:txBody>
          <a:bodyPr/>
          <a:lstStyle/>
          <a:p>
            <a:r>
              <a:rPr lang="en-GB" dirty="0"/>
              <a:t>Computer scientists</a:t>
            </a:r>
          </a:p>
          <a:p>
            <a:r>
              <a:rPr lang="en-GB" dirty="0"/>
              <a:t>Statisticians</a:t>
            </a:r>
          </a:p>
          <a:p>
            <a:r>
              <a:rPr lang="en-GB" dirty="0"/>
              <a:t>Engineers</a:t>
            </a:r>
          </a:p>
          <a:p>
            <a:r>
              <a:rPr lang="en-GB" dirty="0"/>
              <a:t>Cognitive scientists</a:t>
            </a:r>
          </a:p>
          <a:p>
            <a:r>
              <a:rPr lang="en-IN" dirty="0"/>
              <a:t>Neuro Psychologists </a:t>
            </a:r>
          </a:p>
          <a:p>
            <a:r>
              <a:rPr lang="en-IN" dirty="0"/>
              <a:t>Physicists</a:t>
            </a:r>
          </a:p>
          <a:p>
            <a:r>
              <a:rPr lang="en-IN" dirty="0"/>
              <a:t>Biologists </a:t>
            </a:r>
          </a:p>
          <a:p>
            <a:r>
              <a:rPr lang="en-IN" dirty="0"/>
              <a:t>Philosophers</a:t>
            </a:r>
          </a:p>
          <a:p>
            <a:endParaRPr lang="en-I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100</a:t>
            </a:fld>
            <a:endParaRPr lang="en-US" sz="1200" dirty="0">
              <a:latin typeface="Tahoma" panose="020B0604030504040204" pitchFamily="34" charset="0"/>
              <a:ea typeface="+mn-ea"/>
              <a:cs typeface="+mn-cs"/>
            </a:endParaRPr>
          </a:p>
        </p:txBody>
      </p:sp>
      <p:sp>
        <p:nvSpPr>
          <p:cNvPr id="83971"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83972"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r>
              <a:rPr sz="2400" dirty="0"/>
              <a:t>What is classification? What is prediction?</a:t>
            </a:r>
          </a:p>
          <a:p>
            <a:pPr eaLnBrk="1" hangingPunct="1"/>
            <a:r>
              <a:rPr sz="2400" dirty="0"/>
              <a:t>Issues regarding classification and prediction</a:t>
            </a:r>
          </a:p>
          <a:p>
            <a:pPr eaLnBrk="1" hangingPunct="1"/>
            <a:r>
              <a:rPr sz="2400" dirty="0"/>
              <a:t>Classification by decision tree induction</a:t>
            </a:r>
          </a:p>
          <a:p>
            <a:pPr eaLnBrk="1" hangingPunct="1"/>
            <a:r>
              <a:rPr sz="2400" dirty="0"/>
              <a:t>Bayesian Classification</a:t>
            </a:r>
          </a:p>
          <a:p>
            <a:pPr eaLnBrk="1" hangingPunct="1">
              <a:lnSpc>
                <a:spcPct val="90000"/>
              </a:lnSpc>
            </a:pPr>
            <a:r>
              <a:rPr lang="en-US" sz="2400" dirty="0" smtClean="0"/>
              <a:t>Classification by Neural </a:t>
            </a:r>
            <a:r>
              <a:rPr lang="en-US" sz="2400" dirty="0" err="1" smtClean="0"/>
              <a:t>Networks,</a:t>
            </a:r>
            <a:r>
              <a:rPr lang="en-US" altLang="en-US" sz="2400" dirty="0" err="1" smtClean="0">
                <a:sym typeface="+mn-ea"/>
              </a:rPr>
              <a:t>Back</a:t>
            </a:r>
            <a:r>
              <a:rPr lang="en-US" altLang="en-US" sz="2400" dirty="0" smtClean="0">
                <a:sym typeface="+mn-ea"/>
              </a:rPr>
              <a:t> propagation</a:t>
            </a:r>
            <a:endParaRPr lang="en-US" sz="2400" dirty="0" smtClean="0"/>
          </a:p>
          <a:p>
            <a:pPr eaLnBrk="1" hangingPunct="1">
              <a:lnSpc>
                <a:spcPct val="90000"/>
              </a:lnSpc>
            </a:pPr>
            <a:r>
              <a:rPr lang="en-US" altLang="en-US" sz="2400" dirty="0" smtClean="0">
                <a:solidFill>
                  <a:srgbClr val="FF0000"/>
                </a:solidFill>
              </a:rPr>
              <a:t>Support Vector Machines (SVMs)</a:t>
            </a:r>
          </a:p>
          <a:p>
            <a:pPr eaLnBrk="1" hangingPunct="1">
              <a:lnSpc>
                <a:spcPct val="90000"/>
              </a:lnSpc>
            </a:pPr>
            <a:r>
              <a:rPr lang="en-US" altLang="en-US" sz="2400" dirty="0" smtClean="0"/>
              <a:t>k-nearest </a:t>
            </a:r>
            <a:r>
              <a:rPr lang="en-US" altLang="en-US" sz="2400" dirty="0" err="1" smtClean="0"/>
              <a:t>neighbour</a:t>
            </a:r>
            <a:r>
              <a:rPr lang="en-US" altLang="en-US" sz="2400" dirty="0" smtClean="0"/>
              <a:t> classifier</a:t>
            </a:r>
          </a:p>
          <a:p>
            <a:pPr eaLnBrk="1" hangingPunct="1">
              <a:lnSpc>
                <a:spcPct val="90000"/>
              </a:lnSpc>
            </a:pPr>
            <a:r>
              <a:rPr lang="en-US" sz="2400" dirty="0" smtClean="0"/>
              <a:t>Other Classification Methods</a:t>
            </a:r>
          </a:p>
          <a:p>
            <a:pPr eaLnBrk="1" hangingPunct="1"/>
            <a:r>
              <a:rPr sz="2400" smtClean="0"/>
              <a:t>Prediction</a:t>
            </a:r>
            <a:endParaRPr sz="2400" dirty="0"/>
          </a:p>
          <a:p>
            <a:pPr eaLnBrk="1" hangingPunct="1"/>
            <a:r>
              <a:rPr sz="2400" dirty="0"/>
              <a:t>Classification accuracy</a:t>
            </a:r>
          </a:p>
          <a:p>
            <a:pPr eaLnBrk="1" hangingPunct="1"/>
            <a:r>
              <a:rPr sz="2400" dirty="0"/>
              <a:t>Summary</a:t>
            </a:r>
          </a:p>
        </p:txBody>
      </p:sp>
    </p:spTree>
  </p:cSld>
  <p:clrMapOvr>
    <a:masterClrMapping/>
  </p:clrMapOvr>
  <p:transition>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D249D2D2-DC7E-4A59-BEA5-EE731977EED2}" type="slidenum">
              <a:rPr lang="en-US" sz="1200"/>
              <a:pPr algn="r"/>
              <a:t>101</a:t>
            </a:fld>
            <a:endParaRPr lang="en-US" sz="1200"/>
          </a:p>
        </p:txBody>
      </p:sp>
      <p:sp>
        <p:nvSpPr>
          <p:cNvPr id="18435" name="Rectangle 2"/>
          <p:cNvSpPr>
            <a:spLocks noGrp="1" noChangeArrowheads="1"/>
          </p:cNvSpPr>
          <p:nvPr>
            <p:ph type="title" idx="4294967295"/>
          </p:nvPr>
        </p:nvSpPr>
        <p:spPr/>
        <p:txBody>
          <a:bodyPr/>
          <a:lstStyle/>
          <a:p>
            <a:pPr eaLnBrk="1" hangingPunct="1"/>
            <a:r>
              <a:rPr lang="en-US" sz="3200" smtClean="0"/>
              <a:t>Classification: A Mathematical Mapping</a:t>
            </a:r>
          </a:p>
        </p:txBody>
      </p:sp>
      <p:sp>
        <p:nvSpPr>
          <p:cNvPr id="18436" name="Rectangle 3"/>
          <p:cNvSpPr>
            <a:spLocks noGrp="1" noChangeArrowheads="1"/>
          </p:cNvSpPr>
          <p:nvPr>
            <p:ph type="body" idx="4294967295"/>
          </p:nvPr>
        </p:nvSpPr>
        <p:spPr>
          <a:xfrm>
            <a:off x="304800" y="1371600"/>
            <a:ext cx="8686800" cy="5105400"/>
          </a:xfrm>
        </p:spPr>
        <p:txBody>
          <a:bodyPr/>
          <a:lstStyle/>
          <a:p>
            <a:pPr eaLnBrk="1" hangingPunct="1"/>
            <a:r>
              <a:rPr lang="en-US" sz="2400" smtClean="0">
                <a:solidFill>
                  <a:schemeClr val="hlink"/>
                </a:solidFill>
                <a:latin typeface="Calibri" pitchFamily="34" charset="0"/>
              </a:rPr>
              <a:t>Classification:</a:t>
            </a:r>
            <a:r>
              <a:rPr lang="en-US" sz="2400" smtClean="0">
                <a:latin typeface="Calibri" pitchFamily="34" charset="0"/>
              </a:rPr>
              <a:t> predicts categorical class labels</a:t>
            </a:r>
          </a:p>
          <a:p>
            <a:pPr lvl="1" eaLnBrk="1" hangingPunct="1"/>
            <a:r>
              <a:rPr lang="en-US" sz="2400" smtClean="0">
                <a:latin typeface="Calibri" pitchFamily="34" charset="0"/>
              </a:rPr>
              <a:t>E.g., Personal homepage classification</a:t>
            </a:r>
          </a:p>
          <a:p>
            <a:pPr lvl="2" eaLnBrk="1" hangingPunct="1"/>
            <a:r>
              <a:rPr lang="en-US" smtClean="0">
                <a:latin typeface="Calibri" pitchFamily="34" charset="0"/>
                <a:ea typeface="HYGungSo-Bold" pitchFamily="18" charset="-127"/>
              </a:rPr>
              <a:t>x</a:t>
            </a:r>
            <a:r>
              <a:rPr lang="en-US" baseline="-25000" smtClean="0">
                <a:latin typeface="Calibri" pitchFamily="34" charset="0"/>
                <a:ea typeface="HYGungSo-Bold" pitchFamily="18" charset="-127"/>
              </a:rPr>
              <a:t>i</a:t>
            </a:r>
            <a:r>
              <a:rPr lang="en-US" smtClean="0">
                <a:latin typeface="Calibri" pitchFamily="34" charset="0"/>
              </a:rPr>
              <a:t> = (x</a:t>
            </a:r>
            <a:r>
              <a:rPr lang="en-US" baseline="-25000" smtClean="0">
                <a:latin typeface="Calibri" pitchFamily="34" charset="0"/>
              </a:rPr>
              <a:t>1</a:t>
            </a:r>
            <a:r>
              <a:rPr lang="en-US" smtClean="0">
                <a:latin typeface="Calibri" pitchFamily="34" charset="0"/>
              </a:rPr>
              <a:t>, x</a:t>
            </a:r>
            <a:r>
              <a:rPr lang="en-US" baseline="-25000" smtClean="0">
                <a:latin typeface="Calibri" pitchFamily="34" charset="0"/>
              </a:rPr>
              <a:t>2</a:t>
            </a:r>
            <a:r>
              <a:rPr lang="en-US" smtClean="0">
                <a:latin typeface="Calibri" pitchFamily="34" charset="0"/>
              </a:rPr>
              <a:t>, x</a:t>
            </a:r>
            <a:r>
              <a:rPr lang="en-US" baseline="-25000" smtClean="0">
                <a:latin typeface="Calibri" pitchFamily="34" charset="0"/>
              </a:rPr>
              <a:t>3</a:t>
            </a:r>
            <a:r>
              <a:rPr lang="en-US" smtClean="0">
                <a:latin typeface="Calibri" pitchFamily="34" charset="0"/>
              </a:rPr>
              <a:t>, …), y</a:t>
            </a:r>
            <a:r>
              <a:rPr lang="en-US" baseline="-25000" smtClean="0">
                <a:latin typeface="Calibri" pitchFamily="34" charset="0"/>
              </a:rPr>
              <a:t>i</a:t>
            </a:r>
            <a:r>
              <a:rPr lang="en-US" smtClean="0">
                <a:latin typeface="Calibri" pitchFamily="34" charset="0"/>
              </a:rPr>
              <a:t> = +1 or –1</a:t>
            </a:r>
          </a:p>
          <a:p>
            <a:pPr lvl="2" eaLnBrk="1" hangingPunct="1"/>
            <a:r>
              <a:rPr lang="en-US" smtClean="0">
                <a:latin typeface="Calibri" pitchFamily="34" charset="0"/>
              </a:rPr>
              <a:t>x</a:t>
            </a:r>
            <a:r>
              <a:rPr lang="en-US" baseline="-25000" smtClean="0">
                <a:latin typeface="Calibri" pitchFamily="34" charset="0"/>
              </a:rPr>
              <a:t>1</a:t>
            </a:r>
            <a:r>
              <a:rPr lang="en-US" smtClean="0">
                <a:latin typeface="Calibri" pitchFamily="34" charset="0"/>
              </a:rPr>
              <a:t> : # of word “homepage”</a:t>
            </a:r>
          </a:p>
          <a:p>
            <a:pPr lvl="2" eaLnBrk="1" hangingPunct="1"/>
            <a:r>
              <a:rPr lang="en-US" smtClean="0">
                <a:latin typeface="Calibri" pitchFamily="34" charset="0"/>
              </a:rPr>
              <a:t>x</a:t>
            </a:r>
            <a:r>
              <a:rPr lang="en-US" baseline="-25000" smtClean="0">
                <a:latin typeface="Calibri" pitchFamily="34" charset="0"/>
              </a:rPr>
              <a:t>2</a:t>
            </a:r>
            <a:r>
              <a:rPr lang="en-US" smtClean="0">
                <a:latin typeface="Calibri" pitchFamily="34" charset="0"/>
              </a:rPr>
              <a:t> : # of word “welcome”</a:t>
            </a:r>
          </a:p>
          <a:p>
            <a:pPr eaLnBrk="1" hangingPunct="1"/>
            <a:r>
              <a:rPr lang="en-US" sz="2400" smtClean="0">
                <a:latin typeface="Calibri" pitchFamily="34" charset="0"/>
              </a:rPr>
              <a:t>Mathematically, </a:t>
            </a:r>
            <a:r>
              <a:rPr lang="en-US" sz="2400" smtClean="0">
                <a:latin typeface="Calibri" pitchFamily="34" charset="0"/>
                <a:ea typeface="HYGungSo-Bold" pitchFamily="18" charset="-127"/>
              </a:rPr>
              <a:t>x</a:t>
            </a:r>
            <a:r>
              <a:rPr lang="en-US" sz="2400" smtClean="0">
                <a:latin typeface="Calibri" pitchFamily="34" charset="0"/>
                <a:sym typeface="Symbol" pitchFamily="18" charset="2"/>
              </a:rPr>
              <a:t>  </a:t>
            </a:r>
            <a:r>
              <a:rPr lang="en-US" sz="2400" smtClean="0">
                <a:latin typeface="Calibri" pitchFamily="34" charset="0"/>
              </a:rPr>
              <a:t>X = </a:t>
            </a:r>
            <a:r>
              <a:rPr lang="en-US" sz="2400" smtClean="0">
                <a:latin typeface="Calibri" pitchFamily="34" charset="0"/>
                <a:sym typeface="Symbol" pitchFamily="18" charset="2"/>
              </a:rPr>
              <a:t></a:t>
            </a:r>
            <a:r>
              <a:rPr lang="en-US" sz="2400" baseline="30000" smtClean="0">
                <a:latin typeface="Calibri" pitchFamily="34" charset="0"/>
                <a:sym typeface="Symbol" pitchFamily="18" charset="2"/>
              </a:rPr>
              <a:t>n</a:t>
            </a:r>
            <a:r>
              <a:rPr lang="en-US" sz="2400" smtClean="0">
                <a:latin typeface="Calibri" pitchFamily="34" charset="0"/>
                <a:sym typeface="Symbol" pitchFamily="18" charset="2"/>
              </a:rPr>
              <a:t>, y  Y = {+1, </a:t>
            </a:r>
            <a:r>
              <a:rPr lang="en-US" sz="2400" smtClean="0">
                <a:latin typeface="Calibri" pitchFamily="34" charset="0"/>
              </a:rPr>
              <a:t>–</a:t>
            </a:r>
            <a:r>
              <a:rPr lang="en-US" sz="2400" smtClean="0">
                <a:latin typeface="Calibri" pitchFamily="34" charset="0"/>
                <a:sym typeface="Symbol" pitchFamily="18" charset="2"/>
              </a:rPr>
              <a:t>1}, </a:t>
            </a:r>
          </a:p>
          <a:p>
            <a:pPr lvl="1" eaLnBrk="1" hangingPunct="1"/>
            <a:r>
              <a:rPr lang="en-US" sz="2400" smtClean="0">
                <a:latin typeface="Calibri" pitchFamily="34" charset="0"/>
                <a:sym typeface="Symbol" pitchFamily="18" charset="2"/>
              </a:rPr>
              <a:t>We want to derive a function f: </a:t>
            </a:r>
            <a:r>
              <a:rPr lang="en-US" sz="2400" smtClean="0">
                <a:latin typeface="Calibri" pitchFamily="34" charset="0"/>
              </a:rPr>
              <a:t>X </a:t>
            </a:r>
            <a:r>
              <a:rPr lang="en-US" sz="2400" smtClean="0">
                <a:latin typeface="Calibri" pitchFamily="34" charset="0"/>
                <a:sym typeface="Wingdings" pitchFamily="2" charset="2"/>
              </a:rPr>
              <a:t></a:t>
            </a:r>
            <a:r>
              <a:rPr lang="en-US" sz="2400" smtClean="0">
                <a:latin typeface="Calibri" pitchFamily="34" charset="0"/>
              </a:rPr>
              <a:t> Y</a:t>
            </a:r>
            <a:r>
              <a:rPr lang="en-US" sz="2400" smtClean="0">
                <a:latin typeface="Calibri" pitchFamily="34" charset="0"/>
                <a:sym typeface="Symbol" pitchFamily="18" charset="2"/>
              </a:rPr>
              <a:t> </a:t>
            </a:r>
          </a:p>
          <a:p>
            <a:pPr eaLnBrk="1" hangingPunct="1"/>
            <a:r>
              <a:rPr lang="en-US" sz="2400" smtClean="0">
                <a:latin typeface="Calibri" pitchFamily="34" charset="0"/>
              </a:rPr>
              <a:t>Linear Classification</a:t>
            </a:r>
          </a:p>
          <a:p>
            <a:pPr lvl="1" eaLnBrk="1" hangingPunct="1"/>
            <a:r>
              <a:rPr lang="en-US" sz="2400" smtClean="0">
                <a:latin typeface="Calibri" pitchFamily="34" charset="0"/>
              </a:rPr>
              <a:t>Binary Classification problem</a:t>
            </a:r>
          </a:p>
          <a:p>
            <a:pPr lvl="1" eaLnBrk="1" hangingPunct="1"/>
            <a:r>
              <a:rPr lang="en-US" sz="2400" smtClean="0">
                <a:latin typeface="Calibri" pitchFamily="34" charset="0"/>
              </a:rPr>
              <a:t>Data above the red line belongs to class ‘x’</a:t>
            </a:r>
          </a:p>
          <a:p>
            <a:pPr lvl="1" eaLnBrk="1" hangingPunct="1"/>
            <a:r>
              <a:rPr lang="en-US" sz="2400" smtClean="0">
                <a:latin typeface="Calibri" pitchFamily="34" charset="0"/>
              </a:rPr>
              <a:t>Data below red line belongs to class ‘o’</a:t>
            </a:r>
          </a:p>
          <a:p>
            <a:pPr lvl="1" eaLnBrk="1" hangingPunct="1"/>
            <a:r>
              <a:rPr lang="en-US" sz="2400" smtClean="0">
                <a:latin typeface="Calibri" pitchFamily="34" charset="0"/>
              </a:rPr>
              <a:t>Examples: SVM, Perceptron, Probabilistic Classifiers</a:t>
            </a:r>
          </a:p>
        </p:txBody>
      </p:sp>
      <p:grpSp>
        <p:nvGrpSpPr>
          <p:cNvPr id="2" name="Group 5"/>
          <p:cNvGrpSpPr>
            <a:grpSpLocks/>
          </p:cNvGrpSpPr>
          <p:nvPr/>
        </p:nvGrpSpPr>
        <p:grpSpPr bwMode="auto">
          <a:xfrm>
            <a:off x="6172200" y="2667000"/>
            <a:ext cx="2971800" cy="2743200"/>
            <a:chOff x="432" y="1584"/>
            <a:chExt cx="2448" cy="2208"/>
          </a:xfrm>
        </p:grpSpPr>
        <p:sp>
          <p:nvSpPr>
            <p:cNvPr id="18438" name="Rectangle 4"/>
            <p:cNvSpPr>
              <a:spLocks noChangeArrowheads="1"/>
            </p:cNvSpPr>
            <p:nvPr/>
          </p:nvSpPr>
          <p:spPr bwMode="auto">
            <a:xfrm>
              <a:off x="432" y="1584"/>
              <a:ext cx="2448" cy="2208"/>
            </a:xfrm>
            <a:prstGeom prst="rect">
              <a:avLst/>
            </a:prstGeom>
            <a:solidFill>
              <a:schemeClr val="accent1"/>
            </a:solidFill>
            <a:ln w="9525">
              <a:solidFill>
                <a:schemeClr val="tx1"/>
              </a:solidFill>
              <a:miter lim="800000"/>
              <a:headEnd/>
              <a:tailEnd/>
            </a:ln>
          </p:spPr>
          <p:txBody>
            <a:bodyPr wrap="none" anchor="ctr"/>
            <a:lstStyle/>
            <a:p>
              <a:pPr algn="ctr"/>
              <a:endParaRPr lang="en-US" sz="2400"/>
            </a:p>
          </p:txBody>
        </p:sp>
        <p:sp>
          <p:nvSpPr>
            <p:cNvPr id="18439" name="Line 5"/>
            <p:cNvSpPr>
              <a:spLocks noChangeShapeType="1"/>
            </p:cNvSpPr>
            <p:nvPr/>
          </p:nvSpPr>
          <p:spPr bwMode="auto">
            <a:xfrm flipV="1">
              <a:off x="432" y="2016"/>
              <a:ext cx="2448" cy="1536"/>
            </a:xfrm>
            <a:prstGeom prst="line">
              <a:avLst/>
            </a:prstGeom>
            <a:noFill/>
            <a:ln w="28575">
              <a:solidFill>
                <a:schemeClr val="hlink"/>
              </a:solidFill>
              <a:miter lim="800000"/>
              <a:headEnd/>
              <a:tailEnd/>
            </a:ln>
          </p:spPr>
          <p:txBody>
            <a:bodyPr wrap="none"/>
            <a:lstStyle/>
            <a:p>
              <a:endParaRPr lang="en-US"/>
            </a:p>
          </p:txBody>
        </p:sp>
        <p:sp>
          <p:nvSpPr>
            <p:cNvPr id="18440" name="Text Box 6"/>
            <p:cNvSpPr txBox="1">
              <a:spLocks noChangeArrowheads="1"/>
            </p:cNvSpPr>
            <p:nvPr/>
          </p:nvSpPr>
          <p:spPr bwMode="auto">
            <a:xfrm>
              <a:off x="565" y="2517"/>
              <a:ext cx="276" cy="368"/>
            </a:xfrm>
            <a:prstGeom prst="rect">
              <a:avLst/>
            </a:prstGeom>
            <a:noFill/>
            <a:ln w="9525">
              <a:noFill/>
              <a:miter lim="800000"/>
              <a:headEnd/>
              <a:tailEnd/>
            </a:ln>
          </p:spPr>
          <p:txBody>
            <a:bodyPr wrap="none">
              <a:spAutoFit/>
            </a:bodyPr>
            <a:lstStyle/>
            <a:p>
              <a:r>
                <a:rPr lang="en-US" sz="2400"/>
                <a:t>x</a:t>
              </a:r>
            </a:p>
          </p:txBody>
        </p:sp>
        <p:sp>
          <p:nvSpPr>
            <p:cNvPr id="18441" name="Text Box 7"/>
            <p:cNvSpPr txBox="1">
              <a:spLocks noChangeArrowheads="1"/>
            </p:cNvSpPr>
            <p:nvPr/>
          </p:nvSpPr>
          <p:spPr bwMode="auto">
            <a:xfrm>
              <a:off x="2256" y="1969"/>
              <a:ext cx="276" cy="368"/>
            </a:xfrm>
            <a:prstGeom prst="rect">
              <a:avLst/>
            </a:prstGeom>
            <a:noFill/>
            <a:ln w="9525">
              <a:noFill/>
              <a:miter lim="800000"/>
              <a:headEnd/>
              <a:tailEnd/>
            </a:ln>
          </p:spPr>
          <p:txBody>
            <a:bodyPr wrap="none">
              <a:spAutoFit/>
            </a:bodyPr>
            <a:lstStyle/>
            <a:p>
              <a:r>
                <a:rPr lang="en-US" sz="2400"/>
                <a:t>x</a:t>
              </a:r>
            </a:p>
          </p:txBody>
        </p:sp>
        <p:sp>
          <p:nvSpPr>
            <p:cNvPr id="18442" name="Text Box 8"/>
            <p:cNvSpPr txBox="1">
              <a:spLocks noChangeArrowheads="1"/>
            </p:cNvSpPr>
            <p:nvPr/>
          </p:nvSpPr>
          <p:spPr bwMode="auto">
            <a:xfrm>
              <a:off x="1104" y="2064"/>
              <a:ext cx="276" cy="368"/>
            </a:xfrm>
            <a:prstGeom prst="rect">
              <a:avLst/>
            </a:prstGeom>
            <a:noFill/>
            <a:ln w="9525">
              <a:noFill/>
              <a:miter lim="800000"/>
              <a:headEnd/>
              <a:tailEnd/>
            </a:ln>
          </p:spPr>
          <p:txBody>
            <a:bodyPr wrap="none">
              <a:spAutoFit/>
            </a:bodyPr>
            <a:lstStyle/>
            <a:p>
              <a:r>
                <a:rPr lang="en-US" sz="2400"/>
                <a:t>x</a:t>
              </a:r>
            </a:p>
          </p:txBody>
        </p:sp>
        <p:sp>
          <p:nvSpPr>
            <p:cNvPr id="18443" name="Text Box 9"/>
            <p:cNvSpPr txBox="1">
              <a:spLocks noChangeArrowheads="1"/>
            </p:cNvSpPr>
            <p:nvPr/>
          </p:nvSpPr>
          <p:spPr bwMode="auto">
            <a:xfrm>
              <a:off x="1343" y="2496"/>
              <a:ext cx="276" cy="368"/>
            </a:xfrm>
            <a:prstGeom prst="rect">
              <a:avLst/>
            </a:prstGeom>
            <a:noFill/>
            <a:ln w="9525">
              <a:noFill/>
              <a:miter lim="800000"/>
              <a:headEnd/>
              <a:tailEnd/>
            </a:ln>
          </p:spPr>
          <p:txBody>
            <a:bodyPr wrap="none">
              <a:spAutoFit/>
            </a:bodyPr>
            <a:lstStyle/>
            <a:p>
              <a:r>
                <a:rPr lang="en-US" sz="2400"/>
                <a:t>x</a:t>
              </a:r>
            </a:p>
          </p:txBody>
        </p:sp>
        <p:sp>
          <p:nvSpPr>
            <p:cNvPr id="18444" name="Text Box 10"/>
            <p:cNvSpPr txBox="1">
              <a:spLocks noChangeArrowheads="1"/>
            </p:cNvSpPr>
            <p:nvPr/>
          </p:nvSpPr>
          <p:spPr bwMode="auto">
            <a:xfrm>
              <a:off x="1728" y="2112"/>
              <a:ext cx="276" cy="368"/>
            </a:xfrm>
            <a:prstGeom prst="rect">
              <a:avLst/>
            </a:prstGeom>
            <a:noFill/>
            <a:ln w="9525">
              <a:noFill/>
              <a:miter lim="800000"/>
              <a:headEnd/>
              <a:tailEnd/>
            </a:ln>
          </p:spPr>
          <p:txBody>
            <a:bodyPr wrap="none">
              <a:spAutoFit/>
            </a:bodyPr>
            <a:lstStyle/>
            <a:p>
              <a:r>
                <a:rPr lang="en-US" sz="2400"/>
                <a:t>x</a:t>
              </a:r>
            </a:p>
          </p:txBody>
        </p:sp>
        <p:sp>
          <p:nvSpPr>
            <p:cNvPr id="18445" name="Text Box 11"/>
            <p:cNvSpPr txBox="1">
              <a:spLocks noChangeArrowheads="1"/>
            </p:cNvSpPr>
            <p:nvPr/>
          </p:nvSpPr>
          <p:spPr bwMode="auto">
            <a:xfrm>
              <a:off x="720" y="2112"/>
              <a:ext cx="276" cy="368"/>
            </a:xfrm>
            <a:prstGeom prst="rect">
              <a:avLst/>
            </a:prstGeom>
            <a:noFill/>
            <a:ln w="9525">
              <a:noFill/>
              <a:miter lim="800000"/>
              <a:headEnd/>
              <a:tailEnd/>
            </a:ln>
          </p:spPr>
          <p:txBody>
            <a:bodyPr wrap="none">
              <a:spAutoFit/>
            </a:bodyPr>
            <a:lstStyle/>
            <a:p>
              <a:r>
                <a:rPr lang="en-US" sz="2400"/>
                <a:t>x</a:t>
              </a:r>
            </a:p>
          </p:txBody>
        </p:sp>
        <p:sp>
          <p:nvSpPr>
            <p:cNvPr id="18446" name="Text Box 12"/>
            <p:cNvSpPr txBox="1">
              <a:spLocks noChangeArrowheads="1"/>
            </p:cNvSpPr>
            <p:nvPr/>
          </p:nvSpPr>
          <p:spPr bwMode="auto">
            <a:xfrm>
              <a:off x="912" y="2593"/>
              <a:ext cx="276" cy="368"/>
            </a:xfrm>
            <a:prstGeom prst="rect">
              <a:avLst/>
            </a:prstGeom>
            <a:noFill/>
            <a:ln w="9525">
              <a:noFill/>
              <a:miter lim="800000"/>
              <a:headEnd/>
              <a:tailEnd/>
            </a:ln>
          </p:spPr>
          <p:txBody>
            <a:bodyPr wrap="none">
              <a:spAutoFit/>
            </a:bodyPr>
            <a:lstStyle/>
            <a:p>
              <a:r>
                <a:rPr lang="en-US" sz="2400"/>
                <a:t>x</a:t>
              </a:r>
            </a:p>
          </p:txBody>
        </p:sp>
        <p:sp>
          <p:nvSpPr>
            <p:cNvPr id="18447" name="Text Box 13"/>
            <p:cNvSpPr txBox="1">
              <a:spLocks noChangeArrowheads="1"/>
            </p:cNvSpPr>
            <p:nvPr/>
          </p:nvSpPr>
          <p:spPr bwMode="auto">
            <a:xfrm>
              <a:off x="1489" y="1826"/>
              <a:ext cx="276" cy="368"/>
            </a:xfrm>
            <a:prstGeom prst="rect">
              <a:avLst/>
            </a:prstGeom>
            <a:noFill/>
            <a:ln w="9525">
              <a:noFill/>
              <a:miter lim="800000"/>
              <a:headEnd/>
              <a:tailEnd/>
            </a:ln>
          </p:spPr>
          <p:txBody>
            <a:bodyPr wrap="none">
              <a:spAutoFit/>
            </a:bodyPr>
            <a:lstStyle/>
            <a:p>
              <a:r>
                <a:rPr lang="en-US" sz="2400"/>
                <a:t>x</a:t>
              </a:r>
            </a:p>
          </p:txBody>
        </p:sp>
        <p:sp>
          <p:nvSpPr>
            <p:cNvPr id="18448" name="Text Box 14"/>
            <p:cNvSpPr txBox="1">
              <a:spLocks noChangeArrowheads="1"/>
            </p:cNvSpPr>
            <p:nvPr/>
          </p:nvSpPr>
          <p:spPr bwMode="auto">
            <a:xfrm>
              <a:off x="1200" y="2352"/>
              <a:ext cx="276" cy="368"/>
            </a:xfrm>
            <a:prstGeom prst="rect">
              <a:avLst/>
            </a:prstGeom>
            <a:noFill/>
            <a:ln w="9525">
              <a:noFill/>
              <a:miter lim="800000"/>
              <a:headEnd/>
              <a:tailEnd/>
            </a:ln>
          </p:spPr>
          <p:txBody>
            <a:bodyPr wrap="none">
              <a:spAutoFit/>
            </a:bodyPr>
            <a:lstStyle/>
            <a:p>
              <a:r>
                <a:rPr lang="en-US" sz="2400"/>
                <a:t>x</a:t>
              </a:r>
            </a:p>
          </p:txBody>
        </p:sp>
        <p:sp>
          <p:nvSpPr>
            <p:cNvPr id="18449" name="Text Box 15"/>
            <p:cNvSpPr txBox="1">
              <a:spLocks noChangeArrowheads="1"/>
            </p:cNvSpPr>
            <p:nvPr/>
          </p:nvSpPr>
          <p:spPr bwMode="auto">
            <a:xfrm>
              <a:off x="624" y="2930"/>
              <a:ext cx="276" cy="368"/>
            </a:xfrm>
            <a:prstGeom prst="rect">
              <a:avLst/>
            </a:prstGeom>
            <a:noFill/>
            <a:ln w="9525">
              <a:noFill/>
              <a:miter lim="800000"/>
              <a:headEnd/>
              <a:tailEnd/>
            </a:ln>
          </p:spPr>
          <p:txBody>
            <a:bodyPr wrap="none">
              <a:spAutoFit/>
            </a:bodyPr>
            <a:lstStyle/>
            <a:p>
              <a:r>
                <a:rPr lang="en-US" sz="2400"/>
                <a:t>x</a:t>
              </a:r>
            </a:p>
          </p:txBody>
        </p:sp>
        <p:sp>
          <p:nvSpPr>
            <p:cNvPr id="18450" name="Text Box 16"/>
            <p:cNvSpPr txBox="1">
              <a:spLocks noChangeArrowheads="1"/>
            </p:cNvSpPr>
            <p:nvPr/>
          </p:nvSpPr>
          <p:spPr bwMode="auto">
            <a:xfrm>
              <a:off x="1564" y="3024"/>
              <a:ext cx="288" cy="368"/>
            </a:xfrm>
            <a:prstGeom prst="rect">
              <a:avLst/>
            </a:prstGeom>
            <a:noFill/>
            <a:ln w="9525">
              <a:noFill/>
              <a:miter lim="800000"/>
              <a:headEnd/>
              <a:tailEnd/>
            </a:ln>
          </p:spPr>
          <p:txBody>
            <a:bodyPr wrap="none">
              <a:spAutoFit/>
            </a:bodyPr>
            <a:lstStyle/>
            <a:p>
              <a:r>
                <a:rPr lang="en-US" sz="2400"/>
                <a:t>o</a:t>
              </a:r>
            </a:p>
          </p:txBody>
        </p:sp>
        <p:sp>
          <p:nvSpPr>
            <p:cNvPr id="18451" name="Text Box 17"/>
            <p:cNvSpPr txBox="1">
              <a:spLocks noChangeArrowheads="1"/>
            </p:cNvSpPr>
            <p:nvPr/>
          </p:nvSpPr>
          <p:spPr bwMode="auto">
            <a:xfrm>
              <a:off x="1661" y="3120"/>
              <a:ext cx="288" cy="368"/>
            </a:xfrm>
            <a:prstGeom prst="rect">
              <a:avLst/>
            </a:prstGeom>
            <a:noFill/>
            <a:ln w="9525">
              <a:noFill/>
              <a:miter lim="800000"/>
              <a:headEnd/>
              <a:tailEnd/>
            </a:ln>
          </p:spPr>
          <p:txBody>
            <a:bodyPr wrap="none">
              <a:spAutoFit/>
            </a:bodyPr>
            <a:lstStyle/>
            <a:p>
              <a:r>
                <a:rPr lang="en-US" sz="2400"/>
                <a:t>o</a:t>
              </a:r>
            </a:p>
          </p:txBody>
        </p:sp>
        <p:sp>
          <p:nvSpPr>
            <p:cNvPr id="18452" name="Text Box 18"/>
            <p:cNvSpPr txBox="1">
              <a:spLocks noChangeArrowheads="1"/>
            </p:cNvSpPr>
            <p:nvPr/>
          </p:nvSpPr>
          <p:spPr bwMode="auto">
            <a:xfrm>
              <a:off x="1757" y="2930"/>
              <a:ext cx="287" cy="368"/>
            </a:xfrm>
            <a:prstGeom prst="rect">
              <a:avLst/>
            </a:prstGeom>
            <a:noFill/>
            <a:ln w="9525">
              <a:noFill/>
              <a:miter lim="800000"/>
              <a:headEnd/>
              <a:tailEnd/>
            </a:ln>
          </p:spPr>
          <p:txBody>
            <a:bodyPr wrap="none">
              <a:spAutoFit/>
            </a:bodyPr>
            <a:lstStyle/>
            <a:p>
              <a:r>
                <a:rPr lang="en-US" sz="2400"/>
                <a:t>o</a:t>
              </a:r>
            </a:p>
          </p:txBody>
        </p:sp>
        <p:sp>
          <p:nvSpPr>
            <p:cNvPr id="18453" name="Text Box 19"/>
            <p:cNvSpPr txBox="1">
              <a:spLocks noChangeArrowheads="1"/>
            </p:cNvSpPr>
            <p:nvPr/>
          </p:nvSpPr>
          <p:spPr bwMode="auto">
            <a:xfrm>
              <a:off x="1248" y="3216"/>
              <a:ext cx="288" cy="368"/>
            </a:xfrm>
            <a:prstGeom prst="rect">
              <a:avLst/>
            </a:prstGeom>
            <a:noFill/>
            <a:ln w="9525">
              <a:noFill/>
              <a:miter lim="800000"/>
              <a:headEnd/>
              <a:tailEnd/>
            </a:ln>
          </p:spPr>
          <p:txBody>
            <a:bodyPr wrap="none">
              <a:spAutoFit/>
            </a:bodyPr>
            <a:lstStyle/>
            <a:p>
              <a:r>
                <a:rPr lang="en-US" sz="2400"/>
                <a:t>o</a:t>
              </a:r>
            </a:p>
          </p:txBody>
        </p:sp>
        <p:sp>
          <p:nvSpPr>
            <p:cNvPr id="18454" name="Text Box 20"/>
            <p:cNvSpPr txBox="1">
              <a:spLocks noChangeArrowheads="1"/>
            </p:cNvSpPr>
            <p:nvPr/>
          </p:nvSpPr>
          <p:spPr bwMode="auto">
            <a:xfrm>
              <a:off x="1757" y="3360"/>
              <a:ext cx="287" cy="368"/>
            </a:xfrm>
            <a:prstGeom prst="rect">
              <a:avLst/>
            </a:prstGeom>
            <a:noFill/>
            <a:ln w="9525">
              <a:noFill/>
              <a:miter lim="800000"/>
              <a:headEnd/>
              <a:tailEnd/>
            </a:ln>
          </p:spPr>
          <p:txBody>
            <a:bodyPr wrap="none">
              <a:spAutoFit/>
            </a:bodyPr>
            <a:lstStyle/>
            <a:p>
              <a:r>
                <a:rPr lang="en-US" sz="2400"/>
                <a:t>o</a:t>
              </a:r>
            </a:p>
          </p:txBody>
        </p:sp>
        <p:sp>
          <p:nvSpPr>
            <p:cNvPr id="18455" name="Text Box 21"/>
            <p:cNvSpPr txBox="1">
              <a:spLocks noChangeArrowheads="1"/>
            </p:cNvSpPr>
            <p:nvPr/>
          </p:nvSpPr>
          <p:spPr bwMode="auto">
            <a:xfrm>
              <a:off x="2276" y="3216"/>
              <a:ext cx="288" cy="368"/>
            </a:xfrm>
            <a:prstGeom prst="rect">
              <a:avLst/>
            </a:prstGeom>
            <a:noFill/>
            <a:ln w="9525">
              <a:noFill/>
              <a:miter lim="800000"/>
              <a:headEnd/>
              <a:tailEnd/>
            </a:ln>
          </p:spPr>
          <p:txBody>
            <a:bodyPr wrap="none">
              <a:spAutoFit/>
            </a:bodyPr>
            <a:lstStyle/>
            <a:p>
              <a:r>
                <a:rPr lang="en-US" sz="2400"/>
                <a:t>o</a:t>
              </a:r>
            </a:p>
          </p:txBody>
        </p:sp>
        <p:sp>
          <p:nvSpPr>
            <p:cNvPr id="18456" name="Text Box 22"/>
            <p:cNvSpPr txBox="1">
              <a:spLocks noChangeArrowheads="1"/>
            </p:cNvSpPr>
            <p:nvPr/>
          </p:nvSpPr>
          <p:spPr bwMode="auto">
            <a:xfrm>
              <a:off x="2420" y="2496"/>
              <a:ext cx="287" cy="368"/>
            </a:xfrm>
            <a:prstGeom prst="rect">
              <a:avLst/>
            </a:prstGeom>
            <a:noFill/>
            <a:ln w="9525">
              <a:noFill/>
              <a:miter lim="800000"/>
              <a:headEnd/>
              <a:tailEnd/>
            </a:ln>
          </p:spPr>
          <p:txBody>
            <a:bodyPr wrap="none">
              <a:spAutoFit/>
            </a:bodyPr>
            <a:lstStyle/>
            <a:p>
              <a:r>
                <a:rPr lang="en-US" sz="2400"/>
                <a:t>o</a:t>
              </a:r>
            </a:p>
          </p:txBody>
        </p:sp>
        <p:sp>
          <p:nvSpPr>
            <p:cNvPr id="18457" name="Text Box 23"/>
            <p:cNvSpPr txBox="1">
              <a:spLocks noChangeArrowheads="1"/>
            </p:cNvSpPr>
            <p:nvPr/>
          </p:nvSpPr>
          <p:spPr bwMode="auto">
            <a:xfrm>
              <a:off x="2084" y="2880"/>
              <a:ext cx="287" cy="368"/>
            </a:xfrm>
            <a:prstGeom prst="rect">
              <a:avLst/>
            </a:prstGeom>
            <a:noFill/>
            <a:ln w="9525">
              <a:noFill/>
              <a:miter lim="800000"/>
              <a:headEnd/>
              <a:tailEnd/>
            </a:ln>
          </p:spPr>
          <p:txBody>
            <a:bodyPr wrap="none">
              <a:spAutoFit/>
            </a:bodyPr>
            <a:lstStyle/>
            <a:p>
              <a:r>
                <a:rPr lang="en-US" sz="2400"/>
                <a:t>o</a:t>
              </a:r>
            </a:p>
          </p:txBody>
        </p:sp>
        <p:sp>
          <p:nvSpPr>
            <p:cNvPr id="18458" name="Text Box 24"/>
            <p:cNvSpPr txBox="1">
              <a:spLocks noChangeArrowheads="1"/>
            </p:cNvSpPr>
            <p:nvPr/>
          </p:nvSpPr>
          <p:spPr bwMode="auto">
            <a:xfrm>
              <a:off x="960" y="3360"/>
              <a:ext cx="288" cy="368"/>
            </a:xfrm>
            <a:prstGeom prst="rect">
              <a:avLst/>
            </a:prstGeom>
            <a:noFill/>
            <a:ln w="9525">
              <a:noFill/>
              <a:miter lim="800000"/>
              <a:headEnd/>
              <a:tailEnd/>
            </a:ln>
          </p:spPr>
          <p:txBody>
            <a:bodyPr wrap="none">
              <a:spAutoFit/>
            </a:bodyPr>
            <a:lstStyle/>
            <a:p>
              <a:r>
                <a:rPr lang="en-US" sz="2400"/>
                <a:t>o</a:t>
              </a:r>
            </a:p>
          </p:txBody>
        </p:sp>
        <p:sp>
          <p:nvSpPr>
            <p:cNvPr id="18459" name="Text Box 25"/>
            <p:cNvSpPr txBox="1">
              <a:spLocks noChangeArrowheads="1"/>
            </p:cNvSpPr>
            <p:nvPr/>
          </p:nvSpPr>
          <p:spPr bwMode="auto">
            <a:xfrm>
              <a:off x="1392" y="3360"/>
              <a:ext cx="288" cy="368"/>
            </a:xfrm>
            <a:prstGeom prst="rect">
              <a:avLst/>
            </a:prstGeom>
            <a:noFill/>
            <a:ln w="9525">
              <a:noFill/>
              <a:miter lim="800000"/>
              <a:headEnd/>
              <a:tailEnd/>
            </a:ln>
          </p:spPr>
          <p:txBody>
            <a:bodyPr wrap="none">
              <a:spAutoFit/>
            </a:bodyPr>
            <a:lstStyle/>
            <a:p>
              <a:r>
                <a:rPr lang="en-US" sz="2400"/>
                <a:t>o</a:t>
              </a:r>
            </a:p>
          </p:txBody>
        </p:sp>
        <p:sp>
          <p:nvSpPr>
            <p:cNvPr id="18460" name="Text Box 26"/>
            <p:cNvSpPr txBox="1">
              <a:spLocks noChangeArrowheads="1"/>
            </p:cNvSpPr>
            <p:nvPr/>
          </p:nvSpPr>
          <p:spPr bwMode="auto">
            <a:xfrm>
              <a:off x="2468" y="2976"/>
              <a:ext cx="288" cy="368"/>
            </a:xfrm>
            <a:prstGeom prst="rect">
              <a:avLst/>
            </a:prstGeom>
            <a:noFill/>
            <a:ln w="9525">
              <a:noFill/>
              <a:miter lim="800000"/>
              <a:headEnd/>
              <a:tailEnd/>
            </a:ln>
          </p:spPr>
          <p:txBody>
            <a:bodyPr wrap="none">
              <a:spAutoFit/>
            </a:bodyPr>
            <a:lstStyle/>
            <a:p>
              <a:r>
                <a:rPr lang="en-US" sz="2400"/>
                <a:t>o</a:t>
              </a:r>
            </a:p>
          </p:txBody>
        </p:sp>
        <p:sp>
          <p:nvSpPr>
            <p:cNvPr id="18461" name="Text Box 27"/>
            <p:cNvSpPr txBox="1">
              <a:spLocks noChangeArrowheads="1"/>
            </p:cNvSpPr>
            <p:nvPr/>
          </p:nvSpPr>
          <p:spPr bwMode="auto">
            <a:xfrm>
              <a:off x="2324" y="2737"/>
              <a:ext cx="288" cy="368"/>
            </a:xfrm>
            <a:prstGeom prst="rect">
              <a:avLst/>
            </a:prstGeom>
            <a:noFill/>
            <a:ln w="9525">
              <a:noFill/>
              <a:miter lim="800000"/>
              <a:headEnd/>
              <a:tailEnd/>
            </a:ln>
          </p:spPr>
          <p:txBody>
            <a:bodyPr wrap="none">
              <a:spAutoFit/>
            </a:bodyPr>
            <a:lstStyle/>
            <a:p>
              <a:r>
                <a:rPr lang="en-US" sz="2400"/>
                <a:t>o</a:t>
              </a:r>
            </a:p>
          </p:txBody>
        </p:sp>
        <p:sp>
          <p:nvSpPr>
            <p:cNvPr id="18462" name="Text Box 28"/>
            <p:cNvSpPr txBox="1">
              <a:spLocks noChangeArrowheads="1"/>
            </p:cNvSpPr>
            <p:nvPr/>
          </p:nvSpPr>
          <p:spPr bwMode="auto">
            <a:xfrm>
              <a:off x="2516" y="3407"/>
              <a:ext cx="288" cy="368"/>
            </a:xfrm>
            <a:prstGeom prst="rect">
              <a:avLst/>
            </a:prstGeom>
            <a:noFill/>
            <a:ln w="9525">
              <a:noFill/>
              <a:miter lim="800000"/>
              <a:headEnd/>
              <a:tailEnd/>
            </a:ln>
          </p:spPr>
          <p:txBody>
            <a:bodyPr wrap="none">
              <a:spAutoFit/>
            </a:bodyPr>
            <a:lstStyle/>
            <a:p>
              <a:r>
                <a:rPr lang="en-US" sz="2400"/>
                <a:t>o</a:t>
              </a:r>
            </a:p>
          </p:txBody>
        </p:sp>
        <p:sp>
          <p:nvSpPr>
            <p:cNvPr id="18463" name="Line 29"/>
            <p:cNvSpPr>
              <a:spLocks noChangeShapeType="1"/>
            </p:cNvSpPr>
            <p:nvPr/>
          </p:nvSpPr>
          <p:spPr bwMode="auto">
            <a:xfrm flipH="1" flipV="1">
              <a:off x="1680" y="2448"/>
              <a:ext cx="144" cy="192"/>
            </a:xfrm>
            <a:prstGeom prst="line">
              <a:avLst/>
            </a:prstGeom>
            <a:noFill/>
            <a:ln w="25400">
              <a:solidFill>
                <a:schemeClr val="tx1"/>
              </a:solidFill>
              <a:miter lim="800000"/>
              <a:headEnd/>
              <a:tailEnd type="triangle" w="med" len="med"/>
            </a:ln>
          </p:spPr>
          <p:txBody>
            <a:bodyPr wrap="none"/>
            <a:lstStyle/>
            <a:p>
              <a:endParaRPr lang="en-US"/>
            </a:p>
          </p:txBody>
        </p:sp>
        <p:sp>
          <p:nvSpPr>
            <p:cNvPr id="18464" name="Line 30"/>
            <p:cNvSpPr>
              <a:spLocks noChangeShapeType="1"/>
            </p:cNvSpPr>
            <p:nvPr/>
          </p:nvSpPr>
          <p:spPr bwMode="auto">
            <a:xfrm>
              <a:off x="1680" y="2784"/>
              <a:ext cx="144" cy="192"/>
            </a:xfrm>
            <a:prstGeom prst="line">
              <a:avLst/>
            </a:prstGeom>
            <a:noFill/>
            <a:ln w="25400">
              <a:solidFill>
                <a:schemeClr val="tx1"/>
              </a:solidFill>
              <a:miter lim="800000"/>
              <a:headEnd/>
              <a:tailEnd type="triangle" w="med" len="med"/>
            </a:ln>
          </p:spPr>
          <p:txBody>
            <a:bodyPr wrap="none"/>
            <a:lstStyle/>
            <a:p>
              <a:endParaRPr lang="en-US"/>
            </a:p>
          </p:txBody>
        </p:sp>
      </p:gr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FF478FBC-9760-4B2B-8C49-B79095AA92A5}" type="slidenum">
              <a:rPr lang="en-US" sz="1200"/>
              <a:pPr algn="r"/>
              <a:t>102</a:t>
            </a:fld>
            <a:endParaRPr lang="en-US" sz="1200"/>
          </a:p>
        </p:txBody>
      </p:sp>
      <p:sp>
        <p:nvSpPr>
          <p:cNvPr id="19459" name="Rectangle 2"/>
          <p:cNvSpPr>
            <a:spLocks noGrp="1" noChangeArrowheads="1"/>
          </p:cNvSpPr>
          <p:nvPr>
            <p:ph type="title" idx="4294967295"/>
          </p:nvPr>
        </p:nvSpPr>
        <p:spPr>
          <a:xfrm>
            <a:off x="382588" y="436563"/>
            <a:ext cx="8380412" cy="498475"/>
          </a:xfrm>
          <a:noFill/>
        </p:spPr>
        <p:txBody>
          <a:bodyPr lIns="92075" tIns="46038" rIns="92075" bIns="46038"/>
          <a:lstStyle/>
          <a:p>
            <a:pPr eaLnBrk="1" hangingPunct="1"/>
            <a:r>
              <a:rPr lang="en-US" smtClean="0"/>
              <a:t>Discriminative Classifiers</a:t>
            </a:r>
          </a:p>
        </p:txBody>
      </p:sp>
      <p:sp>
        <p:nvSpPr>
          <p:cNvPr id="19460" name="Rectangle 3"/>
          <p:cNvSpPr>
            <a:spLocks noGrp="1" noChangeArrowheads="1"/>
          </p:cNvSpPr>
          <p:nvPr>
            <p:ph type="body" idx="4294967295"/>
          </p:nvPr>
        </p:nvSpPr>
        <p:spPr>
          <a:xfrm>
            <a:off x="228600" y="1371600"/>
            <a:ext cx="8686800" cy="5105400"/>
          </a:xfrm>
          <a:noFill/>
        </p:spPr>
        <p:txBody>
          <a:bodyPr lIns="92075" tIns="46038" rIns="92075" bIns="46038"/>
          <a:lstStyle/>
          <a:p>
            <a:pPr eaLnBrk="1" hangingPunct="1">
              <a:lnSpc>
                <a:spcPct val="90000"/>
              </a:lnSpc>
            </a:pPr>
            <a:r>
              <a:rPr lang="en-US" sz="2400" smtClean="0"/>
              <a:t>Advantages</a:t>
            </a:r>
          </a:p>
          <a:p>
            <a:pPr lvl="1" eaLnBrk="1" hangingPunct="1">
              <a:lnSpc>
                <a:spcPct val="90000"/>
              </a:lnSpc>
            </a:pPr>
            <a:r>
              <a:rPr lang="en-US" sz="2400" smtClean="0"/>
              <a:t>Prediction accuracy is generally high </a:t>
            </a:r>
          </a:p>
          <a:p>
            <a:pPr lvl="2" eaLnBrk="1" hangingPunct="1">
              <a:lnSpc>
                <a:spcPct val="90000"/>
              </a:lnSpc>
            </a:pPr>
            <a:r>
              <a:rPr lang="en-US" smtClean="0">
                <a:solidFill>
                  <a:schemeClr val="folHlink"/>
                </a:solidFill>
              </a:rPr>
              <a:t>As compared to Bayesian methods – in general</a:t>
            </a:r>
          </a:p>
          <a:p>
            <a:pPr lvl="1" eaLnBrk="1" hangingPunct="1">
              <a:lnSpc>
                <a:spcPct val="90000"/>
              </a:lnSpc>
            </a:pPr>
            <a:r>
              <a:rPr lang="en-US" sz="2400" smtClean="0"/>
              <a:t>Robust, works when training examples contain errors</a:t>
            </a:r>
          </a:p>
          <a:p>
            <a:pPr lvl="1" eaLnBrk="1" hangingPunct="1">
              <a:lnSpc>
                <a:spcPct val="90000"/>
              </a:lnSpc>
            </a:pPr>
            <a:r>
              <a:rPr lang="en-US" sz="2400" smtClean="0"/>
              <a:t>Fast evaluation of the learned target function</a:t>
            </a:r>
          </a:p>
          <a:p>
            <a:pPr lvl="2" eaLnBrk="1" hangingPunct="1">
              <a:lnSpc>
                <a:spcPct val="90000"/>
              </a:lnSpc>
            </a:pPr>
            <a:r>
              <a:rPr lang="en-US" smtClean="0">
                <a:solidFill>
                  <a:schemeClr val="folHlink"/>
                </a:solidFill>
              </a:rPr>
              <a:t>Bayesian networks are normally slow </a:t>
            </a:r>
          </a:p>
          <a:p>
            <a:pPr eaLnBrk="1" hangingPunct="1">
              <a:lnSpc>
                <a:spcPct val="90000"/>
              </a:lnSpc>
            </a:pPr>
            <a:r>
              <a:rPr lang="en-US" sz="2400" smtClean="0"/>
              <a:t>Criticism</a:t>
            </a:r>
          </a:p>
          <a:p>
            <a:pPr lvl="1" eaLnBrk="1" hangingPunct="1">
              <a:lnSpc>
                <a:spcPct val="90000"/>
              </a:lnSpc>
            </a:pPr>
            <a:r>
              <a:rPr lang="en-US" sz="2400" smtClean="0"/>
              <a:t>Long training time</a:t>
            </a:r>
          </a:p>
          <a:p>
            <a:pPr lvl="1" eaLnBrk="1" hangingPunct="1">
              <a:lnSpc>
                <a:spcPct val="90000"/>
              </a:lnSpc>
            </a:pPr>
            <a:r>
              <a:rPr lang="en-US" sz="2400" smtClean="0"/>
              <a:t>Difficult to understand the learned function (weights)</a:t>
            </a:r>
          </a:p>
          <a:p>
            <a:pPr lvl="2" eaLnBrk="1" hangingPunct="1">
              <a:lnSpc>
                <a:spcPct val="90000"/>
              </a:lnSpc>
            </a:pPr>
            <a:r>
              <a:rPr lang="en-US" smtClean="0">
                <a:solidFill>
                  <a:schemeClr val="folHlink"/>
                </a:solidFill>
              </a:rPr>
              <a:t>Bayesian networks can be used easily for pattern discovery</a:t>
            </a:r>
          </a:p>
          <a:p>
            <a:pPr lvl="1" eaLnBrk="1" hangingPunct="1">
              <a:lnSpc>
                <a:spcPct val="90000"/>
              </a:lnSpc>
            </a:pPr>
            <a:r>
              <a:rPr lang="en-US" sz="2400" smtClean="0"/>
              <a:t>Not easy to incorporate domain knowledge</a:t>
            </a:r>
          </a:p>
          <a:p>
            <a:pPr lvl="2" eaLnBrk="1" hangingPunct="1">
              <a:lnSpc>
                <a:spcPct val="90000"/>
              </a:lnSpc>
            </a:pPr>
            <a:r>
              <a:rPr lang="en-US" smtClean="0">
                <a:solidFill>
                  <a:schemeClr val="folHlink"/>
                </a:solidFill>
              </a:rPr>
              <a:t>Easy in the form of priors on the data or distributions</a:t>
            </a: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4294967295"/>
          </p:nvPr>
        </p:nvSpPr>
        <p:spPr>
          <a:xfrm>
            <a:off x="7239000" y="6477000"/>
            <a:ext cx="1905000" cy="381000"/>
          </a:xfrm>
          <a:prstGeom prst="rect">
            <a:avLst/>
          </a:prstGeom>
          <a:noFill/>
        </p:spPr>
        <p:txBody>
          <a:bodyPr/>
          <a:lstStyle/>
          <a:p>
            <a:fld id="{8BDF28BA-F76F-481E-9053-1F13498E1401}" type="slidenum">
              <a:rPr lang="en-US" smtClean="0"/>
              <a:pPr/>
              <a:t>103</a:t>
            </a:fld>
            <a:endParaRPr lang="en-US" smtClean="0"/>
          </a:p>
        </p:txBody>
      </p:sp>
      <p:sp>
        <p:nvSpPr>
          <p:cNvPr id="20483" name="Rectangle 2"/>
          <p:cNvSpPr>
            <a:spLocks noGrp="1" noChangeArrowheads="1"/>
          </p:cNvSpPr>
          <p:nvPr>
            <p:ph type="title"/>
          </p:nvPr>
        </p:nvSpPr>
        <p:spPr>
          <a:xfrm>
            <a:off x="304800" y="304800"/>
            <a:ext cx="8534400" cy="609600"/>
          </a:xfrm>
        </p:spPr>
        <p:txBody>
          <a:bodyPr/>
          <a:lstStyle/>
          <a:p>
            <a:pPr eaLnBrk="1" hangingPunct="1"/>
            <a:r>
              <a:rPr lang="en-US" smtClean="0"/>
              <a:t>SVM—Support Vector Machines</a:t>
            </a:r>
          </a:p>
        </p:txBody>
      </p:sp>
      <p:sp>
        <p:nvSpPr>
          <p:cNvPr id="20484" name="Rectangle 3"/>
          <p:cNvSpPr>
            <a:spLocks noGrp="1" noChangeArrowheads="1"/>
          </p:cNvSpPr>
          <p:nvPr>
            <p:ph type="body" idx="1"/>
          </p:nvPr>
        </p:nvSpPr>
        <p:spPr>
          <a:xfrm>
            <a:off x="304800" y="1295400"/>
            <a:ext cx="8458200" cy="5181600"/>
          </a:xfrm>
        </p:spPr>
        <p:txBody>
          <a:bodyPr/>
          <a:lstStyle/>
          <a:p>
            <a:pPr eaLnBrk="1" hangingPunct="1">
              <a:lnSpc>
                <a:spcPct val="110000"/>
              </a:lnSpc>
            </a:pPr>
            <a:r>
              <a:rPr lang="en-US" sz="2400" smtClean="0"/>
              <a:t>A relatively new classification method for both </a:t>
            </a:r>
            <a:r>
              <a:rPr lang="en-US" sz="2400" u="sng" smtClean="0"/>
              <a:t>linear and nonlinear</a:t>
            </a:r>
            <a:r>
              <a:rPr lang="en-US" sz="2400" smtClean="0"/>
              <a:t> data</a:t>
            </a:r>
          </a:p>
          <a:p>
            <a:pPr eaLnBrk="1" hangingPunct="1">
              <a:lnSpc>
                <a:spcPct val="110000"/>
              </a:lnSpc>
            </a:pPr>
            <a:r>
              <a:rPr lang="en-US" sz="2400" smtClean="0"/>
              <a:t>It uses a </a:t>
            </a:r>
            <a:r>
              <a:rPr lang="en-US" sz="2400" u="sng" smtClean="0"/>
              <a:t>nonlinear mapping</a:t>
            </a:r>
            <a:r>
              <a:rPr lang="en-US" sz="2400" smtClean="0"/>
              <a:t> to transform the original training data into a higher dimension</a:t>
            </a:r>
          </a:p>
          <a:p>
            <a:pPr eaLnBrk="1" hangingPunct="1">
              <a:lnSpc>
                <a:spcPct val="110000"/>
              </a:lnSpc>
            </a:pPr>
            <a:r>
              <a:rPr lang="en-US" sz="2400" smtClean="0"/>
              <a:t>With the new dimension, it searches for the linear optimal separating </a:t>
            </a:r>
            <a:r>
              <a:rPr lang="en-US" sz="2400" b="1" smtClean="0"/>
              <a:t>hyperplane</a:t>
            </a:r>
            <a:r>
              <a:rPr lang="en-US" sz="2400" smtClean="0"/>
              <a:t> (i.e., “decision boundary”)</a:t>
            </a:r>
          </a:p>
          <a:p>
            <a:pPr eaLnBrk="1" hangingPunct="1">
              <a:lnSpc>
                <a:spcPct val="110000"/>
              </a:lnSpc>
            </a:pPr>
            <a:r>
              <a:rPr lang="en-US" sz="2400" smtClean="0"/>
              <a:t>With an appropriate nonlinear mapping to a sufficiently high dimension, data from two classes can always be separated by a hyperplane</a:t>
            </a:r>
          </a:p>
          <a:p>
            <a:pPr eaLnBrk="1" hangingPunct="1">
              <a:lnSpc>
                <a:spcPct val="110000"/>
              </a:lnSpc>
            </a:pPr>
            <a:r>
              <a:rPr lang="en-US" sz="2400" smtClean="0"/>
              <a:t>SVM finds this hyperplane using </a:t>
            </a:r>
            <a:r>
              <a:rPr lang="en-US" sz="2400" b="1" smtClean="0"/>
              <a:t>support vectors</a:t>
            </a:r>
            <a:r>
              <a:rPr lang="en-US" sz="2400" smtClean="0"/>
              <a:t> (“essential” training tuples) and </a:t>
            </a:r>
            <a:r>
              <a:rPr lang="en-US" sz="2400" b="1" smtClean="0"/>
              <a:t>margins</a:t>
            </a:r>
            <a:r>
              <a:rPr lang="en-US" sz="2400" smtClean="0"/>
              <a:t> (defined by the support vectors)</a:t>
            </a: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4294967295"/>
          </p:nvPr>
        </p:nvSpPr>
        <p:spPr>
          <a:xfrm>
            <a:off x="7239000" y="6477000"/>
            <a:ext cx="1905000" cy="381000"/>
          </a:xfrm>
          <a:prstGeom prst="rect">
            <a:avLst/>
          </a:prstGeom>
          <a:noFill/>
        </p:spPr>
        <p:txBody>
          <a:bodyPr/>
          <a:lstStyle/>
          <a:p>
            <a:fld id="{F0201DDF-E396-43D7-B4BE-A128F881FBD7}" type="slidenum">
              <a:rPr lang="en-US" smtClean="0"/>
              <a:pPr/>
              <a:t>104</a:t>
            </a:fld>
            <a:endParaRPr lang="en-US" smtClean="0"/>
          </a:p>
        </p:txBody>
      </p:sp>
      <p:sp>
        <p:nvSpPr>
          <p:cNvPr id="21507" name="Rectangle 2"/>
          <p:cNvSpPr>
            <a:spLocks noGrp="1" noChangeArrowheads="1"/>
          </p:cNvSpPr>
          <p:nvPr>
            <p:ph type="title"/>
          </p:nvPr>
        </p:nvSpPr>
        <p:spPr/>
        <p:txBody>
          <a:bodyPr/>
          <a:lstStyle/>
          <a:p>
            <a:pPr eaLnBrk="1" hangingPunct="1"/>
            <a:r>
              <a:rPr lang="en-US" smtClean="0"/>
              <a:t>SVM—History and Applications</a:t>
            </a:r>
          </a:p>
        </p:txBody>
      </p:sp>
      <p:sp>
        <p:nvSpPr>
          <p:cNvPr id="21508" name="Rectangle 3"/>
          <p:cNvSpPr>
            <a:spLocks noGrp="1" noChangeArrowheads="1"/>
          </p:cNvSpPr>
          <p:nvPr>
            <p:ph type="body" idx="1"/>
          </p:nvPr>
        </p:nvSpPr>
        <p:spPr>
          <a:xfrm>
            <a:off x="304800" y="1295400"/>
            <a:ext cx="8382000" cy="5181600"/>
          </a:xfrm>
        </p:spPr>
        <p:txBody>
          <a:bodyPr/>
          <a:lstStyle/>
          <a:p>
            <a:pPr eaLnBrk="1" hangingPunct="1">
              <a:lnSpc>
                <a:spcPct val="130000"/>
              </a:lnSpc>
            </a:pPr>
            <a:r>
              <a:rPr lang="en-US" sz="2400" smtClean="0"/>
              <a:t>Vapnik and colleagues (1992)—groundwork from Vapnik &amp; Chervonenkis’ statistical learning theory in 1960s</a:t>
            </a:r>
          </a:p>
          <a:p>
            <a:pPr eaLnBrk="1" hangingPunct="1">
              <a:lnSpc>
                <a:spcPct val="130000"/>
              </a:lnSpc>
            </a:pPr>
            <a:r>
              <a:rPr lang="en-US" sz="2400" u="sng" smtClean="0"/>
              <a:t>Features</a:t>
            </a:r>
            <a:r>
              <a:rPr lang="en-US" sz="2400" smtClean="0"/>
              <a:t>: training can be slow but accuracy is high owing to their ability to model complex nonlinear decision boundaries (margin maximization</a:t>
            </a:r>
            <a:r>
              <a:rPr lang="en-US" sz="2000" smtClean="0"/>
              <a:t>)</a:t>
            </a:r>
          </a:p>
          <a:p>
            <a:pPr eaLnBrk="1" hangingPunct="1">
              <a:lnSpc>
                <a:spcPct val="130000"/>
              </a:lnSpc>
            </a:pPr>
            <a:r>
              <a:rPr lang="en-US" sz="2400" u="sng" smtClean="0"/>
              <a:t>Used for</a:t>
            </a:r>
            <a:r>
              <a:rPr lang="en-US" sz="2400" smtClean="0"/>
              <a:t>: classification and numeric prediction</a:t>
            </a:r>
          </a:p>
          <a:p>
            <a:pPr eaLnBrk="1" hangingPunct="1">
              <a:lnSpc>
                <a:spcPct val="130000"/>
              </a:lnSpc>
            </a:pPr>
            <a:r>
              <a:rPr lang="en-US" sz="2400" u="sng" smtClean="0"/>
              <a:t>Applications</a:t>
            </a:r>
            <a:r>
              <a:rPr lang="en-US" sz="2400" smtClean="0"/>
              <a:t>: </a:t>
            </a:r>
          </a:p>
          <a:p>
            <a:pPr lvl="1" eaLnBrk="1" hangingPunct="1">
              <a:lnSpc>
                <a:spcPct val="130000"/>
              </a:lnSpc>
            </a:pPr>
            <a:r>
              <a:rPr lang="en-US" sz="2400" smtClean="0"/>
              <a:t>handwritten digit recognition, object recognition, speaker identification, benchmarking time-series prediction tests </a:t>
            </a: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4294967295"/>
          </p:nvPr>
        </p:nvSpPr>
        <p:spPr>
          <a:xfrm>
            <a:off x="7239000" y="6477000"/>
            <a:ext cx="1905000" cy="381000"/>
          </a:xfrm>
          <a:prstGeom prst="rect">
            <a:avLst/>
          </a:prstGeom>
          <a:noFill/>
        </p:spPr>
        <p:txBody>
          <a:bodyPr/>
          <a:lstStyle/>
          <a:p>
            <a:fld id="{CBCBB760-780D-44BA-BBA1-C52ADB2515C0}" type="slidenum">
              <a:rPr lang="en-US" smtClean="0"/>
              <a:pPr/>
              <a:t>105</a:t>
            </a:fld>
            <a:endParaRPr lang="en-US" smtClean="0"/>
          </a:p>
        </p:txBody>
      </p:sp>
      <p:sp>
        <p:nvSpPr>
          <p:cNvPr id="22531" name="Rectangle 1026"/>
          <p:cNvSpPr>
            <a:spLocks noGrp="1" noChangeArrowheads="1"/>
          </p:cNvSpPr>
          <p:nvPr>
            <p:ph type="title"/>
          </p:nvPr>
        </p:nvSpPr>
        <p:spPr>
          <a:xfrm>
            <a:off x="304800" y="381000"/>
            <a:ext cx="8610600" cy="609600"/>
          </a:xfrm>
          <a:noFill/>
        </p:spPr>
        <p:txBody>
          <a:bodyPr lIns="92075" tIns="46038" rIns="92075" bIns="46038"/>
          <a:lstStyle/>
          <a:p>
            <a:pPr eaLnBrk="1" hangingPunct="1"/>
            <a:r>
              <a:rPr lang="en-US" smtClean="0"/>
              <a:t>SVM—General Philosophy</a:t>
            </a:r>
          </a:p>
        </p:txBody>
      </p:sp>
      <p:grpSp>
        <p:nvGrpSpPr>
          <p:cNvPr id="2" name="Group 1027"/>
          <p:cNvGrpSpPr>
            <a:grpSpLocks/>
          </p:cNvGrpSpPr>
          <p:nvPr/>
        </p:nvGrpSpPr>
        <p:grpSpPr bwMode="auto">
          <a:xfrm>
            <a:off x="534988" y="2057400"/>
            <a:ext cx="4114800" cy="2667000"/>
            <a:chOff x="337" y="1296"/>
            <a:chExt cx="2592" cy="1680"/>
          </a:xfrm>
        </p:grpSpPr>
        <p:sp>
          <p:nvSpPr>
            <p:cNvPr id="22580" name="Oval 1028"/>
            <p:cNvSpPr>
              <a:spLocks noChangeArrowheads="1"/>
            </p:cNvSpPr>
            <p:nvPr/>
          </p:nvSpPr>
          <p:spPr bwMode="auto">
            <a:xfrm>
              <a:off x="760" y="2622"/>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1" name="Oval 1029"/>
            <p:cNvSpPr>
              <a:spLocks noChangeArrowheads="1"/>
            </p:cNvSpPr>
            <p:nvPr/>
          </p:nvSpPr>
          <p:spPr bwMode="auto">
            <a:xfrm>
              <a:off x="813" y="2313"/>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2" name="Oval 1030"/>
            <p:cNvSpPr>
              <a:spLocks noChangeArrowheads="1"/>
            </p:cNvSpPr>
            <p:nvPr/>
          </p:nvSpPr>
          <p:spPr bwMode="auto">
            <a:xfrm>
              <a:off x="522"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3" name="Oval 1031"/>
            <p:cNvSpPr>
              <a:spLocks noChangeArrowheads="1"/>
            </p:cNvSpPr>
            <p:nvPr/>
          </p:nvSpPr>
          <p:spPr bwMode="auto">
            <a:xfrm>
              <a:off x="681" y="2224"/>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4" name="Oval 1032"/>
            <p:cNvSpPr>
              <a:spLocks noChangeArrowheads="1"/>
            </p:cNvSpPr>
            <p:nvPr/>
          </p:nvSpPr>
          <p:spPr bwMode="auto">
            <a:xfrm>
              <a:off x="945" y="2534"/>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5" name="Oval 1033"/>
            <p:cNvSpPr>
              <a:spLocks noChangeArrowheads="1"/>
            </p:cNvSpPr>
            <p:nvPr/>
          </p:nvSpPr>
          <p:spPr bwMode="auto">
            <a:xfrm>
              <a:off x="840" y="2048"/>
              <a:ext cx="52"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6" name="Oval 1034"/>
            <p:cNvSpPr>
              <a:spLocks noChangeArrowheads="1"/>
            </p:cNvSpPr>
            <p:nvPr/>
          </p:nvSpPr>
          <p:spPr bwMode="auto">
            <a:xfrm>
              <a:off x="972" y="2269"/>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7" name="Oval 1035"/>
            <p:cNvSpPr>
              <a:spLocks noChangeArrowheads="1"/>
            </p:cNvSpPr>
            <p:nvPr/>
          </p:nvSpPr>
          <p:spPr bwMode="auto">
            <a:xfrm>
              <a:off x="998" y="2003"/>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8" name="Oval 1036"/>
            <p:cNvSpPr>
              <a:spLocks noChangeArrowheads="1"/>
            </p:cNvSpPr>
            <p:nvPr/>
          </p:nvSpPr>
          <p:spPr bwMode="auto">
            <a:xfrm>
              <a:off x="1104" y="2180"/>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89" name="Oval 1037"/>
            <p:cNvSpPr>
              <a:spLocks noChangeArrowheads="1"/>
            </p:cNvSpPr>
            <p:nvPr/>
          </p:nvSpPr>
          <p:spPr bwMode="auto">
            <a:xfrm>
              <a:off x="1183"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90" name="Oval 1038"/>
            <p:cNvSpPr>
              <a:spLocks noChangeArrowheads="1"/>
            </p:cNvSpPr>
            <p:nvPr/>
          </p:nvSpPr>
          <p:spPr bwMode="auto">
            <a:xfrm>
              <a:off x="1051" y="2711"/>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91" name="Oval 1039"/>
            <p:cNvSpPr>
              <a:spLocks noChangeArrowheads="1"/>
            </p:cNvSpPr>
            <p:nvPr/>
          </p:nvSpPr>
          <p:spPr bwMode="auto">
            <a:xfrm>
              <a:off x="1369" y="2578"/>
              <a:ext cx="52"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92" name="Oval 1040"/>
            <p:cNvSpPr>
              <a:spLocks noChangeArrowheads="1"/>
            </p:cNvSpPr>
            <p:nvPr/>
          </p:nvSpPr>
          <p:spPr bwMode="auto">
            <a:xfrm>
              <a:off x="1025" y="1738"/>
              <a:ext cx="53" cy="89"/>
            </a:xfrm>
            <a:prstGeom prst="ellipse">
              <a:avLst/>
            </a:prstGeom>
            <a:solidFill>
              <a:schemeClr val="accent1"/>
            </a:solidFill>
            <a:ln w="9525">
              <a:solidFill>
                <a:schemeClr val="tx1"/>
              </a:solidFill>
              <a:round/>
              <a:headEnd/>
              <a:tailEnd/>
            </a:ln>
          </p:spPr>
          <p:txBody>
            <a:bodyPr wrap="none" anchor="ctr"/>
            <a:lstStyle/>
            <a:p>
              <a:endParaRPr lang="en-US"/>
            </a:p>
          </p:txBody>
        </p:sp>
        <p:grpSp>
          <p:nvGrpSpPr>
            <p:cNvPr id="3" name="Group 1041"/>
            <p:cNvGrpSpPr>
              <a:grpSpLocks/>
            </p:cNvGrpSpPr>
            <p:nvPr/>
          </p:nvGrpSpPr>
          <p:grpSpPr bwMode="auto">
            <a:xfrm>
              <a:off x="1712" y="1473"/>
              <a:ext cx="741" cy="1061"/>
              <a:chOff x="1712" y="1473"/>
              <a:chExt cx="741" cy="1061"/>
            </a:xfrm>
          </p:grpSpPr>
          <p:sp>
            <p:nvSpPr>
              <p:cNvPr id="22598" name="Rectangle 1042"/>
              <p:cNvSpPr>
                <a:spLocks noChangeArrowheads="1"/>
              </p:cNvSpPr>
              <p:nvPr/>
            </p:nvSpPr>
            <p:spPr bwMode="auto">
              <a:xfrm>
                <a:off x="1871" y="1959"/>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99" name="Rectangle 1043"/>
              <p:cNvSpPr>
                <a:spLocks noChangeArrowheads="1"/>
              </p:cNvSpPr>
              <p:nvPr/>
            </p:nvSpPr>
            <p:spPr bwMode="auto">
              <a:xfrm>
                <a:off x="1712" y="160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0" name="Rectangle 1044"/>
              <p:cNvSpPr>
                <a:spLocks noChangeArrowheads="1"/>
              </p:cNvSpPr>
              <p:nvPr/>
            </p:nvSpPr>
            <p:spPr bwMode="auto">
              <a:xfrm>
                <a:off x="1924" y="1473"/>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1" name="Rectangle 1045"/>
              <p:cNvSpPr>
                <a:spLocks noChangeArrowheads="1"/>
              </p:cNvSpPr>
              <p:nvPr/>
            </p:nvSpPr>
            <p:spPr bwMode="auto">
              <a:xfrm>
                <a:off x="2003" y="2224"/>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2" name="Rectangle 1046"/>
              <p:cNvSpPr>
                <a:spLocks noChangeArrowheads="1"/>
              </p:cNvSpPr>
              <p:nvPr/>
            </p:nvSpPr>
            <p:spPr bwMode="auto">
              <a:xfrm>
                <a:off x="1977" y="1694"/>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3" name="Rectangle 1047"/>
              <p:cNvSpPr>
                <a:spLocks noChangeArrowheads="1"/>
              </p:cNvSpPr>
              <p:nvPr/>
            </p:nvSpPr>
            <p:spPr bwMode="auto">
              <a:xfrm>
                <a:off x="2083" y="1915"/>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4" name="Rectangle 1048"/>
              <p:cNvSpPr>
                <a:spLocks noChangeArrowheads="1"/>
              </p:cNvSpPr>
              <p:nvPr/>
            </p:nvSpPr>
            <p:spPr bwMode="auto">
              <a:xfrm>
                <a:off x="2056" y="1473"/>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5" name="Rectangle 1049"/>
              <p:cNvSpPr>
                <a:spLocks noChangeArrowheads="1"/>
              </p:cNvSpPr>
              <p:nvPr/>
            </p:nvSpPr>
            <p:spPr bwMode="auto">
              <a:xfrm>
                <a:off x="2215" y="156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6" name="Rectangle 1050"/>
              <p:cNvSpPr>
                <a:spLocks noChangeArrowheads="1"/>
              </p:cNvSpPr>
              <p:nvPr/>
            </p:nvSpPr>
            <p:spPr bwMode="auto">
              <a:xfrm>
                <a:off x="2162" y="2048"/>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7" name="Rectangle 1051"/>
              <p:cNvSpPr>
                <a:spLocks noChangeArrowheads="1"/>
              </p:cNvSpPr>
              <p:nvPr/>
            </p:nvSpPr>
            <p:spPr bwMode="auto">
              <a:xfrm>
                <a:off x="2241" y="1827"/>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8" name="Rectangle 1052"/>
              <p:cNvSpPr>
                <a:spLocks noChangeArrowheads="1"/>
              </p:cNvSpPr>
              <p:nvPr/>
            </p:nvSpPr>
            <p:spPr bwMode="auto">
              <a:xfrm>
                <a:off x="2215" y="240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09" name="Rectangle 1053"/>
              <p:cNvSpPr>
                <a:spLocks noChangeArrowheads="1"/>
              </p:cNvSpPr>
              <p:nvPr/>
            </p:nvSpPr>
            <p:spPr bwMode="auto">
              <a:xfrm>
                <a:off x="2374" y="1959"/>
                <a:ext cx="52"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10" name="Rectangle 1054"/>
              <p:cNvSpPr>
                <a:spLocks noChangeArrowheads="1"/>
              </p:cNvSpPr>
              <p:nvPr/>
            </p:nvSpPr>
            <p:spPr bwMode="auto">
              <a:xfrm>
                <a:off x="2374" y="2269"/>
                <a:ext cx="52"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611" name="Rectangle 1055"/>
              <p:cNvSpPr>
                <a:spLocks noChangeArrowheads="1"/>
              </p:cNvSpPr>
              <p:nvPr/>
            </p:nvSpPr>
            <p:spPr bwMode="auto">
              <a:xfrm>
                <a:off x="2400" y="244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grpSp>
        <p:sp>
          <p:nvSpPr>
            <p:cNvPr id="22594" name="Rectangle 1056"/>
            <p:cNvSpPr>
              <a:spLocks noChangeArrowheads="1"/>
            </p:cNvSpPr>
            <p:nvPr/>
          </p:nvSpPr>
          <p:spPr bwMode="auto">
            <a:xfrm>
              <a:off x="337" y="1296"/>
              <a:ext cx="2592" cy="1680"/>
            </a:xfrm>
            <a:prstGeom prst="rect">
              <a:avLst/>
            </a:prstGeom>
            <a:noFill/>
            <a:ln w="9525">
              <a:solidFill>
                <a:schemeClr val="tx1"/>
              </a:solidFill>
              <a:miter lim="800000"/>
              <a:headEnd/>
              <a:tailEnd/>
            </a:ln>
          </p:spPr>
          <p:txBody>
            <a:bodyPr wrap="none" anchor="ctr"/>
            <a:lstStyle/>
            <a:p>
              <a:endParaRPr lang="en-US"/>
            </a:p>
          </p:txBody>
        </p:sp>
        <p:sp>
          <p:nvSpPr>
            <p:cNvPr id="22595" name="Line 1057"/>
            <p:cNvSpPr>
              <a:spLocks noChangeShapeType="1"/>
            </p:cNvSpPr>
            <p:nvPr/>
          </p:nvSpPr>
          <p:spPr bwMode="auto">
            <a:xfrm>
              <a:off x="1686" y="1384"/>
              <a:ext cx="79" cy="1504"/>
            </a:xfrm>
            <a:prstGeom prst="line">
              <a:avLst/>
            </a:prstGeom>
            <a:noFill/>
            <a:ln w="9525">
              <a:solidFill>
                <a:schemeClr val="tx1"/>
              </a:solidFill>
              <a:prstDash val="dash"/>
              <a:round/>
              <a:headEnd/>
              <a:tailEnd/>
            </a:ln>
          </p:spPr>
          <p:txBody>
            <a:bodyPr/>
            <a:lstStyle/>
            <a:p>
              <a:endParaRPr lang="en-US"/>
            </a:p>
          </p:txBody>
        </p:sp>
        <p:sp>
          <p:nvSpPr>
            <p:cNvPr id="22596" name="Line 1058"/>
            <p:cNvSpPr>
              <a:spLocks noChangeShapeType="1"/>
            </p:cNvSpPr>
            <p:nvPr/>
          </p:nvSpPr>
          <p:spPr bwMode="auto">
            <a:xfrm>
              <a:off x="1395" y="1428"/>
              <a:ext cx="79" cy="1504"/>
            </a:xfrm>
            <a:prstGeom prst="line">
              <a:avLst/>
            </a:prstGeom>
            <a:noFill/>
            <a:ln w="9525">
              <a:solidFill>
                <a:schemeClr val="tx1"/>
              </a:solidFill>
              <a:prstDash val="dash"/>
              <a:round/>
              <a:headEnd/>
              <a:tailEnd/>
            </a:ln>
          </p:spPr>
          <p:txBody>
            <a:bodyPr/>
            <a:lstStyle/>
            <a:p>
              <a:endParaRPr lang="en-US"/>
            </a:p>
          </p:txBody>
        </p:sp>
        <p:sp>
          <p:nvSpPr>
            <p:cNvPr id="22597" name="Line 1059"/>
            <p:cNvSpPr>
              <a:spLocks noChangeShapeType="1"/>
            </p:cNvSpPr>
            <p:nvPr/>
          </p:nvSpPr>
          <p:spPr bwMode="auto">
            <a:xfrm>
              <a:off x="1554" y="1428"/>
              <a:ext cx="79" cy="1504"/>
            </a:xfrm>
            <a:prstGeom prst="line">
              <a:avLst/>
            </a:prstGeom>
            <a:noFill/>
            <a:ln w="9525">
              <a:solidFill>
                <a:schemeClr val="tx1"/>
              </a:solidFill>
              <a:round/>
              <a:headEnd/>
              <a:tailEnd/>
            </a:ln>
          </p:spPr>
          <p:txBody>
            <a:bodyPr/>
            <a:lstStyle/>
            <a:p>
              <a:endParaRPr lang="en-US"/>
            </a:p>
          </p:txBody>
        </p:sp>
      </p:grpSp>
      <p:grpSp>
        <p:nvGrpSpPr>
          <p:cNvPr id="4" name="Group 1060"/>
          <p:cNvGrpSpPr>
            <a:grpSpLocks/>
          </p:cNvGrpSpPr>
          <p:nvPr/>
        </p:nvGrpSpPr>
        <p:grpSpPr bwMode="auto">
          <a:xfrm>
            <a:off x="4648200" y="2057400"/>
            <a:ext cx="4113213" cy="2667000"/>
            <a:chOff x="2929" y="1296"/>
            <a:chExt cx="2591" cy="1680"/>
          </a:xfrm>
        </p:grpSpPr>
        <p:sp>
          <p:nvSpPr>
            <p:cNvPr id="22549" name="Oval 1061"/>
            <p:cNvSpPr>
              <a:spLocks noChangeArrowheads="1"/>
            </p:cNvSpPr>
            <p:nvPr/>
          </p:nvSpPr>
          <p:spPr bwMode="auto">
            <a:xfrm>
              <a:off x="3352" y="2622"/>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0" name="Oval 1062"/>
            <p:cNvSpPr>
              <a:spLocks noChangeArrowheads="1"/>
            </p:cNvSpPr>
            <p:nvPr/>
          </p:nvSpPr>
          <p:spPr bwMode="auto">
            <a:xfrm>
              <a:off x="3405" y="2313"/>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1" name="Oval 1063"/>
            <p:cNvSpPr>
              <a:spLocks noChangeArrowheads="1"/>
            </p:cNvSpPr>
            <p:nvPr/>
          </p:nvSpPr>
          <p:spPr bwMode="auto">
            <a:xfrm>
              <a:off x="3114"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2" name="Oval 1064"/>
            <p:cNvSpPr>
              <a:spLocks noChangeArrowheads="1"/>
            </p:cNvSpPr>
            <p:nvPr/>
          </p:nvSpPr>
          <p:spPr bwMode="auto">
            <a:xfrm>
              <a:off x="3273" y="2224"/>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3" name="Oval 1065"/>
            <p:cNvSpPr>
              <a:spLocks noChangeArrowheads="1"/>
            </p:cNvSpPr>
            <p:nvPr/>
          </p:nvSpPr>
          <p:spPr bwMode="auto">
            <a:xfrm>
              <a:off x="3537" y="2534"/>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4" name="Oval 1066"/>
            <p:cNvSpPr>
              <a:spLocks noChangeArrowheads="1"/>
            </p:cNvSpPr>
            <p:nvPr/>
          </p:nvSpPr>
          <p:spPr bwMode="auto">
            <a:xfrm>
              <a:off x="3431" y="2048"/>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5" name="Oval 1067"/>
            <p:cNvSpPr>
              <a:spLocks noChangeArrowheads="1"/>
            </p:cNvSpPr>
            <p:nvPr/>
          </p:nvSpPr>
          <p:spPr bwMode="auto">
            <a:xfrm>
              <a:off x="3564" y="2269"/>
              <a:ext cx="52"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6" name="Oval 1068"/>
            <p:cNvSpPr>
              <a:spLocks noChangeArrowheads="1"/>
            </p:cNvSpPr>
            <p:nvPr/>
          </p:nvSpPr>
          <p:spPr bwMode="auto">
            <a:xfrm>
              <a:off x="3590" y="2003"/>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7" name="Oval 1069"/>
            <p:cNvSpPr>
              <a:spLocks noChangeArrowheads="1"/>
            </p:cNvSpPr>
            <p:nvPr/>
          </p:nvSpPr>
          <p:spPr bwMode="auto">
            <a:xfrm>
              <a:off x="3696" y="2180"/>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8" name="Oval 1070"/>
            <p:cNvSpPr>
              <a:spLocks noChangeArrowheads="1"/>
            </p:cNvSpPr>
            <p:nvPr/>
          </p:nvSpPr>
          <p:spPr bwMode="auto">
            <a:xfrm>
              <a:off x="3775"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59" name="Oval 1071"/>
            <p:cNvSpPr>
              <a:spLocks noChangeArrowheads="1"/>
            </p:cNvSpPr>
            <p:nvPr/>
          </p:nvSpPr>
          <p:spPr bwMode="auto">
            <a:xfrm>
              <a:off x="3643" y="2711"/>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60" name="Oval 1072"/>
            <p:cNvSpPr>
              <a:spLocks noChangeArrowheads="1"/>
            </p:cNvSpPr>
            <p:nvPr/>
          </p:nvSpPr>
          <p:spPr bwMode="auto">
            <a:xfrm>
              <a:off x="3960" y="2578"/>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61" name="Oval 1073"/>
            <p:cNvSpPr>
              <a:spLocks noChangeArrowheads="1"/>
            </p:cNvSpPr>
            <p:nvPr/>
          </p:nvSpPr>
          <p:spPr bwMode="auto">
            <a:xfrm>
              <a:off x="3616" y="1738"/>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2562" name="Rectangle 1074"/>
            <p:cNvSpPr>
              <a:spLocks noChangeArrowheads="1"/>
            </p:cNvSpPr>
            <p:nvPr/>
          </p:nvSpPr>
          <p:spPr bwMode="auto">
            <a:xfrm>
              <a:off x="4462" y="1959"/>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3" name="Rectangle 1075"/>
            <p:cNvSpPr>
              <a:spLocks noChangeArrowheads="1"/>
            </p:cNvSpPr>
            <p:nvPr/>
          </p:nvSpPr>
          <p:spPr bwMode="auto">
            <a:xfrm>
              <a:off x="4304" y="160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4" name="Rectangle 1076"/>
            <p:cNvSpPr>
              <a:spLocks noChangeArrowheads="1"/>
            </p:cNvSpPr>
            <p:nvPr/>
          </p:nvSpPr>
          <p:spPr bwMode="auto">
            <a:xfrm>
              <a:off x="4515" y="1473"/>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5" name="Rectangle 1077"/>
            <p:cNvSpPr>
              <a:spLocks noChangeArrowheads="1"/>
            </p:cNvSpPr>
            <p:nvPr/>
          </p:nvSpPr>
          <p:spPr bwMode="auto">
            <a:xfrm>
              <a:off x="4595" y="2224"/>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6" name="Rectangle 1078"/>
            <p:cNvSpPr>
              <a:spLocks noChangeArrowheads="1"/>
            </p:cNvSpPr>
            <p:nvPr/>
          </p:nvSpPr>
          <p:spPr bwMode="auto">
            <a:xfrm>
              <a:off x="4568" y="1694"/>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7" name="Rectangle 1079"/>
            <p:cNvSpPr>
              <a:spLocks noChangeArrowheads="1"/>
            </p:cNvSpPr>
            <p:nvPr/>
          </p:nvSpPr>
          <p:spPr bwMode="auto">
            <a:xfrm>
              <a:off x="4674" y="1915"/>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8" name="Rectangle 1080"/>
            <p:cNvSpPr>
              <a:spLocks noChangeArrowheads="1"/>
            </p:cNvSpPr>
            <p:nvPr/>
          </p:nvSpPr>
          <p:spPr bwMode="auto">
            <a:xfrm>
              <a:off x="4648" y="1473"/>
              <a:ext cx="52"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69" name="Rectangle 1081"/>
            <p:cNvSpPr>
              <a:spLocks noChangeArrowheads="1"/>
            </p:cNvSpPr>
            <p:nvPr/>
          </p:nvSpPr>
          <p:spPr bwMode="auto">
            <a:xfrm>
              <a:off x="4806" y="156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0" name="Rectangle 1082"/>
            <p:cNvSpPr>
              <a:spLocks noChangeArrowheads="1"/>
            </p:cNvSpPr>
            <p:nvPr/>
          </p:nvSpPr>
          <p:spPr bwMode="auto">
            <a:xfrm>
              <a:off x="4753" y="2048"/>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1" name="Rectangle 1083"/>
            <p:cNvSpPr>
              <a:spLocks noChangeArrowheads="1"/>
            </p:cNvSpPr>
            <p:nvPr/>
          </p:nvSpPr>
          <p:spPr bwMode="auto">
            <a:xfrm>
              <a:off x="4833" y="1827"/>
              <a:ext cx="52"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2" name="Rectangle 1084"/>
            <p:cNvSpPr>
              <a:spLocks noChangeArrowheads="1"/>
            </p:cNvSpPr>
            <p:nvPr/>
          </p:nvSpPr>
          <p:spPr bwMode="auto">
            <a:xfrm>
              <a:off x="4806" y="240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3" name="Rectangle 1085"/>
            <p:cNvSpPr>
              <a:spLocks noChangeArrowheads="1"/>
            </p:cNvSpPr>
            <p:nvPr/>
          </p:nvSpPr>
          <p:spPr bwMode="auto">
            <a:xfrm>
              <a:off x="4965" y="1959"/>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4" name="Rectangle 1086"/>
            <p:cNvSpPr>
              <a:spLocks noChangeArrowheads="1"/>
            </p:cNvSpPr>
            <p:nvPr/>
          </p:nvSpPr>
          <p:spPr bwMode="auto">
            <a:xfrm>
              <a:off x="4965" y="2269"/>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5" name="Rectangle 1087"/>
            <p:cNvSpPr>
              <a:spLocks noChangeArrowheads="1"/>
            </p:cNvSpPr>
            <p:nvPr/>
          </p:nvSpPr>
          <p:spPr bwMode="auto">
            <a:xfrm>
              <a:off x="4991" y="244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2576" name="Rectangle 1088"/>
            <p:cNvSpPr>
              <a:spLocks noChangeArrowheads="1"/>
            </p:cNvSpPr>
            <p:nvPr/>
          </p:nvSpPr>
          <p:spPr bwMode="auto">
            <a:xfrm>
              <a:off x="2929" y="1296"/>
              <a:ext cx="2591" cy="1680"/>
            </a:xfrm>
            <a:prstGeom prst="rect">
              <a:avLst/>
            </a:prstGeom>
            <a:noFill/>
            <a:ln w="9525">
              <a:solidFill>
                <a:schemeClr val="tx1"/>
              </a:solidFill>
              <a:miter lim="800000"/>
              <a:headEnd/>
              <a:tailEnd/>
            </a:ln>
          </p:spPr>
          <p:txBody>
            <a:bodyPr wrap="none" anchor="ctr"/>
            <a:lstStyle/>
            <a:p>
              <a:endParaRPr lang="en-US"/>
            </a:p>
          </p:txBody>
        </p:sp>
        <p:sp>
          <p:nvSpPr>
            <p:cNvPr id="22577" name="Line 1089"/>
            <p:cNvSpPr>
              <a:spLocks noChangeShapeType="1"/>
            </p:cNvSpPr>
            <p:nvPr/>
          </p:nvSpPr>
          <p:spPr bwMode="auto">
            <a:xfrm>
              <a:off x="3552" y="1392"/>
              <a:ext cx="576" cy="1488"/>
            </a:xfrm>
            <a:prstGeom prst="line">
              <a:avLst/>
            </a:prstGeom>
            <a:noFill/>
            <a:ln w="9525">
              <a:solidFill>
                <a:schemeClr val="tx1"/>
              </a:solidFill>
              <a:prstDash val="dash"/>
              <a:round/>
              <a:headEnd/>
              <a:tailEnd/>
            </a:ln>
          </p:spPr>
          <p:txBody>
            <a:bodyPr/>
            <a:lstStyle/>
            <a:p>
              <a:endParaRPr lang="en-US"/>
            </a:p>
          </p:txBody>
        </p:sp>
        <p:sp>
          <p:nvSpPr>
            <p:cNvPr id="22578" name="Line 1090"/>
            <p:cNvSpPr>
              <a:spLocks noChangeShapeType="1"/>
            </p:cNvSpPr>
            <p:nvPr/>
          </p:nvSpPr>
          <p:spPr bwMode="auto">
            <a:xfrm>
              <a:off x="4176" y="1344"/>
              <a:ext cx="576" cy="1488"/>
            </a:xfrm>
            <a:prstGeom prst="line">
              <a:avLst/>
            </a:prstGeom>
            <a:noFill/>
            <a:ln w="9525">
              <a:solidFill>
                <a:schemeClr val="tx1"/>
              </a:solidFill>
              <a:prstDash val="dash"/>
              <a:round/>
              <a:headEnd/>
              <a:tailEnd/>
            </a:ln>
          </p:spPr>
          <p:txBody>
            <a:bodyPr/>
            <a:lstStyle/>
            <a:p>
              <a:endParaRPr lang="en-US"/>
            </a:p>
          </p:txBody>
        </p:sp>
        <p:sp>
          <p:nvSpPr>
            <p:cNvPr id="22579" name="Line 1091"/>
            <p:cNvSpPr>
              <a:spLocks noChangeShapeType="1"/>
            </p:cNvSpPr>
            <p:nvPr/>
          </p:nvSpPr>
          <p:spPr bwMode="auto">
            <a:xfrm>
              <a:off x="3888" y="1392"/>
              <a:ext cx="576" cy="1488"/>
            </a:xfrm>
            <a:prstGeom prst="line">
              <a:avLst/>
            </a:prstGeom>
            <a:noFill/>
            <a:ln w="9525">
              <a:solidFill>
                <a:schemeClr val="tx1"/>
              </a:solidFill>
              <a:round/>
              <a:headEnd/>
              <a:tailEnd/>
            </a:ln>
          </p:spPr>
          <p:txBody>
            <a:bodyPr/>
            <a:lstStyle/>
            <a:p>
              <a:endParaRPr lang="en-US"/>
            </a:p>
          </p:txBody>
        </p:sp>
      </p:grpSp>
      <p:grpSp>
        <p:nvGrpSpPr>
          <p:cNvPr id="5" name="Group 1092"/>
          <p:cNvGrpSpPr>
            <a:grpSpLocks/>
          </p:cNvGrpSpPr>
          <p:nvPr/>
        </p:nvGrpSpPr>
        <p:grpSpPr bwMode="auto">
          <a:xfrm>
            <a:off x="3489325" y="2667000"/>
            <a:ext cx="3749675" cy="3386138"/>
            <a:chOff x="2198" y="1680"/>
            <a:chExt cx="2362" cy="2133"/>
          </a:xfrm>
        </p:grpSpPr>
        <p:sp>
          <p:nvSpPr>
            <p:cNvPr id="22543" name="Text Box 1093"/>
            <p:cNvSpPr txBox="1">
              <a:spLocks noChangeArrowheads="1"/>
            </p:cNvSpPr>
            <p:nvPr/>
          </p:nvSpPr>
          <p:spPr bwMode="auto">
            <a:xfrm>
              <a:off x="2198" y="3525"/>
              <a:ext cx="1467" cy="288"/>
            </a:xfrm>
            <a:prstGeom prst="rect">
              <a:avLst/>
            </a:prstGeom>
            <a:noFill/>
            <a:ln w="9525">
              <a:noFill/>
              <a:miter lim="800000"/>
              <a:headEnd/>
              <a:tailEnd/>
            </a:ln>
          </p:spPr>
          <p:txBody>
            <a:bodyPr wrap="none">
              <a:spAutoFit/>
            </a:bodyPr>
            <a:lstStyle/>
            <a:p>
              <a:r>
                <a:rPr lang="en-US" sz="2400">
                  <a:solidFill>
                    <a:schemeClr val="hlink"/>
                  </a:solidFill>
                </a:rPr>
                <a:t>Support Vectors</a:t>
              </a:r>
            </a:p>
          </p:txBody>
        </p:sp>
        <p:sp>
          <p:nvSpPr>
            <p:cNvPr id="22544" name="Line 1094"/>
            <p:cNvSpPr>
              <a:spLocks noChangeShapeType="1"/>
            </p:cNvSpPr>
            <p:nvPr/>
          </p:nvSpPr>
          <p:spPr bwMode="auto">
            <a:xfrm flipV="1">
              <a:off x="2928" y="1680"/>
              <a:ext cx="1392" cy="1776"/>
            </a:xfrm>
            <a:prstGeom prst="line">
              <a:avLst/>
            </a:prstGeom>
            <a:noFill/>
            <a:ln w="9525">
              <a:solidFill>
                <a:schemeClr val="tx1"/>
              </a:solidFill>
              <a:miter lim="800000"/>
              <a:headEnd/>
              <a:tailEnd type="triangle" w="med" len="med"/>
            </a:ln>
          </p:spPr>
          <p:txBody>
            <a:bodyPr wrap="none"/>
            <a:lstStyle/>
            <a:p>
              <a:endParaRPr lang="en-US"/>
            </a:p>
          </p:txBody>
        </p:sp>
        <p:sp>
          <p:nvSpPr>
            <p:cNvPr id="22545" name="Line 1095"/>
            <p:cNvSpPr>
              <a:spLocks noChangeShapeType="1"/>
            </p:cNvSpPr>
            <p:nvPr/>
          </p:nvSpPr>
          <p:spPr bwMode="auto">
            <a:xfrm flipV="1">
              <a:off x="2928" y="2016"/>
              <a:ext cx="1536" cy="1440"/>
            </a:xfrm>
            <a:prstGeom prst="line">
              <a:avLst/>
            </a:prstGeom>
            <a:noFill/>
            <a:ln w="9525">
              <a:solidFill>
                <a:schemeClr val="tx1"/>
              </a:solidFill>
              <a:miter lim="800000"/>
              <a:headEnd/>
              <a:tailEnd type="triangle" w="med" len="med"/>
            </a:ln>
          </p:spPr>
          <p:txBody>
            <a:bodyPr wrap="none"/>
            <a:lstStyle/>
            <a:p>
              <a:endParaRPr lang="en-US"/>
            </a:p>
          </p:txBody>
        </p:sp>
        <p:sp>
          <p:nvSpPr>
            <p:cNvPr id="22546" name="Line 1096"/>
            <p:cNvSpPr>
              <a:spLocks noChangeShapeType="1"/>
            </p:cNvSpPr>
            <p:nvPr/>
          </p:nvSpPr>
          <p:spPr bwMode="auto">
            <a:xfrm flipV="1">
              <a:off x="2976" y="2304"/>
              <a:ext cx="1584" cy="1152"/>
            </a:xfrm>
            <a:prstGeom prst="line">
              <a:avLst/>
            </a:prstGeom>
            <a:noFill/>
            <a:ln w="9525">
              <a:solidFill>
                <a:schemeClr val="tx1"/>
              </a:solidFill>
              <a:miter lim="800000"/>
              <a:headEnd/>
              <a:tailEnd type="triangle" w="med" len="med"/>
            </a:ln>
          </p:spPr>
          <p:txBody>
            <a:bodyPr wrap="none"/>
            <a:lstStyle/>
            <a:p>
              <a:endParaRPr lang="en-US"/>
            </a:p>
          </p:txBody>
        </p:sp>
        <p:sp>
          <p:nvSpPr>
            <p:cNvPr id="22547" name="Line 1097"/>
            <p:cNvSpPr>
              <a:spLocks noChangeShapeType="1"/>
            </p:cNvSpPr>
            <p:nvPr/>
          </p:nvSpPr>
          <p:spPr bwMode="auto">
            <a:xfrm flipV="1">
              <a:off x="2976" y="2640"/>
              <a:ext cx="960" cy="816"/>
            </a:xfrm>
            <a:prstGeom prst="line">
              <a:avLst/>
            </a:prstGeom>
            <a:noFill/>
            <a:ln w="9525">
              <a:solidFill>
                <a:schemeClr val="tx1"/>
              </a:solidFill>
              <a:miter lim="800000"/>
              <a:headEnd/>
              <a:tailEnd type="triangle" w="med" len="med"/>
            </a:ln>
          </p:spPr>
          <p:txBody>
            <a:bodyPr wrap="none"/>
            <a:lstStyle/>
            <a:p>
              <a:endParaRPr lang="en-US"/>
            </a:p>
          </p:txBody>
        </p:sp>
        <p:sp>
          <p:nvSpPr>
            <p:cNvPr id="22548" name="Line 1098"/>
            <p:cNvSpPr>
              <a:spLocks noChangeShapeType="1"/>
            </p:cNvSpPr>
            <p:nvPr/>
          </p:nvSpPr>
          <p:spPr bwMode="auto">
            <a:xfrm flipV="1">
              <a:off x="2976" y="1824"/>
              <a:ext cx="624" cy="1632"/>
            </a:xfrm>
            <a:prstGeom prst="line">
              <a:avLst/>
            </a:prstGeom>
            <a:noFill/>
            <a:ln w="9525">
              <a:solidFill>
                <a:schemeClr val="tx1"/>
              </a:solidFill>
              <a:miter lim="800000"/>
              <a:headEnd/>
              <a:tailEnd type="triangle" w="med" len="med"/>
            </a:ln>
          </p:spPr>
          <p:txBody>
            <a:bodyPr wrap="none"/>
            <a:lstStyle/>
            <a:p>
              <a:endParaRPr lang="en-US"/>
            </a:p>
          </p:txBody>
        </p:sp>
      </p:grpSp>
      <p:grpSp>
        <p:nvGrpSpPr>
          <p:cNvPr id="6" name="Group 1099"/>
          <p:cNvGrpSpPr>
            <a:grpSpLocks/>
          </p:cNvGrpSpPr>
          <p:nvPr/>
        </p:nvGrpSpPr>
        <p:grpSpPr bwMode="auto">
          <a:xfrm>
            <a:off x="1066800" y="3352800"/>
            <a:ext cx="1917700" cy="2133600"/>
            <a:chOff x="682" y="2112"/>
            <a:chExt cx="1208" cy="1344"/>
          </a:xfrm>
        </p:grpSpPr>
        <p:sp>
          <p:nvSpPr>
            <p:cNvPr id="22540" name="Text Box 1100"/>
            <p:cNvSpPr txBox="1">
              <a:spLocks noChangeArrowheads="1"/>
            </p:cNvSpPr>
            <p:nvPr/>
          </p:nvSpPr>
          <p:spPr bwMode="auto">
            <a:xfrm>
              <a:off x="682" y="3168"/>
              <a:ext cx="1208" cy="288"/>
            </a:xfrm>
            <a:prstGeom prst="rect">
              <a:avLst/>
            </a:prstGeom>
            <a:noFill/>
            <a:ln w="9525">
              <a:noFill/>
              <a:miter lim="800000"/>
              <a:headEnd/>
              <a:tailEnd/>
            </a:ln>
          </p:spPr>
          <p:txBody>
            <a:bodyPr wrap="none">
              <a:spAutoFit/>
            </a:bodyPr>
            <a:lstStyle/>
            <a:p>
              <a:r>
                <a:rPr lang="en-US" sz="2400"/>
                <a:t>Small Margin</a:t>
              </a:r>
            </a:p>
          </p:txBody>
        </p:sp>
        <p:sp>
          <p:nvSpPr>
            <p:cNvPr id="22541" name="Line 1101"/>
            <p:cNvSpPr>
              <a:spLocks noChangeShapeType="1"/>
            </p:cNvSpPr>
            <p:nvPr/>
          </p:nvSpPr>
          <p:spPr bwMode="auto">
            <a:xfrm flipV="1">
              <a:off x="1440" y="2112"/>
              <a:ext cx="288" cy="48"/>
            </a:xfrm>
            <a:prstGeom prst="line">
              <a:avLst/>
            </a:prstGeom>
            <a:noFill/>
            <a:ln w="9525">
              <a:solidFill>
                <a:schemeClr val="folHlink"/>
              </a:solidFill>
              <a:miter lim="800000"/>
              <a:headEnd type="triangle" w="med" len="med"/>
              <a:tailEnd type="triangle" w="med" len="med"/>
            </a:ln>
          </p:spPr>
          <p:txBody>
            <a:bodyPr wrap="none"/>
            <a:lstStyle/>
            <a:p>
              <a:endParaRPr lang="en-US"/>
            </a:p>
          </p:txBody>
        </p:sp>
        <p:sp>
          <p:nvSpPr>
            <p:cNvPr id="22542" name="Line 1102"/>
            <p:cNvSpPr>
              <a:spLocks noChangeShapeType="1"/>
            </p:cNvSpPr>
            <p:nvPr/>
          </p:nvSpPr>
          <p:spPr bwMode="auto">
            <a:xfrm flipV="1">
              <a:off x="1344" y="2160"/>
              <a:ext cx="240" cy="1056"/>
            </a:xfrm>
            <a:prstGeom prst="line">
              <a:avLst/>
            </a:prstGeom>
            <a:noFill/>
            <a:ln w="9525">
              <a:solidFill>
                <a:schemeClr val="folHlink"/>
              </a:solidFill>
              <a:miter lim="800000"/>
              <a:headEnd/>
              <a:tailEnd type="triangle" w="med" len="med"/>
            </a:ln>
          </p:spPr>
          <p:txBody>
            <a:bodyPr wrap="none"/>
            <a:lstStyle/>
            <a:p>
              <a:endParaRPr lang="en-US"/>
            </a:p>
          </p:txBody>
        </p:sp>
      </p:grpSp>
      <p:grpSp>
        <p:nvGrpSpPr>
          <p:cNvPr id="7" name="Group 1103"/>
          <p:cNvGrpSpPr>
            <a:grpSpLocks/>
          </p:cNvGrpSpPr>
          <p:nvPr/>
        </p:nvGrpSpPr>
        <p:grpSpPr bwMode="auto">
          <a:xfrm>
            <a:off x="5349875" y="2667000"/>
            <a:ext cx="1943100" cy="2819400"/>
            <a:chOff x="3370" y="1680"/>
            <a:chExt cx="1224" cy="1776"/>
          </a:xfrm>
        </p:grpSpPr>
        <p:sp>
          <p:nvSpPr>
            <p:cNvPr id="22537" name="Text Box 1104"/>
            <p:cNvSpPr txBox="1">
              <a:spLocks noChangeArrowheads="1"/>
            </p:cNvSpPr>
            <p:nvPr/>
          </p:nvSpPr>
          <p:spPr bwMode="auto">
            <a:xfrm>
              <a:off x="3370" y="3168"/>
              <a:ext cx="1224" cy="288"/>
            </a:xfrm>
            <a:prstGeom prst="rect">
              <a:avLst/>
            </a:prstGeom>
            <a:noFill/>
            <a:ln w="9525">
              <a:noFill/>
              <a:miter lim="800000"/>
              <a:headEnd/>
              <a:tailEnd/>
            </a:ln>
          </p:spPr>
          <p:txBody>
            <a:bodyPr wrap="none">
              <a:spAutoFit/>
            </a:bodyPr>
            <a:lstStyle/>
            <a:p>
              <a:r>
                <a:rPr lang="en-US" sz="2400"/>
                <a:t>Large Margin</a:t>
              </a:r>
            </a:p>
          </p:txBody>
        </p:sp>
        <p:sp>
          <p:nvSpPr>
            <p:cNvPr id="22538" name="Line 1105"/>
            <p:cNvSpPr>
              <a:spLocks noChangeShapeType="1"/>
            </p:cNvSpPr>
            <p:nvPr/>
          </p:nvSpPr>
          <p:spPr bwMode="auto">
            <a:xfrm flipV="1">
              <a:off x="3744" y="1680"/>
              <a:ext cx="528" cy="240"/>
            </a:xfrm>
            <a:prstGeom prst="line">
              <a:avLst/>
            </a:prstGeom>
            <a:noFill/>
            <a:ln w="9525">
              <a:solidFill>
                <a:schemeClr val="folHlink"/>
              </a:solidFill>
              <a:miter lim="800000"/>
              <a:headEnd type="triangle" w="med" len="med"/>
              <a:tailEnd type="triangle" w="med" len="med"/>
            </a:ln>
          </p:spPr>
          <p:txBody>
            <a:bodyPr wrap="none"/>
            <a:lstStyle/>
            <a:p>
              <a:endParaRPr lang="en-US"/>
            </a:p>
          </p:txBody>
        </p:sp>
        <p:sp>
          <p:nvSpPr>
            <p:cNvPr id="22539" name="Line 1106"/>
            <p:cNvSpPr>
              <a:spLocks noChangeShapeType="1"/>
            </p:cNvSpPr>
            <p:nvPr/>
          </p:nvSpPr>
          <p:spPr bwMode="auto">
            <a:xfrm flipV="1">
              <a:off x="4032" y="1728"/>
              <a:ext cx="96" cy="1488"/>
            </a:xfrm>
            <a:prstGeom prst="line">
              <a:avLst/>
            </a:prstGeom>
            <a:noFill/>
            <a:ln w="9525">
              <a:solidFill>
                <a:schemeClr val="folHlink"/>
              </a:solidFill>
              <a:miter lim="800000"/>
              <a:headEnd/>
              <a:tailEnd type="triangle" w="med" len="med"/>
            </a:ln>
          </p:spPr>
          <p:txBody>
            <a:bodyPr wrap="none"/>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3"/>
          <p:cNvSpPr>
            <a:spLocks noGrp="1"/>
          </p:cNvSpPr>
          <p:nvPr>
            <p:ph type="dt" sz="quarter" idx="4294967295"/>
          </p:nvPr>
        </p:nvSpPr>
        <p:spPr>
          <a:xfrm>
            <a:off x="304800" y="6477000"/>
            <a:ext cx="1905000" cy="381000"/>
          </a:xfrm>
          <a:prstGeom prst="rect">
            <a:avLst/>
          </a:prstGeom>
          <a:noFill/>
        </p:spPr>
        <p:txBody>
          <a:bodyPr/>
          <a:lstStyle/>
          <a:p>
            <a:fld id="{CEC777FD-5B09-4DA5-8721-FACA2B47DEA5}" type="datetime4">
              <a:rPr lang="en-US" smtClean="0"/>
              <a:pPr/>
              <a:t>November 18, 2025</a:t>
            </a:fld>
            <a:endParaRPr lang="en-US" smtClean="0"/>
          </a:p>
        </p:txBody>
      </p:sp>
      <p:sp>
        <p:nvSpPr>
          <p:cNvPr id="23555" name="Footer Placeholder 4"/>
          <p:cNvSpPr>
            <a:spLocks noGrp="1"/>
          </p:cNvSpPr>
          <p:nvPr>
            <p:ph type="ftr" sz="quarter" idx="4294967295"/>
          </p:nvPr>
        </p:nvSpPr>
        <p:spPr>
          <a:xfrm>
            <a:off x="3352800" y="6477000"/>
            <a:ext cx="2895600" cy="381000"/>
          </a:xfrm>
          <a:prstGeom prst="rect">
            <a:avLst/>
          </a:prstGeom>
          <a:noFill/>
        </p:spPr>
        <p:txBody>
          <a:bodyPr/>
          <a:lstStyle/>
          <a:p>
            <a:r>
              <a:rPr lang="en-US" smtClean="0"/>
              <a:t>Data Mining: Concepts and Techniques</a:t>
            </a:r>
          </a:p>
        </p:txBody>
      </p:sp>
      <p:sp>
        <p:nvSpPr>
          <p:cNvPr id="23556" name="Slide Number Placeholder 5"/>
          <p:cNvSpPr>
            <a:spLocks noGrp="1"/>
          </p:cNvSpPr>
          <p:nvPr>
            <p:ph type="sldNum" sz="quarter" idx="4294967295"/>
          </p:nvPr>
        </p:nvSpPr>
        <p:spPr>
          <a:xfrm>
            <a:off x="7239000" y="6477000"/>
            <a:ext cx="1905000" cy="381000"/>
          </a:xfrm>
          <a:prstGeom prst="rect">
            <a:avLst/>
          </a:prstGeom>
          <a:noFill/>
        </p:spPr>
        <p:txBody>
          <a:bodyPr/>
          <a:lstStyle/>
          <a:p>
            <a:fld id="{9EC67F46-6FF3-459B-A2B4-7194065817AE}" type="slidenum">
              <a:rPr lang="en-US" smtClean="0"/>
              <a:pPr/>
              <a:t>106</a:t>
            </a:fld>
            <a:endParaRPr lang="en-US" smtClean="0"/>
          </a:p>
        </p:txBody>
      </p:sp>
      <p:sp>
        <p:nvSpPr>
          <p:cNvPr id="23557" name="Rectangle 2"/>
          <p:cNvSpPr>
            <a:spLocks noGrp="1" noChangeArrowheads="1"/>
          </p:cNvSpPr>
          <p:nvPr>
            <p:ph type="title"/>
          </p:nvPr>
        </p:nvSpPr>
        <p:spPr/>
        <p:txBody>
          <a:bodyPr/>
          <a:lstStyle/>
          <a:p>
            <a:pPr eaLnBrk="1" hangingPunct="1"/>
            <a:r>
              <a:rPr lang="en-US" smtClean="0"/>
              <a:t>SVM—Margins and Support Vectors</a:t>
            </a:r>
          </a:p>
        </p:txBody>
      </p:sp>
      <p:pic>
        <p:nvPicPr>
          <p:cNvPr id="23558" name="Picture 4"/>
          <p:cNvPicPr>
            <a:picLocks noChangeAspect="1" noChangeArrowheads="1"/>
          </p:cNvPicPr>
          <p:nvPr/>
        </p:nvPicPr>
        <p:blipFill>
          <a:blip r:embed="rId3"/>
          <a:srcRect/>
          <a:stretch>
            <a:fillRect/>
          </a:stretch>
        </p:blipFill>
        <p:spPr bwMode="auto">
          <a:xfrm>
            <a:off x="228600" y="1266825"/>
            <a:ext cx="7448550" cy="5591175"/>
          </a:xfrm>
          <a:prstGeom prst="rect">
            <a:avLst/>
          </a:prstGeom>
          <a:noFill/>
          <a:ln w="9525">
            <a:noFill/>
            <a:miter lim="800000"/>
            <a:headEnd/>
            <a:tailEnd/>
          </a:ln>
        </p:spPr>
      </p:pic>
      <p:pic>
        <p:nvPicPr>
          <p:cNvPr id="23559" name="Picture 6"/>
          <p:cNvPicPr>
            <a:picLocks noChangeAspect="1" noChangeArrowheads="1"/>
          </p:cNvPicPr>
          <p:nvPr/>
        </p:nvPicPr>
        <p:blipFill>
          <a:blip r:embed="rId4"/>
          <a:srcRect/>
          <a:stretch>
            <a:fillRect/>
          </a:stretch>
        </p:blipFill>
        <p:spPr bwMode="auto">
          <a:xfrm>
            <a:off x="4800600" y="3208338"/>
            <a:ext cx="3886200" cy="32686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4294967295"/>
          </p:nvPr>
        </p:nvSpPr>
        <p:spPr>
          <a:xfrm>
            <a:off x="7239000" y="6477000"/>
            <a:ext cx="1905000" cy="381000"/>
          </a:xfrm>
          <a:prstGeom prst="rect">
            <a:avLst/>
          </a:prstGeom>
          <a:noFill/>
        </p:spPr>
        <p:txBody>
          <a:bodyPr/>
          <a:lstStyle/>
          <a:p>
            <a:fld id="{7BB0FCC4-EF76-424C-BECD-D5A71B2BF4E9}" type="slidenum">
              <a:rPr lang="en-US" smtClean="0"/>
              <a:pPr/>
              <a:t>107</a:t>
            </a:fld>
            <a:endParaRPr lang="en-US" smtClean="0"/>
          </a:p>
        </p:txBody>
      </p:sp>
      <p:sp>
        <p:nvSpPr>
          <p:cNvPr id="24579" name="Rectangle 2"/>
          <p:cNvSpPr>
            <a:spLocks noGrp="1" noChangeArrowheads="1"/>
          </p:cNvSpPr>
          <p:nvPr>
            <p:ph type="title"/>
          </p:nvPr>
        </p:nvSpPr>
        <p:spPr>
          <a:xfrm>
            <a:off x="0" y="381000"/>
            <a:ext cx="9144000" cy="609600"/>
          </a:xfrm>
          <a:noFill/>
        </p:spPr>
        <p:txBody>
          <a:bodyPr lIns="92075" tIns="46038" rIns="92075" bIns="46038"/>
          <a:lstStyle/>
          <a:p>
            <a:pPr eaLnBrk="1" hangingPunct="1"/>
            <a:r>
              <a:rPr lang="en-US" smtClean="0"/>
              <a:t>SVM—When Data Is Linearly Separable</a:t>
            </a:r>
          </a:p>
        </p:txBody>
      </p:sp>
      <p:grpSp>
        <p:nvGrpSpPr>
          <p:cNvPr id="2" name="Group 3"/>
          <p:cNvGrpSpPr>
            <a:grpSpLocks/>
          </p:cNvGrpSpPr>
          <p:nvPr/>
        </p:nvGrpSpPr>
        <p:grpSpPr bwMode="auto">
          <a:xfrm>
            <a:off x="458788" y="1524000"/>
            <a:ext cx="4114800" cy="2667000"/>
            <a:chOff x="337" y="1296"/>
            <a:chExt cx="2592" cy="1680"/>
          </a:xfrm>
        </p:grpSpPr>
        <p:sp>
          <p:nvSpPr>
            <p:cNvPr id="24616" name="Oval 4"/>
            <p:cNvSpPr>
              <a:spLocks noChangeArrowheads="1"/>
            </p:cNvSpPr>
            <p:nvPr/>
          </p:nvSpPr>
          <p:spPr bwMode="auto">
            <a:xfrm>
              <a:off x="760" y="2622"/>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17" name="Oval 5"/>
            <p:cNvSpPr>
              <a:spLocks noChangeArrowheads="1"/>
            </p:cNvSpPr>
            <p:nvPr/>
          </p:nvSpPr>
          <p:spPr bwMode="auto">
            <a:xfrm>
              <a:off x="813" y="2313"/>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18" name="Oval 6"/>
            <p:cNvSpPr>
              <a:spLocks noChangeArrowheads="1"/>
            </p:cNvSpPr>
            <p:nvPr/>
          </p:nvSpPr>
          <p:spPr bwMode="auto">
            <a:xfrm>
              <a:off x="522"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19" name="Oval 7"/>
            <p:cNvSpPr>
              <a:spLocks noChangeArrowheads="1"/>
            </p:cNvSpPr>
            <p:nvPr/>
          </p:nvSpPr>
          <p:spPr bwMode="auto">
            <a:xfrm>
              <a:off x="681" y="2224"/>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0" name="Oval 8"/>
            <p:cNvSpPr>
              <a:spLocks noChangeArrowheads="1"/>
            </p:cNvSpPr>
            <p:nvPr/>
          </p:nvSpPr>
          <p:spPr bwMode="auto">
            <a:xfrm>
              <a:off x="945" y="2534"/>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1" name="Oval 9"/>
            <p:cNvSpPr>
              <a:spLocks noChangeArrowheads="1"/>
            </p:cNvSpPr>
            <p:nvPr/>
          </p:nvSpPr>
          <p:spPr bwMode="auto">
            <a:xfrm>
              <a:off x="840" y="2048"/>
              <a:ext cx="52"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2" name="Oval 10"/>
            <p:cNvSpPr>
              <a:spLocks noChangeArrowheads="1"/>
            </p:cNvSpPr>
            <p:nvPr/>
          </p:nvSpPr>
          <p:spPr bwMode="auto">
            <a:xfrm>
              <a:off x="972" y="2269"/>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3" name="Oval 11"/>
            <p:cNvSpPr>
              <a:spLocks noChangeArrowheads="1"/>
            </p:cNvSpPr>
            <p:nvPr/>
          </p:nvSpPr>
          <p:spPr bwMode="auto">
            <a:xfrm>
              <a:off x="998" y="2003"/>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4" name="Oval 12"/>
            <p:cNvSpPr>
              <a:spLocks noChangeArrowheads="1"/>
            </p:cNvSpPr>
            <p:nvPr/>
          </p:nvSpPr>
          <p:spPr bwMode="auto">
            <a:xfrm>
              <a:off x="1104" y="2180"/>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5" name="Oval 13"/>
            <p:cNvSpPr>
              <a:spLocks noChangeArrowheads="1"/>
            </p:cNvSpPr>
            <p:nvPr/>
          </p:nvSpPr>
          <p:spPr bwMode="auto">
            <a:xfrm>
              <a:off x="1183"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6" name="Oval 14"/>
            <p:cNvSpPr>
              <a:spLocks noChangeArrowheads="1"/>
            </p:cNvSpPr>
            <p:nvPr/>
          </p:nvSpPr>
          <p:spPr bwMode="auto">
            <a:xfrm>
              <a:off x="1051" y="2711"/>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7" name="Oval 15"/>
            <p:cNvSpPr>
              <a:spLocks noChangeArrowheads="1"/>
            </p:cNvSpPr>
            <p:nvPr/>
          </p:nvSpPr>
          <p:spPr bwMode="auto">
            <a:xfrm>
              <a:off x="1369" y="2578"/>
              <a:ext cx="52"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628" name="Oval 16"/>
            <p:cNvSpPr>
              <a:spLocks noChangeArrowheads="1"/>
            </p:cNvSpPr>
            <p:nvPr/>
          </p:nvSpPr>
          <p:spPr bwMode="auto">
            <a:xfrm>
              <a:off x="1025" y="1738"/>
              <a:ext cx="53" cy="89"/>
            </a:xfrm>
            <a:prstGeom prst="ellipse">
              <a:avLst/>
            </a:prstGeom>
            <a:solidFill>
              <a:schemeClr val="accent1"/>
            </a:solidFill>
            <a:ln w="9525">
              <a:solidFill>
                <a:schemeClr val="tx1"/>
              </a:solidFill>
              <a:round/>
              <a:headEnd/>
              <a:tailEnd/>
            </a:ln>
          </p:spPr>
          <p:txBody>
            <a:bodyPr wrap="none" anchor="ctr"/>
            <a:lstStyle/>
            <a:p>
              <a:endParaRPr lang="en-US"/>
            </a:p>
          </p:txBody>
        </p:sp>
        <p:grpSp>
          <p:nvGrpSpPr>
            <p:cNvPr id="3" name="Group 17"/>
            <p:cNvGrpSpPr>
              <a:grpSpLocks/>
            </p:cNvGrpSpPr>
            <p:nvPr/>
          </p:nvGrpSpPr>
          <p:grpSpPr bwMode="auto">
            <a:xfrm>
              <a:off x="1712" y="1473"/>
              <a:ext cx="741" cy="1061"/>
              <a:chOff x="1712" y="1473"/>
              <a:chExt cx="741" cy="1061"/>
            </a:xfrm>
          </p:grpSpPr>
          <p:sp>
            <p:nvSpPr>
              <p:cNvPr id="24634" name="Rectangle 18"/>
              <p:cNvSpPr>
                <a:spLocks noChangeArrowheads="1"/>
              </p:cNvSpPr>
              <p:nvPr/>
            </p:nvSpPr>
            <p:spPr bwMode="auto">
              <a:xfrm>
                <a:off x="1871" y="1959"/>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35" name="Rectangle 19"/>
              <p:cNvSpPr>
                <a:spLocks noChangeArrowheads="1"/>
              </p:cNvSpPr>
              <p:nvPr/>
            </p:nvSpPr>
            <p:spPr bwMode="auto">
              <a:xfrm>
                <a:off x="1712" y="160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36" name="Rectangle 20"/>
              <p:cNvSpPr>
                <a:spLocks noChangeArrowheads="1"/>
              </p:cNvSpPr>
              <p:nvPr/>
            </p:nvSpPr>
            <p:spPr bwMode="auto">
              <a:xfrm>
                <a:off x="1924" y="1473"/>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37" name="Rectangle 21"/>
              <p:cNvSpPr>
                <a:spLocks noChangeArrowheads="1"/>
              </p:cNvSpPr>
              <p:nvPr/>
            </p:nvSpPr>
            <p:spPr bwMode="auto">
              <a:xfrm>
                <a:off x="2003" y="2224"/>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38" name="Rectangle 22"/>
              <p:cNvSpPr>
                <a:spLocks noChangeArrowheads="1"/>
              </p:cNvSpPr>
              <p:nvPr/>
            </p:nvSpPr>
            <p:spPr bwMode="auto">
              <a:xfrm>
                <a:off x="1977" y="1694"/>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39" name="Rectangle 23"/>
              <p:cNvSpPr>
                <a:spLocks noChangeArrowheads="1"/>
              </p:cNvSpPr>
              <p:nvPr/>
            </p:nvSpPr>
            <p:spPr bwMode="auto">
              <a:xfrm>
                <a:off x="2083" y="1915"/>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0" name="Rectangle 24"/>
              <p:cNvSpPr>
                <a:spLocks noChangeArrowheads="1"/>
              </p:cNvSpPr>
              <p:nvPr/>
            </p:nvSpPr>
            <p:spPr bwMode="auto">
              <a:xfrm>
                <a:off x="2056" y="1473"/>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1" name="Rectangle 25"/>
              <p:cNvSpPr>
                <a:spLocks noChangeArrowheads="1"/>
              </p:cNvSpPr>
              <p:nvPr/>
            </p:nvSpPr>
            <p:spPr bwMode="auto">
              <a:xfrm>
                <a:off x="2215" y="156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2" name="Rectangle 26"/>
              <p:cNvSpPr>
                <a:spLocks noChangeArrowheads="1"/>
              </p:cNvSpPr>
              <p:nvPr/>
            </p:nvSpPr>
            <p:spPr bwMode="auto">
              <a:xfrm>
                <a:off x="2162" y="2048"/>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3" name="Rectangle 27"/>
              <p:cNvSpPr>
                <a:spLocks noChangeArrowheads="1"/>
              </p:cNvSpPr>
              <p:nvPr/>
            </p:nvSpPr>
            <p:spPr bwMode="auto">
              <a:xfrm>
                <a:off x="2241" y="1827"/>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4" name="Rectangle 28"/>
              <p:cNvSpPr>
                <a:spLocks noChangeArrowheads="1"/>
              </p:cNvSpPr>
              <p:nvPr/>
            </p:nvSpPr>
            <p:spPr bwMode="auto">
              <a:xfrm>
                <a:off x="2215" y="240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5" name="Rectangle 29"/>
              <p:cNvSpPr>
                <a:spLocks noChangeArrowheads="1"/>
              </p:cNvSpPr>
              <p:nvPr/>
            </p:nvSpPr>
            <p:spPr bwMode="auto">
              <a:xfrm>
                <a:off x="2374" y="1959"/>
                <a:ext cx="52"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6" name="Rectangle 30"/>
              <p:cNvSpPr>
                <a:spLocks noChangeArrowheads="1"/>
              </p:cNvSpPr>
              <p:nvPr/>
            </p:nvSpPr>
            <p:spPr bwMode="auto">
              <a:xfrm>
                <a:off x="2374" y="2269"/>
                <a:ext cx="52"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47" name="Rectangle 31"/>
              <p:cNvSpPr>
                <a:spLocks noChangeArrowheads="1"/>
              </p:cNvSpPr>
              <p:nvPr/>
            </p:nvSpPr>
            <p:spPr bwMode="auto">
              <a:xfrm>
                <a:off x="2400" y="244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grpSp>
        <p:sp>
          <p:nvSpPr>
            <p:cNvPr id="24630" name="Rectangle 32"/>
            <p:cNvSpPr>
              <a:spLocks noChangeArrowheads="1"/>
            </p:cNvSpPr>
            <p:nvPr/>
          </p:nvSpPr>
          <p:spPr bwMode="auto">
            <a:xfrm>
              <a:off x="337" y="1296"/>
              <a:ext cx="2592" cy="1680"/>
            </a:xfrm>
            <a:prstGeom prst="rect">
              <a:avLst/>
            </a:prstGeom>
            <a:noFill/>
            <a:ln w="9525">
              <a:solidFill>
                <a:schemeClr val="tx1"/>
              </a:solidFill>
              <a:miter lim="800000"/>
              <a:headEnd/>
              <a:tailEnd/>
            </a:ln>
          </p:spPr>
          <p:txBody>
            <a:bodyPr wrap="none" anchor="ctr"/>
            <a:lstStyle/>
            <a:p>
              <a:endParaRPr lang="en-US"/>
            </a:p>
          </p:txBody>
        </p:sp>
        <p:sp>
          <p:nvSpPr>
            <p:cNvPr id="24631" name="Line 33"/>
            <p:cNvSpPr>
              <a:spLocks noChangeShapeType="1"/>
            </p:cNvSpPr>
            <p:nvPr/>
          </p:nvSpPr>
          <p:spPr bwMode="auto">
            <a:xfrm>
              <a:off x="1686" y="1384"/>
              <a:ext cx="79" cy="1504"/>
            </a:xfrm>
            <a:prstGeom prst="line">
              <a:avLst/>
            </a:prstGeom>
            <a:noFill/>
            <a:ln w="9525">
              <a:solidFill>
                <a:schemeClr val="tx1"/>
              </a:solidFill>
              <a:prstDash val="dash"/>
              <a:round/>
              <a:headEnd/>
              <a:tailEnd/>
            </a:ln>
          </p:spPr>
          <p:txBody>
            <a:bodyPr/>
            <a:lstStyle/>
            <a:p>
              <a:endParaRPr lang="en-US"/>
            </a:p>
          </p:txBody>
        </p:sp>
        <p:sp>
          <p:nvSpPr>
            <p:cNvPr id="24632" name="Line 34"/>
            <p:cNvSpPr>
              <a:spLocks noChangeShapeType="1"/>
            </p:cNvSpPr>
            <p:nvPr/>
          </p:nvSpPr>
          <p:spPr bwMode="auto">
            <a:xfrm>
              <a:off x="1395" y="1428"/>
              <a:ext cx="79" cy="1504"/>
            </a:xfrm>
            <a:prstGeom prst="line">
              <a:avLst/>
            </a:prstGeom>
            <a:noFill/>
            <a:ln w="9525">
              <a:solidFill>
                <a:schemeClr val="tx1"/>
              </a:solidFill>
              <a:prstDash val="dash"/>
              <a:round/>
              <a:headEnd/>
              <a:tailEnd/>
            </a:ln>
          </p:spPr>
          <p:txBody>
            <a:bodyPr/>
            <a:lstStyle/>
            <a:p>
              <a:endParaRPr lang="en-US"/>
            </a:p>
          </p:txBody>
        </p:sp>
        <p:sp>
          <p:nvSpPr>
            <p:cNvPr id="24633" name="Line 35"/>
            <p:cNvSpPr>
              <a:spLocks noChangeShapeType="1"/>
            </p:cNvSpPr>
            <p:nvPr/>
          </p:nvSpPr>
          <p:spPr bwMode="auto">
            <a:xfrm>
              <a:off x="1554" y="1428"/>
              <a:ext cx="79" cy="1504"/>
            </a:xfrm>
            <a:prstGeom prst="line">
              <a:avLst/>
            </a:prstGeom>
            <a:noFill/>
            <a:ln w="9525">
              <a:solidFill>
                <a:schemeClr val="tx1"/>
              </a:solidFill>
              <a:round/>
              <a:headEnd/>
              <a:tailEnd/>
            </a:ln>
          </p:spPr>
          <p:txBody>
            <a:bodyPr/>
            <a:lstStyle/>
            <a:p>
              <a:endParaRPr lang="en-US"/>
            </a:p>
          </p:txBody>
        </p:sp>
      </p:grpSp>
      <p:grpSp>
        <p:nvGrpSpPr>
          <p:cNvPr id="4" name="Group 36"/>
          <p:cNvGrpSpPr>
            <a:grpSpLocks/>
          </p:cNvGrpSpPr>
          <p:nvPr/>
        </p:nvGrpSpPr>
        <p:grpSpPr bwMode="auto">
          <a:xfrm>
            <a:off x="4572000" y="1524000"/>
            <a:ext cx="4113213" cy="2667000"/>
            <a:chOff x="2929" y="1296"/>
            <a:chExt cx="2591" cy="1680"/>
          </a:xfrm>
        </p:grpSpPr>
        <p:sp>
          <p:nvSpPr>
            <p:cNvPr id="24585" name="Oval 37"/>
            <p:cNvSpPr>
              <a:spLocks noChangeArrowheads="1"/>
            </p:cNvSpPr>
            <p:nvPr/>
          </p:nvSpPr>
          <p:spPr bwMode="auto">
            <a:xfrm>
              <a:off x="3352" y="2622"/>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86" name="Oval 38"/>
            <p:cNvSpPr>
              <a:spLocks noChangeArrowheads="1"/>
            </p:cNvSpPr>
            <p:nvPr/>
          </p:nvSpPr>
          <p:spPr bwMode="auto">
            <a:xfrm>
              <a:off x="3405" y="2313"/>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87" name="Oval 39"/>
            <p:cNvSpPr>
              <a:spLocks noChangeArrowheads="1"/>
            </p:cNvSpPr>
            <p:nvPr/>
          </p:nvSpPr>
          <p:spPr bwMode="auto">
            <a:xfrm>
              <a:off x="3114"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88" name="Oval 40"/>
            <p:cNvSpPr>
              <a:spLocks noChangeArrowheads="1"/>
            </p:cNvSpPr>
            <p:nvPr/>
          </p:nvSpPr>
          <p:spPr bwMode="auto">
            <a:xfrm>
              <a:off x="3273" y="2224"/>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89" name="Oval 41"/>
            <p:cNvSpPr>
              <a:spLocks noChangeArrowheads="1"/>
            </p:cNvSpPr>
            <p:nvPr/>
          </p:nvSpPr>
          <p:spPr bwMode="auto">
            <a:xfrm>
              <a:off x="3537" y="2534"/>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0" name="Oval 42"/>
            <p:cNvSpPr>
              <a:spLocks noChangeArrowheads="1"/>
            </p:cNvSpPr>
            <p:nvPr/>
          </p:nvSpPr>
          <p:spPr bwMode="auto">
            <a:xfrm>
              <a:off x="3431" y="2048"/>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1" name="Oval 43"/>
            <p:cNvSpPr>
              <a:spLocks noChangeArrowheads="1"/>
            </p:cNvSpPr>
            <p:nvPr/>
          </p:nvSpPr>
          <p:spPr bwMode="auto">
            <a:xfrm>
              <a:off x="3564" y="2269"/>
              <a:ext cx="52"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2" name="Oval 44"/>
            <p:cNvSpPr>
              <a:spLocks noChangeArrowheads="1"/>
            </p:cNvSpPr>
            <p:nvPr/>
          </p:nvSpPr>
          <p:spPr bwMode="auto">
            <a:xfrm>
              <a:off x="3590" y="2003"/>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3" name="Oval 45"/>
            <p:cNvSpPr>
              <a:spLocks noChangeArrowheads="1"/>
            </p:cNvSpPr>
            <p:nvPr/>
          </p:nvSpPr>
          <p:spPr bwMode="auto">
            <a:xfrm>
              <a:off x="3696" y="2180"/>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4" name="Oval 46"/>
            <p:cNvSpPr>
              <a:spLocks noChangeArrowheads="1"/>
            </p:cNvSpPr>
            <p:nvPr/>
          </p:nvSpPr>
          <p:spPr bwMode="auto">
            <a:xfrm>
              <a:off x="3775" y="2445"/>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5" name="Oval 47"/>
            <p:cNvSpPr>
              <a:spLocks noChangeArrowheads="1"/>
            </p:cNvSpPr>
            <p:nvPr/>
          </p:nvSpPr>
          <p:spPr bwMode="auto">
            <a:xfrm>
              <a:off x="3643" y="2711"/>
              <a:ext cx="53" cy="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6" name="Oval 48"/>
            <p:cNvSpPr>
              <a:spLocks noChangeArrowheads="1"/>
            </p:cNvSpPr>
            <p:nvPr/>
          </p:nvSpPr>
          <p:spPr bwMode="auto">
            <a:xfrm>
              <a:off x="3960" y="2578"/>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7" name="Oval 49"/>
            <p:cNvSpPr>
              <a:spLocks noChangeArrowheads="1"/>
            </p:cNvSpPr>
            <p:nvPr/>
          </p:nvSpPr>
          <p:spPr bwMode="auto">
            <a:xfrm>
              <a:off x="3616" y="1738"/>
              <a:ext cx="53" cy="89"/>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8" name="Rectangle 50"/>
            <p:cNvSpPr>
              <a:spLocks noChangeArrowheads="1"/>
            </p:cNvSpPr>
            <p:nvPr/>
          </p:nvSpPr>
          <p:spPr bwMode="auto">
            <a:xfrm>
              <a:off x="4462" y="1959"/>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599" name="Rectangle 51"/>
            <p:cNvSpPr>
              <a:spLocks noChangeArrowheads="1"/>
            </p:cNvSpPr>
            <p:nvPr/>
          </p:nvSpPr>
          <p:spPr bwMode="auto">
            <a:xfrm>
              <a:off x="4304" y="160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0" name="Rectangle 52"/>
            <p:cNvSpPr>
              <a:spLocks noChangeArrowheads="1"/>
            </p:cNvSpPr>
            <p:nvPr/>
          </p:nvSpPr>
          <p:spPr bwMode="auto">
            <a:xfrm>
              <a:off x="4515" y="1473"/>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1" name="Rectangle 53"/>
            <p:cNvSpPr>
              <a:spLocks noChangeArrowheads="1"/>
            </p:cNvSpPr>
            <p:nvPr/>
          </p:nvSpPr>
          <p:spPr bwMode="auto">
            <a:xfrm>
              <a:off x="4595" y="2224"/>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2" name="Rectangle 54"/>
            <p:cNvSpPr>
              <a:spLocks noChangeArrowheads="1"/>
            </p:cNvSpPr>
            <p:nvPr/>
          </p:nvSpPr>
          <p:spPr bwMode="auto">
            <a:xfrm>
              <a:off x="4568" y="1694"/>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3" name="Rectangle 55"/>
            <p:cNvSpPr>
              <a:spLocks noChangeArrowheads="1"/>
            </p:cNvSpPr>
            <p:nvPr/>
          </p:nvSpPr>
          <p:spPr bwMode="auto">
            <a:xfrm>
              <a:off x="4674" y="1915"/>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4" name="Rectangle 56"/>
            <p:cNvSpPr>
              <a:spLocks noChangeArrowheads="1"/>
            </p:cNvSpPr>
            <p:nvPr/>
          </p:nvSpPr>
          <p:spPr bwMode="auto">
            <a:xfrm>
              <a:off x="4648" y="1473"/>
              <a:ext cx="52"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5" name="Rectangle 57"/>
            <p:cNvSpPr>
              <a:spLocks noChangeArrowheads="1"/>
            </p:cNvSpPr>
            <p:nvPr/>
          </p:nvSpPr>
          <p:spPr bwMode="auto">
            <a:xfrm>
              <a:off x="4806" y="156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6" name="Rectangle 58"/>
            <p:cNvSpPr>
              <a:spLocks noChangeArrowheads="1"/>
            </p:cNvSpPr>
            <p:nvPr/>
          </p:nvSpPr>
          <p:spPr bwMode="auto">
            <a:xfrm>
              <a:off x="4753" y="2048"/>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7" name="Rectangle 59"/>
            <p:cNvSpPr>
              <a:spLocks noChangeArrowheads="1"/>
            </p:cNvSpPr>
            <p:nvPr/>
          </p:nvSpPr>
          <p:spPr bwMode="auto">
            <a:xfrm>
              <a:off x="4833" y="1827"/>
              <a:ext cx="52"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8" name="Rectangle 60"/>
            <p:cNvSpPr>
              <a:spLocks noChangeArrowheads="1"/>
            </p:cNvSpPr>
            <p:nvPr/>
          </p:nvSpPr>
          <p:spPr bwMode="auto">
            <a:xfrm>
              <a:off x="4806" y="2401"/>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09" name="Rectangle 61"/>
            <p:cNvSpPr>
              <a:spLocks noChangeArrowheads="1"/>
            </p:cNvSpPr>
            <p:nvPr/>
          </p:nvSpPr>
          <p:spPr bwMode="auto">
            <a:xfrm>
              <a:off x="4965" y="1959"/>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10" name="Rectangle 62"/>
            <p:cNvSpPr>
              <a:spLocks noChangeArrowheads="1"/>
            </p:cNvSpPr>
            <p:nvPr/>
          </p:nvSpPr>
          <p:spPr bwMode="auto">
            <a:xfrm>
              <a:off x="4965" y="2269"/>
              <a:ext cx="53" cy="88"/>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11" name="Rectangle 63"/>
            <p:cNvSpPr>
              <a:spLocks noChangeArrowheads="1"/>
            </p:cNvSpPr>
            <p:nvPr/>
          </p:nvSpPr>
          <p:spPr bwMode="auto">
            <a:xfrm>
              <a:off x="4991" y="2445"/>
              <a:ext cx="53" cy="89"/>
            </a:xfrm>
            <a:prstGeom prst="rect">
              <a:avLst/>
            </a:prstGeom>
            <a:solidFill>
              <a:srgbClr val="0000FF"/>
            </a:solidFill>
            <a:ln w="9525">
              <a:solidFill>
                <a:schemeClr val="tx1"/>
              </a:solidFill>
              <a:miter lim="800000"/>
              <a:headEnd/>
              <a:tailEnd/>
            </a:ln>
          </p:spPr>
          <p:txBody>
            <a:bodyPr wrap="none" anchor="ctr"/>
            <a:lstStyle/>
            <a:p>
              <a:endParaRPr lang="en-US"/>
            </a:p>
          </p:txBody>
        </p:sp>
        <p:sp>
          <p:nvSpPr>
            <p:cNvPr id="24612" name="Rectangle 64"/>
            <p:cNvSpPr>
              <a:spLocks noChangeArrowheads="1"/>
            </p:cNvSpPr>
            <p:nvPr/>
          </p:nvSpPr>
          <p:spPr bwMode="auto">
            <a:xfrm>
              <a:off x="2929" y="1296"/>
              <a:ext cx="2591" cy="1680"/>
            </a:xfrm>
            <a:prstGeom prst="rect">
              <a:avLst/>
            </a:prstGeom>
            <a:noFill/>
            <a:ln w="9525">
              <a:solidFill>
                <a:schemeClr val="tx1"/>
              </a:solidFill>
              <a:miter lim="800000"/>
              <a:headEnd/>
              <a:tailEnd/>
            </a:ln>
          </p:spPr>
          <p:txBody>
            <a:bodyPr wrap="none" anchor="ctr"/>
            <a:lstStyle/>
            <a:p>
              <a:endParaRPr lang="en-US"/>
            </a:p>
          </p:txBody>
        </p:sp>
        <p:sp>
          <p:nvSpPr>
            <p:cNvPr id="24613" name="Line 65"/>
            <p:cNvSpPr>
              <a:spLocks noChangeShapeType="1"/>
            </p:cNvSpPr>
            <p:nvPr/>
          </p:nvSpPr>
          <p:spPr bwMode="auto">
            <a:xfrm>
              <a:off x="3552" y="1392"/>
              <a:ext cx="576" cy="1488"/>
            </a:xfrm>
            <a:prstGeom prst="line">
              <a:avLst/>
            </a:prstGeom>
            <a:noFill/>
            <a:ln w="9525">
              <a:solidFill>
                <a:schemeClr val="tx1"/>
              </a:solidFill>
              <a:prstDash val="dash"/>
              <a:round/>
              <a:headEnd/>
              <a:tailEnd/>
            </a:ln>
          </p:spPr>
          <p:txBody>
            <a:bodyPr/>
            <a:lstStyle/>
            <a:p>
              <a:endParaRPr lang="en-US"/>
            </a:p>
          </p:txBody>
        </p:sp>
        <p:sp>
          <p:nvSpPr>
            <p:cNvPr id="24614" name="Line 66"/>
            <p:cNvSpPr>
              <a:spLocks noChangeShapeType="1"/>
            </p:cNvSpPr>
            <p:nvPr/>
          </p:nvSpPr>
          <p:spPr bwMode="auto">
            <a:xfrm>
              <a:off x="4176" y="1344"/>
              <a:ext cx="576" cy="1488"/>
            </a:xfrm>
            <a:prstGeom prst="line">
              <a:avLst/>
            </a:prstGeom>
            <a:noFill/>
            <a:ln w="9525">
              <a:solidFill>
                <a:schemeClr val="tx1"/>
              </a:solidFill>
              <a:prstDash val="dash"/>
              <a:round/>
              <a:headEnd/>
              <a:tailEnd/>
            </a:ln>
          </p:spPr>
          <p:txBody>
            <a:bodyPr/>
            <a:lstStyle/>
            <a:p>
              <a:endParaRPr lang="en-US"/>
            </a:p>
          </p:txBody>
        </p:sp>
        <p:sp>
          <p:nvSpPr>
            <p:cNvPr id="24615" name="Line 67"/>
            <p:cNvSpPr>
              <a:spLocks noChangeShapeType="1"/>
            </p:cNvSpPr>
            <p:nvPr/>
          </p:nvSpPr>
          <p:spPr bwMode="auto">
            <a:xfrm>
              <a:off x="3888" y="1392"/>
              <a:ext cx="576" cy="1488"/>
            </a:xfrm>
            <a:prstGeom prst="line">
              <a:avLst/>
            </a:prstGeom>
            <a:noFill/>
            <a:ln w="9525">
              <a:solidFill>
                <a:schemeClr val="tx1"/>
              </a:solidFill>
              <a:round/>
              <a:headEnd/>
              <a:tailEnd/>
            </a:ln>
          </p:spPr>
          <p:txBody>
            <a:bodyPr/>
            <a:lstStyle/>
            <a:p>
              <a:endParaRPr lang="en-US"/>
            </a:p>
          </p:txBody>
        </p:sp>
      </p:grpSp>
      <p:sp>
        <p:nvSpPr>
          <p:cNvPr id="24582" name="Line 68"/>
          <p:cNvSpPr>
            <a:spLocks noChangeShapeType="1"/>
          </p:cNvSpPr>
          <p:nvPr/>
        </p:nvSpPr>
        <p:spPr bwMode="auto">
          <a:xfrm flipV="1">
            <a:off x="6756400" y="3124200"/>
            <a:ext cx="406400" cy="220663"/>
          </a:xfrm>
          <a:prstGeom prst="line">
            <a:avLst/>
          </a:prstGeom>
          <a:noFill/>
          <a:ln w="9525">
            <a:solidFill>
              <a:schemeClr val="tx1"/>
            </a:solidFill>
            <a:miter lim="800000"/>
            <a:headEnd type="triangle" w="med" len="med"/>
            <a:tailEnd type="triangle" w="med" len="med"/>
          </a:ln>
        </p:spPr>
        <p:txBody>
          <a:bodyPr wrap="none"/>
          <a:lstStyle/>
          <a:p>
            <a:endParaRPr lang="en-US"/>
          </a:p>
        </p:txBody>
      </p:sp>
      <p:sp>
        <p:nvSpPr>
          <p:cNvPr id="24583" name="Text Box 69"/>
          <p:cNvSpPr txBox="1">
            <a:spLocks noChangeArrowheads="1"/>
          </p:cNvSpPr>
          <p:nvPr/>
        </p:nvSpPr>
        <p:spPr bwMode="auto">
          <a:xfrm>
            <a:off x="6858000" y="3200400"/>
            <a:ext cx="533400" cy="366713"/>
          </a:xfrm>
          <a:prstGeom prst="rect">
            <a:avLst/>
          </a:prstGeom>
          <a:noFill/>
          <a:ln w="9525">
            <a:noFill/>
            <a:miter lim="800000"/>
            <a:headEnd/>
            <a:tailEnd/>
          </a:ln>
        </p:spPr>
        <p:txBody>
          <a:bodyPr>
            <a:spAutoFit/>
          </a:bodyPr>
          <a:lstStyle/>
          <a:p>
            <a:pPr>
              <a:spcBef>
                <a:spcPct val="50000"/>
              </a:spcBef>
            </a:pPr>
            <a:r>
              <a:rPr lang="en-US">
                <a:latin typeface="Arial Unicode MS" pitchFamily="34" charset="-128"/>
                <a:ea typeface="Arial Unicode MS" pitchFamily="34" charset="-128"/>
                <a:cs typeface="Arial Unicode MS" pitchFamily="34" charset="-128"/>
              </a:rPr>
              <a:t>m</a:t>
            </a:r>
          </a:p>
        </p:txBody>
      </p:sp>
      <p:sp>
        <p:nvSpPr>
          <p:cNvPr id="1796167" name="Text Box 71"/>
          <p:cNvSpPr txBox="1">
            <a:spLocks noChangeArrowheads="1"/>
          </p:cNvSpPr>
          <p:nvPr/>
        </p:nvSpPr>
        <p:spPr bwMode="auto">
          <a:xfrm>
            <a:off x="381000" y="4267200"/>
            <a:ext cx="8305800" cy="2025650"/>
          </a:xfrm>
          <a:prstGeom prst="rect">
            <a:avLst/>
          </a:prstGeom>
          <a:noFill/>
          <a:ln w="9525">
            <a:solidFill>
              <a:schemeClr val="tx1"/>
            </a:solidFill>
            <a:miter lim="800000"/>
            <a:headEnd/>
            <a:tailEnd/>
          </a:ln>
        </p:spPr>
        <p:txBody>
          <a:bodyPr>
            <a:spAutoFit/>
          </a:bodyPr>
          <a:lstStyle/>
          <a:p>
            <a:pPr>
              <a:spcBef>
                <a:spcPct val="50000"/>
              </a:spcBef>
            </a:pPr>
            <a:r>
              <a:rPr lang="en-US"/>
              <a:t>Let data D be (</a:t>
            </a:r>
            <a:r>
              <a:rPr lang="en-US" b="1"/>
              <a:t>X</a:t>
            </a:r>
            <a:r>
              <a:rPr lang="en-US" baseline="-25000"/>
              <a:t>1</a:t>
            </a:r>
            <a:r>
              <a:rPr lang="en-US"/>
              <a:t>, y</a:t>
            </a:r>
            <a:r>
              <a:rPr lang="en-US" baseline="-25000"/>
              <a:t>1</a:t>
            </a:r>
            <a:r>
              <a:rPr lang="en-US"/>
              <a:t>), …, (</a:t>
            </a:r>
            <a:r>
              <a:rPr lang="en-US" b="1"/>
              <a:t>X</a:t>
            </a:r>
            <a:r>
              <a:rPr lang="en-US" baseline="-25000"/>
              <a:t>|D|</a:t>
            </a:r>
            <a:r>
              <a:rPr lang="en-US"/>
              <a:t>, y</a:t>
            </a:r>
            <a:r>
              <a:rPr lang="en-US" baseline="-25000"/>
              <a:t>|D|</a:t>
            </a:r>
            <a:r>
              <a:rPr lang="en-US"/>
              <a:t>), where </a:t>
            </a:r>
            <a:r>
              <a:rPr lang="en-US" b="1"/>
              <a:t>X</a:t>
            </a:r>
            <a:r>
              <a:rPr lang="en-US" baseline="-25000"/>
              <a:t>i</a:t>
            </a:r>
            <a:r>
              <a:rPr lang="en-US"/>
              <a:t> is the set of training tuples associated with the class labels y</a:t>
            </a:r>
            <a:r>
              <a:rPr lang="en-US" baseline="-25000"/>
              <a:t>i</a:t>
            </a:r>
          </a:p>
          <a:p>
            <a:pPr>
              <a:spcBef>
                <a:spcPct val="50000"/>
              </a:spcBef>
            </a:pPr>
            <a:r>
              <a:rPr lang="en-US"/>
              <a:t>There are infinite lines (</a:t>
            </a:r>
            <a:r>
              <a:rPr lang="en-US" u="sng"/>
              <a:t>hyperplanes</a:t>
            </a:r>
            <a:r>
              <a:rPr lang="en-US"/>
              <a:t>) separating the two classes but we want to </a:t>
            </a:r>
            <a:r>
              <a:rPr lang="en-US" u="sng"/>
              <a:t>find the best one</a:t>
            </a:r>
            <a:r>
              <a:rPr lang="en-US"/>
              <a:t> (the one that minimizes classification error on unseen data)</a:t>
            </a:r>
          </a:p>
          <a:p>
            <a:pPr>
              <a:spcBef>
                <a:spcPct val="50000"/>
              </a:spcBef>
            </a:pPr>
            <a:r>
              <a:rPr lang="en-US" i="1"/>
              <a:t>SVM searches for the hyperplane with the largest margin</a:t>
            </a:r>
            <a:r>
              <a:rPr lang="en-US"/>
              <a:t>, i.e., </a:t>
            </a:r>
            <a:r>
              <a:rPr lang="en-US" b="1"/>
              <a:t>maximum marginal hyperplane</a:t>
            </a:r>
            <a:r>
              <a:rPr lang="en-US"/>
              <a:t> (MMH)</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96167"/>
                                        </p:tgtEl>
                                        <p:attrNameLst>
                                          <p:attrName>style.visibility</p:attrName>
                                        </p:attrNameLst>
                                      </p:cBhvr>
                                      <p:to>
                                        <p:strVal val="visible"/>
                                      </p:to>
                                    </p:set>
                                    <p:animEffect transition="in" filter="dissolve">
                                      <p:cBhvr>
                                        <p:cTn id="7" dur="500"/>
                                        <p:tgtEl>
                                          <p:spTgt spid="1796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6167"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Picture 2"/>
          <p:cNvPicPr/>
          <p:nvPr/>
        </p:nvPicPr>
        <p:blipFill>
          <a:blip r:embed="rId2"/>
          <a:stretch/>
        </p:blipFill>
        <p:spPr>
          <a:xfrm>
            <a:off x="533520" y="533520"/>
            <a:ext cx="7962480" cy="5314680"/>
          </a:xfrm>
          <a:prstGeom prst="rect">
            <a:avLst/>
          </a:prstGeom>
          <a:ln w="9360">
            <a:noFill/>
          </a:ln>
        </p:spPr>
      </p:pic>
      <p:sp>
        <p:nvSpPr>
          <p:cNvPr id="182" name="CustomShape 1"/>
          <p:cNvSpPr/>
          <p:nvPr/>
        </p:nvSpPr>
        <p:spPr>
          <a:xfrm>
            <a:off x="1371600" y="6095880"/>
            <a:ext cx="662904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0" strike="noStrike" spc="-1">
                <a:solidFill>
                  <a:srgbClr val="000000"/>
                </a:solidFill>
                <a:latin typeface="Times New Roman"/>
                <a:ea typeface="DejaVu Sans"/>
              </a:rPr>
              <a:t>Figure 2.16: Linear support vector machine-SVM</a:t>
            </a:r>
            <a:endParaRPr lang="en-US" sz="24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CustomShape 1"/>
          <p:cNvSpPr/>
          <p:nvPr/>
        </p:nvSpPr>
        <p:spPr>
          <a:xfrm>
            <a:off x="304920" y="685800"/>
            <a:ext cx="8610120" cy="559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Hyperplane</a:t>
            </a:r>
            <a:r>
              <a:rPr lang="en-US" sz="2400" b="0" strike="noStrike" spc="-1">
                <a:solidFill>
                  <a:srgbClr val="000000"/>
                </a:solidFill>
                <a:latin typeface="Times New Roman"/>
                <a:ea typeface="DejaVu Sans"/>
              </a:rPr>
              <a:t>: A decision boundary separating different classes in feature space, represented by the equation</a:t>
            </a:r>
            <a:r>
              <a:rPr lang="en-US" sz="2400" b="1" strike="noStrike" spc="-1">
                <a:solidFill>
                  <a:srgbClr val="000000"/>
                </a:solidFill>
                <a:latin typeface="Times New Roman"/>
                <a:ea typeface="DejaVu Sans"/>
              </a:rPr>
              <a:t> wx + b = 0</a:t>
            </a:r>
            <a:r>
              <a:rPr lang="en-US" sz="2400" b="0" strike="noStrike" spc="-1">
                <a:solidFill>
                  <a:srgbClr val="000000"/>
                </a:solidFill>
                <a:latin typeface="Times New Roman"/>
                <a:ea typeface="DejaVu Sans"/>
              </a:rPr>
              <a:t> in linear classification.</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Support Vectors</a:t>
            </a:r>
            <a:r>
              <a:rPr lang="en-US" sz="2400" b="0" strike="noStrike" spc="-1">
                <a:solidFill>
                  <a:srgbClr val="000000"/>
                </a:solidFill>
                <a:latin typeface="Times New Roman"/>
                <a:ea typeface="DejaVu Sans"/>
              </a:rPr>
              <a:t>: The closest data points to the hyperplane, crucial for determining the hyperplane and margin in SVM.</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Margin</a:t>
            </a:r>
            <a:r>
              <a:rPr lang="en-US" sz="2400" b="0" strike="noStrike" spc="-1">
                <a:solidFill>
                  <a:srgbClr val="000000"/>
                </a:solidFill>
                <a:latin typeface="Times New Roman"/>
                <a:ea typeface="DejaVu Sans"/>
              </a:rPr>
              <a:t>: The distance between the hyperplane and the support vectors. SVM aims to maximize this margin for better classification performance.</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Kernel</a:t>
            </a:r>
            <a:r>
              <a:rPr lang="en-US" sz="2400" b="0" strike="noStrike" spc="-1">
                <a:solidFill>
                  <a:srgbClr val="000000"/>
                </a:solidFill>
                <a:latin typeface="Times New Roman"/>
                <a:ea typeface="DejaVu Sans"/>
              </a:rPr>
              <a:t>: A function that maps data to a higher-dimensional space, enabling SVM to handle non-linearly separable data.</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Hard Margin</a:t>
            </a:r>
            <a:r>
              <a:rPr lang="en-US" sz="2400" b="0" strike="noStrike" spc="-1">
                <a:solidFill>
                  <a:srgbClr val="000000"/>
                </a:solidFill>
                <a:latin typeface="Times New Roman"/>
                <a:ea typeface="DejaVu Sans"/>
              </a:rPr>
              <a:t>: A maximum-margin hyperplane that perfectly separates the data without misclassifications.</a:t>
            </a:r>
            <a:endParaRPr lang="en-US" sz="2400" b="0" strike="noStrike" spc="-1">
              <a:latin typeface="Arial"/>
            </a:endParaRPr>
          </a:p>
          <a:p>
            <a:pPr>
              <a:lnSpc>
                <a:spcPct val="100000"/>
              </a:lnSpc>
              <a:spcBef>
                <a:spcPts val="1417"/>
              </a:spcBef>
            </a:pPr>
            <a:endParaRPr lang="en-US" sz="24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0" y="380880"/>
            <a:ext cx="8610120" cy="559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Soft Margin</a:t>
            </a:r>
            <a:r>
              <a:rPr lang="en-US" sz="2400" b="0" strike="noStrike" spc="-1">
                <a:solidFill>
                  <a:srgbClr val="000000"/>
                </a:solidFill>
                <a:latin typeface="Times New Roman"/>
                <a:ea typeface="DejaVu Sans"/>
              </a:rPr>
              <a:t>: Allows some misclassifications by introducing slack variables, balancing margin maximization and misclassification penalties when data is not perfectly separable.</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C</a:t>
            </a:r>
            <a:r>
              <a:rPr lang="en-US" sz="2400" b="0" strike="noStrike" spc="-1">
                <a:solidFill>
                  <a:srgbClr val="000000"/>
                </a:solidFill>
                <a:latin typeface="Times New Roman"/>
                <a:ea typeface="DejaVu Sans"/>
              </a:rPr>
              <a:t>: A regularization term balancing margin maximization and misclassification penalties. A higher C value enforces a stricter penalty for misclassifications.</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Hinge Loss</a:t>
            </a:r>
            <a:r>
              <a:rPr lang="en-US" sz="2400" b="0" strike="noStrike" spc="-1">
                <a:solidFill>
                  <a:srgbClr val="000000"/>
                </a:solidFill>
                <a:latin typeface="Times New Roman"/>
                <a:ea typeface="DejaVu Sans"/>
              </a:rPr>
              <a:t>: A loss function penalizing misclassified points or margin violations, combined with regularization in SVM.</a:t>
            </a:r>
            <a:endParaRPr lang="en-US" sz="2400" b="0" strike="noStrike" spc="-1">
              <a:latin typeface="Arial"/>
            </a:endParaRPr>
          </a:p>
          <a:p>
            <a:pPr marL="432000" indent="-323640" algn="just">
              <a:lnSpc>
                <a:spcPct val="100000"/>
              </a:lnSpc>
              <a:spcBef>
                <a:spcPts val="1417"/>
              </a:spcBef>
              <a:buClr>
                <a:srgbClr val="000000"/>
              </a:buClr>
              <a:buSzPct val="45000"/>
              <a:buFont typeface="Wingdings" charset="2"/>
              <a:buChar char=""/>
            </a:pPr>
            <a:r>
              <a:rPr lang="en-US" sz="2400" b="1" strike="noStrike" spc="-1">
                <a:solidFill>
                  <a:srgbClr val="000000"/>
                </a:solidFill>
                <a:latin typeface="Times New Roman"/>
                <a:ea typeface="DejaVu Sans"/>
              </a:rPr>
              <a:t>Dual Problem</a:t>
            </a:r>
            <a:r>
              <a:rPr lang="en-US" sz="2400" b="0" strike="noStrike" spc="-1">
                <a:solidFill>
                  <a:srgbClr val="000000"/>
                </a:solidFill>
                <a:latin typeface="Times New Roman"/>
                <a:ea typeface="DejaVu Sans"/>
              </a:rPr>
              <a:t>: Involves solving for Lagrange multipliers associated with support vectors, facilitating the kernel trick and efficient computation.</a:t>
            </a:r>
            <a:endParaRPr lang="en-US" sz="2400" b="0" strike="noStrike" spc="-1">
              <a:latin typeface="Arial"/>
            </a:endParaRPr>
          </a:p>
          <a:p>
            <a:pPr>
              <a:lnSpc>
                <a:spcPct val="100000"/>
              </a:lnSpc>
              <a:spcBef>
                <a:spcPts val="1417"/>
              </a:spcBef>
            </a:pPr>
            <a:endParaRPr lang="en-US" sz="24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 name="Picture 2"/>
          <p:cNvPicPr/>
          <p:nvPr/>
        </p:nvPicPr>
        <p:blipFill>
          <a:blip r:embed="rId2"/>
          <a:stretch/>
        </p:blipFill>
        <p:spPr>
          <a:xfrm>
            <a:off x="349920" y="457200"/>
            <a:ext cx="8468640" cy="4876560"/>
          </a:xfrm>
          <a:prstGeom prst="rect">
            <a:avLst/>
          </a:prstGeom>
          <a:ln w="9360">
            <a:noFill/>
          </a:ln>
        </p:spPr>
      </p:pic>
      <p:sp>
        <p:nvSpPr>
          <p:cNvPr id="188" name="CustomShape 1"/>
          <p:cNvSpPr/>
          <p:nvPr/>
        </p:nvSpPr>
        <p:spPr>
          <a:xfrm>
            <a:off x="2057400" y="5791320"/>
            <a:ext cx="42667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0" strike="noStrike" spc="-1">
                <a:solidFill>
                  <a:srgbClr val="000000"/>
                </a:solidFill>
                <a:latin typeface="Arial"/>
                <a:ea typeface="DejaVu Sans"/>
              </a:rPr>
              <a:t>Figure 2.18: Soft Margin</a:t>
            </a:r>
            <a:endParaRPr lang="en-US" sz="24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4294967295"/>
          </p:nvPr>
        </p:nvSpPr>
        <p:spPr>
          <a:xfrm>
            <a:off x="7239000" y="6477000"/>
            <a:ext cx="1905000" cy="381000"/>
          </a:xfrm>
          <a:prstGeom prst="rect">
            <a:avLst/>
          </a:prstGeom>
          <a:noFill/>
        </p:spPr>
        <p:txBody>
          <a:bodyPr/>
          <a:lstStyle/>
          <a:p>
            <a:fld id="{00B4CBEB-A282-4E71-959C-F997109EF3F1}" type="slidenum">
              <a:rPr lang="en-US" smtClean="0"/>
              <a:pPr/>
              <a:t>112</a:t>
            </a:fld>
            <a:endParaRPr lang="en-US" smtClean="0"/>
          </a:p>
        </p:txBody>
      </p:sp>
      <p:sp>
        <p:nvSpPr>
          <p:cNvPr id="25603" name="Rectangle 2"/>
          <p:cNvSpPr>
            <a:spLocks noGrp="1" noChangeArrowheads="1"/>
          </p:cNvSpPr>
          <p:nvPr>
            <p:ph type="title"/>
          </p:nvPr>
        </p:nvSpPr>
        <p:spPr/>
        <p:txBody>
          <a:bodyPr/>
          <a:lstStyle/>
          <a:p>
            <a:pPr eaLnBrk="1" hangingPunct="1"/>
            <a:r>
              <a:rPr lang="en-US" sz="3200" smtClean="0"/>
              <a:t>SVM—Linearly Separable</a:t>
            </a:r>
          </a:p>
        </p:txBody>
      </p:sp>
      <p:sp>
        <p:nvSpPr>
          <p:cNvPr id="25604" name="Rectangle 5"/>
          <p:cNvSpPr>
            <a:spLocks noChangeArrowheads="1"/>
          </p:cNvSpPr>
          <p:nvPr/>
        </p:nvSpPr>
        <p:spPr bwMode="auto">
          <a:xfrm>
            <a:off x="381000" y="1295400"/>
            <a:ext cx="8458200" cy="5029200"/>
          </a:xfrm>
          <a:prstGeom prst="rect">
            <a:avLst/>
          </a:prstGeom>
          <a:noFill/>
          <a:ln w="9525">
            <a:noFill/>
            <a:miter lim="800000"/>
            <a:headEnd/>
            <a:tailEnd/>
          </a:ln>
        </p:spPr>
        <p:txBody>
          <a:bodyPr/>
          <a:lstStyle/>
          <a:p>
            <a:pPr marL="342900" indent="-342900">
              <a:lnSpc>
                <a:spcPct val="110000"/>
              </a:lnSpc>
              <a:spcBef>
                <a:spcPct val="20000"/>
              </a:spcBef>
              <a:buClr>
                <a:schemeClr val="folHlink"/>
              </a:buClr>
              <a:buSzPct val="60000"/>
              <a:buFont typeface="Wingdings" pitchFamily="2" charset="2"/>
              <a:buChar char="n"/>
            </a:pPr>
            <a:r>
              <a:rPr lang="en-US" sz="2000"/>
              <a:t>A separating hyperplane can be written as</a:t>
            </a:r>
          </a:p>
          <a:p>
            <a:pPr marL="1143000" lvl="2" indent="-228600">
              <a:lnSpc>
                <a:spcPct val="110000"/>
              </a:lnSpc>
              <a:spcBef>
                <a:spcPct val="20000"/>
              </a:spcBef>
              <a:buClr>
                <a:schemeClr val="folHlink"/>
              </a:buClr>
              <a:buSzPct val="50000"/>
              <a:buFont typeface="Wingdings" pitchFamily="2" charset="2"/>
              <a:buNone/>
            </a:pPr>
            <a:r>
              <a:rPr lang="en-US" sz="2000" b="1"/>
              <a:t>W</a:t>
            </a:r>
            <a:r>
              <a:rPr lang="en-US" sz="2000"/>
              <a:t> ● </a:t>
            </a:r>
            <a:r>
              <a:rPr lang="en-US" sz="2000" b="1"/>
              <a:t>X</a:t>
            </a:r>
            <a:r>
              <a:rPr lang="en-US" sz="2000"/>
              <a:t> + b = 0</a:t>
            </a:r>
          </a:p>
          <a:p>
            <a:pPr marL="742950" lvl="1" indent="-285750">
              <a:lnSpc>
                <a:spcPct val="110000"/>
              </a:lnSpc>
              <a:spcBef>
                <a:spcPct val="20000"/>
              </a:spcBef>
              <a:buClr>
                <a:schemeClr val="hlink"/>
              </a:buClr>
              <a:buSzPct val="55000"/>
              <a:buFont typeface="Wingdings" pitchFamily="2" charset="2"/>
              <a:buNone/>
            </a:pPr>
            <a:r>
              <a:rPr lang="en-US" sz="2000"/>
              <a:t>where </a:t>
            </a:r>
            <a:r>
              <a:rPr lang="en-US" sz="2000" b="1"/>
              <a:t>W</a:t>
            </a:r>
            <a:r>
              <a:rPr lang="en-US" sz="2000"/>
              <a:t>={w</a:t>
            </a:r>
            <a:r>
              <a:rPr lang="en-US" sz="2000" baseline="-25000"/>
              <a:t>1</a:t>
            </a:r>
            <a:r>
              <a:rPr lang="en-US" sz="2000"/>
              <a:t>, w</a:t>
            </a:r>
            <a:r>
              <a:rPr lang="en-US" sz="2000" baseline="-25000"/>
              <a:t>2</a:t>
            </a:r>
            <a:r>
              <a:rPr lang="en-US" sz="2000"/>
              <a:t>, …, w</a:t>
            </a:r>
            <a:r>
              <a:rPr lang="en-US" sz="2000" baseline="-25000"/>
              <a:t>n</a:t>
            </a:r>
            <a:r>
              <a:rPr lang="en-US" sz="2000"/>
              <a:t>} is a weight vector and b a scalar (bias)</a:t>
            </a:r>
          </a:p>
          <a:p>
            <a:pPr marL="342900" indent="-342900">
              <a:lnSpc>
                <a:spcPct val="110000"/>
              </a:lnSpc>
              <a:spcBef>
                <a:spcPct val="20000"/>
              </a:spcBef>
              <a:buClr>
                <a:schemeClr val="folHlink"/>
              </a:buClr>
              <a:buSzPct val="60000"/>
              <a:buFont typeface="Wingdings" pitchFamily="2" charset="2"/>
              <a:buChar char="n"/>
            </a:pPr>
            <a:r>
              <a:rPr lang="en-US" sz="2000"/>
              <a:t>For 2-D it can be written as</a:t>
            </a:r>
          </a:p>
          <a:p>
            <a:pPr marL="1143000" lvl="2" indent="-228600">
              <a:lnSpc>
                <a:spcPct val="110000"/>
              </a:lnSpc>
              <a:spcBef>
                <a:spcPct val="20000"/>
              </a:spcBef>
              <a:buClr>
                <a:schemeClr val="folHlink"/>
              </a:buClr>
              <a:buSzPct val="50000"/>
              <a:buFont typeface="Wingdings" pitchFamily="2" charset="2"/>
              <a:buNone/>
            </a:pPr>
            <a:r>
              <a:rPr lang="en-US" sz="2000"/>
              <a:t>w</a:t>
            </a:r>
            <a:r>
              <a:rPr lang="en-US" sz="2000" baseline="-25000"/>
              <a:t>0</a:t>
            </a:r>
            <a:r>
              <a:rPr lang="en-US" sz="2000"/>
              <a:t> + w</a:t>
            </a:r>
            <a:r>
              <a:rPr lang="en-US" sz="2000" baseline="-25000"/>
              <a:t>1</a:t>
            </a:r>
            <a:r>
              <a:rPr lang="en-US" sz="2000"/>
              <a:t> x</a:t>
            </a:r>
            <a:r>
              <a:rPr lang="en-US" sz="2000" baseline="-25000"/>
              <a:t>1</a:t>
            </a:r>
            <a:r>
              <a:rPr lang="en-US" sz="2000"/>
              <a:t> + w</a:t>
            </a:r>
            <a:r>
              <a:rPr lang="en-US" sz="2000" baseline="-25000"/>
              <a:t>2</a:t>
            </a:r>
            <a:r>
              <a:rPr lang="en-US" sz="2000"/>
              <a:t> x</a:t>
            </a:r>
            <a:r>
              <a:rPr lang="en-US" sz="2000" baseline="-25000"/>
              <a:t>2</a:t>
            </a:r>
            <a:r>
              <a:rPr lang="en-US" sz="2000"/>
              <a:t> = 0</a:t>
            </a:r>
          </a:p>
          <a:p>
            <a:pPr marL="342900" indent="-342900">
              <a:lnSpc>
                <a:spcPct val="110000"/>
              </a:lnSpc>
              <a:spcBef>
                <a:spcPct val="20000"/>
              </a:spcBef>
              <a:buClr>
                <a:schemeClr val="folHlink"/>
              </a:buClr>
              <a:buSzPct val="60000"/>
              <a:buFont typeface="Wingdings" pitchFamily="2" charset="2"/>
              <a:buChar char="n"/>
            </a:pPr>
            <a:r>
              <a:rPr lang="en-US" sz="2000"/>
              <a:t>The hyperplane defining the sides of the margin: </a:t>
            </a:r>
          </a:p>
          <a:p>
            <a:pPr marL="1143000" lvl="2" indent="-228600">
              <a:lnSpc>
                <a:spcPct val="110000"/>
              </a:lnSpc>
              <a:spcBef>
                <a:spcPct val="20000"/>
              </a:spcBef>
              <a:buClr>
                <a:schemeClr val="folHlink"/>
              </a:buClr>
              <a:buSzPct val="50000"/>
              <a:buFont typeface="Wingdings" pitchFamily="2" charset="2"/>
              <a:buNone/>
            </a:pPr>
            <a:r>
              <a:rPr lang="en-US" sz="2000"/>
              <a:t>H</a:t>
            </a:r>
            <a:r>
              <a:rPr lang="en-US" sz="2000" baseline="-25000"/>
              <a:t>1</a:t>
            </a:r>
            <a:r>
              <a:rPr lang="en-US" sz="2000"/>
              <a:t>: w</a:t>
            </a:r>
            <a:r>
              <a:rPr lang="en-US" sz="2000" baseline="-25000"/>
              <a:t>0</a:t>
            </a:r>
            <a:r>
              <a:rPr lang="en-US" sz="2000"/>
              <a:t> + w</a:t>
            </a:r>
            <a:r>
              <a:rPr lang="en-US" sz="2000" baseline="-25000"/>
              <a:t>1</a:t>
            </a:r>
            <a:r>
              <a:rPr lang="en-US" sz="2000"/>
              <a:t> x</a:t>
            </a:r>
            <a:r>
              <a:rPr lang="en-US" sz="2000" baseline="-25000"/>
              <a:t>1</a:t>
            </a:r>
            <a:r>
              <a:rPr lang="en-US" sz="2000"/>
              <a:t> + w</a:t>
            </a:r>
            <a:r>
              <a:rPr lang="en-US" sz="2000" baseline="-25000"/>
              <a:t>2</a:t>
            </a:r>
            <a:r>
              <a:rPr lang="en-US" sz="2000"/>
              <a:t> x</a:t>
            </a:r>
            <a:r>
              <a:rPr lang="en-US" sz="2000" baseline="-25000"/>
              <a:t>2</a:t>
            </a:r>
            <a:r>
              <a:rPr lang="en-US" sz="2000"/>
              <a:t> ≥ 1    for y</a:t>
            </a:r>
            <a:r>
              <a:rPr lang="en-US" sz="2000" baseline="-25000"/>
              <a:t>i </a:t>
            </a:r>
            <a:r>
              <a:rPr lang="en-US" sz="2000"/>
              <a:t>= +1, and</a:t>
            </a:r>
          </a:p>
          <a:p>
            <a:pPr marL="1143000" lvl="2" indent="-228600">
              <a:lnSpc>
                <a:spcPct val="110000"/>
              </a:lnSpc>
              <a:spcBef>
                <a:spcPct val="20000"/>
              </a:spcBef>
              <a:buClr>
                <a:schemeClr val="folHlink"/>
              </a:buClr>
              <a:buSzPct val="50000"/>
              <a:buFont typeface="Wingdings" pitchFamily="2" charset="2"/>
              <a:buNone/>
            </a:pPr>
            <a:r>
              <a:rPr lang="en-US" sz="2000"/>
              <a:t>H</a:t>
            </a:r>
            <a:r>
              <a:rPr lang="en-US" sz="2000" baseline="-25000"/>
              <a:t>2</a:t>
            </a:r>
            <a:r>
              <a:rPr lang="en-US" sz="2000"/>
              <a:t>: w</a:t>
            </a:r>
            <a:r>
              <a:rPr lang="en-US" sz="2000" baseline="-25000"/>
              <a:t>0</a:t>
            </a:r>
            <a:r>
              <a:rPr lang="en-US" sz="2000"/>
              <a:t> + w</a:t>
            </a:r>
            <a:r>
              <a:rPr lang="en-US" sz="2000" baseline="-25000"/>
              <a:t>1</a:t>
            </a:r>
            <a:r>
              <a:rPr lang="en-US" sz="2000"/>
              <a:t> x</a:t>
            </a:r>
            <a:r>
              <a:rPr lang="en-US" sz="2000" baseline="-25000"/>
              <a:t>1</a:t>
            </a:r>
            <a:r>
              <a:rPr lang="en-US" sz="2000"/>
              <a:t> + w</a:t>
            </a:r>
            <a:r>
              <a:rPr lang="en-US" sz="2000" baseline="-25000"/>
              <a:t>2</a:t>
            </a:r>
            <a:r>
              <a:rPr lang="en-US" sz="2000"/>
              <a:t> x</a:t>
            </a:r>
            <a:r>
              <a:rPr lang="en-US" sz="2000" baseline="-25000"/>
              <a:t>2</a:t>
            </a:r>
            <a:r>
              <a:rPr lang="en-US" sz="2000"/>
              <a:t> ≤ – 1 for y</a:t>
            </a:r>
            <a:r>
              <a:rPr lang="en-US" sz="2000" baseline="-25000"/>
              <a:t>i </a:t>
            </a:r>
            <a:r>
              <a:rPr lang="en-US" sz="2000"/>
              <a:t>= –1</a:t>
            </a:r>
          </a:p>
          <a:p>
            <a:pPr marL="342900" indent="-342900">
              <a:lnSpc>
                <a:spcPct val="110000"/>
              </a:lnSpc>
              <a:spcBef>
                <a:spcPct val="20000"/>
              </a:spcBef>
              <a:buClr>
                <a:schemeClr val="folHlink"/>
              </a:buClr>
              <a:buSzPct val="60000"/>
              <a:buFont typeface="Wingdings" pitchFamily="2" charset="2"/>
              <a:buChar char="n"/>
            </a:pPr>
            <a:r>
              <a:rPr lang="en-US" sz="2000"/>
              <a:t>Any training tuples that fall on hyperplanes H</a:t>
            </a:r>
            <a:r>
              <a:rPr lang="en-US" sz="2000" baseline="-25000"/>
              <a:t>1</a:t>
            </a:r>
            <a:r>
              <a:rPr lang="en-US" sz="2000"/>
              <a:t> or H</a:t>
            </a:r>
            <a:r>
              <a:rPr lang="en-US" sz="2000" baseline="-25000"/>
              <a:t>2</a:t>
            </a:r>
            <a:r>
              <a:rPr lang="en-US" sz="2000"/>
              <a:t> (i.e., the </a:t>
            </a:r>
            <a:br>
              <a:rPr lang="en-US" sz="2000"/>
            </a:br>
            <a:r>
              <a:rPr lang="en-US" sz="2000"/>
              <a:t>sides defining the margin) are </a:t>
            </a:r>
            <a:r>
              <a:rPr lang="en-US" sz="2000" b="1"/>
              <a:t>support vectors</a:t>
            </a:r>
          </a:p>
          <a:p>
            <a:pPr marL="342900" indent="-342900">
              <a:lnSpc>
                <a:spcPct val="110000"/>
              </a:lnSpc>
              <a:spcBef>
                <a:spcPct val="20000"/>
              </a:spcBef>
              <a:buClr>
                <a:schemeClr val="folHlink"/>
              </a:buClr>
              <a:buSzPct val="60000"/>
              <a:buFont typeface="Wingdings" pitchFamily="2" charset="2"/>
              <a:buChar char="n"/>
            </a:pPr>
            <a:r>
              <a:rPr lang="en-US" sz="2000"/>
              <a:t>This becomes a </a:t>
            </a:r>
            <a:r>
              <a:rPr lang="en-US" sz="2000" b="1"/>
              <a:t>constrained (convex) quadratic optimization</a:t>
            </a:r>
            <a:r>
              <a:rPr lang="en-US" sz="2000"/>
              <a:t> problem: Quadratic objective function and linear constraints </a:t>
            </a:r>
            <a:r>
              <a:rPr lang="en-US" sz="2000">
                <a:sym typeface="Wingdings" pitchFamily="2" charset="2"/>
              </a:rPr>
              <a:t></a:t>
            </a:r>
            <a:r>
              <a:rPr lang="en-US" sz="2000"/>
              <a:t> </a:t>
            </a:r>
            <a:r>
              <a:rPr lang="en-US" sz="2000" i="1"/>
              <a:t>Quadratic Programming (QP) </a:t>
            </a:r>
            <a:r>
              <a:rPr lang="en-US" sz="2000">
                <a:sym typeface="Wingdings" pitchFamily="2" charset="2"/>
              </a:rPr>
              <a:t></a:t>
            </a:r>
            <a:r>
              <a:rPr lang="en-US" sz="2000"/>
              <a:t> Lagrangian multipliers</a:t>
            </a: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4294967295"/>
          </p:nvPr>
        </p:nvSpPr>
        <p:spPr>
          <a:xfrm>
            <a:off x="7239000" y="6477000"/>
            <a:ext cx="1905000" cy="381000"/>
          </a:xfrm>
          <a:prstGeom prst="rect">
            <a:avLst/>
          </a:prstGeom>
          <a:noFill/>
        </p:spPr>
        <p:txBody>
          <a:bodyPr/>
          <a:lstStyle/>
          <a:p>
            <a:fld id="{DC7302BB-193E-4C7E-B593-BAD772A35C1B}" type="slidenum">
              <a:rPr lang="en-US" smtClean="0"/>
              <a:pPr/>
              <a:t>113</a:t>
            </a:fld>
            <a:endParaRPr lang="en-US" smtClean="0"/>
          </a:p>
        </p:txBody>
      </p:sp>
      <p:sp>
        <p:nvSpPr>
          <p:cNvPr id="26627" name="Rectangle 2"/>
          <p:cNvSpPr>
            <a:spLocks noGrp="1" noChangeArrowheads="1"/>
          </p:cNvSpPr>
          <p:nvPr>
            <p:ph type="title"/>
          </p:nvPr>
        </p:nvSpPr>
        <p:spPr>
          <a:xfrm>
            <a:off x="0" y="304800"/>
            <a:ext cx="9144000" cy="609600"/>
          </a:xfrm>
        </p:spPr>
        <p:txBody>
          <a:bodyPr/>
          <a:lstStyle/>
          <a:p>
            <a:pPr eaLnBrk="1" hangingPunct="1"/>
            <a:r>
              <a:rPr lang="en-US" sz="2800" smtClean="0"/>
              <a:t>Why Is SVM Effective on High Dimensional Data?</a:t>
            </a:r>
          </a:p>
        </p:txBody>
      </p:sp>
      <p:sp>
        <p:nvSpPr>
          <p:cNvPr id="26628" name="Rectangle 3"/>
          <p:cNvSpPr>
            <a:spLocks noChangeArrowheads="1"/>
          </p:cNvSpPr>
          <p:nvPr/>
        </p:nvSpPr>
        <p:spPr bwMode="auto">
          <a:xfrm>
            <a:off x="381000" y="1295400"/>
            <a:ext cx="8458200" cy="5029200"/>
          </a:xfrm>
          <a:prstGeom prst="rect">
            <a:avLst/>
          </a:prstGeom>
          <a:noFill/>
          <a:ln w="9525">
            <a:noFill/>
            <a:miter lim="800000"/>
            <a:headEnd/>
            <a:tailEnd/>
          </a:ln>
        </p:spPr>
        <p:txBody>
          <a:bodyPr/>
          <a:lstStyle/>
          <a:p>
            <a:pPr marL="342900" indent="-342900">
              <a:lnSpc>
                <a:spcPct val="140000"/>
              </a:lnSpc>
              <a:spcBef>
                <a:spcPct val="20000"/>
              </a:spcBef>
              <a:buClr>
                <a:schemeClr val="folHlink"/>
              </a:buClr>
              <a:buSzPct val="60000"/>
              <a:buFont typeface="Wingdings" pitchFamily="2" charset="2"/>
              <a:buChar char="n"/>
            </a:pPr>
            <a:r>
              <a:rPr lang="en-US" sz="2000"/>
              <a:t>The </a:t>
            </a:r>
            <a:r>
              <a:rPr lang="en-US" sz="2000" b="1"/>
              <a:t>complexity</a:t>
            </a:r>
            <a:r>
              <a:rPr lang="en-US" sz="2000"/>
              <a:t> of trained classifier is characterized by the </a:t>
            </a:r>
            <a:r>
              <a:rPr lang="en-US" sz="2000" u="sng"/>
              <a:t># of support vectors</a:t>
            </a:r>
            <a:r>
              <a:rPr lang="en-US" sz="2000"/>
              <a:t> rather than the dimensionality of the data</a:t>
            </a:r>
          </a:p>
          <a:p>
            <a:pPr marL="342900" indent="-342900">
              <a:lnSpc>
                <a:spcPct val="140000"/>
              </a:lnSpc>
              <a:spcBef>
                <a:spcPct val="20000"/>
              </a:spcBef>
              <a:buClr>
                <a:schemeClr val="folHlink"/>
              </a:buClr>
              <a:buSzPct val="60000"/>
              <a:buFont typeface="Wingdings" pitchFamily="2" charset="2"/>
              <a:buChar char="n"/>
            </a:pPr>
            <a:r>
              <a:rPr lang="en-US" sz="2000"/>
              <a:t>The </a:t>
            </a:r>
            <a:r>
              <a:rPr lang="en-US" sz="2000" b="1"/>
              <a:t>support vectors</a:t>
            </a:r>
            <a:r>
              <a:rPr lang="en-US" sz="2000"/>
              <a:t> are the </a:t>
            </a:r>
            <a:r>
              <a:rPr lang="en-US" sz="2000" u="sng"/>
              <a:t>essential or critical training examples</a:t>
            </a:r>
            <a:r>
              <a:rPr lang="en-US" sz="2000"/>
              <a:t> —they lie closest to the decision boundary (MMH)</a:t>
            </a:r>
          </a:p>
          <a:p>
            <a:pPr marL="342900" indent="-342900">
              <a:lnSpc>
                <a:spcPct val="140000"/>
              </a:lnSpc>
              <a:spcBef>
                <a:spcPct val="20000"/>
              </a:spcBef>
              <a:buClr>
                <a:schemeClr val="folHlink"/>
              </a:buClr>
              <a:buSzPct val="60000"/>
              <a:buFont typeface="Wingdings" pitchFamily="2" charset="2"/>
              <a:buChar char="n"/>
            </a:pPr>
            <a:r>
              <a:rPr lang="en-US" sz="2000"/>
              <a:t>If all other training examples are removed and the training is repeated, the same separating hyperplane would be found</a:t>
            </a:r>
          </a:p>
          <a:p>
            <a:pPr marL="342900" indent="-342900">
              <a:lnSpc>
                <a:spcPct val="140000"/>
              </a:lnSpc>
              <a:spcBef>
                <a:spcPct val="20000"/>
              </a:spcBef>
              <a:buClr>
                <a:schemeClr val="folHlink"/>
              </a:buClr>
              <a:buSzPct val="60000"/>
              <a:buFont typeface="Wingdings" pitchFamily="2" charset="2"/>
              <a:buChar char="n"/>
            </a:pPr>
            <a:r>
              <a:rPr lang="en-US" sz="2000"/>
              <a:t>The number of support vectors found can be used to compute an </a:t>
            </a:r>
            <a:r>
              <a:rPr lang="en-US" sz="2000" u="sng"/>
              <a:t>(upper) bound on the expected error rate</a:t>
            </a:r>
            <a:r>
              <a:rPr lang="en-US" sz="2000"/>
              <a:t> of the SVM classifier, which is independent of the data dimensionality</a:t>
            </a:r>
          </a:p>
          <a:p>
            <a:pPr marL="342900" indent="-342900">
              <a:lnSpc>
                <a:spcPct val="140000"/>
              </a:lnSpc>
              <a:spcBef>
                <a:spcPct val="20000"/>
              </a:spcBef>
              <a:buClr>
                <a:schemeClr val="folHlink"/>
              </a:buClr>
              <a:buSzPct val="60000"/>
              <a:buFont typeface="Wingdings" pitchFamily="2" charset="2"/>
              <a:buChar char="n"/>
            </a:pPr>
            <a:r>
              <a:rPr lang="en-US" sz="2000"/>
              <a:t>Thus, an SVM with a small number of support vectors can have good generalization, even when the dimensionality of the data is high</a:t>
            </a: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4294967295"/>
          </p:nvPr>
        </p:nvSpPr>
        <p:spPr>
          <a:xfrm>
            <a:off x="7239000" y="6477000"/>
            <a:ext cx="1905000" cy="381000"/>
          </a:xfrm>
          <a:prstGeom prst="rect">
            <a:avLst/>
          </a:prstGeom>
          <a:noFill/>
        </p:spPr>
        <p:txBody>
          <a:bodyPr/>
          <a:lstStyle/>
          <a:p>
            <a:fld id="{62F746CC-717B-40E4-A0F6-3F7D21C9C23D}" type="slidenum">
              <a:rPr lang="en-US" smtClean="0"/>
              <a:pPr/>
              <a:t>114</a:t>
            </a:fld>
            <a:endParaRPr lang="en-US" smtClean="0"/>
          </a:p>
        </p:txBody>
      </p:sp>
      <p:sp>
        <p:nvSpPr>
          <p:cNvPr id="27651" name="Rectangle 2"/>
          <p:cNvSpPr>
            <a:spLocks noGrp="1" noChangeArrowheads="1"/>
          </p:cNvSpPr>
          <p:nvPr>
            <p:ph type="title"/>
          </p:nvPr>
        </p:nvSpPr>
        <p:spPr>
          <a:xfrm>
            <a:off x="0" y="381000"/>
            <a:ext cx="7391400" cy="609600"/>
          </a:xfrm>
        </p:spPr>
        <p:txBody>
          <a:bodyPr/>
          <a:lstStyle/>
          <a:p>
            <a:pPr eaLnBrk="1" hangingPunct="1"/>
            <a:r>
              <a:rPr lang="en-US" smtClean="0"/>
              <a:t>SVM—Linearly Inseparable</a:t>
            </a:r>
          </a:p>
        </p:txBody>
      </p:sp>
      <p:sp>
        <p:nvSpPr>
          <p:cNvPr id="27652" name="Rectangle 3"/>
          <p:cNvSpPr>
            <a:spLocks noChangeArrowheads="1"/>
          </p:cNvSpPr>
          <p:nvPr/>
        </p:nvSpPr>
        <p:spPr bwMode="auto">
          <a:xfrm>
            <a:off x="304800" y="1524000"/>
            <a:ext cx="8458200" cy="5029200"/>
          </a:xfrm>
          <a:prstGeom prst="rect">
            <a:avLst/>
          </a:prstGeom>
          <a:noFill/>
          <a:ln w="9525">
            <a:noFill/>
            <a:miter lim="800000"/>
            <a:headEnd/>
            <a:tailEnd/>
          </a:ln>
        </p:spPr>
        <p:txBody>
          <a:bodyPr/>
          <a:lstStyle/>
          <a:p>
            <a:pPr marL="342900" indent="-342900">
              <a:lnSpc>
                <a:spcPct val="110000"/>
              </a:lnSpc>
              <a:spcBef>
                <a:spcPct val="20000"/>
              </a:spcBef>
              <a:buClr>
                <a:schemeClr val="folHlink"/>
              </a:buClr>
              <a:buSzPct val="60000"/>
              <a:buFont typeface="Wingdings" pitchFamily="2" charset="2"/>
              <a:buChar char="n"/>
            </a:pPr>
            <a:r>
              <a:rPr lang="en-US" sz="2400"/>
              <a:t>Transform the original input data into a higher dimensional space</a:t>
            </a:r>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endParaRPr lang="en-US" sz="2400"/>
          </a:p>
          <a:p>
            <a:pPr marL="342900" indent="-342900">
              <a:lnSpc>
                <a:spcPct val="110000"/>
              </a:lnSpc>
              <a:spcBef>
                <a:spcPct val="20000"/>
              </a:spcBef>
              <a:buClr>
                <a:schemeClr val="folHlink"/>
              </a:buClr>
              <a:buSzPct val="60000"/>
              <a:buFont typeface="Wingdings" pitchFamily="2" charset="2"/>
              <a:buChar char="n"/>
            </a:pPr>
            <a:r>
              <a:rPr lang="en-US" sz="2400"/>
              <a:t>Search for a linear separating hyperplane in the new space</a:t>
            </a:r>
          </a:p>
        </p:txBody>
      </p:sp>
      <p:pic>
        <p:nvPicPr>
          <p:cNvPr id="27653" name="Picture 11"/>
          <p:cNvPicPr>
            <a:picLocks noChangeAspect="1" noChangeArrowheads="1"/>
          </p:cNvPicPr>
          <p:nvPr/>
        </p:nvPicPr>
        <p:blipFill>
          <a:blip r:embed="rId4"/>
          <a:srcRect/>
          <a:stretch>
            <a:fillRect/>
          </a:stretch>
        </p:blipFill>
        <p:spPr bwMode="auto">
          <a:xfrm>
            <a:off x="76200" y="2590800"/>
            <a:ext cx="9067800" cy="2819400"/>
          </a:xfrm>
          <a:prstGeom prst="rect">
            <a:avLst/>
          </a:prstGeom>
          <a:noFill/>
          <a:ln w="9525">
            <a:noFill/>
            <a:miter lim="800000"/>
            <a:headEnd/>
            <a:tailEnd/>
          </a:ln>
        </p:spPr>
      </p:pic>
      <p:graphicFrame>
        <p:nvGraphicFramePr>
          <p:cNvPr id="27654" name="Object 14"/>
          <p:cNvGraphicFramePr>
            <a:graphicFrameLocks noChangeAspect="1"/>
          </p:cNvGraphicFramePr>
          <p:nvPr>
            <p:ph idx="1"/>
          </p:nvPr>
        </p:nvGraphicFramePr>
        <p:xfrm>
          <a:off x="7099300" y="381000"/>
          <a:ext cx="2044700" cy="1905000"/>
        </p:xfrm>
        <a:graphic>
          <a:graphicData uri="http://schemas.openxmlformats.org/presentationml/2006/ole">
            <p:oleObj spid="_x0000_s147458" name="SmartDraw" r:id="rId5" imgW="2045208" imgH="1749552" progId="">
              <p:embed/>
            </p:oleObj>
          </a:graphicData>
        </a:graphic>
      </p:graphicFrame>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CustomShape 1"/>
          <p:cNvSpPr/>
          <p:nvPr/>
        </p:nvSpPr>
        <p:spPr>
          <a:xfrm>
            <a:off x="457200" y="0"/>
            <a:ext cx="8228880" cy="914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a:solidFill>
                  <a:srgbClr val="000000"/>
                </a:solidFill>
                <a:latin typeface="Times New Roman"/>
                <a:ea typeface="DejaVu Sans"/>
              </a:rPr>
              <a:t>Commonly used kernel functions in SVM</a:t>
            </a:r>
            <a:endParaRPr lang="en-US" sz="2800" b="0" strike="noStrike" spc="-1">
              <a:latin typeface="Arial"/>
            </a:endParaRPr>
          </a:p>
        </p:txBody>
      </p:sp>
      <p:sp>
        <p:nvSpPr>
          <p:cNvPr id="190" name="CustomShape 2"/>
          <p:cNvSpPr/>
          <p:nvPr/>
        </p:nvSpPr>
        <p:spPr>
          <a:xfrm>
            <a:off x="457200" y="762120"/>
            <a:ext cx="8381160" cy="5744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32000" indent="-323640">
              <a:lnSpc>
                <a:spcPct val="100000"/>
              </a:lnSpc>
              <a:spcBef>
                <a:spcPts val="1417"/>
              </a:spcBef>
              <a:buClr>
                <a:srgbClr val="000000"/>
              </a:buClr>
              <a:buSzPct val="45000"/>
              <a:buFont typeface="Wingdings" charset="2"/>
              <a:buChar char=""/>
            </a:pPr>
            <a:r>
              <a:rPr lang="en-US" sz="2400" b="0" strike="noStrike" spc="-1">
                <a:solidFill>
                  <a:srgbClr val="000000"/>
                </a:solidFill>
                <a:latin typeface="Times New Roman"/>
                <a:ea typeface="DejaVu Sans"/>
              </a:rPr>
              <a:t>The choice of kernel function has a significant impact on the SVM’s performance. Here are some</a:t>
            </a:r>
            <a:endParaRPr lang="en-US" sz="2400" b="0" strike="noStrike" spc="-1">
              <a:latin typeface="Arial"/>
            </a:endParaRPr>
          </a:p>
        </p:txBody>
      </p:sp>
      <p:pic>
        <p:nvPicPr>
          <p:cNvPr id="191" name="Picture 2"/>
          <p:cNvPicPr/>
          <p:nvPr/>
        </p:nvPicPr>
        <p:blipFill>
          <a:blip r:embed="rId2"/>
          <a:stretch/>
        </p:blipFill>
        <p:spPr>
          <a:xfrm>
            <a:off x="0" y="1905120"/>
            <a:ext cx="8797680" cy="2437920"/>
          </a:xfrm>
          <a:prstGeom prst="rect">
            <a:avLst/>
          </a:prstGeom>
          <a:ln w="9360">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Picture 2"/>
          <p:cNvPicPr/>
          <p:nvPr/>
        </p:nvPicPr>
        <p:blipFill>
          <a:blip r:embed="rId2"/>
          <a:stretch/>
        </p:blipFill>
        <p:spPr>
          <a:xfrm>
            <a:off x="244080" y="380880"/>
            <a:ext cx="8694360" cy="6019560"/>
          </a:xfrm>
          <a:prstGeom prst="rect">
            <a:avLst/>
          </a:prstGeom>
          <a:ln w="9360">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 name="Picture 2"/>
          <p:cNvPicPr/>
          <p:nvPr/>
        </p:nvPicPr>
        <p:blipFill>
          <a:blip r:embed="rId2"/>
          <a:stretch/>
        </p:blipFill>
        <p:spPr>
          <a:xfrm>
            <a:off x="467640" y="533520"/>
            <a:ext cx="8676000" cy="4876560"/>
          </a:xfrm>
          <a:prstGeom prst="rect">
            <a:avLst/>
          </a:prstGeom>
          <a:ln w="9360">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p:cNvSpPr>
            <a:spLocks noGrp="1"/>
          </p:cNvSpPr>
          <p:nvPr>
            <p:ph type="sldNum" sz="quarter" idx="4294967295"/>
          </p:nvPr>
        </p:nvSpPr>
        <p:spPr>
          <a:xfrm>
            <a:off x="7239000" y="6477000"/>
            <a:ext cx="1905000" cy="381000"/>
          </a:xfrm>
          <a:prstGeom prst="rect">
            <a:avLst/>
          </a:prstGeom>
          <a:noFill/>
        </p:spPr>
        <p:txBody>
          <a:bodyPr/>
          <a:lstStyle/>
          <a:p>
            <a:fld id="{B94FB359-136A-4CA1-80BE-9DA63C35D3EF}" type="slidenum">
              <a:rPr lang="en-US" smtClean="0"/>
              <a:pPr/>
              <a:t>118</a:t>
            </a:fld>
            <a:endParaRPr lang="en-US" smtClean="0"/>
          </a:p>
        </p:txBody>
      </p:sp>
      <p:sp>
        <p:nvSpPr>
          <p:cNvPr id="34819" name="Rectangle 2"/>
          <p:cNvSpPr>
            <a:spLocks noGrp="1" noChangeArrowheads="1"/>
          </p:cNvSpPr>
          <p:nvPr>
            <p:ph type="title"/>
          </p:nvPr>
        </p:nvSpPr>
        <p:spPr/>
        <p:txBody>
          <a:bodyPr/>
          <a:lstStyle/>
          <a:p>
            <a:pPr eaLnBrk="1" hangingPunct="1"/>
            <a:r>
              <a:rPr lang="en-US" smtClean="0"/>
              <a:t>SVM vs. Neural Network</a:t>
            </a:r>
          </a:p>
        </p:txBody>
      </p:sp>
      <p:sp>
        <p:nvSpPr>
          <p:cNvPr id="34820" name="Rectangle 3"/>
          <p:cNvSpPr>
            <a:spLocks noGrp="1" noChangeArrowheads="1"/>
          </p:cNvSpPr>
          <p:nvPr>
            <p:ph type="body" sz="half" idx="1"/>
          </p:nvPr>
        </p:nvSpPr>
        <p:spPr>
          <a:xfrm>
            <a:off x="228600" y="838200"/>
            <a:ext cx="4191000" cy="4953000"/>
          </a:xfrm>
        </p:spPr>
        <p:txBody>
          <a:bodyPr/>
          <a:lstStyle/>
          <a:p>
            <a:pPr eaLnBrk="1" hangingPunct="1">
              <a:lnSpc>
                <a:spcPct val="120000"/>
              </a:lnSpc>
            </a:pPr>
            <a:r>
              <a:rPr lang="en-US" sz="2400" b="1" dirty="0" smtClean="0"/>
              <a:t>SVM</a:t>
            </a:r>
            <a:r>
              <a:rPr lang="en-US" sz="2400" dirty="0" smtClean="0"/>
              <a:t>	</a:t>
            </a:r>
          </a:p>
          <a:p>
            <a:pPr lvl="1" eaLnBrk="1" hangingPunct="1">
              <a:lnSpc>
                <a:spcPct val="120000"/>
              </a:lnSpc>
            </a:pPr>
            <a:r>
              <a:rPr lang="en-US" dirty="0" smtClean="0"/>
              <a:t>Deterministic algorithm</a:t>
            </a:r>
          </a:p>
          <a:p>
            <a:pPr lvl="1" eaLnBrk="1" hangingPunct="1">
              <a:lnSpc>
                <a:spcPct val="120000"/>
              </a:lnSpc>
            </a:pPr>
            <a:r>
              <a:rPr lang="en-US" dirty="0" smtClean="0"/>
              <a:t>Nice generalization properties</a:t>
            </a:r>
          </a:p>
          <a:p>
            <a:pPr lvl="1" eaLnBrk="1" hangingPunct="1">
              <a:lnSpc>
                <a:spcPct val="120000"/>
              </a:lnSpc>
            </a:pPr>
            <a:r>
              <a:rPr lang="en-US" dirty="0" smtClean="0"/>
              <a:t>Hard to learn – learned in batch mode using quadratic programming techniques</a:t>
            </a:r>
          </a:p>
          <a:p>
            <a:pPr lvl="1" eaLnBrk="1" hangingPunct="1">
              <a:lnSpc>
                <a:spcPct val="120000"/>
              </a:lnSpc>
            </a:pPr>
            <a:r>
              <a:rPr lang="en-US" dirty="0" smtClean="0"/>
              <a:t>Using kernels can learn very complex functions</a:t>
            </a:r>
          </a:p>
        </p:txBody>
      </p:sp>
      <p:sp>
        <p:nvSpPr>
          <p:cNvPr id="34821" name="Rectangle 4"/>
          <p:cNvSpPr>
            <a:spLocks noGrp="1" noChangeArrowheads="1"/>
          </p:cNvSpPr>
          <p:nvPr>
            <p:ph type="body" sz="half" idx="2"/>
          </p:nvPr>
        </p:nvSpPr>
        <p:spPr>
          <a:xfrm>
            <a:off x="4495800" y="1066800"/>
            <a:ext cx="4343400" cy="4800600"/>
          </a:xfrm>
        </p:spPr>
        <p:txBody>
          <a:bodyPr/>
          <a:lstStyle/>
          <a:p>
            <a:pPr eaLnBrk="1" hangingPunct="1">
              <a:lnSpc>
                <a:spcPct val="110000"/>
              </a:lnSpc>
            </a:pPr>
            <a:r>
              <a:rPr lang="en-US" sz="2400" b="1" dirty="0" smtClean="0"/>
              <a:t>Neural Network</a:t>
            </a:r>
          </a:p>
          <a:p>
            <a:pPr lvl="1" eaLnBrk="1" hangingPunct="1">
              <a:lnSpc>
                <a:spcPct val="110000"/>
              </a:lnSpc>
            </a:pPr>
            <a:r>
              <a:rPr lang="en-US" dirty="0" smtClean="0"/>
              <a:t>Nondeterministic algorithm</a:t>
            </a:r>
          </a:p>
          <a:p>
            <a:pPr lvl="1" eaLnBrk="1" hangingPunct="1">
              <a:lnSpc>
                <a:spcPct val="110000"/>
              </a:lnSpc>
            </a:pPr>
            <a:r>
              <a:rPr lang="en-US" dirty="0" smtClean="0"/>
              <a:t>Generalizes well but doesn’t have strong mathematical foundation</a:t>
            </a:r>
          </a:p>
          <a:p>
            <a:pPr lvl="1" eaLnBrk="1" hangingPunct="1">
              <a:lnSpc>
                <a:spcPct val="110000"/>
              </a:lnSpc>
            </a:pPr>
            <a:r>
              <a:rPr lang="en-US" dirty="0" smtClean="0"/>
              <a:t>Can easily be learned in incremental fashion</a:t>
            </a:r>
          </a:p>
          <a:p>
            <a:pPr lvl="1" eaLnBrk="1" hangingPunct="1">
              <a:lnSpc>
                <a:spcPct val="110000"/>
              </a:lnSpc>
            </a:pPr>
            <a:r>
              <a:rPr lang="en-US" dirty="0" smtClean="0"/>
              <a:t>To learn complex functions—use multilayer </a:t>
            </a:r>
            <a:r>
              <a:rPr lang="en-US" dirty="0" err="1" smtClean="0"/>
              <a:t>perceptron</a:t>
            </a:r>
            <a:r>
              <a:rPr lang="en-US" dirty="0" smtClean="0"/>
              <a:t> (nontrivial)</a:t>
            </a: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119</a:t>
            </a:fld>
            <a:endParaRPr lang="en-US" sz="1200" dirty="0">
              <a:latin typeface="Tahoma" panose="020B0604030504040204" pitchFamily="34" charset="0"/>
              <a:ea typeface="+mn-ea"/>
              <a:cs typeface="+mn-cs"/>
            </a:endParaRPr>
          </a:p>
        </p:txBody>
      </p:sp>
      <p:sp>
        <p:nvSpPr>
          <p:cNvPr id="86019"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86020"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lnSpc>
                <a:spcPct val="90000"/>
              </a:lnSpc>
            </a:pPr>
            <a:r>
              <a:rPr sz="2400" dirty="0"/>
              <a:t>What is classification? What is prediction?</a:t>
            </a:r>
          </a:p>
          <a:p>
            <a:pPr eaLnBrk="1" hangingPunct="1">
              <a:lnSpc>
                <a:spcPct val="90000"/>
              </a:lnSpc>
            </a:pPr>
            <a:r>
              <a:rPr sz="2400" dirty="0"/>
              <a:t>Issues regarding classification and prediction</a:t>
            </a:r>
          </a:p>
          <a:p>
            <a:pPr eaLnBrk="1" hangingPunct="1">
              <a:lnSpc>
                <a:spcPct val="90000"/>
              </a:lnSpc>
            </a:pPr>
            <a:r>
              <a:rPr sz="2400" dirty="0"/>
              <a:t>Classification by decision tree induction</a:t>
            </a:r>
          </a:p>
          <a:p>
            <a:pPr eaLnBrk="1" hangingPunct="1">
              <a:lnSpc>
                <a:spcPct val="90000"/>
              </a:lnSpc>
            </a:pPr>
            <a:r>
              <a:rPr sz="2400" dirty="0"/>
              <a:t>Bayesian Classification</a:t>
            </a:r>
          </a:p>
          <a:p>
            <a:pPr eaLnBrk="1" hangingPunct="1">
              <a:lnSpc>
                <a:spcPct val="90000"/>
              </a:lnSpc>
            </a:pPr>
            <a:r>
              <a:rPr lang="en-US" sz="2400" dirty="0" smtClean="0"/>
              <a:t>Classification by Neural </a:t>
            </a:r>
            <a:r>
              <a:rPr lang="en-US" sz="2400" dirty="0" err="1" smtClean="0"/>
              <a:t>Networks,</a:t>
            </a:r>
            <a:r>
              <a:rPr lang="en-US" altLang="en-US" sz="2400" dirty="0" err="1" smtClean="0">
                <a:sym typeface="+mn-ea"/>
              </a:rPr>
              <a:t>Back</a:t>
            </a:r>
            <a:r>
              <a:rPr lang="en-US" altLang="en-US" sz="2400" dirty="0" smtClean="0">
                <a:sym typeface="+mn-ea"/>
              </a:rPr>
              <a:t> propagation</a:t>
            </a:r>
            <a:endParaRPr lang="en-US" sz="2400" dirty="0" smtClean="0"/>
          </a:p>
          <a:p>
            <a:pPr eaLnBrk="1" hangingPunct="1">
              <a:lnSpc>
                <a:spcPct val="90000"/>
              </a:lnSpc>
            </a:pPr>
            <a:r>
              <a:rPr lang="en-US" altLang="en-US" sz="2400" dirty="0" smtClean="0"/>
              <a:t>Support Vector Machines (SVMs)</a:t>
            </a:r>
          </a:p>
          <a:p>
            <a:pPr eaLnBrk="1" hangingPunct="1">
              <a:lnSpc>
                <a:spcPct val="90000"/>
              </a:lnSpc>
            </a:pPr>
            <a:r>
              <a:rPr lang="en-US" altLang="en-US" sz="2400" dirty="0" smtClean="0">
                <a:solidFill>
                  <a:srgbClr val="FF0000"/>
                </a:solidFill>
              </a:rPr>
              <a:t>k-nearest </a:t>
            </a:r>
            <a:r>
              <a:rPr lang="en-US" altLang="en-US" sz="2400" dirty="0" err="1" smtClean="0">
                <a:solidFill>
                  <a:srgbClr val="FF0000"/>
                </a:solidFill>
              </a:rPr>
              <a:t>neighbour</a:t>
            </a:r>
            <a:r>
              <a:rPr lang="en-US" altLang="en-US" sz="2400" dirty="0" smtClean="0">
                <a:solidFill>
                  <a:srgbClr val="FF0000"/>
                </a:solidFill>
              </a:rPr>
              <a:t> classifier</a:t>
            </a:r>
          </a:p>
          <a:p>
            <a:pPr eaLnBrk="1" hangingPunct="1">
              <a:lnSpc>
                <a:spcPct val="90000"/>
              </a:lnSpc>
            </a:pPr>
            <a:r>
              <a:rPr sz="2400" smtClean="0">
                <a:solidFill>
                  <a:srgbClr val="660033"/>
                </a:solidFill>
              </a:rPr>
              <a:t>Other </a:t>
            </a:r>
            <a:r>
              <a:rPr sz="2400" dirty="0">
                <a:solidFill>
                  <a:srgbClr val="660033"/>
                </a:solidFill>
              </a:rPr>
              <a:t>Classification Methods</a:t>
            </a:r>
          </a:p>
          <a:p>
            <a:pPr eaLnBrk="1" hangingPunct="1">
              <a:lnSpc>
                <a:spcPct val="90000"/>
              </a:lnSpc>
            </a:pPr>
            <a:r>
              <a:rPr sz="2400" dirty="0"/>
              <a:t>Prediction</a:t>
            </a:r>
          </a:p>
          <a:p>
            <a:pPr eaLnBrk="1" hangingPunct="1">
              <a:lnSpc>
                <a:spcPct val="90000"/>
              </a:lnSpc>
            </a:pPr>
            <a:r>
              <a:rPr sz="2400" dirty="0"/>
              <a:t>Classification accuracy</a:t>
            </a:r>
          </a:p>
          <a:p>
            <a:pPr eaLnBrk="1" hangingPunct="1">
              <a:lnSpc>
                <a:spcPct val="90000"/>
              </a:lnSpc>
            </a:pPr>
            <a:r>
              <a:rPr sz="2400" dirty="0"/>
              <a:t>Summary</a:t>
            </a:r>
          </a:p>
        </p:txBody>
      </p:sp>
    </p:spTree>
  </p:cSld>
  <p:clrMapOvr>
    <a:masterClrMapping/>
  </p:clrMapOvr>
  <p:transition>
    <p:zoom/>
  </p:transition>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120</a:t>
            </a:fld>
            <a:endParaRPr lang="en-US" sz="1200" dirty="0">
              <a:latin typeface="Tahoma" panose="020B0604030504040204" pitchFamily="34" charset="0"/>
              <a:ea typeface="+mn-ea"/>
              <a:cs typeface="+mn-cs"/>
            </a:endParaRPr>
          </a:p>
        </p:txBody>
      </p:sp>
      <p:sp>
        <p:nvSpPr>
          <p:cNvPr id="87043" name="Rectangle 2"/>
          <p:cNvSpPr>
            <a:spLocks noGrp="1"/>
          </p:cNvSpPr>
          <p:nvPr>
            <p:ph type="title"/>
          </p:nvPr>
        </p:nvSpPr>
        <p:spPr/>
        <p:txBody>
          <a:bodyPr vert="horz" wrap="square" lIns="91440" tIns="45720" rIns="91440" bIns="45720" anchor="b" anchorCtr="0"/>
          <a:lstStyle/>
          <a:p>
            <a:pPr eaLnBrk="1" hangingPunct="1"/>
            <a:r>
              <a:rPr dirty="0"/>
              <a:t>Other Classification Methods</a:t>
            </a:r>
          </a:p>
        </p:txBody>
      </p:sp>
      <p:sp>
        <p:nvSpPr>
          <p:cNvPr id="87044" name="Rectangle 3"/>
          <p:cNvSpPr>
            <a:spLocks noGrp="1"/>
          </p:cNvSpPr>
          <p:nvPr>
            <p:ph idx="1"/>
          </p:nvPr>
        </p:nvSpPr>
        <p:spPr/>
        <p:txBody>
          <a:bodyPr vert="horz" wrap="square" lIns="91440" tIns="45720" rIns="91440" bIns="45720" anchor="t" anchorCtr="0"/>
          <a:lstStyle/>
          <a:p>
            <a:pPr marL="533400" indent="-533400" eaLnBrk="1" hangingPunct="1">
              <a:buClr>
                <a:schemeClr val="tx1"/>
              </a:buClr>
            </a:pPr>
            <a:r>
              <a:rPr dirty="0"/>
              <a:t>k-nearest neighbor classifier</a:t>
            </a:r>
            <a:r>
              <a:rPr dirty="0">
                <a:solidFill>
                  <a:srgbClr val="FF0066"/>
                </a:solidFill>
              </a:rPr>
              <a:t> </a:t>
            </a:r>
          </a:p>
          <a:p>
            <a:pPr marL="533400" indent="-533400" eaLnBrk="1" hangingPunct="1">
              <a:lnSpc>
                <a:spcPct val="110000"/>
              </a:lnSpc>
              <a:buClr>
                <a:schemeClr val="tx1"/>
              </a:buClr>
            </a:pPr>
            <a:r>
              <a:rPr dirty="0"/>
              <a:t>case-based reasoning</a:t>
            </a:r>
            <a:endParaRPr dirty="0">
              <a:solidFill>
                <a:srgbClr val="FF0066"/>
              </a:solidFill>
            </a:endParaRPr>
          </a:p>
          <a:p>
            <a:pPr marL="533400" indent="-533400" eaLnBrk="1" hangingPunct="1">
              <a:lnSpc>
                <a:spcPct val="110000"/>
              </a:lnSpc>
              <a:buClr>
                <a:schemeClr val="tx1"/>
              </a:buClr>
            </a:pPr>
            <a:r>
              <a:rPr dirty="0"/>
              <a:t>Genetic algorithm</a:t>
            </a:r>
          </a:p>
          <a:p>
            <a:pPr marL="533400" indent="-533400" eaLnBrk="1" hangingPunct="1">
              <a:lnSpc>
                <a:spcPct val="110000"/>
              </a:lnSpc>
              <a:buClr>
                <a:schemeClr val="tx1"/>
              </a:buClr>
            </a:pPr>
            <a:r>
              <a:rPr dirty="0"/>
              <a:t>Rough set approach</a:t>
            </a:r>
          </a:p>
          <a:p>
            <a:pPr marL="533400" indent="-533400" eaLnBrk="1" hangingPunct="1">
              <a:lnSpc>
                <a:spcPct val="110000"/>
              </a:lnSpc>
              <a:buClr>
                <a:schemeClr val="tx1"/>
              </a:buClr>
            </a:pPr>
            <a:r>
              <a:rPr dirty="0"/>
              <a:t>Fuzzy set approaches</a:t>
            </a:r>
          </a:p>
          <a:p>
            <a:pPr marL="533400" indent="-533400" eaLnBrk="1" hangingPunct="1">
              <a:lnSpc>
                <a:spcPct val="110000"/>
              </a:lnSpc>
              <a:buClr>
                <a:schemeClr val="tx1"/>
              </a:buClr>
            </a:pPr>
            <a:endParaRPr dirty="0"/>
          </a:p>
        </p:txBody>
      </p:sp>
    </p:spTree>
  </p:cSld>
  <p:clrMapOvr>
    <a:masterClrMapping/>
  </p:clrMapOvr>
  <p:transition>
    <p:zoom/>
  </p:transition>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121</a:t>
            </a:fld>
            <a:endParaRPr lang="en-US" sz="1200" dirty="0">
              <a:latin typeface="Tahoma" panose="020B0604030504040204" pitchFamily="34" charset="0"/>
              <a:ea typeface="+mn-ea"/>
              <a:cs typeface="+mn-cs"/>
            </a:endParaRPr>
          </a:p>
        </p:txBody>
      </p:sp>
      <p:sp>
        <p:nvSpPr>
          <p:cNvPr id="88067" name="Rectangle 2"/>
          <p:cNvSpPr>
            <a:spLocks noGrp="1"/>
          </p:cNvSpPr>
          <p:nvPr>
            <p:ph type="title"/>
          </p:nvPr>
        </p:nvSpPr>
        <p:spPr>
          <a:xfrm>
            <a:off x="228600" y="152400"/>
            <a:ext cx="8305800" cy="762000"/>
          </a:xfrm>
        </p:spPr>
        <p:txBody>
          <a:bodyPr vert="horz" wrap="square" lIns="92075" tIns="46038" rIns="92075" bIns="46038" anchor="ctr" anchorCtr="0"/>
          <a:lstStyle/>
          <a:p>
            <a:pPr eaLnBrk="1" hangingPunct="1"/>
            <a:r>
              <a:rPr sz="3200" dirty="0"/>
              <a:t>Instance-Based (Lazy Learners) Methods</a:t>
            </a:r>
          </a:p>
        </p:txBody>
      </p:sp>
      <p:sp>
        <p:nvSpPr>
          <p:cNvPr id="88068" name="Rectangle 3"/>
          <p:cNvSpPr>
            <a:spLocks noGrp="1"/>
          </p:cNvSpPr>
          <p:nvPr>
            <p:ph idx="1"/>
          </p:nvPr>
        </p:nvSpPr>
        <p:spPr>
          <a:xfrm>
            <a:off x="533400" y="1143000"/>
            <a:ext cx="8077200" cy="5410200"/>
          </a:xfrm>
        </p:spPr>
        <p:txBody>
          <a:bodyPr vert="horz" wrap="square" lIns="92075" tIns="46038" rIns="92075" bIns="46038" anchor="t" anchorCtr="0"/>
          <a:lstStyle/>
          <a:p>
            <a:pPr eaLnBrk="1" hangingPunct="1">
              <a:lnSpc>
                <a:spcPct val="90000"/>
              </a:lnSpc>
            </a:pPr>
            <a:r>
              <a:rPr sz="2000" dirty="0">
                <a:solidFill>
                  <a:srgbClr val="170981"/>
                </a:solidFill>
              </a:rPr>
              <a:t>Instance-based learning: </a:t>
            </a:r>
          </a:p>
          <a:p>
            <a:pPr lvl="1" eaLnBrk="1" hangingPunct="1">
              <a:lnSpc>
                <a:spcPct val="90000"/>
              </a:lnSpc>
            </a:pPr>
            <a:r>
              <a:rPr sz="2000" dirty="0"/>
              <a:t>Store training examples and delay the processing (“lazy evaluation”) until a new instance must be classified</a:t>
            </a:r>
          </a:p>
          <a:p>
            <a:pPr lvl="1" eaLnBrk="1" hangingPunct="1">
              <a:lnSpc>
                <a:spcPct val="90000"/>
              </a:lnSpc>
            </a:pPr>
            <a:endParaRPr sz="2000" dirty="0"/>
          </a:p>
          <a:p>
            <a:pPr eaLnBrk="1" hangingPunct="1">
              <a:lnSpc>
                <a:spcPct val="90000"/>
              </a:lnSpc>
            </a:pPr>
            <a:r>
              <a:rPr sz="2000" dirty="0"/>
              <a:t>Typical approaches</a:t>
            </a:r>
            <a:endParaRPr sz="2000" u="sng" dirty="0"/>
          </a:p>
          <a:p>
            <a:pPr lvl="1" eaLnBrk="1" hangingPunct="1">
              <a:lnSpc>
                <a:spcPct val="90000"/>
              </a:lnSpc>
            </a:pPr>
            <a:r>
              <a:rPr sz="2000" i="1" u="sng" dirty="0"/>
              <a:t>k</a:t>
            </a:r>
            <a:r>
              <a:rPr sz="2000" u="sng" dirty="0"/>
              <a:t>-nearest neighbor approach</a:t>
            </a:r>
            <a:endParaRPr sz="2000" dirty="0"/>
          </a:p>
          <a:p>
            <a:pPr lvl="2" eaLnBrk="1" hangingPunct="1">
              <a:lnSpc>
                <a:spcPct val="90000"/>
              </a:lnSpc>
            </a:pPr>
            <a:r>
              <a:rPr sz="2000" dirty="0"/>
              <a:t>Instances represented as points in a Euclidean space.</a:t>
            </a:r>
          </a:p>
          <a:p>
            <a:pPr lvl="2" eaLnBrk="1" hangingPunct="1">
              <a:lnSpc>
                <a:spcPct val="90000"/>
              </a:lnSpc>
            </a:pPr>
            <a:endParaRPr sz="2000" dirty="0"/>
          </a:p>
          <a:p>
            <a:pPr lvl="1" eaLnBrk="1" hangingPunct="1">
              <a:lnSpc>
                <a:spcPct val="90000"/>
              </a:lnSpc>
            </a:pPr>
            <a:r>
              <a:rPr sz="2000" u="sng" dirty="0"/>
              <a:t>Case-based reasoning</a:t>
            </a:r>
            <a:endParaRPr sz="2000" dirty="0"/>
          </a:p>
          <a:p>
            <a:pPr lvl="2" eaLnBrk="1" hangingPunct="1">
              <a:lnSpc>
                <a:spcPct val="90000"/>
              </a:lnSpc>
            </a:pPr>
            <a:r>
              <a:rPr sz="2000" dirty="0"/>
              <a:t>Uses symbolic representations and knowledge-based inference</a:t>
            </a:r>
          </a:p>
          <a:p>
            <a:pPr lvl="2" eaLnBrk="1" hangingPunct="1">
              <a:lnSpc>
                <a:spcPct val="90000"/>
              </a:lnSpc>
              <a:buNone/>
            </a:pPr>
            <a:endParaRPr sz="2000" dirty="0"/>
          </a:p>
          <a:p>
            <a:pPr lvl="1" eaLnBrk="1" hangingPunct="1">
              <a:lnSpc>
                <a:spcPct val="90000"/>
              </a:lnSpc>
            </a:pPr>
            <a:r>
              <a:rPr sz="2000" u="sng" dirty="0"/>
              <a:t>Locally weighted regression</a:t>
            </a:r>
            <a:endParaRPr sz="2000" dirty="0"/>
          </a:p>
          <a:p>
            <a:pPr lvl="2" eaLnBrk="1" hangingPunct="1">
              <a:lnSpc>
                <a:spcPct val="90000"/>
              </a:lnSpc>
            </a:pPr>
            <a:r>
              <a:rPr sz="2000" dirty="0"/>
              <a:t>Constructs local approximation</a:t>
            </a:r>
          </a:p>
        </p:txBody>
      </p:sp>
    </p:spTree>
  </p:cSld>
  <p:clrMapOvr>
    <a:masterClrMapping/>
  </p:clrMapOvr>
  <p:transition>
    <p:zoom/>
  </p:transition>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Slide Number Placeholder 4"/>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122</a:t>
            </a:fld>
            <a:endParaRPr lang="en-US" sz="1200" dirty="0">
              <a:latin typeface="Tahoma" panose="020B0604030504040204" pitchFamily="34" charset="0"/>
              <a:ea typeface="+mn-ea"/>
              <a:cs typeface="+mn-cs"/>
            </a:endParaRPr>
          </a:p>
        </p:txBody>
      </p:sp>
      <p:sp>
        <p:nvSpPr>
          <p:cNvPr id="90115" name="Rectangle 2"/>
          <p:cNvSpPr>
            <a:spLocks noGrp="1"/>
          </p:cNvSpPr>
          <p:nvPr>
            <p:ph type="title"/>
          </p:nvPr>
        </p:nvSpPr>
        <p:spPr/>
        <p:txBody>
          <a:bodyPr vert="horz" wrap="square" lIns="92075" tIns="46038" rIns="92075" bIns="46038" anchor="ctr" anchorCtr="0"/>
          <a:lstStyle/>
          <a:p>
            <a:pPr eaLnBrk="1" hangingPunct="1"/>
            <a:r>
              <a:rPr dirty="0"/>
              <a:t>Remarks on Lazy vs. Eager Learning</a:t>
            </a:r>
          </a:p>
        </p:txBody>
      </p:sp>
      <p:sp>
        <p:nvSpPr>
          <p:cNvPr id="90116" name="Rectangle 3"/>
          <p:cNvSpPr>
            <a:spLocks noGrp="1"/>
          </p:cNvSpPr>
          <p:nvPr>
            <p:ph type="body" sz="half" idx="1"/>
          </p:nvPr>
        </p:nvSpPr>
        <p:spPr>
          <a:xfrm>
            <a:off x="304800" y="1066800"/>
            <a:ext cx="8839200" cy="5410200"/>
          </a:xfrm>
        </p:spPr>
        <p:txBody>
          <a:bodyPr vert="horz" wrap="square" lIns="92075" tIns="46038" rIns="92075" bIns="46038" anchor="t" anchorCtr="0"/>
          <a:lstStyle/>
          <a:p>
            <a:pPr eaLnBrk="1" hangingPunct="1">
              <a:buClr>
                <a:schemeClr val="folHlink"/>
              </a:buClr>
              <a:buSzPct val="60000"/>
              <a:buFont typeface="Wingdings" panose="05000000000000000000" pitchFamily="2" charset="2"/>
            </a:pPr>
            <a:r>
              <a:rPr sz="2000" dirty="0"/>
              <a:t>K Nearest Neighbor &amp; Case based reasoning :  lazy evaluation </a:t>
            </a:r>
          </a:p>
          <a:p>
            <a:pPr eaLnBrk="1" hangingPunct="1">
              <a:buClr>
                <a:schemeClr val="folHlink"/>
              </a:buClr>
              <a:buSzPct val="60000"/>
              <a:buFont typeface="Wingdings" panose="05000000000000000000" pitchFamily="2" charset="2"/>
            </a:pPr>
            <a:r>
              <a:rPr sz="2000" dirty="0"/>
              <a:t>Decision-tree and Bayesian classification:  eager evaluation</a:t>
            </a:r>
          </a:p>
          <a:p>
            <a:pPr eaLnBrk="1" hangingPunct="1">
              <a:buClr>
                <a:schemeClr val="folHlink"/>
              </a:buClr>
              <a:buSzPct val="60000"/>
              <a:buFont typeface="Wingdings" panose="05000000000000000000" pitchFamily="2" charset="2"/>
            </a:pPr>
            <a:endParaRPr sz="2000" u="sng" dirty="0"/>
          </a:p>
          <a:p>
            <a:pPr eaLnBrk="1" hangingPunct="1">
              <a:buClr>
                <a:schemeClr val="folHlink"/>
              </a:buClr>
              <a:buSzPct val="60000"/>
              <a:buFont typeface="Wingdings" panose="05000000000000000000" pitchFamily="2" charset="2"/>
              <a:buNone/>
            </a:pPr>
            <a:r>
              <a:rPr sz="2400" u="sng" dirty="0">
                <a:solidFill>
                  <a:srgbClr val="170981"/>
                </a:solidFill>
              </a:rPr>
              <a:t>Key differences</a:t>
            </a:r>
          </a:p>
          <a:p>
            <a:pPr eaLnBrk="1" hangingPunct="1">
              <a:buClr>
                <a:schemeClr val="folHlink"/>
              </a:buClr>
              <a:buSzPct val="60000"/>
              <a:buFont typeface="Wingdings" panose="05000000000000000000" pitchFamily="2" charset="2"/>
            </a:pPr>
            <a:endParaRPr sz="2400" u="sng" dirty="0">
              <a:solidFill>
                <a:srgbClr val="170981"/>
              </a:solidFill>
            </a:endParaRPr>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a:p>
            <a:pPr eaLnBrk="1" hangingPunct="1">
              <a:buClr>
                <a:schemeClr val="folHlink"/>
              </a:buClr>
              <a:buSzPct val="60000"/>
              <a:buFont typeface="Wingdings" panose="05000000000000000000" pitchFamily="2" charset="2"/>
            </a:pPr>
            <a:endParaRPr sz="2400" u="sng" dirty="0"/>
          </a:p>
        </p:txBody>
      </p:sp>
      <p:graphicFrame>
        <p:nvGraphicFramePr>
          <p:cNvPr id="1377334" name="Group 54"/>
          <p:cNvGraphicFramePr>
            <a:graphicFrameLocks noGrp="1"/>
          </p:cNvGraphicFramePr>
          <p:nvPr>
            <p:ph sz="half" idx="1"/>
          </p:nvPr>
        </p:nvGraphicFramePr>
        <p:xfrm>
          <a:off x="304800" y="2743200"/>
          <a:ext cx="8382000" cy="3362456"/>
        </p:xfrm>
        <a:graphic>
          <a:graphicData uri="http://schemas.openxmlformats.org/drawingml/2006/table">
            <a:tbl>
              <a:tblPr/>
              <a:tblGrid>
                <a:gridCol w="4191000"/>
                <a:gridCol w="4191000"/>
              </a:tblGrid>
              <a:tr h="71749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400" b="0" i="0" u="none" strike="noStrike" cap="none" normalizeH="0" baseline="0" smtClean="0">
                          <a:ln>
                            <a:noFill/>
                          </a:ln>
                          <a:solidFill>
                            <a:srgbClr val="660033"/>
                          </a:solidFill>
                          <a:effectLst/>
                          <a:latin typeface="Comic Sans MS" panose="030F0702030302020204" pitchFamily="66" charset="0"/>
                        </a:rPr>
                        <a:t>Lazy Learning</a:t>
                      </a:r>
                    </a:p>
                  </a:txBody>
                  <a:tcPr marT="45717" marB="4571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400" b="0" i="0" u="none" strike="noStrike" cap="none" normalizeH="0" baseline="0" smtClean="0">
                          <a:ln>
                            <a:noFill/>
                          </a:ln>
                          <a:solidFill>
                            <a:srgbClr val="660033"/>
                          </a:solidFill>
                          <a:effectLst/>
                          <a:latin typeface="Comic Sans MS" panose="030F0702030302020204" pitchFamily="66" charset="0"/>
                        </a:rPr>
                        <a:t>Eager Learning</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9143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Store training examples and delay the processing until a new instance must be classified</a:t>
                      </a:r>
                    </a:p>
                  </a:txBody>
                  <a:tcPr marT="45717" marB="4571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Constructs generalization model before receiving new samples to classify.</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573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Faster at training</a:t>
                      </a:r>
                    </a:p>
                  </a:txBody>
                  <a:tcPr marT="45717" marB="4571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Slower at training </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698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Expensive computational costs when neighbors are more.</a:t>
                      </a:r>
                    </a:p>
                  </a:txBody>
                  <a:tcPr marT="45717" marB="4571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Less expensive. Assigns different weights to attributes.</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9489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Take more time for predicting</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Accuracy</a:t>
                      </a:r>
                    </a:p>
                  </a:txBody>
                  <a:tcPr marT="45717" marB="4571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Comic Sans MS" panose="030F0702030302020204" pitchFamily="66" charset="0"/>
                        </a:rPr>
                        <a:t>Faster at classification as it builds model early.</a:t>
                      </a:r>
                    </a:p>
                  </a:txBody>
                  <a:tcPr marT="45717" marB="4571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zo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K Nearest Neighbour</a:t>
            </a:r>
            <a:endParaRPr lang="en-US" sz="4400" b="0" strike="noStrike" spc="-1">
              <a:latin typeface="Arial"/>
            </a:endParaRPr>
          </a:p>
        </p:txBody>
      </p:sp>
      <p:sp>
        <p:nvSpPr>
          <p:cNvPr id="233" name="CustomShape 2"/>
          <p:cNvSpPr/>
          <p:nvPr/>
        </p:nvSpPr>
        <p:spPr>
          <a:xfrm>
            <a:off x="582480" y="1174320"/>
            <a:ext cx="8228880" cy="559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step-by-Step explanation of how KNN works</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Step 1: Selecting the optimal value of K</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K represents the number of nearest neighbors that needs to be considered while making prediction.</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Step 2: Calculating distance</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To measure the similarity between target and training data points Euclidean distance is used. Distance is calculated between data points in the dataset and target point.</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Step 3: Finding Nearest Neighbors</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The k data points with the smallest distances to the target point are nearest neighbors.</a:t>
            </a:r>
            <a:endParaRPr lang="en-US" sz="20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000" b="0" strike="noStrike" spc="-1">
                <a:solidFill>
                  <a:srgbClr val="000000"/>
                </a:solidFill>
                <a:latin typeface="Calibri"/>
                <a:ea typeface="DejaVu Sans"/>
              </a:rPr>
              <a:t>Step 4: Voting for Classification or Taking Average for Regression</a:t>
            </a:r>
            <a:endParaRPr lang="en-US" sz="20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Slide Number Placeholder 4"/>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124</a:t>
            </a:fld>
            <a:endParaRPr lang="en-US" sz="1200" dirty="0">
              <a:latin typeface="Tahoma" panose="020B0604030504040204" pitchFamily="34" charset="0"/>
              <a:ea typeface="+mn-ea"/>
              <a:cs typeface="+mn-cs"/>
            </a:endParaRPr>
          </a:p>
        </p:txBody>
      </p:sp>
      <p:sp>
        <p:nvSpPr>
          <p:cNvPr id="92163" name="Rectangle 2"/>
          <p:cNvSpPr>
            <a:spLocks noGrp="1"/>
          </p:cNvSpPr>
          <p:nvPr>
            <p:ph type="title"/>
          </p:nvPr>
        </p:nvSpPr>
        <p:spPr/>
        <p:txBody>
          <a:bodyPr vert="horz" wrap="square" lIns="92075" tIns="46038" rIns="92075" bIns="46038" anchor="ctr" anchorCtr="0"/>
          <a:lstStyle/>
          <a:p>
            <a:pPr eaLnBrk="1" hangingPunct="1"/>
            <a:r>
              <a:rPr dirty="0"/>
              <a:t>The </a:t>
            </a:r>
            <a:r>
              <a:rPr i="1" dirty="0"/>
              <a:t>k</a:t>
            </a:r>
            <a:r>
              <a:rPr dirty="0"/>
              <a:t>-Nearest Neighbor Algorithm</a:t>
            </a:r>
            <a:endParaRPr sz="3200" dirty="0"/>
          </a:p>
        </p:txBody>
      </p:sp>
      <p:sp>
        <p:nvSpPr>
          <p:cNvPr id="92164" name="Rectangle 3"/>
          <p:cNvSpPr>
            <a:spLocks noGrp="1"/>
          </p:cNvSpPr>
          <p:nvPr>
            <p:ph type="body" sz="half" idx="1"/>
          </p:nvPr>
        </p:nvSpPr>
        <p:spPr>
          <a:xfrm>
            <a:off x="304800" y="1066800"/>
            <a:ext cx="8382000" cy="5410200"/>
          </a:xfrm>
        </p:spPr>
        <p:txBody>
          <a:bodyPr vert="horz" wrap="square" lIns="92075" tIns="46038" rIns="92075" bIns="46038" anchor="t" anchorCtr="0"/>
          <a:lstStyle/>
          <a:p>
            <a:pPr eaLnBrk="1" hangingPunct="1">
              <a:lnSpc>
                <a:spcPct val="90000"/>
              </a:lnSpc>
              <a:buClr>
                <a:schemeClr val="folHlink"/>
              </a:buClr>
              <a:buSzPct val="60000"/>
              <a:buFont typeface="Wingdings" panose="05000000000000000000" pitchFamily="2" charset="2"/>
            </a:pPr>
            <a:r>
              <a:rPr sz="2000" dirty="0"/>
              <a:t>All instances correspond to points in the n-D space.</a:t>
            </a:r>
          </a:p>
          <a:p>
            <a:pPr eaLnBrk="1" hangingPunct="1">
              <a:lnSpc>
                <a:spcPct val="90000"/>
              </a:lnSpc>
              <a:buClr>
                <a:schemeClr val="folHlink"/>
              </a:buClr>
              <a:buSzPct val="60000"/>
              <a:buFont typeface="Wingdings" panose="05000000000000000000" pitchFamily="2" charset="2"/>
            </a:pPr>
            <a:endParaRPr sz="2000" dirty="0"/>
          </a:p>
          <a:p>
            <a:pPr eaLnBrk="1" hangingPunct="1">
              <a:lnSpc>
                <a:spcPct val="90000"/>
              </a:lnSpc>
              <a:buClr>
                <a:schemeClr val="folHlink"/>
              </a:buClr>
              <a:buSzPct val="60000"/>
              <a:buFont typeface="Wingdings" panose="05000000000000000000" pitchFamily="2" charset="2"/>
            </a:pPr>
            <a:r>
              <a:rPr sz="2000" dirty="0"/>
              <a:t>The nearest neighbor are defined in terms of Euclidean distance.</a:t>
            </a:r>
          </a:p>
          <a:p>
            <a:pPr eaLnBrk="1" hangingPunct="1">
              <a:lnSpc>
                <a:spcPct val="90000"/>
              </a:lnSpc>
              <a:buClr>
                <a:schemeClr val="folHlink"/>
              </a:buClr>
              <a:buSzPct val="60000"/>
              <a:buFont typeface="Wingdings" panose="05000000000000000000" pitchFamily="2" charset="2"/>
            </a:pPr>
            <a:endParaRPr sz="2000" dirty="0"/>
          </a:p>
          <a:p>
            <a:pPr eaLnBrk="1" hangingPunct="1">
              <a:lnSpc>
                <a:spcPct val="90000"/>
              </a:lnSpc>
              <a:buClr>
                <a:schemeClr val="folHlink"/>
              </a:buClr>
              <a:buSzPct val="60000"/>
              <a:buFont typeface="Wingdings" panose="05000000000000000000" pitchFamily="2" charset="2"/>
            </a:pPr>
            <a:r>
              <a:rPr sz="2000" dirty="0"/>
              <a:t>The target function could be discrete- or real- valued.</a:t>
            </a:r>
          </a:p>
          <a:p>
            <a:pPr eaLnBrk="1" hangingPunct="1">
              <a:lnSpc>
                <a:spcPct val="90000"/>
              </a:lnSpc>
              <a:buClr>
                <a:schemeClr val="folHlink"/>
              </a:buClr>
              <a:buSzPct val="60000"/>
              <a:buFont typeface="Wingdings" panose="05000000000000000000" pitchFamily="2" charset="2"/>
            </a:pPr>
            <a:endParaRPr sz="2000" dirty="0"/>
          </a:p>
          <a:p>
            <a:pPr eaLnBrk="1" hangingPunct="1">
              <a:lnSpc>
                <a:spcPct val="90000"/>
              </a:lnSpc>
              <a:buClr>
                <a:schemeClr val="folHlink"/>
              </a:buClr>
              <a:buSzPct val="60000"/>
              <a:buFont typeface="Wingdings" panose="05000000000000000000" pitchFamily="2" charset="2"/>
            </a:pPr>
            <a:r>
              <a:rPr sz="2000" dirty="0"/>
              <a:t>For discrete-valued, the </a:t>
            </a:r>
            <a:r>
              <a:rPr sz="2000" i="1" dirty="0"/>
              <a:t>k</a:t>
            </a:r>
            <a:r>
              <a:rPr sz="2000" dirty="0"/>
              <a:t>-NN returns the most common value among the k training examples nearest to</a:t>
            </a:r>
            <a:r>
              <a:rPr sz="1800" dirty="0"/>
              <a:t> </a:t>
            </a:r>
            <a:r>
              <a:rPr sz="2000" i="1" dirty="0"/>
              <a:t>X</a:t>
            </a:r>
            <a:r>
              <a:rPr sz="2000" dirty="0"/>
              <a:t>. </a:t>
            </a:r>
          </a:p>
          <a:p>
            <a:pPr eaLnBrk="1" hangingPunct="1">
              <a:lnSpc>
                <a:spcPct val="90000"/>
              </a:lnSpc>
              <a:buClr>
                <a:schemeClr val="folHlink"/>
              </a:buClr>
              <a:buSzPct val="60000"/>
              <a:buFont typeface="Wingdings" panose="05000000000000000000" pitchFamily="2" charset="2"/>
            </a:pPr>
            <a:endParaRPr sz="2000" dirty="0"/>
          </a:p>
          <a:p>
            <a:pPr eaLnBrk="1" hangingPunct="1">
              <a:lnSpc>
                <a:spcPct val="90000"/>
              </a:lnSpc>
              <a:buClr>
                <a:schemeClr val="folHlink"/>
              </a:buClr>
              <a:buSzPct val="60000"/>
              <a:buFont typeface="Wingdings" panose="05000000000000000000" pitchFamily="2" charset="2"/>
            </a:pPr>
            <a:r>
              <a:rPr sz="2000" dirty="0"/>
              <a:t>Euclidean distance between 2 points: X=(x1,x2,…,xn) Y=(y1,y2,…,yn)</a:t>
            </a:r>
          </a:p>
          <a:p>
            <a:pPr eaLnBrk="1" hangingPunct="1">
              <a:lnSpc>
                <a:spcPct val="90000"/>
              </a:lnSpc>
              <a:buClr>
                <a:schemeClr val="folHlink"/>
              </a:buClr>
              <a:buSzPct val="60000"/>
              <a:buFont typeface="Wingdings" panose="05000000000000000000" pitchFamily="2" charset="2"/>
            </a:pPr>
            <a:endParaRPr sz="2000" dirty="0"/>
          </a:p>
          <a:p>
            <a:pPr eaLnBrk="1" hangingPunct="1">
              <a:lnSpc>
                <a:spcPct val="90000"/>
              </a:lnSpc>
              <a:buClr>
                <a:schemeClr val="folHlink"/>
              </a:buClr>
              <a:buSzPct val="60000"/>
              <a:buFont typeface="Wingdings" panose="05000000000000000000" pitchFamily="2" charset="2"/>
            </a:pPr>
            <a:endParaRPr sz="2000" dirty="0"/>
          </a:p>
          <a:p>
            <a:pPr eaLnBrk="1" hangingPunct="1">
              <a:lnSpc>
                <a:spcPct val="90000"/>
              </a:lnSpc>
              <a:buClr>
                <a:schemeClr val="folHlink"/>
              </a:buClr>
              <a:buSzPct val="60000"/>
              <a:buFont typeface="Wingdings" panose="05000000000000000000" pitchFamily="2" charset="2"/>
            </a:pPr>
            <a:endParaRPr sz="2000" dirty="0"/>
          </a:p>
        </p:txBody>
      </p:sp>
      <p:graphicFrame>
        <p:nvGraphicFramePr>
          <p:cNvPr id="92165" name="Object 30"/>
          <p:cNvGraphicFramePr>
            <a:graphicFrameLocks/>
          </p:cNvGraphicFramePr>
          <p:nvPr>
            <p:ph sz="half" idx="2"/>
          </p:nvPr>
        </p:nvGraphicFramePr>
        <p:xfrm>
          <a:off x="1524000" y="4800600"/>
          <a:ext cx="4038600" cy="685800"/>
        </p:xfrm>
        <a:graphic>
          <a:graphicData uri="http://schemas.openxmlformats.org/presentationml/2006/ole">
            <p:oleObj spid="_x0000_s99329" r:id="rId3" imgW="1663700" imgH="368300" progId="Equation.3">
              <p:embed/>
            </p:oleObj>
          </a:graphicData>
        </a:graphic>
      </p:graphicFrame>
    </p:spTree>
  </p:cSld>
  <p:clrMapOvr>
    <a:masterClrMapping/>
  </p:clrMapOvr>
  <p:transition>
    <p:zoom/>
  </p:transition>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125</a:t>
            </a:fld>
            <a:endParaRPr lang="en-US" sz="1200" dirty="0">
              <a:latin typeface="Tahoma" panose="020B0604030504040204" pitchFamily="34" charset="0"/>
              <a:ea typeface="+mn-ea"/>
              <a:cs typeface="+mn-cs"/>
            </a:endParaRPr>
          </a:p>
        </p:txBody>
      </p:sp>
      <p:sp>
        <p:nvSpPr>
          <p:cNvPr id="93187" name="Rectangle 2"/>
          <p:cNvSpPr>
            <a:spLocks noGrp="1"/>
          </p:cNvSpPr>
          <p:nvPr>
            <p:ph type="title"/>
          </p:nvPr>
        </p:nvSpPr>
        <p:spPr>
          <a:xfrm>
            <a:off x="166688" y="53975"/>
            <a:ext cx="8893175" cy="504825"/>
          </a:xfrm>
        </p:spPr>
        <p:txBody>
          <a:bodyPr vert="horz" wrap="square" lIns="92075" tIns="46038" rIns="92075" bIns="46038" anchor="ctr" anchorCtr="0"/>
          <a:lstStyle/>
          <a:p>
            <a:pPr eaLnBrk="1" hangingPunct="1"/>
            <a:r>
              <a:rPr dirty="0"/>
              <a:t>Case-Based Reasoning</a:t>
            </a:r>
          </a:p>
        </p:txBody>
      </p:sp>
      <p:sp>
        <p:nvSpPr>
          <p:cNvPr id="93188" name="Rectangle 3"/>
          <p:cNvSpPr>
            <a:spLocks noGrp="1"/>
          </p:cNvSpPr>
          <p:nvPr>
            <p:ph idx="1"/>
          </p:nvPr>
        </p:nvSpPr>
        <p:spPr>
          <a:xfrm>
            <a:off x="228600" y="1143000"/>
            <a:ext cx="8610600" cy="5410200"/>
          </a:xfrm>
        </p:spPr>
        <p:txBody>
          <a:bodyPr vert="horz" wrap="square" lIns="92075" tIns="46038" rIns="92075" bIns="46038" anchor="t" anchorCtr="0"/>
          <a:lstStyle/>
          <a:p>
            <a:pPr eaLnBrk="1" hangingPunct="1">
              <a:lnSpc>
                <a:spcPct val="90000"/>
              </a:lnSpc>
            </a:pPr>
            <a:r>
              <a:rPr sz="2400" u="sng" dirty="0"/>
              <a:t>Uses:</a:t>
            </a:r>
            <a:r>
              <a:rPr sz="2400" dirty="0"/>
              <a:t> lazy evaluation + analyze similar instances</a:t>
            </a:r>
          </a:p>
          <a:p>
            <a:pPr eaLnBrk="1" hangingPunct="1">
              <a:lnSpc>
                <a:spcPct val="90000"/>
              </a:lnSpc>
            </a:pPr>
            <a:r>
              <a:rPr sz="2400" dirty="0"/>
              <a:t>Instances are not “points in a Euclidean space”</a:t>
            </a:r>
          </a:p>
          <a:p>
            <a:pPr eaLnBrk="1" hangingPunct="1">
              <a:lnSpc>
                <a:spcPct val="90000"/>
              </a:lnSpc>
            </a:pPr>
            <a:endParaRPr sz="2400" dirty="0"/>
          </a:p>
          <a:p>
            <a:pPr eaLnBrk="1" hangingPunct="1">
              <a:lnSpc>
                <a:spcPct val="90000"/>
              </a:lnSpc>
            </a:pPr>
            <a:r>
              <a:rPr sz="2400" u="sng" dirty="0"/>
              <a:t>Methodology</a:t>
            </a:r>
          </a:p>
          <a:p>
            <a:pPr lvl="1" eaLnBrk="1" hangingPunct="1">
              <a:lnSpc>
                <a:spcPct val="90000"/>
              </a:lnSpc>
            </a:pPr>
            <a:r>
              <a:rPr sz="2400" dirty="0"/>
              <a:t>Instances represented by rich symbolic descriptions, or as cases. </a:t>
            </a:r>
          </a:p>
          <a:p>
            <a:pPr lvl="1" eaLnBrk="1" hangingPunct="1">
              <a:lnSpc>
                <a:spcPct val="90000"/>
              </a:lnSpc>
            </a:pPr>
            <a:r>
              <a:rPr sz="2400" dirty="0"/>
              <a:t>Earlier similar cases are seen. Multiple retrieved cases may be combined</a:t>
            </a:r>
          </a:p>
          <a:p>
            <a:pPr lvl="1" eaLnBrk="1" hangingPunct="1">
              <a:lnSpc>
                <a:spcPct val="90000"/>
              </a:lnSpc>
            </a:pPr>
            <a:r>
              <a:rPr sz="2400" dirty="0"/>
              <a:t>Tight coupling between case retrieval, knowledge-based reasoning, and problem solving</a:t>
            </a:r>
          </a:p>
          <a:p>
            <a:pPr lvl="1" eaLnBrk="1" hangingPunct="1">
              <a:lnSpc>
                <a:spcPct val="90000"/>
              </a:lnSpc>
            </a:pPr>
            <a:endParaRPr sz="2400" dirty="0"/>
          </a:p>
          <a:p>
            <a:pPr eaLnBrk="1" hangingPunct="1">
              <a:lnSpc>
                <a:spcPct val="90000"/>
              </a:lnSpc>
            </a:pPr>
            <a:r>
              <a:rPr sz="2400" u="sng" dirty="0"/>
              <a:t>Research issues</a:t>
            </a:r>
            <a:endParaRPr sz="2400" dirty="0"/>
          </a:p>
          <a:p>
            <a:pPr lvl="1" eaLnBrk="1" hangingPunct="1">
              <a:lnSpc>
                <a:spcPct val="90000"/>
              </a:lnSpc>
            </a:pPr>
            <a:r>
              <a:rPr sz="2400" dirty="0"/>
              <a:t>Indexing based on syntactic similarity measure,  and when failure, backtracking, and adapting to additional cases</a:t>
            </a:r>
          </a:p>
        </p:txBody>
      </p:sp>
    </p:spTree>
  </p:cSld>
  <p:clrMapOvr>
    <a:masterClrMapping/>
  </p:clrMapOvr>
  <p:transition>
    <p:zo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9506" name="Picture 2"/>
          <p:cNvPicPr>
            <a:picLocks noGrp="1" noChangeAspect="1" noChangeArrowheads="1"/>
          </p:cNvPicPr>
          <p:nvPr>
            <p:ph idx="1"/>
          </p:nvPr>
        </p:nvPicPr>
        <p:blipFill>
          <a:blip r:embed="rId2"/>
          <a:srcRect/>
          <a:stretch>
            <a:fillRect/>
          </a:stretch>
        </p:blipFill>
        <p:spPr bwMode="auto">
          <a:xfrm>
            <a:off x="0" y="1295400"/>
            <a:ext cx="8839200" cy="4419600"/>
          </a:xfrm>
          <a:prstGeom prst="rect">
            <a:avLst/>
          </a:prstGeom>
          <a:noFill/>
          <a:ln w="9525">
            <a:noFill/>
            <a:miter lim="800000"/>
            <a:headEnd/>
            <a:tailEnd/>
          </a:ln>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Distance Metrics Used in KNN Algorithm</a:t>
            </a:r>
            <a:endParaRPr lang="en-US" sz="2400" dirty="0"/>
          </a:p>
        </p:txBody>
      </p:sp>
      <p:sp>
        <p:nvSpPr>
          <p:cNvPr id="3" name="Content Placeholder 2"/>
          <p:cNvSpPr>
            <a:spLocks noGrp="1"/>
          </p:cNvSpPr>
          <p:nvPr>
            <p:ph idx="1"/>
          </p:nvPr>
        </p:nvSpPr>
        <p:spPr>
          <a:xfrm>
            <a:off x="304800" y="1066800"/>
            <a:ext cx="8839200" cy="5410200"/>
          </a:xfrm>
        </p:spPr>
        <p:txBody>
          <a:bodyPr/>
          <a:lstStyle/>
          <a:p>
            <a:r>
              <a:rPr lang="en-US" sz="2400" b="1" dirty="0" smtClean="0">
                <a:latin typeface="Times New Roman" pitchFamily="18" charset="0"/>
                <a:cs typeface="Times New Roman" pitchFamily="18" charset="0"/>
              </a:rPr>
              <a:t>1. Euclidean Distance</a:t>
            </a:r>
          </a:p>
          <a:p>
            <a:r>
              <a:rPr lang="en-US" sz="2400" dirty="0" smtClean="0">
                <a:latin typeface="Times New Roman" pitchFamily="18" charset="0"/>
                <a:cs typeface="Times New Roman" pitchFamily="18" charset="0"/>
              </a:rPr>
              <a:t>Euclidean distance is defined as the straight-line distance between two points in a plane or space. </a:t>
            </a:r>
          </a:p>
          <a:p>
            <a:r>
              <a:rPr lang="en-US" sz="2400" dirty="0" smtClean="0">
                <a:latin typeface="Times New Roman" pitchFamily="18" charset="0"/>
                <a:cs typeface="Times New Roman" pitchFamily="18" charset="0"/>
              </a:rPr>
              <a:t>distance(</a:t>
            </a:r>
            <a:r>
              <a:rPr lang="en-US" sz="2400" dirty="0" err="1" smtClean="0">
                <a:latin typeface="Times New Roman" pitchFamily="18" charset="0"/>
                <a:cs typeface="Times New Roman" pitchFamily="18" charset="0"/>
              </a:rPr>
              <a:t>x,Xi</a:t>
            </a:r>
            <a:r>
              <a:rPr lang="en-US" sz="2400" dirty="0" smtClean="0">
                <a:latin typeface="Times New Roman" pitchFamily="18" charset="0"/>
                <a:cs typeface="Times New Roman" pitchFamily="18" charset="0"/>
              </a:rPr>
              <a:t>)=∑j=1d(</a:t>
            </a:r>
            <a:r>
              <a:rPr lang="en-US" sz="2400" dirty="0" err="1" smtClean="0">
                <a:latin typeface="Times New Roman" pitchFamily="18" charset="0"/>
                <a:cs typeface="Times New Roman" pitchFamily="18" charset="0"/>
              </a:rPr>
              <a:t>xj−Xij</a:t>
            </a:r>
            <a:r>
              <a:rPr lang="en-US" sz="2400" dirty="0" smtClean="0">
                <a:latin typeface="Times New Roman" pitchFamily="18" charset="0"/>
                <a:cs typeface="Times New Roman" pitchFamily="18" charset="0"/>
              </a:rPr>
              <a:t>)2]distance(</a:t>
            </a:r>
            <a:r>
              <a:rPr lang="en-US" sz="2400" dirty="0" err="1" smtClean="0">
                <a:latin typeface="Times New Roman" pitchFamily="18" charset="0"/>
                <a:cs typeface="Times New Roman" pitchFamily="18" charset="0"/>
              </a:rPr>
              <a:t>x,Xi</a:t>
            </a:r>
            <a:r>
              <a:rPr lang="en-US" sz="2400" dirty="0" smtClean="0">
                <a:latin typeface="Times New Roman" pitchFamily="18" charset="0"/>
                <a:cs typeface="Times New Roman" pitchFamily="18" charset="0"/>
              </a:rPr>
              <a:t>​)=∑j=1d​(</a:t>
            </a:r>
            <a:r>
              <a:rPr lang="en-US" sz="2400" dirty="0" err="1" smtClean="0">
                <a:latin typeface="Times New Roman" pitchFamily="18" charset="0"/>
                <a:cs typeface="Times New Roman" pitchFamily="18" charset="0"/>
              </a:rPr>
              <a:t>xj</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Xij</a:t>
            </a:r>
            <a:r>
              <a:rPr lang="en-US" sz="2400" dirty="0" smtClean="0">
                <a:latin typeface="Times New Roman" pitchFamily="18" charset="0"/>
                <a:cs typeface="Times New Roman" pitchFamily="18" charset="0"/>
              </a:rPr>
              <a:t>​​)2</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2. Manhattan Distance</a:t>
            </a:r>
          </a:p>
          <a:p>
            <a:r>
              <a:rPr lang="en-US" sz="2400" dirty="0" smtClean="0">
                <a:latin typeface="Times New Roman" pitchFamily="18" charset="0"/>
                <a:cs typeface="Times New Roman" pitchFamily="18" charset="0"/>
              </a:rPr>
              <a:t>This is the total distance you would travel if you could only move along horizontal and vertical lines like a grid or city streets. </a:t>
            </a:r>
          </a:p>
          <a:p>
            <a:r>
              <a:rPr lang="en-US" sz="2400" dirty="0" smtClean="0">
                <a:latin typeface="Times New Roman" pitchFamily="18" charset="0"/>
                <a:cs typeface="Times New Roman" pitchFamily="18" charset="0"/>
              </a:rPr>
              <a:t>d(</a:t>
            </a:r>
            <a:r>
              <a:rPr lang="en-US" sz="2400" dirty="0" err="1" smtClean="0">
                <a:latin typeface="Times New Roman" pitchFamily="18" charset="0"/>
                <a:cs typeface="Times New Roman" pitchFamily="18" charset="0"/>
              </a:rPr>
              <a:t>x,y</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=1n∣xi−yi∣d(</a:t>
            </a:r>
            <a:r>
              <a:rPr lang="en-US" sz="2400" dirty="0" err="1" smtClean="0">
                <a:latin typeface="Times New Roman" pitchFamily="18" charset="0"/>
                <a:cs typeface="Times New Roman" pitchFamily="18" charset="0"/>
              </a:rPr>
              <a:t>x,y</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=1n​∣xi​−</a:t>
            </a:r>
            <a:r>
              <a:rPr lang="en-US" sz="2400" dirty="0" err="1" smtClean="0">
                <a:latin typeface="Times New Roman" pitchFamily="18" charset="0"/>
                <a:cs typeface="Times New Roman" pitchFamily="18" charset="0"/>
              </a:rPr>
              <a:t>yi</a:t>
            </a:r>
            <a:r>
              <a:rPr lang="en-US" sz="2400" dirty="0" smtClean="0">
                <a:latin typeface="Times New Roman" pitchFamily="18" charset="0"/>
                <a:cs typeface="Times New Roman" pitchFamily="18" charset="0"/>
              </a:rPr>
              <a:t>​∣</a:t>
            </a:r>
          </a:p>
          <a:p>
            <a:r>
              <a:rPr lang="en-US" sz="2400" b="1" dirty="0" smtClean="0">
                <a:latin typeface="Times New Roman" pitchFamily="18" charset="0"/>
                <a:cs typeface="Times New Roman" pitchFamily="18" charset="0"/>
              </a:rPr>
              <a:t>3. </a:t>
            </a:r>
            <a:r>
              <a:rPr lang="en-US" sz="2400" b="1" dirty="0" err="1" smtClean="0">
                <a:latin typeface="Times New Roman" pitchFamily="18" charset="0"/>
                <a:cs typeface="Times New Roman" pitchFamily="18" charset="0"/>
              </a:rPr>
              <a:t>Minkowski</a:t>
            </a:r>
            <a:r>
              <a:rPr lang="en-US" sz="2400" b="1" dirty="0" smtClean="0">
                <a:latin typeface="Times New Roman" pitchFamily="18" charset="0"/>
                <a:cs typeface="Times New Roman" pitchFamily="18" charset="0"/>
              </a:rPr>
              <a:t> Distance</a:t>
            </a:r>
          </a:p>
          <a:p>
            <a:r>
              <a:rPr lang="en-US" sz="2400" dirty="0" err="1" smtClean="0">
                <a:latin typeface="Times New Roman" pitchFamily="18" charset="0"/>
                <a:cs typeface="Times New Roman" pitchFamily="18" charset="0"/>
              </a:rPr>
              <a:t>Minkowski</a:t>
            </a:r>
            <a:r>
              <a:rPr lang="en-US" sz="2400" dirty="0" smtClean="0">
                <a:latin typeface="Times New Roman" pitchFamily="18" charset="0"/>
                <a:cs typeface="Times New Roman" pitchFamily="18" charset="0"/>
              </a:rPr>
              <a:t> distance is like a family of distances, which includes both Euclidean and Manhattan distances as special cases.</a:t>
            </a:r>
          </a:p>
          <a:p>
            <a:r>
              <a:rPr lang="en-US" sz="2400" dirty="0" smtClean="0">
                <a:latin typeface="Times New Roman" pitchFamily="18" charset="0"/>
                <a:cs typeface="Times New Roman" pitchFamily="18" charset="0"/>
              </a:rPr>
              <a:t>d(</a:t>
            </a:r>
            <a:r>
              <a:rPr lang="en-US" sz="2400" dirty="0" err="1" smtClean="0">
                <a:latin typeface="Times New Roman" pitchFamily="18" charset="0"/>
                <a:cs typeface="Times New Roman" pitchFamily="18" charset="0"/>
              </a:rPr>
              <a:t>x,y</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=1n(xi−</a:t>
            </a:r>
            <a:r>
              <a:rPr lang="en-US" sz="2400" dirty="0" err="1" smtClean="0">
                <a:latin typeface="Times New Roman" pitchFamily="18" charset="0"/>
                <a:cs typeface="Times New Roman" pitchFamily="18" charset="0"/>
              </a:rPr>
              <a:t>yi</a:t>
            </a:r>
            <a:r>
              <a:rPr lang="en-US" sz="2400" dirty="0" smtClean="0">
                <a:latin typeface="Times New Roman" pitchFamily="18" charset="0"/>
                <a:cs typeface="Times New Roman" pitchFamily="18" charset="0"/>
              </a:rPr>
              <a:t>)p)1pd(</a:t>
            </a:r>
            <a:r>
              <a:rPr lang="en-US" sz="2400" dirty="0" err="1" smtClean="0">
                <a:latin typeface="Times New Roman" pitchFamily="18" charset="0"/>
                <a:cs typeface="Times New Roman" pitchFamily="18" charset="0"/>
              </a:rPr>
              <a:t>x,y</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=1n​(xi​−</a:t>
            </a:r>
            <a:r>
              <a:rPr lang="en-US" sz="2400" dirty="0" err="1" smtClean="0">
                <a:latin typeface="Times New Roman" pitchFamily="18" charset="0"/>
                <a:cs typeface="Times New Roman" pitchFamily="18" charset="0"/>
              </a:rPr>
              <a:t>yi</a:t>
            </a:r>
            <a:r>
              <a:rPr lang="en-US" sz="2400" dirty="0" smtClean="0">
                <a:latin typeface="Times New Roman" pitchFamily="18" charset="0"/>
                <a:cs typeface="Times New Roman" pitchFamily="18" charset="0"/>
              </a:rPr>
              <a:t>​)p)p1​</a:t>
            </a:r>
          </a:p>
          <a:p>
            <a:endParaRPr lang="en-US" sz="2400" dirty="0">
              <a:latin typeface="Times New Roman" pitchFamily="18" charset="0"/>
              <a:cs typeface="Times New Roman" pitchFamily="18"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128</a:t>
            </a:fld>
            <a:endParaRPr lang="en-US" sz="1200" dirty="0">
              <a:latin typeface="Tahoma" panose="020B0604030504040204" pitchFamily="34" charset="0"/>
              <a:ea typeface="+mn-ea"/>
              <a:cs typeface="+mn-cs"/>
            </a:endParaRPr>
          </a:p>
        </p:txBody>
      </p:sp>
      <p:sp>
        <p:nvSpPr>
          <p:cNvPr id="95235" name="Rectangle 2"/>
          <p:cNvSpPr>
            <a:spLocks noGrp="1"/>
          </p:cNvSpPr>
          <p:nvPr>
            <p:ph type="title"/>
          </p:nvPr>
        </p:nvSpPr>
        <p:spPr>
          <a:xfrm>
            <a:off x="1295400" y="304800"/>
            <a:ext cx="4735513" cy="522288"/>
          </a:xfrm>
        </p:spPr>
        <p:txBody>
          <a:bodyPr vert="horz" wrap="square" lIns="92075" tIns="46038" rIns="92075" bIns="46038" anchor="ctr" anchorCtr="0"/>
          <a:lstStyle/>
          <a:p>
            <a:pPr eaLnBrk="1" hangingPunct="1"/>
            <a:r>
              <a:rPr dirty="0"/>
              <a:t>Genetic Algorithms</a:t>
            </a:r>
          </a:p>
        </p:txBody>
      </p:sp>
      <p:sp>
        <p:nvSpPr>
          <p:cNvPr id="95236" name="Rectangle 3"/>
          <p:cNvSpPr>
            <a:spLocks noGrp="1"/>
          </p:cNvSpPr>
          <p:nvPr>
            <p:ph idx="1"/>
          </p:nvPr>
        </p:nvSpPr>
        <p:spPr>
          <a:xfrm>
            <a:off x="381000" y="1228725"/>
            <a:ext cx="8382000" cy="5167313"/>
          </a:xfrm>
        </p:spPr>
        <p:txBody>
          <a:bodyPr vert="horz" wrap="square" lIns="92075" tIns="46038" rIns="92075" bIns="46038" anchor="t" anchorCtr="0"/>
          <a:lstStyle/>
          <a:p>
            <a:pPr eaLnBrk="1" hangingPunct="1">
              <a:buNone/>
            </a:pPr>
            <a:r>
              <a:rPr sz="2000" dirty="0">
                <a:solidFill>
                  <a:srgbClr val="660033"/>
                </a:solidFill>
              </a:rPr>
              <a:t>based on an analogy to biological evolution</a:t>
            </a:r>
          </a:p>
          <a:p>
            <a:pPr eaLnBrk="1" hangingPunct="1"/>
            <a:r>
              <a:rPr sz="2000" dirty="0">
                <a:solidFill>
                  <a:srgbClr val="170981"/>
                </a:solidFill>
              </a:rPr>
              <a:t>Each rule is represented by a string of bits</a:t>
            </a:r>
          </a:p>
          <a:p>
            <a:pPr eaLnBrk="1" hangingPunct="1"/>
            <a:endParaRPr sz="2000" dirty="0">
              <a:solidFill>
                <a:srgbClr val="170981"/>
              </a:solidFill>
            </a:endParaRPr>
          </a:p>
          <a:p>
            <a:pPr eaLnBrk="1" hangingPunct="1"/>
            <a:r>
              <a:rPr sz="2000" dirty="0"/>
              <a:t>An initial population is created consisting of randomly generated rules</a:t>
            </a:r>
          </a:p>
          <a:p>
            <a:pPr lvl="1" eaLnBrk="1" hangingPunct="1"/>
            <a:r>
              <a:rPr sz="2000" dirty="0"/>
              <a:t>e.g., </a:t>
            </a:r>
            <a:r>
              <a:rPr sz="2000" dirty="0">
                <a:solidFill>
                  <a:srgbClr val="170981"/>
                </a:solidFill>
              </a:rPr>
              <a:t>IF A</a:t>
            </a:r>
            <a:r>
              <a:rPr sz="2000" baseline="-25000" dirty="0">
                <a:solidFill>
                  <a:srgbClr val="170981"/>
                </a:solidFill>
              </a:rPr>
              <a:t>1</a:t>
            </a:r>
            <a:r>
              <a:rPr sz="2000" dirty="0">
                <a:solidFill>
                  <a:srgbClr val="170981"/>
                </a:solidFill>
              </a:rPr>
              <a:t> and Not A</a:t>
            </a:r>
            <a:r>
              <a:rPr sz="2000" baseline="-25000" dirty="0">
                <a:solidFill>
                  <a:srgbClr val="170981"/>
                </a:solidFill>
              </a:rPr>
              <a:t>2</a:t>
            </a:r>
            <a:r>
              <a:rPr sz="2000" dirty="0">
                <a:solidFill>
                  <a:srgbClr val="170981"/>
                </a:solidFill>
              </a:rPr>
              <a:t> then C</a:t>
            </a:r>
            <a:r>
              <a:rPr sz="2000" baseline="-25000" dirty="0">
                <a:solidFill>
                  <a:srgbClr val="170981"/>
                </a:solidFill>
              </a:rPr>
              <a:t>2</a:t>
            </a:r>
            <a:r>
              <a:rPr sz="2000" dirty="0"/>
              <a:t> can be encoded as </a:t>
            </a:r>
            <a:r>
              <a:rPr sz="2000" dirty="0">
                <a:solidFill>
                  <a:srgbClr val="170981"/>
                </a:solidFill>
              </a:rPr>
              <a:t>101</a:t>
            </a:r>
            <a:r>
              <a:rPr sz="2000" dirty="0"/>
              <a:t> </a:t>
            </a:r>
          </a:p>
          <a:p>
            <a:pPr lvl="1" eaLnBrk="1" hangingPunct="1"/>
            <a:endParaRPr sz="2000" dirty="0"/>
          </a:p>
          <a:p>
            <a:pPr eaLnBrk="1" hangingPunct="1"/>
            <a:r>
              <a:rPr sz="2000" dirty="0"/>
              <a:t>Based on the notion of survival of the fittest, a new population is formed to consists of the fittest rules and their offsprings  </a:t>
            </a:r>
          </a:p>
          <a:p>
            <a:pPr eaLnBrk="1" hangingPunct="1"/>
            <a:endParaRPr sz="2000" dirty="0"/>
          </a:p>
          <a:p>
            <a:pPr eaLnBrk="1" hangingPunct="1"/>
            <a:r>
              <a:rPr sz="2000" dirty="0"/>
              <a:t>The fitness of a rule is represented by its </a:t>
            </a:r>
            <a:r>
              <a:rPr sz="2000" dirty="0">
                <a:solidFill>
                  <a:srgbClr val="170981"/>
                </a:solidFill>
              </a:rPr>
              <a:t>classification accuracy</a:t>
            </a:r>
            <a:r>
              <a:rPr sz="2000" dirty="0"/>
              <a:t> on a set of training examples</a:t>
            </a:r>
          </a:p>
          <a:p>
            <a:pPr eaLnBrk="1" hangingPunct="1"/>
            <a:endParaRPr sz="2000" dirty="0"/>
          </a:p>
          <a:p>
            <a:pPr eaLnBrk="1" hangingPunct="1"/>
            <a:r>
              <a:rPr sz="2000" dirty="0"/>
              <a:t>Offsprings are generated by crossover and mutation</a:t>
            </a:r>
          </a:p>
        </p:txBody>
      </p:sp>
    </p:spTree>
  </p:cSld>
  <p:clrMapOvr>
    <a:masterClrMapping/>
  </p:clrMapOvr>
  <p:transition>
    <p:zoom/>
  </p:transition>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129</a:t>
            </a:fld>
            <a:endParaRPr lang="en-US" sz="1200" dirty="0">
              <a:latin typeface="Tahoma" panose="020B0604030504040204" pitchFamily="34" charset="0"/>
              <a:ea typeface="+mn-ea"/>
              <a:cs typeface="+mn-cs"/>
            </a:endParaRPr>
          </a:p>
        </p:txBody>
      </p:sp>
      <p:sp>
        <p:nvSpPr>
          <p:cNvPr id="97283" name="Rectangle 2"/>
          <p:cNvSpPr>
            <a:spLocks noGrp="1"/>
          </p:cNvSpPr>
          <p:nvPr>
            <p:ph type="title"/>
          </p:nvPr>
        </p:nvSpPr>
        <p:spPr>
          <a:xfrm>
            <a:off x="685800" y="228600"/>
            <a:ext cx="7580313" cy="522288"/>
          </a:xfrm>
        </p:spPr>
        <p:txBody>
          <a:bodyPr vert="horz" wrap="square" lIns="92075" tIns="46038" rIns="92075" bIns="46038" anchor="ctr" anchorCtr="0"/>
          <a:lstStyle/>
          <a:p>
            <a:pPr eaLnBrk="1" hangingPunct="1"/>
            <a:r>
              <a:rPr dirty="0"/>
              <a:t>Rough Set Approach</a:t>
            </a:r>
          </a:p>
        </p:txBody>
      </p:sp>
      <p:sp>
        <p:nvSpPr>
          <p:cNvPr id="97284" name="Rectangle 3"/>
          <p:cNvSpPr>
            <a:spLocks noGrp="1"/>
          </p:cNvSpPr>
          <p:nvPr>
            <p:ph idx="1"/>
          </p:nvPr>
        </p:nvSpPr>
        <p:spPr>
          <a:xfrm>
            <a:off x="609600" y="1228725"/>
            <a:ext cx="8077200" cy="5005388"/>
          </a:xfrm>
        </p:spPr>
        <p:txBody>
          <a:bodyPr vert="horz" wrap="square" lIns="92075" tIns="46038" rIns="92075" bIns="46038" anchor="t" anchorCtr="0"/>
          <a:lstStyle/>
          <a:p>
            <a:pPr eaLnBrk="1" hangingPunct="1"/>
            <a:r>
              <a:rPr sz="2000" dirty="0"/>
              <a:t>Rough sets are used to approximately or “roughly” define equivalent classes </a:t>
            </a:r>
          </a:p>
          <a:p>
            <a:pPr eaLnBrk="1" hangingPunct="1"/>
            <a:endParaRPr sz="2000" dirty="0"/>
          </a:p>
          <a:p>
            <a:pPr eaLnBrk="1" hangingPunct="1"/>
            <a:r>
              <a:rPr sz="2000" dirty="0"/>
              <a:t>A rough set for a given class C is approximated by two sets: a </a:t>
            </a:r>
            <a:r>
              <a:rPr sz="2000" dirty="0">
                <a:solidFill>
                  <a:srgbClr val="170981"/>
                </a:solidFill>
              </a:rPr>
              <a:t>lower approximation</a:t>
            </a:r>
            <a:r>
              <a:rPr sz="2000" dirty="0"/>
              <a:t> (certain to be in C) and an </a:t>
            </a:r>
            <a:r>
              <a:rPr sz="2000" dirty="0">
                <a:solidFill>
                  <a:srgbClr val="170981"/>
                </a:solidFill>
              </a:rPr>
              <a:t>upper approximation</a:t>
            </a:r>
            <a:r>
              <a:rPr sz="2000" dirty="0"/>
              <a:t> (cannot be described as not belonging to C) </a:t>
            </a:r>
          </a:p>
          <a:p>
            <a:pPr eaLnBrk="1" hangingPunct="1"/>
            <a:endParaRPr sz="2000" dirty="0"/>
          </a:p>
          <a:p>
            <a:pPr eaLnBrk="1" hangingPunct="1"/>
            <a:r>
              <a:rPr sz="2000" dirty="0"/>
              <a:t>Finding the minimal subsets (reducts) of attributes (for feature reduction) is NP-hard but a discernibility matrix is used to reduce the computation intensity </a:t>
            </a:r>
          </a:p>
        </p:txBody>
      </p:sp>
      <p:pic>
        <p:nvPicPr>
          <p:cNvPr id="97285" name="Picture 24" descr="rough"/>
          <p:cNvPicPr>
            <a:picLocks noChangeAspect="1"/>
          </p:cNvPicPr>
          <p:nvPr/>
        </p:nvPicPr>
        <p:blipFill>
          <a:blip r:embed="rId3"/>
          <a:srcRect r="5814"/>
          <a:stretch>
            <a:fillRect/>
          </a:stretch>
        </p:blipFill>
        <p:spPr>
          <a:xfrm>
            <a:off x="2133600" y="4953000"/>
            <a:ext cx="6172200" cy="1905000"/>
          </a:xfrm>
          <a:prstGeom prst="rect">
            <a:avLst/>
          </a:prstGeom>
          <a:noFill/>
          <a:ln w="9525">
            <a:noFill/>
          </a:ln>
        </p:spPr>
      </p:pic>
    </p:spTree>
  </p:cSld>
  <p:clrMapOvr>
    <a:masterClrMapping/>
  </p:clrMapOvr>
  <p:transition>
    <p:zoom/>
  </p:transition>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130</a:t>
            </a:fld>
            <a:endParaRPr lang="en-US" sz="1200" dirty="0">
              <a:latin typeface="Tahoma" panose="020B0604030504040204" pitchFamily="34" charset="0"/>
              <a:ea typeface="+mn-ea"/>
              <a:cs typeface="+mn-cs"/>
            </a:endParaRPr>
          </a:p>
        </p:txBody>
      </p:sp>
      <p:sp>
        <p:nvSpPr>
          <p:cNvPr id="99331" name="Rectangle 2"/>
          <p:cNvSpPr>
            <a:spLocks noGrp="1"/>
          </p:cNvSpPr>
          <p:nvPr>
            <p:ph type="title"/>
          </p:nvPr>
        </p:nvSpPr>
        <p:spPr>
          <a:xfrm>
            <a:off x="381000" y="381000"/>
            <a:ext cx="2895600" cy="1066800"/>
          </a:xfrm>
        </p:spPr>
        <p:txBody>
          <a:bodyPr vert="horz" wrap="square" lIns="92075" tIns="46038" rIns="92075" bIns="46038" anchor="ctr" anchorCtr="0"/>
          <a:lstStyle/>
          <a:p>
            <a:pPr eaLnBrk="1" hangingPunct="1"/>
            <a:r>
              <a:rPr dirty="0"/>
              <a:t>Fuzzy Set Approaches</a:t>
            </a:r>
          </a:p>
        </p:txBody>
      </p:sp>
      <p:sp>
        <p:nvSpPr>
          <p:cNvPr id="99332" name="Rectangle 3"/>
          <p:cNvSpPr>
            <a:spLocks noGrp="1"/>
          </p:cNvSpPr>
          <p:nvPr>
            <p:ph idx="1"/>
          </p:nvPr>
        </p:nvSpPr>
        <p:spPr>
          <a:xfrm>
            <a:off x="457200" y="2133600"/>
            <a:ext cx="8229600" cy="4419600"/>
          </a:xfrm>
        </p:spPr>
        <p:txBody>
          <a:bodyPr vert="horz" wrap="square" lIns="92075" tIns="46038" rIns="92075" bIns="46038" anchor="t" anchorCtr="0"/>
          <a:lstStyle/>
          <a:p>
            <a:pPr eaLnBrk="1" hangingPunct="1">
              <a:lnSpc>
                <a:spcPct val="80000"/>
              </a:lnSpc>
            </a:pPr>
            <a:r>
              <a:rPr sz="2000" dirty="0"/>
              <a:t>Fuzzy logic uses truth values between 0.0 and 1.0 to represent the degree of membership (such as using </a:t>
            </a:r>
            <a:r>
              <a:rPr sz="2000" dirty="0">
                <a:solidFill>
                  <a:srgbClr val="170981"/>
                </a:solidFill>
              </a:rPr>
              <a:t>fuzzy membership graph</a:t>
            </a:r>
            <a:r>
              <a:rPr sz="2000" dirty="0"/>
              <a:t>)</a:t>
            </a:r>
          </a:p>
          <a:p>
            <a:pPr eaLnBrk="1" hangingPunct="1">
              <a:lnSpc>
                <a:spcPct val="80000"/>
              </a:lnSpc>
            </a:pPr>
            <a:endParaRPr sz="2000" dirty="0"/>
          </a:p>
          <a:p>
            <a:pPr eaLnBrk="1" hangingPunct="1">
              <a:lnSpc>
                <a:spcPct val="80000"/>
              </a:lnSpc>
            </a:pPr>
            <a:r>
              <a:rPr sz="2000" dirty="0"/>
              <a:t>Attribute values are converted to fuzzy values</a:t>
            </a:r>
          </a:p>
          <a:p>
            <a:pPr lvl="1" eaLnBrk="1" hangingPunct="1">
              <a:lnSpc>
                <a:spcPct val="80000"/>
              </a:lnSpc>
            </a:pPr>
            <a:r>
              <a:rPr sz="2000" dirty="0"/>
              <a:t>e.g., income is mapped into the discrete categories {low, medium, high} with fuzzy values calculated</a:t>
            </a:r>
          </a:p>
          <a:p>
            <a:pPr lvl="1" eaLnBrk="1" hangingPunct="1">
              <a:lnSpc>
                <a:spcPct val="80000"/>
              </a:lnSpc>
            </a:pPr>
            <a:endParaRPr sz="2000" dirty="0"/>
          </a:p>
          <a:p>
            <a:pPr eaLnBrk="1" hangingPunct="1">
              <a:lnSpc>
                <a:spcPct val="80000"/>
              </a:lnSpc>
            </a:pPr>
            <a:r>
              <a:rPr sz="2000" dirty="0"/>
              <a:t>For a given new sample, more than one fuzzy value may apply</a:t>
            </a:r>
          </a:p>
          <a:p>
            <a:pPr eaLnBrk="1" hangingPunct="1">
              <a:lnSpc>
                <a:spcPct val="80000"/>
              </a:lnSpc>
            </a:pPr>
            <a:endParaRPr sz="2000" dirty="0"/>
          </a:p>
          <a:p>
            <a:pPr eaLnBrk="1" hangingPunct="1">
              <a:lnSpc>
                <a:spcPct val="80000"/>
              </a:lnSpc>
            </a:pPr>
            <a:r>
              <a:rPr sz="2000" dirty="0"/>
              <a:t>Each applicable rule contributes a vote for membership in the categories</a:t>
            </a:r>
          </a:p>
          <a:p>
            <a:pPr eaLnBrk="1" hangingPunct="1">
              <a:lnSpc>
                <a:spcPct val="80000"/>
              </a:lnSpc>
            </a:pPr>
            <a:endParaRPr sz="2000" dirty="0"/>
          </a:p>
          <a:p>
            <a:pPr eaLnBrk="1" hangingPunct="1">
              <a:lnSpc>
                <a:spcPct val="80000"/>
              </a:lnSpc>
            </a:pPr>
            <a:r>
              <a:rPr sz="2000" dirty="0"/>
              <a:t>Typically, the truth values for each predicted category are summed</a:t>
            </a:r>
          </a:p>
        </p:txBody>
      </p:sp>
      <p:pic>
        <p:nvPicPr>
          <p:cNvPr id="99333" name="Picture 4" descr="fuzzy"/>
          <p:cNvPicPr>
            <a:picLocks noChangeAspect="1"/>
          </p:cNvPicPr>
          <p:nvPr/>
        </p:nvPicPr>
        <p:blipFill>
          <a:blip r:embed="rId3"/>
          <a:stretch>
            <a:fillRect/>
          </a:stretch>
        </p:blipFill>
        <p:spPr>
          <a:xfrm>
            <a:off x="3200400" y="0"/>
            <a:ext cx="5943600" cy="2136775"/>
          </a:xfrm>
          <a:prstGeom prst="rect">
            <a:avLst/>
          </a:prstGeom>
          <a:noFill/>
          <a:ln w="9525" cap="flat" cmpd="sng">
            <a:solidFill>
              <a:schemeClr val="tx1"/>
            </a:solidFill>
            <a:prstDash val="solid"/>
            <a:miter/>
            <a:headEnd type="none" w="med" len="med"/>
            <a:tailEnd type="none" w="med" len="med"/>
          </a:ln>
        </p:spPr>
      </p:pic>
    </p:spTree>
  </p:cSld>
  <p:clrMapOvr>
    <a:masterClrMapping/>
  </p:clrMapOvr>
  <p:transition>
    <p:zoom/>
  </p:transition>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131</a:t>
            </a:fld>
            <a:endParaRPr lang="en-US" sz="1200" dirty="0">
              <a:latin typeface="Tahoma" panose="020B0604030504040204" pitchFamily="34" charset="0"/>
              <a:ea typeface="+mn-ea"/>
              <a:cs typeface="+mn-cs"/>
            </a:endParaRPr>
          </a:p>
        </p:txBody>
      </p:sp>
      <p:sp>
        <p:nvSpPr>
          <p:cNvPr id="101379"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101380"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r>
              <a:rPr sz="2400" dirty="0"/>
              <a:t>What is classification? What is prediction?</a:t>
            </a:r>
          </a:p>
          <a:p>
            <a:pPr eaLnBrk="1" hangingPunct="1"/>
            <a:r>
              <a:rPr sz="2400" dirty="0"/>
              <a:t>Issues regarding classification and prediction</a:t>
            </a:r>
          </a:p>
          <a:p>
            <a:pPr eaLnBrk="1" hangingPunct="1"/>
            <a:r>
              <a:rPr sz="2400" dirty="0"/>
              <a:t>Classification by decision tree induction</a:t>
            </a:r>
          </a:p>
          <a:p>
            <a:pPr eaLnBrk="1" hangingPunct="1"/>
            <a:r>
              <a:rPr sz="2400" dirty="0"/>
              <a:t>Bayesian Classification</a:t>
            </a:r>
          </a:p>
          <a:p>
            <a:pPr eaLnBrk="1" hangingPunct="1"/>
            <a:r>
              <a:rPr sz="2400" dirty="0"/>
              <a:t>Classification by Neural Networks</a:t>
            </a:r>
          </a:p>
          <a:p>
            <a:pPr eaLnBrk="1" hangingPunct="1"/>
            <a:r>
              <a:rPr sz="2400" dirty="0"/>
              <a:t>Classification based on concepts from association rule mining</a:t>
            </a:r>
          </a:p>
          <a:p>
            <a:pPr eaLnBrk="1" hangingPunct="1"/>
            <a:r>
              <a:rPr sz="2400" dirty="0"/>
              <a:t>Other Classification Methods</a:t>
            </a:r>
          </a:p>
          <a:p>
            <a:pPr eaLnBrk="1" hangingPunct="1"/>
            <a:r>
              <a:rPr sz="2400" dirty="0">
                <a:solidFill>
                  <a:srgbClr val="660033"/>
                </a:solidFill>
              </a:rPr>
              <a:t>Prediction</a:t>
            </a:r>
          </a:p>
          <a:p>
            <a:pPr eaLnBrk="1" hangingPunct="1"/>
            <a:r>
              <a:rPr sz="2400" dirty="0"/>
              <a:t>Classification accuracy</a:t>
            </a:r>
          </a:p>
          <a:p>
            <a:pPr eaLnBrk="1" hangingPunct="1"/>
            <a:r>
              <a:rPr sz="2400" dirty="0"/>
              <a:t>Summary</a:t>
            </a:r>
          </a:p>
        </p:txBody>
      </p:sp>
    </p:spTree>
  </p:cSld>
  <p:clrMapOvr>
    <a:masterClrMapping/>
  </p:clrMapOvr>
  <p:transition>
    <p:zoom/>
  </p:transition>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132</a:t>
            </a:fld>
            <a:endParaRPr lang="en-US" sz="1200" dirty="0">
              <a:latin typeface="Tahoma" panose="020B0604030504040204" pitchFamily="34" charset="0"/>
              <a:ea typeface="+mn-ea"/>
              <a:cs typeface="+mn-cs"/>
            </a:endParaRPr>
          </a:p>
        </p:txBody>
      </p:sp>
      <p:sp>
        <p:nvSpPr>
          <p:cNvPr id="102403" name="Rectangle 2"/>
          <p:cNvSpPr>
            <a:spLocks noGrp="1"/>
          </p:cNvSpPr>
          <p:nvPr>
            <p:ph type="title"/>
          </p:nvPr>
        </p:nvSpPr>
        <p:spPr>
          <a:xfrm>
            <a:off x="1447800" y="228600"/>
            <a:ext cx="4572000" cy="685800"/>
          </a:xfrm>
        </p:spPr>
        <p:txBody>
          <a:bodyPr vert="horz" wrap="square" lIns="91440" tIns="45720" rIns="91440" bIns="45720" anchor="b" anchorCtr="0"/>
          <a:lstStyle/>
          <a:p>
            <a:pPr eaLnBrk="1" hangingPunct="1"/>
            <a:r>
              <a:rPr dirty="0"/>
              <a:t>What Is Prediction?</a:t>
            </a:r>
          </a:p>
        </p:txBody>
      </p:sp>
      <p:sp>
        <p:nvSpPr>
          <p:cNvPr id="102404" name="Rectangle 3"/>
          <p:cNvSpPr>
            <a:spLocks noGrp="1"/>
          </p:cNvSpPr>
          <p:nvPr>
            <p:ph idx="1"/>
          </p:nvPr>
        </p:nvSpPr>
        <p:spPr>
          <a:xfrm>
            <a:off x="304800" y="1470025"/>
            <a:ext cx="8458200" cy="5159375"/>
          </a:xfrm>
        </p:spPr>
        <p:txBody>
          <a:bodyPr vert="horz" wrap="square" lIns="91440" tIns="45720" rIns="91440" bIns="45720" anchor="t" anchorCtr="0"/>
          <a:lstStyle/>
          <a:p>
            <a:pPr eaLnBrk="1" hangingPunct="1">
              <a:lnSpc>
                <a:spcPct val="110000"/>
              </a:lnSpc>
            </a:pPr>
            <a:r>
              <a:rPr sz="2000" dirty="0"/>
              <a:t>Prediction is similar to classification</a:t>
            </a:r>
          </a:p>
          <a:p>
            <a:pPr lvl="1" eaLnBrk="1" hangingPunct="1">
              <a:lnSpc>
                <a:spcPct val="110000"/>
              </a:lnSpc>
            </a:pPr>
            <a:r>
              <a:rPr sz="2000" dirty="0"/>
              <a:t>First, construct a model</a:t>
            </a:r>
          </a:p>
          <a:p>
            <a:pPr lvl="1" eaLnBrk="1" hangingPunct="1">
              <a:lnSpc>
                <a:spcPct val="110000"/>
              </a:lnSpc>
            </a:pPr>
            <a:r>
              <a:rPr sz="2000" dirty="0"/>
              <a:t>Second, use model to predict unknown value</a:t>
            </a:r>
          </a:p>
          <a:p>
            <a:pPr lvl="2" eaLnBrk="1" hangingPunct="1">
              <a:lnSpc>
                <a:spcPct val="110000"/>
              </a:lnSpc>
            </a:pPr>
            <a:r>
              <a:rPr sz="2000" dirty="0"/>
              <a:t>Major method for prediction is regression</a:t>
            </a:r>
          </a:p>
          <a:p>
            <a:pPr lvl="3" eaLnBrk="1" hangingPunct="1">
              <a:lnSpc>
                <a:spcPct val="110000"/>
              </a:lnSpc>
            </a:pPr>
            <a:r>
              <a:rPr dirty="0"/>
              <a:t>Linear and multiple regression</a:t>
            </a:r>
          </a:p>
          <a:p>
            <a:pPr lvl="3" eaLnBrk="1" hangingPunct="1">
              <a:lnSpc>
                <a:spcPct val="110000"/>
              </a:lnSpc>
            </a:pPr>
            <a:r>
              <a:rPr dirty="0"/>
              <a:t>Non-linear regression</a:t>
            </a:r>
          </a:p>
          <a:p>
            <a:pPr lvl="3" eaLnBrk="1" hangingPunct="1">
              <a:lnSpc>
                <a:spcPct val="110000"/>
              </a:lnSpc>
            </a:pPr>
            <a:endParaRPr dirty="0"/>
          </a:p>
          <a:p>
            <a:pPr eaLnBrk="1" hangingPunct="1">
              <a:lnSpc>
                <a:spcPct val="110000"/>
              </a:lnSpc>
            </a:pPr>
            <a:r>
              <a:rPr sz="2000" dirty="0"/>
              <a:t>Prediction is different from classification</a:t>
            </a:r>
          </a:p>
          <a:p>
            <a:pPr lvl="1" eaLnBrk="1" hangingPunct="1">
              <a:lnSpc>
                <a:spcPct val="110000"/>
              </a:lnSpc>
            </a:pPr>
            <a:r>
              <a:rPr sz="2000" dirty="0"/>
              <a:t>Classification refers to predict categorical class label</a:t>
            </a:r>
          </a:p>
          <a:p>
            <a:pPr lvl="1" eaLnBrk="1" hangingPunct="1">
              <a:lnSpc>
                <a:spcPct val="110000"/>
              </a:lnSpc>
            </a:pPr>
            <a:r>
              <a:rPr sz="2000" dirty="0"/>
              <a:t>Prediction models continuous-valued functions</a:t>
            </a:r>
          </a:p>
        </p:txBody>
      </p:sp>
    </p:spTree>
  </p:cSld>
  <p:clrMapOvr>
    <a:masterClrMapping/>
  </p:clrMapOvr>
  <p:transition>
    <p:zoom/>
  </p:transition>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133</a:t>
            </a:fld>
            <a:endParaRPr lang="en-US" sz="1200" dirty="0">
              <a:latin typeface="Tahoma" panose="020B0604030504040204" pitchFamily="34" charset="0"/>
              <a:ea typeface="+mn-ea"/>
              <a:cs typeface="+mn-cs"/>
            </a:endParaRPr>
          </a:p>
        </p:txBody>
      </p:sp>
      <p:sp>
        <p:nvSpPr>
          <p:cNvPr id="103427" name="Rectangle 2"/>
          <p:cNvSpPr>
            <a:spLocks noGrp="1"/>
          </p:cNvSpPr>
          <p:nvPr>
            <p:ph idx="1"/>
          </p:nvPr>
        </p:nvSpPr>
        <p:spPr>
          <a:xfrm>
            <a:off x="0" y="990600"/>
            <a:ext cx="8915400" cy="5562600"/>
          </a:xfrm>
        </p:spPr>
        <p:txBody>
          <a:bodyPr vert="horz" wrap="square" lIns="92075" tIns="46038" rIns="92075" bIns="46038" anchor="t" anchorCtr="0"/>
          <a:lstStyle/>
          <a:p>
            <a:pPr eaLnBrk="1" hangingPunct="1"/>
            <a:r>
              <a:rPr sz="2000" u="sng" dirty="0"/>
              <a:t>Linear regression</a:t>
            </a:r>
            <a:r>
              <a:rPr sz="1800" dirty="0"/>
              <a:t>: </a:t>
            </a:r>
            <a:r>
              <a:rPr sz="2400" dirty="0">
                <a:solidFill>
                  <a:srgbClr val="660033"/>
                </a:solidFill>
              </a:rPr>
              <a:t>Y = </a:t>
            </a:r>
            <a:r>
              <a:rPr sz="2400" dirty="0">
                <a:solidFill>
                  <a:srgbClr val="660033"/>
                </a:solidFill>
                <a:sym typeface="Symbol" panose="05050102010706020507" pitchFamily="18" charset="2"/>
              </a:rPr>
              <a:t> +  X</a:t>
            </a:r>
            <a:endParaRPr sz="2400" dirty="0">
              <a:solidFill>
                <a:srgbClr val="660033"/>
              </a:solidFill>
            </a:endParaRPr>
          </a:p>
          <a:p>
            <a:pPr lvl="1" eaLnBrk="1" hangingPunct="1"/>
            <a:r>
              <a:rPr sz="2000" dirty="0"/>
              <a:t>Two parameters , </a:t>
            </a:r>
            <a:r>
              <a:rPr sz="2000" dirty="0">
                <a:sym typeface="Symbol" panose="05050102010706020507" pitchFamily="18" charset="2"/>
              </a:rPr>
              <a:t>  and </a:t>
            </a:r>
            <a:r>
              <a:rPr sz="2000" dirty="0"/>
              <a:t> specify the line and are to be estimated by using the data at hand.</a:t>
            </a:r>
          </a:p>
          <a:p>
            <a:pPr lvl="1" eaLnBrk="1" hangingPunct="1"/>
            <a:r>
              <a:rPr sz="2000" dirty="0"/>
              <a:t>using the least squares criterion to the known values of Y</a:t>
            </a:r>
            <a:r>
              <a:rPr sz="1600" dirty="0"/>
              <a:t>1</a:t>
            </a:r>
            <a:r>
              <a:rPr sz="2000" dirty="0"/>
              <a:t>, Y</a:t>
            </a:r>
            <a:r>
              <a:rPr sz="1600" dirty="0"/>
              <a:t>2</a:t>
            </a:r>
            <a:r>
              <a:rPr sz="2000" dirty="0"/>
              <a:t>, …, X</a:t>
            </a:r>
            <a:r>
              <a:rPr sz="1600" dirty="0"/>
              <a:t>1</a:t>
            </a:r>
            <a:r>
              <a:rPr sz="2000" dirty="0"/>
              <a:t>, X</a:t>
            </a:r>
            <a:r>
              <a:rPr sz="1800" dirty="0"/>
              <a:t>2</a:t>
            </a:r>
            <a:r>
              <a:rPr sz="2000" dirty="0"/>
              <a:t>, ….</a:t>
            </a:r>
          </a:p>
          <a:p>
            <a:pPr lvl="1" eaLnBrk="1" hangingPunct="1"/>
            <a:endParaRPr sz="2000" dirty="0"/>
          </a:p>
          <a:p>
            <a:pPr eaLnBrk="1" hangingPunct="1"/>
            <a:r>
              <a:rPr sz="2000" u="sng" dirty="0"/>
              <a:t>Multiple regression</a:t>
            </a:r>
            <a:r>
              <a:rPr sz="1800" dirty="0"/>
              <a:t>: Y = b0 + b1 X1 + b2 X2.</a:t>
            </a:r>
            <a:endParaRPr sz="2000" dirty="0"/>
          </a:p>
          <a:p>
            <a:pPr lvl="1" eaLnBrk="1" hangingPunct="1"/>
            <a:r>
              <a:rPr sz="2000" dirty="0"/>
              <a:t>Many nonlinear functions can be transformed into the above.</a:t>
            </a:r>
          </a:p>
          <a:p>
            <a:pPr lvl="1" eaLnBrk="1" hangingPunct="1"/>
            <a:endParaRPr sz="2000" dirty="0"/>
          </a:p>
        </p:txBody>
      </p:sp>
      <p:sp>
        <p:nvSpPr>
          <p:cNvPr id="103428" name="Rectangle 3"/>
          <p:cNvSpPr>
            <a:spLocks noGrp="1"/>
          </p:cNvSpPr>
          <p:nvPr>
            <p:ph type="title"/>
          </p:nvPr>
        </p:nvSpPr>
        <p:spPr>
          <a:xfrm>
            <a:off x="0" y="76200"/>
            <a:ext cx="9144000" cy="838200"/>
          </a:xfrm>
        </p:spPr>
        <p:txBody>
          <a:bodyPr vert="horz" wrap="square" lIns="92075" tIns="46038" rIns="92075" bIns="46038" anchor="ctr" anchorCtr="0"/>
          <a:lstStyle/>
          <a:p>
            <a:pPr algn="ctr" eaLnBrk="1" hangingPunct="1"/>
            <a:r>
              <a:rPr sz="3200" dirty="0"/>
              <a:t>Regress Analysis and Log-Linear </a:t>
            </a:r>
            <a:br>
              <a:rPr sz="3200" dirty="0"/>
            </a:br>
            <a:r>
              <a:rPr sz="3200" dirty="0"/>
              <a:t>Models in Prediction</a:t>
            </a:r>
            <a:r>
              <a:rPr sz="3200" b="1" dirty="0"/>
              <a:t> </a:t>
            </a:r>
            <a:endParaRPr sz="2400" dirty="0"/>
          </a:p>
        </p:txBody>
      </p:sp>
    </p:spTree>
  </p:cSld>
  <p:clrMapOvr>
    <a:masterClrMapping/>
  </p:clrMapOvr>
  <p:transition>
    <p:zoom/>
  </p:transition>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134</a:t>
            </a:fld>
            <a:endParaRPr lang="en-US" sz="1200" dirty="0">
              <a:latin typeface="Tahoma" panose="020B0604030504040204" pitchFamily="34" charset="0"/>
              <a:ea typeface="+mn-ea"/>
              <a:cs typeface="+mn-cs"/>
            </a:endParaRPr>
          </a:p>
        </p:txBody>
      </p:sp>
      <p:sp>
        <p:nvSpPr>
          <p:cNvPr id="105475" name="Rectangle 2"/>
          <p:cNvSpPr>
            <a:spLocks noGrp="1"/>
          </p:cNvSpPr>
          <p:nvPr>
            <p:ph type="title"/>
          </p:nvPr>
        </p:nvSpPr>
        <p:spPr/>
        <p:txBody>
          <a:bodyPr vert="horz" wrap="square" lIns="91440" tIns="45720" rIns="91440" bIns="45720" anchor="b" anchorCtr="0"/>
          <a:lstStyle/>
          <a:p>
            <a:pPr eaLnBrk="1" hangingPunct="1"/>
            <a:endParaRPr dirty="0"/>
          </a:p>
        </p:txBody>
      </p:sp>
      <p:sp>
        <p:nvSpPr>
          <p:cNvPr id="105476" name="Rectangle 3"/>
          <p:cNvSpPr>
            <a:spLocks noGrp="1"/>
          </p:cNvSpPr>
          <p:nvPr>
            <p:ph idx="1"/>
          </p:nvPr>
        </p:nvSpPr>
        <p:spPr/>
        <p:txBody>
          <a:bodyPr vert="horz" wrap="square" lIns="91440" tIns="45720" rIns="91440" bIns="45720" anchor="t" anchorCtr="0"/>
          <a:lstStyle/>
          <a:p>
            <a:pPr eaLnBrk="1" hangingPunct="1"/>
            <a:r>
              <a:rPr sz="2400" u="sng" dirty="0"/>
              <a:t>Non-linear models</a:t>
            </a:r>
            <a:r>
              <a:rPr sz="2000" dirty="0"/>
              <a:t>:</a:t>
            </a:r>
          </a:p>
          <a:p>
            <a:pPr lvl="1" eaLnBrk="1" hangingPunct="1"/>
            <a:r>
              <a:rPr sz="2400" dirty="0"/>
              <a:t>Polynomial regression can be modeled by adding polynomial terms to the basic linear model. </a:t>
            </a:r>
          </a:p>
          <a:p>
            <a:pPr lvl="1" eaLnBrk="1" hangingPunct="1"/>
            <a:r>
              <a:rPr sz="2400" dirty="0"/>
              <a:t>By applying transformations to the variables, we can convert the nonlinear model into a linear one that can then be solved by the method of least squares.</a:t>
            </a:r>
          </a:p>
          <a:p>
            <a:pPr lvl="1" eaLnBrk="1" hangingPunct="1"/>
            <a:endParaRPr sz="2400" dirty="0"/>
          </a:p>
          <a:p>
            <a:pPr lvl="1" eaLnBrk="1" hangingPunct="1"/>
            <a:endParaRPr sz="2400" dirty="0"/>
          </a:p>
          <a:p>
            <a:pPr lvl="1" eaLnBrk="1" hangingPunct="1"/>
            <a:r>
              <a:rPr sz="2400" dirty="0"/>
              <a:t>X1=X, X2=X</a:t>
            </a:r>
            <a:r>
              <a:rPr sz="2400" baseline="30000" dirty="0"/>
              <a:t>2</a:t>
            </a:r>
            <a:r>
              <a:rPr sz="2400" dirty="0"/>
              <a:t>, X3=X</a:t>
            </a:r>
            <a:r>
              <a:rPr sz="2400" baseline="30000" dirty="0"/>
              <a:t>3</a:t>
            </a:r>
          </a:p>
          <a:p>
            <a:pPr lvl="1" eaLnBrk="1" hangingPunct="1"/>
            <a:r>
              <a:rPr sz="2400" dirty="0"/>
              <a:t>The above equation can be converted as </a:t>
            </a:r>
          </a:p>
          <a:p>
            <a:pPr eaLnBrk="1" hangingPunct="1"/>
            <a:endParaRPr sz="2400" dirty="0"/>
          </a:p>
        </p:txBody>
      </p:sp>
      <p:pic>
        <p:nvPicPr>
          <p:cNvPr id="105477" name="Picture 4"/>
          <p:cNvPicPr>
            <a:picLocks noChangeAspect="1"/>
          </p:cNvPicPr>
          <p:nvPr/>
        </p:nvPicPr>
        <p:blipFill>
          <a:blip r:embed="rId2"/>
          <a:stretch>
            <a:fillRect/>
          </a:stretch>
        </p:blipFill>
        <p:spPr>
          <a:xfrm>
            <a:off x="3043238" y="3656013"/>
            <a:ext cx="3729037" cy="593725"/>
          </a:xfrm>
          <a:prstGeom prst="rect">
            <a:avLst/>
          </a:prstGeom>
          <a:noFill/>
          <a:ln w="9525" cap="flat" cmpd="sng">
            <a:solidFill>
              <a:schemeClr val="tx1"/>
            </a:solidFill>
            <a:prstDash val="solid"/>
            <a:miter/>
            <a:headEnd type="none" w="med" len="med"/>
            <a:tailEnd type="none" w="med" len="med"/>
          </a:ln>
        </p:spPr>
      </p:pic>
      <p:pic>
        <p:nvPicPr>
          <p:cNvPr id="105478" name="Picture 5"/>
          <p:cNvPicPr>
            <a:picLocks noChangeAspect="1"/>
          </p:cNvPicPr>
          <p:nvPr/>
        </p:nvPicPr>
        <p:blipFill>
          <a:blip r:embed="rId3"/>
          <a:stretch>
            <a:fillRect/>
          </a:stretch>
        </p:blipFill>
        <p:spPr>
          <a:xfrm>
            <a:off x="2971800" y="5486400"/>
            <a:ext cx="4648200" cy="519113"/>
          </a:xfrm>
          <a:prstGeom prst="rect">
            <a:avLst/>
          </a:prstGeom>
          <a:noFill/>
          <a:ln w="9525" cap="flat" cmpd="sng">
            <a:solidFill>
              <a:schemeClr val="tx1"/>
            </a:solidFill>
            <a:prstDash val="solid"/>
            <a:miter/>
            <a:headEnd type="none" w="med" len="med"/>
            <a:tailEnd type="none" w="med" len="med"/>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135</a:t>
            </a:fld>
            <a:endParaRPr lang="en-US" sz="1200" dirty="0">
              <a:latin typeface="Tahoma" panose="020B0604030504040204" pitchFamily="34" charset="0"/>
              <a:ea typeface="+mn-ea"/>
              <a:cs typeface="+mn-cs"/>
            </a:endParaRPr>
          </a:p>
        </p:txBody>
      </p:sp>
      <p:sp>
        <p:nvSpPr>
          <p:cNvPr id="106499"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106500"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r>
              <a:rPr sz="2400" dirty="0"/>
              <a:t>What is classification? What is prediction?</a:t>
            </a:r>
          </a:p>
          <a:p>
            <a:pPr eaLnBrk="1" hangingPunct="1"/>
            <a:r>
              <a:rPr sz="2400" dirty="0"/>
              <a:t>Issues regarding classification and prediction</a:t>
            </a:r>
          </a:p>
          <a:p>
            <a:pPr eaLnBrk="1" hangingPunct="1"/>
            <a:r>
              <a:rPr sz="2400" dirty="0"/>
              <a:t>Classification by decision tree induction</a:t>
            </a:r>
          </a:p>
          <a:p>
            <a:pPr eaLnBrk="1" hangingPunct="1"/>
            <a:r>
              <a:rPr sz="2400" dirty="0"/>
              <a:t>Bayesian Classification</a:t>
            </a:r>
          </a:p>
          <a:p>
            <a:pPr eaLnBrk="1" hangingPunct="1"/>
            <a:r>
              <a:rPr sz="2400" dirty="0"/>
              <a:t>Classification by Neural Networks</a:t>
            </a:r>
          </a:p>
          <a:p>
            <a:pPr eaLnBrk="1" hangingPunct="1"/>
            <a:r>
              <a:rPr sz="2400" dirty="0"/>
              <a:t>Classification based on concepts from association rule mining</a:t>
            </a:r>
          </a:p>
          <a:p>
            <a:pPr eaLnBrk="1" hangingPunct="1"/>
            <a:r>
              <a:rPr sz="2400" dirty="0"/>
              <a:t>Other Classification Methods</a:t>
            </a:r>
          </a:p>
          <a:p>
            <a:pPr eaLnBrk="1" hangingPunct="1"/>
            <a:r>
              <a:rPr sz="2400" dirty="0"/>
              <a:t>Prediction</a:t>
            </a:r>
          </a:p>
          <a:p>
            <a:pPr eaLnBrk="1" hangingPunct="1"/>
            <a:r>
              <a:rPr sz="2400" dirty="0">
                <a:solidFill>
                  <a:srgbClr val="660033"/>
                </a:solidFill>
              </a:rPr>
              <a:t>Classification accuracy</a:t>
            </a:r>
          </a:p>
          <a:p>
            <a:pPr eaLnBrk="1" hangingPunct="1"/>
            <a:r>
              <a:rPr sz="2400" dirty="0"/>
              <a:t>Summary</a:t>
            </a:r>
          </a:p>
        </p:txBody>
      </p:sp>
    </p:spTree>
  </p:cSld>
  <p:clrMapOvr>
    <a:masterClrMapping/>
  </p:clrMapOvr>
  <p:transition>
    <p:zo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228600"/>
            <a:ext cx="9144000" cy="838200"/>
          </a:xfrm>
        </p:spPr>
        <p:txBody>
          <a:bodyPr/>
          <a:lstStyle/>
          <a:p>
            <a:r>
              <a:rPr lang="en-US" sz="2800" dirty="0" smtClean="0"/>
              <a:t>Model Evaluation and </a:t>
            </a:r>
            <a:r>
              <a:rPr lang="en-US" sz="2800" dirty="0" smtClean="0"/>
              <a:t>Selection</a:t>
            </a:r>
            <a:br>
              <a:rPr lang="en-US" sz="2800" dirty="0" smtClean="0"/>
            </a:br>
            <a:r>
              <a:rPr lang="en-US" sz="2800" dirty="0" smtClean="0">
                <a:solidFill>
                  <a:srgbClr val="660033"/>
                </a:solidFill>
              </a:rPr>
              <a:t>Classification </a:t>
            </a:r>
            <a:r>
              <a:rPr lang="en-US" sz="2800" dirty="0" smtClean="0">
                <a:solidFill>
                  <a:srgbClr val="660033"/>
                </a:solidFill>
              </a:rPr>
              <a:t>accuracy</a:t>
            </a:r>
            <a:endParaRPr lang="en-US" sz="2800" dirty="0" smtClean="0"/>
          </a:p>
        </p:txBody>
      </p:sp>
      <p:sp>
        <p:nvSpPr>
          <p:cNvPr id="51203" name="Rectangle 3"/>
          <p:cNvSpPr>
            <a:spLocks noGrp="1" noChangeArrowheads="1"/>
          </p:cNvSpPr>
          <p:nvPr>
            <p:ph type="body" idx="1"/>
          </p:nvPr>
        </p:nvSpPr>
        <p:spPr/>
        <p:txBody>
          <a:bodyPr/>
          <a:lstStyle/>
          <a:p>
            <a:pPr>
              <a:lnSpc>
                <a:spcPct val="110000"/>
              </a:lnSpc>
            </a:pPr>
            <a:r>
              <a:rPr lang="en-US" sz="2400" dirty="0" smtClean="0"/>
              <a:t>Evaluation metrics: How can we measure accuracy?  Other metrics to consider?</a:t>
            </a:r>
          </a:p>
          <a:p>
            <a:pPr>
              <a:lnSpc>
                <a:spcPct val="110000"/>
              </a:lnSpc>
            </a:pPr>
            <a:r>
              <a:rPr lang="en-US" sz="2400" dirty="0" smtClean="0"/>
              <a:t>Use </a:t>
            </a:r>
            <a:r>
              <a:rPr lang="en-US" sz="2400" b="1" dirty="0" smtClean="0"/>
              <a:t>validation test set</a:t>
            </a:r>
            <a:r>
              <a:rPr lang="en-US" sz="2400" dirty="0" smtClean="0"/>
              <a:t> of class-labeled </a:t>
            </a:r>
            <a:r>
              <a:rPr lang="en-US" sz="2400" dirty="0" err="1" smtClean="0"/>
              <a:t>tuples</a:t>
            </a:r>
            <a:r>
              <a:rPr lang="en-US" sz="2400" dirty="0" smtClean="0"/>
              <a:t> instead of training set when assessing accuracy</a:t>
            </a:r>
          </a:p>
          <a:p>
            <a:pPr>
              <a:lnSpc>
                <a:spcPct val="110000"/>
              </a:lnSpc>
            </a:pPr>
            <a:r>
              <a:rPr lang="en-US" sz="2400" dirty="0" smtClean="0"/>
              <a:t>Methods for estimating a classifier’s accuracy: </a:t>
            </a:r>
          </a:p>
          <a:p>
            <a:pPr lvl="1">
              <a:lnSpc>
                <a:spcPct val="110000"/>
              </a:lnSpc>
            </a:pPr>
            <a:r>
              <a:rPr lang="en-US" sz="2400" dirty="0" smtClean="0"/>
              <a:t>Holdout method, random </a:t>
            </a:r>
            <a:r>
              <a:rPr lang="en-US" sz="2400" dirty="0" err="1" smtClean="0"/>
              <a:t>subsampling</a:t>
            </a:r>
            <a:endParaRPr lang="en-US" sz="2400" dirty="0" smtClean="0"/>
          </a:p>
          <a:p>
            <a:pPr lvl="1">
              <a:lnSpc>
                <a:spcPct val="110000"/>
              </a:lnSpc>
            </a:pPr>
            <a:r>
              <a:rPr lang="en-US" sz="2400" dirty="0" smtClean="0"/>
              <a:t>Cross-validation</a:t>
            </a:r>
          </a:p>
          <a:p>
            <a:pPr lvl="1">
              <a:lnSpc>
                <a:spcPct val="110000"/>
              </a:lnSpc>
            </a:pPr>
            <a:r>
              <a:rPr lang="en-US" sz="2400" dirty="0" smtClean="0"/>
              <a:t>Bootstrap</a:t>
            </a:r>
          </a:p>
          <a:p>
            <a:pPr>
              <a:lnSpc>
                <a:spcPct val="110000"/>
              </a:lnSpc>
            </a:pPr>
            <a:r>
              <a:rPr lang="en-US" sz="2400" dirty="0" smtClean="0"/>
              <a:t>Comparing classifiers:</a:t>
            </a:r>
          </a:p>
          <a:p>
            <a:pPr lvl="1">
              <a:lnSpc>
                <a:spcPct val="110000"/>
              </a:lnSpc>
            </a:pPr>
            <a:r>
              <a:rPr lang="en-US" sz="2400" dirty="0" smtClean="0"/>
              <a:t>Confidence intervals</a:t>
            </a:r>
          </a:p>
          <a:p>
            <a:pPr lvl="1">
              <a:lnSpc>
                <a:spcPct val="110000"/>
              </a:lnSpc>
            </a:pPr>
            <a:r>
              <a:rPr lang="en-US" sz="2400" dirty="0" smtClean="0"/>
              <a:t>Cost-benefit analysis and ROC Curves</a:t>
            </a:r>
          </a:p>
        </p:txBody>
      </p:sp>
      <p:sp>
        <p:nvSpPr>
          <p:cNvPr id="51204"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3C5BEA26-C5FA-4A5E-B540-4158C08902B0}" type="slidenum">
              <a:rPr lang="en-US" sz="1200" b="1">
                <a:latin typeface="Calibri" pitchFamily="34" charset="0"/>
              </a:rPr>
              <a:pPr algn="r"/>
              <a:t>136</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0"/>
            <a:ext cx="9144000" cy="1143000"/>
          </a:xfrm>
        </p:spPr>
        <p:txBody>
          <a:bodyPr/>
          <a:lstStyle/>
          <a:p>
            <a:r>
              <a:rPr lang="en-US" smtClean="0"/>
              <a:t>Classifier Evaluation Metrics: Confusion Matrix</a:t>
            </a:r>
          </a:p>
        </p:txBody>
      </p:sp>
      <p:graphicFrame>
        <p:nvGraphicFramePr>
          <p:cNvPr id="61519" name="Group 79"/>
          <p:cNvGraphicFramePr>
            <a:graphicFrameLocks noGrp="1"/>
          </p:cNvGraphicFramePr>
          <p:nvPr>
            <p:ph sz="half" idx="1"/>
          </p:nvPr>
        </p:nvGraphicFramePr>
        <p:xfrm>
          <a:off x="1066800" y="3352800"/>
          <a:ext cx="7010400" cy="1935163"/>
        </p:xfrm>
        <a:graphic>
          <a:graphicData uri="http://schemas.openxmlformats.org/drawingml/2006/table">
            <a:tbl>
              <a:tblPr/>
              <a:tblGrid>
                <a:gridCol w="2514600"/>
                <a:gridCol w="1752600"/>
                <a:gridCol w="1752600"/>
                <a:gridCol w="990600"/>
              </a:tblGrid>
              <a:tr h="70115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Actual class\Predicted class</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buy_computer =  yes</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buy_computer = no</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Total</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3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buy_computer = yes</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Calibri" pitchFamily="34" charset="0"/>
                        </a:rPr>
                        <a:t>6954</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Calibri" pitchFamily="34" charset="0"/>
                        </a:rPr>
                        <a:t>46</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7000</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3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buy_computer = no</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Calibri" pitchFamily="34" charset="0"/>
                        </a:rPr>
                        <a:t>412</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Calibri" pitchFamily="34" charset="0"/>
                        </a:rPr>
                        <a:t>2588</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3000</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4139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Total</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7366</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2634</a:t>
                      </a:r>
                    </a:p>
                  </a:txBody>
                  <a:tcPr marT="45728" marB="4572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Calibri" pitchFamily="34" charset="0"/>
                        </a:rPr>
                        <a:t>10000</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52254" name="Rectangle 63"/>
          <p:cNvSpPr>
            <a:spLocks noGrp="1" noChangeArrowheads="1"/>
          </p:cNvSpPr>
          <p:nvPr>
            <p:ph type="body" sz="half" idx="2"/>
          </p:nvPr>
        </p:nvSpPr>
        <p:spPr>
          <a:xfrm>
            <a:off x="304800" y="5372100"/>
            <a:ext cx="8458200" cy="1257300"/>
          </a:xfrm>
        </p:spPr>
        <p:txBody>
          <a:bodyPr/>
          <a:lstStyle/>
          <a:p>
            <a:pPr>
              <a:lnSpc>
                <a:spcPct val="90000"/>
              </a:lnSpc>
            </a:pPr>
            <a:r>
              <a:rPr lang="en-US" sz="2400" smtClean="0"/>
              <a:t>Given</a:t>
            </a:r>
            <a:r>
              <a:rPr lang="en-US" sz="2400" i="1" smtClean="0"/>
              <a:t> m</a:t>
            </a:r>
            <a:r>
              <a:rPr lang="en-US" sz="2400" smtClean="0"/>
              <a:t> classes, an entry, </a:t>
            </a:r>
            <a:r>
              <a:rPr lang="en-US" sz="2400" b="1" i="1" smtClean="0"/>
              <a:t>CM</a:t>
            </a:r>
            <a:r>
              <a:rPr lang="en-US" sz="2400" b="1" i="1" baseline="-25000" smtClean="0"/>
              <a:t>i,j</a:t>
            </a:r>
            <a:r>
              <a:rPr lang="en-US" sz="2400" b="1" baseline="-25000" smtClean="0"/>
              <a:t> </a:t>
            </a:r>
            <a:r>
              <a:rPr lang="en-US" sz="2400" smtClean="0"/>
              <a:t> in a </a:t>
            </a:r>
            <a:r>
              <a:rPr lang="en-US" sz="2400" b="1" smtClean="0"/>
              <a:t>confusion matrix</a:t>
            </a:r>
            <a:r>
              <a:rPr lang="en-US" sz="2400" smtClean="0"/>
              <a:t> indicates # of tuples in class </a:t>
            </a:r>
            <a:r>
              <a:rPr lang="en-US" sz="2400" i="1" smtClean="0"/>
              <a:t>i</a:t>
            </a:r>
            <a:r>
              <a:rPr lang="en-US" sz="2400" smtClean="0"/>
              <a:t>  that were labeled by the classifier as class </a:t>
            </a:r>
            <a:r>
              <a:rPr lang="en-US" sz="2400" i="1" smtClean="0"/>
              <a:t>j</a:t>
            </a:r>
          </a:p>
          <a:p>
            <a:pPr>
              <a:lnSpc>
                <a:spcPct val="90000"/>
              </a:lnSpc>
            </a:pPr>
            <a:r>
              <a:rPr lang="en-US" sz="2400" smtClean="0"/>
              <a:t>May have extra rows/columns to provide totals</a:t>
            </a:r>
          </a:p>
        </p:txBody>
      </p:sp>
      <p:sp>
        <p:nvSpPr>
          <p:cNvPr id="52255" name="Text Box 66"/>
          <p:cNvSpPr txBox="1">
            <a:spLocks noChangeArrowheads="1"/>
          </p:cNvSpPr>
          <p:nvPr/>
        </p:nvSpPr>
        <p:spPr bwMode="auto">
          <a:xfrm>
            <a:off x="228600" y="1219200"/>
            <a:ext cx="2608263" cy="457200"/>
          </a:xfrm>
          <a:prstGeom prst="rect">
            <a:avLst/>
          </a:prstGeom>
          <a:noFill/>
          <a:ln w="9525">
            <a:noFill/>
            <a:miter lim="800000"/>
            <a:headEnd/>
            <a:tailEnd/>
          </a:ln>
        </p:spPr>
        <p:txBody>
          <a:bodyPr>
            <a:spAutoFit/>
          </a:bodyPr>
          <a:lstStyle/>
          <a:p>
            <a:r>
              <a:rPr lang="en-US" sz="2400" b="1">
                <a:latin typeface="Calibri" pitchFamily="34" charset="0"/>
              </a:rPr>
              <a:t>Confusion Matrix:</a:t>
            </a:r>
          </a:p>
        </p:txBody>
      </p:sp>
      <p:graphicFrame>
        <p:nvGraphicFramePr>
          <p:cNvPr id="61517" name="Group 77"/>
          <p:cNvGraphicFramePr>
            <a:graphicFrameLocks noGrp="1"/>
          </p:cNvGraphicFramePr>
          <p:nvPr/>
        </p:nvGraphicFramePr>
        <p:xfrm>
          <a:off x="533400" y="1676400"/>
          <a:ext cx="7924800" cy="1235076"/>
        </p:xfrm>
        <a:graphic>
          <a:graphicData uri="http://schemas.openxmlformats.org/drawingml/2006/table">
            <a:tbl>
              <a:tblPr/>
              <a:tblGrid>
                <a:gridCol w="2895600"/>
                <a:gridCol w="2471738"/>
                <a:gridCol w="2557462"/>
              </a:tblGrid>
              <a:tr h="4270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Actual class\Predicted class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t>
                      </a:r>
                      <a:r>
                        <a:rPr kumimoji="0" lang="en-US" sz="1800" b="0" i="0" u="none" strike="noStrike" cap="none" normalizeH="0" baseline="-25000" smtClean="0">
                          <a:ln>
                            <a:noFill/>
                          </a:ln>
                          <a:solidFill>
                            <a:schemeClr val="tx1"/>
                          </a:solidFill>
                          <a:effectLst/>
                          <a:latin typeface="Calibri" pitchFamily="34"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 C</a:t>
                      </a:r>
                      <a:r>
                        <a:rPr kumimoji="0" lang="en-US" sz="1800" b="0" i="0" u="none" strike="noStrike" cap="none" normalizeH="0" baseline="-25000" smtClean="0">
                          <a:ln>
                            <a:noFill/>
                          </a:ln>
                          <a:solidFill>
                            <a:schemeClr val="tx1"/>
                          </a:solidFill>
                          <a:effectLst/>
                          <a:latin typeface="Calibri" pitchFamily="34" charset="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t>
                      </a:r>
                      <a:r>
                        <a:rPr kumimoji="0" lang="en-US" sz="1800" b="0" i="0" u="none" strike="noStrike" cap="none" normalizeH="0" baseline="-25000" smtClean="0">
                          <a:ln>
                            <a:noFill/>
                          </a:ln>
                          <a:solidFill>
                            <a:schemeClr val="tx1"/>
                          </a:solidFill>
                          <a:effectLst/>
                          <a:latin typeface="Calibri"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True Positives (TP)</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False Negatives (FN)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270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 C</a:t>
                      </a:r>
                      <a:r>
                        <a:rPr kumimoji="0" lang="en-US" sz="1800" b="0" i="0" u="none" strike="noStrike" cap="none" normalizeH="0" baseline="-25000" smtClean="0">
                          <a:ln>
                            <a:noFill/>
                          </a:ln>
                          <a:solidFill>
                            <a:schemeClr val="tx1"/>
                          </a:solidFill>
                          <a:effectLst/>
                          <a:latin typeface="Calibri"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False Positives (FP)</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True Negatives (TN)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52274" name="Rectangle 78"/>
          <p:cNvSpPr>
            <a:spLocks noChangeArrowheads="1"/>
          </p:cNvSpPr>
          <p:nvPr/>
        </p:nvSpPr>
        <p:spPr bwMode="auto">
          <a:xfrm>
            <a:off x="304800" y="2971800"/>
            <a:ext cx="3565525" cy="366713"/>
          </a:xfrm>
          <a:prstGeom prst="rect">
            <a:avLst/>
          </a:prstGeom>
          <a:noFill/>
          <a:ln w="9525">
            <a:noFill/>
            <a:miter lim="800000"/>
            <a:headEnd/>
            <a:tailEnd/>
          </a:ln>
        </p:spPr>
        <p:txBody>
          <a:bodyPr wrap="none">
            <a:spAutoFit/>
          </a:bodyPr>
          <a:lstStyle/>
          <a:p>
            <a:r>
              <a:rPr lang="en-US" b="1"/>
              <a:t>Example of Confusion Matrix:</a:t>
            </a:r>
          </a:p>
        </p:txBody>
      </p:sp>
      <p:sp>
        <p:nvSpPr>
          <p:cNvPr id="52275"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4C62ED99-9C11-477A-BB60-041B33C3D4DE}" type="slidenum">
              <a:rPr lang="en-US" sz="1200" b="1">
                <a:latin typeface="Calibri" pitchFamily="34" charset="0"/>
              </a:rPr>
              <a:pPr algn="r"/>
              <a:t>137</a:t>
            </a:fld>
            <a:endParaRPr lang="en-US" sz="1200" b="1">
              <a:latin typeface="Calibri" pitchFamily="34" charset="0"/>
            </a:endParaRPr>
          </a:p>
        </p:txBody>
      </p:sp>
    </p:spTree>
  </p:cSld>
  <p:clrMapOvr>
    <a:masterClrMapping/>
  </p:clrMapOvr>
  <p:transition>
    <p:zoom/>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04800" y="0"/>
            <a:ext cx="8402638" cy="1143000"/>
          </a:xfrm>
        </p:spPr>
        <p:txBody>
          <a:bodyPr/>
          <a:lstStyle/>
          <a:p>
            <a:r>
              <a:rPr lang="en-US" smtClean="0"/>
              <a:t>Classifier Evaluation Metrics: Accuracy, Error Rate, Sensitivity and Specificity</a:t>
            </a:r>
          </a:p>
        </p:txBody>
      </p:sp>
      <p:sp>
        <p:nvSpPr>
          <p:cNvPr id="53251" name="Rectangle 3"/>
          <p:cNvSpPr>
            <a:spLocks noGrp="1" noChangeArrowheads="1"/>
          </p:cNvSpPr>
          <p:nvPr>
            <p:ph type="body" idx="1"/>
          </p:nvPr>
        </p:nvSpPr>
        <p:spPr>
          <a:xfrm>
            <a:off x="152400" y="3048000"/>
            <a:ext cx="4724400" cy="3505200"/>
          </a:xfrm>
        </p:spPr>
        <p:txBody>
          <a:bodyPr/>
          <a:lstStyle/>
          <a:p>
            <a:r>
              <a:rPr lang="en-US" sz="2400" b="1" smtClean="0"/>
              <a:t>Classifier Accuracy, </a:t>
            </a:r>
            <a:r>
              <a:rPr lang="en-US" sz="2400" smtClean="0"/>
              <a:t>or recognition rate: percentage of test set tuples that are correctly classified</a:t>
            </a:r>
          </a:p>
          <a:p>
            <a:pPr lvl="1">
              <a:buFont typeface="Wingdings" pitchFamily="2" charset="2"/>
              <a:buNone/>
            </a:pPr>
            <a:r>
              <a:rPr lang="en-US" sz="2400" b="1" smtClean="0"/>
              <a:t>Accuracy = (TP + TN)/All</a:t>
            </a:r>
            <a:endParaRPr lang="en-US" sz="2400" smtClean="0"/>
          </a:p>
          <a:p>
            <a:r>
              <a:rPr lang="en-US" sz="2400" b="1" smtClean="0"/>
              <a:t>Error rate:</a:t>
            </a:r>
            <a:r>
              <a:rPr lang="en-US" sz="2400" smtClean="0"/>
              <a:t> </a:t>
            </a:r>
            <a:r>
              <a:rPr lang="en-US" sz="2400" i="1" smtClean="0"/>
              <a:t>1 –</a:t>
            </a:r>
            <a:r>
              <a:rPr lang="en-US" sz="2400" smtClean="0"/>
              <a:t> </a:t>
            </a:r>
            <a:r>
              <a:rPr lang="en-US" sz="2400" i="1" smtClean="0"/>
              <a:t>accuracy</a:t>
            </a:r>
            <a:r>
              <a:rPr lang="en-US" sz="2400" smtClean="0"/>
              <a:t>, or</a:t>
            </a:r>
          </a:p>
          <a:p>
            <a:pPr lvl="1">
              <a:buFont typeface="Wingdings" pitchFamily="2" charset="2"/>
              <a:buNone/>
            </a:pPr>
            <a:r>
              <a:rPr lang="en-US" sz="2400" b="1" smtClean="0"/>
              <a:t>Error rate = (FP + FN)/All</a:t>
            </a:r>
          </a:p>
        </p:txBody>
      </p:sp>
      <p:sp>
        <p:nvSpPr>
          <p:cNvPr id="53252" name="Rectangle 3"/>
          <p:cNvSpPr>
            <a:spLocks noChangeArrowheads="1"/>
          </p:cNvSpPr>
          <p:nvPr/>
        </p:nvSpPr>
        <p:spPr bwMode="auto">
          <a:xfrm>
            <a:off x="4267200" y="1371600"/>
            <a:ext cx="4724400" cy="5105400"/>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Char char="n"/>
            </a:pPr>
            <a:r>
              <a:rPr lang="en-US" sz="2400" b="1">
                <a:latin typeface="Calibri" pitchFamily="34" charset="0"/>
              </a:rPr>
              <a:t>Class Imbalance Problem</a:t>
            </a:r>
            <a:r>
              <a:rPr lang="en-US" sz="2400">
                <a:latin typeface="Calibri" pitchFamily="34" charset="0"/>
              </a:rPr>
              <a:t>: </a:t>
            </a:r>
          </a:p>
          <a:p>
            <a:pPr marL="742950" lvl="1" indent="-285750" eaLnBrk="0" hangingPunct="0">
              <a:spcBef>
                <a:spcPct val="20000"/>
              </a:spcBef>
              <a:buClr>
                <a:schemeClr val="hlink"/>
              </a:buClr>
              <a:buSzPct val="55000"/>
              <a:buFont typeface="Wingdings" pitchFamily="2" charset="2"/>
              <a:buChar char="n"/>
            </a:pPr>
            <a:r>
              <a:rPr lang="en-US" sz="2400">
                <a:latin typeface="Calibri" pitchFamily="34" charset="0"/>
              </a:rPr>
              <a:t>One class may be </a:t>
            </a:r>
            <a:r>
              <a:rPr lang="en-US" sz="2400" i="1">
                <a:latin typeface="Calibri" pitchFamily="34" charset="0"/>
              </a:rPr>
              <a:t>rare</a:t>
            </a:r>
            <a:r>
              <a:rPr lang="en-US" sz="2400">
                <a:latin typeface="Calibri" pitchFamily="34" charset="0"/>
              </a:rPr>
              <a:t>, e.g. fraud, or HIV-positive</a:t>
            </a:r>
          </a:p>
          <a:p>
            <a:pPr marL="742950" lvl="1" indent="-285750" eaLnBrk="0" hangingPunct="0">
              <a:spcBef>
                <a:spcPct val="20000"/>
              </a:spcBef>
              <a:buClr>
                <a:schemeClr val="hlink"/>
              </a:buClr>
              <a:buSzPct val="55000"/>
              <a:buFont typeface="Wingdings" pitchFamily="2" charset="2"/>
              <a:buChar char="n"/>
            </a:pPr>
            <a:r>
              <a:rPr lang="en-US" sz="2400">
                <a:latin typeface="Calibri" pitchFamily="34" charset="0"/>
              </a:rPr>
              <a:t>Significant </a:t>
            </a:r>
            <a:r>
              <a:rPr lang="en-US" sz="2400" i="1">
                <a:latin typeface="Calibri" pitchFamily="34" charset="0"/>
              </a:rPr>
              <a:t>majority of the negative class</a:t>
            </a:r>
            <a:r>
              <a:rPr lang="en-US" sz="2400">
                <a:latin typeface="Calibri" pitchFamily="34" charset="0"/>
              </a:rPr>
              <a:t> and minority of the positive class</a:t>
            </a:r>
          </a:p>
          <a:p>
            <a:pPr marL="742950" lvl="1" indent="-285750" eaLnBrk="0" hangingPunct="0">
              <a:spcBef>
                <a:spcPct val="20000"/>
              </a:spcBef>
              <a:buClr>
                <a:schemeClr val="hlink"/>
              </a:buClr>
              <a:buSzPct val="55000"/>
              <a:buFont typeface="Wingdings" pitchFamily="2" charset="2"/>
              <a:buChar char="n"/>
            </a:pPr>
            <a:r>
              <a:rPr lang="en-US" sz="2400" b="1">
                <a:latin typeface="Calibri" pitchFamily="34" charset="0"/>
              </a:rPr>
              <a:t>Sensitivity</a:t>
            </a:r>
            <a:r>
              <a:rPr lang="en-US" sz="2400">
                <a:latin typeface="Calibri" pitchFamily="34" charset="0"/>
              </a:rPr>
              <a:t>: True Positive recognition rate</a:t>
            </a:r>
          </a:p>
          <a:p>
            <a:pPr marL="1143000" lvl="2" indent="-228600" eaLnBrk="0" hangingPunct="0">
              <a:spcBef>
                <a:spcPct val="20000"/>
              </a:spcBef>
              <a:buClr>
                <a:schemeClr val="folHlink"/>
              </a:buClr>
              <a:buSzPct val="50000"/>
              <a:buFont typeface="Wingdings" pitchFamily="2" charset="2"/>
              <a:buChar char="n"/>
            </a:pPr>
            <a:r>
              <a:rPr lang="en-US" sz="2400" b="1">
                <a:latin typeface="Calibri" pitchFamily="34" charset="0"/>
              </a:rPr>
              <a:t>Sensitivity = TP/P</a:t>
            </a:r>
          </a:p>
          <a:p>
            <a:pPr marL="742950" lvl="1" indent="-285750" eaLnBrk="0" hangingPunct="0">
              <a:spcBef>
                <a:spcPct val="20000"/>
              </a:spcBef>
              <a:buClr>
                <a:schemeClr val="hlink"/>
              </a:buClr>
              <a:buSzPct val="55000"/>
              <a:buFont typeface="Wingdings" pitchFamily="2" charset="2"/>
              <a:buChar char="n"/>
            </a:pPr>
            <a:r>
              <a:rPr lang="en-US" sz="2400" b="1">
                <a:latin typeface="Calibri" pitchFamily="34" charset="0"/>
              </a:rPr>
              <a:t>Specificity</a:t>
            </a:r>
            <a:r>
              <a:rPr lang="en-US" sz="2400">
                <a:latin typeface="Calibri" pitchFamily="34" charset="0"/>
              </a:rPr>
              <a:t>: True Negative recognition rate</a:t>
            </a:r>
          </a:p>
          <a:p>
            <a:pPr marL="1143000" lvl="2" indent="-228600" eaLnBrk="0" hangingPunct="0">
              <a:spcBef>
                <a:spcPct val="20000"/>
              </a:spcBef>
              <a:buClr>
                <a:schemeClr val="folHlink"/>
              </a:buClr>
              <a:buSzPct val="50000"/>
              <a:buFont typeface="Wingdings" pitchFamily="2" charset="2"/>
              <a:buChar char="n"/>
            </a:pPr>
            <a:r>
              <a:rPr lang="en-US" sz="2400" b="1">
                <a:latin typeface="Calibri" pitchFamily="34" charset="0"/>
              </a:rPr>
              <a:t>Specificity = TN/N</a:t>
            </a:r>
          </a:p>
        </p:txBody>
      </p:sp>
      <p:graphicFrame>
        <p:nvGraphicFramePr>
          <p:cNvPr id="62595" name="Group 131"/>
          <p:cNvGraphicFramePr>
            <a:graphicFrameLocks noGrp="1"/>
          </p:cNvGraphicFramePr>
          <p:nvPr/>
        </p:nvGraphicFramePr>
        <p:xfrm>
          <a:off x="1524000" y="1371600"/>
          <a:ext cx="1905000" cy="1466852"/>
        </p:xfrm>
        <a:graphic>
          <a:graphicData uri="http://schemas.openxmlformats.org/drawingml/2006/table">
            <a:tbl>
              <a:tblPr/>
              <a:tblGrid>
                <a:gridCol w="533400"/>
                <a:gridCol w="457200"/>
                <a:gridCol w="457200"/>
                <a:gridCol w="457200"/>
              </a:tblGrid>
              <a:tr h="3667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A\P</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67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TP</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FN</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P</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67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FP</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TN</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N</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67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smtClean="0">
                        <a:ln>
                          <a:noFill/>
                        </a:ln>
                        <a:solidFill>
                          <a:schemeClr val="tx1"/>
                        </a:solidFill>
                        <a:effectLst/>
                        <a:latin typeface="Calibri" pitchFamily="34" charset="0"/>
                      </a:endParaRP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P’</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N’</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All</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53280"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710870A7-4757-4980-9276-351565AA393F}" type="slidenum">
              <a:rPr lang="en-US" sz="1200" b="1">
                <a:latin typeface="Calibri" pitchFamily="34" charset="0"/>
              </a:rPr>
              <a:pPr algn="r"/>
              <a:t>138</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7" descr="8F"/>
          <p:cNvPicPr>
            <a:picLocks noChangeAspect="1" noChangeArrowheads="1"/>
          </p:cNvPicPr>
          <p:nvPr/>
        </p:nvPicPr>
        <p:blipFill>
          <a:blip r:embed="rId3"/>
          <a:srcRect/>
          <a:stretch>
            <a:fillRect/>
          </a:stretch>
        </p:blipFill>
        <p:spPr bwMode="auto">
          <a:xfrm>
            <a:off x="4876800" y="4343400"/>
            <a:ext cx="4267200" cy="820738"/>
          </a:xfrm>
          <a:prstGeom prst="rect">
            <a:avLst/>
          </a:prstGeom>
          <a:noFill/>
          <a:ln w="9525">
            <a:noFill/>
            <a:miter lim="800000"/>
            <a:headEnd/>
            <a:tailEnd/>
          </a:ln>
        </p:spPr>
      </p:pic>
      <p:pic>
        <p:nvPicPr>
          <p:cNvPr id="54275" name="Picture 8" descr="8recall"/>
          <p:cNvPicPr>
            <a:picLocks noChangeAspect="1" noChangeArrowheads="1"/>
          </p:cNvPicPr>
          <p:nvPr/>
        </p:nvPicPr>
        <p:blipFill>
          <a:blip r:embed="rId4"/>
          <a:srcRect/>
          <a:stretch>
            <a:fillRect/>
          </a:stretch>
        </p:blipFill>
        <p:spPr bwMode="auto">
          <a:xfrm>
            <a:off x="5610225" y="2895600"/>
            <a:ext cx="3124200" cy="739775"/>
          </a:xfrm>
          <a:prstGeom prst="rect">
            <a:avLst/>
          </a:prstGeom>
          <a:noFill/>
          <a:ln w="9525">
            <a:noFill/>
            <a:miter lim="800000"/>
            <a:headEnd/>
            <a:tailEnd/>
          </a:ln>
        </p:spPr>
      </p:pic>
      <p:pic>
        <p:nvPicPr>
          <p:cNvPr id="54276" name="Picture 7" descr="8precision"/>
          <p:cNvPicPr>
            <a:picLocks noChangeAspect="1" noChangeArrowheads="1"/>
          </p:cNvPicPr>
          <p:nvPr/>
        </p:nvPicPr>
        <p:blipFill>
          <a:blip r:embed="rId5"/>
          <a:srcRect/>
          <a:stretch>
            <a:fillRect/>
          </a:stretch>
        </p:blipFill>
        <p:spPr bwMode="auto">
          <a:xfrm>
            <a:off x="5486400" y="1865313"/>
            <a:ext cx="3581400" cy="725487"/>
          </a:xfrm>
          <a:prstGeom prst="rect">
            <a:avLst/>
          </a:prstGeom>
          <a:noFill/>
          <a:ln w="9525">
            <a:noFill/>
            <a:miter lim="800000"/>
            <a:headEnd/>
            <a:tailEnd/>
          </a:ln>
        </p:spPr>
      </p:pic>
      <p:sp>
        <p:nvSpPr>
          <p:cNvPr id="54277" name="Rectangle 2"/>
          <p:cNvSpPr>
            <a:spLocks noGrp="1" noChangeArrowheads="1"/>
          </p:cNvSpPr>
          <p:nvPr>
            <p:ph type="title"/>
          </p:nvPr>
        </p:nvSpPr>
        <p:spPr>
          <a:xfrm>
            <a:off x="304800" y="0"/>
            <a:ext cx="8402638" cy="1219200"/>
          </a:xfrm>
        </p:spPr>
        <p:txBody>
          <a:bodyPr/>
          <a:lstStyle/>
          <a:p>
            <a:r>
              <a:rPr lang="en-US" smtClean="0"/>
              <a:t>Classifier Evaluation Metrics: </a:t>
            </a:r>
            <a:br>
              <a:rPr lang="en-US" smtClean="0"/>
            </a:br>
            <a:r>
              <a:rPr lang="en-US" smtClean="0"/>
              <a:t>Precision and Recall, and F-measures</a:t>
            </a:r>
          </a:p>
        </p:txBody>
      </p:sp>
      <p:sp>
        <p:nvSpPr>
          <p:cNvPr id="54278" name="Rectangle 3"/>
          <p:cNvSpPr>
            <a:spLocks noGrp="1" noChangeArrowheads="1"/>
          </p:cNvSpPr>
          <p:nvPr>
            <p:ph type="body" idx="1"/>
          </p:nvPr>
        </p:nvSpPr>
        <p:spPr>
          <a:xfrm>
            <a:off x="257175" y="1371600"/>
            <a:ext cx="8429625" cy="4419600"/>
          </a:xfrm>
        </p:spPr>
        <p:txBody>
          <a:bodyPr/>
          <a:lstStyle/>
          <a:p>
            <a:pPr>
              <a:lnSpc>
                <a:spcPct val="90000"/>
              </a:lnSpc>
            </a:pPr>
            <a:r>
              <a:rPr lang="en-US" sz="2400" b="1" smtClean="0"/>
              <a:t>Precision</a:t>
            </a:r>
            <a:r>
              <a:rPr lang="en-US" sz="2400" smtClean="0"/>
              <a:t>: exactness – what % of tuples that the classifier labeled as positive are actually positive</a:t>
            </a:r>
          </a:p>
          <a:p>
            <a:pPr lvl="1">
              <a:lnSpc>
                <a:spcPct val="90000"/>
              </a:lnSpc>
            </a:pPr>
            <a:endParaRPr lang="en-US" sz="2400" b="1" smtClean="0"/>
          </a:p>
          <a:p>
            <a:pPr>
              <a:lnSpc>
                <a:spcPct val="90000"/>
              </a:lnSpc>
            </a:pPr>
            <a:r>
              <a:rPr lang="en-US" sz="2400" b="1" smtClean="0"/>
              <a:t>Recall: </a:t>
            </a:r>
            <a:r>
              <a:rPr lang="en-US" sz="2400" smtClean="0"/>
              <a:t>completeness – what % of positive tuples did the classifier label as positive?</a:t>
            </a:r>
          </a:p>
          <a:p>
            <a:pPr>
              <a:lnSpc>
                <a:spcPct val="90000"/>
              </a:lnSpc>
            </a:pPr>
            <a:r>
              <a:rPr lang="en-US" sz="2400" smtClean="0"/>
              <a:t>Perfect score is 1.0</a:t>
            </a:r>
          </a:p>
          <a:p>
            <a:pPr>
              <a:lnSpc>
                <a:spcPct val="90000"/>
              </a:lnSpc>
            </a:pPr>
            <a:r>
              <a:rPr lang="en-US" sz="2400" smtClean="0"/>
              <a:t>Inverse relationship between precision &amp; recall</a:t>
            </a:r>
          </a:p>
          <a:p>
            <a:pPr>
              <a:lnSpc>
                <a:spcPct val="80000"/>
              </a:lnSpc>
            </a:pPr>
            <a:r>
              <a:rPr lang="en-US" sz="2400" b="1" i="1" smtClean="0"/>
              <a:t>F</a:t>
            </a:r>
            <a:r>
              <a:rPr lang="en-US" sz="2400" b="1" smtClean="0"/>
              <a:t> measure (</a:t>
            </a:r>
            <a:r>
              <a:rPr lang="en-US" sz="2400" b="1" i="1" smtClean="0"/>
              <a:t>F</a:t>
            </a:r>
            <a:r>
              <a:rPr lang="en-US" sz="2400" b="1" i="1" baseline="-25000" smtClean="0"/>
              <a:t>1</a:t>
            </a:r>
            <a:r>
              <a:rPr lang="en-US" sz="2400" b="1" smtClean="0"/>
              <a:t> </a:t>
            </a:r>
            <a:r>
              <a:rPr lang="en-US" sz="2400" smtClean="0"/>
              <a:t>or</a:t>
            </a:r>
            <a:r>
              <a:rPr lang="en-US" sz="2400" b="1" smtClean="0"/>
              <a:t> </a:t>
            </a:r>
            <a:r>
              <a:rPr lang="en-US" sz="2400" b="1" i="1" smtClean="0"/>
              <a:t>F</a:t>
            </a:r>
            <a:r>
              <a:rPr lang="en-US" sz="2400" b="1" smtClean="0"/>
              <a:t>-score)</a:t>
            </a:r>
            <a:r>
              <a:rPr lang="en-US" sz="2400" smtClean="0"/>
              <a:t>: harmonic mean of precision and recall,</a:t>
            </a:r>
            <a:endParaRPr lang="en-US" sz="2400" b="1" smtClean="0"/>
          </a:p>
          <a:p>
            <a:pPr>
              <a:lnSpc>
                <a:spcPct val="80000"/>
              </a:lnSpc>
              <a:buFont typeface="Wingdings" pitchFamily="2" charset="2"/>
              <a:buNone/>
            </a:pPr>
            <a:endParaRPr lang="en-US" sz="2400" b="1" i="1" smtClean="0"/>
          </a:p>
          <a:p>
            <a:pPr>
              <a:lnSpc>
                <a:spcPct val="80000"/>
              </a:lnSpc>
            </a:pPr>
            <a:r>
              <a:rPr lang="en-US" sz="2400" b="1" i="1" smtClean="0"/>
              <a:t>F</a:t>
            </a:r>
            <a:r>
              <a:rPr lang="en-US" sz="2400" b="1" i="1" baseline="-25000" smtClean="0">
                <a:cs typeface="Tahoma" pitchFamily="34" charset="0"/>
              </a:rPr>
              <a:t>ß</a:t>
            </a:r>
            <a:r>
              <a:rPr lang="en-US" sz="2400" b="1" smtClean="0"/>
              <a:t>:  </a:t>
            </a:r>
            <a:r>
              <a:rPr lang="en-US" sz="2400" smtClean="0"/>
              <a:t>weighted measure of precision and recall</a:t>
            </a:r>
          </a:p>
          <a:p>
            <a:pPr lvl="1">
              <a:lnSpc>
                <a:spcPct val="80000"/>
              </a:lnSpc>
            </a:pPr>
            <a:r>
              <a:rPr lang="en-US" sz="2400" smtClean="0"/>
              <a:t>assigns </a:t>
            </a:r>
            <a:r>
              <a:rPr lang="en-US" sz="2400" smtClean="0">
                <a:cs typeface="Tahoma" pitchFamily="34" charset="0"/>
              </a:rPr>
              <a:t>ß times as much weight to recall as to precision</a:t>
            </a:r>
            <a:endParaRPr lang="en-US" sz="2400" smtClean="0"/>
          </a:p>
        </p:txBody>
      </p:sp>
      <p:sp>
        <p:nvSpPr>
          <p:cNvPr id="54279" name="Text Box 5"/>
          <p:cNvSpPr txBox="1">
            <a:spLocks noChangeArrowheads="1"/>
          </p:cNvSpPr>
          <p:nvPr/>
        </p:nvSpPr>
        <p:spPr bwMode="auto">
          <a:xfrm>
            <a:off x="1050925" y="5010150"/>
            <a:ext cx="184150" cy="519113"/>
          </a:xfrm>
          <a:prstGeom prst="rect">
            <a:avLst/>
          </a:prstGeom>
          <a:noFill/>
          <a:ln w="9525">
            <a:noFill/>
            <a:miter lim="800000"/>
            <a:headEnd/>
            <a:tailEnd/>
          </a:ln>
        </p:spPr>
        <p:txBody>
          <a:bodyPr wrap="none">
            <a:spAutoFit/>
          </a:bodyPr>
          <a:lstStyle/>
          <a:p>
            <a:endParaRPr lang="en-US" sz="2800"/>
          </a:p>
        </p:txBody>
      </p:sp>
      <p:sp>
        <p:nvSpPr>
          <p:cNvPr id="54280"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6FD4C8C5-B4DE-4100-BBD5-B32016A17DD7}" type="slidenum">
              <a:rPr lang="en-US" sz="1200" b="1">
                <a:latin typeface="Calibri" pitchFamily="34" charset="0"/>
              </a:rPr>
              <a:pPr algn="r"/>
              <a:t>139</a:t>
            </a:fld>
            <a:endParaRPr lang="en-US" sz="1200" b="1">
              <a:latin typeface="Calibri" pitchFamily="34" charset="0"/>
            </a:endParaRPr>
          </a:p>
        </p:txBody>
      </p:sp>
      <p:pic>
        <p:nvPicPr>
          <p:cNvPr id="54281" name="Picture 8" descr="8Fbeta"/>
          <p:cNvPicPr>
            <a:picLocks noChangeAspect="1" noChangeArrowheads="1"/>
          </p:cNvPicPr>
          <p:nvPr/>
        </p:nvPicPr>
        <p:blipFill>
          <a:blip r:embed="rId6"/>
          <a:srcRect/>
          <a:stretch>
            <a:fillRect/>
          </a:stretch>
        </p:blipFill>
        <p:spPr bwMode="auto">
          <a:xfrm>
            <a:off x="2714625" y="5791200"/>
            <a:ext cx="5791200" cy="9620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228600"/>
            <a:ext cx="9144000" cy="762000"/>
          </a:xfrm>
        </p:spPr>
        <p:txBody>
          <a:bodyPr/>
          <a:lstStyle/>
          <a:p>
            <a:r>
              <a:rPr lang="en-US" smtClean="0"/>
              <a:t>Classifier Evaluation Metrics: Example</a:t>
            </a:r>
          </a:p>
        </p:txBody>
      </p:sp>
      <p:sp>
        <p:nvSpPr>
          <p:cNvPr id="55299" name="Rectangle 35"/>
          <p:cNvSpPr>
            <a:spLocks noChangeArrowheads="1"/>
          </p:cNvSpPr>
          <p:nvPr/>
        </p:nvSpPr>
        <p:spPr bwMode="auto">
          <a:xfrm>
            <a:off x="228600" y="4572000"/>
            <a:ext cx="8610600" cy="1143000"/>
          </a:xfrm>
          <a:prstGeom prst="rect">
            <a:avLst/>
          </a:prstGeom>
          <a:noFill/>
          <a:ln w="9525">
            <a:noFill/>
            <a:miter lim="800000"/>
            <a:headEnd/>
            <a:tailEnd/>
          </a:ln>
        </p:spPr>
        <p:txBody>
          <a:bodyPr/>
          <a:lstStyle/>
          <a:p>
            <a:pPr marL="342900" indent="-342900" eaLnBrk="0" hangingPunct="0">
              <a:lnSpc>
                <a:spcPct val="90000"/>
              </a:lnSpc>
              <a:spcBef>
                <a:spcPct val="20000"/>
              </a:spcBef>
              <a:buClr>
                <a:schemeClr val="folHlink"/>
              </a:buClr>
              <a:buSzPct val="60000"/>
              <a:buFont typeface="Wingdings" pitchFamily="2" charset="2"/>
              <a:buNone/>
            </a:pPr>
            <a:endParaRPr lang="en-US" sz="2400"/>
          </a:p>
        </p:txBody>
      </p:sp>
      <p:sp>
        <p:nvSpPr>
          <p:cNvPr id="55300"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2D3081FB-4819-4661-8772-043A7B3977D7}" type="slidenum">
              <a:rPr lang="en-US" sz="1200" b="1">
                <a:latin typeface="Calibri" pitchFamily="34" charset="0"/>
              </a:rPr>
              <a:pPr algn="r"/>
              <a:t>140</a:t>
            </a:fld>
            <a:endParaRPr lang="en-US" sz="1200" b="1">
              <a:latin typeface="Calibri" pitchFamily="34" charset="0"/>
            </a:endParaRPr>
          </a:p>
        </p:txBody>
      </p:sp>
      <p:sp>
        <p:nvSpPr>
          <p:cNvPr id="55301" name="Content Placeholder 1"/>
          <p:cNvSpPr>
            <a:spLocks noGrp="1"/>
          </p:cNvSpPr>
          <p:nvPr>
            <p:ph sz="half" idx="1"/>
          </p:nvPr>
        </p:nvSpPr>
        <p:spPr>
          <a:xfrm>
            <a:off x="228600" y="3429000"/>
            <a:ext cx="8458200" cy="609600"/>
          </a:xfrm>
        </p:spPr>
        <p:txBody>
          <a:bodyPr/>
          <a:lstStyle/>
          <a:p>
            <a:pPr marL="342900" lvl="1" indent="-342900">
              <a:buClr>
                <a:schemeClr val="folHlink"/>
              </a:buClr>
              <a:buSzPct val="60000"/>
            </a:pPr>
            <a:r>
              <a:rPr lang="en-US" sz="2400" i="1" smtClean="0"/>
              <a:t>Precision</a:t>
            </a:r>
            <a:r>
              <a:rPr lang="en-US" sz="2400" smtClean="0"/>
              <a:t> = 90/230 = 39.13%             </a:t>
            </a:r>
            <a:r>
              <a:rPr lang="en-US" sz="2400" i="1" smtClean="0"/>
              <a:t>Recall</a:t>
            </a:r>
            <a:r>
              <a:rPr lang="en-US" sz="2400" smtClean="0"/>
              <a:t> = 90/300 = 30.00%</a:t>
            </a:r>
          </a:p>
          <a:p>
            <a:endParaRPr lang="en-US" smtClean="0"/>
          </a:p>
        </p:txBody>
      </p:sp>
      <p:graphicFrame>
        <p:nvGraphicFramePr>
          <p:cNvPr id="7" name="Group 54"/>
          <p:cNvGraphicFramePr>
            <a:graphicFrameLocks noGrp="1"/>
          </p:cNvGraphicFramePr>
          <p:nvPr/>
        </p:nvGraphicFramePr>
        <p:xfrm>
          <a:off x="228600" y="1889125"/>
          <a:ext cx="8839200" cy="1466852"/>
        </p:xfrm>
        <a:graphic>
          <a:graphicData uri="http://schemas.openxmlformats.org/drawingml/2006/table">
            <a:tbl>
              <a:tblPr/>
              <a:tblGrid>
                <a:gridCol w="3200400"/>
                <a:gridCol w="1524000"/>
                <a:gridCol w="1295400"/>
                <a:gridCol w="981075"/>
                <a:gridCol w="1838325"/>
              </a:tblGrid>
              <a:tr h="3667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Actual Class\Predicted class</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yes</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no</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Total</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Recognition(%)</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67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yes</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90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210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300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30.00 (</a:t>
                      </a:r>
                      <a:r>
                        <a:rPr kumimoji="0" lang="en-US" sz="1800" b="0" i="1" u="none" strike="noStrike" cap="none" normalizeH="0" baseline="0" smtClean="0">
                          <a:ln>
                            <a:noFill/>
                          </a:ln>
                          <a:solidFill>
                            <a:schemeClr val="tx1"/>
                          </a:solidFill>
                          <a:effectLst/>
                          <a:latin typeface="Calibri" pitchFamily="34" charset="0"/>
                        </a:rPr>
                        <a:t>sensitivity</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67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no</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140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9560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9700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98.56 (</a:t>
                      </a:r>
                      <a:r>
                        <a:rPr kumimoji="0" lang="en-US" sz="1800" b="0" i="1" u="none" strike="noStrike" cap="none" normalizeH="0" baseline="0" smtClean="0">
                          <a:ln>
                            <a:noFill/>
                          </a:ln>
                          <a:solidFill>
                            <a:schemeClr val="tx1"/>
                          </a:solidFill>
                          <a:effectLst/>
                          <a:latin typeface="Calibri" pitchFamily="34" charset="0"/>
                        </a:rPr>
                        <a:t>specificity)</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667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Total</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230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9770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10000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96.40 (</a:t>
                      </a:r>
                      <a:r>
                        <a:rPr kumimoji="0" lang="en-US" sz="1800" b="0" i="1" u="none" strike="noStrike" cap="none" normalizeH="0" baseline="0" smtClean="0">
                          <a:ln>
                            <a:noFill/>
                          </a:ln>
                          <a:solidFill>
                            <a:schemeClr val="tx1"/>
                          </a:solidFill>
                          <a:effectLst/>
                          <a:latin typeface="Calibri" pitchFamily="34" charset="0"/>
                        </a:rPr>
                        <a:t>accuracy</a:t>
                      </a:r>
                      <a:r>
                        <a:rPr kumimoji="0" lang="en-US" sz="1800" b="0" i="0" u="none" strike="noStrike" cap="none" normalizeH="0" baseline="0" smtClean="0">
                          <a:ln>
                            <a:noFill/>
                          </a:ln>
                          <a:solidFill>
                            <a:schemeClr val="tx1"/>
                          </a:solidFill>
                          <a:effectLst/>
                          <a:latin typeface="Calibri" pitchFamily="34" charset="0"/>
                        </a:rPr>
                        <a:t>)</a:t>
                      </a:r>
                      <a:endParaRPr kumimoji="0" lang="en-US" sz="1800" b="0" i="1" u="none" strike="noStrike" cap="none" normalizeH="0" baseline="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zoom/>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533400" y="0"/>
            <a:ext cx="8091488" cy="1066800"/>
          </a:xfrm>
          <a:noFill/>
        </p:spPr>
        <p:txBody>
          <a:bodyPr lIns="92075" tIns="46038" rIns="92075" bIns="46038"/>
          <a:lstStyle/>
          <a:p>
            <a:pPr eaLnBrk="1" hangingPunct="1"/>
            <a:r>
              <a:rPr lang="en-US" sz="2800" dirty="0" smtClean="0"/>
              <a:t>Evaluating Classifier Accuracy:</a:t>
            </a:r>
            <a:br>
              <a:rPr lang="en-US" sz="2800" dirty="0" smtClean="0"/>
            </a:br>
            <a:r>
              <a:rPr lang="en-US" sz="2800" dirty="0" smtClean="0"/>
              <a:t>Holdout &amp; Cross-Validation Methods</a:t>
            </a:r>
          </a:p>
        </p:txBody>
      </p:sp>
      <p:sp>
        <p:nvSpPr>
          <p:cNvPr id="56323" name="Rectangle 3"/>
          <p:cNvSpPr>
            <a:spLocks noGrp="1" noChangeArrowheads="1"/>
          </p:cNvSpPr>
          <p:nvPr>
            <p:ph type="body" idx="1"/>
          </p:nvPr>
        </p:nvSpPr>
        <p:spPr>
          <a:xfrm>
            <a:off x="0" y="1143000"/>
            <a:ext cx="9144000" cy="5273675"/>
          </a:xfrm>
          <a:noFill/>
        </p:spPr>
        <p:txBody>
          <a:bodyPr lIns="92075" tIns="46038" rIns="92075" bIns="46038"/>
          <a:lstStyle/>
          <a:p>
            <a:pPr eaLnBrk="1" hangingPunct="1">
              <a:lnSpc>
                <a:spcPct val="80000"/>
              </a:lnSpc>
            </a:pPr>
            <a:r>
              <a:rPr lang="en-US" sz="2400" b="1" dirty="0" smtClean="0"/>
              <a:t>Holdout </a:t>
            </a:r>
            <a:r>
              <a:rPr lang="en-US" sz="2400" b="1" dirty="0" smtClean="0"/>
              <a:t>method: </a:t>
            </a:r>
            <a:r>
              <a:rPr lang="en-US" sz="2400" dirty="0" smtClean="0"/>
              <a:t>Given </a:t>
            </a:r>
            <a:r>
              <a:rPr lang="en-US" sz="2400" dirty="0" smtClean="0"/>
              <a:t>data is randomly partitioned into two independent sets</a:t>
            </a:r>
          </a:p>
          <a:p>
            <a:pPr lvl="2" eaLnBrk="1" hangingPunct="1">
              <a:lnSpc>
                <a:spcPct val="80000"/>
              </a:lnSpc>
            </a:pPr>
            <a:r>
              <a:rPr lang="en-US" dirty="0" smtClean="0"/>
              <a:t>Training set (e.g., 2/3) for model construction</a:t>
            </a:r>
          </a:p>
          <a:p>
            <a:pPr lvl="2" eaLnBrk="1" hangingPunct="1">
              <a:lnSpc>
                <a:spcPct val="80000"/>
              </a:lnSpc>
            </a:pPr>
            <a:r>
              <a:rPr lang="en-US" dirty="0" smtClean="0"/>
              <a:t>Test set (e.g., 1/3) for accuracy estimation</a:t>
            </a:r>
          </a:p>
          <a:p>
            <a:pPr lvl="1" eaLnBrk="1" hangingPunct="1">
              <a:lnSpc>
                <a:spcPct val="80000"/>
              </a:lnSpc>
            </a:pPr>
            <a:r>
              <a:rPr lang="en-US" sz="2400" u="sng" dirty="0" smtClean="0"/>
              <a:t>Random sampling</a:t>
            </a:r>
            <a:r>
              <a:rPr lang="en-US" sz="2400" dirty="0" smtClean="0"/>
              <a:t>: a variation of holdout</a:t>
            </a:r>
          </a:p>
          <a:p>
            <a:pPr lvl="2" eaLnBrk="1" hangingPunct="1">
              <a:lnSpc>
                <a:spcPct val="80000"/>
              </a:lnSpc>
            </a:pPr>
            <a:r>
              <a:rPr lang="en-US" dirty="0" smtClean="0"/>
              <a:t>Repeat holdout k times, accuracy = avg. of the accuracies obtained</a:t>
            </a:r>
          </a:p>
          <a:p>
            <a:pPr eaLnBrk="1" hangingPunct="1">
              <a:lnSpc>
                <a:spcPct val="80000"/>
              </a:lnSpc>
            </a:pPr>
            <a:r>
              <a:rPr lang="en-US" sz="2400" b="1" dirty="0" smtClean="0"/>
              <a:t>Cross-validation</a:t>
            </a:r>
            <a:r>
              <a:rPr lang="en-US" sz="2400" dirty="0" smtClean="0"/>
              <a:t> (</a:t>
            </a:r>
            <a:r>
              <a:rPr lang="en-US" sz="2400" i="1" dirty="0" smtClean="0"/>
              <a:t>k</a:t>
            </a:r>
            <a:r>
              <a:rPr lang="en-US" sz="2400" dirty="0" smtClean="0"/>
              <a:t>-fold, where k = 10 is most popular)</a:t>
            </a:r>
          </a:p>
          <a:p>
            <a:pPr lvl="1" eaLnBrk="1" hangingPunct="1">
              <a:lnSpc>
                <a:spcPct val="80000"/>
              </a:lnSpc>
            </a:pPr>
            <a:r>
              <a:rPr lang="en-US" sz="2400" dirty="0" smtClean="0"/>
              <a:t>Randomly partition the data into </a:t>
            </a:r>
            <a:r>
              <a:rPr lang="en-US" sz="2400" i="1" dirty="0" smtClean="0"/>
              <a:t>k</a:t>
            </a:r>
            <a:r>
              <a:rPr lang="en-US" sz="2400" dirty="0" smtClean="0"/>
              <a:t> </a:t>
            </a:r>
            <a:r>
              <a:rPr lang="en-US" sz="2400" i="1" dirty="0" smtClean="0"/>
              <a:t>mutually exclusive</a:t>
            </a:r>
            <a:r>
              <a:rPr lang="en-US" sz="2400" dirty="0" smtClean="0"/>
              <a:t> subsets, each approximately equal size</a:t>
            </a:r>
          </a:p>
          <a:p>
            <a:pPr lvl="1" eaLnBrk="1" hangingPunct="1">
              <a:lnSpc>
                <a:spcPct val="80000"/>
              </a:lnSpc>
            </a:pPr>
            <a:r>
              <a:rPr lang="en-US" sz="2400" dirty="0" smtClean="0"/>
              <a:t>At </a:t>
            </a:r>
            <a:r>
              <a:rPr lang="en-US" sz="2400" i="1" dirty="0" err="1" smtClean="0"/>
              <a:t>i</a:t>
            </a:r>
            <a:r>
              <a:rPr lang="en-US" sz="2400" dirty="0" err="1" smtClean="0"/>
              <a:t>-th</a:t>
            </a:r>
            <a:r>
              <a:rPr lang="en-US" sz="2400" dirty="0" smtClean="0"/>
              <a:t> iteration, use D</a:t>
            </a:r>
            <a:r>
              <a:rPr lang="en-US" sz="2400" baseline="-25000" dirty="0" smtClean="0"/>
              <a:t>i </a:t>
            </a:r>
            <a:r>
              <a:rPr lang="en-US" sz="2400" dirty="0" smtClean="0"/>
              <a:t>as test set and others as training set</a:t>
            </a:r>
          </a:p>
          <a:p>
            <a:pPr lvl="1" eaLnBrk="1" hangingPunct="1">
              <a:lnSpc>
                <a:spcPct val="80000"/>
              </a:lnSpc>
            </a:pPr>
            <a:r>
              <a:rPr lang="en-US" sz="2400" u="sng" dirty="0" smtClean="0"/>
              <a:t>Leave-one-out</a:t>
            </a:r>
            <a:r>
              <a:rPr lang="en-US" sz="2400" dirty="0" smtClean="0"/>
              <a:t>: </a:t>
            </a:r>
            <a:r>
              <a:rPr lang="en-US" sz="2400" i="1" dirty="0" smtClean="0"/>
              <a:t>k</a:t>
            </a:r>
            <a:r>
              <a:rPr lang="en-US" sz="2400" dirty="0" smtClean="0"/>
              <a:t> folds where </a:t>
            </a:r>
            <a:r>
              <a:rPr lang="en-US" sz="2400" i="1" dirty="0" smtClean="0"/>
              <a:t>k</a:t>
            </a:r>
            <a:r>
              <a:rPr lang="en-US" sz="2400" dirty="0" smtClean="0"/>
              <a:t> = # of </a:t>
            </a:r>
            <a:r>
              <a:rPr lang="en-US" sz="2400" dirty="0" err="1" smtClean="0"/>
              <a:t>tuples</a:t>
            </a:r>
            <a:r>
              <a:rPr lang="en-US" sz="2400" dirty="0" smtClean="0"/>
              <a:t>, for small sized data</a:t>
            </a:r>
          </a:p>
          <a:p>
            <a:pPr lvl="1" eaLnBrk="1" hangingPunct="1">
              <a:lnSpc>
                <a:spcPct val="80000"/>
              </a:lnSpc>
            </a:pPr>
            <a:r>
              <a:rPr lang="en-US" sz="2400" b="1" u="sng" dirty="0" smtClean="0"/>
              <a:t>*Stratified cross-validation*</a:t>
            </a:r>
            <a:r>
              <a:rPr lang="en-US" sz="2400" dirty="0" smtClean="0"/>
              <a:t>: folds are stratified so that class dist. in each fold is approx. the same as that in the initial data</a:t>
            </a:r>
          </a:p>
        </p:txBody>
      </p:sp>
      <p:sp>
        <p:nvSpPr>
          <p:cNvPr id="56324"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11FBAF57-23A4-4EDC-8719-242E9908B274}" type="slidenum">
              <a:rPr lang="en-US" sz="1200" b="1">
                <a:latin typeface="Calibri" pitchFamily="34" charset="0"/>
              </a:rPr>
              <a:pPr algn="r"/>
              <a:t>141</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0" y="228600"/>
            <a:ext cx="9144000" cy="685800"/>
          </a:xfrm>
          <a:noFill/>
        </p:spPr>
        <p:txBody>
          <a:bodyPr lIns="92075" tIns="46038" rIns="92075" bIns="46038"/>
          <a:lstStyle/>
          <a:p>
            <a:pPr eaLnBrk="1" hangingPunct="1"/>
            <a:r>
              <a:rPr lang="en-US" smtClean="0"/>
              <a:t>Evaluating Classifier Accuracy: Bootstrap</a:t>
            </a:r>
            <a:endParaRPr lang="en-US" sz="4000" smtClean="0"/>
          </a:p>
        </p:txBody>
      </p:sp>
      <p:sp>
        <p:nvSpPr>
          <p:cNvPr id="57347" name="Rectangle 3"/>
          <p:cNvSpPr>
            <a:spLocks noGrp="1" noChangeArrowheads="1"/>
          </p:cNvSpPr>
          <p:nvPr>
            <p:ph type="body" sz="half" idx="1"/>
          </p:nvPr>
        </p:nvSpPr>
        <p:spPr>
          <a:xfrm>
            <a:off x="304800" y="1371600"/>
            <a:ext cx="8610600" cy="5105400"/>
          </a:xfrm>
          <a:noFill/>
        </p:spPr>
        <p:txBody>
          <a:bodyPr lIns="92075" tIns="46038" rIns="92075" bIns="46038"/>
          <a:lstStyle/>
          <a:p>
            <a:pPr eaLnBrk="1" hangingPunct="1">
              <a:lnSpc>
                <a:spcPct val="110000"/>
              </a:lnSpc>
            </a:pPr>
            <a:r>
              <a:rPr lang="en-US" sz="2000" b="1" smtClean="0"/>
              <a:t>Bootstrap</a:t>
            </a:r>
          </a:p>
          <a:p>
            <a:pPr lvl="1" eaLnBrk="1" hangingPunct="1">
              <a:lnSpc>
                <a:spcPct val="110000"/>
              </a:lnSpc>
            </a:pPr>
            <a:r>
              <a:rPr lang="en-US" sz="2000" smtClean="0"/>
              <a:t>Works well with small data sets</a:t>
            </a:r>
          </a:p>
          <a:p>
            <a:pPr lvl="1" eaLnBrk="1" hangingPunct="1">
              <a:lnSpc>
                <a:spcPct val="110000"/>
              </a:lnSpc>
            </a:pPr>
            <a:r>
              <a:rPr lang="en-US" sz="2000" smtClean="0"/>
              <a:t>Samples the given training tuples uniformly </a:t>
            </a:r>
            <a:r>
              <a:rPr lang="en-US" sz="2000" i="1" smtClean="0"/>
              <a:t>with replacement</a:t>
            </a:r>
          </a:p>
          <a:p>
            <a:pPr lvl="2" eaLnBrk="1" hangingPunct="1">
              <a:lnSpc>
                <a:spcPct val="110000"/>
              </a:lnSpc>
            </a:pPr>
            <a:r>
              <a:rPr lang="en-US" sz="2000" smtClean="0"/>
              <a:t>i.e., each time a tuple is selected, it is equally likely to be selected again and re-added to the training set</a:t>
            </a:r>
          </a:p>
          <a:p>
            <a:pPr eaLnBrk="1" hangingPunct="1">
              <a:lnSpc>
                <a:spcPct val="110000"/>
              </a:lnSpc>
            </a:pPr>
            <a:r>
              <a:rPr lang="en-US" sz="2000" smtClean="0"/>
              <a:t>Several bootstrap methods, and a common one is </a:t>
            </a:r>
            <a:r>
              <a:rPr lang="en-US" sz="2000" b="1" smtClean="0"/>
              <a:t>.632 boostrap</a:t>
            </a:r>
          </a:p>
          <a:p>
            <a:pPr lvl="1" eaLnBrk="1" hangingPunct="1">
              <a:lnSpc>
                <a:spcPct val="110000"/>
              </a:lnSpc>
            </a:pPr>
            <a:r>
              <a:rPr lang="en-US" sz="2000" smtClean="0"/>
              <a:t>A data set with </a:t>
            </a:r>
            <a:r>
              <a:rPr lang="en-US" sz="2000" i="1" smtClean="0"/>
              <a:t>d</a:t>
            </a:r>
            <a:r>
              <a:rPr lang="en-US" sz="2000" smtClean="0"/>
              <a:t> tuples is sampled </a:t>
            </a:r>
            <a:r>
              <a:rPr lang="en-US" sz="2000" i="1" smtClean="0"/>
              <a:t>d</a:t>
            </a:r>
            <a:r>
              <a:rPr lang="en-US" sz="2000" smtClean="0"/>
              <a:t> times, with replacement, resulting in a training set of </a:t>
            </a:r>
            <a:r>
              <a:rPr lang="en-US" sz="2000" i="1" smtClean="0"/>
              <a:t>d</a:t>
            </a:r>
            <a:r>
              <a:rPr lang="en-US" sz="2000" smtClean="0"/>
              <a:t> samples.  The data tuples that did not make it into the training set end up forming the test set.  About 63.2% of the original data end up in the bootstrap, and the remaining 36.8% form the test set (since (1 – 1/d)</a:t>
            </a:r>
            <a:r>
              <a:rPr lang="en-US" sz="2000" baseline="30000" smtClean="0"/>
              <a:t>d</a:t>
            </a:r>
            <a:r>
              <a:rPr lang="en-US" sz="2000" smtClean="0"/>
              <a:t> ≈ e</a:t>
            </a:r>
            <a:r>
              <a:rPr lang="en-US" sz="2000" baseline="30000" smtClean="0"/>
              <a:t>-1</a:t>
            </a:r>
            <a:r>
              <a:rPr lang="en-US" sz="2000" smtClean="0"/>
              <a:t> = 0.368)</a:t>
            </a:r>
          </a:p>
          <a:p>
            <a:pPr lvl="1" eaLnBrk="1" hangingPunct="1">
              <a:lnSpc>
                <a:spcPct val="110000"/>
              </a:lnSpc>
            </a:pPr>
            <a:r>
              <a:rPr lang="en-US" sz="2000" smtClean="0"/>
              <a:t>Repeat the sampling procedure </a:t>
            </a:r>
            <a:r>
              <a:rPr lang="en-US" sz="2000" i="1" smtClean="0"/>
              <a:t>k</a:t>
            </a:r>
            <a:r>
              <a:rPr lang="en-US" sz="2000" smtClean="0"/>
              <a:t> times, overall accuracy of the model:</a:t>
            </a:r>
          </a:p>
          <a:p>
            <a:pPr lvl="1" eaLnBrk="1" hangingPunct="1">
              <a:lnSpc>
                <a:spcPct val="110000"/>
              </a:lnSpc>
            </a:pPr>
            <a:endParaRPr lang="en-US" sz="2000" smtClean="0"/>
          </a:p>
        </p:txBody>
      </p:sp>
      <p:sp>
        <p:nvSpPr>
          <p:cNvPr id="57348"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8B148AC3-7886-4C88-8FFB-00E744DD6503}" type="slidenum">
              <a:rPr lang="en-US" sz="1200" b="1">
                <a:latin typeface="Calibri" pitchFamily="34" charset="0"/>
              </a:rPr>
              <a:pPr algn="r"/>
              <a:t>142</a:t>
            </a:fld>
            <a:endParaRPr lang="en-US" sz="1200" b="1">
              <a:latin typeface="Calibri" pitchFamily="34" charset="0"/>
            </a:endParaRPr>
          </a:p>
        </p:txBody>
      </p:sp>
      <p:pic>
        <p:nvPicPr>
          <p:cNvPr id="57349" name="Picture 6"/>
          <p:cNvPicPr>
            <a:picLocks noChangeAspect="1" noChangeArrowheads="1"/>
          </p:cNvPicPr>
          <p:nvPr/>
        </p:nvPicPr>
        <p:blipFill>
          <a:blip r:embed="rId3"/>
          <a:srcRect/>
          <a:stretch>
            <a:fillRect/>
          </a:stretch>
        </p:blipFill>
        <p:spPr bwMode="auto">
          <a:xfrm>
            <a:off x="1524000" y="5867400"/>
            <a:ext cx="7162800" cy="7064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0"/>
            <a:ext cx="9144000" cy="1143000"/>
          </a:xfrm>
        </p:spPr>
        <p:txBody>
          <a:bodyPr/>
          <a:lstStyle/>
          <a:p>
            <a:r>
              <a:rPr lang="en-US" smtClean="0"/>
              <a:t>Estimating Confidence Intervals:</a:t>
            </a:r>
            <a:br>
              <a:rPr lang="en-US" smtClean="0"/>
            </a:br>
            <a:r>
              <a:rPr lang="en-US" smtClean="0"/>
              <a:t>Classifier Models M</a:t>
            </a:r>
            <a:r>
              <a:rPr lang="en-US" baseline="-25000" smtClean="0"/>
              <a:t>1</a:t>
            </a:r>
            <a:r>
              <a:rPr lang="en-US" smtClean="0"/>
              <a:t> vs. M</a:t>
            </a:r>
            <a:r>
              <a:rPr lang="en-US" baseline="-25000" smtClean="0"/>
              <a:t>2</a:t>
            </a:r>
          </a:p>
        </p:txBody>
      </p:sp>
      <p:sp>
        <p:nvSpPr>
          <p:cNvPr id="58371" name="Rectangle 3"/>
          <p:cNvSpPr>
            <a:spLocks noGrp="1" noChangeArrowheads="1"/>
          </p:cNvSpPr>
          <p:nvPr>
            <p:ph type="body" idx="1"/>
          </p:nvPr>
        </p:nvSpPr>
        <p:spPr/>
        <p:txBody>
          <a:bodyPr/>
          <a:lstStyle/>
          <a:p>
            <a:pPr>
              <a:lnSpc>
                <a:spcPct val="150000"/>
              </a:lnSpc>
            </a:pPr>
            <a:r>
              <a:rPr lang="en-US" sz="2400" smtClean="0"/>
              <a:t>Suppose we have 2 classifiers, M</a:t>
            </a:r>
            <a:r>
              <a:rPr lang="en-US" sz="2400" baseline="-25000" smtClean="0"/>
              <a:t>1</a:t>
            </a:r>
            <a:r>
              <a:rPr lang="en-US" sz="2400" smtClean="0"/>
              <a:t> and M</a:t>
            </a:r>
            <a:r>
              <a:rPr lang="en-US" sz="2400" baseline="-25000" smtClean="0"/>
              <a:t>2</a:t>
            </a:r>
            <a:r>
              <a:rPr lang="en-US" sz="2400" smtClean="0"/>
              <a:t>, which one is better?</a:t>
            </a:r>
          </a:p>
          <a:p>
            <a:pPr>
              <a:lnSpc>
                <a:spcPct val="150000"/>
              </a:lnSpc>
            </a:pPr>
            <a:r>
              <a:rPr lang="en-US" sz="2400" smtClean="0"/>
              <a:t>Use 10-fold cross-validation to obtain                     and</a:t>
            </a:r>
          </a:p>
          <a:p>
            <a:pPr>
              <a:lnSpc>
                <a:spcPct val="150000"/>
              </a:lnSpc>
            </a:pPr>
            <a:r>
              <a:rPr lang="en-US" sz="2400" smtClean="0"/>
              <a:t>These mean error rates are just </a:t>
            </a:r>
            <a:r>
              <a:rPr lang="en-US" sz="2400" i="1" smtClean="0"/>
              <a:t>estimates</a:t>
            </a:r>
            <a:r>
              <a:rPr lang="en-US" sz="2400" smtClean="0"/>
              <a:t> of error on the true population of </a:t>
            </a:r>
            <a:r>
              <a:rPr lang="en-US" sz="2400" i="1" smtClean="0"/>
              <a:t>future</a:t>
            </a:r>
            <a:r>
              <a:rPr lang="en-US" sz="2400" smtClean="0"/>
              <a:t> data cases</a:t>
            </a:r>
          </a:p>
          <a:p>
            <a:pPr>
              <a:lnSpc>
                <a:spcPct val="150000"/>
              </a:lnSpc>
            </a:pPr>
            <a:r>
              <a:rPr lang="en-US" sz="2400" smtClean="0"/>
              <a:t>What if the difference between the 2 error rates is just attributed to </a:t>
            </a:r>
            <a:r>
              <a:rPr lang="en-US" sz="2400" i="1" smtClean="0"/>
              <a:t>chance</a:t>
            </a:r>
            <a:r>
              <a:rPr lang="en-US" sz="2400" smtClean="0"/>
              <a:t>?</a:t>
            </a:r>
          </a:p>
          <a:p>
            <a:pPr lvl="1">
              <a:lnSpc>
                <a:spcPct val="150000"/>
              </a:lnSpc>
            </a:pPr>
            <a:r>
              <a:rPr lang="en-US" sz="2400" smtClean="0"/>
              <a:t>Use a </a:t>
            </a:r>
            <a:r>
              <a:rPr lang="en-US" sz="2400" b="1" smtClean="0"/>
              <a:t>test of statistical significance</a:t>
            </a:r>
          </a:p>
          <a:p>
            <a:pPr lvl="1">
              <a:lnSpc>
                <a:spcPct val="150000"/>
              </a:lnSpc>
            </a:pPr>
            <a:r>
              <a:rPr lang="en-US" sz="2400" smtClean="0"/>
              <a:t>Obtain </a:t>
            </a:r>
            <a:r>
              <a:rPr lang="en-US" sz="2400" b="1" smtClean="0"/>
              <a:t>confidence limits</a:t>
            </a:r>
            <a:r>
              <a:rPr lang="en-US" sz="2400" smtClean="0"/>
              <a:t> for our error estimates</a:t>
            </a:r>
          </a:p>
        </p:txBody>
      </p:sp>
      <p:pic>
        <p:nvPicPr>
          <p:cNvPr id="58372" name="Picture 5" descr="8mean-err-m2"/>
          <p:cNvPicPr>
            <a:picLocks noChangeAspect="1" noChangeArrowheads="1"/>
          </p:cNvPicPr>
          <p:nvPr/>
        </p:nvPicPr>
        <p:blipFill>
          <a:blip r:embed="rId3"/>
          <a:srcRect/>
          <a:stretch>
            <a:fillRect/>
          </a:stretch>
        </p:blipFill>
        <p:spPr bwMode="auto">
          <a:xfrm>
            <a:off x="7391400" y="2209800"/>
            <a:ext cx="1295400" cy="371475"/>
          </a:xfrm>
          <a:prstGeom prst="rect">
            <a:avLst/>
          </a:prstGeom>
          <a:noFill/>
          <a:ln w="9525">
            <a:noFill/>
            <a:miter lim="800000"/>
            <a:headEnd/>
            <a:tailEnd/>
          </a:ln>
        </p:spPr>
      </p:pic>
      <p:pic>
        <p:nvPicPr>
          <p:cNvPr id="58373" name="Picture 6" descr="8mean-err-m1"/>
          <p:cNvPicPr>
            <a:picLocks noChangeAspect="1" noChangeArrowheads="1"/>
          </p:cNvPicPr>
          <p:nvPr/>
        </p:nvPicPr>
        <p:blipFill>
          <a:blip r:embed="rId4"/>
          <a:srcRect/>
          <a:stretch>
            <a:fillRect/>
          </a:stretch>
        </p:blipFill>
        <p:spPr bwMode="auto">
          <a:xfrm>
            <a:off x="5410200" y="2133600"/>
            <a:ext cx="1295400" cy="474663"/>
          </a:xfrm>
          <a:prstGeom prst="rect">
            <a:avLst/>
          </a:prstGeom>
          <a:noFill/>
          <a:ln w="9525">
            <a:noFill/>
            <a:miter lim="800000"/>
            <a:headEnd/>
            <a:tailEnd/>
          </a:ln>
        </p:spPr>
      </p:pic>
      <p:sp>
        <p:nvSpPr>
          <p:cNvPr id="58374"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1531A008-B3FA-4A05-BE30-3D456289A2B3}" type="slidenum">
              <a:rPr lang="en-US" sz="1200" b="1">
                <a:latin typeface="Calibri" pitchFamily="34" charset="0"/>
              </a:rPr>
              <a:pPr algn="r"/>
              <a:t>143</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0"/>
            <a:ext cx="9144000" cy="1066800"/>
          </a:xfrm>
        </p:spPr>
        <p:txBody>
          <a:bodyPr/>
          <a:lstStyle/>
          <a:p>
            <a:r>
              <a:rPr lang="en-US" smtClean="0"/>
              <a:t>Estimating Confidence Intervals:</a:t>
            </a:r>
            <a:br>
              <a:rPr lang="en-US" smtClean="0"/>
            </a:br>
            <a:r>
              <a:rPr lang="en-US" smtClean="0"/>
              <a:t>Null Hypothesis</a:t>
            </a:r>
          </a:p>
        </p:txBody>
      </p:sp>
      <p:sp>
        <p:nvSpPr>
          <p:cNvPr id="59395" name="Rectangle 3"/>
          <p:cNvSpPr>
            <a:spLocks noGrp="1" noChangeArrowheads="1"/>
          </p:cNvSpPr>
          <p:nvPr>
            <p:ph type="body" idx="1"/>
          </p:nvPr>
        </p:nvSpPr>
        <p:spPr/>
        <p:txBody>
          <a:bodyPr/>
          <a:lstStyle/>
          <a:p>
            <a:pPr>
              <a:lnSpc>
                <a:spcPct val="130000"/>
              </a:lnSpc>
            </a:pPr>
            <a:r>
              <a:rPr lang="en-US" sz="2400" smtClean="0"/>
              <a:t>Perform 10-fold cross-validation</a:t>
            </a:r>
          </a:p>
          <a:p>
            <a:pPr>
              <a:lnSpc>
                <a:spcPct val="130000"/>
              </a:lnSpc>
            </a:pPr>
            <a:r>
              <a:rPr lang="en-US" sz="2400" smtClean="0"/>
              <a:t>Assume samples follow a </a:t>
            </a:r>
            <a:r>
              <a:rPr lang="en-US" sz="2400" b="1" smtClean="0"/>
              <a:t>t distribution</a:t>
            </a:r>
            <a:r>
              <a:rPr lang="en-US" sz="2400" smtClean="0"/>
              <a:t> with </a:t>
            </a:r>
            <a:r>
              <a:rPr lang="en-US" sz="2400" i="1" smtClean="0"/>
              <a:t>k–1</a:t>
            </a:r>
            <a:r>
              <a:rPr lang="en-US" sz="2400" smtClean="0"/>
              <a:t> </a:t>
            </a:r>
            <a:r>
              <a:rPr lang="en-US" sz="2400" b="1" smtClean="0"/>
              <a:t>degrees of freedom </a:t>
            </a:r>
            <a:r>
              <a:rPr lang="en-US" sz="2400" smtClean="0"/>
              <a:t>(here, </a:t>
            </a:r>
            <a:r>
              <a:rPr lang="en-US" sz="2400" i="1" smtClean="0"/>
              <a:t>k=10</a:t>
            </a:r>
            <a:r>
              <a:rPr lang="en-US" sz="2400" smtClean="0"/>
              <a:t>)</a:t>
            </a:r>
          </a:p>
          <a:p>
            <a:pPr>
              <a:lnSpc>
                <a:spcPct val="130000"/>
              </a:lnSpc>
            </a:pPr>
            <a:r>
              <a:rPr lang="en-US" sz="2400" smtClean="0"/>
              <a:t>Use </a:t>
            </a:r>
            <a:r>
              <a:rPr lang="en-US" sz="2400" b="1" smtClean="0"/>
              <a:t>t-test</a:t>
            </a:r>
            <a:r>
              <a:rPr lang="en-US" sz="2400" smtClean="0"/>
              <a:t> (or </a:t>
            </a:r>
            <a:r>
              <a:rPr lang="en-US" sz="2400" b="1" smtClean="0"/>
              <a:t>Student’s t-test</a:t>
            </a:r>
            <a:r>
              <a:rPr lang="en-US" sz="2400" smtClean="0"/>
              <a:t>)</a:t>
            </a:r>
            <a:endParaRPr lang="en-US" sz="2400" b="1" smtClean="0"/>
          </a:p>
          <a:p>
            <a:pPr>
              <a:lnSpc>
                <a:spcPct val="130000"/>
              </a:lnSpc>
            </a:pPr>
            <a:r>
              <a:rPr lang="en-US" sz="2400" b="1" smtClean="0"/>
              <a:t>Null Hypothesis</a:t>
            </a:r>
            <a:r>
              <a:rPr lang="en-US" sz="2400" smtClean="0"/>
              <a:t>: M</a:t>
            </a:r>
            <a:r>
              <a:rPr lang="en-US" sz="2400" baseline="-25000" smtClean="0"/>
              <a:t>1</a:t>
            </a:r>
            <a:r>
              <a:rPr lang="en-US" sz="2400" smtClean="0"/>
              <a:t> &amp; M</a:t>
            </a:r>
            <a:r>
              <a:rPr lang="en-US" sz="2400" baseline="-25000" smtClean="0"/>
              <a:t>2</a:t>
            </a:r>
            <a:r>
              <a:rPr lang="en-US" sz="2400" smtClean="0"/>
              <a:t> are the same</a:t>
            </a:r>
          </a:p>
          <a:p>
            <a:pPr>
              <a:lnSpc>
                <a:spcPct val="130000"/>
              </a:lnSpc>
            </a:pPr>
            <a:r>
              <a:rPr lang="en-US" sz="2400" smtClean="0"/>
              <a:t>If we can </a:t>
            </a:r>
            <a:r>
              <a:rPr lang="en-US" sz="2400" b="1" smtClean="0"/>
              <a:t>reject</a:t>
            </a:r>
            <a:r>
              <a:rPr lang="en-US" sz="2400" smtClean="0"/>
              <a:t> null hypothesis, then </a:t>
            </a:r>
          </a:p>
          <a:p>
            <a:pPr lvl="1">
              <a:lnSpc>
                <a:spcPct val="130000"/>
              </a:lnSpc>
            </a:pPr>
            <a:r>
              <a:rPr lang="en-US" sz="2400" smtClean="0"/>
              <a:t>we conclude that the difference between M</a:t>
            </a:r>
            <a:r>
              <a:rPr lang="en-US" sz="2400" baseline="-25000" smtClean="0"/>
              <a:t>1</a:t>
            </a:r>
            <a:r>
              <a:rPr lang="en-US" sz="2400" smtClean="0"/>
              <a:t> &amp; M</a:t>
            </a:r>
            <a:r>
              <a:rPr lang="en-US" sz="2400" baseline="-25000" smtClean="0"/>
              <a:t>2</a:t>
            </a:r>
            <a:r>
              <a:rPr lang="en-US" sz="2400" smtClean="0"/>
              <a:t> is </a:t>
            </a:r>
            <a:r>
              <a:rPr lang="en-US" sz="2400" b="1" smtClean="0"/>
              <a:t>statistically significant</a:t>
            </a:r>
          </a:p>
          <a:p>
            <a:pPr lvl="1">
              <a:lnSpc>
                <a:spcPct val="130000"/>
              </a:lnSpc>
            </a:pPr>
            <a:r>
              <a:rPr lang="en-US" sz="2400" smtClean="0"/>
              <a:t>Chose model with lower error rate</a:t>
            </a:r>
          </a:p>
        </p:txBody>
      </p:sp>
      <p:sp>
        <p:nvSpPr>
          <p:cNvPr id="59396"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0A534AEF-F0A8-4756-B00F-824C738921AC}" type="slidenum">
              <a:rPr lang="en-US" sz="1200" b="1">
                <a:latin typeface="Calibri" pitchFamily="34" charset="0"/>
              </a:rPr>
              <a:pPr algn="r"/>
              <a:t>144</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0" y="304800"/>
            <a:ext cx="9144000" cy="533400"/>
          </a:xfrm>
        </p:spPr>
        <p:txBody>
          <a:bodyPr/>
          <a:lstStyle/>
          <a:p>
            <a:r>
              <a:rPr lang="en-US" sz="3200" smtClean="0"/>
              <a:t>Estimating Confidence Intervals: t-test</a:t>
            </a:r>
          </a:p>
        </p:txBody>
      </p:sp>
      <p:sp>
        <p:nvSpPr>
          <p:cNvPr id="60419" name="Rectangle 3"/>
          <p:cNvSpPr>
            <a:spLocks noGrp="1" noChangeArrowheads="1"/>
          </p:cNvSpPr>
          <p:nvPr>
            <p:ph type="body" idx="1"/>
          </p:nvPr>
        </p:nvSpPr>
        <p:spPr/>
        <p:txBody>
          <a:bodyPr/>
          <a:lstStyle/>
          <a:p>
            <a:r>
              <a:rPr lang="en-US" smtClean="0"/>
              <a:t>If only 1 test set available: </a:t>
            </a:r>
            <a:r>
              <a:rPr lang="en-US" b="1" smtClean="0"/>
              <a:t>pairwise comparison</a:t>
            </a:r>
          </a:p>
          <a:p>
            <a:pPr lvl="1"/>
            <a:r>
              <a:rPr lang="en-US" sz="2400" smtClean="0"/>
              <a:t>For i</a:t>
            </a:r>
            <a:r>
              <a:rPr lang="en-US" sz="2400" baseline="30000" smtClean="0"/>
              <a:t>th</a:t>
            </a:r>
            <a:r>
              <a:rPr lang="en-US" sz="2400" smtClean="0"/>
              <a:t> round of 10-fold cross-validation, the same cross partitioning is used to obtain </a:t>
            </a:r>
            <a:r>
              <a:rPr lang="en-US" sz="2400" i="1" smtClean="0"/>
              <a:t>err(M</a:t>
            </a:r>
            <a:r>
              <a:rPr lang="en-US" sz="2400" i="1" baseline="-25000" smtClean="0"/>
              <a:t>1</a:t>
            </a:r>
            <a:r>
              <a:rPr lang="en-US" sz="2400" i="1" smtClean="0"/>
              <a:t>)</a:t>
            </a:r>
            <a:r>
              <a:rPr lang="en-US" sz="2400" i="1" baseline="-25000" smtClean="0"/>
              <a:t>i</a:t>
            </a:r>
            <a:r>
              <a:rPr lang="en-US" sz="2400" i="1" smtClean="0"/>
              <a:t> </a:t>
            </a:r>
            <a:r>
              <a:rPr lang="en-US" sz="2400" smtClean="0"/>
              <a:t>and </a:t>
            </a:r>
            <a:r>
              <a:rPr lang="en-US" sz="2400" i="1" smtClean="0"/>
              <a:t>err(M</a:t>
            </a:r>
            <a:r>
              <a:rPr lang="en-US" sz="2400" i="1" baseline="-25000" smtClean="0"/>
              <a:t>2</a:t>
            </a:r>
            <a:r>
              <a:rPr lang="en-US" sz="2400" i="1" smtClean="0"/>
              <a:t>)</a:t>
            </a:r>
            <a:r>
              <a:rPr lang="en-US" sz="2400" i="1" baseline="-25000" smtClean="0"/>
              <a:t>i</a:t>
            </a:r>
          </a:p>
          <a:p>
            <a:pPr lvl="1"/>
            <a:r>
              <a:rPr lang="en-US" sz="2400" smtClean="0"/>
              <a:t>Average over 10 rounds to get </a:t>
            </a:r>
            <a:endParaRPr lang="en-US" sz="2400" smtClean="0">
              <a:solidFill>
                <a:schemeClr val="hlink"/>
              </a:solidFill>
            </a:endParaRPr>
          </a:p>
          <a:p>
            <a:pPr lvl="1"/>
            <a:r>
              <a:rPr lang="en-US" b="1" smtClean="0"/>
              <a:t>t-test</a:t>
            </a:r>
            <a:r>
              <a:rPr lang="en-US" smtClean="0"/>
              <a:t> computes </a:t>
            </a:r>
            <a:r>
              <a:rPr lang="en-US" b="1" smtClean="0"/>
              <a:t>t-statistic</a:t>
            </a:r>
            <a:r>
              <a:rPr lang="en-US" smtClean="0"/>
              <a:t> with </a:t>
            </a:r>
            <a:r>
              <a:rPr lang="en-US" i="1" smtClean="0"/>
              <a:t>k-1</a:t>
            </a:r>
            <a:r>
              <a:rPr lang="en-US" smtClean="0"/>
              <a:t> </a:t>
            </a:r>
            <a:r>
              <a:rPr lang="en-US" b="1" smtClean="0"/>
              <a:t>degrees of freedom:</a:t>
            </a:r>
          </a:p>
          <a:p>
            <a:pPr lvl="1"/>
            <a:endParaRPr lang="en-US" b="1" smtClean="0"/>
          </a:p>
          <a:p>
            <a:endParaRPr lang="en-US" smtClean="0"/>
          </a:p>
          <a:p>
            <a:r>
              <a:rPr lang="en-US" smtClean="0"/>
              <a:t>If two test sets available: use </a:t>
            </a:r>
            <a:r>
              <a:rPr lang="en-US" b="1" smtClean="0"/>
              <a:t>non-paired t-test</a:t>
            </a:r>
            <a:endParaRPr lang="en-US" smtClean="0"/>
          </a:p>
        </p:txBody>
      </p:sp>
      <p:pic>
        <p:nvPicPr>
          <p:cNvPr id="60420" name="Picture 5" descr="t-test-non-paired"/>
          <p:cNvPicPr>
            <a:picLocks noChangeAspect="1" noChangeArrowheads="1"/>
          </p:cNvPicPr>
          <p:nvPr/>
        </p:nvPicPr>
        <p:blipFill>
          <a:blip r:embed="rId3"/>
          <a:srcRect/>
          <a:stretch>
            <a:fillRect/>
          </a:stretch>
        </p:blipFill>
        <p:spPr bwMode="auto">
          <a:xfrm>
            <a:off x="2895600" y="5562600"/>
            <a:ext cx="4114800" cy="760413"/>
          </a:xfrm>
          <a:prstGeom prst="rect">
            <a:avLst/>
          </a:prstGeom>
          <a:noFill/>
          <a:ln w="9525">
            <a:noFill/>
            <a:miter lim="800000"/>
            <a:headEnd/>
            <a:tailEnd/>
          </a:ln>
        </p:spPr>
      </p:pic>
      <p:sp>
        <p:nvSpPr>
          <p:cNvPr id="60421" name="Text Box 8"/>
          <p:cNvSpPr txBox="1">
            <a:spLocks noChangeArrowheads="1"/>
          </p:cNvSpPr>
          <p:nvPr/>
        </p:nvSpPr>
        <p:spPr bwMode="auto">
          <a:xfrm>
            <a:off x="6705600" y="3733800"/>
            <a:ext cx="804863" cy="366713"/>
          </a:xfrm>
          <a:prstGeom prst="rect">
            <a:avLst/>
          </a:prstGeom>
          <a:noFill/>
          <a:ln w="9525">
            <a:noFill/>
            <a:miter lim="800000"/>
            <a:headEnd/>
            <a:tailEnd/>
          </a:ln>
        </p:spPr>
        <p:txBody>
          <a:bodyPr wrap="none">
            <a:spAutoFit/>
          </a:bodyPr>
          <a:lstStyle/>
          <a:p>
            <a:r>
              <a:rPr lang="en-US"/>
              <a:t>where</a:t>
            </a:r>
          </a:p>
        </p:txBody>
      </p:sp>
      <p:pic>
        <p:nvPicPr>
          <p:cNvPr id="60422" name="Picture 9" descr="8mean-err-m1"/>
          <p:cNvPicPr>
            <a:picLocks noChangeAspect="1" noChangeArrowheads="1"/>
          </p:cNvPicPr>
          <p:nvPr/>
        </p:nvPicPr>
        <p:blipFill>
          <a:blip r:embed="rId4"/>
          <a:srcRect/>
          <a:stretch>
            <a:fillRect/>
          </a:stretch>
        </p:blipFill>
        <p:spPr bwMode="auto">
          <a:xfrm>
            <a:off x="5105400" y="2678113"/>
            <a:ext cx="1219200" cy="446087"/>
          </a:xfrm>
          <a:prstGeom prst="rect">
            <a:avLst/>
          </a:prstGeom>
          <a:noFill/>
          <a:ln w="9525">
            <a:noFill/>
            <a:miter lim="800000"/>
            <a:headEnd/>
            <a:tailEnd/>
          </a:ln>
        </p:spPr>
      </p:pic>
      <p:pic>
        <p:nvPicPr>
          <p:cNvPr id="60423" name="Picture 10" descr="8mean-err-m2"/>
          <p:cNvPicPr>
            <a:picLocks noChangeAspect="1" noChangeArrowheads="1"/>
          </p:cNvPicPr>
          <p:nvPr/>
        </p:nvPicPr>
        <p:blipFill>
          <a:blip r:embed="rId5"/>
          <a:srcRect/>
          <a:stretch>
            <a:fillRect/>
          </a:stretch>
        </p:blipFill>
        <p:spPr bwMode="auto">
          <a:xfrm>
            <a:off x="7162800" y="2752725"/>
            <a:ext cx="1295400" cy="371475"/>
          </a:xfrm>
          <a:prstGeom prst="rect">
            <a:avLst/>
          </a:prstGeom>
          <a:noFill/>
          <a:ln w="9525">
            <a:noFill/>
            <a:miter lim="800000"/>
            <a:headEnd/>
            <a:tailEnd/>
          </a:ln>
        </p:spPr>
      </p:pic>
      <p:sp>
        <p:nvSpPr>
          <p:cNvPr id="60424" name="Text Box 11"/>
          <p:cNvSpPr txBox="1">
            <a:spLocks noChangeArrowheads="1"/>
          </p:cNvSpPr>
          <p:nvPr/>
        </p:nvSpPr>
        <p:spPr bwMode="auto">
          <a:xfrm>
            <a:off x="6400800" y="2727325"/>
            <a:ext cx="598488" cy="396875"/>
          </a:xfrm>
          <a:prstGeom prst="rect">
            <a:avLst/>
          </a:prstGeom>
          <a:noFill/>
          <a:ln w="9525">
            <a:noFill/>
            <a:miter lim="800000"/>
            <a:headEnd/>
            <a:tailEnd/>
          </a:ln>
        </p:spPr>
        <p:txBody>
          <a:bodyPr>
            <a:spAutoFit/>
          </a:bodyPr>
          <a:lstStyle/>
          <a:p>
            <a:r>
              <a:rPr lang="en-US" sz="2000"/>
              <a:t>and</a:t>
            </a:r>
          </a:p>
        </p:txBody>
      </p:sp>
      <p:sp>
        <p:nvSpPr>
          <p:cNvPr id="60425" name="Text Box 12"/>
          <p:cNvSpPr txBox="1">
            <a:spLocks noChangeArrowheads="1"/>
          </p:cNvSpPr>
          <p:nvPr/>
        </p:nvSpPr>
        <p:spPr bwMode="auto">
          <a:xfrm>
            <a:off x="1828800" y="5638800"/>
            <a:ext cx="804863" cy="366713"/>
          </a:xfrm>
          <a:prstGeom prst="rect">
            <a:avLst/>
          </a:prstGeom>
          <a:noFill/>
          <a:ln w="9525">
            <a:noFill/>
            <a:miter lim="800000"/>
            <a:headEnd/>
            <a:tailEnd/>
          </a:ln>
        </p:spPr>
        <p:txBody>
          <a:bodyPr>
            <a:spAutoFit/>
          </a:bodyPr>
          <a:lstStyle/>
          <a:p>
            <a:r>
              <a:rPr lang="en-US"/>
              <a:t>where</a:t>
            </a:r>
          </a:p>
        </p:txBody>
      </p:sp>
      <p:sp>
        <p:nvSpPr>
          <p:cNvPr id="60426" name="Text Box 13"/>
          <p:cNvSpPr txBox="1">
            <a:spLocks noChangeArrowheads="1"/>
          </p:cNvSpPr>
          <p:nvPr/>
        </p:nvSpPr>
        <p:spPr bwMode="auto">
          <a:xfrm>
            <a:off x="914400" y="6248400"/>
            <a:ext cx="7418388" cy="366713"/>
          </a:xfrm>
          <a:prstGeom prst="rect">
            <a:avLst/>
          </a:prstGeom>
          <a:noFill/>
          <a:ln w="9525">
            <a:noFill/>
            <a:miter lim="800000"/>
            <a:headEnd/>
            <a:tailEnd/>
          </a:ln>
        </p:spPr>
        <p:txBody>
          <a:bodyPr wrap="none">
            <a:spAutoFit/>
          </a:bodyPr>
          <a:lstStyle/>
          <a:p>
            <a:r>
              <a:rPr lang="en-US"/>
              <a:t>where</a:t>
            </a:r>
            <a:r>
              <a:rPr lang="en-US" i="1"/>
              <a:t> k</a:t>
            </a:r>
            <a:r>
              <a:rPr lang="en-US" i="1" baseline="-25000"/>
              <a:t>1</a:t>
            </a:r>
            <a:r>
              <a:rPr lang="en-US"/>
              <a:t> &amp;</a:t>
            </a:r>
            <a:r>
              <a:rPr lang="en-US" i="1"/>
              <a:t> k</a:t>
            </a:r>
            <a:r>
              <a:rPr lang="en-US" i="1" baseline="-25000"/>
              <a:t>2</a:t>
            </a:r>
            <a:r>
              <a:rPr lang="en-US"/>
              <a:t> are # of cross-validation samples used for </a:t>
            </a:r>
            <a:r>
              <a:rPr lang="en-US" i="1"/>
              <a:t>M</a:t>
            </a:r>
            <a:r>
              <a:rPr lang="en-US" i="1" baseline="-25000"/>
              <a:t>1</a:t>
            </a:r>
            <a:r>
              <a:rPr lang="en-US"/>
              <a:t> &amp; </a:t>
            </a:r>
            <a:r>
              <a:rPr lang="en-US" i="1"/>
              <a:t>M</a:t>
            </a:r>
            <a:r>
              <a:rPr lang="en-US" i="1" baseline="-25000"/>
              <a:t>2</a:t>
            </a:r>
            <a:r>
              <a:rPr lang="en-US"/>
              <a:t>, resp.</a:t>
            </a:r>
          </a:p>
        </p:txBody>
      </p:sp>
      <p:pic>
        <p:nvPicPr>
          <p:cNvPr id="60427" name="Picture 14"/>
          <p:cNvPicPr>
            <a:picLocks noChangeAspect="1" noChangeArrowheads="1"/>
          </p:cNvPicPr>
          <p:nvPr/>
        </p:nvPicPr>
        <p:blipFill>
          <a:blip r:embed="rId6"/>
          <a:srcRect/>
          <a:stretch>
            <a:fillRect/>
          </a:stretch>
        </p:blipFill>
        <p:spPr bwMode="auto">
          <a:xfrm>
            <a:off x="3429000" y="3657600"/>
            <a:ext cx="2743200" cy="712788"/>
          </a:xfrm>
          <a:prstGeom prst="rect">
            <a:avLst/>
          </a:prstGeom>
          <a:noFill/>
          <a:ln w="9525">
            <a:noFill/>
            <a:miter lim="800000"/>
            <a:headEnd/>
            <a:tailEnd/>
          </a:ln>
        </p:spPr>
      </p:pic>
      <p:pic>
        <p:nvPicPr>
          <p:cNvPr id="60428" name="Picture 15"/>
          <p:cNvPicPr>
            <a:picLocks noChangeAspect="1" noChangeArrowheads="1"/>
          </p:cNvPicPr>
          <p:nvPr/>
        </p:nvPicPr>
        <p:blipFill>
          <a:blip r:embed="rId7"/>
          <a:srcRect/>
          <a:stretch>
            <a:fillRect/>
          </a:stretch>
        </p:blipFill>
        <p:spPr bwMode="auto">
          <a:xfrm>
            <a:off x="1371600" y="4343400"/>
            <a:ext cx="7315200" cy="708025"/>
          </a:xfrm>
          <a:prstGeom prst="rect">
            <a:avLst/>
          </a:prstGeom>
          <a:noFill/>
          <a:ln w="9525">
            <a:noFill/>
            <a:miter lim="800000"/>
            <a:headEnd/>
            <a:tailEnd/>
          </a:ln>
        </p:spPr>
      </p:pic>
      <p:sp>
        <p:nvSpPr>
          <p:cNvPr id="60429"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432CE9AC-3B34-429B-9522-9F2EC9463D53}" type="slidenum">
              <a:rPr lang="en-US" sz="1200" b="1">
                <a:latin typeface="Calibri" pitchFamily="34" charset="0"/>
              </a:rPr>
              <a:pPr algn="r"/>
              <a:t>145</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sz="3200" smtClean="0"/>
              <a:t>Estimating Confidence Intervals:</a:t>
            </a:r>
            <a:br>
              <a:rPr lang="en-US" sz="3200" smtClean="0"/>
            </a:br>
            <a:r>
              <a:rPr lang="en-US" sz="3200" smtClean="0"/>
              <a:t>Table for t-distribution</a:t>
            </a:r>
          </a:p>
        </p:txBody>
      </p:sp>
      <p:sp>
        <p:nvSpPr>
          <p:cNvPr id="61443" name="Rectangle 4"/>
          <p:cNvSpPr>
            <a:spLocks noGrp="1" noChangeArrowheads="1"/>
          </p:cNvSpPr>
          <p:nvPr>
            <p:ph type="body" sz="half" idx="1"/>
          </p:nvPr>
        </p:nvSpPr>
        <p:spPr>
          <a:xfrm>
            <a:off x="304800" y="1371600"/>
            <a:ext cx="3048000" cy="5105400"/>
          </a:xfrm>
        </p:spPr>
        <p:txBody>
          <a:bodyPr/>
          <a:lstStyle/>
          <a:p>
            <a:pPr>
              <a:lnSpc>
                <a:spcPct val="90000"/>
              </a:lnSpc>
            </a:pPr>
            <a:endParaRPr lang="en-US" sz="2400" smtClean="0"/>
          </a:p>
          <a:p>
            <a:pPr>
              <a:lnSpc>
                <a:spcPct val="90000"/>
              </a:lnSpc>
            </a:pPr>
            <a:endParaRPr lang="en-US" sz="2400" smtClean="0"/>
          </a:p>
          <a:p>
            <a:pPr>
              <a:lnSpc>
                <a:spcPct val="90000"/>
              </a:lnSpc>
            </a:pPr>
            <a:endParaRPr lang="en-US" sz="2400" smtClean="0"/>
          </a:p>
          <a:p>
            <a:pPr>
              <a:lnSpc>
                <a:spcPct val="90000"/>
              </a:lnSpc>
            </a:pPr>
            <a:r>
              <a:rPr lang="en-US" sz="2400" smtClean="0"/>
              <a:t>Symmetric</a:t>
            </a:r>
          </a:p>
          <a:p>
            <a:pPr>
              <a:lnSpc>
                <a:spcPct val="90000"/>
              </a:lnSpc>
            </a:pPr>
            <a:r>
              <a:rPr lang="en-US" sz="2400" b="1" smtClean="0"/>
              <a:t>Significance level</a:t>
            </a:r>
            <a:r>
              <a:rPr lang="en-US" sz="2400" smtClean="0"/>
              <a:t>, e.g., </a:t>
            </a:r>
            <a:r>
              <a:rPr lang="en-US" sz="2400" i="1" smtClean="0"/>
              <a:t>sig = 0.05 </a:t>
            </a:r>
            <a:r>
              <a:rPr lang="en-US" sz="2400" smtClean="0"/>
              <a:t>or</a:t>
            </a:r>
            <a:r>
              <a:rPr lang="en-US" sz="2400" i="1" smtClean="0"/>
              <a:t> 5% </a:t>
            </a:r>
            <a:r>
              <a:rPr lang="en-US" sz="2400" smtClean="0"/>
              <a:t>means M</a:t>
            </a:r>
            <a:r>
              <a:rPr lang="en-US" sz="2400" baseline="-25000" smtClean="0"/>
              <a:t>1</a:t>
            </a:r>
            <a:r>
              <a:rPr lang="en-US" sz="2400" smtClean="0"/>
              <a:t> &amp; M</a:t>
            </a:r>
            <a:r>
              <a:rPr lang="en-US" sz="2400" baseline="-25000" smtClean="0"/>
              <a:t>2</a:t>
            </a:r>
            <a:r>
              <a:rPr lang="en-US" sz="2400" smtClean="0"/>
              <a:t> are </a:t>
            </a:r>
            <a:r>
              <a:rPr lang="en-US" sz="2400" i="1" smtClean="0"/>
              <a:t>significantly different</a:t>
            </a:r>
            <a:r>
              <a:rPr lang="en-US" sz="2400" smtClean="0"/>
              <a:t> for 95% of population</a:t>
            </a:r>
          </a:p>
          <a:p>
            <a:pPr>
              <a:lnSpc>
                <a:spcPct val="90000"/>
              </a:lnSpc>
            </a:pPr>
            <a:r>
              <a:rPr lang="en-US" sz="2400" b="1" smtClean="0"/>
              <a:t>Confidence limit</a:t>
            </a:r>
            <a:r>
              <a:rPr lang="en-US" sz="2400" smtClean="0"/>
              <a:t>, </a:t>
            </a:r>
            <a:r>
              <a:rPr lang="en-US" sz="2400" i="1" smtClean="0"/>
              <a:t>z = sig/2</a:t>
            </a:r>
          </a:p>
        </p:txBody>
      </p:sp>
      <p:pic>
        <p:nvPicPr>
          <p:cNvPr id="61444" name="Picture 6" descr="8ttablevalues"/>
          <p:cNvPicPr>
            <a:picLocks noChangeAspect="1" noChangeArrowheads="1"/>
          </p:cNvPicPr>
          <p:nvPr>
            <p:ph sz="half" idx="2"/>
          </p:nvPr>
        </p:nvPicPr>
        <p:blipFill>
          <a:blip r:embed="rId3"/>
          <a:srcRect/>
          <a:stretch>
            <a:fillRect/>
          </a:stretch>
        </p:blipFill>
        <p:spPr>
          <a:xfrm>
            <a:off x="3733800" y="914400"/>
            <a:ext cx="5181600" cy="5791200"/>
          </a:xfrm>
        </p:spPr>
      </p:pic>
      <p:pic>
        <p:nvPicPr>
          <p:cNvPr id="61445" name="Picture 7" descr="8tcurve"/>
          <p:cNvPicPr>
            <a:picLocks noChangeAspect="1" noChangeArrowheads="1"/>
          </p:cNvPicPr>
          <p:nvPr/>
        </p:nvPicPr>
        <p:blipFill>
          <a:blip r:embed="rId4"/>
          <a:srcRect/>
          <a:stretch>
            <a:fillRect/>
          </a:stretch>
        </p:blipFill>
        <p:spPr bwMode="auto">
          <a:xfrm>
            <a:off x="457200" y="1143000"/>
            <a:ext cx="3429000" cy="1363663"/>
          </a:xfrm>
          <a:prstGeom prst="rect">
            <a:avLst/>
          </a:prstGeom>
          <a:noFill/>
          <a:ln w="9525">
            <a:noFill/>
            <a:miter lim="800000"/>
            <a:headEnd/>
            <a:tailEnd/>
          </a:ln>
        </p:spPr>
      </p:pic>
      <p:sp>
        <p:nvSpPr>
          <p:cNvPr id="61446"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E89EBA89-C938-4169-9451-8DE88767082C}" type="slidenum">
              <a:rPr lang="en-US" sz="1200" b="1">
                <a:latin typeface="Calibri" pitchFamily="34" charset="0"/>
              </a:rPr>
              <a:pPr algn="r"/>
              <a:t>146</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0" y="0"/>
            <a:ext cx="9144000" cy="1143000"/>
          </a:xfrm>
        </p:spPr>
        <p:txBody>
          <a:bodyPr/>
          <a:lstStyle/>
          <a:p>
            <a:r>
              <a:rPr lang="en-US" smtClean="0"/>
              <a:t>Estimating Confidence Intervals:</a:t>
            </a:r>
            <a:br>
              <a:rPr lang="en-US" smtClean="0"/>
            </a:br>
            <a:r>
              <a:rPr lang="en-US" smtClean="0"/>
              <a:t>Statistical Significance</a:t>
            </a:r>
          </a:p>
        </p:txBody>
      </p:sp>
      <p:sp>
        <p:nvSpPr>
          <p:cNvPr id="62467" name="Rectangle 3"/>
          <p:cNvSpPr>
            <a:spLocks noGrp="1" noChangeArrowheads="1"/>
          </p:cNvSpPr>
          <p:nvPr>
            <p:ph type="body" idx="1"/>
          </p:nvPr>
        </p:nvSpPr>
        <p:spPr/>
        <p:txBody>
          <a:bodyPr/>
          <a:lstStyle/>
          <a:p>
            <a:r>
              <a:rPr lang="en-US" sz="2400" smtClean="0"/>
              <a:t>Are M</a:t>
            </a:r>
            <a:r>
              <a:rPr lang="en-US" sz="2400" baseline="-25000" smtClean="0"/>
              <a:t>1</a:t>
            </a:r>
            <a:r>
              <a:rPr lang="en-US" sz="2400" smtClean="0"/>
              <a:t> &amp; M</a:t>
            </a:r>
            <a:r>
              <a:rPr lang="en-US" sz="2400" baseline="-25000" smtClean="0"/>
              <a:t>2</a:t>
            </a:r>
            <a:r>
              <a:rPr lang="en-US" sz="2400" smtClean="0"/>
              <a:t> </a:t>
            </a:r>
            <a:r>
              <a:rPr lang="en-US" sz="2400" b="1" smtClean="0"/>
              <a:t>significantly different</a:t>
            </a:r>
            <a:r>
              <a:rPr lang="en-US" sz="2400" smtClean="0"/>
              <a:t>?</a:t>
            </a:r>
          </a:p>
          <a:p>
            <a:pPr lvl="1"/>
            <a:r>
              <a:rPr lang="en-US" sz="2400" smtClean="0"/>
              <a:t>Compute </a:t>
            </a:r>
            <a:r>
              <a:rPr lang="en-US" sz="2400" i="1" smtClean="0"/>
              <a:t>t. </a:t>
            </a:r>
            <a:r>
              <a:rPr lang="en-US" sz="2400" smtClean="0"/>
              <a:t>Select </a:t>
            </a:r>
            <a:r>
              <a:rPr lang="en-US" sz="2400" i="1" smtClean="0"/>
              <a:t>significance level</a:t>
            </a:r>
            <a:r>
              <a:rPr lang="en-US" sz="2400" smtClean="0"/>
              <a:t> (e.g. </a:t>
            </a:r>
            <a:r>
              <a:rPr lang="en-US" sz="2400" i="1" smtClean="0"/>
              <a:t>sig = 5%)</a:t>
            </a:r>
          </a:p>
          <a:p>
            <a:pPr lvl="1"/>
            <a:r>
              <a:rPr lang="en-US" sz="2400" smtClean="0"/>
              <a:t>Consult table for t-distribution: Find </a:t>
            </a:r>
            <a:r>
              <a:rPr lang="en-US" sz="2400" i="1" smtClean="0"/>
              <a:t>t value</a:t>
            </a:r>
            <a:r>
              <a:rPr lang="en-US" sz="2400" smtClean="0"/>
              <a:t> corresponding to </a:t>
            </a:r>
            <a:r>
              <a:rPr lang="en-US" sz="2400" i="1" smtClean="0"/>
              <a:t>k-1 degrees of freedom</a:t>
            </a:r>
            <a:r>
              <a:rPr lang="en-US" sz="2400" smtClean="0"/>
              <a:t> (here, 9)</a:t>
            </a:r>
          </a:p>
          <a:p>
            <a:pPr lvl="1"/>
            <a:r>
              <a:rPr lang="en-US" sz="2400" smtClean="0"/>
              <a:t>t-distribution is symmetric: typically upper % points of distribution shown → look up value for </a:t>
            </a:r>
            <a:r>
              <a:rPr lang="en-US" sz="2400" b="1" smtClean="0"/>
              <a:t>confidence limit</a:t>
            </a:r>
            <a:r>
              <a:rPr lang="en-US" sz="2400" smtClean="0"/>
              <a:t> </a:t>
            </a:r>
            <a:r>
              <a:rPr lang="en-US" sz="2400" i="1" smtClean="0"/>
              <a:t>z=sig/2</a:t>
            </a:r>
            <a:r>
              <a:rPr lang="en-US" sz="2400" smtClean="0"/>
              <a:t> (here, 0.025)</a:t>
            </a:r>
          </a:p>
          <a:p>
            <a:pPr lvl="1"/>
            <a:r>
              <a:rPr lang="en-US" sz="2400" b="1" smtClean="0"/>
              <a:t>If</a:t>
            </a:r>
            <a:r>
              <a:rPr lang="en-US" sz="2400" smtClean="0"/>
              <a:t> </a:t>
            </a:r>
            <a:r>
              <a:rPr lang="en-US" sz="2400" b="1" smtClean="0"/>
              <a:t>t &gt; z or t &lt; -z</a:t>
            </a:r>
            <a:r>
              <a:rPr lang="en-US" sz="2400" smtClean="0"/>
              <a:t>, then t value lies in rejection region:</a:t>
            </a:r>
          </a:p>
          <a:p>
            <a:pPr lvl="2"/>
            <a:r>
              <a:rPr lang="en-US" b="1" smtClean="0"/>
              <a:t>Reject null hypothesis</a:t>
            </a:r>
            <a:r>
              <a:rPr lang="en-US" smtClean="0"/>
              <a:t> that mean error rates of M</a:t>
            </a:r>
            <a:r>
              <a:rPr lang="en-US" baseline="-25000" smtClean="0"/>
              <a:t>1</a:t>
            </a:r>
            <a:r>
              <a:rPr lang="en-US" smtClean="0"/>
              <a:t> &amp; M</a:t>
            </a:r>
            <a:r>
              <a:rPr lang="en-US" baseline="-25000" smtClean="0"/>
              <a:t>2</a:t>
            </a:r>
            <a:r>
              <a:rPr lang="en-US" smtClean="0"/>
              <a:t> are same</a:t>
            </a:r>
          </a:p>
          <a:p>
            <a:pPr lvl="2"/>
            <a:r>
              <a:rPr lang="en-US" smtClean="0"/>
              <a:t>Conclude: </a:t>
            </a:r>
            <a:r>
              <a:rPr lang="en-US" u="sng" smtClean="0"/>
              <a:t>statistically significant</a:t>
            </a:r>
            <a:r>
              <a:rPr lang="en-US" smtClean="0"/>
              <a:t> difference between M</a:t>
            </a:r>
            <a:r>
              <a:rPr lang="en-US" baseline="-25000" smtClean="0"/>
              <a:t>1</a:t>
            </a:r>
            <a:r>
              <a:rPr lang="en-US" smtClean="0"/>
              <a:t> &amp; M</a:t>
            </a:r>
            <a:r>
              <a:rPr lang="en-US" baseline="-25000" smtClean="0"/>
              <a:t>2</a:t>
            </a:r>
            <a:r>
              <a:rPr lang="en-US" smtClean="0"/>
              <a:t> </a:t>
            </a:r>
          </a:p>
          <a:p>
            <a:pPr lvl="1"/>
            <a:r>
              <a:rPr lang="en-US" sz="2400" b="1" smtClean="0"/>
              <a:t>Otherwise</a:t>
            </a:r>
            <a:r>
              <a:rPr lang="en-US" sz="2400" smtClean="0"/>
              <a:t>, conclude that any difference is </a:t>
            </a:r>
            <a:r>
              <a:rPr lang="en-US" sz="2400" b="1" smtClean="0"/>
              <a:t>chance</a:t>
            </a:r>
            <a:endParaRPr lang="en-US" sz="2400" smtClean="0"/>
          </a:p>
        </p:txBody>
      </p:sp>
      <p:sp>
        <p:nvSpPr>
          <p:cNvPr id="62468"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BB02FE0D-46C4-47C8-BC44-AF5A14E18DEA}" type="slidenum">
              <a:rPr lang="en-US" sz="1200" b="1">
                <a:latin typeface="Calibri" pitchFamily="34" charset="0"/>
              </a:rPr>
              <a:pPr algn="r"/>
              <a:t>147</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6"/>
          <p:cNvPicPr>
            <a:picLocks noChangeAspect="1" noChangeArrowheads="1"/>
          </p:cNvPicPr>
          <p:nvPr/>
        </p:nvPicPr>
        <p:blipFill>
          <a:blip r:embed="rId3"/>
          <a:srcRect/>
          <a:stretch>
            <a:fillRect/>
          </a:stretch>
        </p:blipFill>
        <p:spPr bwMode="auto">
          <a:xfrm>
            <a:off x="5638800" y="76200"/>
            <a:ext cx="3429000" cy="3243263"/>
          </a:xfrm>
          <a:prstGeom prst="rect">
            <a:avLst/>
          </a:prstGeom>
          <a:noFill/>
          <a:ln w="9525">
            <a:noFill/>
            <a:miter lim="800000"/>
            <a:headEnd/>
            <a:tailEnd/>
          </a:ln>
        </p:spPr>
      </p:pic>
      <p:sp>
        <p:nvSpPr>
          <p:cNvPr id="63491" name="Rectangle 2"/>
          <p:cNvSpPr>
            <a:spLocks noGrp="1" noChangeArrowheads="1"/>
          </p:cNvSpPr>
          <p:nvPr>
            <p:ph type="title" idx="4294967295"/>
          </p:nvPr>
        </p:nvSpPr>
        <p:spPr>
          <a:xfrm>
            <a:off x="0" y="0"/>
            <a:ext cx="6400800" cy="609600"/>
          </a:xfrm>
        </p:spPr>
        <p:txBody>
          <a:bodyPr/>
          <a:lstStyle/>
          <a:p>
            <a:pPr eaLnBrk="1" hangingPunct="1"/>
            <a:r>
              <a:rPr lang="en-US" sz="3200" dirty="0" smtClean="0"/>
              <a:t>Model Selection: ROC Curves</a:t>
            </a:r>
          </a:p>
        </p:txBody>
      </p:sp>
      <p:sp>
        <p:nvSpPr>
          <p:cNvPr id="63492" name="Rectangle 3"/>
          <p:cNvSpPr>
            <a:spLocks noGrp="1" noChangeArrowheads="1"/>
          </p:cNvSpPr>
          <p:nvPr>
            <p:ph type="body" sz="half" idx="4294967295"/>
          </p:nvPr>
        </p:nvSpPr>
        <p:spPr>
          <a:xfrm>
            <a:off x="0" y="609600"/>
            <a:ext cx="5943600" cy="5334000"/>
          </a:xfrm>
        </p:spPr>
        <p:txBody>
          <a:bodyPr/>
          <a:lstStyle/>
          <a:p>
            <a:pPr marL="457200" indent="-457200" eaLnBrk="1" hangingPunct="1">
              <a:lnSpc>
                <a:spcPct val="90000"/>
              </a:lnSpc>
            </a:pPr>
            <a:r>
              <a:rPr lang="en-US" sz="2400" b="1" dirty="0" smtClean="0"/>
              <a:t>ROC</a:t>
            </a:r>
            <a:r>
              <a:rPr lang="en-US" sz="2400" dirty="0" smtClean="0"/>
              <a:t> (Receiver Operating Characteristics) curves: for visual comparison of classification models</a:t>
            </a:r>
          </a:p>
          <a:p>
            <a:pPr marL="457200" indent="-457200" eaLnBrk="1" hangingPunct="1">
              <a:lnSpc>
                <a:spcPct val="90000"/>
              </a:lnSpc>
            </a:pPr>
            <a:r>
              <a:rPr lang="en-US" sz="2400" dirty="0" smtClean="0"/>
              <a:t>Originated from signal detection theory</a:t>
            </a:r>
          </a:p>
          <a:p>
            <a:pPr marL="457200" indent="-457200" eaLnBrk="1" hangingPunct="1">
              <a:lnSpc>
                <a:spcPct val="90000"/>
              </a:lnSpc>
            </a:pPr>
            <a:r>
              <a:rPr lang="en-US" sz="2400" dirty="0" smtClean="0"/>
              <a:t>Shows the trade-off between the true positive rate and the false positive rate</a:t>
            </a:r>
          </a:p>
          <a:p>
            <a:pPr marL="457200" indent="-457200" eaLnBrk="1" hangingPunct="1">
              <a:lnSpc>
                <a:spcPct val="90000"/>
              </a:lnSpc>
            </a:pPr>
            <a:r>
              <a:rPr lang="en-US" sz="2400" dirty="0" smtClean="0"/>
              <a:t>The area under the ROC curve is a measure of the accuracy of the model</a:t>
            </a:r>
          </a:p>
          <a:p>
            <a:pPr marL="457200" indent="-457200" eaLnBrk="1" hangingPunct="1">
              <a:lnSpc>
                <a:spcPct val="90000"/>
              </a:lnSpc>
            </a:pPr>
            <a:r>
              <a:rPr lang="en-US" sz="2400" dirty="0" smtClean="0"/>
              <a:t>Rank the test </a:t>
            </a:r>
            <a:r>
              <a:rPr lang="en-US" sz="2400" dirty="0" err="1" smtClean="0"/>
              <a:t>tuples</a:t>
            </a:r>
            <a:r>
              <a:rPr lang="en-US" sz="2400" dirty="0" smtClean="0"/>
              <a:t> in decreasing order: the one that is most likely to belong to the positive class appears at the top of the list</a:t>
            </a:r>
          </a:p>
          <a:p>
            <a:pPr marL="457200" indent="-457200" eaLnBrk="1" hangingPunct="1">
              <a:lnSpc>
                <a:spcPct val="90000"/>
              </a:lnSpc>
            </a:pPr>
            <a:r>
              <a:rPr lang="en-US" sz="2400" dirty="0" smtClean="0"/>
              <a:t>The closer to the diagonal line (i.e., the closer the area is to 0.5), the less accurate is the model</a:t>
            </a:r>
          </a:p>
        </p:txBody>
      </p:sp>
      <p:sp>
        <p:nvSpPr>
          <p:cNvPr id="63493" name="Rectangle 7"/>
          <p:cNvSpPr>
            <a:spLocks noChangeArrowheads="1"/>
          </p:cNvSpPr>
          <p:nvPr/>
        </p:nvSpPr>
        <p:spPr bwMode="auto">
          <a:xfrm>
            <a:off x="5791200" y="3429000"/>
            <a:ext cx="3352800" cy="3048000"/>
          </a:xfrm>
          <a:prstGeom prst="rect">
            <a:avLst/>
          </a:prstGeom>
          <a:noFill/>
          <a:ln w="9525">
            <a:noFill/>
            <a:miter lim="800000"/>
            <a:headEnd/>
            <a:tailEnd/>
          </a:ln>
        </p:spPr>
        <p:txBody>
          <a:bodyPr/>
          <a:lstStyle/>
          <a:p>
            <a:pPr marL="457200" indent="-457200">
              <a:lnSpc>
                <a:spcPct val="80000"/>
              </a:lnSpc>
              <a:spcBef>
                <a:spcPct val="20000"/>
              </a:spcBef>
              <a:buClr>
                <a:schemeClr val="folHlink"/>
              </a:buClr>
              <a:buSzPct val="60000"/>
              <a:buFont typeface="Wingdings" pitchFamily="2" charset="2"/>
              <a:buChar char="n"/>
            </a:pPr>
            <a:r>
              <a:rPr lang="en-US" sz="2400">
                <a:latin typeface="Calibri" pitchFamily="34" charset="0"/>
              </a:rPr>
              <a:t>Vertical axis represents the true positive rate</a:t>
            </a:r>
          </a:p>
          <a:p>
            <a:pPr marL="457200" indent="-457200">
              <a:lnSpc>
                <a:spcPct val="80000"/>
              </a:lnSpc>
              <a:spcBef>
                <a:spcPct val="20000"/>
              </a:spcBef>
              <a:buClr>
                <a:schemeClr val="folHlink"/>
              </a:buClr>
              <a:buSzPct val="60000"/>
              <a:buFont typeface="Wingdings" pitchFamily="2" charset="2"/>
              <a:buChar char="n"/>
            </a:pPr>
            <a:r>
              <a:rPr lang="en-US" sz="2400">
                <a:latin typeface="Calibri" pitchFamily="34" charset="0"/>
              </a:rPr>
              <a:t>Horizontal axis rep. the false positive rate</a:t>
            </a:r>
          </a:p>
          <a:p>
            <a:pPr marL="457200" indent="-457200">
              <a:lnSpc>
                <a:spcPct val="80000"/>
              </a:lnSpc>
              <a:spcBef>
                <a:spcPct val="20000"/>
              </a:spcBef>
              <a:buClr>
                <a:schemeClr val="folHlink"/>
              </a:buClr>
              <a:buSzPct val="60000"/>
              <a:buFont typeface="Wingdings" pitchFamily="2" charset="2"/>
              <a:buChar char="n"/>
            </a:pPr>
            <a:r>
              <a:rPr lang="en-US" sz="2400">
                <a:latin typeface="Calibri" pitchFamily="34" charset="0"/>
              </a:rPr>
              <a:t>The plot also shows a diagonal line</a:t>
            </a:r>
          </a:p>
          <a:p>
            <a:pPr marL="457200" indent="-457200">
              <a:lnSpc>
                <a:spcPct val="80000"/>
              </a:lnSpc>
              <a:spcBef>
                <a:spcPct val="20000"/>
              </a:spcBef>
              <a:buClr>
                <a:schemeClr val="folHlink"/>
              </a:buClr>
              <a:buSzPct val="60000"/>
              <a:buFont typeface="Wingdings" pitchFamily="2" charset="2"/>
              <a:buChar char="n"/>
            </a:pPr>
            <a:r>
              <a:rPr lang="en-US" sz="2400">
                <a:latin typeface="Calibri" pitchFamily="34" charset="0"/>
              </a:rPr>
              <a:t>A model with perfect accuracy will have an area of 1.0</a:t>
            </a:r>
          </a:p>
        </p:txBody>
      </p:sp>
      <p:sp>
        <p:nvSpPr>
          <p:cNvPr id="63494"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86B91E93-64F9-469A-92FC-7A014243FFE5}" type="slidenum">
              <a:rPr lang="en-US" sz="1200" b="1">
                <a:latin typeface="Calibri" pitchFamily="34" charset="0"/>
              </a:rPr>
              <a:pPr algn="r"/>
              <a:t>148</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304800" y="0"/>
            <a:ext cx="9601200" cy="838200"/>
          </a:xfrm>
          <a:noFill/>
        </p:spPr>
        <p:txBody>
          <a:bodyPr lIns="92075" tIns="46038" rIns="92075" bIns="46038"/>
          <a:lstStyle/>
          <a:p>
            <a:pPr eaLnBrk="1" hangingPunct="1">
              <a:lnSpc>
                <a:spcPct val="110000"/>
              </a:lnSpc>
            </a:pPr>
            <a:r>
              <a:rPr lang="en-US" dirty="0" smtClean="0">
                <a:solidFill>
                  <a:srgbClr val="170981"/>
                </a:solidFill>
              </a:rPr>
              <a:t>Issues Affecting Model Selection</a:t>
            </a:r>
          </a:p>
        </p:txBody>
      </p:sp>
      <p:sp>
        <p:nvSpPr>
          <p:cNvPr id="64515" name="Rectangle 3"/>
          <p:cNvSpPr>
            <a:spLocks noGrp="1" noChangeArrowheads="1"/>
          </p:cNvSpPr>
          <p:nvPr>
            <p:ph type="body" idx="4294967295"/>
          </p:nvPr>
        </p:nvSpPr>
        <p:spPr>
          <a:xfrm>
            <a:off x="304800" y="838200"/>
            <a:ext cx="8378825" cy="5257800"/>
          </a:xfrm>
          <a:noFill/>
        </p:spPr>
        <p:txBody>
          <a:bodyPr lIns="92075" tIns="46038" rIns="92075" bIns="46038"/>
          <a:lstStyle/>
          <a:p>
            <a:pPr eaLnBrk="1" hangingPunct="1">
              <a:lnSpc>
                <a:spcPct val="110000"/>
              </a:lnSpc>
            </a:pPr>
            <a:r>
              <a:rPr lang="en-US" sz="2400" b="1" dirty="0" smtClean="0"/>
              <a:t>Accuracy</a:t>
            </a:r>
          </a:p>
          <a:p>
            <a:pPr lvl="1" eaLnBrk="1" hangingPunct="1">
              <a:lnSpc>
                <a:spcPct val="110000"/>
              </a:lnSpc>
            </a:pPr>
            <a:r>
              <a:rPr lang="en-US" sz="2400" dirty="0" smtClean="0"/>
              <a:t>classifier accuracy: predicting class label</a:t>
            </a:r>
          </a:p>
          <a:p>
            <a:pPr eaLnBrk="1" hangingPunct="1">
              <a:lnSpc>
                <a:spcPct val="110000"/>
              </a:lnSpc>
            </a:pPr>
            <a:r>
              <a:rPr lang="en-US" sz="2400" b="1" dirty="0" smtClean="0"/>
              <a:t>Speed</a:t>
            </a:r>
          </a:p>
          <a:p>
            <a:pPr lvl="1" eaLnBrk="1" hangingPunct="1">
              <a:lnSpc>
                <a:spcPct val="110000"/>
              </a:lnSpc>
            </a:pPr>
            <a:r>
              <a:rPr lang="en-US" sz="2400" dirty="0" smtClean="0"/>
              <a:t>time to construct the model (training time)</a:t>
            </a:r>
          </a:p>
          <a:p>
            <a:pPr lvl="1" eaLnBrk="1" hangingPunct="1">
              <a:lnSpc>
                <a:spcPct val="110000"/>
              </a:lnSpc>
            </a:pPr>
            <a:r>
              <a:rPr lang="en-US" sz="2400" dirty="0" smtClean="0"/>
              <a:t>time to use the model (classification/prediction time)</a:t>
            </a:r>
          </a:p>
          <a:p>
            <a:pPr eaLnBrk="1" hangingPunct="1">
              <a:lnSpc>
                <a:spcPct val="110000"/>
              </a:lnSpc>
            </a:pPr>
            <a:r>
              <a:rPr lang="en-US" sz="2400" b="1" dirty="0" smtClean="0"/>
              <a:t>Robustness</a:t>
            </a:r>
            <a:r>
              <a:rPr lang="en-US" sz="2400" dirty="0" smtClean="0"/>
              <a:t>: handling noise and missing values</a:t>
            </a:r>
          </a:p>
          <a:p>
            <a:pPr eaLnBrk="1" hangingPunct="1">
              <a:lnSpc>
                <a:spcPct val="110000"/>
              </a:lnSpc>
            </a:pPr>
            <a:r>
              <a:rPr lang="en-US" sz="2400" b="1" dirty="0" smtClean="0"/>
              <a:t>Scalability</a:t>
            </a:r>
            <a:r>
              <a:rPr lang="en-US" sz="2400" dirty="0" smtClean="0"/>
              <a:t>: efficiency in disk-resident databases </a:t>
            </a:r>
          </a:p>
          <a:p>
            <a:pPr eaLnBrk="1" hangingPunct="1">
              <a:lnSpc>
                <a:spcPct val="110000"/>
              </a:lnSpc>
            </a:pPr>
            <a:r>
              <a:rPr lang="en-US" sz="2400" b="1" dirty="0" smtClean="0"/>
              <a:t>Interpretability</a:t>
            </a:r>
          </a:p>
          <a:p>
            <a:pPr lvl="1" eaLnBrk="1" hangingPunct="1">
              <a:lnSpc>
                <a:spcPct val="110000"/>
              </a:lnSpc>
            </a:pPr>
            <a:r>
              <a:rPr lang="en-US" sz="2400" dirty="0" smtClean="0"/>
              <a:t>understanding and insight provided by the model</a:t>
            </a:r>
          </a:p>
          <a:p>
            <a:pPr eaLnBrk="1" hangingPunct="1">
              <a:lnSpc>
                <a:spcPct val="110000"/>
              </a:lnSpc>
            </a:pPr>
            <a:r>
              <a:rPr lang="en-US" sz="2400" dirty="0" smtClean="0"/>
              <a:t>Other measures, e.g., goodness of rules, such as decision tree size or compactness of classification rules</a:t>
            </a:r>
          </a:p>
        </p:txBody>
      </p:sp>
      <p:sp>
        <p:nvSpPr>
          <p:cNvPr id="64516"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898AABF4-3E27-47F3-BDD8-36968EC1EEA2}" type="slidenum">
              <a:rPr lang="en-US" sz="1200" b="1">
                <a:latin typeface="Calibri" pitchFamily="34" charset="0"/>
              </a:rPr>
              <a:pPr algn="r"/>
              <a:t>149</a:t>
            </a:fld>
            <a:endParaRPr lang="en-US" sz="1200" b="1">
              <a:latin typeface="Calibri" pitchFamily="34" charset="0"/>
            </a:endParaRPr>
          </a:p>
        </p:txBody>
      </p:sp>
    </p:spTree>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6"/>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DE6BE570-D3E2-4AD5-8C33-BBFFA841CC3D}" type="slidenum">
              <a:rPr lang="en-US" sz="1400" b="1">
                <a:latin typeface="Calibri" pitchFamily="34" charset="0"/>
              </a:rPr>
              <a:pPr algn="r"/>
              <a:t>150</a:t>
            </a:fld>
            <a:endParaRPr lang="en-US" sz="1400" b="1">
              <a:latin typeface="Calibri" pitchFamily="34" charset="0"/>
            </a:endParaRPr>
          </a:p>
        </p:txBody>
      </p:sp>
      <p:sp>
        <p:nvSpPr>
          <p:cNvPr id="65539" name="Rectangle 2"/>
          <p:cNvSpPr>
            <a:spLocks noGrp="1" noChangeArrowheads="1"/>
          </p:cNvSpPr>
          <p:nvPr>
            <p:ph type="title" idx="4294967295"/>
          </p:nvPr>
        </p:nvSpPr>
        <p:spPr>
          <a:xfrm>
            <a:off x="0" y="381000"/>
            <a:ext cx="9144000" cy="609600"/>
          </a:xfrm>
          <a:noFill/>
        </p:spPr>
        <p:txBody>
          <a:bodyPr lIns="92075" tIns="46038" rIns="92075" bIns="46038" anchor="ctr"/>
          <a:lstStyle/>
          <a:p>
            <a:pPr eaLnBrk="1" hangingPunct="1"/>
            <a:r>
              <a:rPr lang="en-US" sz="3200" smtClean="0"/>
              <a:t>Chapter 8. Classification: Basic Concepts</a:t>
            </a:r>
          </a:p>
        </p:txBody>
      </p:sp>
      <p:sp>
        <p:nvSpPr>
          <p:cNvPr id="65540" name="Rectangle 3"/>
          <p:cNvSpPr>
            <a:spLocks noGrp="1" noChangeArrowheads="1"/>
          </p:cNvSpPr>
          <p:nvPr>
            <p:ph type="body" sz="half" idx="4294967295"/>
          </p:nvPr>
        </p:nvSpPr>
        <p:spPr>
          <a:xfrm>
            <a:off x="304800" y="1447800"/>
            <a:ext cx="8382000" cy="5105400"/>
          </a:xfrm>
          <a:noFill/>
        </p:spPr>
        <p:txBody>
          <a:bodyPr lIns="92075" tIns="46038" rIns="92075" bIns="46038"/>
          <a:lstStyle/>
          <a:p>
            <a:pPr>
              <a:lnSpc>
                <a:spcPct val="130000"/>
              </a:lnSpc>
            </a:pPr>
            <a:r>
              <a:rPr lang="en-US" smtClean="0"/>
              <a:t>Classification: Basic Concepts</a:t>
            </a:r>
          </a:p>
          <a:p>
            <a:pPr>
              <a:lnSpc>
                <a:spcPct val="130000"/>
              </a:lnSpc>
            </a:pPr>
            <a:r>
              <a:rPr lang="en-US" smtClean="0"/>
              <a:t>Decision Tree Induction</a:t>
            </a:r>
          </a:p>
          <a:p>
            <a:pPr>
              <a:lnSpc>
                <a:spcPct val="130000"/>
              </a:lnSpc>
            </a:pPr>
            <a:r>
              <a:rPr lang="en-US" smtClean="0"/>
              <a:t>Bayes Classification Methods</a:t>
            </a:r>
          </a:p>
          <a:p>
            <a:pPr>
              <a:lnSpc>
                <a:spcPct val="130000"/>
              </a:lnSpc>
            </a:pPr>
            <a:r>
              <a:rPr lang="en-US" smtClean="0"/>
              <a:t>Rule-Based Classification</a:t>
            </a:r>
          </a:p>
          <a:p>
            <a:pPr>
              <a:lnSpc>
                <a:spcPct val="130000"/>
              </a:lnSpc>
            </a:pPr>
            <a:r>
              <a:rPr lang="en-US" smtClean="0"/>
              <a:t>Model Evaluation and Selection</a:t>
            </a:r>
          </a:p>
          <a:p>
            <a:pPr>
              <a:lnSpc>
                <a:spcPct val="130000"/>
              </a:lnSpc>
            </a:pPr>
            <a:r>
              <a:rPr lang="en-US" smtClean="0"/>
              <a:t>Techniques to Improve Classification Accuracy: Ensemble Methods</a:t>
            </a:r>
          </a:p>
          <a:p>
            <a:pPr>
              <a:lnSpc>
                <a:spcPct val="130000"/>
              </a:lnSpc>
            </a:pPr>
            <a:r>
              <a:rPr lang="en-US" smtClean="0"/>
              <a:t>Summary</a:t>
            </a:r>
          </a:p>
        </p:txBody>
      </p:sp>
      <p:sp>
        <p:nvSpPr>
          <p:cNvPr id="65541" name="AutoShape 8"/>
          <p:cNvSpPr>
            <a:spLocks noChangeArrowheads="1"/>
          </p:cNvSpPr>
          <p:nvPr/>
        </p:nvSpPr>
        <p:spPr bwMode="auto">
          <a:xfrm rot="9803581">
            <a:off x="7772400" y="4724400"/>
            <a:ext cx="533400" cy="381000"/>
          </a:xfrm>
          <a:prstGeom prst="notchedRightArrow">
            <a:avLst>
              <a:gd name="adj1" fmla="val 50000"/>
              <a:gd name="adj2" fmla="val 35000"/>
            </a:avLst>
          </a:prstGeom>
          <a:solidFill>
            <a:srgbClr val="FF9900"/>
          </a:solidFill>
          <a:ln w="9525">
            <a:solidFill>
              <a:schemeClr val="tx1"/>
            </a:solidFill>
            <a:miter lim="800000"/>
            <a:headEnd/>
            <a:tailEnd/>
          </a:ln>
        </p:spPr>
        <p:txBody>
          <a:bodyPr rot="10800000" wrap="none" anchor="ctr"/>
          <a:lstStyle/>
          <a:p>
            <a:endParaRPr lang="en-US"/>
          </a:p>
        </p:txBody>
      </p:sp>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151</a:t>
            </a:fld>
            <a:endParaRPr lang="en-US" sz="1200" dirty="0">
              <a:latin typeface="Tahoma" panose="020B0604030504040204" pitchFamily="34" charset="0"/>
              <a:ea typeface="+mn-ea"/>
              <a:cs typeface="+mn-cs"/>
            </a:endParaRPr>
          </a:p>
        </p:txBody>
      </p:sp>
      <p:sp>
        <p:nvSpPr>
          <p:cNvPr id="109571" name="Rectangle 2"/>
          <p:cNvSpPr>
            <a:spLocks noGrp="1"/>
          </p:cNvSpPr>
          <p:nvPr>
            <p:ph type="title"/>
          </p:nvPr>
        </p:nvSpPr>
        <p:spPr/>
        <p:txBody>
          <a:bodyPr vert="horz" wrap="square" lIns="91440" tIns="45720" rIns="91440" bIns="45720" anchor="b" anchorCtr="0"/>
          <a:lstStyle/>
          <a:p>
            <a:pPr eaLnBrk="1" hangingPunct="1"/>
            <a:r>
              <a:rPr dirty="0"/>
              <a:t>Increasing Accuracy: Bagging and Boosting</a:t>
            </a:r>
          </a:p>
        </p:txBody>
      </p:sp>
      <p:sp>
        <p:nvSpPr>
          <p:cNvPr id="109572" name="Rectangle 3"/>
          <p:cNvSpPr>
            <a:spLocks noGrp="1"/>
          </p:cNvSpPr>
          <p:nvPr>
            <p:ph idx="1"/>
          </p:nvPr>
        </p:nvSpPr>
        <p:spPr/>
        <p:txBody>
          <a:bodyPr vert="horz" wrap="square" lIns="91440" tIns="45720" rIns="91440" bIns="45720" anchor="t" anchorCtr="0"/>
          <a:lstStyle/>
          <a:p>
            <a:pPr eaLnBrk="1" hangingPunct="1"/>
            <a:r>
              <a:rPr sz="3200" dirty="0"/>
              <a:t>General idea </a:t>
            </a:r>
          </a:p>
          <a:p>
            <a:pPr eaLnBrk="1" hangingPunct="1">
              <a:buNone/>
            </a:pPr>
            <a:r>
              <a:rPr sz="3200" dirty="0"/>
              <a:t>   Training data </a:t>
            </a:r>
          </a:p>
          <a:p>
            <a:pPr eaLnBrk="1" hangingPunct="1">
              <a:buNone/>
            </a:pPr>
            <a:endParaRPr sz="3200" dirty="0"/>
          </a:p>
          <a:p>
            <a:pPr eaLnBrk="1" hangingPunct="1">
              <a:buNone/>
            </a:pPr>
            <a:r>
              <a:rPr sz="2000" dirty="0"/>
              <a:t>     </a:t>
            </a:r>
            <a:r>
              <a:rPr sz="3200" dirty="0"/>
              <a:t>Altered Training data </a:t>
            </a:r>
          </a:p>
          <a:p>
            <a:pPr eaLnBrk="1" hangingPunct="1">
              <a:buNone/>
            </a:pPr>
            <a:endParaRPr sz="3200" dirty="0"/>
          </a:p>
          <a:p>
            <a:pPr eaLnBrk="1" hangingPunct="1">
              <a:buNone/>
            </a:pPr>
            <a:r>
              <a:rPr sz="3200" dirty="0"/>
              <a:t>   Altered Training data</a:t>
            </a:r>
          </a:p>
          <a:p>
            <a:pPr eaLnBrk="1" hangingPunct="1">
              <a:buNone/>
            </a:pPr>
            <a:r>
              <a:rPr sz="3200" dirty="0"/>
              <a:t>……..</a:t>
            </a:r>
          </a:p>
          <a:p>
            <a:pPr eaLnBrk="1" hangingPunct="1">
              <a:buNone/>
            </a:pPr>
            <a:r>
              <a:rPr sz="3200" dirty="0"/>
              <a:t>  Aggregation ….</a:t>
            </a:r>
          </a:p>
          <a:p>
            <a:pPr eaLnBrk="1" hangingPunct="1">
              <a:buNone/>
            </a:pPr>
            <a:endParaRPr sz="3200" dirty="0"/>
          </a:p>
        </p:txBody>
      </p:sp>
      <p:sp>
        <p:nvSpPr>
          <p:cNvPr id="109573" name="AutoShape 4"/>
          <p:cNvSpPr/>
          <p:nvPr/>
        </p:nvSpPr>
        <p:spPr>
          <a:xfrm>
            <a:off x="3657600" y="2514600"/>
            <a:ext cx="2133600" cy="485775"/>
          </a:xfrm>
          <a:prstGeom prst="rightArrow">
            <a:avLst>
              <a:gd name="adj1" fmla="val 50000"/>
              <a:gd name="adj2" fmla="val 10980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109574" name="Text Box 5"/>
          <p:cNvSpPr txBox="1"/>
          <p:nvPr/>
        </p:nvSpPr>
        <p:spPr>
          <a:xfrm>
            <a:off x="6232525" y="2547938"/>
            <a:ext cx="18811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b="1" dirty="0">
                <a:latin typeface="Tahoma" panose="020B0604030504040204" pitchFamily="34" charset="0"/>
              </a:rPr>
              <a:t>Classifier C</a:t>
            </a:r>
          </a:p>
        </p:txBody>
      </p:sp>
      <p:sp>
        <p:nvSpPr>
          <p:cNvPr id="109575" name="Text Box 6"/>
          <p:cNvSpPr txBox="1"/>
          <p:nvPr/>
        </p:nvSpPr>
        <p:spPr>
          <a:xfrm>
            <a:off x="3886200" y="2362200"/>
            <a:ext cx="2252663" cy="2746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1200" b="1" dirty="0">
                <a:latin typeface="Tahoma" panose="020B0604030504040204" pitchFamily="34" charset="0"/>
              </a:rPr>
              <a:t>Classification method (CM)</a:t>
            </a:r>
          </a:p>
        </p:txBody>
      </p:sp>
      <p:sp>
        <p:nvSpPr>
          <p:cNvPr id="109576" name="AutoShape 7"/>
          <p:cNvSpPr/>
          <p:nvPr/>
        </p:nvSpPr>
        <p:spPr>
          <a:xfrm>
            <a:off x="4876800" y="3505200"/>
            <a:ext cx="976313" cy="485775"/>
          </a:xfrm>
          <a:prstGeom prst="rightArrow">
            <a:avLst>
              <a:gd name="adj1" fmla="val 50000"/>
              <a:gd name="adj2" fmla="val 5024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endParaRPr sz="2400" b="1" dirty="0">
              <a:latin typeface="Tahoma" panose="020B0604030504040204" pitchFamily="34" charset="0"/>
            </a:endParaRPr>
          </a:p>
        </p:txBody>
      </p:sp>
      <p:sp>
        <p:nvSpPr>
          <p:cNvPr id="109577" name="Text Box 8"/>
          <p:cNvSpPr txBox="1"/>
          <p:nvPr/>
        </p:nvSpPr>
        <p:spPr>
          <a:xfrm>
            <a:off x="5013325" y="3232150"/>
            <a:ext cx="422275" cy="2746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1200" b="1" dirty="0">
                <a:latin typeface="Tahoma" panose="020B0604030504040204" pitchFamily="34" charset="0"/>
              </a:rPr>
              <a:t>CM</a:t>
            </a:r>
          </a:p>
        </p:txBody>
      </p:sp>
      <p:sp>
        <p:nvSpPr>
          <p:cNvPr id="109578" name="Text Box 9"/>
          <p:cNvSpPr txBox="1"/>
          <p:nvPr/>
        </p:nvSpPr>
        <p:spPr>
          <a:xfrm>
            <a:off x="6232525" y="3538538"/>
            <a:ext cx="20748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b="1" dirty="0">
                <a:latin typeface="Tahoma" panose="020B0604030504040204" pitchFamily="34" charset="0"/>
              </a:rPr>
              <a:t>Classifier C1</a:t>
            </a:r>
          </a:p>
        </p:txBody>
      </p:sp>
      <p:sp>
        <p:nvSpPr>
          <p:cNvPr id="109579" name="AutoShape 10"/>
          <p:cNvSpPr/>
          <p:nvPr/>
        </p:nvSpPr>
        <p:spPr>
          <a:xfrm>
            <a:off x="4876800" y="4543425"/>
            <a:ext cx="976313" cy="485775"/>
          </a:xfrm>
          <a:prstGeom prst="rightArrow">
            <a:avLst>
              <a:gd name="adj1" fmla="val 50000"/>
              <a:gd name="adj2" fmla="val 5024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109580" name="Text Box 11"/>
          <p:cNvSpPr txBox="1"/>
          <p:nvPr/>
        </p:nvSpPr>
        <p:spPr>
          <a:xfrm>
            <a:off x="5013325" y="4298950"/>
            <a:ext cx="422275" cy="2746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1200" b="1" dirty="0">
                <a:latin typeface="Tahoma" panose="020B0604030504040204" pitchFamily="34" charset="0"/>
              </a:rPr>
              <a:t>CM</a:t>
            </a:r>
          </a:p>
        </p:txBody>
      </p:sp>
      <p:sp>
        <p:nvSpPr>
          <p:cNvPr id="109581" name="Text Box 12"/>
          <p:cNvSpPr txBox="1"/>
          <p:nvPr/>
        </p:nvSpPr>
        <p:spPr>
          <a:xfrm>
            <a:off x="6232525" y="4452938"/>
            <a:ext cx="20748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b="1" dirty="0">
                <a:latin typeface="Tahoma" panose="020B0604030504040204" pitchFamily="34" charset="0"/>
              </a:rPr>
              <a:t>Classifier C2</a:t>
            </a:r>
          </a:p>
        </p:txBody>
      </p:sp>
      <p:sp>
        <p:nvSpPr>
          <p:cNvPr id="109582" name="AutoShape 13"/>
          <p:cNvSpPr/>
          <p:nvPr/>
        </p:nvSpPr>
        <p:spPr>
          <a:xfrm>
            <a:off x="4114800" y="5638800"/>
            <a:ext cx="1828800" cy="485775"/>
          </a:xfrm>
          <a:prstGeom prst="rightArrow">
            <a:avLst>
              <a:gd name="adj1" fmla="val 50000"/>
              <a:gd name="adj2" fmla="val 94117"/>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sz="2400" dirty="0"/>
          </a:p>
        </p:txBody>
      </p:sp>
      <p:sp>
        <p:nvSpPr>
          <p:cNvPr id="109583" name="Text Box 14"/>
          <p:cNvSpPr txBox="1"/>
          <p:nvPr/>
        </p:nvSpPr>
        <p:spPr>
          <a:xfrm>
            <a:off x="6461125" y="5672138"/>
            <a:ext cx="20748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sz="2400" b="1" dirty="0">
                <a:latin typeface="Tahoma" panose="020B0604030504040204" pitchFamily="34" charset="0"/>
              </a:rPr>
              <a:t>Classifier C*</a:t>
            </a:r>
          </a:p>
        </p:txBody>
      </p:sp>
    </p:spTree>
  </p:cSld>
  <p:clrMapOvr>
    <a:masterClrMapping/>
  </p:clrMapOvr>
  <p:transition>
    <p:zoom/>
  </p:transition>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152</a:t>
            </a:fld>
            <a:endParaRPr lang="en-US" sz="1200" dirty="0">
              <a:latin typeface="Tahoma" panose="020B0604030504040204" pitchFamily="34" charset="0"/>
              <a:ea typeface="+mn-ea"/>
              <a:cs typeface="+mn-cs"/>
            </a:endParaRPr>
          </a:p>
        </p:txBody>
      </p:sp>
      <p:sp>
        <p:nvSpPr>
          <p:cNvPr id="110595" name="Rectangle 2"/>
          <p:cNvSpPr>
            <a:spLocks noGrp="1"/>
          </p:cNvSpPr>
          <p:nvPr>
            <p:ph type="title"/>
          </p:nvPr>
        </p:nvSpPr>
        <p:spPr>
          <a:xfrm>
            <a:off x="0" y="0"/>
            <a:ext cx="4738688" cy="838200"/>
          </a:xfrm>
        </p:spPr>
        <p:txBody>
          <a:bodyPr vert="horz" wrap="square" lIns="91440" tIns="45720" rIns="91440" bIns="45720" anchor="b" anchorCtr="0"/>
          <a:lstStyle/>
          <a:p>
            <a:pPr eaLnBrk="1" hangingPunct="1"/>
            <a:r>
              <a:rPr dirty="0"/>
              <a:t>Bagging </a:t>
            </a:r>
          </a:p>
        </p:txBody>
      </p:sp>
      <p:sp>
        <p:nvSpPr>
          <p:cNvPr id="110596" name="Rectangle 3"/>
          <p:cNvSpPr>
            <a:spLocks noGrp="1"/>
          </p:cNvSpPr>
          <p:nvPr>
            <p:ph idx="1"/>
          </p:nvPr>
        </p:nvSpPr>
        <p:spPr/>
        <p:txBody>
          <a:bodyPr vert="horz" wrap="square" lIns="91440" tIns="45720" rIns="91440" bIns="45720" anchor="t" anchorCtr="0"/>
          <a:lstStyle/>
          <a:p>
            <a:pPr eaLnBrk="1" hangingPunct="1">
              <a:lnSpc>
                <a:spcPct val="90000"/>
              </a:lnSpc>
            </a:pPr>
            <a:r>
              <a:rPr sz="2000" dirty="0"/>
              <a:t>Given a set S of s samples </a:t>
            </a:r>
          </a:p>
          <a:p>
            <a:pPr eaLnBrk="1" hangingPunct="1">
              <a:lnSpc>
                <a:spcPct val="90000"/>
              </a:lnSpc>
            </a:pPr>
            <a:endParaRPr sz="2000" dirty="0"/>
          </a:p>
          <a:p>
            <a:pPr eaLnBrk="1" hangingPunct="1">
              <a:lnSpc>
                <a:spcPct val="90000"/>
              </a:lnSpc>
            </a:pPr>
            <a:r>
              <a:rPr sz="2000" dirty="0"/>
              <a:t>Generate a bootstrap sample T from S. Cases in S may not appear in T or may appear more than once.</a:t>
            </a:r>
          </a:p>
          <a:p>
            <a:pPr eaLnBrk="1" hangingPunct="1">
              <a:lnSpc>
                <a:spcPct val="90000"/>
              </a:lnSpc>
            </a:pPr>
            <a:r>
              <a:rPr sz="2000" dirty="0"/>
              <a:t> </a:t>
            </a:r>
          </a:p>
          <a:p>
            <a:pPr eaLnBrk="1" hangingPunct="1">
              <a:lnSpc>
                <a:spcPct val="90000"/>
              </a:lnSpc>
            </a:pPr>
            <a:r>
              <a:rPr sz="2000" dirty="0"/>
              <a:t>Repeat this sampling procedure, getting a sequence of k independent training sets</a:t>
            </a:r>
          </a:p>
          <a:p>
            <a:pPr eaLnBrk="1" hangingPunct="1">
              <a:lnSpc>
                <a:spcPct val="90000"/>
              </a:lnSpc>
            </a:pPr>
            <a:endParaRPr sz="2000" dirty="0"/>
          </a:p>
          <a:p>
            <a:pPr eaLnBrk="1" hangingPunct="1">
              <a:lnSpc>
                <a:spcPct val="90000"/>
              </a:lnSpc>
            </a:pPr>
            <a:r>
              <a:rPr sz="2000" dirty="0"/>
              <a:t>A corresponding sequence of classifiers C1,C2,…,Ck is constructed for each of these training sets, by using the same classification algorithm </a:t>
            </a:r>
          </a:p>
          <a:p>
            <a:pPr eaLnBrk="1" hangingPunct="1">
              <a:lnSpc>
                <a:spcPct val="90000"/>
              </a:lnSpc>
            </a:pPr>
            <a:endParaRPr sz="2000" dirty="0"/>
          </a:p>
          <a:p>
            <a:pPr eaLnBrk="1" hangingPunct="1">
              <a:lnSpc>
                <a:spcPct val="90000"/>
              </a:lnSpc>
            </a:pPr>
            <a:r>
              <a:rPr sz="2000" dirty="0"/>
              <a:t>To classify an unknown sample X,let each classifier predict or vote</a:t>
            </a:r>
          </a:p>
          <a:p>
            <a:pPr eaLnBrk="1" hangingPunct="1">
              <a:lnSpc>
                <a:spcPct val="90000"/>
              </a:lnSpc>
            </a:pPr>
            <a:r>
              <a:rPr sz="2000" dirty="0"/>
              <a:t> </a:t>
            </a:r>
          </a:p>
          <a:p>
            <a:pPr eaLnBrk="1" hangingPunct="1">
              <a:lnSpc>
                <a:spcPct val="90000"/>
              </a:lnSpc>
            </a:pPr>
            <a:r>
              <a:rPr sz="2000" dirty="0"/>
              <a:t>The Bagged Classifier C* counts the votes and assigns X to the class with the “most” votes</a:t>
            </a:r>
          </a:p>
        </p:txBody>
      </p:sp>
    </p:spTree>
  </p:cSld>
  <p:clrMapOvr>
    <a:masterClrMapping/>
  </p:clrMapOvr>
  <p:transition>
    <p:zoom/>
  </p:transition>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153</a:t>
            </a:fld>
            <a:endParaRPr lang="en-US" sz="1200" dirty="0">
              <a:latin typeface="Tahoma" panose="020B0604030504040204" pitchFamily="34" charset="0"/>
              <a:ea typeface="+mn-ea"/>
              <a:cs typeface="+mn-cs"/>
            </a:endParaRPr>
          </a:p>
        </p:txBody>
      </p:sp>
      <p:sp>
        <p:nvSpPr>
          <p:cNvPr id="111619" name="Rectangle 1026"/>
          <p:cNvSpPr>
            <a:spLocks noGrp="1"/>
          </p:cNvSpPr>
          <p:nvPr>
            <p:ph type="title"/>
          </p:nvPr>
        </p:nvSpPr>
        <p:spPr/>
        <p:txBody>
          <a:bodyPr vert="horz" wrap="square" lIns="91440" tIns="45720" rIns="91440" bIns="45720" anchor="b" anchorCtr="0"/>
          <a:lstStyle/>
          <a:p>
            <a:pPr eaLnBrk="1" hangingPunct="1"/>
            <a:r>
              <a:rPr dirty="0"/>
              <a:t>Boosting Technique </a:t>
            </a:r>
            <a:r>
              <a:rPr dirty="0">
                <a:cs typeface="Tahoma" panose="020B0604030504040204" pitchFamily="34" charset="0"/>
              </a:rPr>
              <a:t>—</a:t>
            </a:r>
            <a:r>
              <a:rPr dirty="0"/>
              <a:t> Algorithm</a:t>
            </a:r>
          </a:p>
        </p:txBody>
      </p:sp>
      <p:sp>
        <p:nvSpPr>
          <p:cNvPr id="111620" name="Rectangle 1027"/>
          <p:cNvSpPr>
            <a:spLocks noGrp="1"/>
          </p:cNvSpPr>
          <p:nvPr>
            <p:ph idx="1"/>
          </p:nvPr>
        </p:nvSpPr>
        <p:spPr>
          <a:xfrm>
            <a:off x="304800" y="1550988"/>
            <a:ext cx="8458200" cy="4926012"/>
          </a:xfrm>
        </p:spPr>
        <p:txBody>
          <a:bodyPr vert="horz" wrap="square" lIns="91440" tIns="45720" rIns="91440" bIns="45720" anchor="t" anchorCtr="0"/>
          <a:lstStyle/>
          <a:p>
            <a:pPr eaLnBrk="1" hangingPunct="1">
              <a:lnSpc>
                <a:spcPct val="90000"/>
              </a:lnSpc>
            </a:pPr>
            <a:r>
              <a:rPr sz="2000" dirty="0"/>
              <a:t>Assign every example an equal weight  </a:t>
            </a:r>
            <a:r>
              <a:rPr sz="2000" i="1" dirty="0"/>
              <a:t>1/N</a:t>
            </a:r>
          </a:p>
          <a:p>
            <a:pPr eaLnBrk="1" hangingPunct="1">
              <a:lnSpc>
                <a:spcPct val="90000"/>
              </a:lnSpc>
            </a:pPr>
            <a:endParaRPr sz="2000" i="1" dirty="0"/>
          </a:p>
          <a:p>
            <a:pPr eaLnBrk="1" hangingPunct="1">
              <a:lnSpc>
                <a:spcPct val="90000"/>
              </a:lnSpc>
            </a:pPr>
            <a:r>
              <a:rPr sz="2000" i="1" dirty="0"/>
              <a:t>For t = 1, 2, …, T Do </a:t>
            </a:r>
          </a:p>
          <a:p>
            <a:pPr lvl="1" eaLnBrk="1" hangingPunct="1">
              <a:lnSpc>
                <a:spcPct val="90000"/>
              </a:lnSpc>
            </a:pPr>
            <a:r>
              <a:rPr sz="2000" dirty="0"/>
              <a:t>Obtain a hypothesis (classifier) h</a:t>
            </a:r>
            <a:r>
              <a:rPr sz="2000" baseline="30000" dirty="0"/>
              <a:t>(t)</a:t>
            </a:r>
            <a:r>
              <a:rPr sz="2000" dirty="0"/>
              <a:t> under w</a:t>
            </a:r>
            <a:r>
              <a:rPr sz="2000" baseline="30000" dirty="0"/>
              <a:t>(t)</a:t>
            </a:r>
          </a:p>
          <a:p>
            <a:pPr lvl="1" eaLnBrk="1" hangingPunct="1">
              <a:lnSpc>
                <a:spcPct val="90000"/>
              </a:lnSpc>
            </a:pPr>
            <a:endParaRPr sz="2000" dirty="0"/>
          </a:p>
          <a:p>
            <a:pPr lvl="1" eaLnBrk="1" hangingPunct="1">
              <a:lnSpc>
                <a:spcPct val="90000"/>
              </a:lnSpc>
            </a:pPr>
            <a:r>
              <a:rPr sz="2000" dirty="0"/>
              <a:t>Calculate the error of</a:t>
            </a:r>
            <a:r>
              <a:rPr sz="2000" i="1" dirty="0"/>
              <a:t> h(t)</a:t>
            </a:r>
            <a:r>
              <a:rPr sz="2000" dirty="0"/>
              <a:t> and re-weight the examples based on the error . Each classifier is dependent on the previous ones. Samples that are incorrectly predicted are weighted more heavily</a:t>
            </a:r>
          </a:p>
          <a:p>
            <a:pPr lvl="1" eaLnBrk="1" hangingPunct="1">
              <a:lnSpc>
                <a:spcPct val="90000"/>
              </a:lnSpc>
            </a:pPr>
            <a:endParaRPr sz="2000" dirty="0"/>
          </a:p>
          <a:p>
            <a:pPr lvl="1" eaLnBrk="1" hangingPunct="1">
              <a:lnSpc>
                <a:spcPct val="90000"/>
              </a:lnSpc>
            </a:pPr>
            <a:r>
              <a:rPr sz="2000" dirty="0"/>
              <a:t>Normalize w</a:t>
            </a:r>
            <a:r>
              <a:rPr sz="2000" baseline="30000" dirty="0"/>
              <a:t>(t+1)</a:t>
            </a:r>
            <a:r>
              <a:rPr sz="2000" dirty="0"/>
              <a:t> to sum to 1 (weights assigned to different classifiers sum to 1)</a:t>
            </a:r>
          </a:p>
          <a:p>
            <a:pPr lvl="1" eaLnBrk="1" hangingPunct="1">
              <a:lnSpc>
                <a:spcPct val="90000"/>
              </a:lnSpc>
            </a:pPr>
            <a:endParaRPr sz="2000" dirty="0"/>
          </a:p>
          <a:p>
            <a:pPr eaLnBrk="1" hangingPunct="1">
              <a:lnSpc>
                <a:spcPct val="90000"/>
              </a:lnSpc>
            </a:pPr>
            <a:r>
              <a:rPr sz="2000" dirty="0"/>
              <a:t>Output a weighted sum of all the hypothesis, with each hypothesis weighted according to its accuracy on the training set </a:t>
            </a:r>
          </a:p>
        </p:txBody>
      </p:sp>
    </p:spTree>
  </p:cSld>
  <p:clrMapOvr>
    <a:masterClrMapping/>
  </p:clrMapOvr>
  <p:transition>
    <p:zoom/>
  </p:transition>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154</a:t>
            </a:fld>
            <a:endParaRPr lang="en-US" sz="1200" dirty="0">
              <a:latin typeface="Tahoma" panose="020B0604030504040204" pitchFamily="34" charset="0"/>
              <a:ea typeface="+mn-ea"/>
              <a:cs typeface="+mn-cs"/>
            </a:endParaRPr>
          </a:p>
        </p:txBody>
      </p:sp>
      <p:sp>
        <p:nvSpPr>
          <p:cNvPr id="112643" name="Rectangle 2"/>
          <p:cNvSpPr>
            <a:spLocks noGrp="1"/>
          </p:cNvSpPr>
          <p:nvPr>
            <p:ph type="title"/>
          </p:nvPr>
        </p:nvSpPr>
        <p:spPr>
          <a:xfrm>
            <a:off x="609600" y="304800"/>
            <a:ext cx="7772400" cy="838200"/>
          </a:xfrm>
        </p:spPr>
        <p:txBody>
          <a:bodyPr vert="horz" wrap="square" lIns="92075" tIns="46038" rIns="92075" bIns="46038" anchor="ctr" anchorCtr="0"/>
          <a:lstStyle/>
          <a:p>
            <a:pPr eaLnBrk="1" hangingPunct="1"/>
            <a:r>
              <a:rPr sz="3200" dirty="0"/>
              <a:t>Chapter 7. Classification and Prediction</a:t>
            </a:r>
          </a:p>
        </p:txBody>
      </p:sp>
      <p:sp>
        <p:nvSpPr>
          <p:cNvPr id="112644" name="Rectangle 3"/>
          <p:cNvSpPr>
            <a:spLocks noGrp="1"/>
          </p:cNvSpPr>
          <p:nvPr>
            <p:ph idx="1"/>
          </p:nvPr>
        </p:nvSpPr>
        <p:spPr>
          <a:xfrm>
            <a:off x="381000" y="1524000"/>
            <a:ext cx="8221663" cy="5029200"/>
          </a:xfrm>
        </p:spPr>
        <p:txBody>
          <a:bodyPr vert="horz" wrap="square" lIns="92075" tIns="46038" rIns="92075" bIns="46038" anchor="t" anchorCtr="0"/>
          <a:lstStyle/>
          <a:p>
            <a:pPr eaLnBrk="1" hangingPunct="1"/>
            <a:r>
              <a:rPr sz="2400" dirty="0"/>
              <a:t>What is classification? What is prediction?</a:t>
            </a:r>
          </a:p>
          <a:p>
            <a:pPr eaLnBrk="1" hangingPunct="1"/>
            <a:r>
              <a:rPr sz="2400" dirty="0"/>
              <a:t>Issues regarding classification and prediction</a:t>
            </a:r>
          </a:p>
          <a:p>
            <a:pPr eaLnBrk="1" hangingPunct="1"/>
            <a:r>
              <a:rPr sz="2400" dirty="0"/>
              <a:t>Classification by decision tree induction</a:t>
            </a:r>
          </a:p>
          <a:p>
            <a:pPr eaLnBrk="1" hangingPunct="1"/>
            <a:r>
              <a:rPr sz="2400" dirty="0"/>
              <a:t>Bayesian Classification</a:t>
            </a:r>
          </a:p>
          <a:p>
            <a:pPr eaLnBrk="1" hangingPunct="1"/>
            <a:r>
              <a:rPr sz="2400" dirty="0"/>
              <a:t>Classification by Neural Networks</a:t>
            </a:r>
          </a:p>
          <a:p>
            <a:pPr eaLnBrk="1" hangingPunct="1"/>
            <a:r>
              <a:rPr sz="2400" dirty="0"/>
              <a:t>Classification based on concepts from association rule mining</a:t>
            </a:r>
          </a:p>
          <a:p>
            <a:pPr eaLnBrk="1" hangingPunct="1"/>
            <a:r>
              <a:rPr sz="2400" dirty="0"/>
              <a:t>Other Classification Methods</a:t>
            </a:r>
          </a:p>
          <a:p>
            <a:pPr eaLnBrk="1" hangingPunct="1"/>
            <a:r>
              <a:rPr sz="2400" dirty="0"/>
              <a:t>Prediction</a:t>
            </a:r>
          </a:p>
          <a:p>
            <a:pPr eaLnBrk="1" hangingPunct="1"/>
            <a:r>
              <a:rPr sz="2400" dirty="0"/>
              <a:t>Classification accuracy</a:t>
            </a:r>
          </a:p>
          <a:p>
            <a:pPr eaLnBrk="1" hangingPunct="1"/>
            <a:r>
              <a:rPr sz="2400" dirty="0">
                <a:solidFill>
                  <a:srgbClr val="660033"/>
                </a:solidFill>
              </a:rPr>
              <a:t>Summary</a:t>
            </a:r>
          </a:p>
        </p:txBody>
      </p:sp>
    </p:spTree>
  </p:cSld>
  <p:clrMapOvr>
    <a:masterClrMapping/>
  </p:clrMapOvr>
  <p:transition>
    <p:zoom/>
  </p:transition>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Slide Number Placeholder 3"/>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en-US" sz="1200" dirty="0">
                <a:latin typeface="Tahoma" panose="020B0604030504040204" pitchFamily="34" charset="0"/>
                <a:ea typeface="+mn-ea"/>
                <a:cs typeface="+mn-cs"/>
              </a:rPr>
              <a:pPr marL="0" indent="0" algn="r" eaLnBrk="1" hangingPunct="1">
                <a:spcBef>
                  <a:spcPct val="0"/>
                </a:spcBef>
                <a:buClrTx/>
                <a:buSzTx/>
                <a:buFontTx/>
                <a:buNone/>
              </a:pPr>
              <a:t>155</a:t>
            </a:fld>
            <a:endParaRPr lang="en-US" sz="1200" dirty="0">
              <a:latin typeface="Tahoma" panose="020B0604030504040204" pitchFamily="34" charset="0"/>
              <a:ea typeface="+mn-ea"/>
              <a:cs typeface="+mn-cs"/>
            </a:endParaRPr>
          </a:p>
        </p:txBody>
      </p:sp>
      <p:sp>
        <p:nvSpPr>
          <p:cNvPr id="113667" name="Rectangle 2"/>
          <p:cNvSpPr>
            <a:spLocks noGrp="1"/>
          </p:cNvSpPr>
          <p:nvPr>
            <p:ph type="title"/>
          </p:nvPr>
        </p:nvSpPr>
        <p:spPr>
          <a:xfrm>
            <a:off x="1371600" y="457200"/>
            <a:ext cx="3657600" cy="609600"/>
          </a:xfrm>
        </p:spPr>
        <p:txBody>
          <a:bodyPr vert="horz" wrap="square" lIns="91440" tIns="45720" rIns="91440" bIns="45720" anchor="b" anchorCtr="0"/>
          <a:lstStyle/>
          <a:p>
            <a:pPr eaLnBrk="1" hangingPunct="1"/>
            <a:r>
              <a:rPr dirty="0"/>
              <a:t>Summary</a:t>
            </a:r>
          </a:p>
        </p:txBody>
      </p:sp>
      <p:sp>
        <p:nvSpPr>
          <p:cNvPr id="113668" name="Rectangle 3"/>
          <p:cNvSpPr>
            <a:spLocks noGrp="1"/>
          </p:cNvSpPr>
          <p:nvPr>
            <p:ph idx="1"/>
          </p:nvPr>
        </p:nvSpPr>
        <p:spPr>
          <a:xfrm>
            <a:off x="381000" y="1600200"/>
            <a:ext cx="8382000" cy="4953000"/>
          </a:xfrm>
        </p:spPr>
        <p:txBody>
          <a:bodyPr vert="horz" wrap="square" lIns="91440" tIns="45720" rIns="91440" bIns="45720" anchor="t" anchorCtr="0"/>
          <a:lstStyle/>
          <a:p>
            <a:pPr eaLnBrk="1" hangingPunct="1">
              <a:lnSpc>
                <a:spcPct val="130000"/>
              </a:lnSpc>
            </a:pPr>
            <a:r>
              <a:rPr sz="2400" dirty="0"/>
              <a:t>Classification is an </a:t>
            </a:r>
            <a:r>
              <a:rPr sz="2400" dirty="0">
                <a:solidFill>
                  <a:srgbClr val="660033"/>
                </a:solidFill>
              </a:rPr>
              <a:t>extensively studied</a:t>
            </a:r>
            <a:r>
              <a:rPr sz="2400" dirty="0"/>
              <a:t> problem (mainly in statistics, machine learning &amp; neural networks)</a:t>
            </a:r>
          </a:p>
          <a:p>
            <a:pPr eaLnBrk="1" hangingPunct="1">
              <a:lnSpc>
                <a:spcPct val="130000"/>
              </a:lnSpc>
            </a:pPr>
            <a:r>
              <a:rPr sz="2400" dirty="0"/>
              <a:t>Classification is probably one of the most </a:t>
            </a:r>
            <a:r>
              <a:rPr sz="2400" dirty="0">
                <a:solidFill>
                  <a:srgbClr val="660033"/>
                </a:solidFill>
              </a:rPr>
              <a:t>widely used</a:t>
            </a:r>
            <a:r>
              <a:rPr sz="2400" dirty="0"/>
              <a:t> data mining techniques with a lot of extensions</a:t>
            </a:r>
          </a:p>
          <a:p>
            <a:pPr eaLnBrk="1" hangingPunct="1">
              <a:lnSpc>
                <a:spcPct val="130000"/>
              </a:lnSpc>
            </a:pPr>
            <a:r>
              <a:rPr sz="2400" dirty="0">
                <a:solidFill>
                  <a:srgbClr val="660033"/>
                </a:solidFill>
              </a:rPr>
              <a:t>Scalability</a:t>
            </a:r>
            <a:r>
              <a:rPr sz="2400" dirty="0">
                <a:solidFill>
                  <a:schemeClr val="hlink"/>
                </a:solidFill>
              </a:rPr>
              <a:t> </a:t>
            </a:r>
            <a:r>
              <a:rPr sz="2400" dirty="0"/>
              <a:t>is still an important issue for database applications:  thus combining classification </a:t>
            </a:r>
            <a:r>
              <a:rPr sz="2400" dirty="0">
                <a:solidFill>
                  <a:schemeClr val="hlink"/>
                </a:solidFill>
              </a:rPr>
              <a:t>with </a:t>
            </a:r>
            <a:r>
              <a:rPr sz="2400" dirty="0">
                <a:solidFill>
                  <a:srgbClr val="660033"/>
                </a:solidFill>
              </a:rPr>
              <a:t>database techniques</a:t>
            </a:r>
            <a:r>
              <a:rPr sz="2400" dirty="0"/>
              <a:t> should be a promising topic</a:t>
            </a:r>
          </a:p>
          <a:p>
            <a:pPr eaLnBrk="1" hangingPunct="1">
              <a:lnSpc>
                <a:spcPct val="130000"/>
              </a:lnSpc>
            </a:pPr>
            <a:r>
              <a:rPr sz="2400" dirty="0"/>
              <a:t>Research directions: classification of</a:t>
            </a:r>
            <a:r>
              <a:rPr sz="2400" dirty="0">
                <a:solidFill>
                  <a:srgbClr val="FF0066"/>
                </a:solidFill>
              </a:rPr>
              <a:t> </a:t>
            </a:r>
            <a:r>
              <a:rPr sz="2400" dirty="0">
                <a:solidFill>
                  <a:srgbClr val="FF3300"/>
                </a:solidFill>
              </a:rPr>
              <a:t>non-relational data</a:t>
            </a:r>
            <a:r>
              <a:rPr sz="2400" dirty="0"/>
              <a:t>, e.g., text, spatial, multimedia, etc..</a:t>
            </a:r>
          </a:p>
        </p:txBody>
      </p:sp>
    </p:spTree>
  </p:cSld>
  <p:clrMapOvr>
    <a:masterClrMapping/>
  </p:clrMapOvr>
  <p:transition>
    <p:zoom/>
  </p:transition>
</p:sld>
</file>

<file path=ppt/theme/theme1.xml><?xml version="1.0" encoding="utf-8"?>
<a:theme xmlns:a="http://schemas.openxmlformats.org/drawingml/2006/main" name="Blends">
  <a:themeElements>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fontScheme name="Blends">
      <a:majorFont>
        <a:latin typeface="Tahoma"/>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Comic Sans MS" panose="030F0702030302020204" pitchFamily="66"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Comic Sans MS" panose="030F0702030302020204" pitchFamily="66"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160</TotalTime>
  <Words>7462</Words>
  <Application>WPS Presentation</Application>
  <PresentationFormat>On-screen Show (4:3)</PresentationFormat>
  <Paragraphs>1326</Paragraphs>
  <Slides>155</Slides>
  <Notes>48</Notes>
  <HiddenSlides>0</HiddenSlides>
  <MMClips>0</MMClips>
  <ScaleCrop>false</ScaleCrop>
  <HeadingPairs>
    <vt:vector size="6" baseType="variant">
      <vt:variant>
        <vt:lpstr>Theme</vt:lpstr>
      </vt:variant>
      <vt:variant>
        <vt:i4>1</vt:i4>
      </vt:variant>
      <vt:variant>
        <vt:lpstr>Embedded OLE Servers</vt:lpstr>
      </vt:variant>
      <vt:variant>
        <vt:i4>4</vt:i4>
      </vt:variant>
      <vt:variant>
        <vt:lpstr>Slide Titles</vt:lpstr>
      </vt:variant>
      <vt:variant>
        <vt:i4>155</vt:i4>
      </vt:variant>
    </vt:vector>
  </HeadingPairs>
  <TitlesOfParts>
    <vt:vector size="160" baseType="lpstr">
      <vt:lpstr>Blends</vt:lpstr>
      <vt:lpstr>Microsoft Office Excel 97-2003 Worksheet</vt:lpstr>
      <vt:lpstr>Microsoft Equation 3.0</vt:lpstr>
      <vt:lpstr>Document</vt:lpstr>
      <vt:lpstr>SmartDraw</vt:lpstr>
      <vt:lpstr>Unit V</vt:lpstr>
      <vt:lpstr>Classification and Prediction</vt:lpstr>
      <vt:lpstr>Classification vs. Prediction</vt:lpstr>
      <vt:lpstr>Classification—A Two-Step Process </vt:lpstr>
      <vt:lpstr>Classification—A Two-Step Process </vt:lpstr>
      <vt:lpstr>Classification Process (1):  Model Construction</vt:lpstr>
      <vt:lpstr>Classification Process (2): Use the Model in Prediction</vt:lpstr>
      <vt:lpstr>Supervised vs. Unsupervised Learning</vt:lpstr>
      <vt:lpstr>Chapter 7. Classification and Prediction</vt:lpstr>
      <vt:lpstr>Issues Regarding Classification and Prediction: 1. Data Preparation</vt:lpstr>
      <vt:lpstr>Issues regarding classification and prediction:  2. Comparing Classification Methods</vt:lpstr>
      <vt:lpstr>Chapter 7. Classification and Prediction</vt:lpstr>
      <vt:lpstr>Training Dataset</vt:lpstr>
      <vt:lpstr>Output: A Decision Tree for “buys_computer”</vt:lpstr>
      <vt:lpstr>Basic algorithm for inducing a decision tree from training tuples</vt:lpstr>
      <vt:lpstr>Basic algorithm for inducing a decision tree  from training tuples (contd..)</vt:lpstr>
      <vt:lpstr>Attribute Selection Measures</vt:lpstr>
      <vt:lpstr>Slide 18</vt:lpstr>
      <vt:lpstr>Slide 19</vt:lpstr>
      <vt:lpstr>Slide 20</vt:lpstr>
      <vt:lpstr>Attribute Selection by Information Gain Computation</vt:lpstr>
      <vt:lpstr>Slide 22</vt:lpstr>
      <vt:lpstr>Slide 23</vt:lpstr>
      <vt:lpstr>Slide 24</vt:lpstr>
      <vt:lpstr>Slide 25</vt:lpstr>
      <vt:lpstr>Slide 26</vt:lpstr>
      <vt:lpstr>Slide 27</vt:lpstr>
      <vt:lpstr>Slide 28</vt:lpstr>
      <vt:lpstr>Slide 29</vt:lpstr>
      <vt:lpstr>Slide 30</vt:lpstr>
      <vt:lpstr>Slide 31</vt:lpstr>
      <vt:lpstr>Tree Pruning: Avoid Overfitting in Classification</vt:lpstr>
      <vt:lpstr>Slide 33</vt:lpstr>
      <vt:lpstr>Slide 34</vt:lpstr>
      <vt:lpstr>Extracting Classification Rules from Trees</vt:lpstr>
      <vt:lpstr>Approaches to Determine  the Final Tree Size</vt:lpstr>
      <vt:lpstr>Enhancements to basic decision  tree induction</vt:lpstr>
      <vt:lpstr>Classification in Large Databases</vt:lpstr>
      <vt:lpstr>Scalable Decision Tree Induction Methods  in Data Mining Studies</vt:lpstr>
      <vt:lpstr>Chapter 7. Classification and Prediction</vt:lpstr>
      <vt:lpstr> Bayesian Classification</vt:lpstr>
      <vt:lpstr>Bayesian Theorem Basics</vt:lpstr>
      <vt:lpstr> Bayesian Classification: Practical difficulty</vt:lpstr>
      <vt:lpstr>Naive Bayesian classification</vt:lpstr>
      <vt:lpstr>Slide 45</vt:lpstr>
      <vt:lpstr>Training dataset</vt:lpstr>
      <vt:lpstr>Naïve Bayesian Classifier:  Example Compute P(X/Ci) for each class</vt:lpstr>
      <vt:lpstr>Bayesian Classification: Why?</vt:lpstr>
      <vt:lpstr>Naïve Bayesian Classifier: Comments</vt:lpstr>
      <vt:lpstr>Bayesian Networks</vt:lpstr>
      <vt:lpstr>Bayesian Belief Network: An Example</vt:lpstr>
      <vt:lpstr>Learning Bayesian Networks</vt:lpstr>
      <vt:lpstr>Chapter 7. Classification and Prediction</vt:lpstr>
      <vt:lpstr>Classification by Neural Networks (Backpropagation)</vt:lpstr>
      <vt:lpstr>Slide 55</vt:lpstr>
      <vt:lpstr>Slide 56</vt:lpstr>
      <vt:lpstr>Slide 57</vt:lpstr>
      <vt:lpstr>Slide 58</vt:lpstr>
      <vt:lpstr>Single Layer Feed-forward </vt:lpstr>
      <vt:lpstr>Multilayer Feed-forward Neural Network</vt:lpstr>
      <vt:lpstr>Benefits and drawbacks of Neural Networks</vt:lpstr>
      <vt:lpstr>Defining a network topology</vt:lpstr>
      <vt:lpstr>Slide 63</vt:lpstr>
      <vt:lpstr>Slide 64</vt:lpstr>
      <vt:lpstr>Slide 65</vt:lpstr>
      <vt:lpstr>Perceptron for XOR </vt:lpstr>
      <vt:lpstr>Backpropagation</vt:lpstr>
      <vt:lpstr>Multi-Layer Perceptron</vt:lpstr>
      <vt:lpstr>Gradient Descent learning</vt:lpstr>
      <vt:lpstr>Slide 70</vt:lpstr>
      <vt:lpstr>Training Algorithm: Backpropagation   </vt:lpstr>
      <vt:lpstr>Slide 72</vt:lpstr>
      <vt:lpstr>Contd..</vt:lpstr>
      <vt:lpstr>Slide 74</vt:lpstr>
      <vt:lpstr>Weight Update Rule</vt:lpstr>
      <vt:lpstr>Backprop learning algorithm (incremental-mode)</vt:lpstr>
      <vt:lpstr>Stopping criterions</vt:lpstr>
      <vt:lpstr>Processing at node</vt:lpstr>
      <vt:lpstr>Slide 79</vt:lpstr>
      <vt:lpstr>Slide 80</vt:lpstr>
      <vt:lpstr>The Forward Pass</vt:lpstr>
      <vt:lpstr>Slide 82</vt:lpstr>
      <vt:lpstr>Calculating the Total Error (squared error function)</vt:lpstr>
      <vt:lpstr>Backwards Pass</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Potential users of ANN</vt:lpstr>
      <vt:lpstr>Chapter 7. Classification and Prediction</vt:lpstr>
      <vt:lpstr>Classification: A Mathematical Mapping</vt:lpstr>
      <vt:lpstr>Discriminative Classifiers</vt:lpstr>
      <vt:lpstr>SVM—Support Vector Machines</vt:lpstr>
      <vt:lpstr>SVM—History and Applications</vt:lpstr>
      <vt:lpstr>SVM—General Philosophy</vt:lpstr>
      <vt:lpstr>SVM—Margins and Support Vectors</vt:lpstr>
      <vt:lpstr>SVM—When Data Is Linearly Separable</vt:lpstr>
      <vt:lpstr>Slide 108</vt:lpstr>
      <vt:lpstr>Slide 109</vt:lpstr>
      <vt:lpstr>Slide 110</vt:lpstr>
      <vt:lpstr>Slide 111</vt:lpstr>
      <vt:lpstr>SVM—Linearly Separable</vt:lpstr>
      <vt:lpstr>Why Is SVM Effective on High Dimensional Data?</vt:lpstr>
      <vt:lpstr>SVM—Linearly Inseparable</vt:lpstr>
      <vt:lpstr>Slide 115</vt:lpstr>
      <vt:lpstr>Slide 116</vt:lpstr>
      <vt:lpstr>Slide 117</vt:lpstr>
      <vt:lpstr>SVM vs. Neural Network</vt:lpstr>
      <vt:lpstr>Chapter 7. Classification and Prediction</vt:lpstr>
      <vt:lpstr>Other Classification Methods</vt:lpstr>
      <vt:lpstr>Instance-Based (Lazy Learners) Methods</vt:lpstr>
      <vt:lpstr>Remarks on Lazy vs. Eager Learning</vt:lpstr>
      <vt:lpstr>Slide 123</vt:lpstr>
      <vt:lpstr>The k-Nearest Neighbor Algorithm</vt:lpstr>
      <vt:lpstr>Case-Based Reasoning</vt:lpstr>
      <vt:lpstr>Slide 126</vt:lpstr>
      <vt:lpstr>Distance Metrics Used in KNN Algorithm</vt:lpstr>
      <vt:lpstr>Genetic Algorithms</vt:lpstr>
      <vt:lpstr>Rough Set Approach</vt:lpstr>
      <vt:lpstr>Fuzzy Set Approaches</vt:lpstr>
      <vt:lpstr>Chapter 7. Classification and Prediction</vt:lpstr>
      <vt:lpstr>What Is Prediction?</vt:lpstr>
      <vt:lpstr>Regress Analysis and Log-Linear  Models in Prediction </vt:lpstr>
      <vt:lpstr>Slide 134</vt:lpstr>
      <vt:lpstr>Chapter 7. Classification and Prediction</vt:lpstr>
      <vt:lpstr>Model Evaluation and Selection Classification accuracy</vt:lpstr>
      <vt:lpstr>Classifier Evaluation Metrics: Confusion Matrix</vt:lpstr>
      <vt:lpstr>Classifier Evaluation Metrics: Accuracy, Error Rate, Sensitivity and Specificity</vt:lpstr>
      <vt:lpstr>Classifier Evaluation Metrics:  Precision and Recall, and F-measures</vt:lpstr>
      <vt:lpstr>Classifier Evaluation Metrics: Example</vt:lpstr>
      <vt:lpstr>Evaluating Classifier Accuracy: Holdout &amp; Cross-Validation Methods</vt:lpstr>
      <vt:lpstr>Evaluating Classifier Accuracy: Bootstrap</vt:lpstr>
      <vt:lpstr>Estimating Confidence Intervals: Classifier Models M1 vs. M2</vt:lpstr>
      <vt:lpstr>Estimating Confidence Intervals: Null Hypothesis</vt:lpstr>
      <vt:lpstr>Estimating Confidence Intervals: t-test</vt:lpstr>
      <vt:lpstr>Estimating Confidence Intervals: Table for t-distribution</vt:lpstr>
      <vt:lpstr>Estimating Confidence Intervals: Statistical Significance</vt:lpstr>
      <vt:lpstr>Model Selection: ROC Curves</vt:lpstr>
      <vt:lpstr>Issues Affecting Model Selection</vt:lpstr>
      <vt:lpstr>Chapter 8. Classification: Basic Concepts</vt:lpstr>
      <vt:lpstr>Increasing Accuracy: Bagging and Boosting</vt:lpstr>
      <vt:lpstr>Bagging </vt:lpstr>
      <vt:lpstr>Boosting Technique — Algorithm</vt:lpstr>
      <vt:lpstr>Chapter 7. Classification and Prediction</vt:lpstr>
      <vt:lpstr>Summary</vt:lpstr>
    </vt:vector>
  </TitlesOfParts>
  <Company>S.F.U.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7class</dc:title>
  <dc:creator>Jiawei Han</dc:creator>
  <cp:lastModifiedBy>Admin</cp:lastModifiedBy>
  <cp:revision>401</cp:revision>
  <cp:lastPrinted>1999-09-10T20:38:00Z</cp:lastPrinted>
  <dcterms:created xsi:type="dcterms:W3CDTF">1998-06-19T04:38:00Z</dcterms:created>
  <dcterms:modified xsi:type="dcterms:W3CDTF">2025-11-18T09:52:20Z</dcterms:modified>
  <cp:category>data mining book slides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A84E4E318F2348EFAF7A4B0461D2610F_12</vt:lpwstr>
  </property>
  <property fmtid="{D5CDD505-2E9C-101B-9397-08002B2CF9AE}" pid="3" name="KSOProductBuildVer">
    <vt:lpwstr>1033-12.2.0.23155</vt:lpwstr>
  </property>
</Properties>
</file>