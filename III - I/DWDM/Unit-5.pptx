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12.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slides/slide89.xml" ContentType="application/vnd.openxmlformats-officedocument.presentationml.slide+xml"/>
  <Override PartName="/ppt/slides/slide98.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xls" ContentType="application/vnd.ms-exce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9.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5" r:id="rId1"/>
  </p:sldMasterIdLst>
  <p:notesMasterIdLst>
    <p:notesMasterId r:id="rId100"/>
  </p:notesMasterIdLst>
  <p:handoutMasterIdLst>
    <p:handoutMasterId r:id="rId101"/>
  </p:handoutMasterIdLst>
  <p:sldIdLst>
    <p:sldId id="1051" r:id="rId2"/>
    <p:sldId id="1052" r:id="rId3"/>
    <p:sldId id="1019" r:id="rId4"/>
    <p:sldId id="1020" r:id="rId5"/>
    <p:sldId id="1053" r:id="rId6"/>
    <p:sldId id="1021" r:id="rId7"/>
    <p:sldId id="1023" r:id="rId8"/>
    <p:sldId id="1022" r:id="rId9"/>
    <p:sldId id="1024" r:id="rId10"/>
    <p:sldId id="1025" r:id="rId11"/>
    <p:sldId id="1026" r:id="rId12"/>
    <p:sldId id="1085" r:id="rId13"/>
    <p:sldId id="1084" r:id="rId14"/>
    <p:sldId id="953" r:id="rId15"/>
    <p:sldId id="954" r:id="rId16"/>
    <p:sldId id="955" r:id="rId17"/>
    <p:sldId id="956" r:id="rId18"/>
    <p:sldId id="957" r:id="rId19"/>
    <p:sldId id="958" r:id="rId20"/>
    <p:sldId id="959" r:id="rId21"/>
    <p:sldId id="1027" r:id="rId22"/>
    <p:sldId id="1028" r:id="rId23"/>
    <p:sldId id="961" r:id="rId24"/>
    <p:sldId id="962" r:id="rId25"/>
    <p:sldId id="963" r:id="rId26"/>
    <p:sldId id="965" r:id="rId27"/>
    <p:sldId id="966" r:id="rId28"/>
    <p:sldId id="1030" r:id="rId29"/>
    <p:sldId id="967" r:id="rId30"/>
    <p:sldId id="968" r:id="rId31"/>
    <p:sldId id="969" r:id="rId32"/>
    <p:sldId id="1050" r:id="rId33"/>
    <p:sldId id="1086" r:id="rId34"/>
    <p:sldId id="971" r:id="rId35"/>
    <p:sldId id="972" r:id="rId36"/>
    <p:sldId id="974" r:id="rId37"/>
    <p:sldId id="975" r:id="rId38"/>
    <p:sldId id="976" r:id="rId39"/>
    <p:sldId id="979" r:id="rId40"/>
    <p:sldId id="1029" r:id="rId41"/>
    <p:sldId id="982" r:id="rId42"/>
    <p:sldId id="1031" r:id="rId43"/>
    <p:sldId id="1032" r:id="rId44"/>
    <p:sldId id="1033" r:id="rId45"/>
    <p:sldId id="1034" r:id="rId46"/>
    <p:sldId id="1035" r:id="rId47"/>
    <p:sldId id="1036" r:id="rId48"/>
    <p:sldId id="1037" r:id="rId49"/>
    <p:sldId id="1038" r:id="rId50"/>
    <p:sldId id="1039" r:id="rId51"/>
    <p:sldId id="1040" r:id="rId52"/>
    <p:sldId id="1041" r:id="rId53"/>
    <p:sldId id="1042" r:id="rId54"/>
    <p:sldId id="990" r:id="rId55"/>
    <p:sldId id="1044" r:id="rId56"/>
    <p:sldId id="1045" r:id="rId57"/>
    <p:sldId id="992" r:id="rId58"/>
    <p:sldId id="1046" r:id="rId59"/>
    <p:sldId id="993" r:id="rId60"/>
    <p:sldId id="1047" r:id="rId61"/>
    <p:sldId id="1048" r:id="rId62"/>
    <p:sldId id="1049" r:id="rId63"/>
    <p:sldId id="994" r:id="rId64"/>
    <p:sldId id="995" r:id="rId65"/>
    <p:sldId id="996" r:id="rId66"/>
    <p:sldId id="997" r:id="rId67"/>
    <p:sldId id="998" r:id="rId68"/>
    <p:sldId id="999" r:id="rId69"/>
    <p:sldId id="1055" r:id="rId70"/>
    <p:sldId id="1056" r:id="rId71"/>
    <p:sldId id="1057" r:id="rId72"/>
    <p:sldId id="1058" r:id="rId73"/>
    <p:sldId id="1059" r:id="rId74"/>
    <p:sldId id="1060" r:id="rId75"/>
    <p:sldId id="1061" r:id="rId76"/>
    <p:sldId id="1000" r:id="rId77"/>
    <p:sldId id="1001" r:id="rId78"/>
    <p:sldId id="1002" r:id="rId79"/>
    <p:sldId id="1066" r:id="rId80"/>
    <p:sldId id="1067" r:id="rId81"/>
    <p:sldId id="1068" r:id="rId82"/>
    <p:sldId id="1065" r:id="rId83"/>
    <p:sldId id="1010" r:id="rId84"/>
    <p:sldId id="1011" r:id="rId85"/>
    <p:sldId id="1012" r:id="rId86"/>
    <p:sldId id="1013" r:id="rId87"/>
    <p:sldId id="1017" r:id="rId88"/>
    <p:sldId id="1074" r:id="rId89"/>
    <p:sldId id="1075" r:id="rId90"/>
    <p:sldId id="1076" r:id="rId91"/>
    <p:sldId id="1079" r:id="rId92"/>
    <p:sldId id="1077" r:id="rId93"/>
    <p:sldId id="1078" r:id="rId94"/>
    <p:sldId id="1080" r:id="rId95"/>
    <p:sldId id="1081" r:id="rId96"/>
    <p:sldId id="1082" r:id="rId97"/>
    <p:sldId id="1083" r:id="rId98"/>
    <p:sldId id="1018" r:id="rId99"/>
  </p:sldIdLst>
  <p:sldSz cx="9144000" cy="6858000" type="screen4x3"/>
  <p:notesSz cx="6831013" cy="9117013"/>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E6EA"/>
    <a:srgbClr val="FAE2F6"/>
    <a:srgbClr val="170981"/>
    <a:srgbClr val="121328"/>
    <a:srgbClr val="D7FDF9"/>
    <a:srgbClr val="003366"/>
    <a:srgbClr val="006666"/>
    <a:srgbClr val="CC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autoAdjust="0"/>
    <p:restoredTop sz="94660"/>
  </p:normalViewPr>
  <p:slideViewPr>
    <p:cSldViewPr>
      <p:cViewPr>
        <p:scale>
          <a:sx n="75" d="100"/>
          <a:sy n="75" d="100"/>
        </p:scale>
        <p:origin x="-941" y="-58"/>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75" d="100"/>
        <a:sy n="75" d="100"/>
      </p:scale>
      <p:origin x="0" y="666"/>
    </p:cViewPr>
  </p:sorterViewPr>
  <p:notesViewPr>
    <p:cSldViewPr>
      <p:cViewPr varScale="1">
        <p:scale>
          <a:sx n="38" d="100"/>
          <a:sy n="38" d="100"/>
        </p:scale>
        <p:origin x="-1530" y="-72"/>
      </p:cViewPr>
      <p:guideLst>
        <p:guide orient="horz" pos="2872"/>
        <p:guide pos="2152"/>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75.xml"/><Relationship Id="rId2" Type="http://schemas.openxmlformats.org/officeDocument/2006/relationships/slide" Target="slides/slide71.xml"/><Relationship Id="rId1" Type="http://schemas.openxmlformats.org/officeDocument/2006/relationships/slide" Target="slides/slide6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emf"/><Relationship Id="rId4" Type="http://schemas.openxmlformats.org/officeDocument/2006/relationships/image" Target="../media/image1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0.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bwMode="auto">
          <a:xfrm>
            <a:off x="0" y="0"/>
            <a:ext cx="2960688" cy="455613"/>
          </a:xfrm>
          <a:prstGeom prst="rect">
            <a:avLst/>
          </a:prstGeom>
          <a:noFill/>
          <a:ln w="9525">
            <a:noFill/>
            <a:miter lim="800000"/>
            <a:headEnd/>
            <a:tailEnd/>
          </a:ln>
          <a:effectLst/>
        </p:spPr>
        <p:txBody>
          <a:bodyPr vert="horz" wrap="square" lIns="91129" tIns="45565" rIns="91129" bIns="45565" numCol="1" anchor="t"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23907" name="Rectangle 3"/>
          <p:cNvSpPr>
            <a:spLocks noGrp="1" noChangeArrowheads="1"/>
          </p:cNvSpPr>
          <p:nvPr>
            <p:ph type="dt" sz="quarter" idx="1"/>
          </p:nvPr>
        </p:nvSpPr>
        <p:spPr bwMode="auto">
          <a:xfrm>
            <a:off x="3870325" y="0"/>
            <a:ext cx="2960688" cy="455613"/>
          </a:xfrm>
          <a:prstGeom prst="rect">
            <a:avLst/>
          </a:prstGeom>
          <a:noFill/>
          <a:ln w="9525">
            <a:noFill/>
            <a:miter lim="800000"/>
            <a:headEnd/>
            <a:tailEnd/>
          </a:ln>
          <a:effectLst/>
        </p:spPr>
        <p:txBody>
          <a:bodyPr vert="horz" wrap="square" lIns="91129" tIns="45565" rIns="91129" bIns="45565" numCol="1" anchor="t" anchorCtr="0" compatLnSpc="1">
            <a:prstTxWarp prst="textNoShape">
              <a:avLst/>
            </a:prstTxWarp>
          </a:bodyPr>
          <a:lstStyle>
            <a:lvl1pPr algn="r" defTabSz="911225" eaLnBrk="0" hangingPunct="0">
              <a:defRPr sz="1200">
                <a:latin typeface="Times New Roman" pitchFamily="18" charset="0"/>
              </a:defRPr>
            </a:lvl1pPr>
          </a:lstStyle>
          <a:p>
            <a:pPr>
              <a:defRPr/>
            </a:pPr>
            <a:endParaRPr lang="en-US"/>
          </a:p>
        </p:txBody>
      </p:sp>
      <p:sp>
        <p:nvSpPr>
          <p:cNvPr id="123908" name="Rectangle 4"/>
          <p:cNvSpPr>
            <a:spLocks noGrp="1" noChangeArrowheads="1"/>
          </p:cNvSpPr>
          <p:nvPr>
            <p:ph type="ftr" sz="quarter" idx="2"/>
          </p:nvPr>
        </p:nvSpPr>
        <p:spPr bwMode="auto">
          <a:xfrm>
            <a:off x="0" y="8661400"/>
            <a:ext cx="2960688" cy="455613"/>
          </a:xfrm>
          <a:prstGeom prst="rect">
            <a:avLst/>
          </a:prstGeom>
          <a:noFill/>
          <a:ln w="9525">
            <a:noFill/>
            <a:miter lim="800000"/>
            <a:headEnd/>
            <a:tailEnd/>
          </a:ln>
          <a:effectLst/>
        </p:spPr>
        <p:txBody>
          <a:bodyPr vert="horz" wrap="square" lIns="91129" tIns="45565" rIns="91129" bIns="45565" numCol="1" anchor="b"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23909" name="Rectangle 5"/>
          <p:cNvSpPr>
            <a:spLocks noGrp="1" noChangeArrowheads="1"/>
          </p:cNvSpPr>
          <p:nvPr>
            <p:ph type="sldNum" sz="quarter" idx="3"/>
          </p:nvPr>
        </p:nvSpPr>
        <p:spPr bwMode="auto">
          <a:xfrm>
            <a:off x="3870325" y="8661400"/>
            <a:ext cx="2960688" cy="455613"/>
          </a:xfrm>
          <a:prstGeom prst="rect">
            <a:avLst/>
          </a:prstGeom>
          <a:noFill/>
          <a:ln w="9525">
            <a:noFill/>
            <a:miter lim="800000"/>
            <a:headEnd/>
            <a:tailEnd/>
          </a:ln>
          <a:effectLst/>
        </p:spPr>
        <p:txBody>
          <a:bodyPr vert="horz" wrap="square" lIns="91129" tIns="45565" rIns="91129" bIns="45565" numCol="1" anchor="b" anchorCtr="0" compatLnSpc="1">
            <a:prstTxWarp prst="textNoShape">
              <a:avLst/>
            </a:prstTxWarp>
          </a:bodyPr>
          <a:lstStyle>
            <a:lvl1pPr algn="r" defTabSz="911225" eaLnBrk="0" hangingPunct="0">
              <a:defRPr sz="1200">
                <a:latin typeface="Times New Roman" pitchFamily="18" charset="0"/>
              </a:defRPr>
            </a:lvl1pPr>
          </a:lstStyle>
          <a:p>
            <a:pPr>
              <a:defRPr/>
            </a:pPr>
            <a:fld id="{7FDF079B-4F2E-4898-A02B-82E7E19B9FB8}"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60688" cy="455613"/>
          </a:xfrm>
          <a:prstGeom prst="rect">
            <a:avLst/>
          </a:prstGeom>
          <a:noFill/>
          <a:ln w="9525">
            <a:noFill/>
            <a:miter lim="800000"/>
            <a:headEnd/>
            <a:tailEnd/>
          </a:ln>
          <a:effectLst/>
        </p:spPr>
        <p:txBody>
          <a:bodyPr vert="horz" wrap="square" lIns="91129" tIns="45565" rIns="91129" bIns="45565" numCol="1" anchor="t"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3315" name="Rectangle 3"/>
          <p:cNvSpPr>
            <a:spLocks noGrp="1" noChangeArrowheads="1"/>
          </p:cNvSpPr>
          <p:nvPr>
            <p:ph type="dt" idx="1"/>
          </p:nvPr>
        </p:nvSpPr>
        <p:spPr bwMode="auto">
          <a:xfrm>
            <a:off x="3870325" y="0"/>
            <a:ext cx="2960688" cy="455613"/>
          </a:xfrm>
          <a:prstGeom prst="rect">
            <a:avLst/>
          </a:prstGeom>
          <a:noFill/>
          <a:ln w="9525">
            <a:noFill/>
            <a:miter lim="800000"/>
            <a:headEnd/>
            <a:tailEnd/>
          </a:ln>
          <a:effectLst/>
        </p:spPr>
        <p:txBody>
          <a:bodyPr vert="horz" wrap="square" lIns="91129" tIns="45565" rIns="91129" bIns="45565" numCol="1" anchor="t" anchorCtr="0" compatLnSpc="1">
            <a:prstTxWarp prst="textNoShape">
              <a:avLst/>
            </a:prstTxWarp>
          </a:bodyPr>
          <a:lstStyle>
            <a:lvl1pPr algn="r" defTabSz="911225" eaLnBrk="0" hangingPunct="0">
              <a:defRPr sz="1200">
                <a:latin typeface="Times New Roman" pitchFamily="18" charset="0"/>
              </a:defRPr>
            </a:lvl1pPr>
          </a:lstStyle>
          <a:p>
            <a:pPr>
              <a:defRPr/>
            </a:pPr>
            <a:endParaRPr lang="en-US"/>
          </a:p>
        </p:txBody>
      </p:sp>
      <p:sp>
        <p:nvSpPr>
          <p:cNvPr id="102404" name="Rectangle 4"/>
          <p:cNvSpPr>
            <a:spLocks noChangeArrowheads="1" noTextEdit="1"/>
          </p:cNvSpPr>
          <p:nvPr>
            <p:ph type="sldImg" idx="2"/>
          </p:nvPr>
        </p:nvSpPr>
        <p:spPr bwMode="auto">
          <a:xfrm>
            <a:off x="1136650" y="684213"/>
            <a:ext cx="4557713" cy="3417887"/>
          </a:xfrm>
          <a:prstGeom prst="rect">
            <a:avLst/>
          </a:prstGeom>
          <a:noFill/>
          <a:ln w="9525">
            <a:solidFill>
              <a:srgbClr val="000000"/>
            </a:solidFill>
            <a:miter lim="800000"/>
            <a:headEnd/>
            <a:tailEnd/>
          </a:ln>
        </p:spPr>
      </p:sp>
      <p:sp>
        <p:nvSpPr>
          <p:cNvPr id="13317" name="Rectangle 5"/>
          <p:cNvSpPr>
            <a:spLocks noGrp="1" noChangeArrowheads="1"/>
          </p:cNvSpPr>
          <p:nvPr>
            <p:ph type="body" sz="quarter" idx="3"/>
          </p:nvPr>
        </p:nvSpPr>
        <p:spPr bwMode="auto">
          <a:xfrm>
            <a:off x="911225" y="4330700"/>
            <a:ext cx="5008563" cy="4102100"/>
          </a:xfrm>
          <a:prstGeom prst="rect">
            <a:avLst/>
          </a:prstGeom>
          <a:noFill/>
          <a:ln w="9525">
            <a:noFill/>
            <a:miter lim="800000"/>
            <a:headEnd/>
            <a:tailEnd/>
          </a:ln>
          <a:effectLst/>
        </p:spPr>
        <p:txBody>
          <a:bodyPr vert="horz" wrap="square" lIns="91129" tIns="45565" rIns="91129" bIns="4556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3318" name="Rectangle 6"/>
          <p:cNvSpPr>
            <a:spLocks noGrp="1" noChangeArrowheads="1"/>
          </p:cNvSpPr>
          <p:nvPr>
            <p:ph type="ftr" sz="quarter" idx="4"/>
          </p:nvPr>
        </p:nvSpPr>
        <p:spPr bwMode="auto">
          <a:xfrm>
            <a:off x="0" y="8661400"/>
            <a:ext cx="2960688" cy="455613"/>
          </a:xfrm>
          <a:prstGeom prst="rect">
            <a:avLst/>
          </a:prstGeom>
          <a:noFill/>
          <a:ln w="9525">
            <a:noFill/>
            <a:miter lim="800000"/>
            <a:headEnd/>
            <a:tailEnd/>
          </a:ln>
          <a:effectLst/>
        </p:spPr>
        <p:txBody>
          <a:bodyPr vert="horz" wrap="square" lIns="91129" tIns="45565" rIns="91129" bIns="45565" numCol="1" anchor="b" anchorCtr="0" compatLnSpc="1">
            <a:prstTxWarp prst="textNoShape">
              <a:avLst/>
            </a:prstTxWarp>
          </a:bodyPr>
          <a:lstStyle>
            <a:lvl1pPr defTabSz="911225" eaLnBrk="0" hangingPunct="0">
              <a:defRPr sz="1200">
                <a:latin typeface="Times New Roman" pitchFamily="18" charset="0"/>
              </a:defRPr>
            </a:lvl1pPr>
          </a:lstStyle>
          <a:p>
            <a:pPr>
              <a:defRPr/>
            </a:pPr>
            <a:endParaRPr lang="en-US"/>
          </a:p>
        </p:txBody>
      </p:sp>
      <p:sp>
        <p:nvSpPr>
          <p:cNvPr id="13319" name="Rectangle 7"/>
          <p:cNvSpPr>
            <a:spLocks noGrp="1" noChangeArrowheads="1"/>
          </p:cNvSpPr>
          <p:nvPr>
            <p:ph type="sldNum" sz="quarter" idx="5"/>
          </p:nvPr>
        </p:nvSpPr>
        <p:spPr bwMode="auto">
          <a:xfrm>
            <a:off x="3870325" y="8661400"/>
            <a:ext cx="2960688" cy="455613"/>
          </a:xfrm>
          <a:prstGeom prst="rect">
            <a:avLst/>
          </a:prstGeom>
          <a:noFill/>
          <a:ln w="9525">
            <a:noFill/>
            <a:miter lim="800000"/>
            <a:headEnd/>
            <a:tailEnd/>
          </a:ln>
          <a:effectLst/>
        </p:spPr>
        <p:txBody>
          <a:bodyPr vert="horz" wrap="square" lIns="91129" tIns="45565" rIns="91129" bIns="45565" numCol="1" anchor="b" anchorCtr="0" compatLnSpc="1">
            <a:prstTxWarp prst="textNoShape">
              <a:avLst/>
            </a:prstTxWarp>
          </a:bodyPr>
          <a:lstStyle>
            <a:lvl1pPr algn="r" defTabSz="911225" eaLnBrk="0" hangingPunct="0">
              <a:defRPr sz="1200">
                <a:latin typeface="Times New Roman" pitchFamily="18" charset="0"/>
              </a:defRPr>
            </a:lvl1pPr>
          </a:lstStyle>
          <a:p>
            <a:pPr>
              <a:defRPr/>
            </a:pPr>
            <a:fld id="{945BFA17-6A5C-482E-A195-9E825F75041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A979F651-6039-4D30-844C-6E08ED762BAD}" type="slidenum">
              <a:rPr lang="en-US" smtClean="0"/>
              <a:pPr/>
              <a:t>14</a:t>
            </a:fld>
            <a:endParaRPr lang="en-US" smtClean="0"/>
          </a:p>
        </p:txBody>
      </p:sp>
      <p:sp>
        <p:nvSpPr>
          <p:cNvPr id="103427" name="Rectangle 2"/>
          <p:cNvSpPr>
            <a:spLocks noChangeArrowheads="1" noTextEdit="1"/>
          </p:cNvSpPr>
          <p:nvPr>
            <p:ph type="sldImg"/>
          </p:nvPr>
        </p:nvSpPr>
        <p:spPr>
          <a:xfrm>
            <a:off x="1146175" y="688975"/>
            <a:ext cx="4541838" cy="3406775"/>
          </a:xfrm>
          <a:ln w="12700" cap="flat">
            <a:solidFill>
              <a:schemeClr val="tx1"/>
            </a:solidFill>
          </a:ln>
        </p:spPr>
      </p:sp>
      <p:sp>
        <p:nvSpPr>
          <p:cNvPr id="103428" name="Rectangle 3"/>
          <p:cNvSpPr>
            <a:spLocks noChangeArrowheads="1"/>
          </p:cNvSpPr>
          <p:nvPr>
            <p:ph type="body" idx="1"/>
          </p:nvPr>
        </p:nvSpPr>
        <p:spPr>
          <a:xfrm>
            <a:off x="911225" y="4330700"/>
            <a:ext cx="5008563" cy="4103688"/>
          </a:xfrm>
          <a:noFill/>
          <a:ln/>
        </p:spPr>
        <p:txBody>
          <a:bodyPr lIns="85434" tIns="42716" rIns="85434" bIns="42716"/>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461F5F63-AFE0-419B-8803-897CEE923747}" type="slidenum">
              <a:rPr lang="en-US" smtClean="0"/>
              <a:pPr/>
              <a:t>18</a:t>
            </a:fld>
            <a:endParaRPr lang="en-US" smtClean="0"/>
          </a:p>
        </p:txBody>
      </p:sp>
      <p:sp>
        <p:nvSpPr>
          <p:cNvPr id="104451" name="Rectangle 2"/>
          <p:cNvSpPr>
            <a:spLocks noChangeArrowheads="1" noTextEdit="1"/>
          </p:cNvSpPr>
          <p:nvPr>
            <p:ph type="sldImg"/>
          </p:nvPr>
        </p:nvSpPr>
        <p:spPr>
          <a:xfrm>
            <a:off x="1146175" y="688975"/>
            <a:ext cx="4541838" cy="3406775"/>
          </a:xfrm>
          <a:ln w="12700" cap="flat">
            <a:solidFill>
              <a:schemeClr val="tx1"/>
            </a:solidFill>
          </a:ln>
        </p:spPr>
      </p:sp>
      <p:sp>
        <p:nvSpPr>
          <p:cNvPr id="104452" name="Rectangle 3"/>
          <p:cNvSpPr>
            <a:spLocks noChangeArrowheads="1"/>
          </p:cNvSpPr>
          <p:nvPr>
            <p:ph type="body" idx="1"/>
          </p:nvPr>
        </p:nvSpPr>
        <p:spPr>
          <a:xfrm>
            <a:off x="911225" y="4330700"/>
            <a:ext cx="5008563" cy="4103688"/>
          </a:xfrm>
          <a:noFill/>
          <a:ln/>
        </p:spPr>
        <p:txBody>
          <a:bodyPr lIns="85434" tIns="42716" rIns="85434" bIns="42716"/>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fld id="{B80D9E6D-6904-4905-840F-EBAA2DEC3016}" type="slidenum">
              <a:rPr lang="en-US" smtClean="0"/>
              <a:pPr/>
              <a:t>20</a:t>
            </a:fld>
            <a:endParaRPr lang="en-US" smtClean="0"/>
          </a:p>
        </p:txBody>
      </p:sp>
      <p:sp>
        <p:nvSpPr>
          <p:cNvPr id="105475" name="Rectangle 1026"/>
          <p:cNvSpPr>
            <a:spLocks noChangeArrowheads="1" noTextEdit="1"/>
          </p:cNvSpPr>
          <p:nvPr>
            <p:ph type="sldImg"/>
          </p:nvPr>
        </p:nvSpPr>
        <p:spPr>
          <a:xfrm>
            <a:off x="1146175" y="688975"/>
            <a:ext cx="4541838" cy="3406775"/>
          </a:xfrm>
          <a:ln w="12700" cap="flat">
            <a:solidFill>
              <a:schemeClr val="tx1"/>
            </a:solidFill>
          </a:ln>
        </p:spPr>
      </p:sp>
      <p:sp>
        <p:nvSpPr>
          <p:cNvPr id="105476" name="Rectangle 1027"/>
          <p:cNvSpPr>
            <a:spLocks noChangeArrowheads="1"/>
          </p:cNvSpPr>
          <p:nvPr>
            <p:ph type="body" idx="1"/>
          </p:nvPr>
        </p:nvSpPr>
        <p:spPr>
          <a:xfrm>
            <a:off x="911225" y="4330700"/>
            <a:ext cx="5008563" cy="4103688"/>
          </a:xfrm>
          <a:noFill/>
          <a:ln/>
        </p:spPr>
        <p:txBody>
          <a:bodyPr lIns="85434" tIns="42716" rIns="85434" bIns="42716"/>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fld id="{B17AE270-66B8-458E-AAA5-C8BE92DA5ED3}" type="slidenum">
              <a:rPr lang="en-US" smtClean="0"/>
              <a:pPr/>
              <a:t>35</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p:spPr>
        <p:txBody>
          <a:bodyPr/>
          <a:lstStyle/>
          <a:p>
            <a:fld id="{C8612442-A8F8-4B05-A9A9-E58E713F72B3}" type="slidenum">
              <a:rPr lang="en-US" smtClean="0"/>
              <a:pPr/>
              <a:t>37</a:t>
            </a:fld>
            <a:endParaRPr lang="en-US" smtClean="0"/>
          </a:p>
        </p:txBody>
      </p:sp>
      <p:sp>
        <p:nvSpPr>
          <p:cNvPr id="107523" name="Rectangle 2"/>
          <p:cNvSpPr>
            <a:spLocks noChangeArrowheads="1" noTextEdit="1"/>
          </p:cNvSpPr>
          <p:nvPr>
            <p:ph type="sldImg"/>
          </p:nvPr>
        </p:nvSpPr>
        <p:spPr>
          <a:xfrm>
            <a:off x="1146175" y="688975"/>
            <a:ext cx="4541838" cy="3406775"/>
          </a:xfrm>
          <a:ln w="12700" cap="flat">
            <a:solidFill>
              <a:schemeClr val="tx1"/>
            </a:solidFill>
          </a:ln>
        </p:spPr>
      </p:sp>
      <p:sp>
        <p:nvSpPr>
          <p:cNvPr id="107524" name="Rectangle 3"/>
          <p:cNvSpPr>
            <a:spLocks noChangeArrowheads="1"/>
          </p:cNvSpPr>
          <p:nvPr>
            <p:ph type="body" idx="1"/>
          </p:nvPr>
        </p:nvSpPr>
        <p:spPr>
          <a:xfrm>
            <a:off x="911225" y="4330700"/>
            <a:ext cx="5008563" cy="4103688"/>
          </a:xfrm>
          <a:noFill/>
          <a:ln/>
        </p:spPr>
        <p:txBody>
          <a:bodyPr lIns="85434" tIns="42716" rIns="85434" bIns="42716"/>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p:spPr>
        <p:txBody>
          <a:bodyPr/>
          <a:lstStyle/>
          <a:p>
            <a:fld id="{B554BEA3-DBD0-4A05-B4A3-F18EF68FB1C7}" type="slidenum">
              <a:rPr lang="en-US" smtClean="0"/>
              <a:pPr/>
              <a:t>59</a:t>
            </a:fld>
            <a:endParaRPr lang="en-US" smtClean="0"/>
          </a:p>
        </p:txBody>
      </p:sp>
      <p:sp>
        <p:nvSpPr>
          <p:cNvPr id="108547" name="Rectangle 2"/>
          <p:cNvSpPr>
            <a:spLocks noChangeArrowheads="1" noTextEdit="1"/>
          </p:cNvSpPr>
          <p:nvPr>
            <p:ph type="sldImg"/>
          </p:nvPr>
        </p:nvSpPr>
        <p:spPr>
          <a:xfrm>
            <a:off x="1147763" y="688975"/>
            <a:ext cx="4541837" cy="3406775"/>
          </a:xfrm>
          <a:ln w="12700" cap="flat">
            <a:solidFill>
              <a:schemeClr val="tx1"/>
            </a:solidFill>
          </a:ln>
        </p:spPr>
      </p:sp>
      <p:sp>
        <p:nvSpPr>
          <p:cNvPr id="108548" name="Rectangle 3"/>
          <p:cNvSpPr>
            <a:spLocks noChangeArrowheads="1"/>
          </p:cNvSpPr>
          <p:nvPr>
            <p:ph type="body" idx="1"/>
          </p:nvPr>
        </p:nvSpPr>
        <p:spPr>
          <a:xfrm>
            <a:off x="911225" y="4332288"/>
            <a:ext cx="5008563" cy="4102100"/>
          </a:xfrm>
          <a:noFill/>
          <a:ln/>
        </p:spPr>
        <p:txBody>
          <a:bodyPr lIns="84006" tIns="42003" rIns="84006" bIns="42003"/>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p:spPr>
        <p:txBody>
          <a:bodyPr/>
          <a:lstStyle/>
          <a:p>
            <a:fld id="{05992FF8-928C-45F8-9414-5EAB1C073BA0}" type="slidenum">
              <a:rPr lang="en-US" smtClean="0"/>
              <a:pPr/>
              <a:t>63</a:t>
            </a:fld>
            <a:endParaRPr lang="en-US" smtClean="0"/>
          </a:p>
        </p:txBody>
      </p:sp>
      <p:sp>
        <p:nvSpPr>
          <p:cNvPr id="109571" name="Rectangle 2"/>
          <p:cNvSpPr>
            <a:spLocks noChangeArrowheads="1" noTextEdit="1"/>
          </p:cNvSpPr>
          <p:nvPr>
            <p:ph type="sldImg"/>
          </p:nvPr>
        </p:nvSpPr>
        <p:spPr>
          <a:xfrm>
            <a:off x="1147763" y="688975"/>
            <a:ext cx="4541837" cy="3406775"/>
          </a:xfrm>
          <a:ln w="12700" cap="flat">
            <a:solidFill>
              <a:schemeClr val="tx1"/>
            </a:solidFill>
          </a:ln>
        </p:spPr>
      </p:sp>
      <p:sp>
        <p:nvSpPr>
          <p:cNvPr id="109572" name="Rectangle 3"/>
          <p:cNvSpPr>
            <a:spLocks noChangeArrowheads="1"/>
          </p:cNvSpPr>
          <p:nvPr>
            <p:ph type="body" idx="1"/>
          </p:nvPr>
        </p:nvSpPr>
        <p:spPr>
          <a:xfrm>
            <a:off x="911225" y="4332288"/>
            <a:ext cx="5008563" cy="4102100"/>
          </a:xfrm>
          <a:noFill/>
          <a:ln/>
        </p:spPr>
        <p:txBody>
          <a:bodyPr lIns="84006" tIns="42003" rIns="84006" bIns="42003"/>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fld id="{55D100BC-3524-4AE3-9258-9FF587641CC7}" type="slidenum">
              <a:rPr lang="en-US" smtClean="0"/>
              <a:pPr/>
              <a:t>64</a:t>
            </a:fld>
            <a:endParaRPr lang="en-US" smtClean="0"/>
          </a:p>
        </p:txBody>
      </p:sp>
      <p:sp>
        <p:nvSpPr>
          <p:cNvPr id="110595" name="Rectangle 2"/>
          <p:cNvSpPr>
            <a:spLocks noChangeArrowheads="1" noTextEdit="1"/>
          </p:cNvSpPr>
          <p:nvPr>
            <p:ph type="sldImg"/>
          </p:nvPr>
        </p:nvSpPr>
        <p:spPr>
          <a:xfrm>
            <a:off x="1147763" y="688975"/>
            <a:ext cx="4541837" cy="3406775"/>
          </a:xfrm>
          <a:ln w="12700" cap="flat">
            <a:solidFill>
              <a:schemeClr val="tx1"/>
            </a:solidFill>
          </a:ln>
        </p:spPr>
      </p:sp>
      <p:sp>
        <p:nvSpPr>
          <p:cNvPr id="110596" name="Rectangle 3"/>
          <p:cNvSpPr>
            <a:spLocks noChangeArrowheads="1"/>
          </p:cNvSpPr>
          <p:nvPr>
            <p:ph type="body" idx="1"/>
          </p:nvPr>
        </p:nvSpPr>
        <p:spPr>
          <a:xfrm>
            <a:off x="911225" y="4332288"/>
            <a:ext cx="5008563" cy="4102100"/>
          </a:xfrm>
          <a:noFill/>
          <a:ln/>
        </p:spPr>
        <p:txBody>
          <a:bodyPr lIns="84006" tIns="42003" rIns="84006" bIns="42003"/>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8AF71794-58C6-44BB-9F9D-D88182F2A537}" type="slidenum">
              <a:rPr lang="en-US" smtClean="0"/>
              <a:pPr/>
              <a:t>66</a:t>
            </a:fld>
            <a:endParaRPr lang="en-US" smtClean="0"/>
          </a:p>
        </p:txBody>
      </p:sp>
      <p:sp>
        <p:nvSpPr>
          <p:cNvPr id="111619" name="Rectangle 2"/>
          <p:cNvSpPr>
            <a:spLocks noChangeArrowheads="1" noTextEdit="1"/>
          </p:cNvSpPr>
          <p:nvPr>
            <p:ph type="sldImg"/>
          </p:nvPr>
        </p:nvSpPr>
        <p:spPr>
          <a:xfrm>
            <a:off x="1147763" y="688975"/>
            <a:ext cx="4541837" cy="3406775"/>
          </a:xfrm>
          <a:ln w="12700" cap="flat">
            <a:solidFill>
              <a:schemeClr val="tx1"/>
            </a:solidFill>
          </a:ln>
        </p:spPr>
      </p:sp>
      <p:sp>
        <p:nvSpPr>
          <p:cNvPr id="111620" name="Rectangle 3"/>
          <p:cNvSpPr>
            <a:spLocks noChangeArrowheads="1"/>
          </p:cNvSpPr>
          <p:nvPr>
            <p:ph type="body" idx="1"/>
          </p:nvPr>
        </p:nvSpPr>
        <p:spPr>
          <a:xfrm>
            <a:off x="911225" y="4332288"/>
            <a:ext cx="5008563" cy="4102100"/>
          </a:xfrm>
          <a:noFill/>
          <a:ln/>
        </p:spPr>
        <p:txBody>
          <a:bodyPr lIns="84006" tIns="42003" rIns="84006" bIns="42003"/>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32E0C271-74D3-431E-953B-B70644AD4E38}" type="slidenum">
              <a:rPr lang="en-US" smtClean="0"/>
              <a:pPr/>
              <a:t>78</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C35C7AA6-3917-4A6E-8646-08F0F691EEEB}" type="slidenum">
              <a:rPr lang="en-US" smtClean="0"/>
              <a:pPr/>
              <a:t>82</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70620FB1-B714-4A2B-AAD6-FC2B7F2582C6}" type="slidenum">
              <a:rPr lang="en-US" smtClean="0"/>
              <a:pPr/>
              <a:t>85</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A15DE825-5479-4106-B894-18D148840BE5}" type="slidenum">
              <a:rPr lang="en-US" smtClean="0"/>
              <a:pPr/>
              <a:t>86</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p:spPr>
        <p:txBody>
          <a:bodyPr/>
          <a:lstStyle/>
          <a:p>
            <a:fld id="{4917A68D-535D-49B7-B12C-6EA132901566}" type="slidenum">
              <a:rPr lang="en-US" smtClean="0"/>
              <a:pPr/>
              <a:t>98</a:t>
            </a:fld>
            <a:endParaRPr lang="en-US" smtClean="0"/>
          </a:p>
        </p:txBody>
      </p:sp>
      <p:sp>
        <p:nvSpPr>
          <p:cNvPr id="116739" name="Rectangle 1026"/>
          <p:cNvSpPr>
            <a:spLocks noChangeArrowheads="1" noTextEdit="1"/>
          </p:cNvSpPr>
          <p:nvPr>
            <p:ph type="sldImg"/>
          </p:nvPr>
        </p:nvSpPr>
        <p:spPr>
          <a:xfrm>
            <a:off x="1146175" y="688975"/>
            <a:ext cx="4541838" cy="3406775"/>
          </a:xfrm>
          <a:ln w="12700" cap="flat">
            <a:solidFill>
              <a:schemeClr val="tx1"/>
            </a:solidFill>
          </a:ln>
        </p:spPr>
      </p:sp>
      <p:sp>
        <p:nvSpPr>
          <p:cNvPr id="116740" name="Rectangle 1027"/>
          <p:cNvSpPr>
            <a:spLocks noChangeArrowheads="1"/>
          </p:cNvSpPr>
          <p:nvPr>
            <p:ph type="body" idx="1"/>
          </p:nvPr>
        </p:nvSpPr>
        <p:spPr>
          <a:xfrm>
            <a:off x="911225" y="4330700"/>
            <a:ext cx="5008563" cy="4103688"/>
          </a:xfrm>
          <a:noFill/>
          <a:ln/>
        </p:spPr>
        <p:txBody>
          <a:bodyPr lIns="85434" tIns="42716" rIns="85434" bIns="42716"/>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BE0AD83E-31E7-4BF4-825C-31473BDD7524}" type="datetime4">
              <a:rPr lang="en-US"/>
              <a:pPr>
                <a:defRPr/>
              </a:pPr>
              <a:t>December 5, 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A28AFCF-5DE4-48DF-A21C-C6CF888C63D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F7A2EF7D-64C4-4358-9495-46B8D73043AD}" type="datetime4">
              <a:rPr lang="en-US"/>
              <a:pPr>
                <a:defRPr/>
              </a:pPr>
              <a:t>December 5, 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8E20A84-6890-411E-88EC-2ACF67FFB45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046FBC1B-D50C-4D06-AACA-D809927FD4E7}" type="datetime4">
              <a:rPr lang="en-US"/>
              <a:pPr>
                <a:defRPr/>
              </a:pPr>
              <a:t>December 5, 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3FCD0FE-C5E3-4D24-BFF3-12ED61B30CE4}"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EF397115-5B99-45B9-A966-DCDDC7DD6308}" type="datetime4">
              <a:rPr lang="en-US"/>
              <a:pPr>
                <a:defRPr/>
              </a:pPr>
              <a:t>December 5, 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C1DE132-F152-4C05-9629-6B9341A7A90F}"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22182DD3-3BB8-4736-96D4-86523EA4ADD2}" type="datetime4">
              <a:rPr lang="en-US"/>
              <a:pPr>
                <a:defRPr/>
              </a:pPr>
              <a:t>December 5, 2024</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EDEECB1-8966-47F8-A4BC-2ECE6A54E07C}"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A6AD679B-165B-458B-AB38-EB7E4058CACA}" type="datetime4">
              <a:rPr lang="en-US"/>
              <a:pPr>
                <a:defRPr/>
              </a:pPr>
              <a:t>December 5, 2024</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A2237C3-F83C-4C64-86E1-83344982CFAF}"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9015B7E9-1D52-41EB-8D6E-0A416EB7166F}" type="datetime4">
              <a:rPr lang="en-US"/>
              <a:pPr>
                <a:defRPr/>
              </a:pPr>
              <a:t>December 5, 2024</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6D7D57D2-E835-4006-984E-C273D9ED3143}"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BDB1819-D4C2-4BB0-B7AE-FB39E4C3EEFE}" type="datetime4">
              <a:rPr lang="en-US"/>
              <a:pPr>
                <a:defRPr/>
              </a:pPr>
              <a:t>December 5, 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1CA23A9-2E4E-42CF-B62D-4E323C3D9949}"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33B7406-76A2-4159-AA7F-3ED10858893F}" type="datetime4">
              <a:rPr lang="en-US"/>
              <a:pPr>
                <a:defRPr/>
              </a:pPr>
              <a:t>December 5, 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436145F-DAD8-40F4-9F13-92006E3FBCF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9E3E584A-6396-4056-91D1-833198D925F2}" type="datetime4">
              <a:rPr lang="en-US"/>
              <a:pPr>
                <a:defRPr/>
              </a:pPr>
              <a:t>December 5, 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102F855-C884-4632-A4C1-78E156CA2C41}"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80FF6600-3DDD-44FD-A34A-30209153CB56}" type="datetime4">
              <a:rPr lang="en-US"/>
              <a:pPr>
                <a:defRPr/>
              </a:pPr>
              <a:t>December 5, 2024</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45611E3-AE0A-4C26-B9DB-D11AE9999FD7}"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B5D0A59D-FDC2-471B-83E9-6125CE9E6237}" type="datetime4">
              <a:rPr lang="en-US"/>
              <a:pPr>
                <a:defRPr/>
              </a:pPr>
              <a:t>December 5, 2024</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77BCBEF-8DCA-4FD5-BAAF-5911CCCEA7ED}"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4339"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46739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fld id="{E5A1F7D8-CCD2-4AD6-9115-859B5FDFBF18}" type="datetime4">
              <a:rPr lang="en-US"/>
              <a:pPr>
                <a:defRPr/>
              </a:pPr>
              <a:t>December 5, 2024</a:t>
            </a:fld>
            <a:endParaRPr lang="en-US"/>
          </a:p>
        </p:txBody>
      </p:sp>
      <p:sp>
        <p:nvSpPr>
          <p:cNvPr id="146739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46739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C82B6D84-8BFA-41EC-8BB9-8C7CC38C507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Microsoft_Office_Excel_97-2003_Worksheet1.xls"/></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Microsoft_Office_Excel_97-2003_Worksheet2.xls"/><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wmf"/><Relationship Id="rId4" Type="http://schemas.openxmlformats.org/officeDocument/2006/relationships/oleObject" Target="../embeddings/Microsoft_Office_Excel_97-2003_Worksheet3.xls"/></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7.wmf"/><Relationship Id="rId5" Type="http://schemas.openxmlformats.org/officeDocument/2006/relationships/oleObject" Target="../embeddings/Microsoft_Office_Excel_97-2003_Worksheet4.xls"/><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Microsoft_Office_Excel_97-2003_Worksheet5.xls"/><Relationship Id="rId2" Type="http://schemas.openxmlformats.org/officeDocument/2006/relationships/slideLayout" Target="../slideLayouts/slideLayout2.xml"/><Relationship Id="rId1" Type="http://schemas.openxmlformats.org/officeDocument/2006/relationships/vmlDrawing" Target="../drawings/vmlDrawing5.v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6.vml"/></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3.bin"/></Relationships>
</file>

<file path=ppt/slides/_rels/slide31.xml.rels><?xml version="1.0" encoding="UTF-8" standalone="yes"?>
<Relationships xmlns="http://schemas.openxmlformats.org/package/2006/relationships"><Relationship Id="rId3" Type="http://schemas.openxmlformats.org/officeDocument/2006/relationships/oleObject" Target="../embeddings/Microsoft_Office_Excel_97-2003_Worksheet6.xls"/><Relationship Id="rId2" Type="http://schemas.openxmlformats.org/officeDocument/2006/relationships/slideLayout" Target="../slideLayouts/slideLayout4.xml"/><Relationship Id="rId1" Type="http://schemas.openxmlformats.org/officeDocument/2006/relationships/vmlDrawing" Target="../drawings/vmlDrawing8.vml"/><Relationship Id="rId6" Type="http://schemas.openxmlformats.org/officeDocument/2006/relationships/oleObject" Target="../embeddings/oleObject6.bin"/><Relationship Id="rId5" Type="http://schemas.openxmlformats.org/officeDocument/2006/relationships/oleObject" Target="../embeddings/oleObject5.bin"/><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9.v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oleObject" Target="../embeddings/oleObject8.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1.bin"/><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11.vml"/></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2.v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3.v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p:spPr>
        <p:txBody>
          <a:bodyPr/>
          <a:lstStyle/>
          <a:p>
            <a:fld id="{18E95EC3-2A23-4D71-8A2D-1BD50AC089A0}" type="slidenum">
              <a:rPr lang="en-US" smtClean="0"/>
              <a:pPr/>
              <a:t>1</a:t>
            </a:fld>
            <a:endParaRPr lang="en-US" smtClean="0"/>
          </a:p>
        </p:txBody>
      </p:sp>
      <p:sp>
        <p:nvSpPr>
          <p:cNvPr id="15363" name="Rectangle 2"/>
          <p:cNvSpPr>
            <a:spLocks noGrp="1" noChangeArrowheads="1"/>
          </p:cNvSpPr>
          <p:nvPr>
            <p:ph type="ctrTitle"/>
          </p:nvPr>
        </p:nvSpPr>
        <p:spPr/>
        <p:txBody>
          <a:bodyPr/>
          <a:lstStyle/>
          <a:p>
            <a:pPr eaLnBrk="1" hangingPunct="1"/>
            <a:r>
              <a:rPr lang="en-US" smtClean="0">
                <a:latin typeface="Times New Roman" pitchFamily="18" charset="0"/>
              </a:rPr>
              <a:t>Classification and Prediction</a:t>
            </a:r>
          </a:p>
        </p:txBody>
      </p:sp>
      <p:sp>
        <p:nvSpPr>
          <p:cNvPr id="15364" name="Rectangle 3"/>
          <p:cNvSpPr>
            <a:spLocks noGrp="1" noChangeArrowheads="1"/>
          </p:cNvSpPr>
          <p:nvPr>
            <p:ph type="subTitle" idx="1"/>
          </p:nvPr>
        </p:nvSpPr>
        <p:spPr>
          <a:xfrm>
            <a:off x="838200" y="914400"/>
            <a:ext cx="6400800" cy="914400"/>
          </a:xfrm>
        </p:spPr>
        <p:txBody>
          <a:bodyPr/>
          <a:lstStyle/>
          <a:p>
            <a:pPr eaLnBrk="1" hangingPunct="1"/>
            <a:r>
              <a:rPr lang="en-US" sz="3600" smtClean="0">
                <a:latin typeface="Times New Roman" pitchFamily="18" charset="0"/>
              </a:rPr>
              <a:t>UNIT-5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p:cNvSpPr>
            <a:spLocks noGrp="1"/>
          </p:cNvSpPr>
          <p:nvPr>
            <p:ph type="sldNum" sz="quarter" idx="12"/>
          </p:nvPr>
        </p:nvSpPr>
        <p:spPr>
          <a:noFill/>
        </p:spPr>
        <p:txBody>
          <a:bodyPr/>
          <a:lstStyle/>
          <a:p>
            <a:fld id="{70E17CC5-212E-40CA-9778-4240D2D05575}" type="slidenum">
              <a:rPr lang="en-US" smtClean="0"/>
              <a:pPr/>
              <a:t>2</a:t>
            </a:fld>
            <a:endParaRPr lang="en-US" smtClean="0"/>
          </a:p>
        </p:txBody>
      </p:sp>
      <p:sp>
        <p:nvSpPr>
          <p:cNvPr id="16387" name="Rectangle 2"/>
          <p:cNvSpPr>
            <a:spLocks noGrp="1" noChangeArrowheads="1"/>
          </p:cNvSpPr>
          <p:nvPr>
            <p:ph type="title"/>
          </p:nvPr>
        </p:nvSpPr>
        <p:spPr>
          <a:xfrm>
            <a:off x="914400" y="152400"/>
            <a:ext cx="7315200" cy="990600"/>
          </a:xfrm>
          <a:noFill/>
        </p:spPr>
        <p:txBody>
          <a:bodyPr lIns="92075" tIns="46038" rIns="92075" bIns="46038"/>
          <a:lstStyle/>
          <a:p>
            <a:pPr eaLnBrk="1" hangingPunct="1"/>
            <a:r>
              <a:rPr lang="en-US" smtClean="0"/>
              <a:t>Classification and Prediction</a:t>
            </a:r>
          </a:p>
        </p:txBody>
      </p:sp>
      <p:sp>
        <p:nvSpPr>
          <p:cNvPr id="16388" name="Rectangle 3"/>
          <p:cNvSpPr>
            <a:spLocks noGrp="1" noChangeArrowheads="1"/>
          </p:cNvSpPr>
          <p:nvPr>
            <p:ph type="body" idx="1"/>
          </p:nvPr>
        </p:nvSpPr>
        <p:spPr>
          <a:xfrm>
            <a:off x="685800" y="1295400"/>
            <a:ext cx="7924800" cy="5029200"/>
          </a:xfrm>
          <a:noFill/>
        </p:spPr>
        <p:txBody>
          <a:bodyPr lIns="92075" tIns="46038" rIns="92075" bIns="46038"/>
          <a:lstStyle/>
          <a:p>
            <a:pPr eaLnBrk="1" hangingPunct="1">
              <a:lnSpc>
                <a:spcPct val="90000"/>
              </a:lnSpc>
            </a:pPr>
            <a:r>
              <a:rPr lang="en-US" sz="2800" smtClean="0">
                <a:solidFill>
                  <a:schemeClr val="hlink"/>
                </a:solidFill>
              </a:rPr>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 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p:spPr>
        <p:txBody>
          <a:bodyPr/>
          <a:lstStyle/>
          <a:p>
            <a:fld id="{AD3222AE-F395-4BA4-9E69-6D7488133167}" type="slidenum">
              <a:rPr lang="en-US" smtClean="0"/>
              <a:pPr/>
              <a:t>3</a:t>
            </a:fld>
            <a:endParaRPr lang="en-US" smtClean="0"/>
          </a:p>
        </p:txBody>
      </p:sp>
      <p:sp>
        <p:nvSpPr>
          <p:cNvPr id="17411" name="Rectangle 4"/>
          <p:cNvSpPr>
            <a:spLocks noGrp="1" noChangeArrowheads="1"/>
          </p:cNvSpPr>
          <p:nvPr>
            <p:ph type="body" idx="1"/>
          </p:nvPr>
        </p:nvSpPr>
        <p:spPr>
          <a:xfrm>
            <a:off x="381000" y="304800"/>
            <a:ext cx="8534400" cy="6019800"/>
          </a:xfrm>
          <a:noFill/>
        </p:spPr>
        <p:txBody>
          <a:bodyPr lIns="92075" tIns="46038" rIns="92075" bIns="46038"/>
          <a:lstStyle/>
          <a:p>
            <a:pPr marL="457200" indent="-457200" algn="just" eaLnBrk="1" hangingPunct="1"/>
            <a:r>
              <a:rPr lang="en-US" sz="2400" b="1" smtClean="0"/>
              <a:t>Databases are rich with hidden information </a:t>
            </a:r>
            <a:r>
              <a:rPr lang="en-US" sz="2400" smtClean="0"/>
              <a:t>that can be used for making intelligent business decisions.</a:t>
            </a:r>
          </a:p>
          <a:p>
            <a:pPr marL="457200" indent="-457200" algn="just" eaLnBrk="1" hangingPunct="1"/>
            <a:r>
              <a:rPr lang="en-US" sz="2400" smtClean="0"/>
              <a:t>Classification and Prediction are two forms of data analysis that can be used to extract models describing important data classes or to predict future data trends. </a:t>
            </a:r>
          </a:p>
          <a:p>
            <a:pPr marL="457200" indent="-457200" algn="just" eaLnBrk="1" hangingPunct="1"/>
            <a:r>
              <a:rPr lang="en-US" sz="2400" b="1" i="1" smtClean="0"/>
              <a:t>Classification </a:t>
            </a:r>
            <a:r>
              <a:rPr lang="en-US" sz="2400" smtClean="0"/>
              <a:t>predicts categorical labels,                       </a:t>
            </a:r>
            <a:r>
              <a:rPr lang="en-US" sz="2400" b="1" i="1" smtClean="0"/>
              <a:t>prediction</a:t>
            </a:r>
            <a:r>
              <a:rPr lang="en-US" sz="2400" smtClean="0"/>
              <a:t> models continuous valued functions</a:t>
            </a:r>
            <a:r>
              <a:rPr lang="en-US" sz="2400" b="1" smtClean="0"/>
              <a:t> </a:t>
            </a:r>
          </a:p>
          <a:p>
            <a:pPr marL="457200" indent="-457200" algn="just" eaLnBrk="1" hangingPunct="1"/>
            <a:r>
              <a:rPr lang="en-US" sz="2400" smtClean="0"/>
              <a:t>For ex, a classification model may be built to categorize bank loan applications as either safe or risky, while predication model may be built to predict the expenditures of potential customers on computer equipment given their income and occupation.</a:t>
            </a:r>
          </a:p>
          <a:p>
            <a:pPr marL="457200" indent="-457200" algn="just" eaLnBrk="1" hangingPunct="1"/>
            <a:r>
              <a:rPr lang="en-US" sz="2400" smtClean="0"/>
              <a:t>Many classification and prediction methods have been proposed by researchers in machine learning, expert systems, statistics and neurobiology.</a:t>
            </a:r>
          </a:p>
          <a:p>
            <a:pPr marL="457200" indent="-457200" algn="just" eaLnBrk="1" hangingPunct="1"/>
            <a:endParaRPr lang="en-US" sz="240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p:spPr>
        <p:txBody>
          <a:bodyPr/>
          <a:lstStyle/>
          <a:p>
            <a:fld id="{84BCEBB8-A5E9-42B7-B7A7-92C0B5AFE5CB}" type="slidenum">
              <a:rPr lang="en-US" smtClean="0"/>
              <a:pPr/>
              <a:t>4</a:t>
            </a:fld>
            <a:endParaRPr lang="en-US" smtClean="0"/>
          </a:p>
        </p:txBody>
      </p:sp>
      <p:sp>
        <p:nvSpPr>
          <p:cNvPr id="18435" name="Rectangle 4"/>
          <p:cNvSpPr>
            <a:spLocks noGrp="1" noRot="1" noChangeArrowheads="1"/>
          </p:cNvSpPr>
          <p:nvPr>
            <p:ph type="title"/>
          </p:nvPr>
        </p:nvSpPr>
        <p:spPr>
          <a:xfrm>
            <a:off x="533400" y="76200"/>
            <a:ext cx="8077200" cy="762000"/>
          </a:xfrm>
          <a:noFill/>
        </p:spPr>
        <p:txBody>
          <a:bodyPr lIns="92075" tIns="46038" rIns="92075" bIns="46038"/>
          <a:lstStyle/>
          <a:p>
            <a:pPr eaLnBrk="1" hangingPunct="1"/>
            <a:r>
              <a:rPr lang="en-US" sz="3200" smtClean="0"/>
              <a:t>What is Classification ? What is Prediction</a:t>
            </a:r>
          </a:p>
        </p:txBody>
      </p:sp>
      <p:sp>
        <p:nvSpPr>
          <p:cNvPr id="18436" name="Rectangle 5"/>
          <p:cNvSpPr>
            <a:spLocks noGrp="1" noChangeArrowheads="1"/>
          </p:cNvSpPr>
          <p:nvPr>
            <p:ph type="body" idx="1"/>
          </p:nvPr>
        </p:nvSpPr>
        <p:spPr>
          <a:xfrm>
            <a:off x="228600" y="1447800"/>
            <a:ext cx="8610600" cy="5029200"/>
          </a:xfrm>
          <a:noFill/>
        </p:spPr>
        <p:txBody>
          <a:bodyPr lIns="92075" tIns="46038" rIns="92075" bIns="46038"/>
          <a:lstStyle/>
          <a:p>
            <a:pPr algn="just" eaLnBrk="1" hangingPunct="1">
              <a:buFontTx/>
              <a:buNone/>
            </a:pPr>
            <a:r>
              <a:rPr lang="en-US" sz="2400" b="1" smtClean="0"/>
              <a:t>	</a:t>
            </a:r>
            <a:r>
              <a:rPr lang="en-US" sz="2800" b="1" smtClean="0"/>
              <a:t>Data classification : It is a two step process. </a:t>
            </a:r>
          </a:p>
          <a:p>
            <a:pPr algn="just" eaLnBrk="1" hangingPunct="1">
              <a:buFontTx/>
              <a:buNone/>
            </a:pPr>
            <a:endParaRPr lang="en-US" sz="2800" b="1" smtClean="0"/>
          </a:p>
          <a:p>
            <a:pPr algn="just" eaLnBrk="1" hangingPunct="1"/>
            <a:r>
              <a:rPr lang="en-US" sz="2400" smtClean="0"/>
              <a:t>In the first step, a model is built describing a predetermined set of data classes or concepts- Learning or training phase, where a classification algorithm builds the classifier by analyzing or “learning from” a training set.</a:t>
            </a:r>
          </a:p>
          <a:p>
            <a:pPr algn="just" eaLnBrk="1" hangingPunct="1">
              <a:buFontTx/>
              <a:buNone/>
            </a:pPr>
            <a:endParaRPr lang="en-US" sz="2400" smtClean="0"/>
          </a:p>
          <a:p>
            <a:pPr algn="just" eaLnBrk="1" hangingPunct="1"/>
            <a:r>
              <a:rPr lang="en-US" sz="2400" smtClean="0"/>
              <a:t>Each Tuple is assumed to belong to a predefined class as determined by one of the attributes, called the </a:t>
            </a:r>
            <a:r>
              <a:rPr lang="en-US" sz="2400" b="1" smtClean="0"/>
              <a:t>class label attribute. </a:t>
            </a:r>
          </a:p>
          <a:p>
            <a:pPr algn="just" eaLnBrk="1" hangingPunct="1"/>
            <a:endParaRPr lang="en-US" sz="2400" b="1"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p:cNvSpPr>
            <a:spLocks noGrp="1"/>
          </p:cNvSpPr>
          <p:nvPr>
            <p:ph type="sldNum" sz="quarter" idx="12"/>
          </p:nvPr>
        </p:nvSpPr>
        <p:spPr>
          <a:noFill/>
        </p:spPr>
        <p:txBody>
          <a:bodyPr/>
          <a:lstStyle/>
          <a:p>
            <a:fld id="{94ABB471-85B4-47B5-9BFB-D09E0D74A86A}" type="slidenum">
              <a:rPr lang="en-US" smtClean="0"/>
              <a:pPr/>
              <a:t>5</a:t>
            </a:fld>
            <a:endParaRPr lang="en-US" smtClean="0"/>
          </a:p>
        </p:txBody>
      </p:sp>
      <p:sp>
        <p:nvSpPr>
          <p:cNvPr id="19459" name="Rectangle 3"/>
          <p:cNvSpPr>
            <a:spLocks noGrp="1" noChangeArrowheads="1"/>
          </p:cNvSpPr>
          <p:nvPr>
            <p:ph type="body" idx="1"/>
          </p:nvPr>
        </p:nvSpPr>
        <p:spPr>
          <a:xfrm>
            <a:off x="457200" y="304800"/>
            <a:ext cx="8229600" cy="6172200"/>
          </a:xfrm>
        </p:spPr>
        <p:txBody>
          <a:bodyPr/>
          <a:lstStyle/>
          <a:p>
            <a:pPr algn="just" eaLnBrk="1" hangingPunct="1"/>
            <a:r>
              <a:rPr lang="en-US" sz="2800" smtClean="0">
                <a:latin typeface="Times New Roman" pitchFamily="18" charset="0"/>
                <a:cs typeface="Times New Roman" pitchFamily="18" charset="0"/>
              </a:rPr>
              <a:t>In the context of classification, data tuples are also referred to as samples, examples or objects.</a:t>
            </a:r>
          </a:p>
          <a:p>
            <a:pPr algn="just" eaLnBrk="1" hangingPunct="1">
              <a:buFontTx/>
              <a:buNone/>
            </a:pPr>
            <a:r>
              <a:rPr lang="en-US" sz="2800" smtClean="0">
                <a:latin typeface="Times New Roman" pitchFamily="18" charset="0"/>
                <a:cs typeface="Times New Roman" pitchFamily="18" charset="0"/>
              </a:rPr>
              <a:t> </a:t>
            </a:r>
          </a:p>
          <a:p>
            <a:pPr algn="just" eaLnBrk="1" hangingPunct="1"/>
            <a:r>
              <a:rPr lang="en-US" sz="2800" smtClean="0">
                <a:latin typeface="Times New Roman" pitchFamily="18" charset="0"/>
                <a:cs typeface="Times New Roman" pitchFamily="18" charset="0"/>
              </a:rPr>
              <a:t>The data tuples analyzed to build the model collectively form the </a:t>
            </a:r>
            <a:r>
              <a:rPr lang="en-US" sz="2800" b="1" smtClean="0">
                <a:latin typeface="Times New Roman" pitchFamily="18" charset="0"/>
                <a:cs typeface="Times New Roman" pitchFamily="18" charset="0"/>
              </a:rPr>
              <a:t>training data set.</a:t>
            </a:r>
          </a:p>
          <a:p>
            <a:pPr algn="just" eaLnBrk="1" hangingPunct="1"/>
            <a:endParaRPr lang="en-US" sz="2800" smtClean="0">
              <a:latin typeface="Times New Roman" pitchFamily="18" charset="0"/>
              <a:cs typeface="Times New Roman" pitchFamily="18" charset="0"/>
            </a:endParaRPr>
          </a:p>
          <a:p>
            <a:pPr algn="just" eaLnBrk="1" hangingPunct="1"/>
            <a:r>
              <a:rPr lang="en-US" sz="2800" smtClean="0">
                <a:latin typeface="Times New Roman" pitchFamily="18" charset="0"/>
                <a:cs typeface="Times New Roman" pitchFamily="18" charset="0"/>
              </a:rPr>
              <a:t>The individual tuples making up the </a:t>
            </a:r>
            <a:r>
              <a:rPr lang="en-US" sz="2800" b="1" smtClean="0">
                <a:latin typeface="Times New Roman" pitchFamily="18" charset="0"/>
                <a:cs typeface="Times New Roman" pitchFamily="18" charset="0"/>
              </a:rPr>
              <a:t>training set</a:t>
            </a:r>
            <a:r>
              <a:rPr lang="en-US" sz="2800" smtClean="0">
                <a:latin typeface="Times New Roman" pitchFamily="18" charset="0"/>
                <a:cs typeface="Times New Roman" pitchFamily="18" charset="0"/>
              </a:rPr>
              <a:t> are referred to as </a:t>
            </a:r>
            <a:r>
              <a:rPr lang="en-US" sz="2800" b="1" smtClean="0">
                <a:latin typeface="Times New Roman" pitchFamily="18" charset="0"/>
                <a:cs typeface="Times New Roman" pitchFamily="18" charset="0"/>
              </a:rPr>
              <a:t>training tuples</a:t>
            </a:r>
            <a:r>
              <a:rPr lang="en-US" sz="2800" smtClean="0">
                <a:latin typeface="Times New Roman" pitchFamily="18" charset="0"/>
                <a:cs typeface="Times New Roman" pitchFamily="18" charset="0"/>
              </a:rPr>
              <a:t> and are randomly selected from the database under analysis.</a:t>
            </a:r>
          </a:p>
          <a:p>
            <a:pPr algn="just" eaLnBrk="1" hangingPunct="1"/>
            <a:endParaRPr lang="en-US" sz="2800" smtClean="0">
              <a:latin typeface="Times New Roman" pitchFamily="18" charset="0"/>
              <a:cs typeface="Times New Roman" pitchFamily="18" charset="0"/>
            </a:endParaRPr>
          </a:p>
          <a:p>
            <a:pPr algn="just" eaLnBrk="1" hangingPunct="1"/>
            <a:r>
              <a:rPr lang="en-US" sz="2800" smtClean="0">
                <a:latin typeface="Times New Roman" pitchFamily="18" charset="0"/>
                <a:cs typeface="Times New Roman" pitchFamily="18" charset="0"/>
              </a:rPr>
              <a:t>In the context of classification, data tuples can be referred as samples, examples, instances etc.,. </a:t>
            </a:r>
          </a:p>
          <a:p>
            <a:pPr eaLnBrk="1" hangingPunct="1">
              <a:buFontTx/>
              <a:buNone/>
            </a:pPr>
            <a:endParaRPr lang="en-US"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p:spPr>
        <p:txBody>
          <a:bodyPr/>
          <a:lstStyle/>
          <a:p>
            <a:fld id="{08CB40C6-B63A-47C2-BABF-BEFBACECB95C}" type="slidenum">
              <a:rPr lang="en-US" smtClean="0"/>
              <a:pPr/>
              <a:t>6</a:t>
            </a:fld>
            <a:endParaRPr lang="en-US" smtClean="0"/>
          </a:p>
        </p:txBody>
      </p:sp>
      <p:sp>
        <p:nvSpPr>
          <p:cNvPr id="20483" name="Rectangle 4"/>
          <p:cNvSpPr>
            <a:spLocks noGrp="1" noChangeArrowheads="1"/>
          </p:cNvSpPr>
          <p:nvPr>
            <p:ph type="body" idx="1"/>
          </p:nvPr>
        </p:nvSpPr>
        <p:spPr>
          <a:xfrm>
            <a:off x="228600" y="228600"/>
            <a:ext cx="8763000" cy="6172200"/>
          </a:xfrm>
          <a:noFill/>
        </p:spPr>
        <p:txBody>
          <a:bodyPr lIns="92075" tIns="46038" rIns="92075" bIns="46038"/>
          <a:lstStyle/>
          <a:p>
            <a:pPr algn="just" eaLnBrk="1" hangingPunct="1"/>
            <a:r>
              <a:rPr lang="en-US" sz="2400" smtClean="0">
                <a:latin typeface="Times New Roman" pitchFamily="18" charset="0"/>
                <a:cs typeface="Times New Roman" pitchFamily="18" charset="0"/>
              </a:rPr>
              <a:t>Since the class label of each training sample is provided, this step is also known as </a:t>
            </a:r>
            <a:r>
              <a:rPr lang="en-US" sz="2400" b="1" smtClean="0">
                <a:latin typeface="Times New Roman" pitchFamily="18" charset="0"/>
                <a:cs typeface="Times New Roman" pitchFamily="18" charset="0"/>
              </a:rPr>
              <a:t>supervised learning </a:t>
            </a:r>
            <a:r>
              <a:rPr lang="en-US" sz="2400" smtClean="0">
                <a:latin typeface="Times New Roman" pitchFamily="18" charset="0"/>
                <a:cs typeface="Times New Roman" pitchFamily="18" charset="0"/>
              </a:rPr>
              <a:t>(i.e., the learning of the model is “supervised” in that it is told to which each training sample belongs)</a:t>
            </a:r>
          </a:p>
          <a:p>
            <a:pPr algn="just" eaLnBrk="1" hangingPunct="1"/>
            <a:r>
              <a:rPr lang="en-US" sz="2400" smtClean="0">
                <a:latin typeface="Times New Roman" pitchFamily="18" charset="0"/>
                <a:cs typeface="Times New Roman" pitchFamily="18" charset="0"/>
              </a:rPr>
              <a:t>It contrasts with </a:t>
            </a:r>
            <a:r>
              <a:rPr lang="en-US" sz="2400" b="1" smtClean="0">
                <a:latin typeface="Times New Roman" pitchFamily="18" charset="0"/>
                <a:cs typeface="Times New Roman" pitchFamily="18" charset="0"/>
              </a:rPr>
              <a:t>unsupervised learning (or clustering), </a:t>
            </a:r>
            <a:r>
              <a:rPr lang="en-US" sz="2400" smtClean="0">
                <a:latin typeface="Times New Roman" pitchFamily="18" charset="0"/>
                <a:cs typeface="Times New Roman" pitchFamily="18" charset="0"/>
              </a:rPr>
              <a:t>in which the class label of each training sample is not known, and the number or set of classes to be learned may be known in advanced. </a:t>
            </a:r>
          </a:p>
          <a:p>
            <a:pPr algn="just" eaLnBrk="1" hangingPunct="1"/>
            <a:r>
              <a:rPr lang="en-US" sz="2400" smtClean="0">
                <a:latin typeface="Times New Roman" pitchFamily="18" charset="0"/>
                <a:cs typeface="Times New Roman" pitchFamily="18" charset="0"/>
              </a:rPr>
              <a:t>Typically, the learned model is represented in the form of classification rules, decision trees, or mathematical formulae. </a:t>
            </a:r>
          </a:p>
          <a:p>
            <a:pPr algn="just" eaLnBrk="1" hangingPunct="1"/>
            <a:r>
              <a:rPr lang="en-US" sz="2400" smtClean="0">
                <a:latin typeface="Times New Roman" pitchFamily="18" charset="0"/>
                <a:cs typeface="Times New Roman" pitchFamily="18" charset="0"/>
              </a:rPr>
              <a:t>For example, given a database of customer credit information, classification rules can be learned to identify customers having either excellent or fair credit ratings. </a:t>
            </a:r>
          </a:p>
          <a:p>
            <a:pPr algn="just" eaLnBrk="1" hangingPunct="1"/>
            <a:r>
              <a:rPr lang="en-US" sz="2400" smtClean="0">
                <a:latin typeface="Times New Roman" pitchFamily="18" charset="0"/>
                <a:cs typeface="Times New Roman" pitchFamily="18" charset="0"/>
              </a:rPr>
              <a:t>The rules can be used to categorize future data samples, as well as provide a better understanding of the database contents.</a:t>
            </a:r>
          </a:p>
          <a:p>
            <a:pPr algn="just" eaLnBrk="1" hangingPunct="1"/>
            <a:endParaRPr lang="en-US" sz="2400" smtClean="0"/>
          </a:p>
          <a:p>
            <a:pPr algn="just" eaLnBrk="1" hangingPunct="1"/>
            <a:endParaRPr lang="en-US" sz="2400" b="1"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Slide Number Placeholder 5"/>
          <p:cNvSpPr>
            <a:spLocks noGrp="1"/>
          </p:cNvSpPr>
          <p:nvPr>
            <p:ph type="sldNum" sz="quarter" idx="12"/>
          </p:nvPr>
        </p:nvSpPr>
        <p:spPr>
          <a:noFill/>
        </p:spPr>
        <p:txBody>
          <a:bodyPr/>
          <a:lstStyle/>
          <a:p>
            <a:fld id="{567C2034-84D0-4463-B55F-6C5942DBBD33}" type="slidenum">
              <a:rPr lang="en-US" smtClean="0"/>
              <a:pPr/>
              <a:t>7</a:t>
            </a:fld>
            <a:endParaRPr lang="en-US" smtClean="0"/>
          </a:p>
        </p:txBody>
      </p:sp>
      <p:sp>
        <p:nvSpPr>
          <p:cNvPr id="1028" name="Rectangle 4"/>
          <p:cNvSpPr>
            <a:spLocks noGrp="1" noRot="1" noChangeArrowheads="1"/>
          </p:cNvSpPr>
          <p:nvPr>
            <p:ph type="title"/>
          </p:nvPr>
        </p:nvSpPr>
        <p:spPr>
          <a:xfrm>
            <a:off x="0" y="304800"/>
            <a:ext cx="9144000" cy="498475"/>
          </a:xfrm>
          <a:noFill/>
        </p:spPr>
        <p:txBody>
          <a:bodyPr lIns="92075" tIns="46038" rIns="92075" bIns="46038" anchor="b"/>
          <a:lstStyle/>
          <a:p>
            <a:pPr eaLnBrk="1" hangingPunct="1"/>
            <a:r>
              <a:rPr lang="en-US" sz="3200" smtClean="0"/>
              <a:t>Classification Process (1): Model Construction</a:t>
            </a:r>
          </a:p>
        </p:txBody>
      </p:sp>
      <p:grpSp>
        <p:nvGrpSpPr>
          <p:cNvPr id="1029" name="Group 20"/>
          <p:cNvGrpSpPr>
            <a:grpSpLocks/>
          </p:cNvGrpSpPr>
          <p:nvPr/>
        </p:nvGrpSpPr>
        <p:grpSpPr bwMode="auto">
          <a:xfrm>
            <a:off x="152400" y="1143000"/>
            <a:ext cx="8667750" cy="4889500"/>
            <a:chOff x="182" y="768"/>
            <a:chExt cx="5460" cy="3080"/>
          </a:xfrm>
        </p:grpSpPr>
        <p:grpSp>
          <p:nvGrpSpPr>
            <p:cNvPr id="1030" name="Group 5"/>
            <p:cNvGrpSpPr>
              <a:grpSpLocks/>
            </p:cNvGrpSpPr>
            <p:nvPr/>
          </p:nvGrpSpPr>
          <p:grpSpPr bwMode="auto">
            <a:xfrm>
              <a:off x="1283" y="864"/>
              <a:ext cx="1070" cy="949"/>
              <a:chOff x="1283" y="1118"/>
              <a:chExt cx="1070" cy="949"/>
            </a:xfrm>
          </p:grpSpPr>
          <p:pic>
            <p:nvPicPr>
              <p:cNvPr id="1042" name="Picture 6"/>
              <p:cNvPicPr>
                <a:picLocks noChangeArrowheads="1"/>
              </p:cNvPicPr>
              <p:nvPr/>
            </p:nvPicPr>
            <p:blipFill>
              <a:blip r:embed="rId3"/>
              <a:srcRect/>
              <a:stretch>
                <a:fillRect/>
              </a:stretch>
            </p:blipFill>
            <p:spPr bwMode="auto">
              <a:xfrm>
                <a:off x="1283" y="1118"/>
                <a:ext cx="1070" cy="949"/>
              </a:xfrm>
              <a:prstGeom prst="rect">
                <a:avLst/>
              </a:prstGeom>
              <a:noFill/>
              <a:ln w="9525">
                <a:noFill/>
                <a:miter lim="800000"/>
                <a:headEnd/>
                <a:tailEnd/>
              </a:ln>
            </p:spPr>
          </p:pic>
          <p:sp>
            <p:nvSpPr>
              <p:cNvPr id="1043" name="Rectangle 7"/>
              <p:cNvSpPr>
                <a:spLocks noChangeArrowheads="1"/>
              </p:cNvSpPr>
              <p:nvPr/>
            </p:nvSpPr>
            <p:spPr bwMode="auto">
              <a:xfrm>
                <a:off x="1347" y="1398"/>
                <a:ext cx="934" cy="524"/>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Training</a:t>
                </a:r>
              </a:p>
              <a:p>
                <a:pPr algn="ctr" eaLnBrk="0" hangingPunct="0"/>
                <a:r>
                  <a:rPr lang="en-US" sz="2400">
                    <a:latin typeface="Times New Roman" pitchFamily="18" charset="0"/>
                  </a:rPr>
                  <a:t>Data</a:t>
                </a:r>
              </a:p>
            </p:txBody>
          </p:sp>
        </p:grpSp>
        <p:graphicFrame>
          <p:nvGraphicFramePr>
            <p:cNvPr id="1026" name="Object 8"/>
            <p:cNvGraphicFramePr>
              <a:graphicFrameLocks/>
            </p:cNvGraphicFramePr>
            <p:nvPr/>
          </p:nvGraphicFramePr>
          <p:xfrm>
            <a:off x="182" y="2156"/>
            <a:ext cx="3425" cy="1572"/>
          </p:xfrm>
          <a:graphic>
            <a:graphicData uri="http://schemas.openxmlformats.org/presentationml/2006/ole">
              <p:oleObj spid="_x0000_s1026" name="Worksheet" r:id="rId4" imgW="5437080" imgH="2495520" progId="Excel.Sheet.8">
                <p:embed/>
              </p:oleObj>
            </a:graphicData>
          </a:graphic>
        </p:graphicFrame>
        <p:sp>
          <p:nvSpPr>
            <p:cNvPr id="1031" name="Line 9"/>
            <p:cNvSpPr>
              <a:spLocks noChangeShapeType="1"/>
            </p:cNvSpPr>
            <p:nvPr/>
          </p:nvSpPr>
          <p:spPr bwMode="auto">
            <a:xfrm flipH="1">
              <a:off x="193" y="1706"/>
              <a:ext cx="1036" cy="441"/>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2" name="Line 10"/>
            <p:cNvSpPr>
              <a:spLocks noChangeShapeType="1"/>
            </p:cNvSpPr>
            <p:nvPr/>
          </p:nvSpPr>
          <p:spPr bwMode="auto">
            <a:xfrm>
              <a:off x="2354" y="1706"/>
              <a:ext cx="1276" cy="441"/>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3" name="Rectangle 11"/>
            <p:cNvSpPr>
              <a:spLocks noChangeArrowheads="1"/>
            </p:cNvSpPr>
            <p:nvPr/>
          </p:nvSpPr>
          <p:spPr bwMode="auto">
            <a:xfrm>
              <a:off x="4083" y="768"/>
              <a:ext cx="1178" cy="526"/>
            </a:xfrm>
            <a:prstGeom prst="rect">
              <a:avLst/>
            </a:prstGeom>
            <a:solidFill>
              <a:srgbClr val="CCFFFF"/>
            </a:solidFill>
            <a:ln w="12700">
              <a:solidFill>
                <a:schemeClr val="tx1"/>
              </a:solid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Classification</a:t>
              </a:r>
            </a:p>
            <a:p>
              <a:pPr algn="ctr" eaLnBrk="0" hangingPunct="0"/>
              <a:r>
                <a:rPr lang="en-US" sz="2400">
                  <a:latin typeface="Times New Roman" pitchFamily="18" charset="0"/>
                </a:rPr>
                <a:t>Algorithms</a:t>
              </a:r>
            </a:p>
          </p:txBody>
        </p:sp>
        <p:sp>
          <p:nvSpPr>
            <p:cNvPr id="1034" name="AutoShape 12"/>
            <p:cNvSpPr>
              <a:spLocks noChangeArrowheads="1"/>
            </p:cNvSpPr>
            <p:nvPr/>
          </p:nvSpPr>
          <p:spPr bwMode="auto">
            <a:xfrm rot="-1140000">
              <a:off x="2668" y="1053"/>
              <a:ext cx="1044" cy="305"/>
            </a:xfrm>
            <a:prstGeom prst="rightArrow">
              <a:avLst>
                <a:gd name="adj1" fmla="val 50000"/>
                <a:gd name="adj2" fmla="val 85605"/>
              </a:avLst>
            </a:prstGeom>
            <a:solidFill>
              <a:srgbClr val="2597B8"/>
            </a:solidFill>
            <a:ln w="12700">
              <a:solidFill>
                <a:srgbClr val="000000"/>
              </a:solidFill>
              <a:miter lim="800000"/>
              <a:headEnd/>
              <a:tailEnd/>
            </a:ln>
          </p:spPr>
          <p:txBody>
            <a:bodyPr wrap="none" anchor="ctr"/>
            <a:lstStyle/>
            <a:p>
              <a:endParaRPr lang="en-US"/>
            </a:p>
          </p:txBody>
        </p:sp>
        <p:sp>
          <p:nvSpPr>
            <p:cNvPr id="1035" name="Rectangle 13"/>
            <p:cNvSpPr>
              <a:spLocks noChangeArrowheads="1"/>
            </p:cNvSpPr>
            <p:nvPr/>
          </p:nvSpPr>
          <p:spPr bwMode="auto">
            <a:xfrm>
              <a:off x="3747" y="3092"/>
              <a:ext cx="1895" cy="756"/>
            </a:xfrm>
            <a:prstGeom prst="rect">
              <a:avLst/>
            </a:prstGeom>
            <a:solidFill>
              <a:srgbClr val="CCFFCC"/>
            </a:solidFill>
            <a:ln w="12700">
              <a:solidFill>
                <a:schemeClr val="tx1"/>
              </a:solidFill>
              <a:miter lim="800000"/>
              <a:headEnd/>
              <a:tailEnd/>
            </a:ln>
          </p:spPr>
          <p:txBody>
            <a:bodyPr wrap="none" lIns="92075" tIns="46038" rIns="92075" bIns="46038" anchor="ctr">
              <a:spAutoFit/>
            </a:bodyPr>
            <a:lstStyle/>
            <a:p>
              <a:pPr eaLnBrk="0" hangingPunct="0"/>
              <a:r>
                <a:rPr lang="en-US" sz="2400">
                  <a:latin typeface="Times New Roman" pitchFamily="18" charset="0"/>
                </a:rPr>
                <a:t>IF rank = ‘professor’</a:t>
              </a:r>
            </a:p>
            <a:p>
              <a:pPr eaLnBrk="0" hangingPunct="0"/>
              <a:r>
                <a:rPr lang="en-US" sz="2400">
                  <a:latin typeface="Times New Roman" pitchFamily="18" charset="0"/>
                </a:rPr>
                <a:t>OR years &gt; 6</a:t>
              </a:r>
            </a:p>
            <a:p>
              <a:pPr eaLnBrk="0" hangingPunct="0"/>
              <a:r>
                <a:rPr lang="en-US" sz="2400">
                  <a:latin typeface="Times New Roman" pitchFamily="18" charset="0"/>
                </a:rPr>
                <a:t>THEN tenured = ‘yes’ </a:t>
              </a:r>
            </a:p>
          </p:txBody>
        </p:sp>
        <p:grpSp>
          <p:nvGrpSpPr>
            <p:cNvPr id="1036" name="Group 14"/>
            <p:cNvGrpSpPr>
              <a:grpSpLocks/>
            </p:cNvGrpSpPr>
            <p:nvPr/>
          </p:nvGrpSpPr>
          <p:grpSpPr bwMode="auto">
            <a:xfrm>
              <a:off x="4081" y="1772"/>
              <a:ext cx="1190" cy="949"/>
              <a:chOff x="4081" y="2026"/>
              <a:chExt cx="1190" cy="949"/>
            </a:xfrm>
          </p:grpSpPr>
          <p:pic>
            <p:nvPicPr>
              <p:cNvPr id="1040" name="Picture 15"/>
              <p:cNvPicPr>
                <a:picLocks noChangeArrowheads="1"/>
              </p:cNvPicPr>
              <p:nvPr/>
            </p:nvPicPr>
            <p:blipFill>
              <a:blip r:embed="rId5"/>
              <a:srcRect/>
              <a:stretch>
                <a:fillRect/>
              </a:stretch>
            </p:blipFill>
            <p:spPr bwMode="auto">
              <a:xfrm>
                <a:off x="4081" y="2026"/>
                <a:ext cx="1190" cy="949"/>
              </a:xfrm>
              <a:prstGeom prst="rect">
                <a:avLst/>
              </a:prstGeom>
              <a:noFill/>
              <a:ln w="9525">
                <a:noFill/>
                <a:miter lim="800000"/>
                <a:headEnd/>
                <a:tailEnd/>
              </a:ln>
            </p:spPr>
          </p:pic>
          <p:sp>
            <p:nvSpPr>
              <p:cNvPr id="1041" name="Rectangle 16"/>
              <p:cNvSpPr>
                <a:spLocks noChangeArrowheads="1"/>
              </p:cNvSpPr>
              <p:nvPr/>
            </p:nvSpPr>
            <p:spPr bwMode="auto">
              <a:xfrm>
                <a:off x="4245" y="2306"/>
                <a:ext cx="859" cy="524"/>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a:p>
                <a:pPr algn="ctr" eaLnBrk="0" hangingPunct="0"/>
                <a:r>
                  <a:rPr lang="en-US" sz="2400">
                    <a:latin typeface="Times New Roman" pitchFamily="18" charset="0"/>
                  </a:rPr>
                  <a:t>(Model)</a:t>
                </a:r>
              </a:p>
            </p:txBody>
          </p:sp>
        </p:grpSp>
        <p:sp>
          <p:nvSpPr>
            <p:cNvPr id="1037" name="Line 17"/>
            <p:cNvSpPr>
              <a:spLocks noChangeShapeType="1"/>
            </p:cNvSpPr>
            <p:nvPr/>
          </p:nvSpPr>
          <p:spPr bwMode="auto">
            <a:xfrm flipH="1">
              <a:off x="3746" y="2657"/>
              <a:ext cx="335" cy="45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8" name="Line 18"/>
            <p:cNvSpPr>
              <a:spLocks noChangeShapeType="1"/>
            </p:cNvSpPr>
            <p:nvPr/>
          </p:nvSpPr>
          <p:spPr bwMode="auto">
            <a:xfrm>
              <a:off x="5272" y="2608"/>
              <a:ext cx="364" cy="49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1039" name="AutoShape 19"/>
            <p:cNvSpPr>
              <a:spLocks noChangeArrowheads="1"/>
            </p:cNvSpPr>
            <p:nvPr/>
          </p:nvSpPr>
          <p:spPr bwMode="auto">
            <a:xfrm>
              <a:off x="4500" y="1369"/>
              <a:ext cx="344" cy="373"/>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p>
            <a:fld id="{8F224405-1D1B-4985-B37C-5A9A64A3F9ED}" type="slidenum">
              <a:rPr lang="en-US" smtClean="0"/>
              <a:pPr/>
              <a:t>8</a:t>
            </a:fld>
            <a:endParaRPr lang="en-US" smtClean="0"/>
          </a:p>
        </p:txBody>
      </p:sp>
      <p:sp>
        <p:nvSpPr>
          <p:cNvPr id="21507" name="Rectangle 6"/>
          <p:cNvSpPr>
            <a:spLocks noGrp="1" noChangeArrowheads="1"/>
          </p:cNvSpPr>
          <p:nvPr>
            <p:ph type="body" idx="1"/>
          </p:nvPr>
        </p:nvSpPr>
        <p:spPr>
          <a:xfrm>
            <a:off x="609600" y="609600"/>
            <a:ext cx="8153400" cy="4876800"/>
          </a:xfrm>
          <a:noFill/>
        </p:spPr>
        <p:txBody>
          <a:bodyPr lIns="92075" tIns="46038" rIns="92075" bIns="46038"/>
          <a:lstStyle/>
          <a:p>
            <a:pPr algn="just" eaLnBrk="1" hangingPunct="1">
              <a:lnSpc>
                <a:spcPct val="90000"/>
              </a:lnSpc>
            </a:pPr>
            <a:r>
              <a:rPr lang="en-US" sz="2800" smtClean="0">
                <a:solidFill>
                  <a:srgbClr val="F83F24"/>
                </a:solidFill>
              </a:rPr>
              <a:t>Supervised learning (classification)</a:t>
            </a:r>
          </a:p>
          <a:p>
            <a:pPr lvl="1" algn="just" eaLnBrk="1" hangingPunct="1">
              <a:lnSpc>
                <a:spcPct val="90000"/>
              </a:lnSpc>
            </a:pPr>
            <a:r>
              <a:rPr lang="en-US" sz="2400" smtClean="0"/>
              <a:t>Supervision: The training data (observations, measurements, etc.) are accompanied by labels indicating the class of the observations</a:t>
            </a:r>
          </a:p>
          <a:p>
            <a:pPr lvl="1" algn="just" eaLnBrk="1" hangingPunct="1">
              <a:lnSpc>
                <a:spcPct val="90000"/>
              </a:lnSpc>
            </a:pPr>
            <a:r>
              <a:rPr lang="en-US" sz="2400" smtClean="0"/>
              <a:t>New data is classified based on the training set</a:t>
            </a:r>
          </a:p>
          <a:p>
            <a:pPr lvl="1" algn="just" eaLnBrk="1" hangingPunct="1">
              <a:lnSpc>
                <a:spcPct val="90000"/>
              </a:lnSpc>
              <a:buFontTx/>
              <a:buNone/>
            </a:pPr>
            <a:endParaRPr lang="en-US" sz="2400" smtClean="0"/>
          </a:p>
          <a:p>
            <a:pPr algn="just" eaLnBrk="1" hangingPunct="1">
              <a:lnSpc>
                <a:spcPct val="90000"/>
              </a:lnSpc>
            </a:pPr>
            <a:r>
              <a:rPr lang="en-US" sz="2800" smtClean="0">
                <a:solidFill>
                  <a:srgbClr val="F83F24"/>
                </a:solidFill>
              </a:rPr>
              <a:t>Unsupervised learning (clustering)</a:t>
            </a:r>
          </a:p>
          <a:p>
            <a:pPr lvl="1" algn="just" eaLnBrk="1" hangingPunct="1">
              <a:lnSpc>
                <a:spcPct val="90000"/>
              </a:lnSpc>
            </a:pPr>
            <a:r>
              <a:rPr lang="en-US" sz="2400" smtClean="0"/>
              <a:t>The class labels of training data is unknown</a:t>
            </a:r>
          </a:p>
          <a:p>
            <a:pPr lvl="1" algn="just" eaLnBrk="1" hangingPunct="1">
              <a:lnSpc>
                <a:spcPct val="90000"/>
              </a:lnSpc>
            </a:pPr>
            <a:r>
              <a:rPr lang="en-US" sz="2400" smtClean="0"/>
              <a:t>Given a set of measurements, observations, etc. with the aim of establishing the existence of classes or clusters in the data</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p:spPr>
        <p:txBody>
          <a:bodyPr/>
          <a:lstStyle/>
          <a:p>
            <a:fld id="{D59CE1E0-0FDB-460F-81AB-4B477C57E84E}" type="slidenum">
              <a:rPr lang="en-US" smtClean="0"/>
              <a:pPr/>
              <a:t>9</a:t>
            </a:fld>
            <a:endParaRPr lang="en-US" smtClean="0"/>
          </a:p>
        </p:txBody>
      </p:sp>
      <p:sp>
        <p:nvSpPr>
          <p:cNvPr id="22531" name="Rectangle 21"/>
          <p:cNvSpPr>
            <a:spLocks noGrp="1" noChangeArrowheads="1"/>
          </p:cNvSpPr>
          <p:nvPr>
            <p:ph type="body" idx="1"/>
          </p:nvPr>
        </p:nvSpPr>
        <p:spPr>
          <a:xfrm>
            <a:off x="228600" y="228600"/>
            <a:ext cx="8763000" cy="6172200"/>
          </a:xfrm>
          <a:noFill/>
        </p:spPr>
        <p:txBody>
          <a:bodyPr lIns="92075" tIns="46038" rIns="92075" bIns="46038"/>
          <a:lstStyle/>
          <a:p>
            <a:pPr algn="just" eaLnBrk="1" hangingPunct="1"/>
            <a:r>
              <a:rPr lang="en-US" sz="2200" smtClean="0"/>
              <a:t>In the second step, the model is used for classification. </a:t>
            </a:r>
          </a:p>
          <a:p>
            <a:pPr algn="just" eaLnBrk="1" hangingPunct="1"/>
            <a:r>
              <a:rPr lang="en-US" sz="2200" smtClean="0"/>
              <a:t>First the predictive accuracy of the model (or classifier) is estimated. Coming slides we will discuss several methods for estimating classifier accuracy. </a:t>
            </a:r>
          </a:p>
          <a:p>
            <a:pPr algn="just" eaLnBrk="1" hangingPunct="1"/>
            <a:r>
              <a:rPr lang="en-US" sz="2200" smtClean="0"/>
              <a:t>The </a:t>
            </a:r>
            <a:r>
              <a:rPr lang="en-US" sz="2200" b="1" smtClean="0"/>
              <a:t>Holdout Method </a:t>
            </a:r>
            <a:r>
              <a:rPr lang="en-US" sz="2200" smtClean="0"/>
              <a:t>is a simple technique that uses a test set of class labeled samples.</a:t>
            </a:r>
          </a:p>
          <a:p>
            <a:pPr algn="just" eaLnBrk="1" hangingPunct="1"/>
            <a:r>
              <a:rPr lang="en-US" sz="2200" smtClean="0"/>
              <a:t>These samples are randomly selected and are independent of training samples. </a:t>
            </a:r>
          </a:p>
          <a:p>
            <a:pPr algn="just" eaLnBrk="1" hangingPunct="1"/>
            <a:r>
              <a:rPr lang="en-US" sz="2200" smtClean="0"/>
              <a:t>The Accuracy of a model on a given test set is the percentage of test set samples that are correctly classified by the model. </a:t>
            </a:r>
          </a:p>
          <a:p>
            <a:pPr algn="just" eaLnBrk="1" hangingPunct="1"/>
            <a:r>
              <a:rPr lang="en-US" sz="2200" smtClean="0"/>
              <a:t>For each test sample, the known class label is compared with the learned model’s class prediction for that sample. </a:t>
            </a:r>
          </a:p>
          <a:p>
            <a:pPr algn="just" eaLnBrk="1" hangingPunct="1"/>
            <a:r>
              <a:rPr lang="en-US" sz="2200" smtClean="0"/>
              <a:t>If the accuracy of model is considered acceptable, the model can be used to classify future data tuples or objects for which the class label is known. </a:t>
            </a:r>
          </a:p>
          <a:p>
            <a:pPr algn="just" eaLnBrk="1" hangingPunct="1"/>
            <a:r>
              <a:rPr lang="en-US" sz="2200" smtClean="0"/>
              <a:t>(Such data are also referred to in the machine learning literature as “unknown” or “previously unseen” data)</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p>
            <a:fld id="{F2CC038C-7827-4AE9-8D8E-95ACCB9D3364}" type="slidenum">
              <a:rPr lang="en-US" smtClean="0"/>
              <a:pPr/>
              <a:t>10</a:t>
            </a:fld>
            <a:endParaRPr lang="en-US" smtClean="0"/>
          </a:p>
        </p:txBody>
      </p:sp>
      <p:sp>
        <p:nvSpPr>
          <p:cNvPr id="23555" name="Rectangle 4"/>
          <p:cNvSpPr>
            <a:spLocks noGrp="1" noChangeArrowheads="1"/>
          </p:cNvSpPr>
          <p:nvPr>
            <p:ph type="body" idx="1"/>
          </p:nvPr>
        </p:nvSpPr>
        <p:spPr>
          <a:xfrm>
            <a:off x="228600" y="228600"/>
            <a:ext cx="8763000" cy="6172200"/>
          </a:xfrm>
          <a:noFill/>
        </p:spPr>
        <p:txBody>
          <a:bodyPr lIns="92075" tIns="46038" rIns="92075" bIns="46038"/>
          <a:lstStyle/>
          <a:p>
            <a:pPr algn="just" eaLnBrk="1" hangingPunct="1"/>
            <a:r>
              <a:rPr lang="en-US" sz="2200" smtClean="0"/>
              <a:t>For example, the classification rules learned in Fig a from the analysis of data from existing customers can be used to predict the credit rating of new or future (i.e. previously unseen) customers.</a:t>
            </a:r>
          </a:p>
          <a:p>
            <a:pPr algn="just" eaLnBrk="1" hangingPunct="1"/>
            <a:r>
              <a:rPr lang="en-US" sz="2200" i="1" smtClean="0"/>
              <a:t>“How is predication different from classification” </a:t>
            </a:r>
            <a:r>
              <a:rPr lang="en-US" sz="2200" smtClean="0"/>
              <a:t>Predication can be viewed as the construction and use of a model to assess the class of an unlabeled sample, or to assess the value or value ranges of an attribute that a given sample is likely to have</a:t>
            </a:r>
            <a:endParaRPr lang="en-US" sz="2200" b="1" i="1"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lide Number Placeholder 5"/>
          <p:cNvSpPr>
            <a:spLocks noGrp="1"/>
          </p:cNvSpPr>
          <p:nvPr>
            <p:ph type="sldNum" sz="quarter" idx="12"/>
          </p:nvPr>
        </p:nvSpPr>
        <p:spPr>
          <a:noFill/>
        </p:spPr>
        <p:txBody>
          <a:bodyPr/>
          <a:lstStyle/>
          <a:p>
            <a:fld id="{128D5DB5-562C-4305-B174-1E33B2A2BAE2}" type="slidenum">
              <a:rPr lang="en-US" smtClean="0"/>
              <a:pPr/>
              <a:t>11</a:t>
            </a:fld>
            <a:endParaRPr lang="en-US" smtClean="0"/>
          </a:p>
        </p:txBody>
      </p:sp>
      <p:sp>
        <p:nvSpPr>
          <p:cNvPr id="2052" name="Rectangle 4"/>
          <p:cNvSpPr>
            <a:spLocks noGrp="1" noRot="1" noChangeArrowheads="1"/>
          </p:cNvSpPr>
          <p:nvPr>
            <p:ph type="title"/>
          </p:nvPr>
        </p:nvSpPr>
        <p:spPr>
          <a:xfrm>
            <a:off x="0" y="228600"/>
            <a:ext cx="8936038" cy="609600"/>
          </a:xfrm>
          <a:noFill/>
        </p:spPr>
        <p:txBody>
          <a:bodyPr lIns="92075" tIns="46038" rIns="92075" bIns="46038" anchor="b"/>
          <a:lstStyle/>
          <a:p>
            <a:pPr eaLnBrk="1" hangingPunct="1"/>
            <a:r>
              <a:rPr lang="en-US" sz="2800" smtClean="0"/>
              <a:t>Classification Process (2): Use the Model in Prediction</a:t>
            </a:r>
          </a:p>
        </p:txBody>
      </p:sp>
      <p:grpSp>
        <p:nvGrpSpPr>
          <p:cNvPr id="2053" name="Group 5"/>
          <p:cNvGrpSpPr>
            <a:grpSpLocks/>
          </p:cNvGrpSpPr>
          <p:nvPr/>
        </p:nvGrpSpPr>
        <p:grpSpPr bwMode="auto">
          <a:xfrm>
            <a:off x="4445000" y="1570038"/>
            <a:ext cx="1889125" cy="1506537"/>
            <a:chOff x="2800" y="989"/>
            <a:chExt cx="1190" cy="949"/>
          </a:xfrm>
        </p:grpSpPr>
        <p:pic>
          <p:nvPicPr>
            <p:cNvPr id="2070" name="Picture 6"/>
            <p:cNvPicPr>
              <a:picLocks noChangeArrowheads="1"/>
            </p:cNvPicPr>
            <p:nvPr/>
          </p:nvPicPr>
          <p:blipFill>
            <a:blip r:embed="rId3"/>
            <a:srcRect/>
            <a:stretch>
              <a:fillRect/>
            </a:stretch>
          </p:blipFill>
          <p:spPr bwMode="auto">
            <a:xfrm>
              <a:off x="2800" y="989"/>
              <a:ext cx="1190" cy="949"/>
            </a:xfrm>
            <a:prstGeom prst="rect">
              <a:avLst/>
            </a:prstGeom>
            <a:noFill/>
            <a:ln w="9525">
              <a:noFill/>
              <a:miter lim="800000"/>
              <a:headEnd/>
              <a:tailEnd/>
            </a:ln>
          </p:spPr>
        </p:pic>
        <p:sp>
          <p:nvSpPr>
            <p:cNvPr id="2071" name="Rectangle 7"/>
            <p:cNvSpPr>
              <a:spLocks noChangeArrowheads="1"/>
            </p:cNvSpPr>
            <p:nvPr/>
          </p:nvSpPr>
          <p:spPr bwMode="auto">
            <a:xfrm>
              <a:off x="2964" y="1384"/>
              <a:ext cx="859" cy="291"/>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Classifier</a:t>
              </a:r>
            </a:p>
          </p:txBody>
        </p:sp>
      </p:grpSp>
      <p:grpSp>
        <p:nvGrpSpPr>
          <p:cNvPr id="2054" name="Group 8"/>
          <p:cNvGrpSpPr>
            <a:grpSpLocks/>
          </p:cNvGrpSpPr>
          <p:nvPr/>
        </p:nvGrpSpPr>
        <p:grpSpPr bwMode="auto">
          <a:xfrm>
            <a:off x="2157413" y="2735263"/>
            <a:ext cx="1698625" cy="1506537"/>
            <a:chOff x="1359" y="1723"/>
            <a:chExt cx="1070" cy="949"/>
          </a:xfrm>
        </p:grpSpPr>
        <p:pic>
          <p:nvPicPr>
            <p:cNvPr id="2068" name="Picture 9"/>
            <p:cNvPicPr>
              <a:picLocks noChangeArrowheads="1"/>
            </p:cNvPicPr>
            <p:nvPr/>
          </p:nvPicPr>
          <p:blipFill>
            <a:blip r:embed="rId4"/>
            <a:srcRect/>
            <a:stretch>
              <a:fillRect/>
            </a:stretch>
          </p:blipFill>
          <p:spPr bwMode="auto">
            <a:xfrm>
              <a:off x="1359" y="1723"/>
              <a:ext cx="1070" cy="949"/>
            </a:xfrm>
            <a:prstGeom prst="rect">
              <a:avLst/>
            </a:prstGeom>
            <a:noFill/>
            <a:ln w="9525">
              <a:noFill/>
              <a:miter lim="800000"/>
              <a:headEnd/>
              <a:tailEnd/>
            </a:ln>
          </p:spPr>
        </p:pic>
        <p:sp>
          <p:nvSpPr>
            <p:cNvPr id="2069" name="Rectangle 10"/>
            <p:cNvSpPr>
              <a:spLocks noChangeArrowheads="1"/>
            </p:cNvSpPr>
            <p:nvPr/>
          </p:nvSpPr>
          <p:spPr bwMode="auto">
            <a:xfrm>
              <a:off x="1423" y="2003"/>
              <a:ext cx="934" cy="524"/>
            </a:xfrm>
            <a:prstGeom prst="rect">
              <a:avLst/>
            </a:prstGeom>
            <a:noFill/>
            <a:ln w="9525">
              <a:noFill/>
              <a:miter lim="800000"/>
              <a:headEnd/>
              <a:tailEnd/>
            </a:ln>
          </p:spPr>
          <p:txBody>
            <a:bodyPr lIns="92075" tIns="46038" rIns="92075" bIns="46038" anchor="ctr">
              <a:spAutoFit/>
            </a:bodyPr>
            <a:lstStyle/>
            <a:p>
              <a:pPr algn="ctr" eaLnBrk="0" hangingPunct="0"/>
              <a:r>
                <a:rPr lang="en-US" sz="2400">
                  <a:latin typeface="Times New Roman" pitchFamily="18" charset="0"/>
                </a:rPr>
                <a:t>Testing</a:t>
              </a:r>
            </a:p>
            <a:p>
              <a:pPr algn="ctr" eaLnBrk="0" hangingPunct="0"/>
              <a:r>
                <a:rPr lang="en-US" sz="2400">
                  <a:latin typeface="Times New Roman" pitchFamily="18" charset="0"/>
                </a:rPr>
                <a:t>Data</a:t>
              </a:r>
            </a:p>
          </p:txBody>
        </p:sp>
      </p:grpSp>
      <p:graphicFrame>
        <p:nvGraphicFramePr>
          <p:cNvPr id="2050" name="Object 11"/>
          <p:cNvGraphicFramePr>
            <a:graphicFrameLocks/>
          </p:cNvGraphicFramePr>
          <p:nvPr/>
        </p:nvGraphicFramePr>
        <p:xfrm>
          <a:off x="457200" y="4648200"/>
          <a:ext cx="5438775" cy="1765300"/>
        </p:xfrm>
        <a:graphic>
          <a:graphicData uri="http://schemas.openxmlformats.org/presentationml/2006/ole">
            <p:oleObj spid="_x0000_s2050" name="Worksheet" r:id="rId5" imgW="5438520" imgH="1765080" progId="Excel.Sheet.8">
              <p:embed/>
            </p:oleObj>
          </a:graphicData>
        </a:graphic>
      </p:graphicFrame>
      <p:sp>
        <p:nvSpPr>
          <p:cNvPr id="2055" name="Line 12"/>
          <p:cNvSpPr>
            <a:spLocks noChangeShapeType="1"/>
          </p:cNvSpPr>
          <p:nvPr/>
        </p:nvSpPr>
        <p:spPr bwMode="auto">
          <a:xfrm flipH="1">
            <a:off x="762000" y="4071938"/>
            <a:ext cx="1309688" cy="576262"/>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56" name="Line 13"/>
          <p:cNvSpPr>
            <a:spLocks noChangeShapeType="1"/>
          </p:cNvSpPr>
          <p:nvPr/>
        </p:nvSpPr>
        <p:spPr bwMode="auto">
          <a:xfrm>
            <a:off x="3857625" y="4071938"/>
            <a:ext cx="1628775" cy="576262"/>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57" name="AutoShape 14"/>
          <p:cNvSpPr>
            <a:spLocks noChangeArrowheads="1"/>
          </p:cNvSpPr>
          <p:nvPr/>
        </p:nvSpPr>
        <p:spPr bwMode="auto">
          <a:xfrm>
            <a:off x="7793038" y="5000625"/>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
        <p:nvSpPr>
          <p:cNvPr id="2058" name="Freeform 15"/>
          <p:cNvSpPr>
            <a:spLocks/>
          </p:cNvSpPr>
          <p:nvPr/>
        </p:nvSpPr>
        <p:spPr bwMode="auto">
          <a:xfrm>
            <a:off x="6523038" y="2173288"/>
            <a:ext cx="941387" cy="766762"/>
          </a:xfrm>
          <a:custGeom>
            <a:avLst/>
            <a:gdLst>
              <a:gd name="T0" fmla="*/ 0 w 593"/>
              <a:gd name="T1" fmla="*/ 2147483647 h 483"/>
              <a:gd name="T2" fmla="*/ 2147483647 w 593"/>
              <a:gd name="T3" fmla="*/ 0 h 483"/>
              <a:gd name="T4" fmla="*/ 2147483647 w 593"/>
              <a:gd name="T5" fmla="*/ 2147483647 h 483"/>
              <a:gd name="T6" fmla="*/ 2147483647 w 593"/>
              <a:gd name="T7" fmla="*/ 2147483647 h 483"/>
              <a:gd name="T8" fmla="*/ 2147483647 w 593"/>
              <a:gd name="T9" fmla="*/ 2147483647 h 483"/>
              <a:gd name="T10" fmla="*/ 2147483647 w 593"/>
              <a:gd name="T11" fmla="*/ 2147483647 h 483"/>
              <a:gd name="T12" fmla="*/ 2147483647 w 593"/>
              <a:gd name="T13" fmla="*/ 2147483647 h 483"/>
              <a:gd name="T14" fmla="*/ 2147483647 w 593"/>
              <a:gd name="T15" fmla="*/ 2147483647 h 483"/>
              <a:gd name="T16" fmla="*/ 2147483647 w 593"/>
              <a:gd name="T17" fmla="*/ 2147483647 h 483"/>
              <a:gd name="T18" fmla="*/ 2147483647 w 593"/>
              <a:gd name="T19" fmla="*/ 2147483647 h 483"/>
              <a:gd name="T20" fmla="*/ 0 w 593"/>
              <a:gd name="T21" fmla="*/ 2147483647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2059" name="Group 16"/>
          <p:cNvGrpSpPr>
            <a:grpSpLocks/>
          </p:cNvGrpSpPr>
          <p:nvPr/>
        </p:nvGrpSpPr>
        <p:grpSpPr bwMode="auto">
          <a:xfrm>
            <a:off x="6646863" y="3187700"/>
            <a:ext cx="1781175" cy="815975"/>
            <a:chOff x="4187" y="2008"/>
            <a:chExt cx="1122" cy="514"/>
          </a:xfrm>
        </p:grpSpPr>
        <p:pic>
          <p:nvPicPr>
            <p:cNvPr id="2066" name="Picture 17"/>
            <p:cNvPicPr>
              <a:picLocks noChangeArrowheads="1"/>
            </p:cNvPicPr>
            <p:nvPr/>
          </p:nvPicPr>
          <p:blipFill>
            <a:blip r:embed="rId6"/>
            <a:srcRect/>
            <a:stretch>
              <a:fillRect/>
            </a:stretch>
          </p:blipFill>
          <p:spPr bwMode="auto">
            <a:xfrm>
              <a:off x="4187" y="2008"/>
              <a:ext cx="1122" cy="514"/>
            </a:xfrm>
            <a:prstGeom prst="rect">
              <a:avLst/>
            </a:prstGeom>
            <a:noFill/>
            <a:ln w="9525">
              <a:noFill/>
              <a:miter lim="800000"/>
              <a:headEnd/>
              <a:tailEnd/>
            </a:ln>
          </p:spPr>
        </p:pic>
        <p:sp>
          <p:nvSpPr>
            <p:cNvPr id="2067" name="Rectangle 18"/>
            <p:cNvSpPr>
              <a:spLocks noChangeArrowheads="1"/>
            </p:cNvSpPr>
            <p:nvPr/>
          </p:nvSpPr>
          <p:spPr bwMode="auto">
            <a:xfrm>
              <a:off x="4193" y="2151"/>
              <a:ext cx="1113" cy="291"/>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latin typeface="Times New Roman" pitchFamily="18" charset="0"/>
                </a:rPr>
                <a:t>Unseen Data</a:t>
              </a:r>
            </a:p>
          </p:txBody>
        </p:sp>
      </p:grpSp>
      <p:sp>
        <p:nvSpPr>
          <p:cNvPr id="2060" name="Rectangle 19"/>
          <p:cNvSpPr>
            <a:spLocks noChangeArrowheads="1"/>
          </p:cNvSpPr>
          <p:nvPr/>
        </p:nvSpPr>
        <p:spPr bwMode="auto">
          <a:xfrm>
            <a:off x="6305550" y="4262438"/>
            <a:ext cx="2460625" cy="461962"/>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(Jeff, Professor, 4)</a:t>
            </a:r>
          </a:p>
        </p:txBody>
      </p:sp>
      <p:sp>
        <p:nvSpPr>
          <p:cNvPr id="2061" name="Line 20"/>
          <p:cNvSpPr>
            <a:spLocks noChangeShapeType="1"/>
          </p:cNvSpPr>
          <p:nvPr/>
        </p:nvSpPr>
        <p:spPr bwMode="auto">
          <a:xfrm flipH="1">
            <a:off x="6477000" y="3962400"/>
            <a:ext cx="395288" cy="3048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62" name="Line 21"/>
          <p:cNvSpPr>
            <a:spLocks noChangeShapeType="1"/>
          </p:cNvSpPr>
          <p:nvPr/>
        </p:nvSpPr>
        <p:spPr bwMode="auto">
          <a:xfrm>
            <a:off x="8229600" y="3962400"/>
            <a:ext cx="228600" cy="3048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2063" name="Freeform 22"/>
          <p:cNvSpPr>
            <a:spLocks/>
          </p:cNvSpPr>
          <p:nvPr/>
        </p:nvSpPr>
        <p:spPr bwMode="auto">
          <a:xfrm>
            <a:off x="3360738" y="2032000"/>
            <a:ext cx="901700" cy="593725"/>
          </a:xfrm>
          <a:custGeom>
            <a:avLst/>
            <a:gdLst>
              <a:gd name="T0" fmla="*/ 2147483647 w 568"/>
              <a:gd name="T1" fmla="*/ 2147483647 h 374"/>
              <a:gd name="T2" fmla="*/ 2147483647 w 568"/>
              <a:gd name="T3" fmla="*/ 2147483647 h 374"/>
              <a:gd name="T4" fmla="*/ 2147483647 w 568"/>
              <a:gd name="T5" fmla="*/ 2147483647 h 374"/>
              <a:gd name="T6" fmla="*/ 2147483647 w 568"/>
              <a:gd name="T7" fmla="*/ 2147483647 h 374"/>
              <a:gd name="T8" fmla="*/ 2147483647 w 568"/>
              <a:gd name="T9" fmla="*/ 2147483647 h 374"/>
              <a:gd name="T10" fmla="*/ 0 w 568"/>
              <a:gd name="T11" fmla="*/ 2147483647 h 374"/>
              <a:gd name="T12" fmla="*/ 2147483647 w 568"/>
              <a:gd name="T13" fmla="*/ 2147483647 h 374"/>
              <a:gd name="T14" fmla="*/ 2147483647 w 568"/>
              <a:gd name="T15" fmla="*/ 2147483647 h 374"/>
              <a:gd name="T16" fmla="*/ 2147483647 w 568"/>
              <a:gd name="T17" fmla="*/ 2147483647 h 374"/>
              <a:gd name="T18" fmla="*/ 2147483647 w 568"/>
              <a:gd name="T19" fmla="*/ 0 h 374"/>
              <a:gd name="T20" fmla="*/ 2147483647 w 568"/>
              <a:gd name="T21" fmla="*/ 2147483647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pic>
        <p:nvPicPr>
          <p:cNvPr id="2064" name="Picture 23"/>
          <p:cNvPicPr>
            <a:picLocks noChangeArrowheads="1"/>
          </p:cNvPicPr>
          <p:nvPr/>
        </p:nvPicPr>
        <p:blipFill>
          <a:blip r:embed="rId7"/>
          <a:srcRect/>
          <a:stretch>
            <a:fillRect/>
          </a:stretch>
        </p:blipFill>
        <p:spPr bwMode="auto">
          <a:xfrm>
            <a:off x="7720013" y="5738813"/>
            <a:ext cx="720725" cy="628650"/>
          </a:xfrm>
          <a:prstGeom prst="rect">
            <a:avLst/>
          </a:prstGeom>
          <a:noFill/>
          <a:ln w="9525">
            <a:noFill/>
            <a:miter lim="800000"/>
            <a:headEnd/>
            <a:tailEnd/>
          </a:ln>
        </p:spPr>
      </p:pic>
      <p:sp>
        <p:nvSpPr>
          <p:cNvPr id="2065" name="Rectangle 24"/>
          <p:cNvSpPr>
            <a:spLocks noChangeArrowheads="1"/>
          </p:cNvSpPr>
          <p:nvPr/>
        </p:nvSpPr>
        <p:spPr bwMode="auto">
          <a:xfrm>
            <a:off x="6221413" y="4959350"/>
            <a:ext cx="1525587" cy="519113"/>
          </a:xfrm>
          <a:prstGeom prst="rect">
            <a:avLst/>
          </a:prstGeom>
          <a:noFill/>
          <a:ln w="9525">
            <a:noFill/>
            <a:miter lim="800000"/>
            <a:headEnd/>
            <a:tailEnd/>
          </a:ln>
        </p:spPr>
        <p:txBody>
          <a:bodyPr wrap="none" lIns="92075" tIns="46038" rIns="92075" bIns="46038">
            <a:spAutoFit/>
          </a:bodyPr>
          <a:lstStyle/>
          <a:p>
            <a:pPr algn="ctr" eaLnBrk="0" hangingPunct="0"/>
            <a:r>
              <a:rPr lang="en-US" sz="2800">
                <a:latin typeface="Times New Roman" pitchFamily="18" charset="0"/>
              </a:rPr>
              <a:t>Tenured?</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2"/>
          </p:nvPr>
        </p:nvSpPr>
        <p:spPr>
          <a:noFill/>
        </p:spPr>
        <p:txBody>
          <a:bodyPr/>
          <a:lstStyle/>
          <a:p>
            <a:fld id="{6A571249-3AEF-479E-AE6B-1F749CF9077A}" type="slidenum">
              <a:rPr lang="en-US" smtClean="0"/>
              <a:pPr/>
              <a:t>12</a:t>
            </a:fld>
            <a:endParaRPr lang="en-US" smtClean="0"/>
          </a:p>
        </p:txBody>
      </p:sp>
      <p:pic>
        <p:nvPicPr>
          <p:cNvPr id="24579" name="Picture 2" descr="C:\Users\Admin\Desktop\dm_build_classifier.jpg"/>
          <p:cNvPicPr>
            <a:picLocks noGrp="1" noChangeAspect="1" noChangeArrowheads="1"/>
          </p:cNvPicPr>
          <p:nvPr>
            <p:ph idx="1"/>
          </p:nvPr>
        </p:nvPicPr>
        <p:blipFill>
          <a:blip r:embed="rId2"/>
          <a:srcRect/>
          <a:stretch>
            <a:fillRect/>
          </a:stretch>
        </p:blipFill>
        <p:spPr>
          <a:xfrm>
            <a:off x="1066800" y="838200"/>
            <a:ext cx="7315200" cy="4800600"/>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2"/>
          </p:nvPr>
        </p:nvSpPr>
        <p:spPr>
          <a:noFill/>
        </p:spPr>
        <p:txBody>
          <a:bodyPr/>
          <a:lstStyle/>
          <a:p>
            <a:fld id="{0B2D9A57-113D-4111-9FDE-C5E18CD2C9E7}" type="slidenum">
              <a:rPr lang="en-US" smtClean="0"/>
              <a:pPr/>
              <a:t>13</a:t>
            </a:fld>
            <a:endParaRPr lang="en-US" smtClean="0"/>
          </a:p>
        </p:txBody>
      </p:sp>
      <p:pic>
        <p:nvPicPr>
          <p:cNvPr id="25603" name="Picture 2" descr="C:\Users\Admin\Desktop\rOYFUCJ.jpg"/>
          <p:cNvPicPr>
            <a:picLocks noGrp="1" noChangeAspect="1" noChangeArrowheads="1"/>
          </p:cNvPicPr>
          <p:nvPr>
            <p:ph idx="1"/>
          </p:nvPr>
        </p:nvPicPr>
        <p:blipFill>
          <a:blip r:embed="rId2"/>
          <a:srcRect b="32338"/>
          <a:stretch>
            <a:fillRect/>
          </a:stretch>
        </p:blipFill>
        <p:spPr>
          <a:xfrm>
            <a:off x="533400" y="609600"/>
            <a:ext cx="8153400" cy="4572000"/>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p:spPr>
        <p:txBody>
          <a:bodyPr/>
          <a:lstStyle/>
          <a:p>
            <a:fld id="{E6C71F59-99BF-485E-9C62-F532F76CCC3F}" type="slidenum">
              <a:rPr lang="en-US" smtClean="0"/>
              <a:pPr/>
              <a:t>14</a:t>
            </a:fld>
            <a:endParaRPr lang="en-US" smtClean="0"/>
          </a:p>
        </p:txBody>
      </p:sp>
      <p:sp>
        <p:nvSpPr>
          <p:cNvPr id="26627" name="Rectangle 2"/>
          <p:cNvSpPr>
            <a:spLocks noGrp="1" noChangeArrowheads="1"/>
          </p:cNvSpPr>
          <p:nvPr>
            <p:ph type="body" idx="1"/>
          </p:nvPr>
        </p:nvSpPr>
        <p:spPr>
          <a:xfrm>
            <a:off x="381000" y="1295400"/>
            <a:ext cx="8259763" cy="4832350"/>
          </a:xfrm>
          <a:noFill/>
        </p:spPr>
        <p:txBody>
          <a:bodyPr lIns="92075" tIns="46038" rIns="92075" bIns="46038"/>
          <a:lstStyle/>
          <a:p>
            <a:pPr eaLnBrk="1" hangingPunct="1">
              <a:lnSpc>
                <a:spcPct val="90000"/>
              </a:lnSpc>
            </a:pPr>
            <a:r>
              <a:rPr lang="en-US" sz="2800" smtClean="0">
                <a:solidFill>
                  <a:schemeClr val="hlink"/>
                </a:solidFill>
              </a:rPr>
              <a:t>Classification:</a:t>
            </a:r>
            <a:r>
              <a:rPr lang="en-US" sz="2400" smtClean="0"/>
              <a:t>  </a:t>
            </a:r>
          </a:p>
          <a:p>
            <a:pPr lvl="1" eaLnBrk="1" hangingPunct="1">
              <a:lnSpc>
                <a:spcPct val="90000"/>
              </a:lnSpc>
            </a:pPr>
            <a:r>
              <a:rPr lang="en-US" sz="2400" smtClean="0"/>
              <a:t>predicts categorical class labels</a:t>
            </a:r>
          </a:p>
          <a:p>
            <a:pPr lvl="1" eaLnBrk="1" hangingPunct="1">
              <a:lnSpc>
                <a:spcPct val="90000"/>
              </a:lnSpc>
            </a:pPr>
            <a:r>
              <a:rPr lang="en-US" sz="2400" smtClean="0"/>
              <a:t>classifies data (constructs a model) based on the training set and the values (</a:t>
            </a:r>
            <a:r>
              <a:rPr lang="en-US" sz="2400" smtClean="0">
                <a:solidFill>
                  <a:schemeClr val="hlink"/>
                </a:solidFill>
              </a:rPr>
              <a:t>class labels</a:t>
            </a:r>
            <a:r>
              <a:rPr lang="en-US" sz="2400" smtClean="0"/>
              <a:t>) in a classifying attribute and uses it in classifying new data</a:t>
            </a:r>
          </a:p>
          <a:p>
            <a:pPr eaLnBrk="1" hangingPunct="1">
              <a:lnSpc>
                <a:spcPct val="90000"/>
              </a:lnSpc>
            </a:pPr>
            <a:r>
              <a:rPr lang="en-US" sz="2800" smtClean="0">
                <a:solidFill>
                  <a:schemeClr val="hlink"/>
                </a:solidFill>
              </a:rPr>
              <a:t>Prediction:  </a:t>
            </a:r>
          </a:p>
          <a:p>
            <a:pPr lvl="1" eaLnBrk="1" hangingPunct="1">
              <a:lnSpc>
                <a:spcPct val="90000"/>
              </a:lnSpc>
            </a:pPr>
            <a:r>
              <a:rPr lang="en-US" sz="2400" smtClean="0"/>
              <a:t>models continuous-valued functions, i.e., predicts unknown or missing values </a:t>
            </a:r>
          </a:p>
          <a:p>
            <a:pPr eaLnBrk="1" hangingPunct="1">
              <a:lnSpc>
                <a:spcPct val="90000"/>
              </a:lnSpc>
            </a:pPr>
            <a:r>
              <a:rPr lang="en-US" sz="2800" smtClean="0"/>
              <a:t>Typical Applications</a:t>
            </a:r>
          </a:p>
          <a:p>
            <a:pPr lvl="1" eaLnBrk="1" hangingPunct="1">
              <a:lnSpc>
                <a:spcPct val="90000"/>
              </a:lnSpc>
              <a:buClr>
                <a:srgbClr val="0000CC"/>
              </a:buClr>
            </a:pPr>
            <a:r>
              <a:rPr lang="en-US" sz="2400" smtClean="0"/>
              <a:t>credit approval</a:t>
            </a:r>
          </a:p>
          <a:p>
            <a:pPr lvl="1" eaLnBrk="1" hangingPunct="1">
              <a:lnSpc>
                <a:spcPct val="90000"/>
              </a:lnSpc>
              <a:buClr>
                <a:srgbClr val="0000CC"/>
              </a:buClr>
            </a:pPr>
            <a:r>
              <a:rPr lang="en-US" sz="2400" smtClean="0"/>
              <a:t>target marketing</a:t>
            </a:r>
          </a:p>
          <a:p>
            <a:pPr lvl="1" eaLnBrk="1" hangingPunct="1">
              <a:lnSpc>
                <a:spcPct val="90000"/>
              </a:lnSpc>
              <a:buClr>
                <a:srgbClr val="0000CC"/>
              </a:buClr>
            </a:pPr>
            <a:r>
              <a:rPr lang="en-US" sz="2400" smtClean="0"/>
              <a:t>medical diagnosis</a:t>
            </a:r>
          </a:p>
          <a:p>
            <a:pPr lvl="1" eaLnBrk="1" hangingPunct="1">
              <a:lnSpc>
                <a:spcPct val="90000"/>
              </a:lnSpc>
              <a:buClr>
                <a:srgbClr val="0000CC"/>
              </a:buClr>
            </a:pPr>
            <a:r>
              <a:rPr lang="en-US" sz="2400" smtClean="0"/>
              <a:t>treatment effectiveness analysis</a:t>
            </a:r>
          </a:p>
        </p:txBody>
      </p:sp>
      <p:sp>
        <p:nvSpPr>
          <p:cNvPr id="26628" name="Rectangle 3"/>
          <p:cNvSpPr>
            <a:spLocks noGrp="1" noChangeArrowheads="1"/>
          </p:cNvSpPr>
          <p:nvPr>
            <p:ph type="title"/>
          </p:nvPr>
        </p:nvSpPr>
        <p:spPr>
          <a:xfrm>
            <a:off x="457200" y="457200"/>
            <a:ext cx="7162800" cy="819150"/>
          </a:xfrm>
          <a:noFill/>
        </p:spPr>
        <p:txBody>
          <a:bodyPr lIns="92075" tIns="46038" rIns="92075" bIns="46038"/>
          <a:lstStyle/>
          <a:p>
            <a:pPr eaLnBrk="1" hangingPunct="1"/>
            <a:r>
              <a:rPr lang="en-US" smtClean="0"/>
              <a:t>Classification vs. Prediction</a:t>
            </a:r>
          </a:p>
        </p:txBody>
      </p:sp>
    </p:spTree>
  </p:cSld>
  <p:clrMapOvr>
    <a:masterClrMapping/>
  </p:clrMapOvr>
  <p:transition>
    <p:checke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p:spPr>
        <p:txBody>
          <a:bodyPr/>
          <a:lstStyle/>
          <a:p>
            <a:fld id="{0C9ACEA6-BF53-4B50-87E1-88705DEDAA44}" type="slidenum">
              <a:rPr lang="en-US" smtClean="0"/>
              <a:pPr/>
              <a:t>15</a:t>
            </a:fld>
            <a:endParaRPr lang="en-US" smtClean="0"/>
          </a:p>
        </p:txBody>
      </p:sp>
      <p:sp>
        <p:nvSpPr>
          <p:cNvPr id="27651" name="Rectangle 2"/>
          <p:cNvSpPr>
            <a:spLocks noGrp="1" noChangeArrowheads="1"/>
          </p:cNvSpPr>
          <p:nvPr>
            <p:ph type="title"/>
          </p:nvPr>
        </p:nvSpPr>
        <p:spPr>
          <a:xfrm>
            <a:off x="381000" y="0"/>
            <a:ext cx="8458200" cy="762000"/>
          </a:xfrm>
        </p:spPr>
        <p:txBody>
          <a:bodyPr/>
          <a:lstStyle/>
          <a:p>
            <a:pPr eaLnBrk="1" hangingPunct="1"/>
            <a:r>
              <a:rPr lang="en-US" sz="4000" smtClean="0"/>
              <a:t>Classification— A Two-Step Process</a:t>
            </a:r>
            <a:r>
              <a:rPr lang="en-US" sz="3600" smtClean="0"/>
              <a:t> </a:t>
            </a:r>
            <a:endParaRPr lang="en-US" sz="4000" smtClean="0"/>
          </a:p>
        </p:txBody>
      </p:sp>
      <p:sp>
        <p:nvSpPr>
          <p:cNvPr id="27652" name="Rectangle 3"/>
          <p:cNvSpPr>
            <a:spLocks noGrp="1" noChangeArrowheads="1"/>
          </p:cNvSpPr>
          <p:nvPr>
            <p:ph type="body" idx="1"/>
          </p:nvPr>
        </p:nvSpPr>
        <p:spPr>
          <a:xfrm>
            <a:off x="304800" y="1066800"/>
            <a:ext cx="8610600" cy="5562600"/>
          </a:xfrm>
        </p:spPr>
        <p:txBody>
          <a:bodyPr/>
          <a:lstStyle/>
          <a:p>
            <a:pPr eaLnBrk="1" hangingPunct="1"/>
            <a:r>
              <a:rPr lang="en-US" sz="2400" b="1" smtClean="0"/>
              <a:t>Model construction: describing a set of predetermined classes</a:t>
            </a:r>
          </a:p>
          <a:p>
            <a:pPr lvl="1" eaLnBrk="1" hangingPunct="1"/>
            <a:r>
              <a:rPr lang="en-US" sz="2000" smtClean="0"/>
              <a:t>Each tuple/sample is assumed to belong to a predefined class, as determined by the </a:t>
            </a:r>
            <a:r>
              <a:rPr lang="en-US" sz="2000" smtClean="0">
                <a:solidFill>
                  <a:schemeClr val="hlink"/>
                </a:solidFill>
              </a:rPr>
              <a:t>class label attribute</a:t>
            </a:r>
          </a:p>
          <a:p>
            <a:pPr lvl="1" eaLnBrk="1" hangingPunct="1"/>
            <a:r>
              <a:rPr lang="en-US" sz="2000" smtClean="0"/>
              <a:t>The set of tuples used for model construction: </a:t>
            </a:r>
            <a:r>
              <a:rPr lang="en-US" sz="2000" smtClean="0">
                <a:solidFill>
                  <a:schemeClr val="hlink"/>
                </a:solidFill>
              </a:rPr>
              <a:t>training set</a:t>
            </a:r>
          </a:p>
          <a:p>
            <a:pPr lvl="1" eaLnBrk="1" hangingPunct="1"/>
            <a:r>
              <a:rPr lang="en-US" sz="2000" smtClean="0"/>
              <a:t>The model is represented as classification rules, decision trees, or mathematical formulae</a:t>
            </a:r>
          </a:p>
          <a:p>
            <a:pPr eaLnBrk="1" hangingPunct="1"/>
            <a:r>
              <a:rPr lang="en-US" sz="2400" b="1" smtClean="0"/>
              <a:t>Model usage: for classifying future or unknown objects</a:t>
            </a:r>
          </a:p>
          <a:p>
            <a:pPr lvl="1" eaLnBrk="1" hangingPunct="1"/>
            <a:r>
              <a:rPr lang="en-US" sz="2000" smtClean="0"/>
              <a:t>Estimate accuracy of the model</a:t>
            </a:r>
          </a:p>
          <a:p>
            <a:pPr lvl="2" eaLnBrk="1" hangingPunct="1"/>
            <a:r>
              <a:rPr lang="en-US" sz="2000" smtClean="0"/>
              <a:t>The known label of test sample is compared with the classified result from the model</a:t>
            </a:r>
          </a:p>
          <a:p>
            <a:pPr lvl="2" eaLnBrk="1" hangingPunct="1"/>
            <a:r>
              <a:rPr lang="en-US" sz="2000" smtClean="0"/>
              <a:t>Accuracy rate is the percentage of test set samples that are correctly classified by the model</a:t>
            </a:r>
          </a:p>
          <a:p>
            <a:pPr lvl="2" eaLnBrk="1" hangingPunct="1"/>
            <a:r>
              <a:rPr lang="en-US" sz="2000" smtClean="0"/>
              <a:t>Test set is independent of training set, otherwise over-fitting will occur</a:t>
            </a:r>
          </a:p>
        </p:txBody>
      </p:sp>
    </p:spTree>
  </p:cSld>
  <p:clrMapOvr>
    <a:masterClrMapping/>
  </p:clrMapOvr>
  <p:transition>
    <p:checke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Slide Number Placeholder 5"/>
          <p:cNvSpPr>
            <a:spLocks noGrp="1"/>
          </p:cNvSpPr>
          <p:nvPr>
            <p:ph type="sldNum" sz="quarter" idx="12"/>
          </p:nvPr>
        </p:nvSpPr>
        <p:spPr>
          <a:noFill/>
        </p:spPr>
        <p:txBody>
          <a:bodyPr/>
          <a:lstStyle/>
          <a:p>
            <a:fld id="{C3E24535-7569-4623-AAA1-590CC35F9A2B}" type="slidenum">
              <a:rPr lang="en-US" smtClean="0"/>
              <a:pPr/>
              <a:t>16</a:t>
            </a:fld>
            <a:endParaRPr lang="en-US" smtClean="0"/>
          </a:p>
        </p:txBody>
      </p:sp>
      <p:sp>
        <p:nvSpPr>
          <p:cNvPr id="3076" name="Rectangle 2"/>
          <p:cNvSpPr>
            <a:spLocks noGrp="1" noChangeArrowheads="1"/>
          </p:cNvSpPr>
          <p:nvPr>
            <p:ph type="title"/>
          </p:nvPr>
        </p:nvSpPr>
        <p:spPr>
          <a:xfrm>
            <a:off x="381000" y="152400"/>
            <a:ext cx="8382000" cy="990600"/>
          </a:xfrm>
          <a:noFill/>
        </p:spPr>
        <p:txBody>
          <a:bodyPr lIns="92075" tIns="46038" rIns="92075" bIns="46038" anchor="b"/>
          <a:lstStyle/>
          <a:p>
            <a:pPr eaLnBrk="1" hangingPunct="1"/>
            <a:r>
              <a:rPr lang="en-US" sz="3600" smtClean="0"/>
              <a:t>Classification Process (1): Model Construction</a:t>
            </a:r>
          </a:p>
        </p:txBody>
      </p:sp>
      <p:grpSp>
        <p:nvGrpSpPr>
          <p:cNvPr id="3077" name="Group 3"/>
          <p:cNvGrpSpPr>
            <a:grpSpLocks/>
          </p:cNvGrpSpPr>
          <p:nvPr/>
        </p:nvGrpSpPr>
        <p:grpSpPr bwMode="auto">
          <a:xfrm>
            <a:off x="2036763" y="1774825"/>
            <a:ext cx="1698625" cy="1506538"/>
            <a:chOff x="1283" y="1118"/>
            <a:chExt cx="1070" cy="949"/>
          </a:xfrm>
        </p:grpSpPr>
        <p:pic>
          <p:nvPicPr>
            <p:cNvPr id="3089" name="Picture 4"/>
            <p:cNvPicPr>
              <a:picLocks noChangeArrowheads="1"/>
            </p:cNvPicPr>
            <p:nvPr/>
          </p:nvPicPr>
          <p:blipFill>
            <a:blip r:embed="rId3"/>
            <a:srcRect/>
            <a:stretch>
              <a:fillRect/>
            </a:stretch>
          </p:blipFill>
          <p:spPr bwMode="auto">
            <a:xfrm>
              <a:off x="1283" y="1118"/>
              <a:ext cx="1070" cy="949"/>
            </a:xfrm>
            <a:prstGeom prst="rect">
              <a:avLst/>
            </a:prstGeom>
            <a:noFill/>
            <a:ln w="9525">
              <a:noFill/>
              <a:miter lim="800000"/>
              <a:headEnd/>
              <a:tailEnd/>
            </a:ln>
          </p:spPr>
        </p:pic>
        <p:sp>
          <p:nvSpPr>
            <p:cNvPr id="3090" name="Rectangle 5"/>
            <p:cNvSpPr>
              <a:spLocks noChangeArrowheads="1"/>
            </p:cNvSpPr>
            <p:nvPr/>
          </p:nvSpPr>
          <p:spPr bwMode="auto">
            <a:xfrm>
              <a:off x="1347" y="1398"/>
              <a:ext cx="934" cy="518"/>
            </a:xfrm>
            <a:prstGeom prst="rect">
              <a:avLst/>
            </a:prstGeom>
            <a:noFill/>
            <a:ln w="9525">
              <a:noFill/>
              <a:miter lim="800000"/>
              <a:headEnd/>
              <a:tailEnd/>
            </a:ln>
          </p:spPr>
          <p:txBody>
            <a:bodyPr lIns="92075" tIns="46038" rIns="92075" bIns="46038" anchor="ctr">
              <a:spAutoFit/>
            </a:bodyPr>
            <a:lstStyle/>
            <a:p>
              <a:pPr algn="ctr" eaLnBrk="0" hangingPunct="0"/>
              <a:r>
                <a:rPr lang="en-US" sz="2400">
                  <a:solidFill>
                    <a:schemeClr val="bg2"/>
                  </a:solidFill>
                  <a:latin typeface="Times New Roman" pitchFamily="18" charset="0"/>
                </a:rPr>
                <a:t>Training</a:t>
              </a:r>
            </a:p>
            <a:p>
              <a:pPr algn="ctr" eaLnBrk="0" hangingPunct="0"/>
              <a:r>
                <a:rPr lang="en-US" sz="2400">
                  <a:solidFill>
                    <a:schemeClr val="bg2"/>
                  </a:solidFill>
                  <a:latin typeface="Times New Roman" pitchFamily="18" charset="0"/>
                </a:rPr>
                <a:t>Data</a:t>
              </a:r>
            </a:p>
          </p:txBody>
        </p:sp>
      </p:grpSp>
      <p:graphicFrame>
        <p:nvGraphicFramePr>
          <p:cNvPr id="3074" name="Object 6"/>
          <p:cNvGraphicFramePr>
            <a:graphicFrameLocks/>
          </p:cNvGraphicFramePr>
          <p:nvPr/>
        </p:nvGraphicFramePr>
        <p:xfrm>
          <a:off x="288925" y="3825875"/>
          <a:ext cx="5437188" cy="2495550"/>
        </p:xfrm>
        <a:graphic>
          <a:graphicData uri="http://schemas.openxmlformats.org/presentationml/2006/ole">
            <p:oleObj spid="_x0000_s3074" name="Worksheet" r:id="rId4" imgW="5437080" imgH="2495520" progId="Excel.Sheet.8">
              <p:embed/>
            </p:oleObj>
          </a:graphicData>
        </a:graphic>
      </p:graphicFrame>
      <p:sp>
        <p:nvSpPr>
          <p:cNvPr id="3078" name="Line 7"/>
          <p:cNvSpPr>
            <a:spLocks noChangeShapeType="1"/>
          </p:cNvSpPr>
          <p:nvPr/>
        </p:nvSpPr>
        <p:spPr bwMode="auto">
          <a:xfrm flipH="1">
            <a:off x="306388" y="3111500"/>
            <a:ext cx="1644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079" name="Line 8"/>
          <p:cNvSpPr>
            <a:spLocks noChangeShapeType="1"/>
          </p:cNvSpPr>
          <p:nvPr/>
        </p:nvSpPr>
        <p:spPr bwMode="auto">
          <a:xfrm>
            <a:off x="3736975" y="3111500"/>
            <a:ext cx="2025650" cy="7000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080" name="Rectangle 9"/>
          <p:cNvSpPr>
            <a:spLocks noChangeArrowheads="1"/>
          </p:cNvSpPr>
          <p:nvPr/>
        </p:nvSpPr>
        <p:spPr bwMode="auto">
          <a:xfrm>
            <a:off x="6481763" y="1622425"/>
            <a:ext cx="1870075" cy="835025"/>
          </a:xfrm>
          <a:prstGeom prst="rect">
            <a:avLst/>
          </a:prstGeom>
          <a:solidFill>
            <a:srgbClr val="CCFFFF"/>
          </a:solidFill>
          <a:ln w="12700">
            <a:solidFill>
              <a:schemeClr val="tx1"/>
            </a:solidFill>
            <a:miter lim="800000"/>
            <a:headEnd/>
            <a:tailEnd/>
          </a:ln>
        </p:spPr>
        <p:txBody>
          <a:bodyPr wrap="none" lIns="92075" tIns="46038" rIns="92075" bIns="46038" anchor="ctr">
            <a:spAutoFit/>
          </a:bodyPr>
          <a:lstStyle/>
          <a:p>
            <a:pPr algn="ctr" eaLnBrk="0" hangingPunct="0"/>
            <a:r>
              <a:rPr lang="en-US" sz="2400">
                <a:solidFill>
                  <a:schemeClr val="bg2"/>
                </a:solidFill>
                <a:latin typeface="Times New Roman" pitchFamily="18" charset="0"/>
              </a:rPr>
              <a:t>Classification</a:t>
            </a:r>
          </a:p>
          <a:p>
            <a:pPr algn="ctr" eaLnBrk="0" hangingPunct="0"/>
            <a:r>
              <a:rPr lang="en-US" sz="2400">
                <a:solidFill>
                  <a:schemeClr val="bg2"/>
                </a:solidFill>
                <a:latin typeface="Times New Roman" pitchFamily="18" charset="0"/>
              </a:rPr>
              <a:t>Algorithms</a:t>
            </a:r>
          </a:p>
        </p:txBody>
      </p:sp>
      <p:sp>
        <p:nvSpPr>
          <p:cNvPr id="3081" name="AutoShape 10"/>
          <p:cNvSpPr>
            <a:spLocks noChangeArrowheads="1"/>
          </p:cNvSpPr>
          <p:nvPr/>
        </p:nvSpPr>
        <p:spPr bwMode="auto">
          <a:xfrm rot="-1140000">
            <a:off x="4235450" y="2074863"/>
            <a:ext cx="1657350" cy="484187"/>
          </a:xfrm>
          <a:prstGeom prst="rightArrow">
            <a:avLst>
              <a:gd name="adj1" fmla="val 50000"/>
              <a:gd name="adj2" fmla="val 85606"/>
            </a:avLst>
          </a:prstGeom>
          <a:solidFill>
            <a:srgbClr val="2597B8"/>
          </a:solidFill>
          <a:ln w="12700">
            <a:solidFill>
              <a:srgbClr val="000000"/>
            </a:solidFill>
            <a:miter lim="800000"/>
            <a:headEnd/>
            <a:tailEnd/>
          </a:ln>
        </p:spPr>
        <p:txBody>
          <a:bodyPr wrap="none" anchor="ctr"/>
          <a:lstStyle/>
          <a:p>
            <a:endParaRPr lang="en-US"/>
          </a:p>
        </p:txBody>
      </p:sp>
      <p:sp>
        <p:nvSpPr>
          <p:cNvPr id="3082" name="Rectangle 11"/>
          <p:cNvSpPr>
            <a:spLocks noChangeArrowheads="1"/>
          </p:cNvSpPr>
          <p:nvPr/>
        </p:nvSpPr>
        <p:spPr bwMode="auto">
          <a:xfrm>
            <a:off x="5948363" y="5311775"/>
            <a:ext cx="3008312" cy="1200150"/>
          </a:xfrm>
          <a:prstGeom prst="rect">
            <a:avLst/>
          </a:prstGeom>
          <a:solidFill>
            <a:srgbClr val="CCFFCC"/>
          </a:solidFill>
          <a:ln w="12700">
            <a:solidFill>
              <a:schemeClr val="tx1"/>
            </a:solidFill>
            <a:miter lim="800000"/>
            <a:headEnd/>
            <a:tailEnd/>
          </a:ln>
        </p:spPr>
        <p:txBody>
          <a:bodyPr wrap="none" lIns="92075" tIns="46038" rIns="92075" bIns="46038" anchor="ctr">
            <a:spAutoFit/>
          </a:bodyPr>
          <a:lstStyle/>
          <a:p>
            <a:pPr eaLnBrk="0" hangingPunct="0"/>
            <a:r>
              <a:rPr lang="en-US" sz="2400">
                <a:solidFill>
                  <a:schemeClr val="bg2"/>
                </a:solidFill>
                <a:latin typeface="Times New Roman" pitchFamily="18" charset="0"/>
              </a:rPr>
              <a:t>IF rank = ‘professor’</a:t>
            </a:r>
          </a:p>
          <a:p>
            <a:pPr eaLnBrk="0" hangingPunct="0"/>
            <a:r>
              <a:rPr lang="en-US" sz="2400">
                <a:solidFill>
                  <a:schemeClr val="bg2"/>
                </a:solidFill>
                <a:latin typeface="Times New Roman" pitchFamily="18" charset="0"/>
              </a:rPr>
              <a:t>OR years &gt; 6</a:t>
            </a:r>
          </a:p>
          <a:p>
            <a:pPr eaLnBrk="0" hangingPunct="0"/>
            <a:r>
              <a:rPr lang="en-US" sz="2400">
                <a:solidFill>
                  <a:schemeClr val="bg2"/>
                </a:solidFill>
                <a:latin typeface="Times New Roman" pitchFamily="18" charset="0"/>
              </a:rPr>
              <a:t>THEN tenured = ‘yes’</a:t>
            </a:r>
            <a:r>
              <a:rPr lang="en-US" sz="2400">
                <a:latin typeface="Times New Roman" pitchFamily="18" charset="0"/>
              </a:rPr>
              <a:t> </a:t>
            </a:r>
          </a:p>
        </p:txBody>
      </p:sp>
      <p:grpSp>
        <p:nvGrpSpPr>
          <p:cNvPr id="3083" name="Group 12"/>
          <p:cNvGrpSpPr>
            <a:grpSpLocks/>
          </p:cNvGrpSpPr>
          <p:nvPr/>
        </p:nvGrpSpPr>
        <p:grpSpPr bwMode="auto">
          <a:xfrm>
            <a:off x="6478588" y="3216275"/>
            <a:ext cx="1889125" cy="1506538"/>
            <a:chOff x="4081" y="2026"/>
            <a:chExt cx="1190" cy="949"/>
          </a:xfrm>
        </p:grpSpPr>
        <p:pic>
          <p:nvPicPr>
            <p:cNvPr id="3087" name="Picture 13"/>
            <p:cNvPicPr>
              <a:picLocks noChangeArrowheads="1"/>
            </p:cNvPicPr>
            <p:nvPr/>
          </p:nvPicPr>
          <p:blipFill>
            <a:blip r:embed="rId5"/>
            <a:srcRect/>
            <a:stretch>
              <a:fillRect/>
            </a:stretch>
          </p:blipFill>
          <p:spPr bwMode="auto">
            <a:xfrm>
              <a:off x="4081" y="2026"/>
              <a:ext cx="1190" cy="949"/>
            </a:xfrm>
            <a:prstGeom prst="rect">
              <a:avLst/>
            </a:prstGeom>
            <a:noFill/>
            <a:ln w="9525">
              <a:noFill/>
              <a:miter lim="800000"/>
              <a:headEnd/>
              <a:tailEnd/>
            </a:ln>
          </p:spPr>
        </p:pic>
        <p:sp>
          <p:nvSpPr>
            <p:cNvPr id="3088" name="Rectangle 14"/>
            <p:cNvSpPr>
              <a:spLocks noChangeArrowheads="1"/>
            </p:cNvSpPr>
            <p:nvPr/>
          </p:nvSpPr>
          <p:spPr bwMode="auto">
            <a:xfrm>
              <a:off x="4245" y="2306"/>
              <a:ext cx="851" cy="51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solidFill>
                    <a:schemeClr val="bg2"/>
                  </a:solidFill>
                  <a:latin typeface="Times New Roman" pitchFamily="18" charset="0"/>
                </a:rPr>
                <a:t>Classifier</a:t>
              </a:r>
            </a:p>
            <a:p>
              <a:pPr algn="ctr" eaLnBrk="0" hangingPunct="0"/>
              <a:r>
                <a:rPr lang="en-US" sz="2400">
                  <a:solidFill>
                    <a:schemeClr val="bg2"/>
                  </a:solidFill>
                  <a:latin typeface="Times New Roman" pitchFamily="18" charset="0"/>
                </a:rPr>
                <a:t>(Model)</a:t>
              </a:r>
            </a:p>
          </p:txBody>
        </p:sp>
      </p:grpSp>
      <p:sp>
        <p:nvSpPr>
          <p:cNvPr id="3084" name="Line 15"/>
          <p:cNvSpPr>
            <a:spLocks noChangeShapeType="1"/>
          </p:cNvSpPr>
          <p:nvPr/>
        </p:nvSpPr>
        <p:spPr bwMode="auto">
          <a:xfrm flipH="1">
            <a:off x="5946775" y="4621213"/>
            <a:ext cx="531813" cy="7143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085" name="Line 16"/>
          <p:cNvSpPr>
            <a:spLocks noChangeShapeType="1"/>
          </p:cNvSpPr>
          <p:nvPr/>
        </p:nvSpPr>
        <p:spPr bwMode="auto">
          <a:xfrm>
            <a:off x="8369300" y="4543425"/>
            <a:ext cx="577850" cy="7905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086" name="AutoShape 17"/>
          <p:cNvSpPr>
            <a:spLocks noChangeArrowheads="1"/>
          </p:cNvSpPr>
          <p:nvPr/>
        </p:nvSpPr>
        <p:spPr bwMode="auto">
          <a:xfrm>
            <a:off x="7143750" y="2576513"/>
            <a:ext cx="546100" cy="592137"/>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Tree>
  </p:cSld>
  <p:clrMapOvr>
    <a:masterClrMapping/>
  </p:clrMapOvr>
  <p:transition>
    <p:checke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a:spLocks noGrp="1"/>
          </p:cNvSpPr>
          <p:nvPr>
            <p:ph type="sldNum" sz="quarter" idx="12"/>
          </p:nvPr>
        </p:nvSpPr>
        <p:spPr>
          <a:noFill/>
        </p:spPr>
        <p:txBody>
          <a:bodyPr/>
          <a:lstStyle/>
          <a:p>
            <a:fld id="{6056DB98-EA18-43FD-9A37-BF6AEC28647C}" type="slidenum">
              <a:rPr lang="en-US" smtClean="0"/>
              <a:pPr/>
              <a:t>17</a:t>
            </a:fld>
            <a:endParaRPr lang="en-US" smtClean="0"/>
          </a:p>
        </p:txBody>
      </p:sp>
      <p:sp>
        <p:nvSpPr>
          <p:cNvPr id="4100" name="Rectangle 2"/>
          <p:cNvSpPr>
            <a:spLocks noGrp="1" noChangeArrowheads="1"/>
          </p:cNvSpPr>
          <p:nvPr>
            <p:ph type="title"/>
          </p:nvPr>
        </p:nvSpPr>
        <p:spPr>
          <a:xfrm>
            <a:off x="533400" y="228600"/>
            <a:ext cx="8402638" cy="1066800"/>
          </a:xfrm>
          <a:noFill/>
        </p:spPr>
        <p:txBody>
          <a:bodyPr lIns="92075" tIns="46038" rIns="92075" bIns="46038" anchor="b"/>
          <a:lstStyle/>
          <a:p>
            <a:pPr eaLnBrk="1" hangingPunct="1"/>
            <a:r>
              <a:rPr lang="en-US" sz="3600" smtClean="0"/>
              <a:t>Classification Process (2): Use the Model in Prediction</a:t>
            </a:r>
          </a:p>
        </p:txBody>
      </p:sp>
      <p:grpSp>
        <p:nvGrpSpPr>
          <p:cNvPr id="4101" name="Group 3"/>
          <p:cNvGrpSpPr>
            <a:grpSpLocks/>
          </p:cNvGrpSpPr>
          <p:nvPr/>
        </p:nvGrpSpPr>
        <p:grpSpPr bwMode="auto">
          <a:xfrm>
            <a:off x="4445000" y="1570038"/>
            <a:ext cx="1889125" cy="1506537"/>
            <a:chOff x="2800" y="989"/>
            <a:chExt cx="1190" cy="949"/>
          </a:xfrm>
        </p:grpSpPr>
        <p:pic>
          <p:nvPicPr>
            <p:cNvPr id="4118" name="Picture 4"/>
            <p:cNvPicPr>
              <a:picLocks noChangeArrowheads="1"/>
            </p:cNvPicPr>
            <p:nvPr/>
          </p:nvPicPr>
          <p:blipFill>
            <a:blip r:embed="rId3"/>
            <a:srcRect/>
            <a:stretch>
              <a:fillRect/>
            </a:stretch>
          </p:blipFill>
          <p:spPr bwMode="auto">
            <a:xfrm>
              <a:off x="2800" y="989"/>
              <a:ext cx="1190" cy="949"/>
            </a:xfrm>
            <a:prstGeom prst="rect">
              <a:avLst/>
            </a:prstGeom>
            <a:noFill/>
            <a:ln w="9525">
              <a:noFill/>
              <a:miter lim="800000"/>
              <a:headEnd/>
              <a:tailEnd/>
            </a:ln>
          </p:spPr>
        </p:pic>
        <p:sp>
          <p:nvSpPr>
            <p:cNvPr id="4119" name="Rectangle 5"/>
            <p:cNvSpPr>
              <a:spLocks noChangeArrowheads="1"/>
            </p:cNvSpPr>
            <p:nvPr/>
          </p:nvSpPr>
          <p:spPr bwMode="auto">
            <a:xfrm>
              <a:off x="2964" y="1384"/>
              <a:ext cx="851" cy="28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solidFill>
                    <a:schemeClr val="bg2"/>
                  </a:solidFill>
                  <a:latin typeface="Times New Roman" pitchFamily="18" charset="0"/>
                </a:rPr>
                <a:t>Classifier</a:t>
              </a:r>
            </a:p>
          </p:txBody>
        </p:sp>
      </p:grpSp>
      <p:grpSp>
        <p:nvGrpSpPr>
          <p:cNvPr id="4102" name="Group 6"/>
          <p:cNvGrpSpPr>
            <a:grpSpLocks/>
          </p:cNvGrpSpPr>
          <p:nvPr/>
        </p:nvGrpSpPr>
        <p:grpSpPr bwMode="auto">
          <a:xfrm>
            <a:off x="2157413" y="2735263"/>
            <a:ext cx="1698625" cy="1506537"/>
            <a:chOff x="1359" y="1723"/>
            <a:chExt cx="1070" cy="949"/>
          </a:xfrm>
        </p:grpSpPr>
        <p:pic>
          <p:nvPicPr>
            <p:cNvPr id="4116" name="Picture 7"/>
            <p:cNvPicPr>
              <a:picLocks noChangeArrowheads="1"/>
            </p:cNvPicPr>
            <p:nvPr/>
          </p:nvPicPr>
          <p:blipFill>
            <a:blip r:embed="rId4"/>
            <a:srcRect/>
            <a:stretch>
              <a:fillRect/>
            </a:stretch>
          </p:blipFill>
          <p:spPr bwMode="auto">
            <a:xfrm>
              <a:off x="1359" y="1723"/>
              <a:ext cx="1070" cy="949"/>
            </a:xfrm>
            <a:prstGeom prst="rect">
              <a:avLst/>
            </a:prstGeom>
            <a:noFill/>
            <a:ln w="9525">
              <a:noFill/>
              <a:miter lim="800000"/>
              <a:headEnd/>
              <a:tailEnd/>
            </a:ln>
          </p:spPr>
        </p:pic>
        <p:sp>
          <p:nvSpPr>
            <p:cNvPr id="4117" name="Rectangle 8"/>
            <p:cNvSpPr>
              <a:spLocks noChangeArrowheads="1"/>
            </p:cNvSpPr>
            <p:nvPr/>
          </p:nvSpPr>
          <p:spPr bwMode="auto">
            <a:xfrm>
              <a:off x="1423" y="2003"/>
              <a:ext cx="934" cy="518"/>
            </a:xfrm>
            <a:prstGeom prst="rect">
              <a:avLst/>
            </a:prstGeom>
            <a:noFill/>
            <a:ln w="9525">
              <a:noFill/>
              <a:miter lim="800000"/>
              <a:headEnd/>
              <a:tailEnd/>
            </a:ln>
          </p:spPr>
          <p:txBody>
            <a:bodyPr lIns="92075" tIns="46038" rIns="92075" bIns="46038" anchor="ctr">
              <a:spAutoFit/>
            </a:bodyPr>
            <a:lstStyle/>
            <a:p>
              <a:pPr algn="ctr" eaLnBrk="0" hangingPunct="0"/>
              <a:r>
                <a:rPr lang="en-US" sz="2400">
                  <a:solidFill>
                    <a:schemeClr val="bg2"/>
                  </a:solidFill>
                  <a:latin typeface="Times New Roman" pitchFamily="18" charset="0"/>
                </a:rPr>
                <a:t>Testing</a:t>
              </a:r>
            </a:p>
            <a:p>
              <a:pPr algn="ctr" eaLnBrk="0" hangingPunct="0"/>
              <a:r>
                <a:rPr lang="en-US" sz="2400">
                  <a:solidFill>
                    <a:schemeClr val="bg2"/>
                  </a:solidFill>
                  <a:latin typeface="Times New Roman" pitchFamily="18" charset="0"/>
                </a:rPr>
                <a:t>Data</a:t>
              </a:r>
            </a:p>
          </p:txBody>
        </p:sp>
      </p:grpSp>
      <p:graphicFrame>
        <p:nvGraphicFramePr>
          <p:cNvPr id="4098" name="Object 9"/>
          <p:cNvGraphicFramePr>
            <a:graphicFrameLocks/>
          </p:cNvGraphicFramePr>
          <p:nvPr/>
        </p:nvGraphicFramePr>
        <p:xfrm>
          <a:off x="457200" y="4648200"/>
          <a:ext cx="5438775" cy="1765300"/>
        </p:xfrm>
        <a:graphic>
          <a:graphicData uri="http://schemas.openxmlformats.org/presentationml/2006/ole">
            <p:oleObj spid="_x0000_s4098" name="Worksheet" r:id="rId5" imgW="5438520" imgH="1765080" progId="Excel.Sheet.8">
              <p:embed/>
            </p:oleObj>
          </a:graphicData>
        </a:graphic>
      </p:graphicFrame>
      <p:sp>
        <p:nvSpPr>
          <p:cNvPr id="4103" name="Line 10"/>
          <p:cNvSpPr>
            <a:spLocks noChangeShapeType="1"/>
          </p:cNvSpPr>
          <p:nvPr/>
        </p:nvSpPr>
        <p:spPr bwMode="auto">
          <a:xfrm flipH="1">
            <a:off x="762000" y="4071938"/>
            <a:ext cx="1309688" cy="576262"/>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104" name="Line 11"/>
          <p:cNvSpPr>
            <a:spLocks noChangeShapeType="1"/>
          </p:cNvSpPr>
          <p:nvPr/>
        </p:nvSpPr>
        <p:spPr bwMode="auto">
          <a:xfrm>
            <a:off x="3857625" y="4071938"/>
            <a:ext cx="1628775" cy="576262"/>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105" name="AutoShape 12"/>
          <p:cNvSpPr>
            <a:spLocks noChangeArrowheads="1"/>
          </p:cNvSpPr>
          <p:nvPr/>
        </p:nvSpPr>
        <p:spPr bwMode="auto">
          <a:xfrm>
            <a:off x="7793038" y="5000625"/>
            <a:ext cx="546100" cy="592138"/>
          </a:xfrm>
          <a:prstGeom prst="downArrow">
            <a:avLst>
              <a:gd name="adj1" fmla="val 50000"/>
              <a:gd name="adj2" fmla="val 27118"/>
            </a:avLst>
          </a:prstGeom>
          <a:solidFill>
            <a:srgbClr val="2597B8"/>
          </a:solidFill>
          <a:ln w="12700">
            <a:solidFill>
              <a:srgbClr val="000000"/>
            </a:solidFill>
            <a:miter lim="800000"/>
            <a:headEnd/>
            <a:tailEnd/>
          </a:ln>
        </p:spPr>
        <p:txBody>
          <a:bodyPr wrap="none" anchor="ctr"/>
          <a:lstStyle/>
          <a:p>
            <a:endParaRPr lang="en-US"/>
          </a:p>
        </p:txBody>
      </p:sp>
      <p:sp>
        <p:nvSpPr>
          <p:cNvPr id="4106" name="Freeform 13"/>
          <p:cNvSpPr>
            <a:spLocks/>
          </p:cNvSpPr>
          <p:nvPr/>
        </p:nvSpPr>
        <p:spPr bwMode="auto">
          <a:xfrm>
            <a:off x="6523038" y="2173288"/>
            <a:ext cx="941387" cy="766762"/>
          </a:xfrm>
          <a:custGeom>
            <a:avLst/>
            <a:gdLst>
              <a:gd name="T0" fmla="*/ 0 w 593"/>
              <a:gd name="T1" fmla="*/ 2147483647 h 483"/>
              <a:gd name="T2" fmla="*/ 2147483647 w 593"/>
              <a:gd name="T3" fmla="*/ 0 h 483"/>
              <a:gd name="T4" fmla="*/ 2147483647 w 593"/>
              <a:gd name="T5" fmla="*/ 2147483647 h 483"/>
              <a:gd name="T6" fmla="*/ 2147483647 w 593"/>
              <a:gd name="T7" fmla="*/ 2147483647 h 483"/>
              <a:gd name="T8" fmla="*/ 2147483647 w 593"/>
              <a:gd name="T9" fmla="*/ 2147483647 h 483"/>
              <a:gd name="T10" fmla="*/ 2147483647 w 593"/>
              <a:gd name="T11" fmla="*/ 2147483647 h 483"/>
              <a:gd name="T12" fmla="*/ 2147483647 w 593"/>
              <a:gd name="T13" fmla="*/ 2147483647 h 483"/>
              <a:gd name="T14" fmla="*/ 2147483647 w 593"/>
              <a:gd name="T15" fmla="*/ 2147483647 h 483"/>
              <a:gd name="T16" fmla="*/ 2147483647 w 593"/>
              <a:gd name="T17" fmla="*/ 2147483647 h 483"/>
              <a:gd name="T18" fmla="*/ 2147483647 w 593"/>
              <a:gd name="T19" fmla="*/ 2147483647 h 483"/>
              <a:gd name="T20" fmla="*/ 0 w 593"/>
              <a:gd name="T21" fmla="*/ 2147483647 h 48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93"/>
              <a:gd name="T34" fmla="*/ 0 h 483"/>
              <a:gd name="T35" fmla="*/ 593 w 593"/>
              <a:gd name="T36" fmla="*/ 483 h 48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93" h="483">
                <a:moveTo>
                  <a:pt x="0" y="34"/>
                </a:moveTo>
                <a:lnTo>
                  <a:pt x="200" y="0"/>
                </a:lnTo>
                <a:lnTo>
                  <a:pt x="159" y="58"/>
                </a:lnTo>
                <a:lnTo>
                  <a:pt x="515" y="306"/>
                </a:lnTo>
                <a:lnTo>
                  <a:pt x="555" y="248"/>
                </a:lnTo>
                <a:lnTo>
                  <a:pt x="592" y="448"/>
                </a:lnTo>
                <a:lnTo>
                  <a:pt x="392" y="482"/>
                </a:lnTo>
                <a:lnTo>
                  <a:pt x="433" y="424"/>
                </a:lnTo>
                <a:lnTo>
                  <a:pt x="77" y="176"/>
                </a:lnTo>
                <a:lnTo>
                  <a:pt x="37" y="234"/>
                </a:lnTo>
                <a:lnTo>
                  <a:pt x="0" y="34"/>
                </a:lnTo>
              </a:path>
            </a:pathLst>
          </a:custGeom>
          <a:solidFill>
            <a:srgbClr val="2597B8"/>
          </a:solidFill>
          <a:ln w="12700" cap="rnd">
            <a:solidFill>
              <a:srgbClr val="000000"/>
            </a:solidFill>
            <a:round/>
            <a:headEnd/>
            <a:tailEnd/>
          </a:ln>
        </p:spPr>
        <p:txBody>
          <a:bodyPr/>
          <a:lstStyle/>
          <a:p>
            <a:endParaRPr lang="en-US"/>
          </a:p>
        </p:txBody>
      </p:sp>
      <p:grpSp>
        <p:nvGrpSpPr>
          <p:cNvPr id="4107" name="Group 14"/>
          <p:cNvGrpSpPr>
            <a:grpSpLocks/>
          </p:cNvGrpSpPr>
          <p:nvPr/>
        </p:nvGrpSpPr>
        <p:grpSpPr bwMode="auto">
          <a:xfrm>
            <a:off x="6646863" y="3187700"/>
            <a:ext cx="1781175" cy="815975"/>
            <a:chOff x="4187" y="2008"/>
            <a:chExt cx="1122" cy="514"/>
          </a:xfrm>
        </p:grpSpPr>
        <p:pic>
          <p:nvPicPr>
            <p:cNvPr id="4114" name="Picture 15"/>
            <p:cNvPicPr>
              <a:picLocks noChangeArrowheads="1"/>
            </p:cNvPicPr>
            <p:nvPr/>
          </p:nvPicPr>
          <p:blipFill>
            <a:blip r:embed="rId6"/>
            <a:srcRect/>
            <a:stretch>
              <a:fillRect/>
            </a:stretch>
          </p:blipFill>
          <p:spPr bwMode="auto">
            <a:xfrm>
              <a:off x="4187" y="2008"/>
              <a:ext cx="1122" cy="514"/>
            </a:xfrm>
            <a:prstGeom prst="rect">
              <a:avLst/>
            </a:prstGeom>
            <a:noFill/>
            <a:ln w="9525">
              <a:noFill/>
              <a:miter lim="800000"/>
              <a:headEnd/>
              <a:tailEnd/>
            </a:ln>
          </p:spPr>
        </p:pic>
        <p:sp>
          <p:nvSpPr>
            <p:cNvPr id="4115" name="Rectangle 16"/>
            <p:cNvSpPr>
              <a:spLocks noChangeArrowheads="1"/>
            </p:cNvSpPr>
            <p:nvPr/>
          </p:nvSpPr>
          <p:spPr bwMode="auto">
            <a:xfrm>
              <a:off x="4193" y="2151"/>
              <a:ext cx="1102" cy="288"/>
            </a:xfrm>
            <a:prstGeom prst="rect">
              <a:avLst/>
            </a:prstGeom>
            <a:noFill/>
            <a:ln w="9525">
              <a:noFill/>
              <a:miter lim="800000"/>
              <a:headEnd/>
              <a:tailEnd/>
            </a:ln>
          </p:spPr>
          <p:txBody>
            <a:bodyPr wrap="none" lIns="92075" tIns="46038" rIns="92075" bIns="46038" anchor="ctr">
              <a:spAutoFit/>
            </a:bodyPr>
            <a:lstStyle/>
            <a:p>
              <a:pPr algn="ctr" eaLnBrk="0" hangingPunct="0"/>
              <a:r>
                <a:rPr lang="en-US" sz="2400">
                  <a:solidFill>
                    <a:schemeClr val="bg2"/>
                  </a:solidFill>
                  <a:latin typeface="Times New Roman" pitchFamily="18" charset="0"/>
                </a:rPr>
                <a:t>Unseen Data</a:t>
              </a:r>
            </a:p>
          </p:txBody>
        </p:sp>
      </p:grpSp>
      <p:sp>
        <p:nvSpPr>
          <p:cNvPr id="4108" name="Rectangle 17"/>
          <p:cNvSpPr>
            <a:spLocks noChangeArrowheads="1"/>
          </p:cNvSpPr>
          <p:nvPr/>
        </p:nvSpPr>
        <p:spPr bwMode="auto">
          <a:xfrm>
            <a:off x="6305550" y="4262438"/>
            <a:ext cx="2454275" cy="457200"/>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solidFill>
                  <a:schemeClr val="bg2"/>
                </a:solidFill>
                <a:latin typeface="Times New Roman" pitchFamily="18" charset="0"/>
              </a:rPr>
              <a:t>(Jeff, Professor, 4)</a:t>
            </a:r>
          </a:p>
        </p:txBody>
      </p:sp>
      <p:sp>
        <p:nvSpPr>
          <p:cNvPr id="4109" name="Line 18"/>
          <p:cNvSpPr>
            <a:spLocks noChangeShapeType="1"/>
          </p:cNvSpPr>
          <p:nvPr/>
        </p:nvSpPr>
        <p:spPr bwMode="auto">
          <a:xfrm flipH="1">
            <a:off x="6477000" y="3962400"/>
            <a:ext cx="395288" cy="3048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110" name="Line 19"/>
          <p:cNvSpPr>
            <a:spLocks noChangeShapeType="1"/>
          </p:cNvSpPr>
          <p:nvPr/>
        </p:nvSpPr>
        <p:spPr bwMode="auto">
          <a:xfrm>
            <a:off x="8229600" y="3962400"/>
            <a:ext cx="228600" cy="3048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4111" name="Freeform 20"/>
          <p:cNvSpPr>
            <a:spLocks/>
          </p:cNvSpPr>
          <p:nvPr/>
        </p:nvSpPr>
        <p:spPr bwMode="auto">
          <a:xfrm>
            <a:off x="3360738" y="2032000"/>
            <a:ext cx="901700" cy="593725"/>
          </a:xfrm>
          <a:custGeom>
            <a:avLst/>
            <a:gdLst>
              <a:gd name="T0" fmla="*/ 2147483647 w 568"/>
              <a:gd name="T1" fmla="*/ 2147483647 h 374"/>
              <a:gd name="T2" fmla="*/ 2147483647 w 568"/>
              <a:gd name="T3" fmla="*/ 2147483647 h 374"/>
              <a:gd name="T4" fmla="*/ 2147483647 w 568"/>
              <a:gd name="T5" fmla="*/ 2147483647 h 374"/>
              <a:gd name="T6" fmla="*/ 2147483647 w 568"/>
              <a:gd name="T7" fmla="*/ 2147483647 h 374"/>
              <a:gd name="T8" fmla="*/ 2147483647 w 568"/>
              <a:gd name="T9" fmla="*/ 2147483647 h 374"/>
              <a:gd name="T10" fmla="*/ 0 w 568"/>
              <a:gd name="T11" fmla="*/ 2147483647 h 374"/>
              <a:gd name="T12" fmla="*/ 2147483647 w 568"/>
              <a:gd name="T13" fmla="*/ 2147483647 h 374"/>
              <a:gd name="T14" fmla="*/ 2147483647 w 568"/>
              <a:gd name="T15" fmla="*/ 2147483647 h 374"/>
              <a:gd name="T16" fmla="*/ 2147483647 w 568"/>
              <a:gd name="T17" fmla="*/ 2147483647 h 374"/>
              <a:gd name="T18" fmla="*/ 2147483647 w 568"/>
              <a:gd name="T19" fmla="*/ 0 h 374"/>
              <a:gd name="T20" fmla="*/ 2147483647 w 568"/>
              <a:gd name="T21" fmla="*/ 2147483647 h 37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68"/>
              <a:gd name="T34" fmla="*/ 0 h 374"/>
              <a:gd name="T35" fmla="*/ 568 w 568"/>
              <a:gd name="T36" fmla="*/ 374 h 37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68" h="374">
                <a:moveTo>
                  <a:pt x="567" y="59"/>
                </a:moveTo>
                <a:lnTo>
                  <a:pt x="503" y="220"/>
                </a:lnTo>
                <a:lnTo>
                  <a:pt x="478" y="165"/>
                </a:lnTo>
                <a:lnTo>
                  <a:pt x="138" y="318"/>
                </a:lnTo>
                <a:lnTo>
                  <a:pt x="163" y="373"/>
                </a:lnTo>
                <a:lnTo>
                  <a:pt x="0" y="314"/>
                </a:lnTo>
                <a:lnTo>
                  <a:pt x="64" y="153"/>
                </a:lnTo>
                <a:lnTo>
                  <a:pt x="89" y="208"/>
                </a:lnTo>
                <a:lnTo>
                  <a:pt x="429" y="55"/>
                </a:lnTo>
                <a:lnTo>
                  <a:pt x="404" y="0"/>
                </a:lnTo>
                <a:lnTo>
                  <a:pt x="567" y="59"/>
                </a:lnTo>
              </a:path>
            </a:pathLst>
          </a:custGeom>
          <a:solidFill>
            <a:srgbClr val="2597B8"/>
          </a:solidFill>
          <a:ln w="12700" cap="rnd">
            <a:solidFill>
              <a:srgbClr val="000000"/>
            </a:solidFill>
            <a:round/>
            <a:headEnd/>
            <a:tailEnd/>
          </a:ln>
        </p:spPr>
        <p:txBody>
          <a:bodyPr/>
          <a:lstStyle/>
          <a:p>
            <a:endParaRPr lang="en-US"/>
          </a:p>
        </p:txBody>
      </p:sp>
      <p:pic>
        <p:nvPicPr>
          <p:cNvPr id="4112" name="Picture 21"/>
          <p:cNvPicPr>
            <a:picLocks noChangeArrowheads="1"/>
          </p:cNvPicPr>
          <p:nvPr/>
        </p:nvPicPr>
        <p:blipFill>
          <a:blip r:embed="rId7"/>
          <a:srcRect/>
          <a:stretch>
            <a:fillRect/>
          </a:stretch>
        </p:blipFill>
        <p:spPr bwMode="auto">
          <a:xfrm>
            <a:off x="7720013" y="5738813"/>
            <a:ext cx="720725" cy="628650"/>
          </a:xfrm>
          <a:prstGeom prst="rect">
            <a:avLst/>
          </a:prstGeom>
          <a:noFill/>
          <a:ln w="9525">
            <a:noFill/>
            <a:miter lim="800000"/>
            <a:headEnd/>
            <a:tailEnd/>
          </a:ln>
        </p:spPr>
      </p:pic>
      <p:sp>
        <p:nvSpPr>
          <p:cNvPr id="4113" name="Rectangle 22"/>
          <p:cNvSpPr>
            <a:spLocks noChangeArrowheads="1"/>
          </p:cNvSpPr>
          <p:nvPr/>
        </p:nvSpPr>
        <p:spPr bwMode="auto">
          <a:xfrm>
            <a:off x="6221413" y="4959350"/>
            <a:ext cx="1525587" cy="519113"/>
          </a:xfrm>
          <a:prstGeom prst="rect">
            <a:avLst/>
          </a:prstGeom>
          <a:noFill/>
          <a:ln w="9525">
            <a:noFill/>
            <a:miter lim="800000"/>
            <a:headEnd/>
            <a:tailEnd/>
          </a:ln>
        </p:spPr>
        <p:txBody>
          <a:bodyPr wrap="none" lIns="92075" tIns="46038" rIns="92075" bIns="46038">
            <a:spAutoFit/>
          </a:bodyPr>
          <a:lstStyle/>
          <a:p>
            <a:pPr algn="ctr" eaLnBrk="0" hangingPunct="0"/>
            <a:r>
              <a:rPr lang="en-US" sz="2800">
                <a:latin typeface="Times New Roman" pitchFamily="18" charset="0"/>
              </a:rPr>
              <a:t>Tenured?</a:t>
            </a:r>
          </a:p>
        </p:txBody>
      </p:sp>
    </p:spTree>
  </p:cSld>
  <p:clrMapOvr>
    <a:masterClrMapping/>
  </p:clrMapOvr>
  <p:transition>
    <p:check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p:spPr>
        <p:txBody>
          <a:bodyPr/>
          <a:lstStyle/>
          <a:p>
            <a:fld id="{09E5625F-2A9D-4D3F-99EA-62B1C664F3D1}" type="slidenum">
              <a:rPr lang="en-US" smtClean="0"/>
              <a:pPr/>
              <a:t>18</a:t>
            </a:fld>
            <a:endParaRPr lang="en-US" smtClean="0"/>
          </a:p>
        </p:txBody>
      </p:sp>
      <p:sp>
        <p:nvSpPr>
          <p:cNvPr id="28675" name="Rectangle 2"/>
          <p:cNvSpPr>
            <a:spLocks noGrp="1" noChangeArrowheads="1"/>
          </p:cNvSpPr>
          <p:nvPr>
            <p:ph type="title"/>
          </p:nvPr>
        </p:nvSpPr>
        <p:spPr>
          <a:xfrm>
            <a:off x="457200" y="533400"/>
            <a:ext cx="8402638" cy="1066800"/>
          </a:xfrm>
          <a:noFill/>
        </p:spPr>
        <p:txBody>
          <a:bodyPr lIns="92075" tIns="46038" rIns="92075" bIns="46038" anchor="b"/>
          <a:lstStyle/>
          <a:p>
            <a:pPr eaLnBrk="1" hangingPunct="1"/>
            <a:r>
              <a:rPr lang="en-US" smtClean="0"/>
              <a:t>Supervised vs. Unsupervised Learning</a:t>
            </a:r>
          </a:p>
        </p:txBody>
      </p:sp>
      <p:sp>
        <p:nvSpPr>
          <p:cNvPr id="28676" name="Rectangle 3"/>
          <p:cNvSpPr>
            <a:spLocks noGrp="1" noChangeArrowheads="1"/>
          </p:cNvSpPr>
          <p:nvPr>
            <p:ph type="body" idx="1"/>
          </p:nvPr>
        </p:nvSpPr>
        <p:spPr>
          <a:xfrm>
            <a:off x="609600" y="1600200"/>
            <a:ext cx="8153400" cy="4876800"/>
          </a:xfrm>
          <a:noFill/>
        </p:spPr>
        <p:txBody>
          <a:bodyPr lIns="92075" tIns="46038" rIns="92075" bIns="46038"/>
          <a:lstStyle/>
          <a:p>
            <a:pPr eaLnBrk="1" hangingPunct="1">
              <a:lnSpc>
                <a:spcPct val="120000"/>
              </a:lnSpc>
            </a:pPr>
            <a:r>
              <a:rPr lang="en-US" sz="2800" smtClean="0">
                <a:solidFill>
                  <a:srgbClr val="F83F24"/>
                </a:solidFill>
              </a:rPr>
              <a:t>Supervised learning (classification)</a:t>
            </a:r>
            <a:endParaRPr lang="en-US" sz="2800" smtClean="0"/>
          </a:p>
          <a:p>
            <a:pPr lvl="1" eaLnBrk="1" hangingPunct="1">
              <a:lnSpc>
                <a:spcPct val="120000"/>
              </a:lnSpc>
            </a:pPr>
            <a:r>
              <a:rPr lang="en-US" sz="2400" smtClean="0"/>
              <a:t>Supervision: The training data (observations, measurements, etc.) are accompanied by labels indicating the class of the observations</a:t>
            </a:r>
          </a:p>
          <a:p>
            <a:pPr lvl="1" eaLnBrk="1" hangingPunct="1">
              <a:lnSpc>
                <a:spcPct val="120000"/>
              </a:lnSpc>
            </a:pPr>
            <a:r>
              <a:rPr lang="en-US" sz="2400" smtClean="0"/>
              <a:t>New data is classified based on the training set</a:t>
            </a:r>
          </a:p>
          <a:p>
            <a:pPr eaLnBrk="1" hangingPunct="1">
              <a:lnSpc>
                <a:spcPct val="120000"/>
              </a:lnSpc>
            </a:pPr>
            <a:r>
              <a:rPr lang="en-US" sz="2800" smtClean="0">
                <a:solidFill>
                  <a:srgbClr val="F83F24"/>
                </a:solidFill>
              </a:rPr>
              <a:t>Unsupervised learning</a:t>
            </a:r>
            <a:r>
              <a:rPr lang="en-US" sz="2800" smtClean="0"/>
              <a:t> </a:t>
            </a:r>
            <a:r>
              <a:rPr lang="en-US" sz="2800" smtClean="0">
                <a:solidFill>
                  <a:srgbClr val="FF3300"/>
                </a:solidFill>
              </a:rPr>
              <a:t>(clustering)</a:t>
            </a:r>
          </a:p>
          <a:p>
            <a:pPr lvl="1" eaLnBrk="1" hangingPunct="1">
              <a:lnSpc>
                <a:spcPct val="120000"/>
              </a:lnSpc>
            </a:pPr>
            <a:r>
              <a:rPr lang="en-US" sz="2400" smtClean="0"/>
              <a:t>The class labels of training data is unknown</a:t>
            </a:r>
          </a:p>
          <a:p>
            <a:pPr lvl="1" eaLnBrk="1" hangingPunct="1">
              <a:lnSpc>
                <a:spcPct val="120000"/>
              </a:lnSpc>
            </a:pPr>
            <a:r>
              <a:rPr lang="en-US" sz="2400" smtClean="0"/>
              <a:t>Given a set of measurements, observations, etc. with the aim of establishing the existence of classes or clusters in the data</a:t>
            </a:r>
          </a:p>
        </p:txBody>
      </p:sp>
    </p:spTree>
  </p:cSld>
  <p:clrMapOvr>
    <a:masterClrMapping/>
  </p:clrMapOvr>
  <p:transition>
    <p:checke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p:spPr>
        <p:txBody>
          <a:bodyPr/>
          <a:lstStyle/>
          <a:p>
            <a:fld id="{08C8D695-9C2C-4CC7-B9FB-255EECE5C8F3}" type="slidenum">
              <a:rPr lang="en-US" smtClean="0"/>
              <a:pPr/>
              <a:t>19</a:t>
            </a:fld>
            <a:endParaRPr lang="en-US" smtClean="0"/>
          </a:p>
        </p:txBody>
      </p:sp>
      <p:sp>
        <p:nvSpPr>
          <p:cNvPr id="29699" name="Rectangle 2"/>
          <p:cNvSpPr>
            <a:spLocks noGrp="1" noChangeArrowheads="1"/>
          </p:cNvSpPr>
          <p:nvPr>
            <p:ph type="title"/>
          </p:nvPr>
        </p:nvSpPr>
        <p:spPr>
          <a:xfrm>
            <a:off x="685800" y="228600"/>
            <a:ext cx="8001000" cy="990600"/>
          </a:xfrm>
          <a:noFill/>
        </p:spPr>
        <p:txBody>
          <a:bodyPr lIns="92075" tIns="46038" rIns="92075" bIns="46038"/>
          <a:lstStyle/>
          <a:p>
            <a:pPr eaLnBrk="1" hangingPunct="1"/>
            <a:r>
              <a:rPr lang="en-US" smtClean="0"/>
              <a:t>Classification and Prediction</a:t>
            </a:r>
          </a:p>
        </p:txBody>
      </p:sp>
      <p:sp>
        <p:nvSpPr>
          <p:cNvPr id="29700" name="Rectangle 3"/>
          <p:cNvSpPr>
            <a:spLocks noGrp="1" noChangeArrowheads="1"/>
          </p:cNvSpPr>
          <p:nvPr>
            <p:ph type="body" idx="1"/>
          </p:nvPr>
        </p:nvSpPr>
        <p:spPr>
          <a:xfrm>
            <a:off x="685800" y="1143000"/>
            <a:ext cx="7924800" cy="51816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solidFill>
                  <a:schemeClr val="hlink"/>
                </a:solidFill>
              </a:rPr>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p:spPr>
        <p:txBody>
          <a:bodyPr/>
          <a:lstStyle/>
          <a:p>
            <a:fld id="{3AF8A38A-5BAD-4122-A679-12F2BC2AAB8B}" type="slidenum">
              <a:rPr lang="en-US" smtClean="0"/>
              <a:pPr/>
              <a:t>20</a:t>
            </a:fld>
            <a:endParaRPr lang="en-US" smtClean="0"/>
          </a:p>
        </p:txBody>
      </p:sp>
      <p:sp>
        <p:nvSpPr>
          <p:cNvPr id="30723" name="Rectangle 2"/>
          <p:cNvSpPr>
            <a:spLocks noGrp="1" noChangeArrowheads="1"/>
          </p:cNvSpPr>
          <p:nvPr>
            <p:ph type="title"/>
          </p:nvPr>
        </p:nvSpPr>
        <p:spPr>
          <a:xfrm>
            <a:off x="304800" y="76200"/>
            <a:ext cx="8458200" cy="533400"/>
          </a:xfrm>
          <a:noFill/>
        </p:spPr>
        <p:txBody>
          <a:bodyPr lIns="92075" tIns="46038" rIns="92075" bIns="46038" anchor="b"/>
          <a:lstStyle/>
          <a:p>
            <a:pPr eaLnBrk="1" hangingPunct="1"/>
            <a:r>
              <a:rPr lang="en-US" sz="2800" b="1" smtClean="0">
                <a:solidFill>
                  <a:schemeClr val="tx1"/>
                </a:solidFill>
              </a:rPr>
              <a:t>Issues regarding classification and prediction</a:t>
            </a:r>
          </a:p>
        </p:txBody>
      </p:sp>
      <p:sp>
        <p:nvSpPr>
          <p:cNvPr id="30724" name="Rectangle 3"/>
          <p:cNvSpPr>
            <a:spLocks noGrp="1" noChangeArrowheads="1"/>
          </p:cNvSpPr>
          <p:nvPr>
            <p:ph type="body" idx="1"/>
          </p:nvPr>
        </p:nvSpPr>
        <p:spPr>
          <a:xfrm>
            <a:off x="152400" y="685800"/>
            <a:ext cx="8686800" cy="5943600"/>
          </a:xfrm>
          <a:noFill/>
        </p:spPr>
        <p:txBody>
          <a:bodyPr lIns="92075" tIns="46038" rIns="92075" bIns="46038"/>
          <a:lstStyle/>
          <a:p>
            <a:pPr algn="just" eaLnBrk="1" hangingPunct="1">
              <a:lnSpc>
                <a:spcPct val="110000"/>
              </a:lnSpc>
              <a:buFontTx/>
              <a:buNone/>
            </a:pPr>
            <a:r>
              <a:rPr lang="en-US" sz="1700" b="1" u="sng" smtClean="0"/>
              <a:t>Preparing the Data for Classification and Prediction</a:t>
            </a:r>
            <a:endParaRPr lang="en-US" sz="1700" u="sng" smtClean="0"/>
          </a:p>
          <a:p>
            <a:pPr algn="just" eaLnBrk="1" hangingPunct="1">
              <a:lnSpc>
                <a:spcPct val="110000"/>
              </a:lnSpc>
            </a:pPr>
            <a:r>
              <a:rPr lang="en-US" sz="1800" smtClean="0">
                <a:latin typeface="Times New Roman" pitchFamily="18" charset="0"/>
                <a:cs typeface="Times New Roman" pitchFamily="18" charset="0"/>
              </a:rPr>
              <a:t>Data cleaning</a:t>
            </a:r>
          </a:p>
          <a:p>
            <a:pPr lvl="1" algn="just" eaLnBrk="1" hangingPunct="1">
              <a:lnSpc>
                <a:spcPct val="110000"/>
              </a:lnSpc>
            </a:pPr>
            <a:r>
              <a:rPr lang="en-US" sz="2000" smtClean="0">
                <a:latin typeface="Times New Roman" pitchFamily="18" charset="0"/>
                <a:cs typeface="Times New Roman" pitchFamily="18" charset="0"/>
              </a:rPr>
              <a:t>This refers to the preprocessing of data in order to remove or reduce noise (by applying smoothing techniques, for ex) and the treatment of missing values (e.g. by replacing the missing values with the most commonly occurring value for the most probable value based on statistics). Although most classification algorithms have some mechanisms for handling noisy or missing data, this step can help reduce confusion during learning </a:t>
            </a:r>
          </a:p>
          <a:p>
            <a:pPr algn="just" eaLnBrk="1" hangingPunct="1">
              <a:lnSpc>
                <a:spcPct val="110000"/>
              </a:lnSpc>
            </a:pPr>
            <a:r>
              <a:rPr lang="en-US" sz="2000" smtClean="0">
                <a:latin typeface="Times New Roman" pitchFamily="18" charset="0"/>
                <a:cs typeface="Times New Roman" pitchFamily="18" charset="0"/>
              </a:rPr>
              <a:t>Relevance Analysis </a:t>
            </a:r>
          </a:p>
          <a:p>
            <a:pPr lvl="1" algn="just" eaLnBrk="1" hangingPunct="1">
              <a:lnSpc>
                <a:spcPct val="110000"/>
              </a:lnSpc>
            </a:pPr>
            <a:r>
              <a:rPr lang="en-US" sz="2000" smtClean="0">
                <a:latin typeface="Times New Roman" pitchFamily="18" charset="0"/>
                <a:cs typeface="Times New Roman" pitchFamily="18" charset="0"/>
              </a:rPr>
              <a:t>Many of the attributes in the data may be </a:t>
            </a:r>
            <a:r>
              <a:rPr lang="en-US" sz="2000" b="1" i="1" smtClean="0">
                <a:latin typeface="Times New Roman" pitchFamily="18" charset="0"/>
                <a:cs typeface="Times New Roman" pitchFamily="18" charset="0"/>
              </a:rPr>
              <a:t>irrelevant </a:t>
            </a:r>
            <a:r>
              <a:rPr lang="en-US" sz="2000" smtClean="0">
                <a:latin typeface="Times New Roman" pitchFamily="18" charset="0"/>
                <a:cs typeface="Times New Roman" pitchFamily="18" charset="0"/>
              </a:rPr>
              <a:t>to the classification or prediction task. For ex, data recording the day of the week on which a bank loan application was filed is unlikely to be relevant to the success of the application. Furthermore, other attributes may be redundant. Hence, relevance analysis may be performed on the data with the aim to removing any irrelevant or redundant attributes from the learning process. In machine learning, this step is known as </a:t>
            </a:r>
            <a:r>
              <a:rPr lang="en-US" sz="2000" b="1" i="1" smtClean="0">
                <a:latin typeface="Times New Roman" pitchFamily="18" charset="0"/>
                <a:cs typeface="Times New Roman" pitchFamily="18" charset="0"/>
              </a:rPr>
              <a:t>feature selection. </a:t>
            </a:r>
            <a:r>
              <a:rPr lang="en-US" sz="2000" smtClean="0">
                <a:latin typeface="Times New Roman" pitchFamily="18" charset="0"/>
                <a:cs typeface="Times New Roman" pitchFamily="18" charset="0"/>
              </a:rPr>
              <a:t>Including such attributes may other wise slow down, and possibly mislead, the learning step</a:t>
            </a:r>
          </a:p>
        </p:txBody>
      </p:sp>
    </p:spTree>
  </p:cSld>
  <p:clrMapOvr>
    <a:masterClrMapping/>
  </p:clrMapOvr>
  <p:transition>
    <p:checke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p:spPr>
        <p:txBody>
          <a:bodyPr/>
          <a:lstStyle/>
          <a:p>
            <a:fld id="{7484D851-726C-44CA-A94B-B0B100E497F1}" type="slidenum">
              <a:rPr lang="en-US" smtClean="0"/>
              <a:pPr/>
              <a:t>21</a:t>
            </a:fld>
            <a:endParaRPr lang="en-US" smtClean="0"/>
          </a:p>
        </p:txBody>
      </p:sp>
      <p:sp>
        <p:nvSpPr>
          <p:cNvPr id="31747" name="Rectangle 4"/>
          <p:cNvSpPr>
            <a:spLocks noGrp="1" noChangeArrowheads="1"/>
          </p:cNvSpPr>
          <p:nvPr>
            <p:ph type="body" idx="1"/>
          </p:nvPr>
        </p:nvSpPr>
        <p:spPr>
          <a:xfrm>
            <a:off x="228600" y="381000"/>
            <a:ext cx="8686800" cy="6248400"/>
          </a:xfrm>
          <a:noFill/>
        </p:spPr>
        <p:txBody>
          <a:bodyPr lIns="92075" tIns="46038" rIns="92075" bIns="46038"/>
          <a:lstStyle/>
          <a:p>
            <a:pPr algn="just" eaLnBrk="1" hangingPunct="1">
              <a:lnSpc>
                <a:spcPct val="80000"/>
              </a:lnSpc>
            </a:pPr>
            <a:r>
              <a:rPr lang="en-US" sz="2400" b="1" smtClean="0">
                <a:latin typeface="Times New Roman" pitchFamily="18" charset="0"/>
                <a:cs typeface="Times New Roman" pitchFamily="18" charset="0"/>
              </a:rPr>
              <a:t>Data Transformation and reduction:</a:t>
            </a:r>
          </a:p>
          <a:p>
            <a:pPr lvl="1" algn="just" eaLnBrk="1" hangingPunct="1">
              <a:lnSpc>
                <a:spcPct val="80000"/>
              </a:lnSpc>
            </a:pPr>
            <a:r>
              <a:rPr lang="en-US" sz="2400" smtClean="0">
                <a:latin typeface="Times New Roman" pitchFamily="18" charset="0"/>
                <a:cs typeface="Times New Roman" pitchFamily="18" charset="0"/>
              </a:rPr>
              <a:t>The data can be generalized to higher – level concepts. Concept hierarchies may be used for this purpose. This is particularly useful for continuous-valued attributes. For ex, numeric values for the attribute income may be generalized  to discrete ranges such as low, medium and high. Similarly, nominal-valued attributes, like street, can be generalized to higher level concepts, like city. Since generalization compresses the original training data, fewer input/output operations may be involved during learning.</a:t>
            </a:r>
          </a:p>
          <a:p>
            <a:pPr lvl="1" algn="just" eaLnBrk="1" hangingPunct="1">
              <a:lnSpc>
                <a:spcPct val="80000"/>
              </a:lnSpc>
            </a:pPr>
            <a:r>
              <a:rPr lang="en-US" sz="2400" smtClean="0">
                <a:latin typeface="Times New Roman" pitchFamily="18" charset="0"/>
                <a:cs typeface="Times New Roman" pitchFamily="18" charset="0"/>
              </a:rPr>
              <a:t>The data may be normalized, particularly when neural networks or methods involving distance measurements are used in the learning step. Normalization involves scaling all values for a given attribute so that they fall within a small specified range, such as -1.0 to 1.0 or 0.0 to 1.0. In methods that use distance measurements, for ex, this would prevent attributes with initially large ranges (like, say income) from outweighing attributes with initially smaller ranges Such as binary attributes. </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p:spPr>
        <p:txBody>
          <a:bodyPr/>
          <a:lstStyle/>
          <a:p>
            <a:fld id="{7F7B85EF-B240-4146-BF91-4B398BF58DA4}" type="slidenum">
              <a:rPr lang="en-US" smtClean="0"/>
              <a:pPr/>
              <a:t>22</a:t>
            </a:fld>
            <a:endParaRPr lang="en-US" smtClean="0"/>
          </a:p>
        </p:txBody>
      </p:sp>
      <p:sp>
        <p:nvSpPr>
          <p:cNvPr id="32771" name="Rectangle 4"/>
          <p:cNvSpPr>
            <a:spLocks noGrp="1" noChangeArrowheads="1"/>
          </p:cNvSpPr>
          <p:nvPr>
            <p:ph type="body" idx="1"/>
          </p:nvPr>
        </p:nvSpPr>
        <p:spPr>
          <a:xfrm>
            <a:off x="152400" y="381000"/>
            <a:ext cx="8686800" cy="5715000"/>
          </a:xfrm>
          <a:noFill/>
        </p:spPr>
        <p:txBody>
          <a:bodyPr lIns="92075" tIns="46038" rIns="92075" bIns="46038"/>
          <a:lstStyle/>
          <a:p>
            <a:pPr algn="just" eaLnBrk="1" hangingPunct="1">
              <a:lnSpc>
                <a:spcPct val="90000"/>
              </a:lnSpc>
              <a:buFontTx/>
              <a:buNone/>
            </a:pPr>
            <a:r>
              <a:rPr lang="en-US" sz="2400" b="1" u="sng" smtClean="0">
                <a:latin typeface="Times New Roman" pitchFamily="18" charset="0"/>
                <a:cs typeface="Times New Roman" pitchFamily="18" charset="0"/>
              </a:rPr>
              <a:t>Comparing Classification Methods</a:t>
            </a:r>
          </a:p>
          <a:p>
            <a:pPr algn="just" eaLnBrk="1" hangingPunct="1">
              <a:lnSpc>
                <a:spcPct val="90000"/>
              </a:lnSpc>
              <a:buFontTx/>
              <a:buNone/>
            </a:pPr>
            <a:r>
              <a:rPr lang="en-US" sz="2200" smtClean="0">
                <a:latin typeface="Times New Roman" pitchFamily="18" charset="0"/>
                <a:cs typeface="Times New Roman" pitchFamily="18" charset="0"/>
              </a:rPr>
              <a:t>	</a:t>
            </a:r>
          </a:p>
          <a:p>
            <a:pPr algn="just" eaLnBrk="1" hangingPunct="1">
              <a:lnSpc>
                <a:spcPct val="90000"/>
              </a:lnSpc>
              <a:buFontTx/>
              <a:buNone/>
            </a:pPr>
            <a:r>
              <a:rPr lang="en-US" sz="2200" smtClean="0">
                <a:latin typeface="Times New Roman" pitchFamily="18" charset="0"/>
                <a:cs typeface="Times New Roman" pitchFamily="18" charset="0"/>
              </a:rPr>
              <a:t>	Classification and prediction methods can be compared and evaluated according to the following criteria.</a:t>
            </a:r>
          </a:p>
          <a:p>
            <a:pPr algn="just" eaLnBrk="1" hangingPunct="1">
              <a:lnSpc>
                <a:spcPct val="90000"/>
              </a:lnSpc>
              <a:buFontTx/>
              <a:buNone/>
            </a:pPr>
            <a:endParaRPr lang="en-US" sz="2200" smtClean="0">
              <a:latin typeface="Times New Roman" pitchFamily="18" charset="0"/>
              <a:cs typeface="Times New Roman" pitchFamily="18" charset="0"/>
            </a:endParaRPr>
          </a:p>
          <a:p>
            <a:pPr algn="just" eaLnBrk="1" hangingPunct="1">
              <a:lnSpc>
                <a:spcPct val="90000"/>
              </a:lnSpc>
            </a:pPr>
            <a:r>
              <a:rPr lang="en-US" sz="2400" b="1" smtClean="0">
                <a:latin typeface="Times New Roman" pitchFamily="18" charset="0"/>
                <a:cs typeface="Times New Roman" pitchFamily="18" charset="0"/>
              </a:rPr>
              <a:t>Predictive Accuracy : </a:t>
            </a:r>
            <a:r>
              <a:rPr lang="en-US" sz="2400" smtClean="0">
                <a:latin typeface="Times New Roman" pitchFamily="18" charset="0"/>
                <a:cs typeface="Times New Roman" pitchFamily="18" charset="0"/>
              </a:rPr>
              <a:t>This refers to the ability of the model to correctly predict the class label of new or previously unseen data</a:t>
            </a:r>
          </a:p>
          <a:p>
            <a:pPr algn="just" eaLnBrk="1" hangingPunct="1">
              <a:lnSpc>
                <a:spcPct val="90000"/>
              </a:lnSpc>
            </a:pPr>
            <a:r>
              <a:rPr lang="en-US" sz="2400" b="1" smtClean="0">
                <a:latin typeface="Times New Roman" pitchFamily="18" charset="0"/>
                <a:cs typeface="Times New Roman" pitchFamily="18" charset="0"/>
              </a:rPr>
              <a:t>Speed : </a:t>
            </a:r>
            <a:r>
              <a:rPr lang="en-US" sz="2400" smtClean="0">
                <a:latin typeface="Times New Roman" pitchFamily="18" charset="0"/>
                <a:cs typeface="Times New Roman" pitchFamily="18" charset="0"/>
              </a:rPr>
              <a:t>This refers to the computation costs involved in generating and using the model</a:t>
            </a:r>
          </a:p>
          <a:p>
            <a:pPr algn="just" eaLnBrk="1" hangingPunct="1">
              <a:lnSpc>
                <a:spcPct val="90000"/>
              </a:lnSpc>
            </a:pPr>
            <a:r>
              <a:rPr lang="en-US" sz="2400" b="1" smtClean="0">
                <a:latin typeface="Times New Roman" pitchFamily="18" charset="0"/>
                <a:cs typeface="Times New Roman" pitchFamily="18" charset="0"/>
              </a:rPr>
              <a:t>Robustness : </a:t>
            </a:r>
            <a:r>
              <a:rPr lang="en-US" sz="2400" smtClean="0">
                <a:latin typeface="Times New Roman" pitchFamily="18" charset="0"/>
                <a:cs typeface="Times New Roman" pitchFamily="18" charset="0"/>
              </a:rPr>
              <a:t>This is the ability of the model to make correct predictions given noisy data or data with missing values.</a:t>
            </a:r>
          </a:p>
          <a:p>
            <a:pPr algn="just" eaLnBrk="1" hangingPunct="1">
              <a:lnSpc>
                <a:spcPct val="90000"/>
              </a:lnSpc>
            </a:pPr>
            <a:r>
              <a:rPr lang="en-US" sz="2400" b="1" smtClean="0">
                <a:latin typeface="Times New Roman" pitchFamily="18" charset="0"/>
                <a:cs typeface="Times New Roman" pitchFamily="18" charset="0"/>
              </a:rPr>
              <a:t>Scalability : </a:t>
            </a:r>
            <a:r>
              <a:rPr lang="en-US" sz="2400" smtClean="0">
                <a:latin typeface="Times New Roman" pitchFamily="18" charset="0"/>
                <a:cs typeface="Times New Roman" pitchFamily="18" charset="0"/>
              </a:rPr>
              <a:t>This refers to the ability to construct the classifier or predictor efficiently given large amounts of data.</a:t>
            </a:r>
          </a:p>
          <a:p>
            <a:pPr algn="just" eaLnBrk="1" hangingPunct="1">
              <a:lnSpc>
                <a:spcPct val="90000"/>
              </a:lnSpc>
            </a:pPr>
            <a:r>
              <a:rPr lang="en-US" sz="2400" b="1" smtClean="0">
                <a:latin typeface="Times New Roman" pitchFamily="18" charset="0"/>
                <a:cs typeface="Times New Roman" pitchFamily="18" charset="0"/>
              </a:rPr>
              <a:t>Interpretability : </a:t>
            </a:r>
            <a:r>
              <a:rPr lang="en-US" sz="2400" smtClean="0">
                <a:latin typeface="Times New Roman" pitchFamily="18" charset="0"/>
                <a:cs typeface="Times New Roman" pitchFamily="18" charset="0"/>
              </a:rPr>
              <a:t>This refers to the level of understanding and insight that is provided by the classifier or predictor.</a:t>
            </a:r>
            <a:endParaRPr lang="en-US" sz="2400" b="1"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p:spPr>
        <p:txBody>
          <a:bodyPr/>
          <a:lstStyle/>
          <a:p>
            <a:fld id="{A5C081EC-3124-471E-85C2-F645BD10B245}" type="slidenum">
              <a:rPr lang="en-US" smtClean="0"/>
              <a:pPr/>
              <a:t>23</a:t>
            </a:fld>
            <a:endParaRPr lang="en-US" smtClean="0"/>
          </a:p>
        </p:txBody>
      </p:sp>
      <p:sp>
        <p:nvSpPr>
          <p:cNvPr id="33795" name="Rectangle 1026"/>
          <p:cNvSpPr>
            <a:spLocks noGrp="1" noChangeArrowheads="1"/>
          </p:cNvSpPr>
          <p:nvPr>
            <p:ph type="title"/>
          </p:nvPr>
        </p:nvSpPr>
        <p:spPr>
          <a:xfrm>
            <a:off x="762000" y="152400"/>
            <a:ext cx="7620000" cy="609600"/>
          </a:xfrm>
          <a:noFill/>
        </p:spPr>
        <p:txBody>
          <a:bodyPr lIns="92075" tIns="46038" rIns="92075" bIns="46038"/>
          <a:lstStyle/>
          <a:p>
            <a:pPr eaLnBrk="1" hangingPunct="1"/>
            <a:r>
              <a:rPr lang="en-US" sz="3600" smtClean="0"/>
              <a:t>Classification and Prediction</a:t>
            </a:r>
          </a:p>
        </p:txBody>
      </p:sp>
      <p:sp>
        <p:nvSpPr>
          <p:cNvPr id="33796" name="Rectangle 1027"/>
          <p:cNvSpPr>
            <a:spLocks noGrp="1" noChangeArrowheads="1"/>
          </p:cNvSpPr>
          <p:nvPr>
            <p:ph type="body" idx="1"/>
          </p:nvPr>
        </p:nvSpPr>
        <p:spPr>
          <a:xfrm>
            <a:off x="685800" y="1143000"/>
            <a:ext cx="7924800" cy="51054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solidFill>
                  <a:schemeClr val="hlink"/>
                </a:solidFill>
              </a:rPr>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 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p:spPr>
        <p:txBody>
          <a:bodyPr/>
          <a:lstStyle/>
          <a:p>
            <a:fld id="{B2E43C31-BD9E-4312-9030-879C174B28EB}" type="slidenum">
              <a:rPr lang="en-US" smtClean="0"/>
              <a:pPr/>
              <a:t>24</a:t>
            </a:fld>
            <a:endParaRPr lang="en-US" smtClean="0"/>
          </a:p>
        </p:txBody>
      </p:sp>
      <p:sp>
        <p:nvSpPr>
          <p:cNvPr id="34819" name="Rectangle 2"/>
          <p:cNvSpPr>
            <a:spLocks noGrp="1" noChangeArrowheads="1"/>
          </p:cNvSpPr>
          <p:nvPr>
            <p:ph type="title"/>
          </p:nvPr>
        </p:nvSpPr>
        <p:spPr>
          <a:xfrm>
            <a:off x="304800" y="228600"/>
            <a:ext cx="8534400" cy="685800"/>
          </a:xfrm>
        </p:spPr>
        <p:txBody>
          <a:bodyPr/>
          <a:lstStyle/>
          <a:p>
            <a:pPr eaLnBrk="1" hangingPunct="1"/>
            <a:r>
              <a:rPr lang="en-US" sz="3600" smtClean="0"/>
              <a:t>Classification by Decision Tree Induction</a:t>
            </a:r>
          </a:p>
        </p:txBody>
      </p:sp>
      <p:sp>
        <p:nvSpPr>
          <p:cNvPr id="34820" name="Rectangle 3"/>
          <p:cNvSpPr>
            <a:spLocks noGrp="1" noChangeArrowheads="1"/>
          </p:cNvSpPr>
          <p:nvPr>
            <p:ph type="body" idx="1"/>
          </p:nvPr>
        </p:nvSpPr>
        <p:spPr>
          <a:xfrm>
            <a:off x="381000" y="1219200"/>
            <a:ext cx="8382000" cy="4876800"/>
          </a:xfrm>
        </p:spPr>
        <p:txBody>
          <a:bodyPr/>
          <a:lstStyle/>
          <a:p>
            <a:pPr eaLnBrk="1" hangingPunct="1">
              <a:lnSpc>
                <a:spcPct val="90000"/>
              </a:lnSpc>
            </a:pPr>
            <a:r>
              <a:rPr lang="en-US" sz="2400" smtClean="0"/>
              <a:t>Decision tree </a:t>
            </a:r>
          </a:p>
          <a:p>
            <a:pPr lvl="1" eaLnBrk="1" hangingPunct="1">
              <a:lnSpc>
                <a:spcPct val="90000"/>
              </a:lnSpc>
            </a:pPr>
            <a:r>
              <a:rPr lang="en-US" sz="2000" smtClean="0"/>
              <a:t>A flow-chart-like tree structure</a:t>
            </a:r>
          </a:p>
          <a:p>
            <a:pPr lvl="1" eaLnBrk="1" hangingPunct="1">
              <a:lnSpc>
                <a:spcPct val="90000"/>
              </a:lnSpc>
            </a:pPr>
            <a:r>
              <a:rPr lang="en-US" sz="2000" smtClean="0"/>
              <a:t>Internal node denotes a test on an attribute</a:t>
            </a:r>
          </a:p>
          <a:p>
            <a:pPr lvl="1" eaLnBrk="1" hangingPunct="1">
              <a:lnSpc>
                <a:spcPct val="90000"/>
              </a:lnSpc>
            </a:pPr>
            <a:r>
              <a:rPr lang="en-US" sz="2000" smtClean="0"/>
              <a:t>Branch represents an outcome of the test</a:t>
            </a:r>
          </a:p>
          <a:p>
            <a:pPr lvl="1" eaLnBrk="1" hangingPunct="1">
              <a:lnSpc>
                <a:spcPct val="90000"/>
              </a:lnSpc>
            </a:pPr>
            <a:r>
              <a:rPr lang="en-US" sz="2000" smtClean="0"/>
              <a:t>Leaf nodes represent class labels or class distribution</a:t>
            </a:r>
          </a:p>
          <a:p>
            <a:pPr eaLnBrk="1" hangingPunct="1">
              <a:lnSpc>
                <a:spcPct val="90000"/>
              </a:lnSpc>
            </a:pPr>
            <a:r>
              <a:rPr lang="en-US" sz="2400" smtClean="0"/>
              <a:t>Decision tree generation consists of two phases</a:t>
            </a:r>
          </a:p>
          <a:p>
            <a:pPr lvl="1" eaLnBrk="1" hangingPunct="1">
              <a:lnSpc>
                <a:spcPct val="90000"/>
              </a:lnSpc>
            </a:pPr>
            <a:r>
              <a:rPr lang="en-US" sz="2000" smtClean="0"/>
              <a:t>Tree construction</a:t>
            </a:r>
          </a:p>
          <a:p>
            <a:pPr lvl="2" eaLnBrk="1" hangingPunct="1">
              <a:lnSpc>
                <a:spcPct val="90000"/>
              </a:lnSpc>
            </a:pPr>
            <a:r>
              <a:rPr lang="en-US" sz="2000" smtClean="0"/>
              <a:t>At start, all the training examples are at the root</a:t>
            </a:r>
          </a:p>
          <a:p>
            <a:pPr lvl="2" eaLnBrk="1" hangingPunct="1">
              <a:lnSpc>
                <a:spcPct val="90000"/>
              </a:lnSpc>
            </a:pPr>
            <a:r>
              <a:rPr lang="en-US" sz="2000" smtClean="0"/>
              <a:t>Partition examples recursively based on selected attributes</a:t>
            </a:r>
          </a:p>
          <a:p>
            <a:pPr lvl="1" eaLnBrk="1" hangingPunct="1">
              <a:lnSpc>
                <a:spcPct val="90000"/>
              </a:lnSpc>
            </a:pPr>
            <a:r>
              <a:rPr lang="en-US" sz="2000" smtClean="0"/>
              <a:t>Tree pruning</a:t>
            </a:r>
          </a:p>
          <a:p>
            <a:pPr lvl="2" eaLnBrk="1" hangingPunct="1">
              <a:lnSpc>
                <a:spcPct val="90000"/>
              </a:lnSpc>
            </a:pPr>
            <a:r>
              <a:rPr lang="en-US" sz="2000" smtClean="0"/>
              <a:t>Identify and remove branches that reflect noise or outliers</a:t>
            </a:r>
          </a:p>
          <a:p>
            <a:pPr eaLnBrk="1" hangingPunct="1">
              <a:lnSpc>
                <a:spcPct val="90000"/>
              </a:lnSpc>
            </a:pPr>
            <a:r>
              <a:rPr lang="en-US" sz="2400" smtClean="0"/>
              <a:t>Use of decision tree: Classifying an unknown sample</a:t>
            </a:r>
          </a:p>
          <a:p>
            <a:pPr lvl="1" eaLnBrk="1" hangingPunct="1">
              <a:lnSpc>
                <a:spcPct val="90000"/>
              </a:lnSpc>
            </a:pPr>
            <a:r>
              <a:rPr lang="en-US" sz="2000" smtClean="0"/>
              <a:t>Test the attribute values of the sample against the decision tree</a:t>
            </a:r>
          </a:p>
        </p:txBody>
      </p:sp>
    </p:spTree>
  </p:cSld>
  <p:clrMapOvr>
    <a:masterClrMapping/>
  </p:clrMapOvr>
  <p:transition>
    <p:checke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5"/>
          <p:cNvSpPr>
            <a:spLocks noGrp="1"/>
          </p:cNvSpPr>
          <p:nvPr>
            <p:ph type="sldNum" sz="quarter" idx="12"/>
          </p:nvPr>
        </p:nvSpPr>
        <p:spPr>
          <a:noFill/>
        </p:spPr>
        <p:txBody>
          <a:bodyPr/>
          <a:lstStyle/>
          <a:p>
            <a:fld id="{359E0B33-60B3-43BA-80ED-905B8C007B93}" type="slidenum">
              <a:rPr lang="en-US" smtClean="0"/>
              <a:pPr/>
              <a:t>25</a:t>
            </a:fld>
            <a:endParaRPr lang="en-US" smtClean="0"/>
          </a:p>
        </p:txBody>
      </p:sp>
      <p:sp>
        <p:nvSpPr>
          <p:cNvPr id="5124" name="Rectangle 2"/>
          <p:cNvSpPr>
            <a:spLocks noGrp="1" noChangeArrowheads="1"/>
          </p:cNvSpPr>
          <p:nvPr>
            <p:ph type="title"/>
          </p:nvPr>
        </p:nvSpPr>
        <p:spPr>
          <a:xfrm>
            <a:off x="1752600" y="381000"/>
            <a:ext cx="4343400" cy="609600"/>
          </a:xfrm>
        </p:spPr>
        <p:txBody>
          <a:bodyPr/>
          <a:lstStyle/>
          <a:p>
            <a:pPr eaLnBrk="1" hangingPunct="1"/>
            <a:r>
              <a:rPr lang="en-US" smtClean="0"/>
              <a:t>Training Dataset</a:t>
            </a:r>
          </a:p>
        </p:txBody>
      </p:sp>
      <p:graphicFrame>
        <p:nvGraphicFramePr>
          <p:cNvPr id="5122" name="Object 3"/>
          <p:cNvGraphicFramePr>
            <a:graphicFrameLocks/>
          </p:cNvGraphicFramePr>
          <p:nvPr>
            <p:ph type="body" idx="1"/>
          </p:nvPr>
        </p:nvGraphicFramePr>
        <p:xfrm>
          <a:off x="1905000" y="1371600"/>
          <a:ext cx="6934200" cy="4953000"/>
        </p:xfrm>
        <a:graphic>
          <a:graphicData uri="http://schemas.openxmlformats.org/presentationml/2006/ole">
            <p:oleObj spid="_x0000_s5122" name="Worksheet" r:id="rId3" imgW="4381805" imgH="4458005" progId="Excel.Sheet.8">
              <p:embed/>
            </p:oleObj>
          </a:graphicData>
        </a:graphic>
      </p:graphicFrame>
      <p:sp>
        <p:nvSpPr>
          <p:cNvPr id="5125" name="Text Box 4"/>
          <p:cNvSpPr txBox="1">
            <a:spLocks noChangeArrowheads="1"/>
          </p:cNvSpPr>
          <p:nvPr/>
        </p:nvSpPr>
        <p:spPr bwMode="auto">
          <a:xfrm>
            <a:off x="304800" y="1905000"/>
            <a:ext cx="1752600" cy="3081338"/>
          </a:xfrm>
          <a:prstGeom prst="rect">
            <a:avLst/>
          </a:prstGeom>
          <a:noFill/>
          <a:ln w="9525">
            <a:noFill/>
            <a:miter lim="800000"/>
            <a:headEnd/>
            <a:tailEnd/>
          </a:ln>
        </p:spPr>
        <p:txBody>
          <a:bodyPr>
            <a:spAutoFit/>
          </a:bodyPr>
          <a:lstStyle/>
          <a:p>
            <a:pPr eaLnBrk="0" hangingPunct="0">
              <a:buClr>
                <a:srgbClr val="170981"/>
              </a:buClr>
              <a:buSzPct val="75000"/>
              <a:buFont typeface="Wingdings" pitchFamily="2" charset="2"/>
              <a:buNone/>
            </a:pPr>
            <a:r>
              <a:rPr lang="en-US" sz="2800">
                <a:latin typeface="Tahoma" pitchFamily="34" charset="0"/>
              </a:rPr>
              <a:t>This follows an  example from Quinlan’s ID3</a:t>
            </a:r>
          </a:p>
        </p:txBody>
      </p:sp>
    </p:spTree>
  </p:cSld>
  <p:clrMapOvr>
    <a:masterClrMapping/>
  </p:clrMapOvr>
  <p:transition>
    <p:checke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p:spPr>
        <p:txBody>
          <a:bodyPr/>
          <a:lstStyle/>
          <a:p>
            <a:fld id="{FB932910-BA76-498B-A8D5-CD2438433549}" type="slidenum">
              <a:rPr lang="en-US" smtClean="0"/>
              <a:pPr/>
              <a:t>26</a:t>
            </a:fld>
            <a:endParaRPr lang="en-US" smtClean="0"/>
          </a:p>
        </p:txBody>
      </p:sp>
      <p:sp>
        <p:nvSpPr>
          <p:cNvPr id="35843" name="Rectangle 2"/>
          <p:cNvSpPr>
            <a:spLocks noGrp="1" noChangeArrowheads="1"/>
          </p:cNvSpPr>
          <p:nvPr>
            <p:ph type="title"/>
          </p:nvPr>
        </p:nvSpPr>
        <p:spPr>
          <a:xfrm>
            <a:off x="228600" y="228600"/>
            <a:ext cx="8610600" cy="762000"/>
          </a:xfrm>
        </p:spPr>
        <p:txBody>
          <a:bodyPr/>
          <a:lstStyle/>
          <a:p>
            <a:pPr eaLnBrk="1" hangingPunct="1"/>
            <a:r>
              <a:rPr lang="en-US" sz="3400" smtClean="0"/>
              <a:t>Algorithm for Decision Tree Induction</a:t>
            </a:r>
          </a:p>
        </p:txBody>
      </p:sp>
      <p:sp>
        <p:nvSpPr>
          <p:cNvPr id="35844" name="Rectangle 3"/>
          <p:cNvSpPr>
            <a:spLocks noGrp="1" noChangeArrowheads="1"/>
          </p:cNvSpPr>
          <p:nvPr>
            <p:ph type="body" idx="1"/>
          </p:nvPr>
        </p:nvSpPr>
        <p:spPr>
          <a:xfrm>
            <a:off x="381000" y="1219200"/>
            <a:ext cx="8382000" cy="4800600"/>
          </a:xfrm>
        </p:spPr>
        <p:txBody>
          <a:bodyPr/>
          <a:lstStyle/>
          <a:p>
            <a:pPr eaLnBrk="1" hangingPunct="1">
              <a:lnSpc>
                <a:spcPct val="95000"/>
              </a:lnSpc>
            </a:pPr>
            <a:r>
              <a:rPr lang="en-US" sz="2400" smtClean="0"/>
              <a:t>Basic algorithm (a greedy algorithm)</a:t>
            </a:r>
          </a:p>
          <a:p>
            <a:pPr lvl="1" eaLnBrk="1" hangingPunct="1">
              <a:lnSpc>
                <a:spcPct val="95000"/>
              </a:lnSpc>
            </a:pPr>
            <a:r>
              <a:rPr lang="en-US" sz="2000" smtClean="0"/>
              <a:t>Tree is constructed in a </a:t>
            </a:r>
            <a:r>
              <a:rPr lang="en-US" sz="2000" smtClean="0">
                <a:solidFill>
                  <a:schemeClr val="hlink"/>
                </a:solidFill>
              </a:rPr>
              <a:t>top-down recursive divide-and-conquer manner</a:t>
            </a:r>
          </a:p>
          <a:p>
            <a:pPr lvl="1" eaLnBrk="1" hangingPunct="1">
              <a:lnSpc>
                <a:spcPct val="95000"/>
              </a:lnSpc>
            </a:pPr>
            <a:r>
              <a:rPr lang="en-US" sz="2000" smtClean="0"/>
              <a:t>At start, all the training examples are at the root</a:t>
            </a:r>
          </a:p>
          <a:p>
            <a:pPr lvl="1" eaLnBrk="1" hangingPunct="1">
              <a:lnSpc>
                <a:spcPct val="95000"/>
              </a:lnSpc>
            </a:pPr>
            <a:r>
              <a:rPr lang="en-US" sz="2000" smtClean="0"/>
              <a:t>Attributes are categorical (if continuous-valued, they are discretized in advance)</a:t>
            </a:r>
          </a:p>
          <a:p>
            <a:pPr lvl="1" eaLnBrk="1" hangingPunct="1">
              <a:lnSpc>
                <a:spcPct val="95000"/>
              </a:lnSpc>
            </a:pPr>
            <a:r>
              <a:rPr lang="en-US" sz="2000" smtClean="0"/>
              <a:t>Examples are partitioned recursively based on selected attributes</a:t>
            </a:r>
          </a:p>
          <a:p>
            <a:pPr lvl="1" eaLnBrk="1" hangingPunct="1">
              <a:lnSpc>
                <a:spcPct val="95000"/>
              </a:lnSpc>
            </a:pPr>
            <a:r>
              <a:rPr lang="en-US" sz="2000" smtClean="0"/>
              <a:t>Test attributes are selected on the basis of a heuristic or statistical measure (e.g., </a:t>
            </a:r>
            <a:r>
              <a:rPr lang="en-US" sz="2000" smtClean="0">
                <a:solidFill>
                  <a:schemeClr val="hlink"/>
                </a:solidFill>
              </a:rPr>
              <a:t>information gain</a:t>
            </a:r>
            <a:r>
              <a:rPr lang="en-US" sz="2000" smtClean="0"/>
              <a:t>)</a:t>
            </a:r>
          </a:p>
          <a:p>
            <a:pPr eaLnBrk="1" hangingPunct="1">
              <a:lnSpc>
                <a:spcPct val="95000"/>
              </a:lnSpc>
            </a:pPr>
            <a:r>
              <a:rPr lang="en-US" sz="2400" smtClean="0"/>
              <a:t>Conditions for stopping partitioning</a:t>
            </a:r>
          </a:p>
          <a:p>
            <a:pPr lvl="1" eaLnBrk="1" hangingPunct="1">
              <a:lnSpc>
                <a:spcPct val="95000"/>
              </a:lnSpc>
            </a:pPr>
            <a:r>
              <a:rPr lang="en-US" sz="2000" smtClean="0"/>
              <a:t>All samples for a given node belong to the same class</a:t>
            </a:r>
          </a:p>
          <a:p>
            <a:pPr lvl="1" eaLnBrk="1" hangingPunct="1">
              <a:lnSpc>
                <a:spcPct val="95000"/>
              </a:lnSpc>
            </a:pPr>
            <a:r>
              <a:rPr lang="en-US" sz="2000" smtClean="0"/>
              <a:t>There are no remaining attributes for further partitioning – </a:t>
            </a:r>
            <a:r>
              <a:rPr lang="en-US" sz="2000" smtClean="0">
                <a:solidFill>
                  <a:schemeClr val="hlink"/>
                </a:solidFill>
              </a:rPr>
              <a:t>majority voting</a:t>
            </a:r>
            <a:r>
              <a:rPr lang="en-US" sz="2000" smtClean="0"/>
              <a:t> is employed for classifying the leaf</a:t>
            </a:r>
          </a:p>
          <a:p>
            <a:pPr lvl="1" eaLnBrk="1" hangingPunct="1">
              <a:lnSpc>
                <a:spcPct val="95000"/>
              </a:lnSpc>
            </a:pPr>
            <a:r>
              <a:rPr lang="en-US" sz="2000" smtClean="0"/>
              <a:t>There are no samples left</a:t>
            </a:r>
          </a:p>
        </p:txBody>
      </p:sp>
    </p:spTree>
  </p:cSld>
  <p:clrMapOvr>
    <a:masterClrMapping/>
  </p:clrMapOvr>
  <p:transition>
    <p:checke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p:cNvSpPr>
            <a:spLocks noGrp="1"/>
          </p:cNvSpPr>
          <p:nvPr>
            <p:ph type="sldNum" sz="quarter" idx="12"/>
          </p:nvPr>
        </p:nvSpPr>
        <p:spPr>
          <a:noFill/>
        </p:spPr>
        <p:txBody>
          <a:bodyPr/>
          <a:lstStyle/>
          <a:p>
            <a:fld id="{593125C6-2A39-4206-87A4-9B329BFA9B54}" type="slidenum">
              <a:rPr lang="en-US" smtClean="0"/>
              <a:pPr/>
              <a:t>27</a:t>
            </a:fld>
            <a:endParaRPr lang="en-US" smtClean="0"/>
          </a:p>
        </p:txBody>
      </p:sp>
      <p:sp>
        <p:nvSpPr>
          <p:cNvPr id="36867" name="Rectangle 2"/>
          <p:cNvSpPr>
            <a:spLocks noGrp="1" noChangeArrowheads="1"/>
          </p:cNvSpPr>
          <p:nvPr>
            <p:ph type="title"/>
          </p:nvPr>
        </p:nvSpPr>
        <p:spPr>
          <a:xfrm>
            <a:off x="533400" y="228600"/>
            <a:ext cx="8153400" cy="990600"/>
          </a:xfrm>
        </p:spPr>
        <p:txBody>
          <a:bodyPr/>
          <a:lstStyle/>
          <a:p>
            <a:pPr eaLnBrk="1" hangingPunct="1"/>
            <a:r>
              <a:rPr lang="en-US" sz="4000" smtClean="0"/>
              <a:t>Attribute Selection Measure</a:t>
            </a:r>
            <a:endParaRPr lang="en-US" sz="4000" i="1" smtClean="0">
              <a:solidFill>
                <a:srgbClr val="CC0000"/>
              </a:solidFill>
            </a:endParaRPr>
          </a:p>
        </p:txBody>
      </p:sp>
      <p:sp>
        <p:nvSpPr>
          <p:cNvPr id="36868" name="Rectangle 3"/>
          <p:cNvSpPr>
            <a:spLocks noGrp="1" noChangeArrowheads="1"/>
          </p:cNvSpPr>
          <p:nvPr>
            <p:ph type="body" idx="1"/>
          </p:nvPr>
        </p:nvSpPr>
        <p:spPr>
          <a:xfrm>
            <a:off x="285750" y="1600200"/>
            <a:ext cx="8629650" cy="4892675"/>
          </a:xfrm>
        </p:spPr>
        <p:txBody>
          <a:bodyPr/>
          <a:lstStyle/>
          <a:p>
            <a:pPr eaLnBrk="1" hangingPunct="1"/>
            <a:r>
              <a:rPr lang="en-US" sz="2800" smtClean="0">
                <a:solidFill>
                  <a:schemeClr val="hlink"/>
                </a:solidFill>
              </a:rPr>
              <a:t>Information gain</a:t>
            </a:r>
            <a:r>
              <a:rPr lang="en-US" sz="2800" smtClean="0"/>
              <a:t> (ID3/C4.5)</a:t>
            </a:r>
          </a:p>
          <a:p>
            <a:pPr lvl="1" eaLnBrk="1" hangingPunct="1"/>
            <a:r>
              <a:rPr lang="en-US" sz="2400" smtClean="0"/>
              <a:t>All attributes are assumed to be categorical</a:t>
            </a:r>
          </a:p>
          <a:p>
            <a:pPr lvl="1" eaLnBrk="1" hangingPunct="1"/>
            <a:r>
              <a:rPr lang="en-US" sz="2400" smtClean="0"/>
              <a:t>Can be modified for continuous-valued attributes</a:t>
            </a:r>
          </a:p>
          <a:p>
            <a:pPr eaLnBrk="1" hangingPunct="1"/>
            <a:r>
              <a:rPr lang="en-US" sz="2800" smtClean="0">
                <a:solidFill>
                  <a:schemeClr val="hlink"/>
                </a:solidFill>
              </a:rPr>
              <a:t>Gini index </a:t>
            </a:r>
            <a:r>
              <a:rPr lang="en-US" sz="2800" smtClean="0"/>
              <a:t>(IBM IntelligentMiner)</a:t>
            </a:r>
            <a:endParaRPr lang="en-US" sz="2800" smtClean="0">
              <a:solidFill>
                <a:schemeClr val="hlink"/>
              </a:solidFill>
            </a:endParaRPr>
          </a:p>
          <a:p>
            <a:pPr lvl="1" eaLnBrk="1" hangingPunct="1"/>
            <a:r>
              <a:rPr lang="en-US" sz="2400" smtClean="0"/>
              <a:t>All attributes are assumed continuous-valued</a:t>
            </a:r>
          </a:p>
          <a:p>
            <a:pPr lvl="1" eaLnBrk="1" hangingPunct="1"/>
            <a:r>
              <a:rPr lang="en-US" sz="2400" smtClean="0"/>
              <a:t>Assume there exist several possible split values for each attribute</a:t>
            </a:r>
          </a:p>
          <a:p>
            <a:pPr lvl="1" eaLnBrk="1" hangingPunct="1"/>
            <a:r>
              <a:rPr lang="en-US" sz="2400" smtClean="0"/>
              <a:t>May need other tools, such as clustering, to get the possible split values</a:t>
            </a:r>
          </a:p>
          <a:p>
            <a:pPr lvl="1" eaLnBrk="1" hangingPunct="1"/>
            <a:r>
              <a:rPr lang="en-US" sz="2400" smtClean="0"/>
              <a:t>Can be modified for categorical attributes</a:t>
            </a:r>
          </a:p>
        </p:txBody>
      </p:sp>
    </p:spTree>
  </p:cSld>
  <p:clrMapOvr>
    <a:masterClrMapping/>
  </p:clrMapOvr>
  <p:transition>
    <p:checke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2"/>
          </p:nvPr>
        </p:nvSpPr>
        <p:spPr>
          <a:noFill/>
        </p:spPr>
        <p:txBody>
          <a:bodyPr/>
          <a:lstStyle/>
          <a:p>
            <a:fld id="{6AB4B17A-0902-41A8-98EC-A49FD4B5B9D4}" type="slidenum">
              <a:rPr lang="en-US" smtClean="0"/>
              <a:pPr/>
              <a:t>28</a:t>
            </a:fld>
            <a:endParaRPr lang="en-US" smtClean="0"/>
          </a:p>
        </p:txBody>
      </p:sp>
      <p:graphicFrame>
        <p:nvGraphicFramePr>
          <p:cNvPr id="1438852" name="Group 132"/>
          <p:cNvGraphicFramePr>
            <a:graphicFrameLocks noGrp="1"/>
          </p:cNvGraphicFramePr>
          <p:nvPr/>
        </p:nvGraphicFramePr>
        <p:xfrm>
          <a:off x="457200" y="274638"/>
          <a:ext cx="8686800" cy="6450012"/>
        </p:xfrm>
        <a:graphic>
          <a:graphicData uri="http://schemas.openxmlformats.org/drawingml/2006/table">
            <a:tbl>
              <a:tblPr/>
              <a:tblGrid>
                <a:gridCol w="804863"/>
                <a:gridCol w="965200"/>
                <a:gridCol w="1689100"/>
                <a:gridCol w="1265237"/>
                <a:gridCol w="1752600"/>
                <a:gridCol w="2209800"/>
              </a:tblGrid>
              <a:tr h="7921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RID</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Age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Income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Student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Credit_rating</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Arial" pitchFamily="34" charset="0"/>
                        </a:rPr>
                        <a:t>Class : Buys_computer</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6096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4</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5</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6</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7</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8</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9</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11</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12</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13</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14</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31.40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&gt;40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&gt;40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&gt;40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31.40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&gt;40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&lt;=30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31.40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31.40</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&gt;40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High</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High</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High</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Low</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Low</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Low</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Low</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High</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Medium</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Fair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Excellent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Yes</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Arial" pitchFamily="34" charset="0"/>
                        </a:rPr>
                        <a:t>No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Slide Number Placeholder 5"/>
          <p:cNvSpPr>
            <a:spLocks noGrp="1"/>
          </p:cNvSpPr>
          <p:nvPr>
            <p:ph type="sldNum" sz="quarter" idx="12"/>
          </p:nvPr>
        </p:nvSpPr>
        <p:spPr>
          <a:noFill/>
        </p:spPr>
        <p:txBody>
          <a:bodyPr/>
          <a:lstStyle/>
          <a:p>
            <a:fld id="{88F88BA8-5704-46A1-94A8-40CA1C80BD25}" type="slidenum">
              <a:rPr lang="en-US" smtClean="0"/>
              <a:pPr/>
              <a:t>29</a:t>
            </a:fld>
            <a:endParaRPr lang="en-US" smtClean="0"/>
          </a:p>
        </p:txBody>
      </p:sp>
      <p:sp>
        <p:nvSpPr>
          <p:cNvPr id="6148" name="Rectangle 2"/>
          <p:cNvSpPr>
            <a:spLocks noGrp="1" noChangeArrowheads="1"/>
          </p:cNvSpPr>
          <p:nvPr>
            <p:ph type="title"/>
          </p:nvPr>
        </p:nvSpPr>
        <p:spPr>
          <a:xfrm>
            <a:off x="533400" y="838200"/>
            <a:ext cx="7086600" cy="609600"/>
          </a:xfrm>
          <a:noFill/>
        </p:spPr>
        <p:txBody>
          <a:bodyPr lIns="92075" tIns="46038" rIns="92075" bIns="46038" anchor="b"/>
          <a:lstStyle/>
          <a:p>
            <a:pPr eaLnBrk="1" hangingPunct="1"/>
            <a:r>
              <a:rPr lang="en-US" smtClean="0"/>
              <a:t>Information Gain (ID3/C4.5)</a:t>
            </a:r>
          </a:p>
        </p:txBody>
      </p:sp>
      <p:sp>
        <p:nvSpPr>
          <p:cNvPr id="6149" name="Rectangle 3"/>
          <p:cNvSpPr>
            <a:spLocks noGrp="1" noChangeArrowheads="1"/>
          </p:cNvSpPr>
          <p:nvPr>
            <p:ph type="body" idx="1"/>
          </p:nvPr>
        </p:nvSpPr>
        <p:spPr>
          <a:xfrm>
            <a:off x="254000" y="1524000"/>
            <a:ext cx="8661400" cy="5029200"/>
          </a:xfrm>
          <a:noFill/>
        </p:spPr>
        <p:txBody>
          <a:bodyPr lIns="92075" tIns="46038" rIns="92075" bIns="46038"/>
          <a:lstStyle/>
          <a:p>
            <a:pPr eaLnBrk="1" hangingPunct="1">
              <a:lnSpc>
                <a:spcPct val="120000"/>
              </a:lnSpc>
              <a:spcBef>
                <a:spcPct val="30000"/>
              </a:spcBef>
            </a:pPr>
            <a:r>
              <a:rPr lang="en-US" sz="2800" smtClean="0"/>
              <a:t>Select the attribute with the highest information gain</a:t>
            </a:r>
          </a:p>
          <a:p>
            <a:pPr eaLnBrk="1" hangingPunct="1">
              <a:lnSpc>
                <a:spcPct val="120000"/>
              </a:lnSpc>
              <a:spcBef>
                <a:spcPct val="30000"/>
              </a:spcBef>
            </a:pPr>
            <a:r>
              <a:rPr lang="en-US" sz="2800" smtClean="0"/>
              <a:t>Assume there are two classes,</a:t>
            </a:r>
            <a:r>
              <a:rPr lang="en-US" sz="2800" i="1" smtClean="0"/>
              <a:t> P</a:t>
            </a:r>
            <a:r>
              <a:rPr lang="en-US" sz="2800" smtClean="0"/>
              <a:t>  and</a:t>
            </a:r>
            <a:r>
              <a:rPr lang="en-US" sz="2800" i="1" smtClean="0"/>
              <a:t> N</a:t>
            </a:r>
            <a:endParaRPr lang="en-US" sz="2800" smtClean="0"/>
          </a:p>
          <a:p>
            <a:pPr lvl="1" eaLnBrk="1" hangingPunct="1">
              <a:lnSpc>
                <a:spcPct val="120000"/>
              </a:lnSpc>
              <a:spcBef>
                <a:spcPct val="30000"/>
              </a:spcBef>
            </a:pPr>
            <a:r>
              <a:rPr lang="en-US" sz="2400" smtClean="0"/>
              <a:t>Let the set of examples </a:t>
            </a:r>
            <a:r>
              <a:rPr lang="en-US" sz="2400" i="1" smtClean="0"/>
              <a:t>S</a:t>
            </a:r>
            <a:r>
              <a:rPr lang="en-US" sz="2400" smtClean="0"/>
              <a:t> contain </a:t>
            </a:r>
            <a:r>
              <a:rPr lang="en-US" sz="2400" i="1" smtClean="0"/>
              <a:t>p</a:t>
            </a:r>
            <a:r>
              <a:rPr lang="en-US" sz="2400" smtClean="0"/>
              <a:t> elements of class </a:t>
            </a:r>
            <a:r>
              <a:rPr lang="en-US" sz="2400" i="1" smtClean="0"/>
              <a:t>P</a:t>
            </a:r>
            <a:r>
              <a:rPr lang="en-US" sz="2400" smtClean="0"/>
              <a:t>  and </a:t>
            </a:r>
            <a:r>
              <a:rPr lang="en-US" sz="2400" i="1" smtClean="0"/>
              <a:t>n</a:t>
            </a:r>
            <a:r>
              <a:rPr lang="en-US" sz="2400" smtClean="0"/>
              <a:t> elements of class </a:t>
            </a:r>
            <a:r>
              <a:rPr lang="en-US" sz="2400" i="1" smtClean="0"/>
              <a:t>N</a:t>
            </a:r>
            <a:endParaRPr lang="en-US" sz="2400" smtClean="0"/>
          </a:p>
          <a:p>
            <a:pPr lvl="1" eaLnBrk="1" hangingPunct="1">
              <a:lnSpc>
                <a:spcPct val="120000"/>
              </a:lnSpc>
              <a:spcBef>
                <a:spcPct val="30000"/>
              </a:spcBef>
            </a:pPr>
            <a:r>
              <a:rPr lang="en-US" sz="2400" smtClean="0"/>
              <a:t>The amount of information, needed to decide if an arbitrary example in </a:t>
            </a:r>
            <a:r>
              <a:rPr lang="en-US" sz="2400" i="1" smtClean="0"/>
              <a:t>S</a:t>
            </a:r>
            <a:r>
              <a:rPr lang="en-US" sz="2400" smtClean="0"/>
              <a:t> belongs to </a:t>
            </a:r>
            <a:r>
              <a:rPr lang="en-US" sz="2400" i="1" smtClean="0"/>
              <a:t>P</a:t>
            </a:r>
            <a:r>
              <a:rPr lang="en-US" sz="2400" smtClean="0"/>
              <a:t>  or </a:t>
            </a:r>
            <a:r>
              <a:rPr lang="en-US" sz="2400" i="1" smtClean="0"/>
              <a:t>N</a:t>
            </a:r>
            <a:r>
              <a:rPr lang="en-US" sz="2400" smtClean="0"/>
              <a:t> is defined as</a:t>
            </a:r>
          </a:p>
          <a:p>
            <a:pPr eaLnBrk="1" hangingPunct="1">
              <a:lnSpc>
                <a:spcPct val="120000"/>
              </a:lnSpc>
              <a:spcBef>
                <a:spcPct val="30000"/>
              </a:spcBef>
            </a:pPr>
            <a:endParaRPr lang="en-US" smtClean="0"/>
          </a:p>
          <a:p>
            <a:pPr eaLnBrk="1" hangingPunct="1">
              <a:spcBef>
                <a:spcPct val="0"/>
              </a:spcBef>
            </a:pPr>
            <a:endParaRPr lang="en-US" sz="2800" smtClean="0"/>
          </a:p>
        </p:txBody>
      </p:sp>
      <p:graphicFrame>
        <p:nvGraphicFramePr>
          <p:cNvPr id="6146" name="Object 4"/>
          <p:cNvGraphicFramePr>
            <a:graphicFrameLocks noChangeAspect="1"/>
          </p:cNvGraphicFramePr>
          <p:nvPr/>
        </p:nvGraphicFramePr>
        <p:xfrm>
          <a:off x="1524000" y="5594350"/>
          <a:ext cx="6019800" cy="630238"/>
        </p:xfrm>
        <a:graphic>
          <a:graphicData uri="http://schemas.openxmlformats.org/presentationml/2006/ole">
            <p:oleObj spid="_x0000_s6146" name="Equation" r:id="rId3" imgW="2806560" imgH="419040" progId="Equation.3">
              <p:embed/>
            </p:oleObj>
          </a:graphicData>
        </a:graphic>
      </p:graphicFrame>
    </p:spTree>
  </p:cSld>
  <p:clrMapOvr>
    <a:masterClrMapping/>
  </p:clrMapOvr>
  <p:transition>
    <p:checke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5"/>
          <p:cNvSpPr>
            <a:spLocks noGrp="1"/>
          </p:cNvSpPr>
          <p:nvPr>
            <p:ph type="sldNum" sz="quarter" idx="12"/>
          </p:nvPr>
        </p:nvSpPr>
        <p:spPr>
          <a:noFill/>
        </p:spPr>
        <p:txBody>
          <a:bodyPr/>
          <a:lstStyle/>
          <a:p>
            <a:fld id="{F497CDE9-6FC6-4B12-9A74-54FBE5980A6F}" type="slidenum">
              <a:rPr lang="en-US" smtClean="0"/>
              <a:pPr/>
              <a:t>30</a:t>
            </a:fld>
            <a:endParaRPr lang="en-US" smtClean="0"/>
          </a:p>
        </p:txBody>
      </p:sp>
      <p:sp>
        <p:nvSpPr>
          <p:cNvPr id="7173" name="Rectangle 2"/>
          <p:cNvSpPr>
            <a:spLocks noGrp="1" noChangeArrowheads="1"/>
          </p:cNvSpPr>
          <p:nvPr>
            <p:ph type="title"/>
          </p:nvPr>
        </p:nvSpPr>
        <p:spPr>
          <a:xfrm>
            <a:off x="457200" y="685800"/>
            <a:ext cx="7696200" cy="1066800"/>
          </a:xfrm>
        </p:spPr>
        <p:txBody>
          <a:bodyPr/>
          <a:lstStyle/>
          <a:p>
            <a:pPr eaLnBrk="1" hangingPunct="1"/>
            <a:r>
              <a:rPr lang="en-US" smtClean="0"/>
              <a:t>Information Gain in Decision Tree Induction</a:t>
            </a:r>
          </a:p>
        </p:txBody>
      </p:sp>
      <p:sp>
        <p:nvSpPr>
          <p:cNvPr id="7174" name="Rectangle 3"/>
          <p:cNvSpPr>
            <a:spLocks noGrp="1" noChangeArrowheads="1"/>
          </p:cNvSpPr>
          <p:nvPr>
            <p:ph type="body" idx="1"/>
          </p:nvPr>
        </p:nvSpPr>
        <p:spPr>
          <a:xfrm>
            <a:off x="685800" y="1752600"/>
            <a:ext cx="8077200" cy="4724400"/>
          </a:xfrm>
        </p:spPr>
        <p:txBody>
          <a:bodyPr/>
          <a:lstStyle/>
          <a:p>
            <a:pPr eaLnBrk="1" hangingPunct="1">
              <a:lnSpc>
                <a:spcPct val="110000"/>
              </a:lnSpc>
              <a:spcBef>
                <a:spcPct val="30000"/>
              </a:spcBef>
            </a:pPr>
            <a:r>
              <a:rPr lang="en-US" sz="2800" smtClean="0"/>
              <a:t>Assume that using attribute A a set </a:t>
            </a:r>
            <a:r>
              <a:rPr lang="en-US" sz="2800" i="1" smtClean="0"/>
              <a:t>S</a:t>
            </a:r>
            <a:r>
              <a:rPr lang="en-US" sz="2800" smtClean="0"/>
              <a:t> will be partitioned into sets {</a:t>
            </a:r>
            <a:r>
              <a:rPr lang="en-US" sz="2800" i="1" smtClean="0"/>
              <a:t>S</a:t>
            </a:r>
            <a:r>
              <a:rPr lang="en-US" sz="2800" i="1" baseline="-25000" smtClean="0"/>
              <a:t>1</a:t>
            </a:r>
            <a:r>
              <a:rPr lang="en-US" sz="2800" smtClean="0"/>
              <a:t>, </a:t>
            </a:r>
            <a:r>
              <a:rPr lang="en-US" sz="2800" i="1" smtClean="0"/>
              <a:t>S</a:t>
            </a:r>
            <a:r>
              <a:rPr lang="en-US" sz="2800" i="1" baseline="-25000" smtClean="0"/>
              <a:t>2</a:t>
            </a:r>
            <a:r>
              <a:rPr lang="en-US" sz="2800" smtClean="0"/>
              <a:t> , …, </a:t>
            </a:r>
            <a:r>
              <a:rPr lang="en-US" sz="2800" i="1" smtClean="0"/>
              <a:t>S</a:t>
            </a:r>
            <a:r>
              <a:rPr lang="en-US" sz="2800" i="1" baseline="-25000" smtClean="0"/>
              <a:t>v</a:t>
            </a:r>
            <a:r>
              <a:rPr lang="en-US" sz="2800" smtClean="0"/>
              <a:t>}  </a:t>
            </a:r>
          </a:p>
          <a:p>
            <a:pPr lvl="1" eaLnBrk="1" hangingPunct="1">
              <a:lnSpc>
                <a:spcPct val="110000"/>
              </a:lnSpc>
              <a:spcBef>
                <a:spcPct val="30000"/>
              </a:spcBef>
            </a:pPr>
            <a:r>
              <a:rPr lang="en-US" sz="2400" smtClean="0"/>
              <a:t>If </a:t>
            </a:r>
            <a:r>
              <a:rPr lang="en-US" sz="2400" i="1" smtClean="0"/>
              <a:t>S</a:t>
            </a:r>
            <a:r>
              <a:rPr lang="en-US" sz="2400" i="1" baseline="-25000" smtClean="0"/>
              <a:t>i</a:t>
            </a:r>
            <a:r>
              <a:rPr lang="en-US" sz="2400" smtClean="0"/>
              <a:t> contains </a:t>
            </a:r>
            <a:r>
              <a:rPr lang="en-US" sz="2400" i="1" smtClean="0"/>
              <a:t>p</a:t>
            </a:r>
            <a:r>
              <a:rPr lang="en-US" sz="2400" i="1" baseline="-25000" smtClean="0"/>
              <a:t>i</a:t>
            </a:r>
            <a:r>
              <a:rPr lang="en-US" sz="2400" i="1" smtClean="0"/>
              <a:t> </a:t>
            </a:r>
            <a:r>
              <a:rPr lang="en-US" sz="2400" smtClean="0"/>
              <a:t>examples of </a:t>
            </a:r>
            <a:r>
              <a:rPr lang="en-US" sz="2400" i="1" smtClean="0"/>
              <a:t>P</a:t>
            </a:r>
            <a:r>
              <a:rPr lang="en-US" sz="2400" smtClean="0"/>
              <a:t> and </a:t>
            </a:r>
            <a:r>
              <a:rPr lang="en-US" sz="2400" i="1" smtClean="0"/>
              <a:t>n</a:t>
            </a:r>
            <a:r>
              <a:rPr lang="en-US" sz="2400" i="1" baseline="-25000" smtClean="0"/>
              <a:t>i</a:t>
            </a:r>
            <a:r>
              <a:rPr lang="en-US" sz="2400" smtClean="0"/>
              <a:t> examples of </a:t>
            </a:r>
            <a:r>
              <a:rPr lang="en-US" sz="2400" i="1" smtClean="0"/>
              <a:t>N</a:t>
            </a:r>
            <a:r>
              <a:rPr lang="en-US" sz="2400" smtClean="0"/>
              <a:t>, the </a:t>
            </a:r>
            <a:r>
              <a:rPr lang="en-US" sz="2400" smtClean="0">
                <a:solidFill>
                  <a:schemeClr val="hlink"/>
                </a:solidFill>
              </a:rPr>
              <a:t>entropy</a:t>
            </a:r>
            <a:r>
              <a:rPr lang="en-US" sz="2400" smtClean="0"/>
              <a:t>, or the expected information needed to classify objects in all subtrees </a:t>
            </a:r>
            <a:r>
              <a:rPr lang="en-US" sz="2400" i="1" smtClean="0"/>
              <a:t>S</a:t>
            </a:r>
            <a:r>
              <a:rPr lang="en-US" sz="2400" i="1" baseline="-25000" smtClean="0"/>
              <a:t>i</a:t>
            </a:r>
            <a:r>
              <a:rPr lang="en-US" sz="2400" smtClean="0"/>
              <a:t> is</a:t>
            </a:r>
          </a:p>
          <a:p>
            <a:pPr lvl="1" eaLnBrk="1" hangingPunct="1">
              <a:lnSpc>
                <a:spcPct val="110000"/>
              </a:lnSpc>
              <a:spcBef>
                <a:spcPct val="30000"/>
              </a:spcBef>
            </a:pPr>
            <a:endParaRPr lang="en-US" sz="2400" smtClean="0"/>
          </a:p>
          <a:p>
            <a:pPr lvl="1" eaLnBrk="1" hangingPunct="1">
              <a:lnSpc>
                <a:spcPct val="110000"/>
              </a:lnSpc>
              <a:spcBef>
                <a:spcPct val="30000"/>
              </a:spcBef>
            </a:pPr>
            <a:endParaRPr lang="en-US" sz="2400" smtClean="0"/>
          </a:p>
          <a:p>
            <a:pPr eaLnBrk="1" hangingPunct="1">
              <a:lnSpc>
                <a:spcPct val="110000"/>
              </a:lnSpc>
              <a:spcBef>
                <a:spcPct val="30000"/>
              </a:spcBef>
            </a:pPr>
            <a:r>
              <a:rPr lang="en-US" sz="2800" smtClean="0"/>
              <a:t>The encoding information that would be gained by branching on </a:t>
            </a:r>
            <a:r>
              <a:rPr lang="en-US" sz="2800" i="1" smtClean="0"/>
              <a:t>A</a:t>
            </a:r>
          </a:p>
          <a:p>
            <a:pPr eaLnBrk="1" hangingPunct="1"/>
            <a:endParaRPr lang="en-US" sz="2800" smtClean="0"/>
          </a:p>
        </p:txBody>
      </p:sp>
      <p:graphicFrame>
        <p:nvGraphicFramePr>
          <p:cNvPr id="7170" name="Object 4"/>
          <p:cNvGraphicFramePr>
            <a:graphicFrameLocks noChangeAspect="1"/>
          </p:cNvGraphicFramePr>
          <p:nvPr/>
        </p:nvGraphicFramePr>
        <p:xfrm>
          <a:off x="3276600" y="4114800"/>
          <a:ext cx="3136900" cy="787400"/>
        </p:xfrm>
        <a:graphic>
          <a:graphicData uri="http://schemas.openxmlformats.org/presentationml/2006/ole">
            <p:oleObj spid="_x0000_s7170" name="Equation" r:id="rId3" imgW="3136680" imgH="787320" progId="Equation.3">
              <p:embed/>
            </p:oleObj>
          </a:graphicData>
        </a:graphic>
      </p:graphicFrame>
      <p:graphicFrame>
        <p:nvGraphicFramePr>
          <p:cNvPr id="7171" name="Object 5"/>
          <p:cNvGraphicFramePr>
            <a:graphicFrameLocks noChangeAspect="1"/>
          </p:cNvGraphicFramePr>
          <p:nvPr/>
        </p:nvGraphicFramePr>
        <p:xfrm>
          <a:off x="4419600" y="5791200"/>
          <a:ext cx="3098800" cy="342900"/>
        </p:xfrm>
        <a:graphic>
          <a:graphicData uri="http://schemas.openxmlformats.org/presentationml/2006/ole">
            <p:oleObj spid="_x0000_s7171" name="Equation" r:id="rId4" imgW="3098520" imgH="342720" progId="Equation.3">
              <p:embed/>
            </p:oleObj>
          </a:graphicData>
        </a:graphic>
      </p:graphicFrame>
    </p:spTree>
  </p:cSld>
  <p:clrMapOvr>
    <a:masterClrMapping/>
  </p:clrMapOvr>
  <p:transition>
    <p:checke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Slide Number Placeholder 6"/>
          <p:cNvSpPr>
            <a:spLocks noGrp="1"/>
          </p:cNvSpPr>
          <p:nvPr>
            <p:ph type="sldNum" sz="quarter" idx="12"/>
          </p:nvPr>
        </p:nvSpPr>
        <p:spPr>
          <a:noFill/>
        </p:spPr>
        <p:txBody>
          <a:bodyPr/>
          <a:lstStyle/>
          <a:p>
            <a:fld id="{D6BD2394-0B51-4CA7-9479-C049D638E2AC}" type="slidenum">
              <a:rPr lang="en-US" smtClean="0"/>
              <a:pPr/>
              <a:t>31</a:t>
            </a:fld>
            <a:endParaRPr lang="en-US" smtClean="0"/>
          </a:p>
        </p:txBody>
      </p:sp>
      <p:sp>
        <p:nvSpPr>
          <p:cNvPr id="8199" name="Rectangle 2"/>
          <p:cNvSpPr>
            <a:spLocks noGrp="1" noChangeArrowheads="1"/>
          </p:cNvSpPr>
          <p:nvPr>
            <p:ph type="title"/>
          </p:nvPr>
        </p:nvSpPr>
        <p:spPr>
          <a:xfrm>
            <a:off x="457200" y="381000"/>
            <a:ext cx="7924800" cy="1143000"/>
          </a:xfrm>
        </p:spPr>
        <p:txBody>
          <a:bodyPr/>
          <a:lstStyle/>
          <a:p>
            <a:pPr eaLnBrk="1" hangingPunct="1"/>
            <a:r>
              <a:rPr lang="en-US" smtClean="0"/>
              <a:t>Attribute Selection by Information Gain Computation</a:t>
            </a:r>
          </a:p>
        </p:txBody>
      </p:sp>
      <p:sp>
        <p:nvSpPr>
          <p:cNvPr id="8200" name="Rectangle 3"/>
          <p:cNvSpPr>
            <a:spLocks noGrp="1" noChangeArrowheads="1"/>
          </p:cNvSpPr>
          <p:nvPr>
            <p:ph type="body" sz="half" idx="1"/>
          </p:nvPr>
        </p:nvSpPr>
        <p:spPr>
          <a:xfrm>
            <a:off x="533400" y="1676400"/>
            <a:ext cx="3810000" cy="3276600"/>
          </a:xfrm>
        </p:spPr>
        <p:txBody>
          <a:bodyPr/>
          <a:lstStyle/>
          <a:p>
            <a:pPr eaLnBrk="1" hangingPunct="1">
              <a:lnSpc>
                <a:spcPct val="110000"/>
              </a:lnSpc>
              <a:spcBef>
                <a:spcPct val="30000"/>
              </a:spcBef>
              <a:buSzPct val="80000"/>
              <a:buFont typeface="Marlett" pitchFamily="2" charset="2"/>
              <a:buChar char="g"/>
            </a:pPr>
            <a:r>
              <a:rPr lang="en-US" sz="2400" smtClean="0">
                <a:solidFill>
                  <a:srgbClr val="121328"/>
                </a:solidFill>
              </a:rPr>
              <a:t>Class P: buys_computer = “yes”</a:t>
            </a:r>
          </a:p>
          <a:p>
            <a:pPr eaLnBrk="1" hangingPunct="1">
              <a:lnSpc>
                <a:spcPct val="110000"/>
              </a:lnSpc>
              <a:spcBef>
                <a:spcPct val="30000"/>
              </a:spcBef>
              <a:buSzPct val="80000"/>
              <a:buFont typeface="Marlett" pitchFamily="2" charset="2"/>
              <a:buChar char="g"/>
            </a:pPr>
            <a:r>
              <a:rPr lang="en-US" sz="2400" smtClean="0">
                <a:solidFill>
                  <a:srgbClr val="121328"/>
                </a:solidFill>
              </a:rPr>
              <a:t>Class N: buys_computer = “no”</a:t>
            </a:r>
          </a:p>
          <a:p>
            <a:pPr eaLnBrk="1" hangingPunct="1">
              <a:lnSpc>
                <a:spcPct val="110000"/>
              </a:lnSpc>
              <a:spcBef>
                <a:spcPct val="30000"/>
              </a:spcBef>
              <a:buSzPct val="80000"/>
              <a:buFont typeface="Marlett" pitchFamily="2" charset="2"/>
              <a:buChar char="g"/>
            </a:pPr>
            <a:r>
              <a:rPr lang="en-US" sz="2400" smtClean="0">
                <a:solidFill>
                  <a:srgbClr val="121328"/>
                </a:solidFill>
              </a:rPr>
              <a:t>I(p, n) = I(9, 5) =0.940</a:t>
            </a:r>
          </a:p>
          <a:p>
            <a:pPr eaLnBrk="1" hangingPunct="1">
              <a:lnSpc>
                <a:spcPct val="110000"/>
              </a:lnSpc>
              <a:spcBef>
                <a:spcPct val="30000"/>
              </a:spcBef>
              <a:buSzPct val="80000"/>
              <a:buFont typeface="Marlett" pitchFamily="2" charset="2"/>
              <a:buChar char="g"/>
            </a:pPr>
            <a:r>
              <a:rPr lang="en-US" sz="2400" smtClean="0">
                <a:solidFill>
                  <a:srgbClr val="121328"/>
                </a:solidFill>
              </a:rPr>
              <a:t>Compute the entropy for </a:t>
            </a:r>
            <a:r>
              <a:rPr lang="en-US" sz="2400" i="1" smtClean="0">
                <a:solidFill>
                  <a:srgbClr val="121328"/>
                </a:solidFill>
              </a:rPr>
              <a:t>age</a:t>
            </a:r>
            <a:r>
              <a:rPr lang="en-US" sz="2400" smtClean="0">
                <a:solidFill>
                  <a:srgbClr val="121328"/>
                </a:solidFill>
              </a:rPr>
              <a:t>:</a:t>
            </a:r>
            <a:endParaRPr lang="en-US" smtClean="0"/>
          </a:p>
        </p:txBody>
      </p:sp>
      <p:sp>
        <p:nvSpPr>
          <p:cNvPr id="8201" name="Rectangle 4"/>
          <p:cNvSpPr>
            <a:spLocks noGrp="1" noChangeArrowheads="1"/>
          </p:cNvSpPr>
          <p:nvPr>
            <p:ph type="body" sz="half" idx="2"/>
          </p:nvPr>
        </p:nvSpPr>
        <p:spPr>
          <a:xfrm>
            <a:off x="4797425" y="1600200"/>
            <a:ext cx="3965575" cy="4876800"/>
          </a:xfrm>
        </p:spPr>
        <p:txBody>
          <a:bodyPr/>
          <a:lstStyle/>
          <a:p>
            <a:pPr eaLnBrk="1" hangingPunct="1"/>
            <a:endParaRPr lang="en-US" sz="2400" smtClean="0"/>
          </a:p>
          <a:p>
            <a:pPr eaLnBrk="1" hangingPunct="1"/>
            <a:endParaRPr lang="en-US" sz="2400" smtClean="0"/>
          </a:p>
          <a:p>
            <a:pPr eaLnBrk="1" hangingPunct="1"/>
            <a:endParaRPr lang="en-US" sz="2400" smtClean="0"/>
          </a:p>
          <a:p>
            <a:pPr eaLnBrk="1" hangingPunct="1">
              <a:buFontTx/>
              <a:buNone/>
            </a:pPr>
            <a:endParaRPr lang="en-US" sz="2400" smtClean="0"/>
          </a:p>
          <a:p>
            <a:pPr eaLnBrk="1" hangingPunct="1">
              <a:buClr>
                <a:schemeClr val="accent1"/>
              </a:buClr>
              <a:buFont typeface="Wingdings 2" pitchFamily="18" charset="2"/>
              <a:buNone/>
            </a:pPr>
            <a:r>
              <a:rPr lang="en-US" sz="2400" smtClean="0">
                <a:solidFill>
                  <a:srgbClr val="121328"/>
                </a:solidFill>
              </a:rPr>
              <a:t>Hence</a:t>
            </a:r>
          </a:p>
          <a:p>
            <a:pPr eaLnBrk="1" hangingPunct="1">
              <a:buClr>
                <a:schemeClr val="accent1"/>
              </a:buClr>
              <a:buFont typeface="Wingdings 2" pitchFamily="18" charset="2"/>
              <a:buNone/>
            </a:pPr>
            <a:endParaRPr lang="en-US" sz="2400" smtClean="0"/>
          </a:p>
          <a:p>
            <a:pPr eaLnBrk="1" hangingPunct="1">
              <a:buClr>
                <a:schemeClr val="accent1"/>
              </a:buClr>
              <a:buFont typeface="Wingdings 2" pitchFamily="18" charset="2"/>
              <a:buNone/>
            </a:pPr>
            <a:endParaRPr lang="en-US" sz="2400" smtClean="0"/>
          </a:p>
          <a:p>
            <a:pPr eaLnBrk="1" hangingPunct="1">
              <a:buClr>
                <a:schemeClr val="accent1"/>
              </a:buClr>
              <a:buFont typeface="Wingdings 2" pitchFamily="18" charset="2"/>
              <a:buNone/>
            </a:pPr>
            <a:r>
              <a:rPr lang="en-US" sz="2400" smtClean="0">
                <a:solidFill>
                  <a:srgbClr val="121328"/>
                </a:solidFill>
              </a:rPr>
              <a:t>Similarly</a:t>
            </a:r>
          </a:p>
        </p:txBody>
      </p:sp>
      <p:graphicFrame>
        <p:nvGraphicFramePr>
          <p:cNvPr id="8194" name="Object 5"/>
          <p:cNvGraphicFramePr>
            <a:graphicFrameLocks noChangeAspect="1"/>
          </p:cNvGraphicFramePr>
          <p:nvPr/>
        </p:nvGraphicFramePr>
        <p:xfrm>
          <a:off x="836613" y="5029200"/>
          <a:ext cx="3354387" cy="1439863"/>
        </p:xfrm>
        <a:graphic>
          <a:graphicData uri="http://schemas.openxmlformats.org/presentationml/2006/ole">
            <p:oleObj spid="_x0000_s8194" name="Worksheet" r:id="rId3" imgW="3353071" imgH="1438536" progId="Excel.Sheet.8">
              <p:embed/>
            </p:oleObj>
          </a:graphicData>
        </a:graphic>
      </p:graphicFrame>
      <p:graphicFrame>
        <p:nvGraphicFramePr>
          <p:cNvPr id="8195" name="Object 6"/>
          <p:cNvGraphicFramePr>
            <a:graphicFrameLocks noChangeAspect="1"/>
          </p:cNvGraphicFramePr>
          <p:nvPr/>
        </p:nvGraphicFramePr>
        <p:xfrm>
          <a:off x="4572000" y="1676400"/>
          <a:ext cx="4038600" cy="1295400"/>
        </p:xfrm>
        <a:graphic>
          <a:graphicData uri="http://schemas.openxmlformats.org/presentationml/2006/ole">
            <p:oleObj spid="_x0000_s8195" name="Equation" r:id="rId4" imgW="1866600" imgH="812520" progId="Equation.3">
              <p:embed/>
            </p:oleObj>
          </a:graphicData>
        </a:graphic>
      </p:graphicFrame>
      <p:graphicFrame>
        <p:nvGraphicFramePr>
          <p:cNvPr id="8196" name="Object 7"/>
          <p:cNvGraphicFramePr>
            <a:graphicFrameLocks noChangeAspect="1"/>
          </p:cNvGraphicFramePr>
          <p:nvPr/>
        </p:nvGraphicFramePr>
        <p:xfrm>
          <a:off x="4953000" y="5105400"/>
          <a:ext cx="3594100" cy="1193800"/>
        </p:xfrm>
        <a:graphic>
          <a:graphicData uri="http://schemas.openxmlformats.org/presentationml/2006/ole">
            <p:oleObj spid="_x0000_s8196" name="Equation" r:id="rId5" imgW="3593880" imgH="1193760" progId="Equation.3">
              <p:embed/>
            </p:oleObj>
          </a:graphicData>
        </a:graphic>
      </p:graphicFrame>
      <p:graphicFrame>
        <p:nvGraphicFramePr>
          <p:cNvPr id="8197" name="Object 8"/>
          <p:cNvGraphicFramePr>
            <a:graphicFrameLocks noChangeAspect="1"/>
          </p:cNvGraphicFramePr>
          <p:nvPr/>
        </p:nvGraphicFramePr>
        <p:xfrm>
          <a:off x="4800600" y="3879850"/>
          <a:ext cx="4038600" cy="387350"/>
        </p:xfrm>
        <a:graphic>
          <a:graphicData uri="http://schemas.openxmlformats.org/presentationml/2006/ole">
            <p:oleObj spid="_x0000_s8197" name="Equation" r:id="rId6" imgW="3581280" imgH="342720" progId="Equation.3">
              <p:embed/>
            </p:oleObj>
          </a:graphicData>
        </a:graphic>
      </p:graphicFrame>
    </p:spTree>
  </p:cSld>
  <p:clrMapOvr>
    <a:masterClrMapping/>
  </p:clrMapOvr>
  <p:transition>
    <p:checke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Slide Number Placeholder 6"/>
          <p:cNvSpPr>
            <a:spLocks noGrp="1"/>
          </p:cNvSpPr>
          <p:nvPr>
            <p:ph type="sldNum" sz="quarter" idx="12"/>
          </p:nvPr>
        </p:nvSpPr>
        <p:spPr>
          <a:noFill/>
        </p:spPr>
        <p:txBody>
          <a:bodyPr/>
          <a:lstStyle/>
          <a:p>
            <a:fld id="{54EF78D5-23BB-42AA-AB29-179C49A5656F}" type="slidenum">
              <a:rPr lang="en-US" smtClean="0"/>
              <a:pPr/>
              <a:t>32</a:t>
            </a:fld>
            <a:endParaRPr lang="en-US" smtClean="0"/>
          </a:p>
        </p:txBody>
      </p:sp>
      <p:sp>
        <p:nvSpPr>
          <p:cNvPr id="9220" name="Rectangle 4"/>
          <p:cNvSpPr>
            <a:spLocks noGrp="1" noChangeArrowheads="1"/>
          </p:cNvSpPr>
          <p:nvPr>
            <p:ph type="body" sz="half" idx="1"/>
          </p:nvPr>
        </p:nvSpPr>
        <p:spPr>
          <a:xfrm>
            <a:off x="381000" y="457200"/>
            <a:ext cx="8534400" cy="5638800"/>
          </a:xfrm>
          <a:noFill/>
        </p:spPr>
        <p:txBody>
          <a:bodyPr/>
          <a:lstStyle/>
          <a:p>
            <a:pPr eaLnBrk="1" hangingPunct="1">
              <a:lnSpc>
                <a:spcPct val="90000"/>
              </a:lnSpc>
              <a:buFontTx/>
              <a:buNone/>
            </a:pPr>
            <a:r>
              <a:rPr lang="en-US" sz="2400" smtClean="0"/>
              <a:t>To compute the information gain of each attribute</a:t>
            </a:r>
          </a:p>
          <a:p>
            <a:pPr eaLnBrk="1" hangingPunct="1">
              <a:lnSpc>
                <a:spcPct val="90000"/>
              </a:lnSpc>
              <a:buFontTx/>
              <a:buNone/>
            </a:pPr>
            <a:r>
              <a:rPr lang="en-US" sz="2400" smtClean="0"/>
              <a:t>I (S1,S2) = I(9,5)</a:t>
            </a:r>
          </a:p>
          <a:p>
            <a:pPr eaLnBrk="1" hangingPunct="1">
              <a:lnSpc>
                <a:spcPct val="90000"/>
              </a:lnSpc>
              <a:buFontTx/>
              <a:buNone/>
            </a:pPr>
            <a:endParaRPr lang="en-US" sz="2400" smtClean="0"/>
          </a:p>
          <a:p>
            <a:pPr eaLnBrk="1" hangingPunct="1">
              <a:lnSpc>
                <a:spcPct val="90000"/>
              </a:lnSpc>
              <a:buFontTx/>
              <a:buNone/>
            </a:pPr>
            <a:endParaRPr lang="en-US" sz="2400" smtClean="0"/>
          </a:p>
          <a:p>
            <a:pPr eaLnBrk="1" hangingPunct="1">
              <a:lnSpc>
                <a:spcPct val="90000"/>
              </a:lnSpc>
              <a:buFontTx/>
              <a:buNone/>
            </a:pPr>
            <a:endParaRPr lang="en-US" sz="2400" smtClean="0"/>
          </a:p>
          <a:p>
            <a:pPr eaLnBrk="1" hangingPunct="1">
              <a:lnSpc>
                <a:spcPct val="90000"/>
              </a:lnSpc>
              <a:buFontTx/>
              <a:buNone/>
            </a:pPr>
            <a:endParaRPr lang="en-US" sz="2400" smtClean="0"/>
          </a:p>
          <a:p>
            <a:pPr eaLnBrk="1" hangingPunct="1">
              <a:lnSpc>
                <a:spcPct val="90000"/>
              </a:lnSpc>
              <a:buFontTx/>
              <a:buNone/>
            </a:pPr>
            <a:r>
              <a:rPr lang="en-US" sz="2400" smtClean="0"/>
              <a:t>= -9/14 log 9/14 – 5/14 log 5/14</a:t>
            </a:r>
          </a:p>
          <a:p>
            <a:pPr eaLnBrk="1" hangingPunct="1">
              <a:lnSpc>
                <a:spcPct val="90000"/>
              </a:lnSpc>
              <a:buFontTx/>
              <a:buNone/>
            </a:pPr>
            <a:r>
              <a:rPr lang="en-US" sz="2400" smtClean="0"/>
              <a:t>=      -9/14  	log</a:t>
            </a:r>
            <a:r>
              <a:rPr lang="en-US" sz="2400" baseline="-25000" smtClean="0"/>
              <a:t>10 </a:t>
            </a:r>
            <a:r>
              <a:rPr lang="en-US" sz="2400" smtClean="0"/>
              <a:t>(9/14)  - 5/14  	log</a:t>
            </a:r>
            <a:r>
              <a:rPr lang="en-US" sz="2400" baseline="-25000" smtClean="0"/>
              <a:t>10 </a:t>
            </a:r>
            <a:r>
              <a:rPr lang="en-US" sz="2400" smtClean="0"/>
              <a:t>(5/14)  - </a:t>
            </a:r>
          </a:p>
          <a:p>
            <a:pPr eaLnBrk="1" hangingPunct="1">
              <a:lnSpc>
                <a:spcPct val="90000"/>
              </a:lnSpc>
              <a:buFontTx/>
              <a:buNone/>
            </a:pPr>
            <a:r>
              <a:rPr lang="en-US" sz="2400" smtClean="0"/>
              <a:t>			log</a:t>
            </a:r>
            <a:r>
              <a:rPr lang="en-US" sz="2400" baseline="-25000" smtClean="0"/>
              <a:t>2 </a:t>
            </a:r>
            <a:r>
              <a:rPr lang="en-US" sz="2400" smtClean="0"/>
              <a:t>(2) 		log</a:t>
            </a:r>
            <a:r>
              <a:rPr lang="en-US" sz="2400" baseline="-25000" smtClean="0"/>
              <a:t>2 </a:t>
            </a:r>
            <a:r>
              <a:rPr lang="en-US" sz="2400" smtClean="0"/>
              <a:t>(2) </a:t>
            </a:r>
          </a:p>
          <a:p>
            <a:pPr eaLnBrk="1" hangingPunct="1">
              <a:lnSpc>
                <a:spcPct val="90000"/>
              </a:lnSpc>
              <a:buFontTx/>
              <a:buNone/>
            </a:pPr>
            <a:endParaRPr lang="en-US" sz="2400" smtClean="0"/>
          </a:p>
          <a:p>
            <a:pPr eaLnBrk="1" hangingPunct="1">
              <a:lnSpc>
                <a:spcPct val="90000"/>
              </a:lnSpc>
              <a:buFontTx/>
              <a:buNone/>
            </a:pPr>
            <a:r>
              <a:rPr lang="en-US" sz="2400" smtClean="0"/>
              <a:t>= .6428 * .6374 + .3571 * 1.4854</a:t>
            </a:r>
          </a:p>
          <a:p>
            <a:pPr eaLnBrk="1" hangingPunct="1">
              <a:lnSpc>
                <a:spcPct val="90000"/>
              </a:lnSpc>
              <a:buFontTx/>
              <a:buNone/>
            </a:pPr>
            <a:r>
              <a:rPr lang="en-US" sz="2400" smtClean="0"/>
              <a:t>= 0.4097 + 0.5304</a:t>
            </a:r>
          </a:p>
          <a:p>
            <a:pPr eaLnBrk="1" hangingPunct="1">
              <a:lnSpc>
                <a:spcPct val="90000"/>
              </a:lnSpc>
              <a:buFontTx/>
              <a:buNone/>
            </a:pPr>
            <a:r>
              <a:rPr lang="en-US" sz="2400" smtClean="0"/>
              <a:t>= 0.9401</a:t>
            </a:r>
          </a:p>
          <a:p>
            <a:pPr eaLnBrk="1" hangingPunct="1">
              <a:lnSpc>
                <a:spcPct val="90000"/>
              </a:lnSpc>
              <a:buFontTx/>
              <a:buNone/>
            </a:pPr>
            <a:endParaRPr lang="en-US" sz="2400" smtClean="0"/>
          </a:p>
        </p:txBody>
      </p:sp>
      <p:sp>
        <p:nvSpPr>
          <p:cNvPr id="9221" name="Line 5"/>
          <p:cNvSpPr>
            <a:spLocks noChangeShapeType="1"/>
          </p:cNvSpPr>
          <p:nvPr/>
        </p:nvSpPr>
        <p:spPr bwMode="auto">
          <a:xfrm>
            <a:off x="2362200" y="3657600"/>
            <a:ext cx="1676400" cy="0"/>
          </a:xfrm>
          <a:prstGeom prst="line">
            <a:avLst/>
          </a:prstGeom>
          <a:noFill/>
          <a:ln w="9525">
            <a:solidFill>
              <a:schemeClr val="tx1"/>
            </a:solidFill>
            <a:miter lim="800000"/>
            <a:headEnd/>
            <a:tailEnd/>
          </a:ln>
        </p:spPr>
        <p:txBody>
          <a:bodyPr wrap="none"/>
          <a:lstStyle/>
          <a:p>
            <a:endParaRPr lang="en-US"/>
          </a:p>
        </p:txBody>
      </p:sp>
      <p:sp>
        <p:nvSpPr>
          <p:cNvPr id="9222" name="Line 6"/>
          <p:cNvSpPr>
            <a:spLocks noChangeShapeType="1"/>
          </p:cNvSpPr>
          <p:nvPr/>
        </p:nvSpPr>
        <p:spPr bwMode="auto">
          <a:xfrm>
            <a:off x="4953000" y="3657600"/>
            <a:ext cx="1676400" cy="0"/>
          </a:xfrm>
          <a:prstGeom prst="line">
            <a:avLst/>
          </a:prstGeom>
          <a:noFill/>
          <a:ln w="9525">
            <a:solidFill>
              <a:schemeClr val="tx1"/>
            </a:solidFill>
            <a:miter lim="800000"/>
            <a:headEnd/>
            <a:tailEnd/>
          </a:ln>
        </p:spPr>
        <p:txBody>
          <a:bodyPr wrap="none"/>
          <a:lstStyle/>
          <a:p>
            <a:endParaRPr lang="en-US"/>
          </a:p>
        </p:txBody>
      </p:sp>
      <p:graphicFrame>
        <p:nvGraphicFramePr>
          <p:cNvPr id="9218" name="Object 13"/>
          <p:cNvGraphicFramePr>
            <a:graphicFrameLocks noChangeAspect="1"/>
          </p:cNvGraphicFramePr>
          <p:nvPr>
            <p:ph sz="half" idx="2"/>
          </p:nvPr>
        </p:nvGraphicFramePr>
        <p:xfrm>
          <a:off x="457200" y="1219200"/>
          <a:ext cx="7086600" cy="647700"/>
        </p:xfrm>
        <a:graphic>
          <a:graphicData uri="http://schemas.openxmlformats.org/presentationml/2006/ole">
            <p:oleObj spid="_x0000_s9218" name="Equation" r:id="rId3" imgW="2806560" imgH="419040" progId="Equation.3">
              <p:embed/>
            </p:oleObj>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2"/>
          </p:nvPr>
        </p:nvSpPr>
        <p:spPr>
          <a:noFill/>
        </p:spPr>
        <p:txBody>
          <a:bodyPr/>
          <a:lstStyle/>
          <a:p>
            <a:fld id="{E81F0A26-E81B-4E3B-B6C9-448CEED7FE57}" type="slidenum">
              <a:rPr lang="en-US" smtClean="0"/>
              <a:pPr/>
              <a:t>33</a:t>
            </a:fld>
            <a:endParaRPr lang="en-US" smtClean="0"/>
          </a:p>
        </p:txBody>
      </p:sp>
      <p:sp>
        <p:nvSpPr>
          <p:cNvPr id="38915" name="Rectangle 2"/>
          <p:cNvSpPr>
            <a:spLocks noGrp="1" noChangeArrowheads="1"/>
          </p:cNvSpPr>
          <p:nvPr>
            <p:ph type="title"/>
          </p:nvPr>
        </p:nvSpPr>
        <p:spPr>
          <a:xfrm>
            <a:off x="381000" y="762000"/>
            <a:ext cx="8326438" cy="609600"/>
          </a:xfrm>
          <a:noFill/>
        </p:spPr>
        <p:txBody>
          <a:bodyPr lIns="92075" tIns="46038" rIns="92075" bIns="46038" anchor="b"/>
          <a:lstStyle/>
          <a:p>
            <a:pPr eaLnBrk="1" hangingPunct="1"/>
            <a:r>
              <a:rPr lang="en-US" sz="3200" b="1" smtClean="0">
                <a:solidFill>
                  <a:schemeClr val="tx1"/>
                </a:solidFill>
              </a:rPr>
              <a:t>Output: A Decision Tree for “</a:t>
            </a:r>
            <a:r>
              <a:rPr lang="en-US" sz="3200" b="1" i="1" smtClean="0">
                <a:solidFill>
                  <a:schemeClr val="tx1"/>
                </a:solidFill>
              </a:rPr>
              <a:t>buys_computer”</a:t>
            </a:r>
          </a:p>
        </p:txBody>
      </p:sp>
      <p:sp>
        <p:nvSpPr>
          <p:cNvPr id="38916" name="Rectangle 3"/>
          <p:cNvSpPr>
            <a:spLocks noChangeArrowheads="1"/>
          </p:cNvSpPr>
          <p:nvPr/>
        </p:nvSpPr>
        <p:spPr bwMode="auto">
          <a:xfrm>
            <a:off x="3527425" y="1901825"/>
            <a:ext cx="754063" cy="469900"/>
          </a:xfrm>
          <a:prstGeom prst="rect">
            <a:avLst/>
          </a:prstGeom>
          <a:solidFill>
            <a:srgbClr val="00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age?</a:t>
            </a:r>
          </a:p>
        </p:txBody>
      </p:sp>
      <p:sp>
        <p:nvSpPr>
          <p:cNvPr id="38917" name="Rectangle 4"/>
          <p:cNvSpPr>
            <a:spLocks noChangeArrowheads="1"/>
          </p:cNvSpPr>
          <p:nvPr/>
        </p:nvSpPr>
        <p:spPr bwMode="auto">
          <a:xfrm>
            <a:off x="3302000" y="2876550"/>
            <a:ext cx="1198563"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overcast</a:t>
            </a:r>
          </a:p>
        </p:txBody>
      </p:sp>
      <p:sp>
        <p:nvSpPr>
          <p:cNvPr id="38918" name="Rectangle 5"/>
          <p:cNvSpPr>
            <a:spLocks noChangeArrowheads="1"/>
          </p:cNvSpPr>
          <p:nvPr/>
        </p:nvSpPr>
        <p:spPr bwMode="auto">
          <a:xfrm>
            <a:off x="1689100" y="3790950"/>
            <a:ext cx="1211263" cy="469900"/>
          </a:xfrm>
          <a:prstGeom prst="rect">
            <a:avLst/>
          </a:prstGeom>
          <a:solidFill>
            <a:srgbClr val="00FFCC"/>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student?</a:t>
            </a:r>
          </a:p>
        </p:txBody>
      </p:sp>
      <p:sp>
        <p:nvSpPr>
          <p:cNvPr id="38919" name="Rectangle 6"/>
          <p:cNvSpPr>
            <a:spLocks noChangeArrowheads="1"/>
          </p:cNvSpPr>
          <p:nvPr/>
        </p:nvSpPr>
        <p:spPr bwMode="auto">
          <a:xfrm>
            <a:off x="5186363" y="3790950"/>
            <a:ext cx="1809750" cy="469900"/>
          </a:xfrm>
          <a:prstGeom prst="rect">
            <a:avLst/>
          </a:prstGeom>
          <a:solidFill>
            <a:srgbClr val="99CCFF"/>
          </a:solidFill>
          <a:ln w="12700">
            <a:solidFill>
              <a:schemeClr val="tx1"/>
            </a:solidFill>
            <a:miter lim="800000"/>
            <a:headEnd/>
            <a:tailEnd/>
          </a:ln>
        </p:spPr>
        <p:txBody>
          <a:bodyPr wrap="none" lIns="92075" tIns="46038" rIns="92075" bIns="46038">
            <a:spAutoFit/>
          </a:bodyPr>
          <a:lstStyle/>
          <a:p>
            <a:pPr algn="ctr" eaLnBrk="0" hangingPunct="0"/>
            <a:r>
              <a:rPr lang="en-US" sz="2400">
                <a:latin typeface="Times New Roman" pitchFamily="18" charset="0"/>
              </a:rPr>
              <a:t>credit rating?</a:t>
            </a:r>
          </a:p>
        </p:txBody>
      </p:sp>
      <p:sp>
        <p:nvSpPr>
          <p:cNvPr id="38920" name="Rectangle 7"/>
          <p:cNvSpPr>
            <a:spLocks noChangeArrowheads="1"/>
          </p:cNvSpPr>
          <p:nvPr/>
        </p:nvSpPr>
        <p:spPr bwMode="auto">
          <a:xfrm>
            <a:off x="1187450" y="4757738"/>
            <a:ext cx="488950"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38921" name="Rectangle 8"/>
          <p:cNvSpPr>
            <a:spLocks noChangeArrowheads="1"/>
          </p:cNvSpPr>
          <p:nvPr/>
        </p:nvSpPr>
        <p:spPr bwMode="auto">
          <a:xfrm>
            <a:off x="2751138" y="4757738"/>
            <a:ext cx="590550"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8922" name="Rectangle 9"/>
          <p:cNvSpPr>
            <a:spLocks noChangeArrowheads="1"/>
          </p:cNvSpPr>
          <p:nvPr/>
        </p:nvSpPr>
        <p:spPr bwMode="auto">
          <a:xfrm>
            <a:off x="6513513" y="4772025"/>
            <a:ext cx="606425"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fair</a:t>
            </a:r>
          </a:p>
        </p:txBody>
      </p:sp>
      <p:sp>
        <p:nvSpPr>
          <p:cNvPr id="38923" name="Rectangle 10"/>
          <p:cNvSpPr>
            <a:spLocks noChangeArrowheads="1"/>
          </p:cNvSpPr>
          <p:nvPr/>
        </p:nvSpPr>
        <p:spPr bwMode="auto">
          <a:xfrm>
            <a:off x="4879975" y="4786313"/>
            <a:ext cx="1281113"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excellent</a:t>
            </a:r>
          </a:p>
        </p:txBody>
      </p:sp>
      <p:sp>
        <p:nvSpPr>
          <p:cNvPr id="38924" name="Line 11"/>
          <p:cNvSpPr>
            <a:spLocks noChangeShapeType="1"/>
          </p:cNvSpPr>
          <p:nvPr/>
        </p:nvSpPr>
        <p:spPr bwMode="auto">
          <a:xfrm flipH="1">
            <a:off x="2308225" y="2393950"/>
            <a:ext cx="992188" cy="1323975"/>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25" name="Line 12"/>
          <p:cNvSpPr>
            <a:spLocks noChangeShapeType="1"/>
          </p:cNvSpPr>
          <p:nvPr/>
        </p:nvSpPr>
        <p:spPr bwMode="auto">
          <a:xfrm flipH="1">
            <a:off x="3900488" y="2439988"/>
            <a:ext cx="1587" cy="546100"/>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26" name="Line 13"/>
          <p:cNvSpPr>
            <a:spLocks noChangeShapeType="1"/>
          </p:cNvSpPr>
          <p:nvPr/>
        </p:nvSpPr>
        <p:spPr bwMode="auto">
          <a:xfrm>
            <a:off x="4565650" y="2470150"/>
            <a:ext cx="1489075" cy="130968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27" name="Rectangle 14"/>
          <p:cNvSpPr>
            <a:spLocks noChangeArrowheads="1"/>
          </p:cNvSpPr>
          <p:nvPr/>
        </p:nvSpPr>
        <p:spPr bwMode="auto">
          <a:xfrm>
            <a:off x="2139950" y="2819400"/>
            <a:ext cx="847725" cy="469900"/>
          </a:xfrm>
          <a:prstGeom prst="rect">
            <a:avLst/>
          </a:prstGeom>
          <a:solidFill>
            <a:srgbClr val="FFFF00"/>
          </a:solidFill>
          <a:ln w="12700">
            <a:solidFill>
              <a:schemeClr val="bg1"/>
            </a:solidFill>
            <a:miter lim="800000"/>
            <a:headEnd/>
            <a:tailEnd/>
          </a:ln>
        </p:spPr>
        <p:txBody>
          <a:bodyPr wrap="none" lIns="92075" tIns="46038" rIns="92075" bIns="46038">
            <a:spAutoFit/>
          </a:bodyPr>
          <a:lstStyle/>
          <a:p>
            <a:pPr algn="ctr" eaLnBrk="0" hangingPunct="0"/>
            <a:r>
              <a:rPr lang="en-US" sz="2400" b="1">
                <a:latin typeface="Times New Roman" pitchFamily="18" charset="0"/>
              </a:rPr>
              <a:t>&lt;=30</a:t>
            </a:r>
            <a:endParaRPr lang="en-US" sz="2400">
              <a:latin typeface="Times New Roman" pitchFamily="18" charset="0"/>
            </a:endParaRPr>
          </a:p>
        </p:txBody>
      </p:sp>
      <p:sp>
        <p:nvSpPr>
          <p:cNvPr id="38928" name="Rectangle 15"/>
          <p:cNvSpPr>
            <a:spLocks noChangeArrowheads="1"/>
          </p:cNvSpPr>
          <p:nvPr/>
        </p:nvSpPr>
        <p:spPr bwMode="auto">
          <a:xfrm>
            <a:off x="5078413" y="2936875"/>
            <a:ext cx="661987" cy="457200"/>
          </a:xfrm>
          <a:prstGeom prst="rect">
            <a:avLst/>
          </a:prstGeom>
          <a:solidFill>
            <a:srgbClr val="FFFF00"/>
          </a:solid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&gt;40</a:t>
            </a:r>
            <a:endParaRPr lang="en-US" sz="2400">
              <a:latin typeface="Times New Roman" pitchFamily="18" charset="0"/>
            </a:endParaRPr>
          </a:p>
        </p:txBody>
      </p:sp>
      <p:sp>
        <p:nvSpPr>
          <p:cNvPr id="38929" name="Line 16"/>
          <p:cNvSpPr>
            <a:spLocks noChangeShapeType="1"/>
          </p:cNvSpPr>
          <p:nvPr/>
        </p:nvSpPr>
        <p:spPr bwMode="auto">
          <a:xfrm flipH="1">
            <a:off x="1479550" y="4344988"/>
            <a:ext cx="493713" cy="51593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0" name="Line 17"/>
          <p:cNvSpPr>
            <a:spLocks noChangeShapeType="1"/>
          </p:cNvSpPr>
          <p:nvPr/>
        </p:nvSpPr>
        <p:spPr bwMode="auto">
          <a:xfrm>
            <a:off x="2608263" y="4391025"/>
            <a:ext cx="420687" cy="423863"/>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1" name="Line 18"/>
          <p:cNvSpPr>
            <a:spLocks noChangeShapeType="1"/>
          </p:cNvSpPr>
          <p:nvPr/>
        </p:nvSpPr>
        <p:spPr bwMode="auto">
          <a:xfrm flipH="1">
            <a:off x="5454650" y="4391025"/>
            <a:ext cx="344488" cy="455613"/>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2" name="Line 19"/>
          <p:cNvSpPr>
            <a:spLocks noChangeShapeType="1"/>
          </p:cNvSpPr>
          <p:nvPr/>
        </p:nvSpPr>
        <p:spPr bwMode="auto">
          <a:xfrm>
            <a:off x="6434138" y="4405313"/>
            <a:ext cx="328612" cy="39528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3" name="Line 20"/>
          <p:cNvSpPr>
            <a:spLocks noChangeShapeType="1"/>
          </p:cNvSpPr>
          <p:nvPr/>
        </p:nvSpPr>
        <p:spPr bwMode="auto">
          <a:xfrm>
            <a:off x="1430338" y="5229225"/>
            <a:ext cx="0" cy="439738"/>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4" name="Line 21"/>
          <p:cNvSpPr>
            <a:spLocks noChangeShapeType="1"/>
          </p:cNvSpPr>
          <p:nvPr/>
        </p:nvSpPr>
        <p:spPr bwMode="auto">
          <a:xfrm>
            <a:off x="6815138" y="5183188"/>
            <a:ext cx="0" cy="43973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5" name="Line 22"/>
          <p:cNvSpPr>
            <a:spLocks noChangeShapeType="1"/>
          </p:cNvSpPr>
          <p:nvPr/>
        </p:nvSpPr>
        <p:spPr bwMode="auto">
          <a:xfrm>
            <a:off x="5516563" y="5199063"/>
            <a:ext cx="0" cy="43973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6" name="Line 23"/>
          <p:cNvSpPr>
            <a:spLocks noChangeShapeType="1"/>
          </p:cNvSpPr>
          <p:nvPr/>
        </p:nvSpPr>
        <p:spPr bwMode="auto">
          <a:xfrm>
            <a:off x="3044825" y="5199063"/>
            <a:ext cx="0" cy="43973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7" name="Line 24"/>
          <p:cNvSpPr>
            <a:spLocks noChangeShapeType="1"/>
          </p:cNvSpPr>
          <p:nvPr/>
        </p:nvSpPr>
        <p:spPr bwMode="auto">
          <a:xfrm>
            <a:off x="3902075" y="3294063"/>
            <a:ext cx="0" cy="439737"/>
          </a:xfrm>
          <a:prstGeom prst="line">
            <a:avLst/>
          </a:prstGeom>
          <a:noFill/>
          <a:ln w="12700">
            <a:solidFill>
              <a:srgbClr val="000000"/>
            </a:solidFill>
            <a:round/>
            <a:headEnd type="none" w="sm" len="sm"/>
            <a:tailEnd type="none" w="sm" len="sm"/>
          </a:ln>
        </p:spPr>
        <p:txBody>
          <a:bodyPr wrap="none" anchor="ctr"/>
          <a:lstStyle/>
          <a:p>
            <a:endParaRPr lang="en-US"/>
          </a:p>
        </p:txBody>
      </p:sp>
      <p:sp>
        <p:nvSpPr>
          <p:cNvPr id="38938" name="Rectangle 25"/>
          <p:cNvSpPr>
            <a:spLocks noChangeArrowheads="1"/>
          </p:cNvSpPr>
          <p:nvPr/>
        </p:nvSpPr>
        <p:spPr bwMode="auto">
          <a:xfrm>
            <a:off x="1185863" y="5634038"/>
            <a:ext cx="488950" cy="457200"/>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38939" name="Rectangle 26"/>
          <p:cNvSpPr>
            <a:spLocks noChangeArrowheads="1"/>
          </p:cNvSpPr>
          <p:nvPr/>
        </p:nvSpPr>
        <p:spPr bwMode="auto">
          <a:xfrm>
            <a:off x="5270500" y="5634038"/>
            <a:ext cx="488950" cy="457200"/>
          </a:xfrm>
          <a:prstGeom prst="rect">
            <a:avLst/>
          </a:prstGeom>
          <a:solidFill>
            <a:srgbClr val="FFCC99"/>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no</a:t>
            </a:r>
          </a:p>
        </p:txBody>
      </p:sp>
      <p:sp>
        <p:nvSpPr>
          <p:cNvPr id="38940" name="Rectangle 27"/>
          <p:cNvSpPr>
            <a:spLocks noChangeArrowheads="1"/>
          </p:cNvSpPr>
          <p:nvPr/>
        </p:nvSpPr>
        <p:spPr bwMode="auto">
          <a:xfrm>
            <a:off x="2747963" y="5634038"/>
            <a:ext cx="590550" cy="457200"/>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8941" name="Rectangle 28"/>
          <p:cNvSpPr>
            <a:spLocks noChangeArrowheads="1"/>
          </p:cNvSpPr>
          <p:nvPr/>
        </p:nvSpPr>
        <p:spPr bwMode="auto">
          <a:xfrm>
            <a:off x="6519863" y="5634038"/>
            <a:ext cx="590550" cy="457200"/>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8942" name="Rectangle 29"/>
          <p:cNvSpPr>
            <a:spLocks noChangeArrowheads="1"/>
          </p:cNvSpPr>
          <p:nvPr/>
        </p:nvSpPr>
        <p:spPr bwMode="auto">
          <a:xfrm>
            <a:off x="3606800" y="3794125"/>
            <a:ext cx="590550" cy="457200"/>
          </a:xfrm>
          <a:prstGeom prst="rect">
            <a:avLst/>
          </a:prstGeom>
          <a:solidFill>
            <a:srgbClr val="00FF00"/>
          </a:solidFill>
          <a:ln w="9525">
            <a:noFill/>
            <a:miter lim="800000"/>
            <a:headEnd/>
            <a:tailEnd/>
          </a:ln>
        </p:spPr>
        <p:txBody>
          <a:bodyPr wrap="none" lIns="92075" tIns="46038" rIns="92075" bIns="46038">
            <a:spAutoFit/>
          </a:bodyPr>
          <a:lstStyle/>
          <a:p>
            <a:pPr algn="ctr" eaLnBrk="0" hangingPunct="0"/>
            <a:r>
              <a:rPr lang="en-US" sz="2400">
                <a:latin typeface="Times New Roman" pitchFamily="18" charset="0"/>
              </a:rPr>
              <a:t>yes</a:t>
            </a:r>
          </a:p>
        </p:txBody>
      </p:sp>
      <p:sp>
        <p:nvSpPr>
          <p:cNvPr id="38943" name="Rectangle 30"/>
          <p:cNvSpPr>
            <a:spLocks noChangeArrowheads="1"/>
          </p:cNvSpPr>
          <p:nvPr/>
        </p:nvSpPr>
        <p:spPr bwMode="auto">
          <a:xfrm>
            <a:off x="3352800" y="2971800"/>
            <a:ext cx="1066800" cy="304800"/>
          </a:xfrm>
          <a:prstGeom prst="rect">
            <a:avLst/>
          </a:prstGeom>
          <a:solidFill>
            <a:srgbClr val="FFFF00"/>
          </a:solidFill>
          <a:ln w="12700">
            <a:solidFill>
              <a:schemeClr val="tx1"/>
            </a:solidFill>
            <a:miter lim="800000"/>
            <a:headEnd type="none" w="sm" len="sm"/>
            <a:tailEnd type="none" w="sm" len="sm"/>
          </a:ln>
        </p:spPr>
        <p:txBody>
          <a:bodyPr wrap="none" anchor="ctr"/>
          <a:lstStyle/>
          <a:p>
            <a:pPr algn="ctr" eaLnBrk="0" hangingPunct="0"/>
            <a:r>
              <a:rPr lang="en-US" sz="2000" b="1">
                <a:latin typeface="Times New Roman" pitchFamily="18" charset="0"/>
              </a:rPr>
              <a:t>30..40</a:t>
            </a:r>
            <a:endParaRPr lang="en-US">
              <a:latin typeface="Times New Roman" pitchFamily="18" charset="0"/>
            </a:endParaRPr>
          </a:p>
        </p:txBody>
      </p:sp>
    </p:spTree>
  </p:cSld>
  <p:clrMapOvr>
    <a:masterClrMapping/>
  </p:clrMapOvr>
  <p:transition>
    <p:checke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p:cNvSpPr>
            <a:spLocks noGrp="1"/>
          </p:cNvSpPr>
          <p:nvPr>
            <p:ph type="sldNum" sz="quarter" idx="12"/>
          </p:nvPr>
        </p:nvSpPr>
        <p:spPr>
          <a:noFill/>
        </p:spPr>
        <p:txBody>
          <a:bodyPr/>
          <a:lstStyle/>
          <a:p>
            <a:fld id="{9F094B8E-49A7-4F58-AB40-F48B250476FE}" type="slidenum">
              <a:rPr lang="en-US" smtClean="0"/>
              <a:pPr/>
              <a:t>34</a:t>
            </a:fld>
            <a:endParaRPr lang="en-US" smtClean="0"/>
          </a:p>
        </p:txBody>
      </p:sp>
      <p:sp>
        <p:nvSpPr>
          <p:cNvPr id="39939" name="Rectangle 2"/>
          <p:cNvSpPr>
            <a:spLocks noGrp="1" noChangeArrowheads="1"/>
          </p:cNvSpPr>
          <p:nvPr>
            <p:ph type="title"/>
          </p:nvPr>
        </p:nvSpPr>
        <p:spPr>
          <a:xfrm>
            <a:off x="228600" y="76200"/>
            <a:ext cx="8610600" cy="762000"/>
          </a:xfrm>
        </p:spPr>
        <p:txBody>
          <a:bodyPr/>
          <a:lstStyle/>
          <a:p>
            <a:pPr eaLnBrk="1" hangingPunct="1"/>
            <a:r>
              <a:rPr lang="en-US" sz="3200" b="1" smtClean="0"/>
              <a:t>Extracting Classification Rules from Trees</a:t>
            </a:r>
          </a:p>
        </p:txBody>
      </p:sp>
      <p:sp>
        <p:nvSpPr>
          <p:cNvPr id="39940" name="Rectangle 3"/>
          <p:cNvSpPr>
            <a:spLocks noGrp="1" noChangeArrowheads="1"/>
          </p:cNvSpPr>
          <p:nvPr>
            <p:ph type="body" idx="1"/>
          </p:nvPr>
        </p:nvSpPr>
        <p:spPr>
          <a:xfrm>
            <a:off x="381000" y="838200"/>
            <a:ext cx="8610600" cy="5638800"/>
          </a:xfrm>
        </p:spPr>
        <p:txBody>
          <a:bodyPr/>
          <a:lstStyle/>
          <a:p>
            <a:pPr eaLnBrk="1" hangingPunct="1">
              <a:lnSpc>
                <a:spcPct val="90000"/>
              </a:lnSpc>
            </a:pPr>
            <a:r>
              <a:rPr lang="en-US" sz="2800" smtClean="0"/>
              <a:t>Represent the knowledge in the form of </a:t>
            </a:r>
            <a:r>
              <a:rPr lang="en-US" sz="2800" smtClean="0">
                <a:solidFill>
                  <a:schemeClr val="hlink"/>
                </a:solidFill>
              </a:rPr>
              <a:t>IF-THEN</a:t>
            </a:r>
            <a:r>
              <a:rPr lang="en-US" sz="2800" smtClean="0"/>
              <a:t> rules</a:t>
            </a:r>
          </a:p>
          <a:p>
            <a:pPr eaLnBrk="1" hangingPunct="1">
              <a:lnSpc>
                <a:spcPct val="90000"/>
              </a:lnSpc>
            </a:pPr>
            <a:r>
              <a:rPr lang="en-US" sz="2800" smtClean="0"/>
              <a:t>One rule is created for each path from the root to a leaf</a:t>
            </a:r>
          </a:p>
          <a:p>
            <a:pPr eaLnBrk="1" hangingPunct="1">
              <a:lnSpc>
                <a:spcPct val="90000"/>
              </a:lnSpc>
            </a:pPr>
            <a:r>
              <a:rPr lang="en-US" sz="2800" smtClean="0"/>
              <a:t>Each attribute-value pair along a path forms a conjunction</a:t>
            </a:r>
          </a:p>
          <a:p>
            <a:pPr eaLnBrk="1" hangingPunct="1">
              <a:lnSpc>
                <a:spcPct val="90000"/>
              </a:lnSpc>
            </a:pPr>
            <a:r>
              <a:rPr lang="en-US" sz="2800" smtClean="0"/>
              <a:t>The leaf node holds the class prediction</a:t>
            </a:r>
          </a:p>
          <a:p>
            <a:pPr eaLnBrk="1" hangingPunct="1">
              <a:lnSpc>
                <a:spcPct val="90000"/>
              </a:lnSpc>
            </a:pPr>
            <a:r>
              <a:rPr lang="en-US" sz="2800" smtClean="0"/>
              <a:t>Rules are easier for humans to understand</a:t>
            </a:r>
          </a:p>
          <a:p>
            <a:pPr eaLnBrk="1" hangingPunct="1">
              <a:lnSpc>
                <a:spcPct val="90000"/>
              </a:lnSpc>
            </a:pPr>
            <a:r>
              <a:rPr lang="en-US" sz="2800" smtClean="0"/>
              <a:t>Example</a:t>
            </a:r>
          </a:p>
          <a:p>
            <a:pPr lvl="1" eaLnBrk="1" hangingPunct="1">
              <a:lnSpc>
                <a:spcPct val="90000"/>
              </a:lnSpc>
              <a:spcBef>
                <a:spcPct val="40000"/>
              </a:spcBef>
              <a:buFontTx/>
              <a:buNone/>
            </a:pPr>
            <a:r>
              <a:rPr lang="en-US" sz="2000" smtClean="0"/>
              <a:t>IF </a:t>
            </a:r>
            <a:r>
              <a:rPr lang="en-US" sz="2000" i="1" smtClean="0"/>
              <a:t>age</a:t>
            </a:r>
            <a:r>
              <a:rPr lang="en-US" sz="2000" smtClean="0"/>
              <a:t> = “&lt;=30” AND </a:t>
            </a:r>
            <a:r>
              <a:rPr lang="en-US" sz="2000" i="1" smtClean="0"/>
              <a:t>student</a:t>
            </a:r>
            <a:r>
              <a:rPr lang="en-US" sz="2000" smtClean="0"/>
              <a:t> = “</a:t>
            </a:r>
            <a:r>
              <a:rPr lang="en-US" sz="2000" i="1" smtClean="0"/>
              <a:t>no</a:t>
            </a:r>
            <a:r>
              <a:rPr lang="en-US" sz="2000" smtClean="0"/>
              <a:t>”   THEN </a:t>
            </a:r>
            <a:r>
              <a:rPr lang="en-US" sz="2000" i="1" smtClean="0"/>
              <a:t>buys_computer</a:t>
            </a:r>
            <a:r>
              <a:rPr lang="en-US" sz="2000" smtClean="0"/>
              <a:t> = “</a:t>
            </a:r>
            <a:r>
              <a:rPr lang="en-US" sz="2000" i="1" smtClean="0"/>
              <a:t>no</a:t>
            </a:r>
            <a:r>
              <a:rPr lang="en-US" sz="2000" smtClean="0"/>
              <a:t>”</a:t>
            </a:r>
          </a:p>
          <a:p>
            <a:pPr lvl="1" eaLnBrk="1" hangingPunct="1">
              <a:lnSpc>
                <a:spcPct val="90000"/>
              </a:lnSpc>
              <a:buFontTx/>
              <a:buNone/>
            </a:pPr>
            <a:r>
              <a:rPr lang="en-US" sz="2000" smtClean="0"/>
              <a:t>IF </a:t>
            </a:r>
            <a:r>
              <a:rPr lang="en-US" sz="2000" i="1" smtClean="0"/>
              <a:t>age</a:t>
            </a:r>
            <a:r>
              <a:rPr lang="en-US" sz="2000" smtClean="0"/>
              <a:t> = “&lt;=30” AND </a:t>
            </a:r>
            <a:r>
              <a:rPr lang="en-US" sz="2000" i="1" smtClean="0"/>
              <a:t>student</a:t>
            </a:r>
            <a:r>
              <a:rPr lang="en-US" sz="2000" smtClean="0"/>
              <a:t> = “</a:t>
            </a:r>
            <a:r>
              <a:rPr lang="en-US" sz="2000" i="1" smtClean="0"/>
              <a:t>yes</a:t>
            </a:r>
            <a:r>
              <a:rPr lang="en-US" sz="2000" smtClean="0"/>
              <a:t>”  THEN </a:t>
            </a:r>
            <a:r>
              <a:rPr lang="en-US" sz="2000" i="1" smtClean="0"/>
              <a:t>buys_computer</a:t>
            </a:r>
            <a:r>
              <a:rPr lang="en-US" sz="2000" smtClean="0"/>
              <a:t> = “</a:t>
            </a:r>
            <a:r>
              <a:rPr lang="en-US" sz="2000" i="1" smtClean="0"/>
              <a:t>yes</a:t>
            </a:r>
            <a:r>
              <a:rPr lang="en-US" sz="2000" smtClean="0"/>
              <a:t>”</a:t>
            </a:r>
          </a:p>
          <a:p>
            <a:pPr lvl="1" eaLnBrk="1" hangingPunct="1">
              <a:lnSpc>
                <a:spcPct val="90000"/>
              </a:lnSpc>
              <a:buFontTx/>
              <a:buNone/>
            </a:pPr>
            <a:r>
              <a:rPr lang="en-US" sz="2000" smtClean="0"/>
              <a:t>IF </a:t>
            </a:r>
            <a:r>
              <a:rPr lang="en-US" sz="2000" i="1" smtClean="0"/>
              <a:t>age</a:t>
            </a:r>
            <a:r>
              <a:rPr lang="en-US" sz="2000" smtClean="0"/>
              <a:t> = “31…40” 			THEN </a:t>
            </a:r>
            <a:r>
              <a:rPr lang="en-US" sz="2000" i="1" smtClean="0"/>
              <a:t>buys_computer</a:t>
            </a:r>
            <a:r>
              <a:rPr lang="en-US" sz="2000" smtClean="0"/>
              <a:t> = “</a:t>
            </a:r>
            <a:r>
              <a:rPr lang="en-US" sz="2000" i="1" smtClean="0"/>
              <a:t>yes</a:t>
            </a:r>
            <a:r>
              <a:rPr lang="en-US" sz="2000" smtClean="0"/>
              <a:t>”</a:t>
            </a:r>
          </a:p>
          <a:p>
            <a:pPr lvl="1" eaLnBrk="1" hangingPunct="1">
              <a:lnSpc>
                <a:spcPct val="90000"/>
              </a:lnSpc>
              <a:buFontTx/>
              <a:buNone/>
            </a:pPr>
            <a:r>
              <a:rPr lang="en-US" sz="2000" smtClean="0"/>
              <a:t>IF </a:t>
            </a:r>
            <a:r>
              <a:rPr lang="en-US" sz="2000" i="1" smtClean="0"/>
              <a:t>age</a:t>
            </a:r>
            <a:r>
              <a:rPr lang="en-US" sz="2000" smtClean="0"/>
              <a:t> = “&gt;40”   AND </a:t>
            </a:r>
            <a:r>
              <a:rPr lang="en-US" sz="2000" i="1" smtClean="0"/>
              <a:t>credit_rating</a:t>
            </a:r>
            <a:r>
              <a:rPr lang="en-US" sz="2000" smtClean="0"/>
              <a:t> = “</a:t>
            </a:r>
            <a:r>
              <a:rPr lang="en-US" sz="2000" i="1" smtClean="0"/>
              <a:t>excellent</a:t>
            </a:r>
            <a:r>
              <a:rPr lang="en-US" sz="2000" smtClean="0"/>
              <a:t>”   THEN </a:t>
            </a:r>
            <a:r>
              <a:rPr lang="en-US" sz="2000" i="1" smtClean="0"/>
              <a:t>buys_computer </a:t>
            </a:r>
            <a:r>
              <a:rPr lang="en-US" sz="2000" smtClean="0"/>
              <a:t>= “</a:t>
            </a:r>
            <a:r>
              <a:rPr lang="en-US" sz="2000" i="1" smtClean="0"/>
              <a:t>yes</a:t>
            </a:r>
            <a:r>
              <a:rPr lang="en-US" sz="2000" smtClean="0"/>
              <a:t>”</a:t>
            </a:r>
          </a:p>
          <a:p>
            <a:pPr lvl="1" eaLnBrk="1" hangingPunct="1">
              <a:lnSpc>
                <a:spcPct val="90000"/>
              </a:lnSpc>
              <a:buFontTx/>
              <a:buNone/>
            </a:pPr>
            <a:r>
              <a:rPr lang="en-US" sz="2000" smtClean="0"/>
              <a:t>IF </a:t>
            </a:r>
            <a:r>
              <a:rPr lang="en-US" sz="2000" i="1" smtClean="0"/>
              <a:t>age</a:t>
            </a:r>
            <a:r>
              <a:rPr lang="en-US" sz="2000" smtClean="0"/>
              <a:t> = “&gt;40” AND </a:t>
            </a:r>
            <a:r>
              <a:rPr lang="en-US" sz="2000" i="1" smtClean="0"/>
              <a:t>credit_rating</a:t>
            </a:r>
            <a:r>
              <a:rPr lang="en-US" sz="2000" smtClean="0"/>
              <a:t> = “</a:t>
            </a:r>
            <a:r>
              <a:rPr lang="en-US" sz="2000" i="1" smtClean="0"/>
              <a:t>fair</a:t>
            </a:r>
            <a:r>
              <a:rPr lang="en-US" sz="2000" smtClean="0"/>
              <a:t>”  THEN </a:t>
            </a:r>
            <a:r>
              <a:rPr lang="en-US" sz="2000" i="1" smtClean="0"/>
              <a:t>buys_computer</a:t>
            </a:r>
            <a:r>
              <a:rPr lang="en-US" sz="2000" smtClean="0"/>
              <a:t> = “</a:t>
            </a:r>
            <a:r>
              <a:rPr lang="en-US" sz="2000" i="1" smtClean="0"/>
              <a:t>no</a:t>
            </a:r>
            <a:r>
              <a:rPr lang="en-US" sz="2000" smtClean="0"/>
              <a:t>”</a:t>
            </a:r>
          </a:p>
        </p:txBody>
      </p:sp>
    </p:spTree>
  </p:cSld>
  <p:clrMapOvr>
    <a:masterClrMapping/>
  </p:clrMapOvr>
  <p:transition>
    <p:checke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p:spPr>
        <p:txBody>
          <a:bodyPr/>
          <a:lstStyle/>
          <a:p>
            <a:fld id="{CDD5DA76-3FE2-4127-8405-3030B79224B6}" type="slidenum">
              <a:rPr lang="en-US" smtClean="0"/>
              <a:pPr/>
              <a:t>35</a:t>
            </a:fld>
            <a:endParaRPr lang="en-US" smtClean="0"/>
          </a:p>
        </p:txBody>
      </p:sp>
      <p:sp>
        <p:nvSpPr>
          <p:cNvPr id="40963" name="Rectangle 2"/>
          <p:cNvSpPr>
            <a:spLocks noGrp="1" noChangeArrowheads="1"/>
          </p:cNvSpPr>
          <p:nvPr>
            <p:ph type="title"/>
          </p:nvPr>
        </p:nvSpPr>
        <p:spPr>
          <a:xfrm>
            <a:off x="457200" y="304800"/>
            <a:ext cx="8382000" cy="685800"/>
          </a:xfrm>
          <a:noFill/>
        </p:spPr>
        <p:txBody>
          <a:bodyPr lIns="92075" tIns="46038" rIns="92075" bIns="46038"/>
          <a:lstStyle/>
          <a:p>
            <a:pPr eaLnBrk="1" hangingPunct="1"/>
            <a:r>
              <a:rPr lang="en-US" sz="4000" smtClean="0"/>
              <a:t>Avoid Overfitting in Classification</a:t>
            </a:r>
          </a:p>
        </p:txBody>
      </p:sp>
      <p:sp>
        <p:nvSpPr>
          <p:cNvPr id="40964" name="Rectangle 3"/>
          <p:cNvSpPr>
            <a:spLocks noGrp="1" noChangeArrowheads="1"/>
          </p:cNvSpPr>
          <p:nvPr>
            <p:ph type="body" idx="1"/>
          </p:nvPr>
        </p:nvSpPr>
        <p:spPr>
          <a:xfrm>
            <a:off x="685800" y="1219200"/>
            <a:ext cx="8077200" cy="4876800"/>
          </a:xfrm>
          <a:noFill/>
        </p:spPr>
        <p:txBody>
          <a:bodyPr lIns="92075" tIns="46038" rIns="92075" bIns="46038"/>
          <a:lstStyle/>
          <a:p>
            <a:pPr eaLnBrk="1" hangingPunct="1">
              <a:lnSpc>
                <a:spcPct val="90000"/>
              </a:lnSpc>
            </a:pPr>
            <a:r>
              <a:rPr lang="en-US" sz="2800" smtClean="0"/>
              <a:t>The generated tree may overfit the training data</a:t>
            </a:r>
            <a:r>
              <a:rPr lang="en-US" sz="2400" smtClean="0"/>
              <a:t> </a:t>
            </a:r>
          </a:p>
          <a:p>
            <a:pPr lvl="1" eaLnBrk="1" hangingPunct="1">
              <a:lnSpc>
                <a:spcPct val="90000"/>
              </a:lnSpc>
            </a:pPr>
            <a:r>
              <a:rPr lang="en-US" sz="2400" smtClean="0"/>
              <a:t>Too many branches, some may reflect anomalies due to noise or outliers</a:t>
            </a:r>
            <a:endParaRPr lang="en-US" smtClean="0"/>
          </a:p>
          <a:p>
            <a:pPr lvl="1" eaLnBrk="1" hangingPunct="1">
              <a:lnSpc>
                <a:spcPct val="90000"/>
              </a:lnSpc>
            </a:pPr>
            <a:r>
              <a:rPr lang="en-US" sz="2400" smtClean="0"/>
              <a:t>Result is in poor accuracy for unseen samples</a:t>
            </a:r>
          </a:p>
          <a:p>
            <a:pPr eaLnBrk="1" hangingPunct="1">
              <a:lnSpc>
                <a:spcPct val="90000"/>
              </a:lnSpc>
            </a:pPr>
            <a:r>
              <a:rPr lang="en-US" sz="2800" smtClean="0"/>
              <a:t>Two approaches to avoid overfitting </a:t>
            </a:r>
          </a:p>
          <a:p>
            <a:pPr lvl="1" eaLnBrk="1" hangingPunct="1">
              <a:lnSpc>
                <a:spcPct val="90000"/>
              </a:lnSpc>
            </a:pPr>
            <a:r>
              <a:rPr lang="en-US" sz="2400" smtClean="0"/>
              <a:t>Prepruning: Halt tree construction early</a:t>
            </a:r>
            <a:r>
              <a:rPr lang="en-US" sz="2400" smtClean="0">
                <a:cs typeface="Tahoma" pitchFamily="34" charset="0"/>
              </a:rPr>
              <a:t>—</a:t>
            </a:r>
            <a:r>
              <a:rPr lang="en-US" sz="2400" smtClean="0"/>
              <a:t>do not split a node if this would result in the goodness measure falling below a threshold</a:t>
            </a:r>
          </a:p>
          <a:p>
            <a:pPr lvl="2" eaLnBrk="1" hangingPunct="1">
              <a:lnSpc>
                <a:spcPct val="90000"/>
              </a:lnSpc>
            </a:pPr>
            <a:r>
              <a:rPr lang="en-US" smtClean="0"/>
              <a:t>Difficult to choose an appropriate threshold</a:t>
            </a:r>
          </a:p>
          <a:p>
            <a:pPr lvl="1" eaLnBrk="1" hangingPunct="1">
              <a:lnSpc>
                <a:spcPct val="90000"/>
              </a:lnSpc>
            </a:pPr>
            <a:r>
              <a:rPr lang="en-US" sz="2400" smtClean="0"/>
              <a:t>Postpruning: Remove branches from a “fully grown” tree</a:t>
            </a:r>
            <a:r>
              <a:rPr lang="en-US" sz="2400" smtClean="0">
                <a:cs typeface="Tahoma" pitchFamily="34" charset="0"/>
              </a:rPr>
              <a:t>—</a:t>
            </a:r>
            <a:r>
              <a:rPr lang="en-US" sz="2400" smtClean="0"/>
              <a:t>get a sequence of progressively pruned trees</a:t>
            </a:r>
          </a:p>
          <a:p>
            <a:pPr lvl="2" eaLnBrk="1" hangingPunct="1">
              <a:lnSpc>
                <a:spcPct val="90000"/>
              </a:lnSpc>
            </a:pPr>
            <a:r>
              <a:rPr lang="en-US" smtClean="0"/>
              <a:t>Use a set of data different from the training data to decide which is the “best pruned tree”</a:t>
            </a:r>
          </a:p>
        </p:txBody>
      </p:sp>
    </p:spTree>
  </p:cSld>
  <p:clrMapOvr>
    <a:masterClrMapping/>
  </p:clrMapOvr>
  <p:transition>
    <p:checke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p:spPr>
        <p:txBody>
          <a:bodyPr/>
          <a:lstStyle/>
          <a:p>
            <a:fld id="{B5584E66-C31D-4E7E-AE81-F939B34EC139}" type="slidenum">
              <a:rPr lang="en-US" smtClean="0"/>
              <a:pPr/>
              <a:t>36</a:t>
            </a:fld>
            <a:endParaRPr lang="en-US" smtClean="0"/>
          </a:p>
        </p:txBody>
      </p:sp>
      <p:sp>
        <p:nvSpPr>
          <p:cNvPr id="41987" name="Rectangle 2"/>
          <p:cNvSpPr>
            <a:spLocks noGrp="1" noChangeArrowheads="1"/>
          </p:cNvSpPr>
          <p:nvPr>
            <p:ph type="title"/>
          </p:nvPr>
        </p:nvSpPr>
        <p:spPr>
          <a:xfrm>
            <a:off x="304800" y="304800"/>
            <a:ext cx="8610600" cy="609600"/>
          </a:xfrm>
          <a:noFill/>
        </p:spPr>
        <p:txBody>
          <a:bodyPr lIns="92075" tIns="46038" rIns="92075" bIns="46038"/>
          <a:lstStyle/>
          <a:p>
            <a:pPr eaLnBrk="1" hangingPunct="1"/>
            <a:r>
              <a:rPr lang="en-US" sz="3200" smtClean="0"/>
              <a:t>Enhancements to basic decision tree induction</a:t>
            </a:r>
          </a:p>
        </p:txBody>
      </p:sp>
      <p:sp>
        <p:nvSpPr>
          <p:cNvPr id="41988" name="AutoShape 3"/>
          <p:cNvSpPr>
            <a:spLocks noChangeArrowheads="1"/>
          </p:cNvSpPr>
          <p:nvPr>
            <p:ph type="body" idx="1"/>
          </p:nvPr>
        </p:nvSpPr>
        <p:spPr>
          <a:xfrm>
            <a:off x="457200" y="1524000"/>
            <a:ext cx="8382000" cy="4953000"/>
          </a:xfrm>
          <a:prstGeom prst="flowChartProcess">
            <a:avLst/>
          </a:prstGeom>
          <a:noFill/>
        </p:spPr>
        <p:txBody>
          <a:bodyPr lIns="92075" tIns="46038" rIns="92075" bIns="46038"/>
          <a:lstStyle/>
          <a:p>
            <a:pPr eaLnBrk="1" hangingPunct="1">
              <a:lnSpc>
                <a:spcPct val="95000"/>
              </a:lnSpc>
              <a:spcBef>
                <a:spcPct val="25000"/>
              </a:spcBef>
            </a:pPr>
            <a:r>
              <a:rPr lang="en-US" sz="2000" smtClean="0"/>
              <a:t>Allow for continuous-valued attributes</a:t>
            </a:r>
          </a:p>
          <a:p>
            <a:pPr lvl="1" eaLnBrk="1" hangingPunct="1">
              <a:lnSpc>
                <a:spcPct val="95000"/>
              </a:lnSpc>
              <a:spcBef>
                <a:spcPct val="25000"/>
              </a:spcBef>
            </a:pPr>
            <a:r>
              <a:rPr lang="en-US" sz="2000" smtClean="0"/>
              <a:t>Dynamically define new discrete-valued attributes that partition the continuous attribute value into a discrete set of intervals</a:t>
            </a:r>
          </a:p>
          <a:p>
            <a:pPr eaLnBrk="1" hangingPunct="1">
              <a:lnSpc>
                <a:spcPct val="95000"/>
              </a:lnSpc>
              <a:spcBef>
                <a:spcPct val="25000"/>
              </a:spcBef>
            </a:pPr>
            <a:r>
              <a:rPr lang="en-US" sz="2000" smtClean="0"/>
              <a:t>Handle missing attribute values</a:t>
            </a:r>
          </a:p>
          <a:p>
            <a:pPr lvl="1" eaLnBrk="1" hangingPunct="1">
              <a:lnSpc>
                <a:spcPct val="95000"/>
              </a:lnSpc>
              <a:spcBef>
                <a:spcPct val="25000"/>
              </a:spcBef>
            </a:pPr>
            <a:r>
              <a:rPr lang="en-US" sz="2000" smtClean="0"/>
              <a:t>Assign the most common value of the attribute</a:t>
            </a:r>
          </a:p>
          <a:p>
            <a:pPr lvl="1" eaLnBrk="1" hangingPunct="1">
              <a:lnSpc>
                <a:spcPct val="95000"/>
              </a:lnSpc>
              <a:spcBef>
                <a:spcPct val="25000"/>
              </a:spcBef>
            </a:pPr>
            <a:r>
              <a:rPr lang="en-US" sz="2000" smtClean="0"/>
              <a:t>Assign probability to each of the possible values</a:t>
            </a:r>
          </a:p>
          <a:p>
            <a:pPr eaLnBrk="1" hangingPunct="1">
              <a:lnSpc>
                <a:spcPct val="95000"/>
              </a:lnSpc>
              <a:spcBef>
                <a:spcPct val="25000"/>
              </a:spcBef>
            </a:pPr>
            <a:r>
              <a:rPr lang="en-US" sz="2000" smtClean="0"/>
              <a:t>Attribute construction</a:t>
            </a:r>
          </a:p>
          <a:p>
            <a:pPr lvl="1" eaLnBrk="1" hangingPunct="1">
              <a:lnSpc>
                <a:spcPct val="95000"/>
              </a:lnSpc>
              <a:spcBef>
                <a:spcPct val="25000"/>
              </a:spcBef>
            </a:pPr>
            <a:r>
              <a:rPr lang="en-US" sz="2000" smtClean="0"/>
              <a:t>Create new attributes based on existing ones that are sparsely represented</a:t>
            </a:r>
          </a:p>
          <a:p>
            <a:pPr lvl="1" eaLnBrk="1" hangingPunct="1">
              <a:lnSpc>
                <a:spcPct val="95000"/>
              </a:lnSpc>
              <a:spcBef>
                <a:spcPct val="25000"/>
              </a:spcBef>
            </a:pPr>
            <a:r>
              <a:rPr lang="en-US" sz="2000" smtClean="0"/>
              <a:t>This reduces </a:t>
            </a:r>
            <a:r>
              <a:rPr lang="en-US" sz="2000" smtClean="0">
                <a:solidFill>
                  <a:srgbClr val="FF0000"/>
                </a:solidFill>
              </a:rPr>
              <a:t>fragmentation</a:t>
            </a:r>
          </a:p>
          <a:p>
            <a:pPr lvl="1" eaLnBrk="1" hangingPunct="1">
              <a:lnSpc>
                <a:spcPct val="95000"/>
              </a:lnSpc>
              <a:spcBef>
                <a:spcPct val="25000"/>
              </a:spcBef>
            </a:pPr>
            <a:r>
              <a:rPr lang="en-US" sz="2000" smtClean="0">
                <a:solidFill>
                  <a:srgbClr val="FF0000"/>
                </a:solidFill>
              </a:rPr>
              <a:t>Repetition</a:t>
            </a:r>
            <a:r>
              <a:rPr lang="en-US" sz="2000" smtClean="0"/>
              <a:t>- occurs when an attribute is repeatedly tested along a given branch of the tree.</a:t>
            </a:r>
          </a:p>
          <a:p>
            <a:pPr lvl="1" eaLnBrk="1" hangingPunct="1">
              <a:lnSpc>
                <a:spcPct val="95000"/>
              </a:lnSpc>
              <a:spcBef>
                <a:spcPct val="25000"/>
              </a:spcBef>
            </a:pPr>
            <a:r>
              <a:rPr lang="en-US" sz="2000" smtClean="0">
                <a:solidFill>
                  <a:srgbClr val="FF0000"/>
                </a:solidFill>
              </a:rPr>
              <a:t>Replication</a:t>
            </a:r>
            <a:r>
              <a:rPr lang="en-US" sz="2000" smtClean="0"/>
              <a:t>- duplicate sub trees exist within the tree. It can impede the accuracy and comprehensibility of the resulting tree.</a:t>
            </a:r>
          </a:p>
        </p:txBody>
      </p:sp>
      <p:sp>
        <p:nvSpPr>
          <p:cNvPr id="41989" name="AutoShape 4"/>
          <p:cNvSpPr>
            <a:spLocks noChangeArrowheads="1"/>
          </p:cNvSpPr>
          <p:nvPr/>
        </p:nvSpPr>
        <p:spPr bwMode="auto">
          <a:xfrm>
            <a:off x="1905000" y="3352800"/>
            <a:ext cx="76200" cy="76200"/>
          </a:xfrm>
          <a:prstGeom prst="flowChartInternalStorage">
            <a:avLst/>
          </a:prstGeom>
          <a:noFill/>
          <a:ln w="9525">
            <a:noFill/>
            <a:miter lim="800000"/>
            <a:headEnd/>
            <a:tailEnd/>
          </a:ln>
        </p:spPr>
        <p:txBody>
          <a:bodyPr wrap="none" lIns="92075" tIns="46038" rIns="92075" bIns="46038" anchor="ctr"/>
          <a:lstStyle/>
          <a:p>
            <a:endParaRPr lang="en-US"/>
          </a:p>
        </p:txBody>
      </p:sp>
      <p:sp>
        <p:nvSpPr>
          <p:cNvPr id="41990" name="Line 5"/>
          <p:cNvSpPr>
            <a:spLocks noChangeShapeType="1"/>
          </p:cNvSpPr>
          <p:nvPr/>
        </p:nvSpPr>
        <p:spPr bwMode="auto">
          <a:xfrm>
            <a:off x="990600" y="3581400"/>
            <a:ext cx="7086600" cy="0"/>
          </a:xfrm>
          <a:prstGeom prst="line">
            <a:avLst/>
          </a:prstGeom>
          <a:noFill/>
          <a:ln w="9525">
            <a:noFill/>
            <a:round/>
            <a:headEnd/>
            <a:tailEnd/>
          </a:ln>
        </p:spPr>
        <p:txBody>
          <a:bodyPr wrap="none" lIns="92075" tIns="46038" rIns="92075" bIns="46038" anchor="ctr"/>
          <a:lstStyle/>
          <a:p>
            <a:endParaRPr lang="en-US"/>
          </a:p>
        </p:txBody>
      </p:sp>
      <p:sp>
        <p:nvSpPr>
          <p:cNvPr id="41991" name="Line 6"/>
          <p:cNvSpPr>
            <a:spLocks noChangeShapeType="1"/>
          </p:cNvSpPr>
          <p:nvPr/>
        </p:nvSpPr>
        <p:spPr bwMode="auto">
          <a:xfrm>
            <a:off x="990600" y="3505200"/>
            <a:ext cx="7162800" cy="0"/>
          </a:xfrm>
          <a:prstGeom prst="line">
            <a:avLst/>
          </a:prstGeom>
          <a:noFill/>
          <a:ln w="9525">
            <a:noFill/>
            <a:round/>
            <a:headEnd/>
            <a:tailEnd/>
          </a:ln>
        </p:spPr>
        <p:txBody>
          <a:bodyPr wrap="none" lIns="92075" tIns="46038" rIns="92075" bIns="46038" anchor="ctr"/>
          <a:lstStyle/>
          <a:p>
            <a:endParaRPr lang="en-US"/>
          </a:p>
        </p:txBody>
      </p:sp>
    </p:spTree>
  </p:cSld>
  <p:clrMapOvr>
    <a:masterClrMapping/>
  </p:clrMapOvr>
  <p:transition>
    <p:checke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p:spPr>
        <p:txBody>
          <a:bodyPr/>
          <a:lstStyle/>
          <a:p>
            <a:fld id="{E14C8836-2BFF-42CB-9335-331B551B5325}" type="slidenum">
              <a:rPr lang="en-US" smtClean="0"/>
              <a:pPr/>
              <a:t>37</a:t>
            </a:fld>
            <a:endParaRPr lang="en-US" smtClean="0"/>
          </a:p>
        </p:txBody>
      </p:sp>
      <p:sp>
        <p:nvSpPr>
          <p:cNvPr id="43011" name="Rectangle 2"/>
          <p:cNvSpPr>
            <a:spLocks noGrp="1" noChangeArrowheads="1"/>
          </p:cNvSpPr>
          <p:nvPr>
            <p:ph type="title"/>
          </p:nvPr>
        </p:nvSpPr>
        <p:spPr>
          <a:xfrm>
            <a:off x="457200" y="152400"/>
            <a:ext cx="8305800" cy="685800"/>
          </a:xfrm>
          <a:noFill/>
        </p:spPr>
        <p:txBody>
          <a:bodyPr lIns="92075" tIns="46038" rIns="92075" bIns="46038" anchor="b"/>
          <a:lstStyle/>
          <a:p>
            <a:pPr eaLnBrk="1" hangingPunct="1"/>
            <a:r>
              <a:rPr lang="en-US" sz="3600" smtClean="0"/>
              <a:t>Classification in Large Databases</a:t>
            </a:r>
          </a:p>
        </p:txBody>
      </p:sp>
      <p:sp>
        <p:nvSpPr>
          <p:cNvPr id="43012" name="Rectangle 3"/>
          <p:cNvSpPr>
            <a:spLocks noGrp="1" noChangeArrowheads="1"/>
          </p:cNvSpPr>
          <p:nvPr>
            <p:ph type="body" idx="1"/>
          </p:nvPr>
        </p:nvSpPr>
        <p:spPr>
          <a:xfrm>
            <a:off x="457200" y="1066800"/>
            <a:ext cx="8539163" cy="4846638"/>
          </a:xfrm>
          <a:noFill/>
        </p:spPr>
        <p:txBody>
          <a:bodyPr lIns="92075" tIns="46038" rIns="92075" bIns="46038"/>
          <a:lstStyle/>
          <a:p>
            <a:pPr eaLnBrk="1" hangingPunct="1">
              <a:lnSpc>
                <a:spcPct val="110000"/>
              </a:lnSpc>
            </a:pPr>
            <a:r>
              <a:rPr lang="en-US" sz="2800" smtClean="0"/>
              <a:t>Classification</a:t>
            </a:r>
            <a:r>
              <a:rPr lang="en-US" sz="2800" smtClean="0">
                <a:cs typeface="Tahoma" pitchFamily="34" charset="0"/>
              </a:rPr>
              <a:t>—</a:t>
            </a:r>
            <a:r>
              <a:rPr lang="en-US" sz="2800" smtClean="0"/>
              <a:t>a classical problem extensively studied by statisticians and machine learning researchers</a:t>
            </a:r>
          </a:p>
          <a:p>
            <a:pPr eaLnBrk="1" hangingPunct="1">
              <a:lnSpc>
                <a:spcPct val="110000"/>
              </a:lnSpc>
            </a:pPr>
            <a:r>
              <a:rPr lang="en-US" sz="2800" smtClean="0"/>
              <a:t>Scalability: Classifying data sets with millions of examples and hundreds of attributes with reasonable speed</a:t>
            </a:r>
          </a:p>
          <a:p>
            <a:pPr eaLnBrk="1" hangingPunct="1">
              <a:lnSpc>
                <a:spcPct val="110000"/>
              </a:lnSpc>
            </a:pPr>
            <a:r>
              <a:rPr lang="en-US" sz="2800" smtClean="0"/>
              <a:t>Why decision tree induction in data mining?</a:t>
            </a:r>
          </a:p>
          <a:p>
            <a:pPr lvl="1" eaLnBrk="1" hangingPunct="1">
              <a:lnSpc>
                <a:spcPct val="90000"/>
              </a:lnSpc>
            </a:pPr>
            <a:r>
              <a:rPr lang="en-US" sz="2400" smtClean="0"/>
              <a:t>relatively faster learning speed (than other classification methods)</a:t>
            </a:r>
          </a:p>
          <a:p>
            <a:pPr lvl="1" eaLnBrk="1" hangingPunct="1">
              <a:lnSpc>
                <a:spcPct val="90000"/>
              </a:lnSpc>
            </a:pPr>
            <a:r>
              <a:rPr lang="en-US" sz="2400" smtClean="0"/>
              <a:t>convertible to simple and easy to understand classification rules</a:t>
            </a:r>
          </a:p>
          <a:p>
            <a:pPr lvl="1" eaLnBrk="1" hangingPunct="1">
              <a:lnSpc>
                <a:spcPct val="90000"/>
              </a:lnSpc>
            </a:pPr>
            <a:r>
              <a:rPr lang="en-US" sz="2400" smtClean="0"/>
              <a:t>can use SQL queries for accessing databases</a:t>
            </a:r>
          </a:p>
          <a:p>
            <a:pPr lvl="1" eaLnBrk="1" hangingPunct="1">
              <a:lnSpc>
                <a:spcPct val="90000"/>
              </a:lnSpc>
            </a:pPr>
            <a:r>
              <a:rPr lang="en-US" sz="2400" smtClean="0"/>
              <a:t>comparable classification accuracy with other methods</a:t>
            </a:r>
          </a:p>
        </p:txBody>
      </p:sp>
    </p:spTree>
  </p:cSld>
  <p:clrMapOvr>
    <a:masterClrMapping/>
  </p:clrMapOvr>
  <p:transition>
    <p:checke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p:cNvSpPr>
            <a:spLocks noGrp="1"/>
          </p:cNvSpPr>
          <p:nvPr>
            <p:ph type="sldNum" sz="quarter" idx="12"/>
          </p:nvPr>
        </p:nvSpPr>
        <p:spPr>
          <a:noFill/>
        </p:spPr>
        <p:txBody>
          <a:bodyPr/>
          <a:lstStyle/>
          <a:p>
            <a:fld id="{68D6F0CF-8C38-4E1E-B5DA-B513F9822E6C}" type="slidenum">
              <a:rPr lang="en-US" smtClean="0"/>
              <a:pPr/>
              <a:t>38</a:t>
            </a:fld>
            <a:endParaRPr lang="en-US" smtClean="0"/>
          </a:p>
        </p:txBody>
      </p:sp>
      <p:sp>
        <p:nvSpPr>
          <p:cNvPr id="44035" name="Rectangle 2"/>
          <p:cNvSpPr>
            <a:spLocks noGrp="1" noChangeArrowheads="1"/>
          </p:cNvSpPr>
          <p:nvPr>
            <p:ph type="title"/>
          </p:nvPr>
        </p:nvSpPr>
        <p:spPr>
          <a:xfrm>
            <a:off x="457200" y="228600"/>
            <a:ext cx="8305800" cy="914400"/>
          </a:xfrm>
        </p:spPr>
        <p:txBody>
          <a:bodyPr/>
          <a:lstStyle/>
          <a:p>
            <a:pPr eaLnBrk="1" hangingPunct="1"/>
            <a:r>
              <a:rPr lang="en-US" sz="3200" smtClean="0"/>
              <a:t>Scalable Decision Tree Induction Methods in Data Mining Studies</a:t>
            </a:r>
          </a:p>
        </p:txBody>
      </p:sp>
      <p:sp>
        <p:nvSpPr>
          <p:cNvPr id="44036" name="Rectangle 3"/>
          <p:cNvSpPr>
            <a:spLocks noGrp="1" noChangeArrowheads="1"/>
          </p:cNvSpPr>
          <p:nvPr>
            <p:ph type="body" idx="1"/>
          </p:nvPr>
        </p:nvSpPr>
        <p:spPr>
          <a:xfrm>
            <a:off x="381000" y="1219200"/>
            <a:ext cx="8534400" cy="4953000"/>
          </a:xfrm>
        </p:spPr>
        <p:txBody>
          <a:bodyPr/>
          <a:lstStyle/>
          <a:p>
            <a:pPr eaLnBrk="1" hangingPunct="1">
              <a:lnSpc>
                <a:spcPct val="90000"/>
              </a:lnSpc>
            </a:pPr>
            <a:r>
              <a:rPr lang="en-US" sz="2600" smtClean="0">
                <a:solidFill>
                  <a:srgbClr val="FF3300"/>
                </a:solidFill>
              </a:rPr>
              <a:t>SLIQ</a:t>
            </a:r>
            <a:r>
              <a:rPr lang="en-US" sz="2600" smtClean="0"/>
              <a:t> (EDBT’96 </a:t>
            </a:r>
            <a:r>
              <a:rPr lang="en-US" sz="2600" smtClean="0">
                <a:cs typeface="Tahoma" pitchFamily="34" charset="0"/>
              </a:rPr>
              <a:t>—</a:t>
            </a:r>
            <a:r>
              <a:rPr lang="en-US" sz="2600" smtClean="0"/>
              <a:t> Mehta et al.)</a:t>
            </a:r>
          </a:p>
          <a:p>
            <a:pPr lvl="1" eaLnBrk="1" hangingPunct="1">
              <a:lnSpc>
                <a:spcPct val="90000"/>
              </a:lnSpc>
            </a:pPr>
            <a:r>
              <a:rPr lang="en-US" sz="2600" smtClean="0"/>
              <a:t>builds an index for each attribute and only class list and the current attribute list reside in memory</a:t>
            </a:r>
          </a:p>
          <a:p>
            <a:pPr eaLnBrk="1" hangingPunct="1">
              <a:lnSpc>
                <a:spcPct val="90000"/>
              </a:lnSpc>
            </a:pPr>
            <a:r>
              <a:rPr lang="en-US" sz="2600" smtClean="0">
                <a:solidFill>
                  <a:srgbClr val="FF3300"/>
                </a:solidFill>
              </a:rPr>
              <a:t>SPRINT</a:t>
            </a:r>
            <a:r>
              <a:rPr lang="en-US" sz="2600" smtClean="0"/>
              <a:t> (VLDB’96 </a:t>
            </a:r>
            <a:r>
              <a:rPr lang="en-US" sz="2600" smtClean="0">
                <a:cs typeface="Tahoma" pitchFamily="34" charset="0"/>
              </a:rPr>
              <a:t>—</a:t>
            </a:r>
            <a:r>
              <a:rPr lang="en-US" sz="2600" smtClean="0"/>
              <a:t> J. Shafer et al.)</a:t>
            </a:r>
          </a:p>
          <a:p>
            <a:pPr lvl="1" eaLnBrk="1" hangingPunct="1">
              <a:lnSpc>
                <a:spcPct val="90000"/>
              </a:lnSpc>
            </a:pPr>
            <a:r>
              <a:rPr lang="en-US" sz="2600" smtClean="0"/>
              <a:t>constructs an attribute list data structure </a:t>
            </a:r>
          </a:p>
          <a:p>
            <a:pPr eaLnBrk="1" hangingPunct="1">
              <a:lnSpc>
                <a:spcPct val="90000"/>
              </a:lnSpc>
            </a:pPr>
            <a:r>
              <a:rPr lang="en-US" sz="2600" smtClean="0">
                <a:solidFill>
                  <a:srgbClr val="FF3300"/>
                </a:solidFill>
              </a:rPr>
              <a:t>PUBLIC</a:t>
            </a:r>
            <a:r>
              <a:rPr lang="en-US" sz="2600" smtClean="0"/>
              <a:t> (VLDB’98 </a:t>
            </a:r>
            <a:r>
              <a:rPr lang="en-US" sz="2600" smtClean="0">
                <a:cs typeface="Tahoma" pitchFamily="34" charset="0"/>
              </a:rPr>
              <a:t>—</a:t>
            </a:r>
            <a:r>
              <a:rPr lang="en-US" sz="2600" smtClean="0"/>
              <a:t> Rastogi &amp; Shim)</a:t>
            </a:r>
          </a:p>
          <a:p>
            <a:pPr lvl="1" eaLnBrk="1" hangingPunct="1">
              <a:lnSpc>
                <a:spcPct val="90000"/>
              </a:lnSpc>
            </a:pPr>
            <a:r>
              <a:rPr lang="en-US" sz="2600" smtClean="0"/>
              <a:t>integrates tree splitting and tree pruning: stop growing the tree earlier</a:t>
            </a:r>
          </a:p>
          <a:p>
            <a:pPr eaLnBrk="1" hangingPunct="1">
              <a:lnSpc>
                <a:spcPct val="90000"/>
              </a:lnSpc>
            </a:pPr>
            <a:r>
              <a:rPr lang="en-US" sz="2600" smtClean="0">
                <a:solidFill>
                  <a:srgbClr val="FF3300"/>
                </a:solidFill>
              </a:rPr>
              <a:t>RainForest </a:t>
            </a:r>
            <a:r>
              <a:rPr lang="en-US" sz="2600" smtClean="0"/>
              <a:t> (VLDB’98 </a:t>
            </a:r>
            <a:r>
              <a:rPr lang="en-US" sz="2600" smtClean="0">
                <a:cs typeface="Tahoma" pitchFamily="34" charset="0"/>
              </a:rPr>
              <a:t>—</a:t>
            </a:r>
            <a:r>
              <a:rPr lang="en-US" sz="2600" smtClean="0"/>
              <a:t> Gehrke, Ramakrishnan &amp; Ganti)</a:t>
            </a:r>
          </a:p>
          <a:p>
            <a:pPr lvl="1" eaLnBrk="1" hangingPunct="1">
              <a:lnSpc>
                <a:spcPct val="90000"/>
              </a:lnSpc>
            </a:pPr>
            <a:r>
              <a:rPr lang="en-US" sz="2600" smtClean="0"/>
              <a:t>separates the scalability aspects from the criteria that determine the quality of the tree</a:t>
            </a:r>
          </a:p>
          <a:p>
            <a:pPr lvl="1" eaLnBrk="1" hangingPunct="1">
              <a:lnSpc>
                <a:spcPct val="90000"/>
              </a:lnSpc>
            </a:pPr>
            <a:r>
              <a:rPr lang="en-US" sz="2600" smtClean="0"/>
              <a:t>builds an AVC-list (attribute, value, class label)</a:t>
            </a:r>
          </a:p>
        </p:txBody>
      </p:sp>
    </p:spTree>
  </p:cSld>
  <p:clrMapOvr>
    <a:masterClrMapping/>
  </p:clrMapOvr>
  <p:transition>
    <p:checke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noFill/>
        </p:spPr>
        <p:txBody>
          <a:bodyPr/>
          <a:lstStyle/>
          <a:p>
            <a:fld id="{A594EF9C-81AC-444A-B207-190307DFD525}" type="slidenum">
              <a:rPr lang="en-US" smtClean="0"/>
              <a:pPr/>
              <a:t>39</a:t>
            </a:fld>
            <a:endParaRPr lang="en-US" smtClean="0"/>
          </a:p>
        </p:txBody>
      </p:sp>
      <p:sp>
        <p:nvSpPr>
          <p:cNvPr id="45059" name="Rectangle 2"/>
          <p:cNvSpPr>
            <a:spLocks noGrp="1" noChangeArrowheads="1"/>
          </p:cNvSpPr>
          <p:nvPr>
            <p:ph type="title"/>
          </p:nvPr>
        </p:nvSpPr>
        <p:spPr>
          <a:xfrm>
            <a:off x="609600" y="228600"/>
            <a:ext cx="7696200" cy="685800"/>
          </a:xfrm>
          <a:noFill/>
        </p:spPr>
        <p:txBody>
          <a:bodyPr lIns="92075" tIns="46038" rIns="92075" bIns="46038"/>
          <a:lstStyle/>
          <a:p>
            <a:pPr eaLnBrk="1" hangingPunct="1"/>
            <a:r>
              <a:rPr lang="en-US" sz="4000" smtClean="0"/>
              <a:t>Classification and Prediction</a:t>
            </a:r>
          </a:p>
        </p:txBody>
      </p:sp>
      <p:sp>
        <p:nvSpPr>
          <p:cNvPr id="45060" name="Rectangle 3"/>
          <p:cNvSpPr>
            <a:spLocks noGrp="1" noChangeArrowheads="1"/>
          </p:cNvSpPr>
          <p:nvPr>
            <p:ph type="body" idx="1"/>
          </p:nvPr>
        </p:nvSpPr>
        <p:spPr>
          <a:xfrm>
            <a:off x="533400" y="1143000"/>
            <a:ext cx="7924800" cy="51816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solidFill>
                  <a:schemeClr val="hlink"/>
                </a:solidFill>
              </a:rPr>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p:spPr>
        <p:txBody>
          <a:bodyPr/>
          <a:lstStyle/>
          <a:p>
            <a:fld id="{098E8BC1-23A3-488F-87DA-E2D20F02ADF0}" type="slidenum">
              <a:rPr lang="en-US" smtClean="0"/>
              <a:pPr/>
              <a:t>40</a:t>
            </a:fld>
            <a:endParaRPr lang="en-US" smtClean="0"/>
          </a:p>
        </p:txBody>
      </p:sp>
      <p:sp>
        <p:nvSpPr>
          <p:cNvPr id="46083" name="Rectangle 4"/>
          <p:cNvSpPr>
            <a:spLocks noGrp="1" noRot="1" noChangeArrowheads="1"/>
          </p:cNvSpPr>
          <p:nvPr>
            <p:ph type="title"/>
          </p:nvPr>
        </p:nvSpPr>
        <p:spPr>
          <a:xfrm>
            <a:off x="685800" y="152400"/>
            <a:ext cx="7620000" cy="685800"/>
          </a:xfrm>
          <a:noFill/>
        </p:spPr>
        <p:txBody>
          <a:bodyPr lIns="92075" tIns="46038" rIns="92075" bIns="46038"/>
          <a:lstStyle/>
          <a:p>
            <a:pPr eaLnBrk="1" hangingPunct="1"/>
            <a:r>
              <a:rPr lang="en-US" sz="3600" smtClean="0"/>
              <a:t>Bayesian Classification: Why?</a:t>
            </a:r>
          </a:p>
        </p:txBody>
      </p:sp>
      <p:sp>
        <p:nvSpPr>
          <p:cNvPr id="46084" name="Rectangle 5"/>
          <p:cNvSpPr>
            <a:spLocks noGrp="1" noChangeArrowheads="1"/>
          </p:cNvSpPr>
          <p:nvPr>
            <p:ph type="body" idx="1"/>
          </p:nvPr>
        </p:nvSpPr>
        <p:spPr>
          <a:xfrm>
            <a:off x="457200" y="1143000"/>
            <a:ext cx="8686800" cy="4876800"/>
          </a:xfrm>
          <a:noFill/>
        </p:spPr>
        <p:txBody>
          <a:bodyPr lIns="92075" tIns="46038" rIns="92075" bIns="46038"/>
          <a:lstStyle/>
          <a:p>
            <a:pPr algn="just" eaLnBrk="1" hangingPunct="1">
              <a:lnSpc>
                <a:spcPct val="90000"/>
              </a:lnSpc>
            </a:pPr>
            <a:r>
              <a:rPr lang="en-US" sz="2400" u="sng" smtClean="0"/>
              <a:t>“What are Bayesian Classifiers?” : </a:t>
            </a:r>
          </a:p>
          <a:p>
            <a:pPr algn="just" eaLnBrk="1" hangingPunct="1">
              <a:lnSpc>
                <a:spcPct val="90000"/>
              </a:lnSpc>
            </a:pPr>
            <a:endParaRPr lang="en-US" sz="2400" u="sng" smtClean="0"/>
          </a:p>
          <a:p>
            <a:pPr algn="just" eaLnBrk="1" hangingPunct="1">
              <a:lnSpc>
                <a:spcPct val="90000"/>
              </a:lnSpc>
            </a:pPr>
            <a:r>
              <a:rPr lang="en-US" sz="2400" smtClean="0"/>
              <a:t>Bayesian Classifiers are statistical classifiers. They can predict class membership probabilities, such as the probability that a given sample belongs to a particular class.</a:t>
            </a:r>
          </a:p>
          <a:p>
            <a:pPr algn="just" eaLnBrk="1" hangingPunct="1">
              <a:lnSpc>
                <a:spcPct val="90000"/>
              </a:lnSpc>
              <a:buFontTx/>
              <a:buNone/>
            </a:pPr>
            <a:endParaRPr lang="en-US" sz="2400" u="sng" smtClean="0"/>
          </a:p>
          <a:p>
            <a:pPr algn="just" eaLnBrk="1" hangingPunct="1">
              <a:lnSpc>
                <a:spcPct val="90000"/>
              </a:lnSpc>
            </a:pPr>
            <a:r>
              <a:rPr lang="en-US" sz="2400" smtClean="0"/>
              <a:t>Bayesian classification is based on Bayes theorem. Studies comparing classification algorithms have found a simple Bayesian classifier known as the naïve Bayesian classifier to be comparable in performance with decision tree and neural network classifier.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p:spPr>
        <p:txBody>
          <a:bodyPr/>
          <a:lstStyle/>
          <a:p>
            <a:fld id="{36E40ABF-2F96-4B2D-B477-57C95B4ABB87}" type="slidenum">
              <a:rPr lang="en-US" smtClean="0"/>
              <a:pPr/>
              <a:t>41</a:t>
            </a:fld>
            <a:endParaRPr lang="en-US" smtClean="0"/>
          </a:p>
        </p:txBody>
      </p:sp>
      <p:sp>
        <p:nvSpPr>
          <p:cNvPr id="47107" name="Rectangle 7"/>
          <p:cNvSpPr>
            <a:spLocks noGrp="1" noChangeArrowheads="1"/>
          </p:cNvSpPr>
          <p:nvPr>
            <p:ph type="title"/>
          </p:nvPr>
        </p:nvSpPr>
        <p:spPr>
          <a:xfrm>
            <a:off x="533400" y="381000"/>
            <a:ext cx="7848600" cy="685800"/>
          </a:xfrm>
          <a:noFill/>
        </p:spPr>
        <p:txBody>
          <a:bodyPr lIns="92075" tIns="46038" rIns="92075" bIns="46038"/>
          <a:lstStyle/>
          <a:p>
            <a:pPr eaLnBrk="1" hangingPunct="1"/>
            <a:r>
              <a:rPr lang="en-US" sz="3600" smtClean="0"/>
              <a:t>Bayesian Classification(contd..)</a:t>
            </a:r>
          </a:p>
        </p:txBody>
      </p:sp>
      <p:sp>
        <p:nvSpPr>
          <p:cNvPr id="47108" name="Rectangle 8"/>
          <p:cNvSpPr>
            <a:spLocks noGrp="1" noChangeArrowheads="1"/>
          </p:cNvSpPr>
          <p:nvPr>
            <p:ph type="body" idx="1"/>
          </p:nvPr>
        </p:nvSpPr>
        <p:spPr>
          <a:xfrm>
            <a:off x="304800" y="1600200"/>
            <a:ext cx="8686800" cy="4876800"/>
          </a:xfrm>
          <a:noFill/>
        </p:spPr>
        <p:txBody>
          <a:bodyPr lIns="92075" tIns="46038" rIns="92075" bIns="46038"/>
          <a:lstStyle/>
          <a:p>
            <a:pPr algn="just" eaLnBrk="1" hangingPunct="1"/>
            <a:r>
              <a:rPr lang="en-US" sz="2400" smtClean="0"/>
              <a:t>Let </a:t>
            </a:r>
            <a:r>
              <a:rPr lang="en-US" sz="2400" b="1" i="1" smtClean="0"/>
              <a:t>X </a:t>
            </a:r>
            <a:r>
              <a:rPr lang="en-US" sz="2400" smtClean="0"/>
              <a:t>be a data tuple. Where </a:t>
            </a:r>
            <a:r>
              <a:rPr lang="en-US" sz="2400" b="1" i="1" smtClean="0"/>
              <a:t>X </a:t>
            </a:r>
            <a:r>
              <a:rPr lang="en-US" sz="2400" smtClean="0"/>
              <a:t>is considered “evidence.” </a:t>
            </a:r>
          </a:p>
          <a:p>
            <a:pPr algn="just" eaLnBrk="1" hangingPunct="1"/>
            <a:r>
              <a:rPr lang="en-US" sz="2400" smtClean="0"/>
              <a:t>Let </a:t>
            </a:r>
            <a:r>
              <a:rPr lang="en-US" sz="2400" i="1" smtClean="0"/>
              <a:t>H </a:t>
            </a:r>
            <a:r>
              <a:rPr lang="en-US" sz="2400" smtClean="0"/>
              <a:t>be some hypothesis, such as that the data tuple </a:t>
            </a:r>
            <a:r>
              <a:rPr lang="en-US" sz="2400" b="1" i="1" smtClean="0"/>
              <a:t>X </a:t>
            </a:r>
            <a:r>
              <a:rPr lang="en-US" sz="2400" smtClean="0"/>
              <a:t>belongs to a specified class </a:t>
            </a:r>
            <a:r>
              <a:rPr lang="en-US" sz="2400" i="1" smtClean="0"/>
              <a:t>C</a:t>
            </a:r>
            <a:r>
              <a:rPr lang="en-US" sz="2400" smtClean="0"/>
              <a:t>. </a:t>
            </a:r>
          </a:p>
          <a:p>
            <a:pPr algn="just" eaLnBrk="1" hangingPunct="1"/>
            <a:r>
              <a:rPr lang="en-US" sz="2400" smtClean="0"/>
              <a:t>For classification problems, we want to determine </a:t>
            </a:r>
            <a:r>
              <a:rPr lang="en-US" sz="2400" i="1" smtClean="0"/>
              <a:t>P</a:t>
            </a:r>
            <a:r>
              <a:rPr lang="en-US" sz="2400" smtClean="0"/>
              <a:t>(</a:t>
            </a:r>
            <a:r>
              <a:rPr lang="en-US" sz="2400" i="1" smtClean="0"/>
              <a:t>H</a:t>
            </a:r>
            <a:r>
              <a:rPr lang="en-US" sz="2400" smtClean="0"/>
              <a:t>/</a:t>
            </a:r>
            <a:r>
              <a:rPr lang="en-US" sz="2400" b="1" i="1" smtClean="0"/>
              <a:t>X</a:t>
            </a:r>
            <a:r>
              <a:rPr lang="en-US" sz="2400" smtClean="0"/>
              <a:t>), the probability that the hypothesis </a:t>
            </a:r>
            <a:r>
              <a:rPr lang="en-US" sz="2400" i="1" smtClean="0"/>
              <a:t>H </a:t>
            </a:r>
            <a:r>
              <a:rPr lang="en-US" sz="2400" smtClean="0"/>
              <a:t>holds given the “evidence” or observed data tuple </a:t>
            </a:r>
            <a:r>
              <a:rPr lang="en-US" sz="2400" b="1" i="1" smtClean="0"/>
              <a:t>X</a:t>
            </a:r>
            <a:r>
              <a:rPr lang="en-US" sz="2400" smtClean="0"/>
              <a:t>. </a:t>
            </a:r>
          </a:p>
          <a:p>
            <a:pPr algn="just" eaLnBrk="1" hangingPunct="1"/>
            <a:r>
              <a:rPr lang="en-US" sz="2400" smtClean="0"/>
              <a:t>	(we are looking for the probability that tuple </a:t>
            </a:r>
            <a:r>
              <a:rPr lang="en-US" sz="2400" b="1" i="1" smtClean="0"/>
              <a:t>X </a:t>
            </a:r>
            <a:r>
              <a:rPr lang="en-US" sz="2400" smtClean="0"/>
              <a:t>belongs to class </a:t>
            </a:r>
            <a:r>
              <a:rPr lang="en-US" sz="2400" i="1" smtClean="0"/>
              <a:t>C</a:t>
            </a:r>
            <a:r>
              <a:rPr lang="en-US" sz="2400" smtClean="0"/>
              <a:t>, given that we know the attribute description of </a:t>
            </a:r>
            <a:r>
              <a:rPr lang="en-US" sz="2400" b="1" i="1" smtClean="0"/>
              <a:t>X</a:t>
            </a:r>
            <a:r>
              <a:rPr lang="en-US" sz="2400" smtClean="0"/>
              <a:t>)</a:t>
            </a:r>
          </a:p>
          <a:p>
            <a:pPr algn="just" eaLnBrk="1" hangingPunct="1"/>
            <a:r>
              <a:rPr lang="en-US" sz="2400" i="1" smtClean="0"/>
              <a:t>P</a:t>
            </a:r>
            <a:r>
              <a:rPr lang="en-US" sz="2400" smtClean="0"/>
              <a:t>(</a:t>
            </a:r>
            <a:r>
              <a:rPr lang="en-US" sz="2400" i="1" smtClean="0"/>
              <a:t>H/</a:t>
            </a:r>
            <a:r>
              <a:rPr lang="en-US" sz="2400" b="1" i="1" smtClean="0"/>
              <a:t>X</a:t>
            </a:r>
            <a:r>
              <a:rPr lang="en-US" sz="2400" smtClean="0"/>
              <a:t>) is the posterior probability, or </a:t>
            </a:r>
            <a:r>
              <a:rPr lang="en-US" sz="2400" i="1" smtClean="0"/>
              <a:t>a posteriori probability</a:t>
            </a:r>
            <a:r>
              <a:rPr lang="en-US" sz="2400" smtClean="0"/>
              <a:t>, of </a:t>
            </a:r>
            <a:r>
              <a:rPr lang="en-US" sz="2400" i="1" smtClean="0"/>
              <a:t>H </a:t>
            </a:r>
            <a:r>
              <a:rPr lang="en-US" sz="2400" smtClean="0"/>
              <a:t>conditioned on </a:t>
            </a:r>
            <a:r>
              <a:rPr lang="en-US" sz="2400" b="1" i="1" smtClean="0"/>
              <a:t>X</a:t>
            </a:r>
            <a:r>
              <a:rPr lang="en-US" sz="2400" smtClean="0"/>
              <a:t>. </a:t>
            </a:r>
          </a:p>
        </p:txBody>
      </p:sp>
    </p:spTree>
  </p:cSld>
  <p:clrMapOvr>
    <a:masterClrMapping/>
  </p:clrMapOvr>
  <p:transition>
    <p:checke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p:spPr>
        <p:txBody>
          <a:bodyPr/>
          <a:lstStyle/>
          <a:p>
            <a:fld id="{62AC1887-F19E-482A-8E89-74245C46B820}" type="slidenum">
              <a:rPr lang="en-US" smtClean="0"/>
              <a:pPr/>
              <a:t>42</a:t>
            </a:fld>
            <a:endParaRPr lang="en-US" smtClean="0"/>
          </a:p>
        </p:txBody>
      </p:sp>
      <p:sp>
        <p:nvSpPr>
          <p:cNvPr id="48131" name="Rectangle 5"/>
          <p:cNvSpPr>
            <a:spLocks noGrp="1" noChangeArrowheads="1"/>
          </p:cNvSpPr>
          <p:nvPr>
            <p:ph type="body" idx="1"/>
          </p:nvPr>
        </p:nvSpPr>
        <p:spPr>
          <a:xfrm>
            <a:off x="381000" y="152400"/>
            <a:ext cx="8534400" cy="6096000"/>
          </a:xfrm>
          <a:noFill/>
        </p:spPr>
        <p:txBody>
          <a:bodyPr/>
          <a:lstStyle/>
          <a:p>
            <a:pPr algn="just" eaLnBrk="1" hangingPunct="1"/>
            <a:r>
              <a:rPr lang="en-US" sz="2300" smtClean="0"/>
              <a:t>For example, suppose our world of data tuples is confined to customers described by the attributes </a:t>
            </a:r>
            <a:r>
              <a:rPr lang="en-US" sz="2300" i="1" smtClean="0"/>
              <a:t>age </a:t>
            </a:r>
            <a:r>
              <a:rPr lang="en-US" sz="2300" smtClean="0"/>
              <a:t>and </a:t>
            </a:r>
            <a:r>
              <a:rPr lang="en-US" sz="2300" i="1" smtClean="0"/>
              <a:t>income</a:t>
            </a:r>
            <a:r>
              <a:rPr lang="en-US" sz="2300" smtClean="0"/>
              <a:t>, respectively, and that </a:t>
            </a:r>
            <a:r>
              <a:rPr lang="en-US" sz="2300" b="1" i="1" smtClean="0"/>
              <a:t>X </a:t>
            </a:r>
            <a:r>
              <a:rPr lang="en-US" sz="2300" smtClean="0"/>
              <a:t>is a 35-year-old customer with an income of $40,000.</a:t>
            </a:r>
          </a:p>
          <a:p>
            <a:pPr algn="just" eaLnBrk="1" hangingPunct="1"/>
            <a:r>
              <a:rPr lang="en-US" sz="2300" smtClean="0"/>
              <a:t>Suppose that </a:t>
            </a:r>
            <a:r>
              <a:rPr lang="en-US" sz="2300" i="1" smtClean="0"/>
              <a:t>H </a:t>
            </a:r>
            <a:r>
              <a:rPr lang="en-US" sz="2300" smtClean="0"/>
              <a:t>is the hypothesis that our customer will buy a computer.</a:t>
            </a:r>
          </a:p>
          <a:p>
            <a:pPr algn="just" eaLnBrk="1" hangingPunct="1"/>
            <a:r>
              <a:rPr lang="en-US" sz="2300" i="1" smtClean="0"/>
              <a:t>P</a:t>
            </a:r>
            <a:r>
              <a:rPr lang="en-US" sz="2300" smtClean="0"/>
              <a:t>(</a:t>
            </a:r>
            <a:r>
              <a:rPr lang="en-US" sz="2300" i="1" smtClean="0"/>
              <a:t>H</a:t>
            </a:r>
            <a:r>
              <a:rPr lang="en-US" sz="2300" smtClean="0"/>
              <a:t>/</a:t>
            </a:r>
            <a:r>
              <a:rPr lang="en-US" sz="2300" b="1" i="1" smtClean="0"/>
              <a:t>X</a:t>
            </a:r>
            <a:r>
              <a:rPr lang="en-US" sz="2300" smtClean="0"/>
              <a:t>) reflects the probability that customer </a:t>
            </a:r>
            <a:r>
              <a:rPr lang="en-US" sz="2300" b="1" i="1" smtClean="0"/>
              <a:t>X </a:t>
            </a:r>
            <a:r>
              <a:rPr lang="en-US" sz="2300" smtClean="0"/>
              <a:t>will buy a computer given that we know the customer’s age and income.</a:t>
            </a:r>
          </a:p>
          <a:p>
            <a:pPr algn="just" eaLnBrk="1" hangingPunct="1"/>
            <a:r>
              <a:rPr lang="en-US" sz="2300" i="1" smtClean="0"/>
              <a:t>P</a:t>
            </a:r>
            <a:r>
              <a:rPr lang="en-US" sz="2300" smtClean="0"/>
              <a:t>(</a:t>
            </a:r>
            <a:r>
              <a:rPr lang="en-US" sz="2300" i="1" smtClean="0"/>
              <a:t>H</a:t>
            </a:r>
            <a:r>
              <a:rPr lang="en-US" sz="2300" smtClean="0"/>
              <a:t>) is the prior probability, or </a:t>
            </a:r>
            <a:r>
              <a:rPr lang="en-US" sz="2300" i="1" smtClean="0"/>
              <a:t>a priori probability, </a:t>
            </a:r>
            <a:r>
              <a:rPr lang="en-US" sz="2300" smtClean="0"/>
              <a:t>of </a:t>
            </a:r>
            <a:r>
              <a:rPr lang="en-US" sz="2300" i="1" smtClean="0"/>
              <a:t>H</a:t>
            </a:r>
            <a:r>
              <a:rPr lang="en-US" sz="2300" smtClean="0"/>
              <a:t>. For our example, this is the probability that any given customer will buy a computer, regardless of age or income.</a:t>
            </a:r>
          </a:p>
          <a:p>
            <a:pPr algn="just" eaLnBrk="1" hangingPunct="1"/>
            <a:r>
              <a:rPr lang="en-US" sz="2300" i="1" smtClean="0"/>
              <a:t>P</a:t>
            </a:r>
            <a:r>
              <a:rPr lang="en-US" sz="2300" smtClean="0"/>
              <a:t>(</a:t>
            </a:r>
            <a:r>
              <a:rPr lang="en-US" sz="2300" b="1" i="1" smtClean="0"/>
              <a:t>X/</a:t>
            </a:r>
            <a:r>
              <a:rPr lang="en-US" sz="2300" i="1" smtClean="0"/>
              <a:t>H</a:t>
            </a:r>
            <a:r>
              <a:rPr lang="en-US" sz="2300" smtClean="0"/>
              <a:t>) is the posterior probability of </a:t>
            </a:r>
            <a:r>
              <a:rPr lang="en-US" sz="2300" b="1" i="1" smtClean="0"/>
              <a:t>X </a:t>
            </a:r>
            <a:r>
              <a:rPr lang="en-US" sz="2300" smtClean="0"/>
              <a:t>conditioned on </a:t>
            </a:r>
            <a:r>
              <a:rPr lang="en-US" sz="2300" i="1" smtClean="0"/>
              <a:t>H</a:t>
            </a:r>
            <a:r>
              <a:rPr lang="en-US" sz="2300" smtClean="0"/>
              <a:t>. That is, it is the probability that a customer, </a:t>
            </a:r>
            <a:r>
              <a:rPr lang="en-US" sz="2300" b="1" i="1" smtClean="0"/>
              <a:t>X</a:t>
            </a:r>
            <a:r>
              <a:rPr lang="en-US" sz="2300" smtClean="0"/>
              <a:t>, is 35 years old and earns $40,000, given that we know the customer will buy a computer.</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p:cNvSpPr>
            <a:spLocks noGrp="1"/>
          </p:cNvSpPr>
          <p:nvPr>
            <p:ph type="sldNum" sz="quarter" idx="12"/>
          </p:nvPr>
        </p:nvSpPr>
        <p:spPr>
          <a:noFill/>
        </p:spPr>
        <p:txBody>
          <a:bodyPr/>
          <a:lstStyle/>
          <a:p>
            <a:fld id="{48DAA3D2-4938-467F-90B7-F795C62E3435}" type="slidenum">
              <a:rPr lang="en-US" smtClean="0"/>
              <a:pPr/>
              <a:t>43</a:t>
            </a:fld>
            <a:endParaRPr lang="en-US" smtClean="0"/>
          </a:p>
        </p:txBody>
      </p:sp>
      <p:sp>
        <p:nvSpPr>
          <p:cNvPr id="49155" name="Rectangle 4"/>
          <p:cNvSpPr>
            <a:spLocks noGrp="1" noChangeArrowheads="1"/>
          </p:cNvSpPr>
          <p:nvPr>
            <p:ph type="title"/>
          </p:nvPr>
        </p:nvSpPr>
        <p:spPr>
          <a:xfrm>
            <a:off x="1676400" y="152400"/>
            <a:ext cx="5867400" cy="609600"/>
          </a:xfrm>
          <a:noFill/>
        </p:spPr>
        <p:txBody>
          <a:bodyPr anchor="b"/>
          <a:lstStyle/>
          <a:p>
            <a:pPr eaLnBrk="1" hangingPunct="1"/>
            <a:r>
              <a:rPr lang="en-US" smtClean="0"/>
              <a:t>Bayesian Theorem</a:t>
            </a:r>
          </a:p>
        </p:txBody>
      </p:sp>
      <p:sp>
        <p:nvSpPr>
          <p:cNvPr id="49156" name="Rectangle 5"/>
          <p:cNvSpPr>
            <a:spLocks noGrp="1" noChangeArrowheads="1"/>
          </p:cNvSpPr>
          <p:nvPr>
            <p:ph type="body" idx="1"/>
          </p:nvPr>
        </p:nvSpPr>
        <p:spPr>
          <a:xfrm>
            <a:off x="457200" y="1066800"/>
            <a:ext cx="8534400" cy="4953000"/>
          </a:xfrm>
          <a:noFill/>
        </p:spPr>
        <p:txBody>
          <a:bodyPr/>
          <a:lstStyle/>
          <a:p>
            <a:pPr eaLnBrk="1" hangingPunct="1"/>
            <a:r>
              <a:rPr lang="en-US" smtClean="0"/>
              <a:t>Given training data</a:t>
            </a:r>
            <a:r>
              <a:rPr lang="en-US" i="1" smtClean="0"/>
              <a:t> X, posteriori probability of a hypothesis H, P(H|X) </a:t>
            </a:r>
            <a:r>
              <a:rPr lang="en-US" smtClean="0"/>
              <a:t>follows the Bayes theorem</a:t>
            </a:r>
          </a:p>
          <a:p>
            <a:pPr eaLnBrk="1" hangingPunct="1"/>
            <a:endParaRPr lang="en-US" smtClean="0"/>
          </a:p>
          <a:p>
            <a:pPr eaLnBrk="1" hangingPunct="1"/>
            <a:endParaRPr lang="en-US" smtClean="0"/>
          </a:p>
          <a:p>
            <a:pPr eaLnBrk="1" hangingPunct="1"/>
            <a:endParaRPr lang="en-US" smtClean="0"/>
          </a:p>
          <a:p>
            <a:pPr eaLnBrk="1" hangingPunct="1"/>
            <a:r>
              <a:rPr lang="en-US" smtClean="0"/>
              <a:t>Practical difficulty: require initial knowledge of many probabilities, significant computational cost</a:t>
            </a:r>
          </a:p>
        </p:txBody>
      </p:sp>
      <p:pic>
        <p:nvPicPr>
          <p:cNvPr id="49157" name="Picture 6"/>
          <p:cNvPicPr>
            <a:picLocks noChangeAspect="1" noChangeArrowheads="1"/>
          </p:cNvPicPr>
          <p:nvPr/>
        </p:nvPicPr>
        <p:blipFill>
          <a:blip r:embed="rId2"/>
          <a:srcRect/>
          <a:stretch>
            <a:fillRect/>
          </a:stretch>
        </p:blipFill>
        <p:spPr bwMode="auto">
          <a:xfrm>
            <a:off x="2743200" y="2895600"/>
            <a:ext cx="2590800" cy="752475"/>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p:cNvSpPr>
            <a:spLocks noGrp="1"/>
          </p:cNvSpPr>
          <p:nvPr>
            <p:ph type="sldNum" sz="quarter" idx="12"/>
          </p:nvPr>
        </p:nvSpPr>
        <p:spPr>
          <a:noFill/>
        </p:spPr>
        <p:txBody>
          <a:bodyPr/>
          <a:lstStyle/>
          <a:p>
            <a:fld id="{6134C5B2-CDAD-4B07-A0D2-E980E4652404}" type="slidenum">
              <a:rPr lang="en-US" smtClean="0"/>
              <a:pPr/>
              <a:t>44</a:t>
            </a:fld>
            <a:endParaRPr lang="en-US" smtClean="0"/>
          </a:p>
        </p:txBody>
      </p:sp>
      <p:sp>
        <p:nvSpPr>
          <p:cNvPr id="50179" name="Rectangle 4"/>
          <p:cNvSpPr>
            <a:spLocks noGrp="1" noChangeArrowheads="1"/>
          </p:cNvSpPr>
          <p:nvPr>
            <p:ph type="title"/>
          </p:nvPr>
        </p:nvSpPr>
        <p:spPr>
          <a:xfrm>
            <a:off x="152400" y="152400"/>
            <a:ext cx="8763000" cy="1066800"/>
          </a:xfrm>
          <a:noFill/>
        </p:spPr>
        <p:txBody>
          <a:bodyPr anchor="b"/>
          <a:lstStyle/>
          <a:p>
            <a:pPr eaLnBrk="1" hangingPunct="1"/>
            <a:r>
              <a:rPr lang="en-US" sz="3600" smtClean="0"/>
              <a:t>The naïve Bayesian classifier(simple Bayesian classifier) works as follows:</a:t>
            </a:r>
          </a:p>
        </p:txBody>
      </p:sp>
      <p:sp>
        <p:nvSpPr>
          <p:cNvPr id="50180" name="Rectangle 5"/>
          <p:cNvSpPr>
            <a:spLocks noGrp="1" noChangeArrowheads="1"/>
          </p:cNvSpPr>
          <p:nvPr>
            <p:ph type="body" idx="1"/>
          </p:nvPr>
        </p:nvSpPr>
        <p:spPr>
          <a:xfrm>
            <a:off x="685800" y="1447800"/>
            <a:ext cx="8153400" cy="4419600"/>
          </a:xfrm>
          <a:noFill/>
        </p:spPr>
        <p:txBody>
          <a:bodyPr/>
          <a:lstStyle/>
          <a:p>
            <a:pPr algn="just" eaLnBrk="1" hangingPunct="1">
              <a:buFontTx/>
              <a:buNone/>
            </a:pPr>
            <a:r>
              <a:rPr lang="en-US" sz="2400" b="1" smtClean="0"/>
              <a:t>1. </a:t>
            </a:r>
            <a:r>
              <a:rPr lang="en-US" sz="2400" smtClean="0"/>
              <a:t>Let </a:t>
            </a:r>
            <a:r>
              <a:rPr lang="en-US" sz="2400" i="1" smtClean="0"/>
              <a:t>D </a:t>
            </a:r>
            <a:r>
              <a:rPr lang="en-US" sz="2400" smtClean="0"/>
              <a:t>be a training set of tuples and their associated class labels. As usual, each tuple is represented by an </a:t>
            </a:r>
            <a:r>
              <a:rPr lang="en-US" sz="2400" i="1" smtClean="0"/>
              <a:t>n</a:t>
            </a:r>
            <a:r>
              <a:rPr lang="en-US" sz="2400" smtClean="0"/>
              <a:t>-dimensional attribute vector, </a:t>
            </a:r>
            <a:r>
              <a:rPr lang="en-US" sz="2400" b="1" i="1" smtClean="0"/>
              <a:t>X </a:t>
            </a:r>
            <a:r>
              <a:rPr lang="en-US" sz="2400" smtClean="0"/>
              <a:t>= (</a:t>
            </a:r>
            <a:r>
              <a:rPr lang="en-US" sz="2400" i="1" smtClean="0"/>
              <a:t>x</a:t>
            </a:r>
            <a:r>
              <a:rPr lang="en-US" sz="2400" smtClean="0"/>
              <a:t>1, </a:t>
            </a:r>
            <a:r>
              <a:rPr lang="en-US" sz="2400" i="1" smtClean="0"/>
              <a:t>x</a:t>
            </a:r>
            <a:r>
              <a:rPr lang="en-US" sz="2400" smtClean="0"/>
              <a:t>2, : : : , </a:t>
            </a:r>
            <a:r>
              <a:rPr lang="en-US" sz="2400" i="1" smtClean="0"/>
              <a:t>xn</a:t>
            </a:r>
            <a:r>
              <a:rPr lang="en-US" sz="2400" smtClean="0"/>
              <a:t>), depicting </a:t>
            </a:r>
            <a:r>
              <a:rPr lang="en-US" sz="2400" i="1" smtClean="0"/>
              <a:t>n </a:t>
            </a:r>
            <a:r>
              <a:rPr lang="en-US" sz="2400" smtClean="0"/>
              <a:t>measurements made on the tuple from </a:t>
            </a:r>
            <a:r>
              <a:rPr lang="en-US" sz="2400" i="1" smtClean="0"/>
              <a:t>n </a:t>
            </a:r>
            <a:r>
              <a:rPr lang="en-US" sz="2400" smtClean="0"/>
              <a:t>attributes, respectively, </a:t>
            </a:r>
            <a:r>
              <a:rPr lang="en-US" sz="2400" i="1" smtClean="0"/>
              <a:t>A</a:t>
            </a:r>
            <a:r>
              <a:rPr lang="en-US" sz="2400" smtClean="0"/>
              <a:t>1, </a:t>
            </a:r>
            <a:r>
              <a:rPr lang="en-US" sz="2400" i="1" smtClean="0"/>
              <a:t>A</a:t>
            </a:r>
            <a:r>
              <a:rPr lang="en-US" sz="2400" smtClean="0"/>
              <a:t>2, : : : , </a:t>
            </a:r>
            <a:r>
              <a:rPr lang="en-US" sz="2400" i="1" smtClean="0"/>
              <a:t>An</a:t>
            </a:r>
            <a:r>
              <a:rPr lang="en-US" sz="2400" smtClean="0"/>
              <a:t>.</a:t>
            </a:r>
          </a:p>
          <a:p>
            <a:pPr algn="just" eaLnBrk="1" hangingPunct="1">
              <a:buFontTx/>
              <a:buNone/>
            </a:pPr>
            <a:r>
              <a:rPr lang="en-US" sz="2400" b="1" smtClean="0"/>
              <a:t>2. </a:t>
            </a:r>
            <a:r>
              <a:rPr lang="en-US" sz="2400" smtClean="0"/>
              <a:t>Suppose that there are </a:t>
            </a:r>
            <a:r>
              <a:rPr lang="en-US" sz="2400" i="1" smtClean="0"/>
              <a:t>m </a:t>
            </a:r>
            <a:r>
              <a:rPr lang="en-US" sz="2400" smtClean="0"/>
              <a:t>classes, </a:t>
            </a:r>
            <a:r>
              <a:rPr lang="en-US" sz="2400" i="1" smtClean="0"/>
              <a:t>C</a:t>
            </a:r>
            <a:r>
              <a:rPr lang="en-US" sz="2400" smtClean="0"/>
              <a:t>1, </a:t>
            </a:r>
            <a:r>
              <a:rPr lang="en-US" sz="2400" i="1" smtClean="0"/>
              <a:t>C</a:t>
            </a:r>
            <a:r>
              <a:rPr lang="en-US" sz="2400" smtClean="0"/>
              <a:t>2, : : : , </a:t>
            </a:r>
            <a:r>
              <a:rPr lang="en-US" sz="2400" i="1" smtClean="0"/>
              <a:t>Cm</a:t>
            </a:r>
            <a:r>
              <a:rPr lang="en-US" sz="2400" smtClean="0"/>
              <a:t>. Given a tuple, </a:t>
            </a:r>
            <a:r>
              <a:rPr lang="en-US" sz="2400" b="1" i="1" smtClean="0"/>
              <a:t>X</a:t>
            </a:r>
            <a:r>
              <a:rPr lang="en-US" sz="2400" smtClean="0"/>
              <a:t>, the classifier will predict that </a:t>
            </a:r>
            <a:r>
              <a:rPr lang="en-US" sz="2400" b="1" i="1" smtClean="0"/>
              <a:t>X </a:t>
            </a:r>
            <a:r>
              <a:rPr lang="en-US" sz="2400" smtClean="0"/>
              <a:t>belongs to the class having the highest posterior probability, conditioned on </a:t>
            </a:r>
            <a:r>
              <a:rPr lang="en-US" sz="2400" b="1" i="1" smtClean="0"/>
              <a:t>X</a:t>
            </a:r>
            <a:r>
              <a:rPr lang="en-US" sz="2400" smtClean="0"/>
              <a:t>. </a:t>
            </a:r>
          </a:p>
        </p:txBody>
      </p:sp>
      <p:pic>
        <p:nvPicPr>
          <p:cNvPr id="50181" name="Picture 6"/>
          <p:cNvPicPr>
            <a:picLocks noChangeAspect="1" noChangeArrowheads="1"/>
          </p:cNvPicPr>
          <p:nvPr/>
        </p:nvPicPr>
        <p:blipFill>
          <a:blip r:embed="rId2"/>
          <a:srcRect/>
          <a:stretch>
            <a:fillRect/>
          </a:stretch>
        </p:blipFill>
        <p:spPr bwMode="auto">
          <a:xfrm>
            <a:off x="2590800" y="5410200"/>
            <a:ext cx="3886200" cy="1103313"/>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p:cNvSpPr>
            <a:spLocks noGrp="1"/>
          </p:cNvSpPr>
          <p:nvPr>
            <p:ph type="sldNum" sz="quarter" idx="12"/>
          </p:nvPr>
        </p:nvSpPr>
        <p:spPr>
          <a:noFill/>
        </p:spPr>
        <p:txBody>
          <a:bodyPr/>
          <a:lstStyle/>
          <a:p>
            <a:fld id="{943700E2-195A-49A9-A3F4-E2B86A6A6D32}" type="slidenum">
              <a:rPr lang="en-US" smtClean="0"/>
              <a:pPr/>
              <a:t>45</a:t>
            </a:fld>
            <a:endParaRPr lang="en-US" smtClean="0"/>
          </a:p>
        </p:txBody>
      </p:sp>
      <p:sp>
        <p:nvSpPr>
          <p:cNvPr id="51203" name="Rectangle 4"/>
          <p:cNvSpPr>
            <a:spLocks noGrp="1" noChangeArrowheads="1"/>
          </p:cNvSpPr>
          <p:nvPr>
            <p:ph type="body" idx="1"/>
          </p:nvPr>
        </p:nvSpPr>
        <p:spPr>
          <a:xfrm>
            <a:off x="304800" y="1066800"/>
            <a:ext cx="8458200" cy="4495800"/>
          </a:xfrm>
          <a:noFill/>
        </p:spPr>
        <p:txBody>
          <a:bodyPr/>
          <a:lstStyle/>
          <a:p>
            <a:pPr algn="just" eaLnBrk="1" hangingPunct="1">
              <a:buFontTx/>
              <a:buNone/>
            </a:pPr>
            <a:r>
              <a:rPr lang="en-US" sz="2400" smtClean="0"/>
              <a:t>3. As </a:t>
            </a:r>
            <a:r>
              <a:rPr lang="en-US" sz="2400" i="1" smtClean="0"/>
              <a:t>P</a:t>
            </a:r>
            <a:r>
              <a:rPr lang="en-US" sz="2400" smtClean="0"/>
              <a:t>(</a:t>
            </a:r>
            <a:r>
              <a:rPr lang="en-US" sz="2400" b="1" i="1" smtClean="0"/>
              <a:t>X</a:t>
            </a:r>
            <a:r>
              <a:rPr lang="en-US" sz="2400" smtClean="0"/>
              <a:t>) is constant for all classes, only </a:t>
            </a:r>
            <a:r>
              <a:rPr lang="en-US" sz="2400" i="1" smtClean="0"/>
              <a:t>P</a:t>
            </a:r>
            <a:r>
              <a:rPr lang="en-US" sz="2400" smtClean="0"/>
              <a:t>(</a:t>
            </a:r>
            <a:r>
              <a:rPr lang="en-US" sz="2400" b="1" i="1" smtClean="0"/>
              <a:t>X/</a:t>
            </a:r>
            <a:r>
              <a:rPr lang="en-US" sz="2400" i="1" smtClean="0"/>
              <a:t>Ci</a:t>
            </a:r>
            <a:r>
              <a:rPr lang="en-US" sz="2400" smtClean="0"/>
              <a:t>)</a:t>
            </a:r>
            <a:r>
              <a:rPr lang="en-US" sz="2400" i="1" smtClean="0"/>
              <a:t>P</a:t>
            </a:r>
            <a:r>
              <a:rPr lang="en-US" sz="2400" smtClean="0"/>
              <a:t>(</a:t>
            </a:r>
            <a:r>
              <a:rPr lang="en-US" sz="2400" i="1" smtClean="0"/>
              <a:t>Ci</a:t>
            </a:r>
            <a:r>
              <a:rPr lang="en-US" sz="2400" smtClean="0"/>
              <a:t>) need be maximized. If the class prior probabilities are not known, then it is commonly assumed that the classes are equally likely, that is, </a:t>
            </a:r>
            <a:r>
              <a:rPr lang="en-US" sz="2400" i="1" smtClean="0"/>
              <a:t>P</a:t>
            </a:r>
            <a:r>
              <a:rPr lang="en-US" sz="2400" smtClean="0"/>
              <a:t>(</a:t>
            </a:r>
            <a:r>
              <a:rPr lang="en-US" sz="2400" i="1" smtClean="0"/>
              <a:t>C</a:t>
            </a:r>
            <a:r>
              <a:rPr lang="en-US" sz="2400" smtClean="0"/>
              <a:t>1) = </a:t>
            </a:r>
            <a:r>
              <a:rPr lang="en-US" sz="2400" i="1" smtClean="0"/>
              <a:t>P</a:t>
            </a:r>
            <a:r>
              <a:rPr lang="en-US" sz="2400" smtClean="0"/>
              <a:t>(</a:t>
            </a:r>
            <a:r>
              <a:rPr lang="en-US" sz="2400" i="1" smtClean="0"/>
              <a:t>C</a:t>
            </a:r>
            <a:r>
              <a:rPr lang="en-US" sz="2400" smtClean="0"/>
              <a:t>2) = …… = </a:t>
            </a:r>
            <a:r>
              <a:rPr lang="en-US" sz="2400" i="1" smtClean="0"/>
              <a:t>P</a:t>
            </a:r>
            <a:r>
              <a:rPr lang="en-US" sz="2400" smtClean="0"/>
              <a:t>(</a:t>
            </a:r>
            <a:r>
              <a:rPr lang="en-US" sz="2400" i="1" smtClean="0"/>
              <a:t>Cm</a:t>
            </a:r>
            <a:r>
              <a:rPr lang="en-US" sz="2400" smtClean="0"/>
              <a:t>), and we would therefore maximize </a:t>
            </a:r>
            <a:r>
              <a:rPr lang="en-US" sz="2400" i="1" smtClean="0"/>
              <a:t>P</a:t>
            </a:r>
            <a:r>
              <a:rPr lang="en-US" sz="2400" smtClean="0"/>
              <a:t>(</a:t>
            </a:r>
            <a:r>
              <a:rPr lang="en-US" sz="2400" b="1" i="1" smtClean="0"/>
              <a:t>X/</a:t>
            </a:r>
            <a:r>
              <a:rPr lang="en-US" sz="2400" i="1" smtClean="0"/>
              <a:t>Ci</a:t>
            </a:r>
            <a:r>
              <a:rPr lang="en-US" sz="2400" smtClean="0"/>
              <a:t>).</a:t>
            </a:r>
          </a:p>
          <a:p>
            <a:pPr algn="just" eaLnBrk="1" hangingPunct="1">
              <a:buFontTx/>
              <a:buNone/>
            </a:pPr>
            <a:r>
              <a:rPr lang="en-US" sz="2400" smtClean="0"/>
              <a:t>4. Given data sets with many attributes, it would be extremely computationally expensive to compute </a:t>
            </a:r>
            <a:r>
              <a:rPr lang="en-US" sz="2400" i="1" smtClean="0"/>
              <a:t>P</a:t>
            </a:r>
            <a:r>
              <a:rPr lang="en-US" sz="2400" smtClean="0"/>
              <a:t>(</a:t>
            </a:r>
            <a:r>
              <a:rPr lang="en-US" sz="2400" b="1" i="1" smtClean="0"/>
              <a:t>X/</a:t>
            </a:r>
            <a:r>
              <a:rPr lang="en-US" sz="2400" i="1" smtClean="0"/>
              <a:t>Ci</a:t>
            </a:r>
            <a:r>
              <a:rPr lang="en-US" sz="2400" smtClean="0"/>
              <a:t>).</a:t>
            </a:r>
          </a:p>
        </p:txBody>
      </p:sp>
      <p:pic>
        <p:nvPicPr>
          <p:cNvPr id="51204" name="Picture 5"/>
          <p:cNvPicPr>
            <a:picLocks noChangeAspect="1" noChangeArrowheads="1"/>
          </p:cNvPicPr>
          <p:nvPr/>
        </p:nvPicPr>
        <p:blipFill>
          <a:blip r:embed="rId2"/>
          <a:srcRect/>
          <a:stretch>
            <a:fillRect/>
          </a:stretch>
        </p:blipFill>
        <p:spPr bwMode="auto">
          <a:xfrm>
            <a:off x="2286000" y="4114800"/>
            <a:ext cx="5105400" cy="1233488"/>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p:cNvSpPr>
            <a:spLocks noGrp="1"/>
          </p:cNvSpPr>
          <p:nvPr>
            <p:ph type="sldNum" sz="quarter" idx="12"/>
          </p:nvPr>
        </p:nvSpPr>
        <p:spPr>
          <a:noFill/>
        </p:spPr>
        <p:txBody>
          <a:bodyPr/>
          <a:lstStyle/>
          <a:p>
            <a:fld id="{2F6DC085-93F4-498B-91C2-20C8AB9F062D}" type="slidenum">
              <a:rPr lang="en-US" smtClean="0"/>
              <a:pPr/>
              <a:t>46</a:t>
            </a:fld>
            <a:endParaRPr lang="en-US" smtClean="0"/>
          </a:p>
        </p:txBody>
      </p:sp>
      <p:sp>
        <p:nvSpPr>
          <p:cNvPr id="52227" name="Rectangle 5"/>
          <p:cNvSpPr>
            <a:spLocks noGrp="1" noChangeArrowheads="1"/>
          </p:cNvSpPr>
          <p:nvPr>
            <p:ph type="body" idx="1"/>
          </p:nvPr>
        </p:nvSpPr>
        <p:spPr>
          <a:xfrm>
            <a:off x="609600" y="1143000"/>
            <a:ext cx="8077200" cy="1905000"/>
          </a:xfrm>
          <a:noFill/>
        </p:spPr>
        <p:txBody>
          <a:bodyPr/>
          <a:lstStyle/>
          <a:p>
            <a:pPr algn="just" eaLnBrk="1" hangingPunct="1">
              <a:buFontTx/>
              <a:buNone/>
            </a:pPr>
            <a:r>
              <a:rPr lang="en-US" b="1" smtClean="0"/>
              <a:t>	5. </a:t>
            </a:r>
            <a:r>
              <a:rPr lang="en-US" smtClean="0"/>
              <a:t>In order to predict the class label of </a:t>
            </a:r>
            <a:r>
              <a:rPr lang="en-US" b="1" i="1" smtClean="0"/>
              <a:t>X</a:t>
            </a:r>
            <a:r>
              <a:rPr lang="en-US" smtClean="0"/>
              <a:t>, </a:t>
            </a:r>
            <a:r>
              <a:rPr lang="en-US" i="1" smtClean="0"/>
              <a:t>P</a:t>
            </a:r>
            <a:r>
              <a:rPr lang="en-US" smtClean="0"/>
              <a:t>(</a:t>
            </a:r>
            <a:r>
              <a:rPr lang="en-US" b="1" i="1" smtClean="0"/>
              <a:t>X/</a:t>
            </a:r>
            <a:r>
              <a:rPr lang="en-US" i="1" smtClean="0"/>
              <a:t>Ci</a:t>
            </a:r>
            <a:r>
              <a:rPr lang="en-US" smtClean="0"/>
              <a:t>)</a:t>
            </a:r>
            <a:r>
              <a:rPr lang="en-US" i="1" smtClean="0"/>
              <a:t>P</a:t>
            </a:r>
            <a:r>
              <a:rPr lang="en-US" smtClean="0"/>
              <a:t>(</a:t>
            </a:r>
            <a:r>
              <a:rPr lang="en-US" i="1" smtClean="0"/>
              <a:t>Ci</a:t>
            </a:r>
            <a:r>
              <a:rPr lang="en-US" smtClean="0"/>
              <a:t>) is evaluated for each class </a:t>
            </a:r>
            <a:r>
              <a:rPr lang="en-US" i="1" smtClean="0"/>
              <a:t>Ci</a:t>
            </a:r>
            <a:r>
              <a:rPr lang="en-US" smtClean="0"/>
              <a:t>. The classifier predicts that the class label of tuple </a:t>
            </a:r>
            <a:r>
              <a:rPr lang="en-US" b="1" i="1" smtClean="0"/>
              <a:t>X </a:t>
            </a:r>
            <a:r>
              <a:rPr lang="en-US" smtClean="0"/>
              <a:t>is the class </a:t>
            </a:r>
            <a:r>
              <a:rPr lang="en-US" i="1" smtClean="0"/>
              <a:t>Ci </a:t>
            </a:r>
            <a:r>
              <a:rPr lang="en-US" smtClean="0"/>
              <a:t>if and only if</a:t>
            </a:r>
          </a:p>
          <a:p>
            <a:pPr algn="just" eaLnBrk="1" hangingPunct="1"/>
            <a:endParaRPr lang="en-US" smtClean="0"/>
          </a:p>
        </p:txBody>
      </p:sp>
      <p:pic>
        <p:nvPicPr>
          <p:cNvPr id="52228" name="Picture 6"/>
          <p:cNvPicPr>
            <a:picLocks noChangeAspect="1" noChangeArrowheads="1"/>
          </p:cNvPicPr>
          <p:nvPr/>
        </p:nvPicPr>
        <p:blipFill>
          <a:blip r:embed="rId2"/>
          <a:srcRect/>
          <a:stretch>
            <a:fillRect/>
          </a:stretch>
        </p:blipFill>
        <p:spPr bwMode="auto">
          <a:xfrm>
            <a:off x="1524000" y="3581400"/>
            <a:ext cx="6400800" cy="1143000"/>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p:cNvSpPr>
            <a:spLocks noGrp="1"/>
          </p:cNvSpPr>
          <p:nvPr>
            <p:ph type="sldNum" sz="quarter" idx="12"/>
          </p:nvPr>
        </p:nvSpPr>
        <p:spPr>
          <a:noFill/>
        </p:spPr>
        <p:txBody>
          <a:bodyPr/>
          <a:lstStyle/>
          <a:p>
            <a:fld id="{9D905ECF-3D47-4AF8-BBDA-2565635D5FCB}" type="slidenum">
              <a:rPr lang="en-US" smtClean="0"/>
              <a:pPr/>
              <a:t>47</a:t>
            </a:fld>
            <a:endParaRPr lang="en-US" smtClean="0"/>
          </a:p>
        </p:txBody>
      </p:sp>
      <p:sp>
        <p:nvSpPr>
          <p:cNvPr id="53251" name="Rectangle 4"/>
          <p:cNvSpPr>
            <a:spLocks noGrp="1" noChangeArrowheads="1"/>
          </p:cNvSpPr>
          <p:nvPr>
            <p:ph type="title"/>
          </p:nvPr>
        </p:nvSpPr>
        <p:spPr>
          <a:xfrm>
            <a:off x="1143000" y="685800"/>
            <a:ext cx="7793038" cy="609600"/>
          </a:xfrm>
          <a:noFill/>
        </p:spPr>
        <p:txBody>
          <a:bodyPr anchor="b"/>
          <a:lstStyle/>
          <a:p>
            <a:pPr eaLnBrk="1" hangingPunct="1"/>
            <a:r>
              <a:rPr lang="en-US" smtClean="0"/>
              <a:t>Naïve Bayesian Classification</a:t>
            </a:r>
            <a:endParaRPr lang="it-IT" smtClean="0"/>
          </a:p>
        </p:txBody>
      </p:sp>
      <p:sp>
        <p:nvSpPr>
          <p:cNvPr id="53252" name="Rectangle 5"/>
          <p:cNvSpPr>
            <a:spLocks noGrp="1" noChangeArrowheads="1"/>
          </p:cNvSpPr>
          <p:nvPr>
            <p:ph type="body" idx="1"/>
          </p:nvPr>
        </p:nvSpPr>
        <p:spPr>
          <a:xfrm>
            <a:off x="457200" y="1447800"/>
            <a:ext cx="8382000" cy="4800600"/>
          </a:xfrm>
          <a:noFill/>
        </p:spPr>
        <p:txBody>
          <a:bodyPr/>
          <a:lstStyle/>
          <a:p>
            <a:pPr algn="just" eaLnBrk="1" hangingPunct="1"/>
            <a:r>
              <a:rPr lang="en-US" sz="2200" smtClean="0"/>
              <a:t>Naïve assumption: attribute independence</a:t>
            </a:r>
          </a:p>
          <a:p>
            <a:pPr algn="just" eaLnBrk="1" hangingPunct="1"/>
            <a:endParaRPr lang="en-US" sz="2200" smtClean="0"/>
          </a:p>
          <a:p>
            <a:pPr algn="just" eaLnBrk="1" hangingPunct="1"/>
            <a:r>
              <a:rPr lang="en-US" sz="2200" smtClean="0"/>
              <a:t>P(x1,…,xk|C) = P(x1|C)·…·P(xk|C)</a:t>
            </a:r>
          </a:p>
          <a:p>
            <a:pPr algn="just" eaLnBrk="1" hangingPunct="1"/>
            <a:endParaRPr lang="en-US" sz="2200" smtClean="0"/>
          </a:p>
          <a:p>
            <a:pPr algn="just" eaLnBrk="1" hangingPunct="1"/>
            <a:r>
              <a:rPr lang="en-US" sz="2200" smtClean="0"/>
              <a:t>If i-th attribute is categorical:</a:t>
            </a:r>
          </a:p>
          <a:p>
            <a:pPr algn="just" eaLnBrk="1" hangingPunct="1">
              <a:buFontTx/>
              <a:buNone/>
            </a:pPr>
            <a:r>
              <a:rPr lang="en-US" sz="2200" smtClean="0"/>
              <a:t>	P(xi|C) is estimated as the relative freq of samples having value xi as i-th attribute in class C</a:t>
            </a:r>
          </a:p>
          <a:p>
            <a:pPr algn="just" eaLnBrk="1" hangingPunct="1"/>
            <a:endParaRPr lang="en-US" sz="2200" smtClean="0"/>
          </a:p>
          <a:p>
            <a:pPr algn="just" eaLnBrk="1" hangingPunct="1"/>
            <a:r>
              <a:rPr lang="en-US" sz="2200" smtClean="0"/>
              <a:t>If i-th attribute is continuous:</a:t>
            </a:r>
          </a:p>
          <a:p>
            <a:pPr algn="just" eaLnBrk="1" hangingPunct="1">
              <a:buFontTx/>
              <a:buNone/>
            </a:pPr>
            <a:r>
              <a:rPr lang="en-US" sz="2200" smtClean="0"/>
              <a:t>	P(xi|C) is estimated thru a Gaussian density function</a:t>
            </a:r>
            <a:endParaRPr lang="it-IT" sz="2200" smtClean="0"/>
          </a:p>
          <a:p>
            <a:pPr algn="just" eaLnBrk="1" hangingPunct="1"/>
            <a:endParaRPr lang="en-US" sz="2200" smtClean="0"/>
          </a:p>
          <a:p>
            <a:pPr algn="just" eaLnBrk="1" hangingPunct="1"/>
            <a:r>
              <a:rPr lang="en-US" sz="2200" smtClean="0"/>
              <a:t>Computationally easy in both cases</a:t>
            </a:r>
            <a:endParaRPr lang="it-IT" sz="2200" smtClean="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p:cNvSpPr>
            <a:spLocks noGrp="1"/>
          </p:cNvSpPr>
          <p:nvPr>
            <p:ph type="sldNum" sz="quarter" idx="12"/>
          </p:nvPr>
        </p:nvSpPr>
        <p:spPr>
          <a:noFill/>
        </p:spPr>
        <p:txBody>
          <a:bodyPr/>
          <a:lstStyle/>
          <a:p>
            <a:fld id="{26DE7DC3-D67C-46C1-807D-DF71C4A3BD4C}" type="slidenum">
              <a:rPr lang="en-US" smtClean="0"/>
              <a:pPr/>
              <a:t>48</a:t>
            </a:fld>
            <a:endParaRPr lang="en-US" smtClean="0"/>
          </a:p>
        </p:txBody>
      </p:sp>
      <p:pic>
        <p:nvPicPr>
          <p:cNvPr id="54275" name="Picture 4"/>
          <p:cNvPicPr>
            <a:picLocks noChangeAspect="1" noChangeArrowheads="1"/>
          </p:cNvPicPr>
          <p:nvPr/>
        </p:nvPicPr>
        <p:blipFill>
          <a:blip r:embed="rId2"/>
          <a:srcRect/>
          <a:stretch>
            <a:fillRect/>
          </a:stretch>
        </p:blipFill>
        <p:spPr bwMode="auto">
          <a:xfrm>
            <a:off x="0" y="609600"/>
            <a:ext cx="9144000" cy="5761038"/>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p:cNvSpPr>
            <a:spLocks noGrp="1"/>
          </p:cNvSpPr>
          <p:nvPr>
            <p:ph type="sldNum" sz="quarter" idx="12"/>
          </p:nvPr>
        </p:nvSpPr>
        <p:spPr>
          <a:noFill/>
        </p:spPr>
        <p:txBody>
          <a:bodyPr/>
          <a:lstStyle/>
          <a:p>
            <a:fld id="{7BF0701B-D97A-4BE4-8EB4-5C4DA6B99DED}" type="slidenum">
              <a:rPr lang="en-US" smtClean="0"/>
              <a:pPr/>
              <a:t>49</a:t>
            </a:fld>
            <a:endParaRPr lang="en-US" smtClean="0"/>
          </a:p>
        </p:txBody>
      </p:sp>
      <p:sp>
        <p:nvSpPr>
          <p:cNvPr id="55299" name="Rectangle 5"/>
          <p:cNvSpPr>
            <a:spLocks noGrp="1" noChangeArrowheads="1"/>
          </p:cNvSpPr>
          <p:nvPr>
            <p:ph type="body" idx="1"/>
          </p:nvPr>
        </p:nvSpPr>
        <p:spPr>
          <a:xfrm>
            <a:off x="457200" y="381000"/>
            <a:ext cx="8305800" cy="4343400"/>
          </a:xfrm>
          <a:noFill/>
        </p:spPr>
        <p:txBody>
          <a:bodyPr/>
          <a:lstStyle/>
          <a:p>
            <a:pPr eaLnBrk="1" hangingPunct="1"/>
            <a:r>
              <a:rPr lang="en-US" sz="2400" b="1" smtClean="0"/>
              <a:t>Example: </a:t>
            </a:r>
            <a:r>
              <a:rPr lang="en-US" sz="2400" smtClean="0"/>
              <a:t>Predicting a class label using naïve Bayesian classification. </a:t>
            </a:r>
          </a:p>
          <a:p>
            <a:pPr eaLnBrk="1" hangingPunct="1"/>
            <a:r>
              <a:rPr lang="en-US" sz="2400" smtClean="0"/>
              <a:t>We wish to predict the class label of a tuple using naïve Bayesian classification. The training data are in Table 6.1. </a:t>
            </a:r>
          </a:p>
          <a:p>
            <a:pPr eaLnBrk="1" hangingPunct="1"/>
            <a:r>
              <a:rPr lang="en-US" sz="2400" smtClean="0"/>
              <a:t>The data tuples are described by the attributes </a:t>
            </a:r>
            <a:r>
              <a:rPr lang="en-US" sz="2400" i="1" smtClean="0"/>
              <a:t>age</a:t>
            </a:r>
            <a:r>
              <a:rPr lang="en-US" sz="2400" smtClean="0"/>
              <a:t>, </a:t>
            </a:r>
            <a:r>
              <a:rPr lang="en-US" sz="2400" i="1" smtClean="0"/>
              <a:t>income</a:t>
            </a:r>
            <a:r>
              <a:rPr lang="en-US" sz="2400" smtClean="0"/>
              <a:t>, </a:t>
            </a:r>
            <a:r>
              <a:rPr lang="en-US" sz="2400" i="1" smtClean="0"/>
              <a:t>student</a:t>
            </a:r>
            <a:r>
              <a:rPr lang="en-US" sz="2400" smtClean="0"/>
              <a:t>, and </a:t>
            </a:r>
            <a:r>
              <a:rPr lang="en-US" sz="2400" i="1" smtClean="0"/>
              <a:t>credit rating</a:t>
            </a:r>
            <a:r>
              <a:rPr lang="en-US" sz="2400" smtClean="0"/>
              <a:t>. The class label attribute, </a:t>
            </a:r>
            <a:r>
              <a:rPr lang="en-US" sz="2400" i="1" smtClean="0"/>
              <a:t>buys computer</a:t>
            </a:r>
            <a:r>
              <a:rPr lang="en-US" sz="2400" smtClean="0"/>
              <a:t>, has two distinct values (namely, {</a:t>
            </a:r>
            <a:r>
              <a:rPr lang="en-US" sz="2400" i="1" smtClean="0"/>
              <a:t>yes, no}</a:t>
            </a:r>
            <a:r>
              <a:rPr lang="en-US" sz="2400" smtClean="0"/>
              <a:t>). </a:t>
            </a:r>
          </a:p>
          <a:p>
            <a:pPr eaLnBrk="1" hangingPunct="1"/>
            <a:r>
              <a:rPr lang="en-US" sz="2400" smtClean="0"/>
              <a:t>Let </a:t>
            </a:r>
            <a:r>
              <a:rPr lang="en-US" sz="2400" i="1" smtClean="0"/>
              <a:t>C</a:t>
            </a:r>
            <a:r>
              <a:rPr lang="en-US" sz="2400" smtClean="0"/>
              <a:t>1 correspond to the class </a:t>
            </a:r>
            <a:r>
              <a:rPr lang="en-US" sz="2400" i="1" smtClean="0"/>
              <a:t>buys computer = yes </a:t>
            </a:r>
            <a:r>
              <a:rPr lang="en-US" sz="2400" smtClean="0"/>
              <a:t>and </a:t>
            </a:r>
            <a:r>
              <a:rPr lang="en-US" sz="2400" i="1" smtClean="0"/>
              <a:t>C</a:t>
            </a:r>
            <a:r>
              <a:rPr lang="en-US" sz="2400" smtClean="0"/>
              <a:t>2 correspond to </a:t>
            </a:r>
            <a:r>
              <a:rPr lang="en-US" sz="2400" i="1" smtClean="0"/>
              <a:t>buys computer = no. </a:t>
            </a:r>
          </a:p>
          <a:p>
            <a:pPr eaLnBrk="1" hangingPunct="1"/>
            <a:r>
              <a:rPr lang="en-US" sz="2400" smtClean="0"/>
              <a:t>The tuple we wish to classify is</a:t>
            </a:r>
          </a:p>
          <a:p>
            <a:pPr eaLnBrk="1" hangingPunct="1"/>
            <a:endParaRPr lang="en-US" sz="2400" smtClean="0"/>
          </a:p>
        </p:txBody>
      </p:sp>
      <p:sp>
        <p:nvSpPr>
          <p:cNvPr id="55300" name="Rectangle 6"/>
          <p:cNvSpPr>
            <a:spLocks noChangeArrowheads="1"/>
          </p:cNvSpPr>
          <p:nvPr/>
        </p:nvSpPr>
        <p:spPr bwMode="auto">
          <a:xfrm>
            <a:off x="76200" y="5440363"/>
            <a:ext cx="9067800" cy="427037"/>
          </a:xfrm>
          <a:prstGeom prst="rect">
            <a:avLst/>
          </a:prstGeom>
          <a:noFill/>
          <a:ln w="9525">
            <a:noFill/>
            <a:miter lim="800000"/>
            <a:headEnd/>
            <a:tailEnd/>
          </a:ln>
        </p:spPr>
        <p:txBody>
          <a:bodyPr>
            <a:spAutoFit/>
          </a:bodyPr>
          <a:lstStyle/>
          <a:p>
            <a:r>
              <a:rPr lang="en-US" sz="2200" b="1" i="1">
                <a:latin typeface="Times-BoldItalic-8r" charset="0"/>
              </a:rPr>
              <a:t>X </a:t>
            </a:r>
            <a:r>
              <a:rPr lang="en-US" sz="2200">
                <a:latin typeface="Minion-Regular" charset="0"/>
              </a:rPr>
              <a:t>= (</a:t>
            </a:r>
            <a:r>
              <a:rPr lang="en-US" sz="2200" i="1">
                <a:latin typeface="Minion-Italic" charset="0"/>
              </a:rPr>
              <a:t>age = youth, income = medium, student = yes, credit rating = fair</a:t>
            </a:r>
            <a:r>
              <a:rPr lang="en-US" sz="2200">
                <a:latin typeface="Minion-Regular" charset="0"/>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p:spPr>
        <p:txBody>
          <a:bodyPr/>
          <a:lstStyle/>
          <a:p>
            <a:fld id="{2D3D71EE-F2A3-4399-84FE-E3D5A31B7F9C}" type="slidenum">
              <a:rPr lang="en-US" smtClean="0"/>
              <a:pPr/>
              <a:t>50</a:t>
            </a:fld>
            <a:endParaRPr lang="en-US" smtClean="0"/>
          </a:p>
        </p:txBody>
      </p:sp>
      <p:sp>
        <p:nvSpPr>
          <p:cNvPr id="56323" name="Rectangle 5"/>
          <p:cNvSpPr>
            <a:spLocks noGrp="1" noChangeArrowheads="1"/>
          </p:cNvSpPr>
          <p:nvPr>
            <p:ph type="body" idx="1"/>
          </p:nvPr>
        </p:nvSpPr>
        <p:spPr>
          <a:xfrm>
            <a:off x="609600" y="838200"/>
            <a:ext cx="8077200" cy="4495800"/>
          </a:xfrm>
          <a:noFill/>
        </p:spPr>
        <p:txBody>
          <a:bodyPr/>
          <a:lstStyle/>
          <a:p>
            <a:pPr eaLnBrk="1" hangingPunct="1"/>
            <a:r>
              <a:rPr lang="en-US" sz="2400" smtClean="0"/>
              <a:t>We need to maximize </a:t>
            </a:r>
            <a:r>
              <a:rPr lang="en-US" sz="2400" i="1" smtClean="0"/>
              <a:t>P</a:t>
            </a:r>
            <a:r>
              <a:rPr lang="en-US" sz="2400" smtClean="0"/>
              <a:t>(</a:t>
            </a:r>
            <a:r>
              <a:rPr lang="en-US" sz="2400" b="1" i="1" smtClean="0"/>
              <a:t>X/</a:t>
            </a:r>
            <a:r>
              <a:rPr lang="en-US" sz="2400" i="1" smtClean="0"/>
              <a:t>Ci</a:t>
            </a:r>
            <a:r>
              <a:rPr lang="en-US" sz="2400" smtClean="0"/>
              <a:t>)</a:t>
            </a:r>
            <a:r>
              <a:rPr lang="en-US" sz="2400" i="1" smtClean="0"/>
              <a:t>P</a:t>
            </a:r>
            <a:r>
              <a:rPr lang="en-US" sz="2400" smtClean="0"/>
              <a:t>(</a:t>
            </a:r>
            <a:r>
              <a:rPr lang="en-US" sz="2400" i="1" smtClean="0"/>
              <a:t>Ci</a:t>
            </a:r>
            <a:r>
              <a:rPr lang="en-US" sz="2400" smtClean="0"/>
              <a:t>), for </a:t>
            </a:r>
            <a:r>
              <a:rPr lang="en-US" sz="2400" i="1" smtClean="0"/>
              <a:t>i </a:t>
            </a:r>
            <a:r>
              <a:rPr lang="en-US" sz="2400" smtClean="0"/>
              <a:t>= 1, 2. </a:t>
            </a:r>
            <a:r>
              <a:rPr lang="en-US" sz="2400" i="1" smtClean="0"/>
              <a:t>P</a:t>
            </a:r>
            <a:r>
              <a:rPr lang="en-US" sz="2400" smtClean="0"/>
              <a:t>(</a:t>
            </a:r>
            <a:r>
              <a:rPr lang="en-US" sz="2400" i="1" smtClean="0"/>
              <a:t>Ci</a:t>
            </a:r>
            <a:r>
              <a:rPr lang="en-US" sz="2400" smtClean="0"/>
              <a:t>), the prior probability of each class, can be computed based on the training tuples:</a:t>
            </a:r>
          </a:p>
          <a:p>
            <a:pPr eaLnBrk="1" hangingPunct="1">
              <a:buFontTx/>
              <a:buNone/>
            </a:pPr>
            <a:r>
              <a:rPr lang="en-US" sz="2400" i="1" smtClean="0"/>
              <a:t>	</a:t>
            </a:r>
          </a:p>
          <a:p>
            <a:pPr eaLnBrk="1" hangingPunct="1">
              <a:buFontTx/>
              <a:buNone/>
            </a:pPr>
            <a:r>
              <a:rPr lang="en-US" sz="2400" i="1" smtClean="0"/>
              <a:t>	P</a:t>
            </a:r>
            <a:r>
              <a:rPr lang="en-US" sz="2400" smtClean="0"/>
              <a:t>(</a:t>
            </a:r>
            <a:r>
              <a:rPr lang="en-US" sz="2400" i="1" smtClean="0"/>
              <a:t>buys computer = yes</a:t>
            </a:r>
            <a:r>
              <a:rPr lang="en-US" sz="2400" smtClean="0"/>
              <a:t>) = 9=14 = 0:643</a:t>
            </a:r>
          </a:p>
          <a:p>
            <a:pPr eaLnBrk="1" hangingPunct="1">
              <a:buFontTx/>
              <a:buNone/>
            </a:pPr>
            <a:r>
              <a:rPr lang="en-US" sz="2400" i="1" smtClean="0"/>
              <a:t>	P</a:t>
            </a:r>
            <a:r>
              <a:rPr lang="en-US" sz="2400" smtClean="0"/>
              <a:t>(</a:t>
            </a:r>
            <a:r>
              <a:rPr lang="en-US" sz="2400" i="1" smtClean="0"/>
              <a:t>buys computer = no</a:t>
            </a:r>
            <a:r>
              <a:rPr lang="en-US" sz="2400" smtClean="0"/>
              <a:t>) = 5=14 = 0:357</a:t>
            </a:r>
          </a:p>
          <a:p>
            <a:pPr eaLnBrk="1" hangingPunct="1"/>
            <a:endParaRPr lang="en-US" sz="2400" smtClean="0"/>
          </a:p>
          <a:p>
            <a:pPr eaLnBrk="1" hangingPunct="1"/>
            <a:r>
              <a:rPr lang="en-US" sz="2400" smtClean="0"/>
              <a:t>To compute </a:t>
            </a:r>
            <a:r>
              <a:rPr lang="en-US" sz="2400" i="1" smtClean="0"/>
              <a:t>P</a:t>
            </a:r>
            <a:r>
              <a:rPr lang="en-US" sz="2400" b="1" i="1" smtClean="0"/>
              <a:t>X/</a:t>
            </a:r>
            <a:r>
              <a:rPr lang="en-US" sz="2400" i="1" smtClean="0"/>
              <a:t>Ci</a:t>
            </a:r>
            <a:r>
              <a:rPr lang="en-US" sz="2400" smtClean="0"/>
              <a:t>), for </a:t>
            </a:r>
            <a:r>
              <a:rPr lang="en-US" sz="2400" i="1" smtClean="0"/>
              <a:t>i </a:t>
            </a:r>
            <a:r>
              <a:rPr lang="en-US" sz="2400" smtClean="0"/>
              <a:t>= 1, 2, we compute the following conditional probabilities:</a:t>
            </a:r>
          </a:p>
          <a:p>
            <a:pPr eaLnBrk="1" hangingPunct="1"/>
            <a:endParaRPr lang="en-US" sz="240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a:noFill/>
        </p:spPr>
        <p:txBody>
          <a:bodyPr/>
          <a:lstStyle/>
          <a:p>
            <a:fld id="{EBAD4AEF-0BFB-48D8-8EB3-236A4693BCF1}" type="slidenum">
              <a:rPr lang="en-US" smtClean="0"/>
              <a:pPr/>
              <a:t>51</a:t>
            </a:fld>
            <a:endParaRPr lang="en-US" smtClean="0"/>
          </a:p>
        </p:txBody>
      </p:sp>
      <p:sp>
        <p:nvSpPr>
          <p:cNvPr id="57347" name="Rectangle 5"/>
          <p:cNvSpPr>
            <a:spLocks noGrp="1" noChangeArrowheads="1"/>
          </p:cNvSpPr>
          <p:nvPr>
            <p:ph type="body" idx="1"/>
          </p:nvPr>
        </p:nvSpPr>
        <p:spPr>
          <a:xfrm>
            <a:off x="609600" y="304800"/>
            <a:ext cx="8077200" cy="3581400"/>
          </a:xfrm>
          <a:noFill/>
        </p:spPr>
        <p:txBody>
          <a:bodyPr/>
          <a:lstStyle/>
          <a:p>
            <a:pPr algn="just" eaLnBrk="1" hangingPunct="1"/>
            <a:r>
              <a:rPr lang="en-US" sz="2200" i="1" smtClean="0"/>
              <a:t>P</a:t>
            </a:r>
            <a:r>
              <a:rPr lang="en-US" sz="2200" smtClean="0"/>
              <a:t>(</a:t>
            </a:r>
            <a:r>
              <a:rPr lang="en-US" sz="2200" i="1" smtClean="0"/>
              <a:t>age = youth /</a:t>
            </a:r>
            <a:r>
              <a:rPr lang="en-US" sz="2200" smtClean="0"/>
              <a:t> </a:t>
            </a:r>
            <a:r>
              <a:rPr lang="en-US" sz="2200" i="1" smtClean="0"/>
              <a:t>buys computer = yes</a:t>
            </a:r>
            <a:r>
              <a:rPr lang="en-US" sz="2200" smtClean="0"/>
              <a:t>) = 2/9 = 0:222</a:t>
            </a:r>
          </a:p>
          <a:p>
            <a:pPr algn="just" eaLnBrk="1" hangingPunct="1"/>
            <a:r>
              <a:rPr lang="en-US" sz="2200" i="1" smtClean="0"/>
              <a:t>P</a:t>
            </a:r>
            <a:r>
              <a:rPr lang="en-US" sz="2200" smtClean="0"/>
              <a:t>(</a:t>
            </a:r>
            <a:r>
              <a:rPr lang="en-US" sz="2200" i="1" smtClean="0"/>
              <a:t>age = youth /</a:t>
            </a:r>
            <a:r>
              <a:rPr lang="en-US" sz="2200" smtClean="0"/>
              <a:t> </a:t>
            </a:r>
            <a:r>
              <a:rPr lang="en-US" sz="2200" i="1" smtClean="0"/>
              <a:t>buys computer = no</a:t>
            </a:r>
            <a:r>
              <a:rPr lang="en-US" sz="2200" smtClean="0"/>
              <a:t>) = 3/5 = 0:600</a:t>
            </a:r>
          </a:p>
          <a:p>
            <a:pPr algn="just" eaLnBrk="1" hangingPunct="1"/>
            <a:r>
              <a:rPr lang="en-US" sz="2200" i="1" smtClean="0"/>
              <a:t>P</a:t>
            </a:r>
            <a:r>
              <a:rPr lang="en-US" sz="2200" smtClean="0"/>
              <a:t>(</a:t>
            </a:r>
            <a:r>
              <a:rPr lang="en-US" sz="2200" i="1" smtClean="0"/>
              <a:t>income = medium /</a:t>
            </a:r>
            <a:r>
              <a:rPr lang="en-US" sz="2200" smtClean="0"/>
              <a:t> </a:t>
            </a:r>
            <a:r>
              <a:rPr lang="en-US" sz="2200" i="1" smtClean="0"/>
              <a:t>buys computer = yes</a:t>
            </a:r>
            <a:r>
              <a:rPr lang="en-US" sz="2200" smtClean="0"/>
              <a:t>) = 4/9 = 0:444</a:t>
            </a:r>
          </a:p>
          <a:p>
            <a:pPr algn="just" eaLnBrk="1" hangingPunct="1"/>
            <a:r>
              <a:rPr lang="en-US" sz="2200" i="1" smtClean="0"/>
              <a:t>P</a:t>
            </a:r>
            <a:r>
              <a:rPr lang="en-US" sz="2200" smtClean="0"/>
              <a:t>(</a:t>
            </a:r>
            <a:r>
              <a:rPr lang="en-US" sz="2200" i="1" smtClean="0"/>
              <a:t>income = medium /</a:t>
            </a:r>
            <a:r>
              <a:rPr lang="en-US" sz="2200" smtClean="0"/>
              <a:t> </a:t>
            </a:r>
            <a:r>
              <a:rPr lang="en-US" sz="2200" i="1" smtClean="0"/>
              <a:t>buys computer = no</a:t>
            </a:r>
            <a:r>
              <a:rPr lang="en-US" sz="2200" smtClean="0"/>
              <a:t>) = 2/5 = 0:400</a:t>
            </a:r>
          </a:p>
          <a:p>
            <a:pPr algn="just" eaLnBrk="1" hangingPunct="1"/>
            <a:r>
              <a:rPr lang="en-US" sz="2200" i="1" smtClean="0"/>
              <a:t>P</a:t>
            </a:r>
            <a:r>
              <a:rPr lang="en-US" sz="2200" smtClean="0"/>
              <a:t>(</a:t>
            </a:r>
            <a:r>
              <a:rPr lang="en-US" sz="2200" i="1" smtClean="0"/>
              <a:t>student = yes /</a:t>
            </a:r>
            <a:r>
              <a:rPr lang="en-US" sz="2200" smtClean="0"/>
              <a:t> </a:t>
            </a:r>
            <a:r>
              <a:rPr lang="en-US" sz="2200" i="1" smtClean="0"/>
              <a:t>buys computer = yes</a:t>
            </a:r>
            <a:r>
              <a:rPr lang="en-US" sz="2200" smtClean="0"/>
              <a:t>) = 6/9 = 0:667</a:t>
            </a:r>
          </a:p>
          <a:p>
            <a:pPr algn="just" eaLnBrk="1" hangingPunct="1"/>
            <a:r>
              <a:rPr lang="en-US" sz="2200" i="1" smtClean="0"/>
              <a:t>P</a:t>
            </a:r>
            <a:r>
              <a:rPr lang="en-US" sz="2200" smtClean="0"/>
              <a:t>(</a:t>
            </a:r>
            <a:r>
              <a:rPr lang="en-US" sz="2200" i="1" smtClean="0"/>
              <a:t>student = yes /</a:t>
            </a:r>
            <a:r>
              <a:rPr lang="en-US" sz="2200" smtClean="0"/>
              <a:t> </a:t>
            </a:r>
            <a:r>
              <a:rPr lang="en-US" sz="2200" i="1" smtClean="0"/>
              <a:t>buys computer = no</a:t>
            </a:r>
            <a:r>
              <a:rPr lang="en-US" sz="2200" smtClean="0"/>
              <a:t>) = 1/5 = 0:200</a:t>
            </a:r>
          </a:p>
          <a:p>
            <a:pPr algn="just" eaLnBrk="1" hangingPunct="1"/>
            <a:r>
              <a:rPr lang="en-US" sz="2200" i="1" smtClean="0"/>
              <a:t>P</a:t>
            </a:r>
            <a:r>
              <a:rPr lang="en-US" sz="2200" smtClean="0"/>
              <a:t>(</a:t>
            </a:r>
            <a:r>
              <a:rPr lang="en-US" sz="2200" i="1" smtClean="0"/>
              <a:t>credit rating = fair /</a:t>
            </a:r>
            <a:r>
              <a:rPr lang="en-US" sz="2200" smtClean="0"/>
              <a:t> </a:t>
            </a:r>
            <a:r>
              <a:rPr lang="en-US" sz="2200" i="1" smtClean="0"/>
              <a:t>buys computer = yes</a:t>
            </a:r>
            <a:r>
              <a:rPr lang="en-US" sz="2200" smtClean="0"/>
              <a:t>) = 6/9 = 0:667</a:t>
            </a:r>
          </a:p>
          <a:p>
            <a:pPr algn="just" eaLnBrk="1" hangingPunct="1"/>
            <a:r>
              <a:rPr lang="en-US" sz="2200" i="1" smtClean="0"/>
              <a:t>P</a:t>
            </a:r>
            <a:r>
              <a:rPr lang="en-US" sz="2200" smtClean="0"/>
              <a:t>(</a:t>
            </a:r>
            <a:r>
              <a:rPr lang="en-US" sz="2200" i="1" smtClean="0"/>
              <a:t>credit rating = fair /</a:t>
            </a:r>
            <a:r>
              <a:rPr lang="en-US" sz="2200" smtClean="0"/>
              <a:t> </a:t>
            </a:r>
            <a:r>
              <a:rPr lang="en-US" sz="2200" i="1" smtClean="0"/>
              <a:t>buys computer = no</a:t>
            </a:r>
            <a:r>
              <a:rPr lang="en-US" sz="2200" smtClean="0"/>
              <a:t>) = 2/5 = 0:400</a:t>
            </a:r>
          </a:p>
          <a:p>
            <a:pPr algn="just" eaLnBrk="1" hangingPunct="1">
              <a:buFontTx/>
              <a:buNone/>
            </a:pPr>
            <a:endParaRPr lang="en-US" sz="2200" smtClean="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p:spPr>
        <p:txBody>
          <a:bodyPr/>
          <a:lstStyle/>
          <a:p>
            <a:fld id="{5C60AD0D-0620-41AD-8E3E-13BDA1B3992D}" type="slidenum">
              <a:rPr lang="en-US" smtClean="0"/>
              <a:pPr/>
              <a:t>52</a:t>
            </a:fld>
            <a:endParaRPr lang="en-US" smtClean="0"/>
          </a:p>
        </p:txBody>
      </p:sp>
      <p:sp>
        <p:nvSpPr>
          <p:cNvPr id="58371" name="Rectangle 5"/>
          <p:cNvSpPr>
            <a:spLocks noGrp="1" noChangeArrowheads="1"/>
          </p:cNvSpPr>
          <p:nvPr>
            <p:ph type="body" idx="1"/>
          </p:nvPr>
        </p:nvSpPr>
        <p:spPr>
          <a:xfrm>
            <a:off x="457200" y="381000"/>
            <a:ext cx="8382000" cy="5486400"/>
          </a:xfrm>
          <a:noFill/>
        </p:spPr>
        <p:txBody>
          <a:bodyPr/>
          <a:lstStyle/>
          <a:p>
            <a:pPr eaLnBrk="1" hangingPunct="1">
              <a:buFontTx/>
              <a:buNone/>
            </a:pPr>
            <a:r>
              <a:rPr lang="en-US" sz="2200" smtClean="0"/>
              <a:t>Using the above probabilities, we obtain</a:t>
            </a:r>
          </a:p>
          <a:p>
            <a:pPr eaLnBrk="1" hangingPunct="1">
              <a:buFontTx/>
              <a:buNone/>
            </a:pPr>
            <a:r>
              <a:rPr lang="en-US" sz="2200" i="1" smtClean="0"/>
              <a:t>P</a:t>
            </a:r>
            <a:r>
              <a:rPr lang="en-US" sz="2200" smtClean="0"/>
              <a:t>(</a:t>
            </a:r>
            <a:r>
              <a:rPr lang="en-US" sz="2200" b="1" i="1" smtClean="0"/>
              <a:t>X/</a:t>
            </a:r>
            <a:r>
              <a:rPr lang="en-US" sz="2200" i="1" smtClean="0"/>
              <a:t>buys computer = yes</a:t>
            </a:r>
            <a:r>
              <a:rPr lang="en-US" sz="2200" smtClean="0"/>
              <a:t>) = </a:t>
            </a:r>
          </a:p>
          <a:p>
            <a:pPr eaLnBrk="1" hangingPunct="1">
              <a:buFontTx/>
              <a:buNone/>
            </a:pPr>
            <a:endParaRPr lang="en-US" sz="2200" i="1" smtClean="0"/>
          </a:p>
          <a:p>
            <a:pPr eaLnBrk="1" hangingPunct="1">
              <a:buFontTx/>
              <a:buNone/>
            </a:pPr>
            <a:r>
              <a:rPr lang="en-US" sz="2200" i="1" smtClean="0"/>
              <a:t>P</a:t>
            </a:r>
            <a:r>
              <a:rPr lang="en-US" sz="2200" smtClean="0"/>
              <a:t>(</a:t>
            </a:r>
            <a:r>
              <a:rPr lang="en-US" sz="2200" i="1" smtClean="0"/>
              <a:t>age = youth /</a:t>
            </a:r>
            <a:r>
              <a:rPr lang="en-US" sz="2200" smtClean="0"/>
              <a:t> </a:t>
            </a:r>
            <a:r>
              <a:rPr lang="en-US" sz="2200" i="1" smtClean="0"/>
              <a:t>buys computer = yes</a:t>
            </a:r>
            <a:r>
              <a:rPr lang="en-US" sz="2200" smtClean="0"/>
              <a:t>) x</a:t>
            </a:r>
          </a:p>
          <a:p>
            <a:pPr eaLnBrk="1" hangingPunct="1">
              <a:buFontTx/>
              <a:buNone/>
            </a:pPr>
            <a:r>
              <a:rPr lang="en-US" sz="2200" i="1" smtClean="0"/>
              <a:t>P</a:t>
            </a:r>
            <a:r>
              <a:rPr lang="en-US" sz="2200" smtClean="0"/>
              <a:t>(</a:t>
            </a:r>
            <a:r>
              <a:rPr lang="en-US" sz="2200" i="1" smtClean="0"/>
              <a:t>income = medium /</a:t>
            </a:r>
            <a:r>
              <a:rPr lang="en-US" sz="2200" smtClean="0"/>
              <a:t> </a:t>
            </a:r>
            <a:r>
              <a:rPr lang="en-US" sz="2200" i="1" smtClean="0"/>
              <a:t>buys computer = yes</a:t>
            </a:r>
            <a:r>
              <a:rPr lang="en-US" sz="2200" smtClean="0"/>
              <a:t>) x</a:t>
            </a:r>
          </a:p>
          <a:p>
            <a:pPr eaLnBrk="1" hangingPunct="1">
              <a:buFontTx/>
              <a:buNone/>
            </a:pPr>
            <a:r>
              <a:rPr lang="en-US" sz="2200" i="1" smtClean="0"/>
              <a:t>P</a:t>
            </a:r>
            <a:r>
              <a:rPr lang="en-US" sz="2200" smtClean="0"/>
              <a:t>(</a:t>
            </a:r>
            <a:r>
              <a:rPr lang="en-US" sz="2200" i="1" smtClean="0"/>
              <a:t>student = yes /</a:t>
            </a:r>
            <a:r>
              <a:rPr lang="en-US" sz="2200" smtClean="0"/>
              <a:t> </a:t>
            </a:r>
            <a:r>
              <a:rPr lang="en-US" sz="2200" i="1" smtClean="0"/>
              <a:t>buys computer = yes</a:t>
            </a:r>
            <a:r>
              <a:rPr lang="en-US" sz="2200" smtClean="0"/>
              <a:t>) x</a:t>
            </a:r>
          </a:p>
          <a:p>
            <a:pPr eaLnBrk="1" hangingPunct="1">
              <a:buFontTx/>
              <a:buNone/>
            </a:pPr>
            <a:r>
              <a:rPr lang="en-US" sz="2200" i="1" smtClean="0"/>
              <a:t>P</a:t>
            </a:r>
            <a:r>
              <a:rPr lang="en-US" sz="2200" smtClean="0"/>
              <a:t>(</a:t>
            </a:r>
            <a:r>
              <a:rPr lang="en-US" sz="2200" i="1" smtClean="0"/>
              <a:t>credit rating = fair /</a:t>
            </a:r>
            <a:r>
              <a:rPr lang="en-US" sz="2200" smtClean="0"/>
              <a:t> </a:t>
            </a:r>
            <a:r>
              <a:rPr lang="en-US" sz="2200" i="1" smtClean="0"/>
              <a:t>buys computer = yes</a:t>
            </a:r>
            <a:r>
              <a:rPr lang="en-US" sz="2200" smtClean="0"/>
              <a:t>)</a:t>
            </a:r>
          </a:p>
          <a:p>
            <a:pPr eaLnBrk="1" hangingPunct="1">
              <a:buFontTx/>
              <a:buNone/>
            </a:pPr>
            <a:endParaRPr lang="en-US" sz="2200" smtClean="0"/>
          </a:p>
          <a:p>
            <a:pPr eaLnBrk="1" hangingPunct="1">
              <a:buFontTx/>
              <a:buNone/>
            </a:pPr>
            <a:r>
              <a:rPr lang="en-US" sz="2200" smtClean="0"/>
              <a:t>= 0.222 x 0.444 x 0.667 x 0.667 = 0:044.</a:t>
            </a:r>
          </a:p>
          <a:p>
            <a:pPr eaLnBrk="1" hangingPunct="1">
              <a:buFontTx/>
              <a:buNone/>
            </a:pPr>
            <a:endParaRPr lang="en-US" sz="2200" smtClean="0"/>
          </a:p>
          <a:p>
            <a:pPr eaLnBrk="1" hangingPunct="1">
              <a:buFontTx/>
              <a:buNone/>
            </a:pPr>
            <a:r>
              <a:rPr lang="en-US" sz="2200" smtClean="0"/>
              <a:t>Similarly,</a:t>
            </a:r>
          </a:p>
          <a:p>
            <a:pPr eaLnBrk="1" hangingPunct="1">
              <a:buFontTx/>
              <a:buNone/>
            </a:pPr>
            <a:r>
              <a:rPr lang="en-US" sz="2200" i="1" smtClean="0"/>
              <a:t>P</a:t>
            </a:r>
            <a:r>
              <a:rPr lang="en-US" sz="2200" smtClean="0"/>
              <a:t>(</a:t>
            </a:r>
            <a:r>
              <a:rPr lang="en-US" sz="2200" b="1" i="1" smtClean="0"/>
              <a:t>X/</a:t>
            </a:r>
            <a:r>
              <a:rPr lang="en-US" sz="2200" i="1" smtClean="0"/>
              <a:t>buys computer = no</a:t>
            </a:r>
            <a:r>
              <a:rPr lang="en-US" sz="2200" smtClean="0"/>
              <a:t>) = 0.600 x 0.400 x 0.200 x 0.400 =0.019.</a:t>
            </a:r>
          </a:p>
          <a:p>
            <a:pPr eaLnBrk="1" hangingPunct="1"/>
            <a:endParaRPr lang="en-US" sz="2200" smtClean="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p:spPr>
        <p:txBody>
          <a:bodyPr/>
          <a:lstStyle/>
          <a:p>
            <a:fld id="{DCB0B67C-D3B9-4CF0-B411-EFECDDEDACCF}" type="slidenum">
              <a:rPr lang="en-US" smtClean="0"/>
              <a:pPr/>
              <a:t>53</a:t>
            </a:fld>
            <a:endParaRPr lang="en-US" smtClean="0"/>
          </a:p>
        </p:txBody>
      </p:sp>
      <p:sp>
        <p:nvSpPr>
          <p:cNvPr id="59395" name="Rectangle 4"/>
          <p:cNvSpPr>
            <a:spLocks noGrp="1" noChangeArrowheads="1"/>
          </p:cNvSpPr>
          <p:nvPr>
            <p:ph type="body" idx="1"/>
          </p:nvPr>
        </p:nvSpPr>
        <p:spPr>
          <a:xfrm>
            <a:off x="685800" y="1676400"/>
            <a:ext cx="8077200" cy="4495800"/>
          </a:xfrm>
          <a:noFill/>
        </p:spPr>
        <p:txBody>
          <a:bodyPr/>
          <a:lstStyle/>
          <a:p>
            <a:pPr eaLnBrk="1" hangingPunct="1">
              <a:buFontTx/>
              <a:buNone/>
            </a:pPr>
            <a:r>
              <a:rPr lang="en-US" sz="2400" smtClean="0"/>
              <a:t>	To find the class, </a:t>
            </a:r>
            <a:r>
              <a:rPr lang="en-US" sz="2400" i="1" smtClean="0"/>
              <a:t>Ci</a:t>
            </a:r>
            <a:r>
              <a:rPr lang="en-US" sz="2400" smtClean="0"/>
              <a:t>, that maximizes </a:t>
            </a:r>
            <a:r>
              <a:rPr lang="en-US" sz="2400" i="1" smtClean="0"/>
              <a:t>P</a:t>
            </a:r>
            <a:r>
              <a:rPr lang="en-US" sz="2400" smtClean="0"/>
              <a:t>(</a:t>
            </a:r>
            <a:r>
              <a:rPr lang="en-US" sz="2400" b="1" i="1" smtClean="0"/>
              <a:t>X</a:t>
            </a:r>
            <a:r>
              <a:rPr lang="en-US" sz="2400" smtClean="0"/>
              <a:t>j</a:t>
            </a:r>
            <a:r>
              <a:rPr lang="en-US" sz="2400" i="1" smtClean="0"/>
              <a:t>Ci</a:t>
            </a:r>
            <a:r>
              <a:rPr lang="en-US" sz="2400" smtClean="0"/>
              <a:t>)</a:t>
            </a:r>
            <a:r>
              <a:rPr lang="en-US" sz="2400" i="1" smtClean="0"/>
              <a:t>P</a:t>
            </a:r>
            <a:r>
              <a:rPr lang="en-US" sz="2400" smtClean="0"/>
              <a:t>(</a:t>
            </a:r>
            <a:r>
              <a:rPr lang="en-US" sz="2400" i="1" smtClean="0"/>
              <a:t>Ci</a:t>
            </a:r>
            <a:r>
              <a:rPr lang="en-US" sz="2400" smtClean="0"/>
              <a:t>), we compute </a:t>
            </a:r>
          </a:p>
          <a:p>
            <a:pPr eaLnBrk="1" hangingPunct="1">
              <a:buFontTx/>
              <a:buNone/>
            </a:pPr>
            <a:r>
              <a:rPr lang="en-US" sz="2400" i="1" smtClean="0"/>
              <a:t>	P</a:t>
            </a:r>
            <a:r>
              <a:rPr lang="en-US" sz="2400" smtClean="0"/>
              <a:t>(</a:t>
            </a:r>
            <a:r>
              <a:rPr lang="en-US" sz="2400" b="1" i="1" smtClean="0"/>
              <a:t>X/</a:t>
            </a:r>
            <a:r>
              <a:rPr lang="en-US" sz="2400" i="1" smtClean="0"/>
              <a:t>buys_computer = yes</a:t>
            </a:r>
            <a:r>
              <a:rPr lang="en-US" sz="2400" smtClean="0"/>
              <a:t>)</a:t>
            </a:r>
            <a:r>
              <a:rPr lang="en-US" sz="2400" i="1" smtClean="0"/>
              <a:t>P</a:t>
            </a:r>
            <a:r>
              <a:rPr lang="en-US" sz="2400" smtClean="0"/>
              <a:t>(</a:t>
            </a:r>
            <a:r>
              <a:rPr lang="en-US" sz="2400" i="1" smtClean="0"/>
              <a:t>buys_computer = yes</a:t>
            </a:r>
            <a:r>
              <a:rPr lang="en-US" sz="2400" smtClean="0"/>
              <a:t>) </a:t>
            </a:r>
          </a:p>
          <a:p>
            <a:pPr eaLnBrk="1" hangingPunct="1">
              <a:buFontTx/>
              <a:buNone/>
            </a:pPr>
            <a:r>
              <a:rPr lang="en-US" sz="2400" smtClean="0"/>
              <a:t>		= 0.044 x 0.643 = 0.028</a:t>
            </a:r>
          </a:p>
          <a:p>
            <a:pPr eaLnBrk="1" hangingPunct="1">
              <a:buFontTx/>
              <a:buNone/>
            </a:pPr>
            <a:r>
              <a:rPr lang="en-US" sz="2400" i="1" smtClean="0"/>
              <a:t>	P</a:t>
            </a:r>
            <a:r>
              <a:rPr lang="en-US" sz="2400" smtClean="0"/>
              <a:t>(</a:t>
            </a:r>
            <a:r>
              <a:rPr lang="en-US" sz="2400" b="1" i="1" smtClean="0"/>
              <a:t>X/</a:t>
            </a:r>
            <a:r>
              <a:rPr lang="en-US" sz="2400" i="1" smtClean="0"/>
              <a:t>buys_computer = no</a:t>
            </a:r>
            <a:r>
              <a:rPr lang="en-US" sz="2400" smtClean="0"/>
              <a:t>)</a:t>
            </a:r>
            <a:r>
              <a:rPr lang="en-US" sz="2400" i="1" smtClean="0"/>
              <a:t>P</a:t>
            </a:r>
            <a:r>
              <a:rPr lang="en-US" sz="2400" smtClean="0"/>
              <a:t>(</a:t>
            </a:r>
            <a:r>
              <a:rPr lang="en-US" sz="2400" i="1" smtClean="0"/>
              <a:t>buys_computer = no</a:t>
            </a:r>
            <a:r>
              <a:rPr lang="en-US" sz="2400" smtClean="0"/>
              <a:t>) </a:t>
            </a:r>
          </a:p>
          <a:p>
            <a:pPr lvl="1" eaLnBrk="1" hangingPunct="1">
              <a:buFontTx/>
              <a:buNone/>
            </a:pPr>
            <a:r>
              <a:rPr lang="en-US" sz="2000" smtClean="0"/>
              <a:t>		</a:t>
            </a:r>
            <a:r>
              <a:rPr lang="en-US" sz="2400" smtClean="0"/>
              <a:t>= 0:0190:357 = 0:007</a:t>
            </a:r>
          </a:p>
          <a:p>
            <a:pPr lvl="1" eaLnBrk="1" hangingPunct="1">
              <a:buFontTx/>
              <a:buNone/>
            </a:pPr>
            <a:endParaRPr lang="en-US" sz="2400" smtClean="0"/>
          </a:p>
          <a:p>
            <a:pPr eaLnBrk="1" hangingPunct="1"/>
            <a:r>
              <a:rPr lang="en-US" sz="2400" b="1" smtClean="0"/>
              <a:t>Therefore, the naïve Bayesian classifier predicts </a:t>
            </a:r>
            <a:r>
              <a:rPr lang="en-US" sz="2400" b="1" i="1" smtClean="0"/>
              <a:t>buys_computer = yes </a:t>
            </a:r>
            <a:r>
              <a:rPr lang="en-US" sz="2400" b="1" smtClean="0"/>
              <a:t>for tuple </a:t>
            </a:r>
            <a:r>
              <a:rPr lang="en-US" sz="2400" b="1" i="1" smtClean="0"/>
              <a:t>X</a:t>
            </a:r>
            <a:r>
              <a:rPr lang="en-US" sz="2400" b="1" smtClean="0"/>
              <a:t>.</a:t>
            </a:r>
          </a:p>
          <a:p>
            <a:pPr eaLnBrk="1" hangingPunct="1"/>
            <a:endParaRPr lang="en-US" sz="2400" b="1" smtClean="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p:spPr>
        <p:txBody>
          <a:bodyPr/>
          <a:lstStyle/>
          <a:p>
            <a:fld id="{1731B620-DBC8-4AFF-94FB-0EEAA9B145DB}" type="slidenum">
              <a:rPr lang="en-US" smtClean="0"/>
              <a:pPr/>
              <a:t>54</a:t>
            </a:fld>
            <a:endParaRPr lang="en-US" smtClean="0"/>
          </a:p>
        </p:txBody>
      </p:sp>
      <p:sp>
        <p:nvSpPr>
          <p:cNvPr id="60419" name="Rectangle 2"/>
          <p:cNvSpPr>
            <a:spLocks noGrp="1" noChangeArrowheads="1"/>
          </p:cNvSpPr>
          <p:nvPr>
            <p:ph type="title"/>
          </p:nvPr>
        </p:nvSpPr>
        <p:spPr>
          <a:xfrm>
            <a:off x="533400" y="838200"/>
            <a:ext cx="7772400" cy="609600"/>
          </a:xfrm>
        </p:spPr>
        <p:txBody>
          <a:bodyPr/>
          <a:lstStyle/>
          <a:p>
            <a:pPr eaLnBrk="1" hangingPunct="1"/>
            <a:r>
              <a:rPr lang="en-US" smtClean="0"/>
              <a:t>Bayesian Belief Networks (I)</a:t>
            </a:r>
          </a:p>
        </p:txBody>
      </p:sp>
      <p:sp>
        <p:nvSpPr>
          <p:cNvPr id="60420" name="Oval 3"/>
          <p:cNvSpPr>
            <a:spLocks noChangeArrowheads="1"/>
          </p:cNvSpPr>
          <p:nvPr/>
        </p:nvSpPr>
        <p:spPr bwMode="auto">
          <a:xfrm>
            <a:off x="457200" y="1447800"/>
            <a:ext cx="1295400" cy="762000"/>
          </a:xfrm>
          <a:prstGeom prst="ellipse">
            <a:avLst/>
          </a:prstGeom>
          <a:solidFill>
            <a:srgbClr val="F6E6EA"/>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Family</a:t>
            </a:r>
          </a:p>
          <a:p>
            <a:pPr algn="ctr" eaLnBrk="0" hangingPunct="0"/>
            <a:r>
              <a:rPr lang="en-US" b="1">
                <a:solidFill>
                  <a:srgbClr val="000000"/>
                </a:solidFill>
                <a:latin typeface="Times New Roman" pitchFamily="18" charset="0"/>
              </a:rPr>
              <a:t>History</a:t>
            </a:r>
            <a:endParaRPr lang="en-US">
              <a:latin typeface="Times New Roman" pitchFamily="18" charset="0"/>
            </a:endParaRPr>
          </a:p>
        </p:txBody>
      </p:sp>
      <p:sp>
        <p:nvSpPr>
          <p:cNvPr id="60421" name="Oval 4"/>
          <p:cNvSpPr>
            <a:spLocks noChangeArrowheads="1"/>
          </p:cNvSpPr>
          <p:nvPr/>
        </p:nvSpPr>
        <p:spPr bwMode="auto">
          <a:xfrm>
            <a:off x="457200" y="3048000"/>
            <a:ext cx="1295400" cy="762000"/>
          </a:xfrm>
          <a:prstGeom prst="ellipse">
            <a:avLst/>
          </a:prstGeom>
          <a:solidFill>
            <a:srgbClr val="CCCC00"/>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LungCancer</a:t>
            </a:r>
            <a:endParaRPr lang="en-US">
              <a:latin typeface="Times New Roman" pitchFamily="18" charset="0"/>
            </a:endParaRPr>
          </a:p>
        </p:txBody>
      </p:sp>
      <p:sp>
        <p:nvSpPr>
          <p:cNvPr id="60422" name="Oval 5"/>
          <p:cNvSpPr>
            <a:spLocks noChangeArrowheads="1"/>
          </p:cNvSpPr>
          <p:nvPr/>
        </p:nvSpPr>
        <p:spPr bwMode="auto">
          <a:xfrm>
            <a:off x="533400" y="4724400"/>
            <a:ext cx="1295400" cy="762000"/>
          </a:xfrm>
          <a:prstGeom prst="ellipse">
            <a:avLst/>
          </a:prstGeom>
          <a:solidFill>
            <a:srgbClr val="FAE2F6"/>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PositiveXRay</a:t>
            </a:r>
            <a:endParaRPr lang="en-US">
              <a:latin typeface="Times New Roman" pitchFamily="18" charset="0"/>
            </a:endParaRPr>
          </a:p>
        </p:txBody>
      </p:sp>
      <p:sp>
        <p:nvSpPr>
          <p:cNvPr id="60423" name="Oval 6"/>
          <p:cNvSpPr>
            <a:spLocks noChangeArrowheads="1"/>
          </p:cNvSpPr>
          <p:nvPr/>
        </p:nvSpPr>
        <p:spPr bwMode="auto">
          <a:xfrm>
            <a:off x="2667000" y="1447800"/>
            <a:ext cx="1295400" cy="762000"/>
          </a:xfrm>
          <a:prstGeom prst="ellipse">
            <a:avLst/>
          </a:prstGeom>
          <a:solidFill>
            <a:srgbClr val="FFFF00"/>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Smoker</a:t>
            </a:r>
          </a:p>
        </p:txBody>
      </p:sp>
      <p:sp>
        <p:nvSpPr>
          <p:cNvPr id="60424" name="Oval 7"/>
          <p:cNvSpPr>
            <a:spLocks noChangeArrowheads="1"/>
          </p:cNvSpPr>
          <p:nvPr/>
        </p:nvSpPr>
        <p:spPr bwMode="auto">
          <a:xfrm>
            <a:off x="2743200" y="3048000"/>
            <a:ext cx="1295400" cy="762000"/>
          </a:xfrm>
          <a:prstGeom prst="ellipse">
            <a:avLst/>
          </a:prstGeom>
          <a:solidFill>
            <a:srgbClr val="CCFFCC"/>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Emphysema</a:t>
            </a:r>
            <a:endParaRPr lang="en-US">
              <a:latin typeface="Times New Roman" pitchFamily="18" charset="0"/>
            </a:endParaRPr>
          </a:p>
        </p:txBody>
      </p:sp>
      <p:sp>
        <p:nvSpPr>
          <p:cNvPr id="60425" name="Oval 8"/>
          <p:cNvSpPr>
            <a:spLocks noChangeArrowheads="1"/>
          </p:cNvSpPr>
          <p:nvPr/>
        </p:nvSpPr>
        <p:spPr bwMode="auto">
          <a:xfrm>
            <a:off x="2895600" y="4724400"/>
            <a:ext cx="1295400" cy="762000"/>
          </a:xfrm>
          <a:prstGeom prst="ellipse">
            <a:avLst/>
          </a:prstGeom>
          <a:solidFill>
            <a:srgbClr val="99CCFF"/>
          </a:solidFill>
          <a:ln w="12700">
            <a:solidFill>
              <a:schemeClr val="tx1"/>
            </a:solidFill>
            <a:round/>
            <a:headEnd type="none" w="sm" len="sm"/>
            <a:tailEnd type="none" w="sm" len="sm"/>
          </a:ln>
        </p:spPr>
        <p:txBody>
          <a:bodyPr wrap="none" anchor="ctr"/>
          <a:lstStyle/>
          <a:p>
            <a:pPr algn="ctr" eaLnBrk="0" hangingPunct="0"/>
            <a:r>
              <a:rPr lang="en-US" b="1">
                <a:solidFill>
                  <a:srgbClr val="000000"/>
                </a:solidFill>
                <a:latin typeface="Times New Roman" pitchFamily="18" charset="0"/>
              </a:rPr>
              <a:t>Dyspnea</a:t>
            </a:r>
          </a:p>
        </p:txBody>
      </p:sp>
      <p:sp>
        <p:nvSpPr>
          <p:cNvPr id="60426" name="Line 9"/>
          <p:cNvSpPr>
            <a:spLocks noChangeShapeType="1"/>
          </p:cNvSpPr>
          <p:nvPr/>
        </p:nvSpPr>
        <p:spPr bwMode="auto">
          <a:xfrm>
            <a:off x="1143000" y="2209800"/>
            <a:ext cx="0" cy="838200"/>
          </a:xfrm>
          <a:prstGeom prst="line">
            <a:avLst/>
          </a:prstGeom>
          <a:noFill/>
          <a:ln w="38100">
            <a:solidFill>
              <a:srgbClr val="CC0099"/>
            </a:solidFill>
            <a:round/>
            <a:headEnd type="none" w="sm" len="sm"/>
            <a:tailEnd type="stealth" w="lg" len="lg"/>
          </a:ln>
        </p:spPr>
        <p:txBody>
          <a:bodyPr wrap="none" anchor="ctr"/>
          <a:lstStyle/>
          <a:p>
            <a:endParaRPr lang="en-US"/>
          </a:p>
        </p:txBody>
      </p:sp>
      <p:sp>
        <p:nvSpPr>
          <p:cNvPr id="60427" name="Line 10"/>
          <p:cNvSpPr>
            <a:spLocks noChangeShapeType="1"/>
          </p:cNvSpPr>
          <p:nvPr/>
        </p:nvSpPr>
        <p:spPr bwMode="auto">
          <a:xfrm>
            <a:off x="1143000" y="3810000"/>
            <a:ext cx="0" cy="914400"/>
          </a:xfrm>
          <a:prstGeom prst="line">
            <a:avLst/>
          </a:prstGeom>
          <a:noFill/>
          <a:ln w="12700">
            <a:solidFill>
              <a:schemeClr val="tx1"/>
            </a:solidFill>
            <a:round/>
            <a:headEnd type="none" w="sm" len="sm"/>
            <a:tailEnd type="stealth" w="lg" len="lg"/>
          </a:ln>
        </p:spPr>
        <p:txBody>
          <a:bodyPr wrap="none" anchor="ctr"/>
          <a:lstStyle/>
          <a:p>
            <a:endParaRPr lang="en-US"/>
          </a:p>
        </p:txBody>
      </p:sp>
      <p:sp>
        <p:nvSpPr>
          <p:cNvPr id="60428" name="Line 11"/>
          <p:cNvSpPr>
            <a:spLocks noChangeShapeType="1"/>
          </p:cNvSpPr>
          <p:nvPr/>
        </p:nvSpPr>
        <p:spPr bwMode="auto">
          <a:xfrm>
            <a:off x="3352800" y="2209800"/>
            <a:ext cx="0" cy="838200"/>
          </a:xfrm>
          <a:prstGeom prst="line">
            <a:avLst/>
          </a:prstGeom>
          <a:noFill/>
          <a:ln w="12700">
            <a:solidFill>
              <a:schemeClr val="tx1"/>
            </a:solidFill>
            <a:round/>
            <a:headEnd type="none" w="sm" len="sm"/>
            <a:tailEnd type="stealth" w="lg" len="lg"/>
          </a:ln>
        </p:spPr>
        <p:txBody>
          <a:bodyPr wrap="none" anchor="ctr"/>
          <a:lstStyle/>
          <a:p>
            <a:endParaRPr lang="en-US"/>
          </a:p>
        </p:txBody>
      </p:sp>
      <p:sp>
        <p:nvSpPr>
          <p:cNvPr id="60429" name="Line 12"/>
          <p:cNvSpPr>
            <a:spLocks noChangeShapeType="1"/>
          </p:cNvSpPr>
          <p:nvPr/>
        </p:nvSpPr>
        <p:spPr bwMode="auto">
          <a:xfrm>
            <a:off x="3429000" y="3810000"/>
            <a:ext cx="0" cy="914400"/>
          </a:xfrm>
          <a:prstGeom prst="line">
            <a:avLst/>
          </a:prstGeom>
          <a:noFill/>
          <a:ln w="12700">
            <a:solidFill>
              <a:schemeClr val="tx1"/>
            </a:solidFill>
            <a:round/>
            <a:headEnd type="none" w="sm" len="sm"/>
            <a:tailEnd type="stealth" w="lg" len="lg"/>
          </a:ln>
        </p:spPr>
        <p:txBody>
          <a:bodyPr wrap="none" anchor="ctr"/>
          <a:lstStyle/>
          <a:p>
            <a:endParaRPr lang="en-US"/>
          </a:p>
        </p:txBody>
      </p:sp>
      <p:sp>
        <p:nvSpPr>
          <p:cNvPr id="60430" name="Line 13"/>
          <p:cNvSpPr>
            <a:spLocks noChangeShapeType="1"/>
          </p:cNvSpPr>
          <p:nvPr/>
        </p:nvSpPr>
        <p:spPr bwMode="auto">
          <a:xfrm flipH="1">
            <a:off x="1219200" y="2133600"/>
            <a:ext cx="1752600" cy="914400"/>
          </a:xfrm>
          <a:prstGeom prst="line">
            <a:avLst/>
          </a:prstGeom>
          <a:noFill/>
          <a:ln w="38100">
            <a:solidFill>
              <a:srgbClr val="CC0099"/>
            </a:solidFill>
            <a:round/>
            <a:headEnd type="none" w="sm" len="sm"/>
            <a:tailEnd type="stealth" w="lg" len="lg"/>
          </a:ln>
        </p:spPr>
        <p:txBody>
          <a:bodyPr wrap="none" anchor="ctr"/>
          <a:lstStyle/>
          <a:p>
            <a:endParaRPr lang="en-US"/>
          </a:p>
        </p:txBody>
      </p:sp>
      <p:sp>
        <p:nvSpPr>
          <p:cNvPr id="60431" name="Line 14"/>
          <p:cNvSpPr>
            <a:spLocks noChangeShapeType="1"/>
          </p:cNvSpPr>
          <p:nvPr/>
        </p:nvSpPr>
        <p:spPr bwMode="auto">
          <a:xfrm>
            <a:off x="1143000" y="3810000"/>
            <a:ext cx="2209800" cy="838200"/>
          </a:xfrm>
          <a:prstGeom prst="line">
            <a:avLst/>
          </a:prstGeom>
          <a:noFill/>
          <a:ln w="12700">
            <a:solidFill>
              <a:schemeClr val="tx1"/>
            </a:solidFill>
            <a:round/>
            <a:headEnd type="none" w="sm" len="sm"/>
            <a:tailEnd type="stealth" w="lg" len="lg"/>
          </a:ln>
        </p:spPr>
        <p:txBody>
          <a:bodyPr wrap="none" anchor="ctr"/>
          <a:lstStyle/>
          <a:p>
            <a:endParaRPr lang="en-US"/>
          </a:p>
        </p:txBody>
      </p:sp>
      <p:sp>
        <p:nvSpPr>
          <p:cNvPr id="60432" name="Rectangle 15"/>
          <p:cNvSpPr>
            <a:spLocks noChangeArrowheads="1"/>
          </p:cNvSpPr>
          <p:nvPr/>
        </p:nvSpPr>
        <p:spPr bwMode="auto">
          <a:xfrm>
            <a:off x="4419600" y="2590800"/>
            <a:ext cx="4495800" cy="1219200"/>
          </a:xfrm>
          <a:prstGeom prst="rect">
            <a:avLst/>
          </a:prstGeom>
          <a:solidFill>
            <a:srgbClr val="00E498"/>
          </a:solidFill>
          <a:ln w="12700">
            <a:solidFill>
              <a:schemeClr val="tx1"/>
            </a:solidFill>
            <a:miter lim="800000"/>
            <a:headEnd type="none" w="sm" len="sm"/>
            <a:tailEnd type="none" w="sm" len="sm"/>
          </a:ln>
        </p:spPr>
        <p:txBody>
          <a:bodyPr wrap="none" anchor="ctr"/>
          <a:lstStyle/>
          <a:p>
            <a:pPr algn="ctr" eaLnBrk="0" hangingPunct="0"/>
            <a:endParaRPr lang="en-US">
              <a:latin typeface="Times New Roman" pitchFamily="18" charset="0"/>
            </a:endParaRPr>
          </a:p>
        </p:txBody>
      </p:sp>
      <p:sp>
        <p:nvSpPr>
          <p:cNvPr id="60433" name="Line 16"/>
          <p:cNvSpPr>
            <a:spLocks noChangeShapeType="1"/>
          </p:cNvSpPr>
          <p:nvPr/>
        </p:nvSpPr>
        <p:spPr bwMode="auto">
          <a:xfrm>
            <a:off x="4419600" y="3200400"/>
            <a:ext cx="449580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4" name="Line 17"/>
          <p:cNvSpPr>
            <a:spLocks noChangeShapeType="1"/>
          </p:cNvSpPr>
          <p:nvPr/>
        </p:nvSpPr>
        <p:spPr bwMode="auto">
          <a:xfrm>
            <a:off x="5105400" y="2590800"/>
            <a:ext cx="0" cy="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5" name="Line 18"/>
          <p:cNvSpPr>
            <a:spLocks noChangeShapeType="1"/>
          </p:cNvSpPr>
          <p:nvPr/>
        </p:nvSpPr>
        <p:spPr bwMode="auto">
          <a:xfrm>
            <a:off x="5486400" y="2590800"/>
            <a:ext cx="0" cy="1219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6" name="Line 19"/>
          <p:cNvSpPr>
            <a:spLocks noChangeShapeType="1"/>
          </p:cNvSpPr>
          <p:nvPr/>
        </p:nvSpPr>
        <p:spPr bwMode="auto">
          <a:xfrm>
            <a:off x="7315200" y="2590800"/>
            <a:ext cx="0" cy="1219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7" name="Line 20"/>
          <p:cNvSpPr>
            <a:spLocks noChangeShapeType="1"/>
          </p:cNvSpPr>
          <p:nvPr/>
        </p:nvSpPr>
        <p:spPr bwMode="auto">
          <a:xfrm>
            <a:off x="6400800" y="2590800"/>
            <a:ext cx="0" cy="1219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8" name="Line 21"/>
          <p:cNvSpPr>
            <a:spLocks noChangeShapeType="1"/>
          </p:cNvSpPr>
          <p:nvPr/>
        </p:nvSpPr>
        <p:spPr bwMode="auto">
          <a:xfrm>
            <a:off x="8153400" y="2590800"/>
            <a:ext cx="0" cy="1219200"/>
          </a:xfrm>
          <a:prstGeom prst="line">
            <a:avLst/>
          </a:prstGeom>
          <a:noFill/>
          <a:ln w="12700">
            <a:solidFill>
              <a:schemeClr val="tx1"/>
            </a:solidFill>
            <a:round/>
            <a:headEnd type="none" w="sm" len="sm"/>
            <a:tailEnd type="none" w="sm" len="sm"/>
          </a:ln>
        </p:spPr>
        <p:txBody>
          <a:bodyPr wrap="none" anchor="ctr"/>
          <a:lstStyle/>
          <a:p>
            <a:endParaRPr lang="en-US"/>
          </a:p>
        </p:txBody>
      </p:sp>
      <p:sp>
        <p:nvSpPr>
          <p:cNvPr id="60439" name="Text Box 22"/>
          <p:cNvSpPr txBox="1">
            <a:spLocks noChangeArrowheads="1"/>
          </p:cNvSpPr>
          <p:nvPr/>
        </p:nvSpPr>
        <p:spPr bwMode="auto">
          <a:xfrm>
            <a:off x="4738688" y="2719388"/>
            <a:ext cx="538162"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LC</a:t>
            </a:r>
            <a:endParaRPr lang="en-US">
              <a:latin typeface="Times New Roman" pitchFamily="18" charset="0"/>
            </a:endParaRPr>
          </a:p>
        </p:txBody>
      </p:sp>
      <p:sp>
        <p:nvSpPr>
          <p:cNvPr id="60440" name="Text Box 23"/>
          <p:cNvSpPr txBox="1">
            <a:spLocks noChangeArrowheads="1"/>
          </p:cNvSpPr>
          <p:nvPr/>
        </p:nvSpPr>
        <p:spPr bwMode="auto">
          <a:xfrm>
            <a:off x="4578350" y="3252788"/>
            <a:ext cx="669925"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~LC</a:t>
            </a:r>
            <a:endParaRPr lang="en-US">
              <a:latin typeface="Times New Roman" pitchFamily="18" charset="0"/>
            </a:endParaRPr>
          </a:p>
        </p:txBody>
      </p:sp>
      <p:sp>
        <p:nvSpPr>
          <p:cNvPr id="60441" name="Text Box 24"/>
          <p:cNvSpPr txBox="1">
            <a:spLocks noChangeArrowheads="1"/>
          </p:cNvSpPr>
          <p:nvPr/>
        </p:nvSpPr>
        <p:spPr bwMode="auto">
          <a:xfrm>
            <a:off x="5486400" y="2209800"/>
            <a:ext cx="895350" cy="366713"/>
          </a:xfrm>
          <a:prstGeom prst="rect">
            <a:avLst/>
          </a:prstGeom>
          <a:noFill/>
          <a:ln w="12700">
            <a:noFill/>
            <a:miter lim="800000"/>
            <a:headEnd type="none" w="sm" len="sm"/>
            <a:tailEnd type="none" w="sm" len="sm"/>
          </a:ln>
        </p:spPr>
        <p:txBody>
          <a:bodyPr wrap="none">
            <a:spAutoFit/>
          </a:bodyPr>
          <a:lstStyle/>
          <a:p>
            <a:pPr algn="r" eaLnBrk="0" hangingPunct="0"/>
            <a:r>
              <a:rPr lang="en-US" b="1">
                <a:solidFill>
                  <a:srgbClr val="CC0099"/>
                </a:solidFill>
                <a:latin typeface="Times New Roman" pitchFamily="18" charset="0"/>
              </a:rPr>
              <a:t>(FH, S)</a:t>
            </a:r>
            <a:endParaRPr lang="en-US" sz="2000" b="1">
              <a:solidFill>
                <a:srgbClr val="000000"/>
              </a:solidFill>
              <a:latin typeface="Times New Roman" pitchFamily="18" charset="0"/>
            </a:endParaRPr>
          </a:p>
        </p:txBody>
      </p:sp>
      <p:sp>
        <p:nvSpPr>
          <p:cNvPr id="60442" name="Text Box 25"/>
          <p:cNvSpPr txBox="1">
            <a:spLocks noChangeArrowheads="1"/>
          </p:cNvSpPr>
          <p:nvPr/>
        </p:nvSpPr>
        <p:spPr bwMode="auto">
          <a:xfrm>
            <a:off x="6324600" y="2209800"/>
            <a:ext cx="1014413" cy="366713"/>
          </a:xfrm>
          <a:prstGeom prst="rect">
            <a:avLst/>
          </a:prstGeom>
          <a:noFill/>
          <a:ln w="12700">
            <a:noFill/>
            <a:miter lim="800000"/>
            <a:headEnd type="none" w="sm" len="sm"/>
            <a:tailEnd type="none" w="sm" len="sm"/>
          </a:ln>
        </p:spPr>
        <p:txBody>
          <a:bodyPr wrap="none">
            <a:spAutoFit/>
          </a:bodyPr>
          <a:lstStyle/>
          <a:p>
            <a:pPr algn="r" eaLnBrk="0" hangingPunct="0"/>
            <a:r>
              <a:rPr lang="en-US" b="1">
                <a:solidFill>
                  <a:srgbClr val="CC0099"/>
                </a:solidFill>
                <a:latin typeface="Times New Roman" pitchFamily="18" charset="0"/>
              </a:rPr>
              <a:t>(FH, ~S)</a:t>
            </a:r>
            <a:endParaRPr lang="en-US">
              <a:latin typeface="Times New Roman" pitchFamily="18" charset="0"/>
            </a:endParaRPr>
          </a:p>
        </p:txBody>
      </p:sp>
      <p:sp>
        <p:nvSpPr>
          <p:cNvPr id="60443" name="Text Box 26"/>
          <p:cNvSpPr txBox="1">
            <a:spLocks noChangeArrowheads="1"/>
          </p:cNvSpPr>
          <p:nvPr/>
        </p:nvSpPr>
        <p:spPr bwMode="auto">
          <a:xfrm>
            <a:off x="7142163" y="2209800"/>
            <a:ext cx="1014412" cy="366713"/>
          </a:xfrm>
          <a:prstGeom prst="rect">
            <a:avLst/>
          </a:prstGeom>
          <a:noFill/>
          <a:ln w="12700">
            <a:noFill/>
            <a:miter lim="800000"/>
            <a:headEnd type="none" w="sm" len="sm"/>
            <a:tailEnd type="none" w="sm" len="sm"/>
          </a:ln>
        </p:spPr>
        <p:txBody>
          <a:bodyPr wrap="none">
            <a:spAutoFit/>
          </a:bodyPr>
          <a:lstStyle/>
          <a:p>
            <a:pPr algn="r" eaLnBrk="0" hangingPunct="0"/>
            <a:r>
              <a:rPr lang="en-US" b="1">
                <a:solidFill>
                  <a:srgbClr val="CC0099"/>
                </a:solidFill>
                <a:latin typeface="Times New Roman" pitchFamily="18" charset="0"/>
              </a:rPr>
              <a:t>(~FH, S)</a:t>
            </a:r>
            <a:endParaRPr lang="en-US">
              <a:latin typeface="Times New Roman" pitchFamily="18" charset="0"/>
            </a:endParaRPr>
          </a:p>
        </p:txBody>
      </p:sp>
      <p:sp>
        <p:nvSpPr>
          <p:cNvPr id="60444" name="Text Box 27"/>
          <p:cNvSpPr txBox="1">
            <a:spLocks noChangeArrowheads="1"/>
          </p:cNvSpPr>
          <p:nvPr/>
        </p:nvSpPr>
        <p:spPr bwMode="auto">
          <a:xfrm>
            <a:off x="8010525" y="2209800"/>
            <a:ext cx="1133475" cy="366713"/>
          </a:xfrm>
          <a:prstGeom prst="rect">
            <a:avLst/>
          </a:prstGeom>
          <a:noFill/>
          <a:ln w="12700">
            <a:noFill/>
            <a:miter lim="800000"/>
            <a:headEnd type="none" w="sm" len="sm"/>
            <a:tailEnd type="none" w="sm" len="sm"/>
          </a:ln>
        </p:spPr>
        <p:txBody>
          <a:bodyPr wrap="none">
            <a:spAutoFit/>
          </a:bodyPr>
          <a:lstStyle/>
          <a:p>
            <a:pPr algn="r" eaLnBrk="0" hangingPunct="0"/>
            <a:r>
              <a:rPr lang="en-US" b="1">
                <a:solidFill>
                  <a:srgbClr val="CC0099"/>
                </a:solidFill>
                <a:latin typeface="Times New Roman" pitchFamily="18" charset="0"/>
              </a:rPr>
              <a:t>(~FH, ~S)</a:t>
            </a:r>
            <a:endParaRPr lang="en-US">
              <a:latin typeface="Times New Roman" pitchFamily="18" charset="0"/>
            </a:endParaRPr>
          </a:p>
        </p:txBody>
      </p:sp>
      <p:sp>
        <p:nvSpPr>
          <p:cNvPr id="60445" name="Text Box 28"/>
          <p:cNvSpPr txBox="1">
            <a:spLocks noChangeArrowheads="1"/>
          </p:cNvSpPr>
          <p:nvPr/>
        </p:nvSpPr>
        <p:spPr bwMode="auto">
          <a:xfrm>
            <a:off x="5762625" y="27574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0.8</a:t>
            </a:r>
            <a:endParaRPr lang="en-US">
              <a:latin typeface="Times New Roman" pitchFamily="18" charset="0"/>
            </a:endParaRPr>
          </a:p>
        </p:txBody>
      </p:sp>
      <p:sp>
        <p:nvSpPr>
          <p:cNvPr id="60446" name="Text Box 29"/>
          <p:cNvSpPr txBox="1">
            <a:spLocks noChangeArrowheads="1"/>
          </p:cNvSpPr>
          <p:nvPr/>
        </p:nvSpPr>
        <p:spPr bwMode="auto">
          <a:xfrm>
            <a:off x="5759450" y="33289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0.2</a:t>
            </a:r>
            <a:endParaRPr lang="en-US">
              <a:latin typeface="Times New Roman" pitchFamily="18" charset="0"/>
            </a:endParaRPr>
          </a:p>
        </p:txBody>
      </p:sp>
      <p:sp>
        <p:nvSpPr>
          <p:cNvPr id="60447" name="Text Box 30"/>
          <p:cNvSpPr txBox="1">
            <a:spLocks noChangeArrowheads="1"/>
          </p:cNvSpPr>
          <p:nvPr/>
        </p:nvSpPr>
        <p:spPr bwMode="auto">
          <a:xfrm>
            <a:off x="6677025" y="27574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0.5</a:t>
            </a:r>
            <a:endParaRPr lang="en-US">
              <a:latin typeface="Times New Roman" pitchFamily="18" charset="0"/>
            </a:endParaRPr>
          </a:p>
        </p:txBody>
      </p:sp>
      <p:sp>
        <p:nvSpPr>
          <p:cNvPr id="60448" name="Text Box 31"/>
          <p:cNvSpPr txBox="1">
            <a:spLocks noChangeArrowheads="1"/>
          </p:cNvSpPr>
          <p:nvPr/>
        </p:nvSpPr>
        <p:spPr bwMode="auto">
          <a:xfrm>
            <a:off x="6673850" y="33289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0.5</a:t>
            </a:r>
            <a:endParaRPr lang="en-US">
              <a:latin typeface="Times New Roman" pitchFamily="18" charset="0"/>
            </a:endParaRPr>
          </a:p>
        </p:txBody>
      </p:sp>
      <p:sp>
        <p:nvSpPr>
          <p:cNvPr id="60449" name="Text Box 32"/>
          <p:cNvSpPr txBox="1">
            <a:spLocks noChangeArrowheads="1"/>
          </p:cNvSpPr>
          <p:nvPr/>
        </p:nvSpPr>
        <p:spPr bwMode="auto">
          <a:xfrm>
            <a:off x="7512050" y="27193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0.7</a:t>
            </a:r>
            <a:endParaRPr lang="en-US">
              <a:latin typeface="Times New Roman" pitchFamily="18" charset="0"/>
            </a:endParaRPr>
          </a:p>
        </p:txBody>
      </p:sp>
      <p:sp>
        <p:nvSpPr>
          <p:cNvPr id="60450" name="Text Box 33"/>
          <p:cNvSpPr txBox="1">
            <a:spLocks noChangeArrowheads="1"/>
          </p:cNvSpPr>
          <p:nvPr/>
        </p:nvSpPr>
        <p:spPr bwMode="auto">
          <a:xfrm>
            <a:off x="7515225" y="32908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0.3</a:t>
            </a:r>
            <a:endParaRPr lang="en-US">
              <a:latin typeface="Times New Roman" pitchFamily="18" charset="0"/>
            </a:endParaRPr>
          </a:p>
        </p:txBody>
      </p:sp>
      <p:sp>
        <p:nvSpPr>
          <p:cNvPr id="60451" name="Text Box 34"/>
          <p:cNvSpPr txBox="1">
            <a:spLocks noChangeArrowheads="1"/>
          </p:cNvSpPr>
          <p:nvPr/>
        </p:nvSpPr>
        <p:spPr bwMode="auto">
          <a:xfrm>
            <a:off x="8277225" y="27574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0.1</a:t>
            </a:r>
            <a:endParaRPr lang="en-US">
              <a:latin typeface="Times New Roman" pitchFamily="18" charset="0"/>
            </a:endParaRPr>
          </a:p>
        </p:txBody>
      </p:sp>
      <p:sp>
        <p:nvSpPr>
          <p:cNvPr id="60452" name="Text Box 35"/>
          <p:cNvSpPr txBox="1">
            <a:spLocks noChangeArrowheads="1"/>
          </p:cNvSpPr>
          <p:nvPr/>
        </p:nvSpPr>
        <p:spPr bwMode="auto">
          <a:xfrm>
            <a:off x="8274050" y="3328988"/>
            <a:ext cx="501650" cy="396875"/>
          </a:xfrm>
          <a:prstGeom prst="rect">
            <a:avLst/>
          </a:prstGeom>
          <a:noFill/>
          <a:ln w="12700">
            <a:noFill/>
            <a:miter lim="800000"/>
            <a:headEnd type="none" w="sm" len="sm"/>
            <a:tailEnd type="none" w="sm" len="sm"/>
          </a:ln>
        </p:spPr>
        <p:txBody>
          <a:bodyPr wrap="none">
            <a:spAutoFit/>
          </a:bodyPr>
          <a:lstStyle/>
          <a:p>
            <a:pPr algn="r" eaLnBrk="0" hangingPunct="0"/>
            <a:r>
              <a:rPr lang="en-US" sz="2000" b="1">
                <a:solidFill>
                  <a:srgbClr val="000000"/>
                </a:solidFill>
                <a:latin typeface="Times New Roman" pitchFamily="18" charset="0"/>
              </a:rPr>
              <a:t>0.9</a:t>
            </a:r>
            <a:endParaRPr lang="en-US">
              <a:latin typeface="Times New Roman" pitchFamily="18" charset="0"/>
            </a:endParaRPr>
          </a:p>
        </p:txBody>
      </p:sp>
      <p:sp>
        <p:nvSpPr>
          <p:cNvPr id="60453" name="Text Box 36"/>
          <p:cNvSpPr txBox="1">
            <a:spLocks noChangeArrowheads="1"/>
          </p:cNvSpPr>
          <p:nvPr/>
        </p:nvSpPr>
        <p:spPr bwMode="auto">
          <a:xfrm>
            <a:off x="609600" y="5715000"/>
            <a:ext cx="3502025" cy="457200"/>
          </a:xfrm>
          <a:prstGeom prst="rect">
            <a:avLst/>
          </a:prstGeom>
          <a:noFill/>
          <a:ln w="12700">
            <a:noFill/>
            <a:miter lim="800000"/>
            <a:headEnd type="none" w="sm" len="sm"/>
            <a:tailEnd type="none" w="sm" len="sm"/>
          </a:ln>
        </p:spPr>
        <p:txBody>
          <a:bodyPr wrap="none">
            <a:spAutoFit/>
          </a:bodyPr>
          <a:lstStyle/>
          <a:p>
            <a:pPr algn="r" eaLnBrk="0" hangingPunct="0"/>
            <a:r>
              <a:rPr lang="en-US" sz="2400" b="1">
                <a:solidFill>
                  <a:srgbClr val="000000"/>
                </a:solidFill>
                <a:latin typeface="Times New Roman" pitchFamily="18" charset="0"/>
              </a:rPr>
              <a:t>Bayesian Belief Networks</a:t>
            </a:r>
            <a:endParaRPr lang="en-US">
              <a:latin typeface="Times New Roman" pitchFamily="18" charset="0"/>
            </a:endParaRPr>
          </a:p>
        </p:txBody>
      </p:sp>
      <p:sp>
        <p:nvSpPr>
          <p:cNvPr id="60454" name="Text Box 37"/>
          <p:cNvSpPr txBox="1">
            <a:spLocks noChangeArrowheads="1"/>
          </p:cNvSpPr>
          <p:nvPr/>
        </p:nvSpPr>
        <p:spPr bwMode="auto">
          <a:xfrm>
            <a:off x="4419600" y="4038600"/>
            <a:ext cx="4551363" cy="822325"/>
          </a:xfrm>
          <a:prstGeom prst="rect">
            <a:avLst/>
          </a:prstGeom>
          <a:noFill/>
          <a:ln w="12700">
            <a:noFill/>
            <a:miter lim="800000"/>
            <a:headEnd type="none" w="sm" len="sm"/>
            <a:tailEnd type="none" w="sm" len="sm"/>
          </a:ln>
        </p:spPr>
        <p:txBody>
          <a:bodyPr>
            <a:spAutoFit/>
          </a:bodyPr>
          <a:lstStyle/>
          <a:p>
            <a:pPr algn="r" eaLnBrk="0" hangingPunct="0"/>
            <a:r>
              <a:rPr lang="en-US" sz="2400" b="1">
                <a:solidFill>
                  <a:srgbClr val="000000"/>
                </a:solidFill>
                <a:latin typeface="Times New Roman" pitchFamily="18" charset="0"/>
              </a:rPr>
              <a:t>The conditional probability table for the variable LungCancer</a:t>
            </a:r>
            <a:endParaRPr lang="en-US">
              <a:latin typeface="Times New Roman" pitchFamily="18" charset="0"/>
            </a:endParaRPr>
          </a:p>
        </p:txBody>
      </p:sp>
    </p:spTree>
  </p:cSld>
  <p:clrMapOvr>
    <a:masterClrMapping/>
  </p:clrMapOvr>
  <p:transition>
    <p:check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p:spPr>
        <p:txBody>
          <a:bodyPr/>
          <a:lstStyle/>
          <a:p>
            <a:fld id="{47157A55-CAE2-437D-BCDF-75664013CD68}" type="slidenum">
              <a:rPr lang="en-US" smtClean="0"/>
              <a:pPr/>
              <a:t>55</a:t>
            </a:fld>
            <a:endParaRPr lang="en-US" smtClean="0"/>
          </a:p>
        </p:txBody>
      </p:sp>
      <p:sp>
        <p:nvSpPr>
          <p:cNvPr id="61443" name="Rectangle 4"/>
          <p:cNvSpPr>
            <a:spLocks noGrp="1" noChangeArrowheads="1"/>
          </p:cNvSpPr>
          <p:nvPr>
            <p:ph type="body" idx="1"/>
          </p:nvPr>
        </p:nvSpPr>
        <p:spPr>
          <a:xfrm>
            <a:off x="228600" y="228600"/>
            <a:ext cx="8686800" cy="6172200"/>
          </a:xfrm>
          <a:noFill/>
        </p:spPr>
        <p:txBody>
          <a:bodyPr/>
          <a:lstStyle/>
          <a:p>
            <a:pPr marL="0" indent="0" algn="just" eaLnBrk="1" hangingPunct="1">
              <a:buFontTx/>
              <a:buNone/>
            </a:pPr>
            <a:r>
              <a:rPr lang="en-US" sz="2100" b="1" smtClean="0"/>
              <a:t>Bayesian Belief Networks :</a:t>
            </a:r>
            <a:r>
              <a:rPr lang="en-US" sz="2100" smtClean="0"/>
              <a:t> They provide a graphical model of causal relationships, on which learning can be performed. These networks are also known as Belief Networks.</a:t>
            </a:r>
          </a:p>
          <a:p>
            <a:pPr marL="0" indent="0" algn="just" eaLnBrk="1" hangingPunct="1">
              <a:buFontTx/>
              <a:buNone/>
            </a:pPr>
            <a:r>
              <a:rPr lang="en-US" sz="2100" smtClean="0"/>
              <a:t>A Belief Network is defined by two components. The first is a directed acyclic graph, where each node represents a random variable and each arc represents a probabilistic dependence. If an arc is drawn from a node Y to node Z, then Y is a parent or immediate predecessor of Z, and Z is a descendent of Y.</a:t>
            </a:r>
          </a:p>
          <a:p>
            <a:pPr marL="0" indent="0" algn="just" eaLnBrk="1" hangingPunct="1">
              <a:buFontTx/>
              <a:buNone/>
            </a:pPr>
            <a:r>
              <a:rPr lang="en-US" sz="2100" smtClean="0"/>
              <a:t>The figure shows a simple belief networks, adapted from the six Boolean Variables.  </a:t>
            </a:r>
          </a:p>
          <a:p>
            <a:pPr marL="0" indent="0" algn="just" eaLnBrk="1" hangingPunct="1">
              <a:buFontTx/>
              <a:buNone/>
            </a:pPr>
            <a:r>
              <a:rPr lang="en-US" sz="2100" smtClean="0"/>
              <a:t>The arcs allow a representation of causal knowledge. For ex, having lung cancer is influenced by a persons family history of lung cancer, as well as whether or not the person is a smoker. Furthermore, the arcs also show that the variable LungCancer is conditionally independent of Emphysema, given its parents, FamilyHistory and Smoker</a:t>
            </a:r>
          </a:p>
          <a:p>
            <a:pPr marL="0" indent="0" algn="just" eaLnBrk="1" hangingPunct="1">
              <a:buFontTx/>
              <a:buNone/>
            </a:pPr>
            <a:r>
              <a:rPr lang="en-US" sz="2100" smtClean="0"/>
              <a:t>This means that once the values of FamilyHistory and Smoker are known, then the variable Emphysema does not provide any additional information regarding LungCancer. </a:t>
            </a:r>
            <a:endParaRPr lang="en-US" sz="2100" b="1" smtClean="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p:spPr>
        <p:txBody>
          <a:bodyPr/>
          <a:lstStyle/>
          <a:p>
            <a:fld id="{6D91C29E-1340-4192-9AD2-E2B632AD6167}" type="slidenum">
              <a:rPr lang="en-US" smtClean="0"/>
              <a:pPr/>
              <a:t>56</a:t>
            </a:fld>
            <a:endParaRPr lang="en-US" smtClean="0"/>
          </a:p>
        </p:txBody>
      </p:sp>
      <p:sp>
        <p:nvSpPr>
          <p:cNvPr id="62467" name="Rectangle 4"/>
          <p:cNvSpPr>
            <a:spLocks noGrp="1" noChangeArrowheads="1"/>
          </p:cNvSpPr>
          <p:nvPr>
            <p:ph type="body" idx="1"/>
          </p:nvPr>
        </p:nvSpPr>
        <p:spPr>
          <a:xfrm>
            <a:off x="228600" y="228600"/>
            <a:ext cx="8686800" cy="6172200"/>
          </a:xfrm>
          <a:noFill/>
        </p:spPr>
        <p:txBody>
          <a:bodyPr/>
          <a:lstStyle/>
          <a:p>
            <a:pPr marL="0" indent="0" eaLnBrk="1" hangingPunct="1">
              <a:buFontTx/>
              <a:buNone/>
            </a:pPr>
            <a:r>
              <a:rPr lang="en-US" sz="2200" smtClean="0"/>
              <a:t>From the conditional probability table (CPT) the upper leftmost and bottom rightmost entries, we see</a:t>
            </a:r>
          </a:p>
          <a:p>
            <a:pPr marL="0" indent="0" eaLnBrk="1" hangingPunct="1">
              <a:buFontTx/>
              <a:buNone/>
            </a:pPr>
            <a:endParaRPr lang="en-US" sz="2200" smtClean="0"/>
          </a:p>
          <a:p>
            <a:pPr marL="0" indent="0" eaLnBrk="1" hangingPunct="1">
              <a:buFontTx/>
              <a:buNone/>
            </a:pPr>
            <a:r>
              <a:rPr lang="en-US" sz="2200" smtClean="0"/>
              <a:t>P(LungCancer = ‘yes’ | FamilyHistory = ‘yes’, Smoker = ‘y’) = 0.8</a:t>
            </a:r>
          </a:p>
          <a:p>
            <a:pPr marL="0" indent="0" eaLnBrk="1" hangingPunct="1">
              <a:buFontTx/>
              <a:buNone/>
            </a:pPr>
            <a:r>
              <a:rPr lang="en-US" sz="2200" smtClean="0"/>
              <a:t/>
            </a:r>
            <a:br>
              <a:rPr lang="en-US" sz="2200" smtClean="0"/>
            </a:br>
            <a:r>
              <a:rPr lang="en-US" sz="2200" smtClean="0"/>
              <a:t> P(LungCancer = ‘no’ | FamilyHistory = ‘no’, Smoker = ‘n’) = 0.9</a:t>
            </a:r>
          </a:p>
          <a:p>
            <a:pPr marL="0" indent="0" eaLnBrk="1" hangingPunct="1">
              <a:buFontTx/>
              <a:buNone/>
            </a:pPr>
            <a:endParaRPr lang="en-US" sz="2200" smtClean="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p:cNvSpPr>
            <a:spLocks noGrp="1"/>
          </p:cNvSpPr>
          <p:nvPr>
            <p:ph type="sldNum" sz="quarter" idx="12"/>
          </p:nvPr>
        </p:nvSpPr>
        <p:spPr>
          <a:noFill/>
        </p:spPr>
        <p:txBody>
          <a:bodyPr/>
          <a:lstStyle/>
          <a:p>
            <a:fld id="{35F50F59-560D-4807-B648-9828432F4195}" type="slidenum">
              <a:rPr lang="en-US" smtClean="0"/>
              <a:pPr/>
              <a:t>57</a:t>
            </a:fld>
            <a:endParaRPr lang="en-US" smtClean="0"/>
          </a:p>
        </p:txBody>
      </p:sp>
      <p:sp>
        <p:nvSpPr>
          <p:cNvPr id="63491" name="Rectangle 2"/>
          <p:cNvSpPr>
            <a:spLocks noGrp="1" noChangeArrowheads="1"/>
          </p:cNvSpPr>
          <p:nvPr>
            <p:ph type="title"/>
          </p:nvPr>
        </p:nvSpPr>
        <p:spPr>
          <a:xfrm>
            <a:off x="381000" y="685800"/>
            <a:ext cx="6781800" cy="990600"/>
          </a:xfrm>
          <a:noFill/>
        </p:spPr>
        <p:txBody>
          <a:bodyPr lIns="92075" tIns="46038" rIns="92075" bIns="46038"/>
          <a:lstStyle/>
          <a:p>
            <a:pPr eaLnBrk="1" hangingPunct="1"/>
            <a:r>
              <a:rPr lang="en-US" smtClean="0"/>
              <a:t>Classification and Prediction</a:t>
            </a:r>
          </a:p>
        </p:txBody>
      </p:sp>
      <p:sp>
        <p:nvSpPr>
          <p:cNvPr id="63492" name="Rectangle 3"/>
          <p:cNvSpPr>
            <a:spLocks noGrp="1" noChangeArrowheads="1"/>
          </p:cNvSpPr>
          <p:nvPr>
            <p:ph type="body" idx="1"/>
          </p:nvPr>
        </p:nvSpPr>
        <p:spPr>
          <a:xfrm>
            <a:off x="685800" y="1676400"/>
            <a:ext cx="7924800" cy="46482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solidFill>
                  <a:schemeClr val="hlink"/>
                </a:solidFill>
              </a:rPr>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p:spPr>
        <p:txBody>
          <a:bodyPr/>
          <a:lstStyle/>
          <a:p>
            <a:fld id="{9FB61684-963A-4C4E-9274-F10E1D6CE7B8}" type="slidenum">
              <a:rPr lang="en-US" smtClean="0"/>
              <a:pPr/>
              <a:t>58</a:t>
            </a:fld>
            <a:endParaRPr lang="en-US" smtClean="0"/>
          </a:p>
        </p:txBody>
      </p:sp>
      <p:sp>
        <p:nvSpPr>
          <p:cNvPr id="64515" name="Rectangle 4"/>
          <p:cNvSpPr>
            <a:spLocks noGrp="1" noChangeArrowheads="1"/>
          </p:cNvSpPr>
          <p:nvPr>
            <p:ph type="body" idx="1"/>
          </p:nvPr>
        </p:nvSpPr>
        <p:spPr>
          <a:xfrm>
            <a:off x="228600" y="228600"/>
            <a:ext cx="8686800" cy="6172200"/>
          </a:xfrm>
          <a:noFill/>
        </p:spPr>
        <p:txBody>
          <a:bodyPr/>
          <a:lstStyle/>
          <a:p>
            <a:pPr marL="0" indent="0" algn="just" eaLnBrk="1" hangingPunct="1">
              <a:buFontTx/>
              <a:buNone/>
            </a:pPr>
            <a:r>
              <a:rPr lang="en-US" sz="2400" b="1" smtClean="0"/>
              <a:t>Classification by Back propagation </a:t>
            </a:r>
          </a:p>
          <a:p>
            <a:pPr marL="0" indent="0" algn="just" eaLnBrk="1" hangingPunct="1">
              <a:buFontTx/>
              <a:buNone/>
            </a:pPr>
            <a:endParaRPr lang="en-US" sz="2400" b="1" smtClean="0"/>
          </a:p>
          <a:p>
            <a:pPr marL="0" indent="0" algn="just" eaLnBrk="1" hangingPunct="1">
              <a:buFontTx/>
              <a:buNone/>
            </a:pPr>
            <a:r>
              <a:rPr lang="en-US" sz="2400" smtClean="0"/>
              <a:t>What is Back propagation ?</a:t>
            </a:r>
          </a:p>
          <a:p>
            <a:pPr marL="0" indent="0" algn="just" eaLnBrk="1" hangingPunct="1">
              <a:buFontTx/>
              <a:buNone/>
            </a:pPr>
            <a:r>
              <a:rPr lang="en-US" sz="2400" smtClean="0"/>
              <a:t>Back propagation is a neural network learning algorithm. The field of neural networks was originally kindled by psychologists, and neurobiologists.</a:t>
            </a:r>
          </a:p>
          <a:p>
            <a:pPr marL="0" indent="0" algn="just" eaLnBrk="1" hangingPunct="1">
              <a:buFontTx/>
              <a:buNone/>
            </a:pPr>
            <a:endParaRPr lang="en-US" sz="2400" smtClean="0"/>
          </a:p>
          <a:p>
            <a:pPr marL="0" indent="0" algn="just" eaLnBrk="1" hangingPunct="1">
              <a:buFontTx/>
              <a:buNone/>
            </a:pPr>
            <a:r>
              <a:rPr lang="en-US" sz="2400" smtClean="0"/>
              <a:t>Roughly speaking, a neural network is a set of connected input/output units where each connection has a weight associated with it. During the learning phase, the network learns by adjusting the weights so as to be able to predict the correct class label of the input samples.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2"/>
          </p:nvPr>
        </p:nvSpPr>
        <p:spPr>
          <a:noFill/>
        </p:spPr>
        <p:txBody>
          <a:bodyPr/>
          <a:lstStyle/>
          <a:p>
            <a:fld id="{B28673A5-9076-4369-9263-FBDE5A0939D0}" type="slidenum">
              <a:rPr lang="en-US" smtClean="0"/>
              <a:pPr/>
              <a:t>59</a:t>
            </a:fld>
            <a:endParaRPr lang="en-US" smtClean="0"/>
          </a:p>
        </p:txBody>
      </p:sp>
      <p:sp>
        <p:nvSpPr>
          <p:cNvPr id="65539" name="Rectangle 2"/>
          <p:cNvSpPr>
            <a:spLocks noGrp="1" noChangeArrowheads="1"/>
          </p:cNvSpPr>
          <p:nvPr>
            <p:ph type="title"/>
          </p:nvPr>
        </p:nvSpPr>
        <p:spPr>
          <a:xfrm>
            <a:off x="1219200" y="304800"/>
            <a:ext cx="6477000" cy="685800"/>
          </a:xfrm>
          <a:noFill/>
        </p:spPr>
        <p:txBody>
          <a:bodyPr lIns="92075" tIns="46038" rIns="92075" bIns="46038" anchor="b"/>
          <a:lstStyle/>
          <a:p>
            <a:pPr eaLnBrk="1" hangingPunct="1"/>
            <a:r>
              <a:rPr lang="en-US" smtClean="0"/>
              <a:t>Neural Networks </a:t>
            </a:r>
          </a:p>
        </p:txBody>
      </p:sp>
      <p:sp>
        <p:nvSpPr>
          <p:cNvPr id="65540" name="Rectangle 3"/>
          <p:cNvSpPr>
            <a:spLocks noGrp="1" noChangeArrowheads="1"/>
          </p:cNvSpPr>
          <p:nvPr>
            <p:ph type="body" idx="1"/>
          </p:nvPr>
        </p:nvSpPr>
        <p:spPr>
          <a:xfrm>
            <a:off x="533400" y="1676400"/>
            <a:ext cx="8077200" cy="4648200"/>
          </a:xfrm>
          <a:noFill/>
        </p:spPr>
        <p:txBody>
          <a:bodyPr lIns="92075" tIns="46038" rIns="92075" bIns="46038"/>
          <a:lstStyle/>
          <a:p>
            <a:pPr eaLnBrk="1" hangingPunct="1"/>
            <a:r>
              <a:rPr lang="en-US" sz="2800" smtClean="0"/>
              <a:t>Advantages</a:t>
            </a:r>
          </a:p>
          <a:p>
            <a:pPr lvl="1" eaLnBrk="1" hangingPunct="1"/>
            <a:r>
              <a:rPr lang="en-US" sz="2400" smtClean="0"/>
              <a:t>prediction accuracy is generally high</a:t>
            </a:r>
          </a:p>
          <a:p>
            <a:pPr lvl="1" eaLnBrk="1" hangingPunct="1"/>
            <a:r>
              <a:rPr lang="en-US" sz="2400" smtClean="0"/>
              <a:t>robust, works when training examples contain errors</a:t>
            </a:r>
          </a:p>
          <a:p>
            <a:pPr lvl="1" eaLnBrk="1" hangingPunct="1"/>
            <a:r>
              <a:rPr lang="en-US" sz="2400" smtClean="0"/>
              <a:t>output may be discrete, real-valued, or a vector of several discrete or real-valued attributes</a:t>
            </a:r>
          </a:p>
          <a:p>
            <a:pPr lvl="1" eaLnBrk="1" hangingPunct="1"/>
            <a:r>
              <a:rPr lang="en-US" sz="2400" smtClean="0"/>
              <a:t>fast evaluation of the learned target function</a:t>
            </a:r>
          </a:p>
          <a:p>
            <a:pPr eaLnBrk="1" hangingPunct="1"/>
            <a:r>
              <a:rPr lang="en-US" sz="2800" smtClean="0"/>
              <a:t>Criticism</a:t>
            </a:r>
          </a:p>
          <a:p>
            <a:pPr lvl="1" eaLnBrk="1" hangingPunct="1"/>
            <a:r>
              <a:rPr lang="en-US" sz="2400" smtClean="0"/>
              <a:t>long training time</a:t>
            </a:r>
          </a:p>
          <a:p>
            <a:pPr lvl="1" eaLnBrk="1" hangingPunct="1"/>
            <a:r>
              <a:rPr lang="en-US" sz="2400" smtClean="0"/>
              <a:t>difficult to understand the learned function (weights)</a:t>
            </a:r>
          </a:p>
          <a:p>
            <a:pPr lvl="1" eaLnBrk="1" hangingPunct="1"/>
            <a:r>
              <a:rPr lang="en-US" sz="2400" smtClean="0"/>
              <a:t>not easy to incorporate domain knowledge</a:t>
            </a:r>
          </a:p>
        </p:txBody>
      </p:sp>
    </p:spTree>
  </p:cSld>
  <p:clrMapOvr>
    <a:masterClrMapping/>
  </p:clrMapOvr>
  <p:transition>
    <p:checke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p:spPr>
        <p:txBody>
          <a:bodyPr/>
          <a:lstStyle/>
          <a:p>
            <a:fld id="{6F907336-AF0B-43C2-9DED-2AE5854CD8B6}" type="slidenum">
              <a:rPr lang="en-US" smtClean="0"/>
              <a:pPr/>
              <a:t>60</a:t>
            </a:fld>
            <a:endParaRPr lang="en-US" smtClean="0"/>
          </a:p>
        </p:txBody>
      </p:sp>
      <p:sp>
        <p:nvSpPr>
          <p:cNvPr id="66563" name="Rectangle 5"/>
          <p:cNvSpPr>
            <a:spLocks noGrp="1" noChangeArrowheads="1"/>
          </p:cNvSpPr>
          <p:nvPr>
            <p:ph type="body" idx="1"/>
          </p:nvPr>
        </p:nvSpPr>
        <p:spPr>
          <a:xfrm>
            <a:off x="304800" y="228600"/>
            <a:ext cx="8382000" cy="5897563"/>
          </a:xfrm>
        </p:spPr>
        <p:txBody>
          <a:bodyPr/>
          <a:lstStyle/>
          <a:p>
            <a:pPr marL="400050" indent="-400050" algn="just" eaLnBrk="1" hangingPunct="1">
              <a:lnSpc>
                <a:spcPct val="90000"/>
              </a:lnSpc>
            </a:pPr>
            <a:r>
              <a:rPr lang="en-US" sz="2400" smtClean="0"/>
              <a:t>The back propagation algorithm performs learning on a multilayer feed forward neural network. An example of such a network is shown in the figure. </a:t>
            </a:r>
          </a:p>
          <a:p>
            <a:pPr marL="400050" indent="-400050" algn="just" eaLnBrk="1" hangingPunct="1">
              <a:lnSpc>
                <a:spcPct val="90000"/>
              </a:lnSpc>
            </a:pPr>
            <a:r>
              <a:rPr lang="en-US" sz="2400" smtClean="0"/>
              <a:t>The inputs correspond to the attributes measured for each training sample. The inputs are fed simultaneously into a layer of units making up the input layer. </a:t>
            </a:r>
          </a:p>
          <a:p>
            <a:pPr marL="400050" indent="-400050" algn="just" eaLnBrk="1" hangingPunct="1">
              <a:lnSpc>
                <a:spcPct val="90000"/>
              </a:lnSpc>
            </a:pPr>
            <a:r>
              <a:rPr lang="en-US" sz="2400" smtClean="0"/>
              <a:t>The weighted outputs of these units are, in turn fed simultaneously to a second layer of “neuronlike” units, known as a hidden layer</a:t>
            </a:r>
          </a:p>
          <a:p>
            <a:pPr marL="400050" indent="-400050" algn="just" eaLnBrk="1" hangingPunct="1">
              <a:lnSpc>
                <a:spcPct val="90000"/>
              </a:lnSpc>
            </a:pPr>
            <a:r>
              <a:rPr lang="en-US" sz="2400" smtClean="0"/>
              <a:t>The hidden layers weighted outputs can be input to another hidden layer and so on.</a:t>
            </a:r>
          </a:p>
          <a:p>
            <a:pPr marL="400050" indent="-400050" algn="just" eaLnBrk="1" hangingPunct="1">
              <a:lnSpc>
                <a:spcPct val="90000"/>
              </a:lnSpc>
            </a:pPr>
            <a:r>
              <a:rPr lang="en-US" sz="2400" smtClean="0"/>
              <a:t>The number of input layers are arbitrary although in practice, usually only one is used. </a:t>
            </a:r>
          </a:p>
          <a:p>
            <a:pPr marL="400050" indent="-400050" algn="just" eaLnBrk="1" hangingPunct="1">
              <a:lnSpc>
                <a:spcPct val="90000"/>
              </a:lnSpc>
            </a:pPr>
            <a:r>
              <a:rPr lang="en-US" sz="2400" smtClean="0"/>
              <a:t>The weighted outputs of the last hidden layer are input to units making up to the output layers, which emits the networks prediction for given samples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p:cNvSpPr>
            <a:spLocks noGrp="1"/>
          </p:cNvSpPr>
          <p:nvPr>
            <p:ph type="sldNum" sz="quarter" idx="12"/>
          </p:nvPr>
        </p:nvSpPr>
        <p:spPr>
          <a:noFill/>
        </p:spPr>
        <p:txBody>
          <a:bodyPr/>
          <a:lstStyle/>
          <a:p>
            <a:fld id="{9E172703-4D8A-4764-A5DF-A5687321256E}" type="slidenum">
              <a:rPr lang="en-US" smtClean="0"/>
              <a:pPr/>
              <a:t>61</a:t>
            </a:fld>
            <a:endParaRPr lang="en-US" smtClean="0"/>
          </a:p>
        </p:txBody>
      </p:sp>
      <p:sp>
        <p:nvSpPr>
          <p:cNvPr id="67587" name="Rectangle 4"/>
          <p:cNvSpPr>
            <a:spLocks noGrp="1" noChangeArrowheads="1"/>
          </p:cNvSpPr>
          <p:nvPr>
            <p:ph type="body" idx="1"/>
          </p:nvPr>
        </p:nvSpPr>
        <p:spPr>
          <a:xfrm>
            <a:off x="304800" y="228600"/>
            <a:ext cx="8382000" cy="5897563"/>
          </a:xfrm>
          <a:noFill/>
        </p:spPr>
        <p:txBody>
          <a:bodyPr/>
          <a:lstStyle/>
          <a:p>
            <a:pPr marL="400050" indent="-400050" algn="just" eaLnBrk="1" hangingPunct="1">
              <a:lnSpc>
                <a:spcPct val="90000"/>
              </a:lnSpc>
            </a:pPr>
            <a:r>
              <a:rPr lang="en-US" sz="2400" smtClean="0"/>
              <a:t>The units in the hidden layers and output layer are sometimes referred to as neurodes or output units. </a:t>
            </a:r>
          </a:p>
        </p:txBody>
      </p:sp>
      <p:grpSp>
        <p:nvGrpSpPr>
          <p:cNvPr id="67588" name="Group 48"/>
          <p:cNvGrpSpPr>
            <a:grpSpLocks/>
          </p:cNvGrpSpPr>
          <p:nvPr/>
        </p:nvGrpSpPr>
        <p:grpSpPr bwMode="auto">
          <a:xfrm>
            <a:off x="457200" y="1676400"/>
            <a:ext cx="7620000" cy="4938713"/>
            <a:chOff x="288" y="1056"/>
            <a:chExt cx="4800" cy="3111"/>
          </a:xfrm>
        </p:grpSpPr>
        <p:sp>
          <p:nvSpPr>
            <p:cNvPr id="67589" name="Oval 5"/>
            <p:cNvSpPr>
              <a:spLocks noChangeArrowheads="1"/>
            </p:cNvSpPr>
            <p:nvPr/>
          </p:nvSpPr>
          <p:spPr bwMode="auto">
            <a:xfrm>
              <a:off x="864" y="1680"/>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0" name="Oval 6"/>
            <p:cNvSpPr>
              <a:spLocks noChangeArrowheads="1"/>
            </p:cNvSpPr>
            <p:nvPr/>
          </p:nvSpPr>
          <p:spPr bwMode="auto">
            <a:xfrm>
              <a:off x="864" y="2352"/>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1" name="Oval 7"/>
            <p:cNvSpPr>
              <a:spLocks noChangeArrowheads="1"/>
            </p:cNvSpPr>
            <p:nvPr/>
          </p:nvSpPr>
          <p:spPr bwMode="auto">
            <a:xfrm>
              <a:off x="864" y="3408"/>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2" name="Oval 8"/>
            <p:cNvSpPr>
              <a:spLocks noChangeArrowheads="1"/>
            </p:cNvSpPr>
            <p:nvPr/>
          </p:nvSpPr>
          <p:spPr bwMode="auto">
            <a:xfrm>
              <a:off x="2688" y="1680"/>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3" name="Oval 9"/>
            <p:cNvSpPr>
              <a:spLocks noChangeArrowheads="1"/>
            </p:cNvSpPr>
            <p:nvPr/>
          </p:nvSpPr>
          <p:spPr bwMode="auto">
            <a:xfrm>
              <a:off x="2688" y="2352"/>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4" name="Oval 10"/>
            <p:cNvSpPr>
              <a:spLocks noChangeArrowheads="1"/>
            </p:cNvSpPr>
            <p:nvPr/>
          </p:nvSpPr>
          <p:spPr bwMode="auto">
            <a:xfrm>
              <a:off x="2688" y="3408"/>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5" name="Oval 11"/>
            <p:cNvSpPr>
              <a:spLocks noChangeArrowheads="1"/>
            </p:cNvSpPr>
            <p:nvPr/>
          </p:nvSpPr>
          <p:spPr bwMode="auto">
            <a:xfrm>
              <a:off x="4176" y="1680"/>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6" name="Oval 12"/>
            <p:cNvSpPr>
              <a:spLocks noChangeArrowheads="1"/>
            </p:cNvSpPr>
            <p:nvPr/>
          </p:nvSpPr>
          <p:spPr bwMode="auto">
            <a:xfrm>
              <a:off x="4176" y="2352"/>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7" name="Oval 13"/>
            <p:cNvSpPr>
              <a:spLocks noChangeArrowheads="1"/>
            </p:cNvSpPr>
            <p:nvPr/>
          </p:nvSpPr>
          <p:spPr bwMode="auto">
            <a:xfrm>
              <a:off x="4176" y="3408"/>
              <a:ext cx="528" cy="432"/>
            </a:xfrm>
            <a:prstGeom prst="ellipse">
              <a:avLst/>
            </a:prstGeom>
            <a:solidFill>
              <a:schemeClr val="accent1"/>
            </a:solidFill>
            <a:ln w="9525">
              <a:solidFill>
                <a:schemeClr val="tx1"/>
              </a:solidFill>
              <a:miter lim="800000"/>
              <a:headEnd/>
              <a:tailEnd/>
            </a:ln>
          </p:spPr>
          <p:txBody>
            <a:bodyPr wrap="none" anchor="ctr"/>
            <a:lstStyle/>
            <a:p>
              <a:endParaRPr lang="en-US"/>
            </a:p>
          </p:txBody>
        </p:sp>
        <p:sp>
          <p:nvSpPr>
            <p:cNvPr id="67598" name="Line 14"/>
            <p:cNvSpPr>
              <a:spLocks noChangeShapeType="1"/>
            </p:cNvSpPr>
            <p:nvPr/>
          </p:nvSpPr>
          <p:spPr bwMode="auto">
            <a:xfrm>
              <a:off x="1392" y="1920"/>
              <a:ext cx="1296" cy="0"/>
            </a:xfrm>
            <a:prstGeom prst="line">
              <a:avLst/>
            </a:prstGeom>
            <a:noFill/>
            <a:ln w="9525">
              <a:solidFill>
                <a:schemeClr val="tx1"/>
              </a:solidFill>
              <a:miter lim="800000"/>
              <a:headEnd/>
              <a:tailEnd/>
            </a:ln>
          </p:spPr>
          <p:txBody>
            <a:bodyPr wrap="none"/>
            <a:lstStyle/>
            <a:p>
              <a:endParaRPr lang="en-US"/>
            </a:p>
          </p:txBody>
        </p:sp>
        <p:sp>
          <p:nvSpPr>
            <p:cNvPr id="67599" name="Line 15"/>
            <p:cNvSpPr>
              <a:spLocks noChangeShapeType="1"/>
            </p:cNvSpPr>
            <p:nvPr/>
          </p:nvSpPr>
          <p:spPr bwMode="auto">
            <a:xfrm>
              <a:off x="3216" y="1872"/>
              <a:ext cx="960" cy="0"/>
            </a:xfrm>
            <a:prstGeom prst="line">
              <a:avLst/>
            </a:prstGeom>
            <a:noFill/>
            <a:ln w="9525">
              <a:solidFill>
                <a:schemeClr val="tx1"/>
              </a:solidFill>
              <a:miter lim="800000"/>
              <a:headEnd/>
              <a:tailEnd/>
            </a:ln>
          </p:spPr>
          <p:txBody>
            <a:bodyPr wrap="none"/>
            <a:lstStyle/>
            <a:p>
              <a:endParaRPr lang="en-US"/>
            </a:p>
          </p:txBody>
        </p:sp>
        <p:sp>
          <p:nvSpPr>
            <p:cNvPr id="67600" name="Line 16"/>
            <p:cNvSpPr>
              <a:spLocks noChangeShapeType="1"/>
            </p:cNvSpPr>
            <p:nvPr/>
          </p:nvSpPr>
          <p:spPr bwMode="auto">
            <a:xfrm>
              <a:off x="1392" y="1920"/>
              <a:ext cx="1296" cy="576"/>
            </a:xfrm>
            <a:prstGeom prst="line">
              <a:avLst/>
            </a:prstGeom>
            <a:noFill/>
            <a:ln w="9525">
              <a:solidFill>
                <a:schemeClr val="tx1"/>
              </a:solidFill>
              <a:miter lim="800000"/>
              <a:headEnd/>
              <a:tailEnd/>
            </a:ln>
          </p:spPr>
          <p:txBody>
            <a:bodyPr wrap="none"/>
            <a:lstStyle/>
            <a:p>
              <a:endParaRPr lang="en-US"/>
            </a:p>
          </p:txBody>
        </p:sp>
        <p:sp>
          <p:nvSpPr>
            <p:cNvPr id="67601" name="Line 17"/>
            <p:cNvSpPr>
              <a:spLocks noChangeShapeType="1"/>
            </p:cNvSpPr>
            <p:nvPr/>
          </p:nvSpPr>
          <p:spPr bwMode="auto">
            <a:xfrm>
              <a:off x="1392" y="1968"/>
              <a:ext cx="1344" cy="1584"/>
            </a:xfrm>
            <a:prstGeom prst="line">
              <a:avLst/>
            </a:prstGeom>
            <a:noFill/>
            <a:ln w="9525">
              <a:solidFill>
                <a:schemeClr val="tx1"/>
              </a:solidFill>
              <a:miter lim="800000"/>
              <a:headEnd/>
              <a:tailEnd/>
            </a:ln>
          </p:spPr>
          <p:txBody>
            <a:bodyPr wrap="none"/>
            <a:lstStyle/>
            <a:p>
              <a:endParaRPr lang="en-US"/>
            </a:p>
          </p:txBody>
        </p:sp>
        <p:sp>
          <p:nvSpPr>
            <p:cNvPr id="67602" name="Line 18"/>
            <p:cNvSpPr>
              <a:spLocks noChangeShapeType="1"/>
            </p:cNvSpPr>
            <p:nvPr/>
          </p:nvSpPr>
          <p:spPr bwMode="auto">
            <a:xfrm flipV="1">
              <a:off x="1392" y="1968"/>
              <a:ext cx="1296" cy="576"/>
            </a:xfrm>
            <a:prstGeom prst="line">
              <a:avLst/>
            </a:prstGeom>
            <a:noFill/>
            <a:ln w="9525">
              <a:solidFill>
                <a:schemeClr val="tx1"/>
              </a:solidFill>
              <a:miter lim="800000"/>
              <a:headEnd/>
              <a:tailEnd/>
            </a:ln>
          </p:spPr>
          <p:txBody>
            <a:bodyPr wrap="none"/>
            <a:lstStyle/>
            <a:p>
              <a:endParaRPr lang="en-US"/>
            </a:p>
          </p:txBody>
        </p:sp>
        <p:sp>
          <p:nvSpPr>
            <p:cNvPr id="67603" name="Line 19"/>
            <p:cNvSpPr>
              <a:spLocks noChangeShapeType="1"/>
            </p:cNvSpPr>
            <p:nvPr/>
          </p:nvSpPr>
          <p:spPr bwMode="auto">
            <a:xfrm>
              <a:off x="1392" y="2544"/>
              <a:ext cx="1296" cy="0"/>
            </a:xfrm>
            <a:prstGeom prst="line">
              <a:avLst/>
            </a:prstGeom>
            <a:noFill/>
            <a:ln w="9525">
              <a:solidFill>
                <a:schemeClr val="tx1"/>
              </a:solidFill>
              <a:miter lim="800000"/>
              <a:headEnd/>
              <a:tailEnd/>
            </a:ln>
          </p:spPr>
          <p:txBody>
            <a:bodyPr wrap="none"/>
            <a:lstStyle/>
            <a:p>
              <a:endParaRPr lang="en-US"/>
            </a:p>
          </p:txBody>
        </p:sp>
        <p:sp>
          <p:nvSpPr>
            <p:cNvPr id="67604" name="Line 20"/>
            <p:cNvSpPr>
              <a:spLocks noChangeShapeType="1"/>
            </p:cNvSpPr>
            <p:nvPr/>
          </p:nvSpPr>
          <p:spPr bwMode="auto">
            <a:xfrm>
              <a:off x="1392" y="2544"/>
              <a:ext cx="1488" cy="864"/>
            </a:xfrm>
            <a:prstGeom prst="line">
              <a:avLst/>
            </a:prstGeom>
            <a:noFill/>
            <a:ln w="9525">
              <a:solidFill>
                <a:schemeClr val="tx1"/>
              </a:solidFill>
              <a:miter lim="800000"/>
              <a:headEnd/>
              <a:tailEnd/>
            </a:ln>
          </p:spPr>
          <p:txBody>
            <a:bodyPr wrap="none"/>
            <a:lstStyle/>
            <a:p>
              <a:endParaRPr lang="en-US"/>
            </a:p>
          </p:txBody>
        </p:sp>
        <p:sp>
          <p:nvSpPr>
            <p:cNvPr id="67605" name="Line 21"/>
            <p:cNvSpPr>
              <a:spLocks noChangeShapeType="1"/>
            </p:cNvSpPr>
            <p:nvPr/>
          </p:nvSpPr>
          <p:spPr bwMode="auto">
            <a:xfrm>
              <a:off x="1392" y="3648"/>
              <a:ext cx="1344" cy="0"/>
            </a:xfrm>
            <a:prstGeom prst="line">
              <a:avLst/>
            </a:prstGeom>
            <a:noFill/>
            <a:ln w="9525">
              <a:solidFill>
                <a:schemeClr val="tx1"/>
              </a:solidFill>
              <a:miter lim="800000"/>
              <a:headEnd/>
              <a:tailEnd/>
            </a:ln>
          </p:spPr>
          <p:txBody>
            <a:bodyPr wrap="none"/>
            <a:lstStyle/>
            <a:p>
              <a:endParaRPr lang="en-US"/>
            </a:p>
          </p:txBody>
        </p:sp>
        <p:sp>
          <p:nvSpPr>
            <p:cNvPr id="67606" name="Line 22"/>
            <p:cNvSpPr>
              <a:spLocks noChangeShapeType="1"/>
            </p:cNvSpPr>
            <p:nvPr/>
          </p:nvSpPr>
          <p:spPr bwMode="auto">
            <a:xfrm flipV="1">
              <a:off x="1392" y="2640"/>
              <a:ext cx="1296" cy="1008"/>
            </a:xfrm>
            <a:prstGeom prst="line">
              <a:avLst/>
            </a:prstGeom>
            <a:noFill/>
            <a:ln w="9525">
              <a:solidFill>
                <a:schemeClr val="tx1"/>
              </a:solidFill>
              <a:miter lim="800000"/>
              <a:headEnd/>
              <a:tailEnd/>
            </a:ln>
          </p:spPr>
          <p:txBody>
            <a:bodyPr wrap="none"/>
            <a:lstStyle/>
            <a:p>
              <a:endParaRPr lang="en-US"/>
            </a:p>
          </p:txBody>
        </p:sp>
        <p:sp>
          <p:nvSpPr>
            <p:cNvPr id="67607" name="Line 23"/>
            <p:cNvSpPr>
              <a:spLocks noChangeShapeType="1"/>
            </p:cNvSpPr>
            <p:nvPr/>
          </p:nvSpPr>
          <p:spPr bwMode="auto">
            <a:xfrm flipV="1">
              <a:off x="1392" y="2016"/>
              <a:ext cx="1344" cy="1536"/>
            </a:xfrm>
            <a:prstGeom prst="line">
              <a:avLst/>
            </a:prstGeom>
            <a:noFill/>
            <a:ln w="9525">
              <a:solidFill>
                <a:schemeClr val="tx1"/>
              </a:solidFill>
              <a:miter lim="800000"/>
              <a:headEnd/>
              <a:tailEnd/>
            </a:ln>
          </p:spPr>
          <p:txBody>
            <a:bodyPr wrap="none"/>
            <a:lstStyle/>
            <a:p>
              <a:endParaRPr lang="en-US"/>
            </a:p>
          </p:txBody>
        </p:sp>
        <p:sp>
          <p:nvSpPr>
            <p:cNvPr id="67608" name="Line 24"/>
            <p:cNvSpPr>
              <a:spLocks noChangeShapeType="1"/>
            </p:cNvSpPr>
            <p:nvPr/>
          </p:nvSpPr>
          <p:spPr bwMode="auto">
            <a:xfrm>
              <a:off x="3216" y="1920"/>
              <a:ext cx="960" cy="672"/>
            </a:xfrm>
            <a:prstGeom prst="line">
              <a:avLst/>
            </a:prstGeom>
            <a:noFill/>
            <a:ln w="9525">
              <a:solidFill>
                <a:schemeClr val="tx1"/>
              </a:solidFill>
              <a:miter lim="800000"/>
              <a:headEnd/>
              <a:tailEnd/>
            </a:ln>
          </p:spPr>
          <p:txBody>
            <a:bodyPr wrap="none"/>
            <a:lstStyle/>
            <a:p>
              <a:endParaRPr lang="en-US"/>
            </a:p>
          </p:txBody>
        </p:sp>
        <p:sp>
          <p:nvSpPr>
            <p:cNvPr id="67609" name="Line 25"/>
            <p:cNvSpPr>
              <a:spLocks noChangeShapeType="1"/>
            </p:cNvSpPr>
            <p:nvPr/>
          </p:nvSpPr>
          <p:spPr bwMode="auto">
            <a:xfrm>
              <a:off x="3216" y="1920"/>
              <a:ext cx="1056" cy="1584"/>
            </a:xfrm>
            <a:prstGeom prst="line">
              <a:avLst/>
            </a:prstGeom>
            <a:noFill/>
            <a:ln w="9525">
              <a:solidFill>
                <a:schemeClr val="tx1"/>
              </a:solidFill>
              <a:miter lim="800000"/>
              <a:headEnd/>
              <a:tailEnd/>
            </a:ln>
          </p:spPr>
          <p:txBody>
            <a:bodyPr wrap="none"/>
            <a:lstStyle/>
            <a:p>
              <a:endParaRPr lang="en-US"/>
            </a:p>
          </p:txBody>
        </p:sp>
        <p:sp>
          <p:nvSpPr>
            <p:cNvPr id="67610" name="Line 26"/>
            <p:cNvSpPr>
              <a:spLocks noChangeShapeType="1"/>
            </p:cNvSpPr>
            <p:nvPr/>
          </p:nvSpPr>
          <p:spPr bwMode="auto">
            <a:xfrm>
              <a:off x="3216" y="2544"/>
              <a:ext cx="960" cy="0"/>
            </a:xfrm>
            <a:prstGeom prst="line">
              <a:avLst/>
            </a:prstGeom>
            <a:noFill/>
            <a:ln w="9525">
              <a:solidFill>
                <a:schemeClr val="tx1"/>
              </a:solidFill>
              <a:miter lim="800000"/>
              <a:headEnd/>
              <a:tailEnd/>
            </a:ln>
          </p:spPr>
          <p:txBody>
            <a:bodyPr wrap="none"/>
            <a:lstStyle/>
            <a:p>
              <a:endParaRPr lang="en-US"/>
            </a:p>
          </p:txBody>
        </p:sp>
        <p:sp>
          <p:nvSpPr>
            <p:cNvPr id="67611" name="Line 27"/>
            <p:cNvSpPr>
              <a:spLocks noChangeShapeType="1"/>
            </p:cNvSpPr>
            <p:nvPr/>
          </p:nvSpPr>
          <p:spPr bwMode="auto">
            <a:xfrm flipV="1">
              <a:off x="3216" y="1968"/>
              <a:ext cx="960" cy="528"/>
            </a:xfrm>
            <a:prstGeom prst="line">
              <a:avLst/>
            </a:prstGeom>
            <a:noFill/>
            <a:ln w="9525">
              <a:solidFill>
                <a:schemeClr val="tx1"/>
              </a:solidFill>
              <a:miter lim="800000"/>
              <a:headEnd/>
              <a:tailEnd/>
            </a:ln>
          </p:spPr>
          <p:txBody>
            <a:bodyPr wrap="none"/>
            <a:lstStyle/>
            <a:p>
              <a:endParaRPr lang="en-US"/>
            </a:p>
          </p:txBody>
        </p:sp>
        <p:sp>
          <p:nvSpPr>
            <p:cNvPr id="67612" name="Line 28"/>
            <p:cNvSpPr>
              <a:spLocks noChangeShapeType="1"/>
            </p:cNvSpPr>
            <p:nvPr/>
          </p:nvSpPr>
          <p:spPr bwMode="auto">
            <a:xfrm>
              <a:off x="3216" y="2544"/>
              <a:ext cx="1200" cy="864"/>
            </a:xfrm>
            <a:prstGeom prst="line">
              <a:avLst/>
            </a:prstGeom>
            <a:noFill/>
            <a:ln w="9525">
              <a:solidFill>
                <a:schemeClr val="tx1"/>
              </a:solidFill>
              <a:miter lim="800000"/>
              <a:headEnd/>
              <a:tailEnd/>
            </a:ln>
          </p:spPr>
          <p:txBody>
            <a:bodyPr wrap="none"/>
            <a:lstStyle/>
            <a:p>
              <a:endParaRPr lang="en-US"/>
            </a:p>
          </p:txBody>
        </p:sp>
        <p:sp>
          <p:nvSpPr>
            <p:cNvPr id="67613" name="Line 30"/>
            <p:cNvSpPr>
              <a:spLocks noChangeShapeType="1"/>
            </p:cNvSpPr>
            <p:nvPr/>
          </p:nvSpPr>
          <p:spPr bwMode="auto">
            <a:xfrm>
              <a:off x="3216" y="3600"/>
              <a:ext cx="1008" cy="0"/>
            </a:xfrm>
            <a:prstGeom prst="line">
              <a:avLst/>
            </a:prstGeom>
            <a:noFill/>
            <a:ln w="9525">
              <a:solidFill>
                <a:schemeClr val="tx1"/>
              </a:solidFill>
              <a:miter lim="800000"/>
              <a:headEnd/>
              <a:tailEnd/>
            </a:ln>
          </p:spPr>
          <p:txBody>
            <a:bodyPr wrap="none"/>
            <a:lstStyle/>
            <a:p>
              <a:endParaRPr lang="en-US"/>
            </a:p>
          </p:txBody>
        </p:sp>
        <p:sp>
          <p:nvSpPr>
            <p:cNvPr id="67614" name="Line 31"/>
            <p:cNvSpPr>
              <a:spLocks noChangeShapeType="1"/>
            </p:cNvSpPr>
            <p:nvPr/>
          </p:nvSpPr>
          <p:spPr bwMode="auto">
            <a:xfrm flipV="1">
              <a:off x="3216" y="2640"/>
              <a:ext cx="960" cy="912"/>
            </a:xfrm>
            <a:prstGeom prst="line">
              <a:avLst/>
            </a:prstGeom>
            <a:noFill/>
            <a:ln w="9525">
              <a:solidFill>
                <a:schemeClr val="tx1"/>
              </a:solidFill>
              <a:miter lim="800000"/>
              <a:headEnd/>
              <a:tailEnd/>
            </a:ln>
          </p:spPr>
          <p:txBody>
            <a:bodyPr wrap="none"/>
            <a:lstStyle/>
            <a:p>
              <a:endParaRPr lang="en-US"/>
            </a:p>
          </p:txBody>
        </p:sp>
        <p:sp>
          <p:nvSpPr>
            <p:cNvPr id="67615" name="Line 32"/>
            <p:cNvSpPr>
              <a:spLocks noChangeShapeType="1"/>
            </p:cNvSpPr>
            <p:nvPr/>
          </p:nvSpPr>
          <p:spPr bwMode="auto">
            <a:xfrm flipV="1">
              <a:off x="3216" y="1968"/>
              <a:ext cx="960" cy="1632"/>
            </a:xfrm>
            <a:prstGeom prst="line">
              <a:avLst/>
            </a:prstGeom>
            <a:noFill/>
            <a:ln w="9525">
              <a:solidFill>
                <a:schemeClr val="tx1"/>
              </a:solidFill>
              <a:miter lim="800000"/>
              <a:headEnd/>
              <a:tailEnd/>
            </a:ln>
          </p:spPr>
          <p:txBody>
            <a:bodyPr wrap="none"/>
            <a:lstStyle/>
            <a:p>
              <a:endParaRPr lang="en-US"/>
            </a:p>
          </p:txBody>
        </p:sp>
        <p:sp>
          <p:nvSpPr>
            <p:cNvPr id="67616" name="Line 33"/>
            <p:cNvSpPr>
              <a:spLocks noChangeShapeType="1"/>
            </p:cNvSpPr>
            <p:nvPr/>
          </p:nvSpPr>
          <p:spPr bwMode="auto">
            <a:xfrm>
              <a:off x="4704" y="1920"/>
              <a:ext cx="384" cy="0"/>
            </a:xfrm>
            <a:prstGeom prst="line">
              <a:avLst/>
            </a:prstGeom>
            <a:noFill/>
            <a:ln w="9525">
              <a:solidFill>
                <a:schemeClr val="tx1"/>
              </a:solidFill>
              <a:miter lim="800000"/>
              <a:headEnd/>
              <a:tailEnd type="triangle" w="med" len="med"/>
            </a:ln>
          </p:spPr>
          <p:txBody>
            <a:bodyPr wrap="none"/>
            <a:lstStyle/>
            <a:p>
              <a:endParaRPr lang="en-US"/>
            </a:p>
          </p:txBody>
        </p:sp>
        <p:sp>
          <p:nvSpPr>
            <p:cNvPr id="67617" name="Line 34"/>
            <p:cNvSpPr>
              <a:spLocks noChangeShapeType="1"/>
            </p:cNvSpPr>
            <p:nvPr/>
          </p:nvSpPr>
          <p:spPr bwMode="auto">
            <a:xfrm>
              <a:off x="4704" y="2592"/>
              <a:ext cx="384" cy="0"/>
            </a:xfrm>
            <a:prstGeom prst="line">
              <a:avLst/>
            </a:prstGeom>
            <a:noFill/>
            <a:ln w="9525">
              <a:solidFill>
                <a:schemeClr val="tx1"/>
              </a:solidFill>
              <a:miter lim="800000"/>
              <a:headEnd/>
              <a:tailEnd type="triangle" w="med" len="med"/>
            </a:ln>
          </p:spPr>
          <p:txBody>
            <a:bodyPr wrap="none"/>
            <a:lstStyle/>
            <a:p>
              <a:endParaRPr lang="en-US"/>
            </a:p>
          </p:txBody>
        </p:sp>
        <p:sp>
          <p:nvSpPr>
            <p:cNvPr id="67618" name="Line 35"/>
            <p:cNvSpPr>
              <a:spLocks noChangeShapeType="1"/>
            </p:cNvSpPr>
            <p:nvPr/>
          </p:nvSpPr>
          <p:spPr bwMode="auto">
            <a:xfrm flipV="1">
              <a:off x="4656" y="3648"/>
              <a:ext cx="432" cy="0"/>
            </a:xfrm>
            <a:prstGeom prst="line">
              <a:avLst/>
            </a:prstGeom>
            <a:noFill/>
            <a:ln w="9525">
              <a:solidFill>
                <a:schemeClr val="tx1"/>
              </a:solidFill>
              <a:miter lim="800000"/>
              <a:headEnd/>
              <a:tailEnd type="triangle" w="med" len="med"/>
            </a:ln>
          </p:spPr>
          <p:txBody>
            <a:bodyPr wrap="none"/>
            <a:lstStyle/>
            <a:p>
              <a:endParaRPr lang="en-US"/>
            </a:p>
          </p:txBody>
        </p:sp>
        <p:sp>
          <p:nvSpPr>
            <p:cNvPr id="67619" name="Text Box 37"/>
            <p:cNvSpPr txBox="1">
              <a:spLocks noChangeArrowheads="1"/>
            </p:cNvSpPr>
            <p:nvPr/>
          </p:nvSpPr>
          <p:spPr bwMode="auto">
            <a:xfrm>
              <a:off x="768" y="1056"/>
              <a:ext cx="720" cy="404"/>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Input layer</a:t>
              </a:r>
            </a:p>
          </p:txBody>
        </p:sp>
        <p:sp>
          <p:nvSpPr>
            <p:cNvPr id="67620" name="Text Box 38"/>
            <p:cNvSpPr txBox="1">
              <a:spLocks noChangeArrowheads="1"/>
            </p:cNvSpPr>
            <p:nvPr/>
          </p:nvSpPr>
          <p:spPr bwMode="auto">
            <a:xfrm>
              <a:off x="2496" y="1104"/>
              <a:ext cx="720" cy="404"/>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Hidden layer</a:t>
              </a:r>
            </a:p>
          </p:txBody>
        </p:sp>
        <p:sp>
          <p:nvSpPr>
            <p:cNvPr id="67621" name="Text Box 39"/>
            <p:cNvSpPr txBox="1">
              <a:spLocks noChangeArrowheads="1"/>
            </p:cNvSpPr>
            <p:nvPr/>
          </p:nvSpPr>
          <p:spPr bwMode="auto">
            <a:xfrm>
              <a:off x="3984" y="1104"/>
              <a:ext cx="720" cy="404"/>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Output layer</a:t>
              </a:r>
            </a:p>
          </p:txBody>
        </p:sp>
        <p:sp>
          <p:nvSpPr>
            <p:cNvPr id="67622" name="Text Box 40"/>
            <p:cNvSpPr txBox="1">
              <a:spLocks noChangeArrowheads="1"/>
            </p:cNvSpPr>
            <p:nvPr/>
          </p:nvSpPr>
          <p:spPr bwMode="auto">
            <a:xfrm>
              <a:off x="288" y="1776"/>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x1</a:t>
              </a:r>
            </a:p>
          </p:txBody>
        </p:sp>
        <p:sp>
          <p:nvSpPr>
            <p:cNvPr id="67623" name="Text Box 41"/>
            <p:cNvSpPr txBox="1">
              <a:spLocks noChangeArrowheads="1"/>
            </p:cNvSpPr>
            <p:nvPr/>
          </p:nvSpPr>
          <p:spPr bwMode="auto">
            <a:xfrm>
              <a:off x="288" y="2496"/>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x2</a:t>
              </a:r>
            </a:p>
          </p:txBody>
        </p:sp>
        <p:sp>
          <p:nvSpPr>
            <p:cNvPr id="67624" name="Text Box 42"/>
            <p:cNvSpPr txBox="1">
              <a:spLocks noChangeArrowheads="1"/>
            </p:cNvSpPr>
            <p:nvPr/>
          </p:nvSpPr>
          <p:spPr bwMode="auto">
            <a:xfrm>
              <a:off x="288" y="3552"/>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xi</a:t>
              </a:r>
            </a:p>
          </p:txBody>
        </p:sp>
        <p:sp>
          <p:nvSpPr>
            <p:cNvPr id="67625" name="Text Box 43"/>
            <p:cNvSpPr txBox="1">
              <a:spLocks noChangeArrowheads="1"/>
            </p:cNvSpPr>
            <p:nvPr/>
          </p:nvSpPr>
          <p:spPr bwMode="auto">
            <a:xfrm>
              <a:off x="1728" y="3792"/>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wij</a:t>
              </a:r>
            </a:p>
          </p:txBody>
        </p:sp>
        <p:sp>
          <p:nvSpPr>
            <p:cNvPr id="67626" name="Text Box 44"/>
            <p:cNvSpPr txBox="1">
              <a:spLocks noChangeArrowheads="1"/>
            </p:cNvSpPr>
            <p:nvPr/>
          </p:nvSpPr>
          <p:spPr bwMode="auto">
            <a:xfrm>
              <a:off x="3504" y="3792"/>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wkj</a:t>
              </a:r>
            </a:p>
          </p:txBody>
        </p:sp>
        <p:sp>
          <p:nvSpPr>
            <p:cNvPr id="67627" name="Text Box 45"/>
            <p:cNvSpPr txBox="1">
              <a:spLocks noChangeArrowheads="1"/>
            </p:cNvSpPr>
            <p:nvPr/>
          </p:nvSpPr>
          <p:spPr bwMode="auto">
            <a:xfrm>
              <a:off x="2736" y="3936"/>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Oj</a:t>
              </a:r>
            </a:p>
          </p:txBody>
        </p:sp>
        <p:sp>
          <p:nvSpPr>
            <p:cNvPr id="67628" name="Text Box 46"/>
            <p:cNvSpPr txBox="1">
              <a:spLocks noChangeArrowheads="1"/>
            </p:cNvSpPr>
            <p:nvPr/>
          </p:nvSpPr>
          <p:spPr bwMode="auto">
            <a:xfrm>
              <a:off x="4224" y="3936"/>
              <a:ext cx="384" cy="231"/>
            </a:xfrm>
            <a:prstGeom prst="rect">
              <a:avLst/>
            </a:prstGeom>
            <a:noFill/>
            <a:ln w="9525">
              <a:noFill/>
              <a:miter lim="800000"/>
              <a:headEnd/>
              <a:tailEnd/>
            </a:ln>
          </p:spPr>
          <p:txBody>
            <a:bodyPr>
              <a:spAutoFit/>
            </a:bodyPr>
            <a:lstStyle/>
            <a:p>
              <a:pPr algn="ctr" eaLnBrk="0" hangingPunct="0">
                <a:spcBef>
                  <a:spcPct val="50000"/>
                </a:spcBef>
              </a:pPr>
              <a:r>
                <a:rPr lang="en-US">
                  <a:latin typeface="Garamond" pitchFamily="18" charset="0"/>
                </a:rPr>
                <a:t>Ok</a:t>
              </a:r>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a:spLocks noGrp="1"/>
          </p:cNvSpPr>
          <p:nvPr>
            <p:ph type="sldNum" sz="quarter" idx="12"/>
          </p:nvPr>
        </p:nvSpPr>
        <p:spPr>
          <a:noFill/>
        </p:spPr>
        <p:txBody>
          <a:bodyPr/>
          <a:lstStyle/>
          <a:p>
            <a:fld id="{05861C51-C398-47D2-91F6-31C6DBBE7F4D}" type="slidenum">
              <a:rPr lang="en-US" smtClean="0"/>
              <a:pPr/>
              <a:t>62</a:t>
            </a:fld>
            <a:endParaRPr lang="en-US" smtClean="0"/>
          </a:p>
        </p:txBody>
      </p:sp>
      <p:sp>
        <p:nvSpPr>
          <p:cNvPr id="68611" name="Rectangle 4"/>
          <p:cNvSpPr>
            <a:spLocks noGrp="1" noChangeArrowheads="1"/>
          </p:cNvSpPr>
          <p:nvPr>
            <p:ph type="body" idx="1"/>
          </p:nvPr>
        </p:nvSpPr>
        <p:spPr>
          <a:xfrm>
            <a:off x="304800" y="228600"/>
            <a:ext cx="8382000" cy="5897563"/>
          </a:xfrm>
          <a:noFill/>
        </p:spPr>
        <p:txBody>
          <a:bodyPr/>
          <a:lstStyle/>
          <a:p>
            <a:pPr marL="285750" indent="-285750" algn="just" eaLnBrk="1" hangingPunct="1">
              <a:lnSpc>
                <a:spcPct val="90000"/>
              </a:lnSpc>
              <a:buFontTx/>
              <a:buNone/>
            </a:pPr>
            <a:r>
              <a:rPr lang="en-US" sz="2400" b="1" smtClean="0"/>
              <a:t>Back propagation</a:t>
            </a:r>
          </a:p>
          <a:p>
            <a:pPr marL="285750" indent="-285750" algn="just" eaLnBrk="1" hangingPunct="1">
              <a:lnSpc>
                <a:spcPct val="90000"/>
              </a:lnSpc>
              <a:buFontTx/>
              <a:buNone/>
            </a:pPr>
            <a:r>
              <a:rPr lang="en-US" sz="2400" smtClean="0"/>
              <a:t>“How does backpropagation work”</a:t>
            </a:r>
          </a:p>
          <a:p>
            <a:pPr marL="285750" indent="-285750" algn="just" eaLnBrk="1" hangingPunct="1">
              <a:lnSpc>
                <a:spcPct val="90000"/>
              </a:lnSpc>
            </a:pPr>
            <a:r>
              <a:rPr lang="en-US" sz="2400" smtClean="0"/>
              <a:t>Backpropgation learns by iteratively processing a set of training samples, comparing the networks prediction for each same with the actual known class label </a:t>
            </a:r>
          </a:p>
          <a:p>
            <a:pPr marL="285750" indent="-285750" algn="just" eaLnBrk="1" hangingPunct="1">
              <a:lnSpc>
                <a:spcPct val="90000"/>
              </a:lnSpc>
            </a:pPr>
            <a:r>
              <a:rPr lang="en-US" sz="2400" smtClean="0"/>
              <a:t>For each training sample, the weights are modifiedso as to minimize the mean squared error between the networks prediction and the actual class. </a:t>
            </a:r>
          </a:p>
          <a:p>
            <a:pPr marL="285750" indent="-285750" algn="just" eaLnBrk="1" hangingPunct="1">
              <a:lnSpc>
                <a:spcPct val="90000"/>
              </a:lnSpc>
            </a:pPr>
            <a:r>
              <a:rPr lang="en-US" sz="2400" smtClean="0"/>
              <a:t>These modifications are made in the “backwards” direction, i.e. from output layer, through each hidden down to the first hidden layer (hence the name is back propagation ). Although it is not guaranteed, in the general the weights will eventually converge, and the learning process stops. </a:t>
            </a:r>
          </a:p>
          <a:p>
            <a:pPr marL="285750" indent="-285750" algn="just" eaLnBrk="1" hangingPunct="1">
              <a:lnSpc>
                <a:spcPct val="90000"/>
              </a:lnSpc>
            </a:pPr>
            <a:r>
              <a:rPr lang="en-US" sz="2400" smtClean="0"/>
              <a:t>Algorithm is given in page 305</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p:spPr>
        <p:txBody>
          <a:bodyPr/>
          <a:lstStyle/>
          <a:p>
            <a:fld id="{F7819FBF-D709-4A65-B6F8-494AD1834077}" type="slidenum">
              <a:rPr lang="en-US" smtClean="0"/>
              <a:pPr/>
              <a:t>63</a:t>
            </a:fld>
            <a:endParaRPr lang="en-US" smtClean="0"/>
          </a:p>
        </p:txBody>
      </p:sp>
      <p:sp>
        <p:nvSpPr>
          <p:cNvPr id="69635" name="Rectangle 2"/>
          <p:cNvSpPr>
            <a:spLocks noGrp="1" noChangeArrowheads="1"/>
          </p:cNvSpPr>
          <p:nvPr>
            <p:ph type="title"/>
          </p:nvPr>
        </p:nvSpPr>
        <p:spPr>
          <a:xfrm>
            <a:off x="1828800" y="152400"/>
            <a:ext cx="5408613" cy="581025"/>
          </a:xfrm>
          <a:noFill/>
        </p:spPr>
        <p:txBody>
          <a:bodyPr lIns="92075" tIns="46038" rIns="92075" bIns="46038" anchor="b"/>
          <a:lstStyle/>
          <a:p>
            <a:pPr eaLnBrk="1" hangingPunct="1"/>
            <a:r>
              <a:rPr lang="en-US" smtClean="0"/>
              <a:t>A  Neuron</a:t>
            </a:r>
          </a:p>
        </p:txBody>
      </p:sp>
      <p:sp>
        <p:nvSpPr>
          <p:cNvPr id="69636" name="Rectangle 3"/>
          <p:cNvSpPr>
            <a:spLocks noGrp="1" noChangeArrowheads="1"/>
          </p:cNvSpPr>
          <p:nvPr>
            <p:ph type="body" idx="1"/>
          </p:nvPr>
        </p:nvSpPr>
        <p:spPr>
          <a:xfrm>
            <a:off x="533400" y="5257800"/>
            <a:ext cx="8077200" cy="1066800"/>
          </a:xfrm>
          <a:noFill/>
        </p:spPr>
        <p:txBody>
          <a:bodyPr lIns="92075" tIns="46038" rIns="92075" bIns="46038"/>
          <a:lstStyle/>
          <a:p>
            <a:pPr eaLnBrk="1" hangingPunct="1">
              <a:lnSpc>
                <a:spcPct val="90000"/>
              </a:lnSpc>
            </a:pPr>
            <a:r>
              <a:rPr lang="en-US" sz="3000" smtClean="0"/>
              <a:t>The </a:t>
            </a:r>
            <a:r>
              <a:rPr lang="en-US" sz="3000" i="1" smtClean="0"/>
              <a:t>n</a:t>
            </a:r>
            <a:r>
              <a:rPr lang="en-US" sz="3000" smtClean="0"/>
              <a:t>-dimensional input vector </a:t>
            </a:r>
            <a:r>
              <a:rPr lang="en-US" sz="3000" i="1" smtClean="0"/>
              <a:t>x</a:t>
            </a:r>
            <a:r>
              <a:rPr lang="en-US" sz="3000" smtClean="0"/>
              <a:t> is mapped into  variable </a:t>
            </a:r>
            <a:r>
              <a:rPr lang="en-US" sz="3000" i="1" smtClean="0"/>
              <a:t>y</a:t>
            </a:r>
            <a:r>
              <a:rPr lang="en-US" sz="3000" smtClean="0"/>
              <a:t> by means of the scalar product and a nonlinear function mapping</a:t>
            </a:r>
          </a:p>
        </p:txBody>
      </p:sp>
      <p:grpSp>
        <p:nvGrpSpPr>
          <p:cNvPr id="69637" name="Group 4"/>
          <p:cNvGrpSpPr>
            <a:grpSpLocks/>
          </p:cNvGrpSpPr>
          <p:nvPr/>
        </p:nvGrpSpPr>
        <p:grpSpPr bwMode="auto">
          <a:xfrm>
            <a:off x="381000" y="685800"/>
            <a:ext cx="8161338" cy="3873500"/>
            <a:chOff x="240" y="864"/>
            <a:chExt cx="5141" cy="2440"/>
          </a:xfrm>
        </p:grpSpPr>
        <p:sp>
          <p:nvSpPr>
            <p:cNvPr id="69638" name="Rectangle 5"/>
            <p:cNvSpPr>
              <a:spLocks noChangeArrowheads="1"/>
            </p:cNvSpPr>
            <p:nvPr/>
          </p:nvSpPr>
          <p:spPr bwMode="auto">
            <a:xfrm>
              <a:off x="3128" y="882"/>
              <a:ext cx="367" cy="404"/>
            </a:xfrm>
            <a:prstGeom prst="rect">
              <a:avLst/>
            </a:prstGeom>
            <a:noFill/>
            <a:ln w="9525">
              <a:noFill/>
              <a:miter lim="800000"/>
              <a:headEnd/>
              <a:tailEnd/>
            </a:ln>
          </p:spPr>
          <p:txBody>
            <a:bodyPr wrap="none" lIns="92075" tIns="46038" rIns="92075" bIns="46038">
              <a:spAutoFit/>
            </a:bodyPr>
            <a:lstStyle/>
            <a:p>
              <a:pPr algn="ctr" eaLnBrk="0" hangingPunct="0"/>
              <a:r>
                <a:rPr lang="en-US" sz="3600">
                  <a:latin typeface="Symbol" pitchFamily="18" charset="2"/>
                </a:rPr>
                <a:t>m</a:t>
              </a:r>
              <a:r>
                <a:rPr lang="en-US" sz="3600" i="1" baseline="-25000">
                  <a:latin typeface="Times New Roman" pitchFamily="18" charset="0"/>
                </a:rPr>
                <a:t>k</a:t>
              </a:r>
            </a:p>
          </p:txBody>
        </p:sp>
        <p:sp>
          <p:nvSpPr>
            <p:cNvPr id="69639" name="Rectangle 6"/>
            <p:cNvSpPr>
              <a:spLocks noChangeArrowheads="1"/>
            </p:cNvSpPr>
            <p:nvPr/>
          </p:nvSpPr>
          <p:spPr bwMode="auto">
            <a:xfrm>
              <a:off x="2869" y="864"/>
              <a:ext cx="233" cy="480"/>
            </a:xfrm>
            <a:prstGeom prst="rect">
              <a:avLst/>
            </a:prstGeom>
            <a:noFill/>
            <a:ln w="9525">
              <a:noFill/>
              <a:miter lim="800000"/>
              <a:headEnd/>
              <a:tailEnd/>
            </a:ln>
          </p:spPr>
          <p:txBody>
            <a:bodyPr lIns="92075" tIns="46038" rIns="92075" bIns="46038">
              <a:spAutoFit/>
            </a:bodyPr>
            <a:lstStyle/>
            <a:p>
              <a:pPr algn="ctr" eaLnBrk="0" hangingPunct="0"/>
              <a:r>
                <a:rPr lang="en-US" sz="4400">
                  <a:latin typeface="Times New Roman" pitchFamily="18" charset="0"/>
                </a:rPr>
                <a:t>-</a:t>
              </a:r>
            </a:p>
          </p:txBody>
        </p:sp>
        <p:grpSp>
          <p:nvGrpSpPr>
            <p:cNvPr id="69640" name="Group 7"/>
            <p:cNvGrpSpPr>
              <a:grpSpLocks/>
            </p:cNvGrpSpPr>
            <p:nvPr/>
          </p:nvGrpSpPr>
          <p:grpSpPr bwMode="auto">
            <a:xfrm>
              <a:off x="240" y="946"/>
              <a:ext cx="5141" cy="2358"/>
              <a:chOff x="240" y="946"/>
              <a:chExt cx="5141" cy="2358"/>
            </a:xfrm>
          </p:grpSpPr>
          <p:sp>
            <p:nvSpPr>
              <p:cNvPr id="69641" name="Oval 8"/>
              <p:cNvSpPr>
                <a:spLocks noChangeArrowheads="1"/>
              </p:cNvSpPr>
              <p:nvPr/>
            </p:nvSpPr>
            <p:spPr bwMode="auto">
              <a:xfrm>
                <a:off x="1217" y="1090"/>
                <a:ext cx="480" cy="1584"/>
              </a:xfrm>
              <a:prstGeom prst="ellipse">
                <a:avLst/>
              </a:prstGeom>
              <a:solidFill>
                <a:srgbClr val="00CCFF"/>
              </a:solidFill>
              <a:ln w="9525">
                <a:noFill/>
                <a:round/>
                <a:headEnd/>
                <a:tailEnd/>
              </a:ln>
            </p:spPr>
            <p:txBody>
              <a:bodyPr wrap="none" anchor="ctr"/>
              <a:lstStyle/>
              <a:p>
                <a:endParaRPr lang="en-US"/>
              </a:p>
            </p:txBody>
          </p:sp>
          <p:sp>
            <p:nvSpPr>
              <p:cNvPr id="69642" name="Oval 9"/>
              <p:cNvSpPr>
                <a:spLocks noChangeArrowheads="1"/>
              </p:cNvSpPr>
              <p:nvPr/>
            </p:nvSpPr>
            <p:spPr bwMode="auto">
              <a:xfrm>
                <a:off x="393" y="1081"/>
                <a:ext cx="478" cy="1582"/>
              </a:xfrm>
              <a:prstGeom prst="ellipse">
                <a:avLst/>
              </a:prstGeom>
              <a:solidFill>
                <a:srgbClr val="66FFFF"/>
              </a:solidFill>
              <a:ln w="12700">
                <a:solidFill>
                  <a:srgbClr val="66FFFF"/>
                </a:solidFill>
                <a:round/>
                <a:headEnd/>
                <a:tailEnd/>
              </a:ln>
            </p:spPr>
            <p:txBody>
              <a:bodyPr wrap="none" anchor="ctr"/>
              <a:lstStyle/>
              <a:p>
                <a:endParaRPr lang="en-US"/>
              </a:p>
            </p:txBody>
          </p:sp>
          <p:sp>
            <p:nvSpPr>
              <p:cNvPr id="69643" name="Line 10"/>
              <p:cNvSpPr>
                <a:spLocks noChangeShapeType="1"/>
              </p:cNvSpPr>
              <p:nvPr/>
            </p:nvSpPr>
            <p:spPr bwMode="auto">
              <a:xfrm>
                <a:off x="2698" y="1895"/>
                <a:ext cx="681" cy="1"/>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44" name="Rectangle 11"/>
              <p:cNvSpPr>
                <a:spLocks noChangeArrowheads="1"/>
              </p:cNvSpPr>
              <p:nvPr/>
            </p:nvSpPr>
            <p:spPr bwMode="auto">
              <a:xfrm>
                <a:off x="3365" y="1653"/>
                <a:ext cx="515" cy="488"/>
              </a:xfrm>
              <a:prstGeom prst="rect">
                <a:avLst/>
              </a:prstGeom>
              <a:solidFill>
                <a:srgbClr val="00FF99"/>
              </a:solidFill>
              <a:ln w="12700">
                <a:solidFill>
                  <a:srgbClr val="00FF99"/>
                </a:solidFill>
                <a:miter lim="800000"/>
                <a:headEnd/>
                <a:tailEnd/>
              </a:ln>
            </p:spPr>
            <p:txBody>
              <a:bodyPr lIns="92075" tIns="46038" rIns="92075" bIns="46038">
                <a:spAutoFit/>
              </a:bodyPr>
              <a:lstStyle/>
              <a:p>
                <a:pPr algn="ctr" eaLnBrk="0" hangingPunct="0"/>
                <a:r>
                  <a:rPr lang="en-US" sz="4400" i="1">
                    <a:latin typeface="Times New Roman" pitchFamily="18" charset="0"/>
                  </a:rPr>
                  <a:t>f</a:t>
                </a:r>
              </a:p>
            </p:txBody>
          </p:sp>
          <p:sp>
            <p:nvSpPr>
              <p:cNvPr id="69645" name="Line 12"/>
              <p:cNvSpPr>
                <a:spLocks noChangeShapeType="1"/>
              </p:cNvSpPr>
              <p:nvPr/>
            </p:nvSpPr>
            <p:spPr bwMode="auto">
              <a:xfrm>
                <a:off x="3888" y="1905"/>
                <a:ext cx="911" cy="0"/>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46" name="Rectangle 13"/>
              <p:cNvSpPr>
                <a:spLocks noChangeArrowheads="1"/>
              </p:cNvSpPr>
              <p:nvPr/>
            </p:nvSpPr>
            <p:spPr bwMode="auto">
              <a:xfrm>
                <a:off x="1982" y="2786"/>
                <a:ext cx="900" cy="518"/>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weighted </a:t>
                </a:r>
              </a:p>
              <a:p>
                <a:pPr algn="ctr" eaLnBrk="0" hangingPunct="0"/>
                <a:r>
                  <a:rPr lang="en-US" sz="2400" b="1">
                    <a:latin typeface="Times New Roman" pitchFamily="18" charset="0"/>
                  </a:rPr>
                  <a:t>sum</a:t>
                </a:r>
                <a:endParaRPr lang="en-US" sz="2400">
                  <a:latin typeface="Times New Roman" pitchFamily="18" charset="0"/>
                </a:endParaRPr>
              </a:p>
            </p:txBody>
          </p:sp>
          <p:sp>
            <p:nvSpPr>
              <p:cNvPr id="69647" name="Rectangle 14"/>
              <p:cNvSpPr>
                <a:spLocks noChangeArrowheads="1"/>
              </p:cNvSpPr>
              <p:nvPr/>
            </p:nvSpPr>
            <p:spPr bwMode="auto">
              <a:xfrm>
                <a:off x="240" y="2786"/>
                <a:ext cx="771" cy="518"/>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Input</a:t>
                </a:r>
              </a:p>
              <a:p>
                <a:pPr algn="ctr" eaLnBrk="0" hangingPunct="0"/>
                <a:r>
                  <a:rPr lang="en-US" sz="2400" b="1">
                    <a:latin typeface="Times New Roman" pitchFamily="18" charset="0"/>
                  </a:rPr>
                  <a:t>vector </a:t>
                </a:r>
                <a:r>
                  <a:rPr lang="en-US" sz="2400" b="1" i="1">
                    <a:latin typeface="Times New Roman" pitchFamily="18" charset="0"/>
                  </a:rPr>
                  <a:t>x</a:t>
                </a:r>
                <a:endParaRPr lang="en-US" sz="2400" i="1">
                  <a:latin typeface="Times New Roman" pitchFamily="18" charset="0"/>
                </a:endParaRPr>
              </a:p>
            </p:txBody>
          </p:sp>
          <p:sp>
            <p:nvSpPr>
              <p:cNvPr id="69648" name="Rectangle 15"/>
              <p:cNvSpPr>
                <a:spLocks noChangeArrowheads="1"/>
              </p:cNvSpPr>
              <p:nvPr/>
            </p:nvSpPr>
            <p:spPr bwMode="auto">
              <a:xfrm>
                <a:off x="4587" y="2027"/>
                <a:ext cx="794" cy="288"/>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output </a:t>
                </a:r>
                <a:r>
                  <a:rPr lang="en-US" sz="2400" b="1" i="1">
                    <a:latin typeface="Times New Roman" pitchFamily="18" charset="0"/>
                  </a:rPr>
                  <a:t>y</a:t>
                </a:r>
                <a:endParaRPr lang="en-US" sz="2400" i="1">
                  <a:latin typeface="Times New Roman" pitchFamily="18" charset="0"/>
                </a:endParaRPr>
              </a:p>
            </p:txBody>
          </p:sp>
          <p:sp>
            <p:nvSpPr>
              <p:cNvPr id="69649" name="Rectangle 16"/>
              <p:cNvSpPr>
                <a:spLocks noChangeArrowheads="1"/>
              </p:cNvSpPr>
              <p:nvPr/>
            </p:nvSpPr>
            <p:spPr bwMode="auto">
              <a:xfrm>
                <a:off x="3119" y="2786"/>
                <a:ext cx="969" cy="518"/>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Activation</a:t>
                </a:r>
                <a:endParaRPr lang="en-US" sz="2400">
                  <a:latin typeface="Times New Roman" pitchFamily="18" charset="0"/>
                </a:endParaRPr>
              </a:p>
              <a:p>
                <a:pPr algn="ctr" eaLnBrk="0" hangingPunct="0"/>
                <a:r>
                  <a:rPr lang="en-US" sz="2400" b="1">
                    <a:latin typeface="Times New Roman" pitchFamily="18" charset="0"/>
                  </a:rPr>
                  <a:t>function</a:t>
                </a:r>
                <a:endParaRPr lang="en-US" sz="2400">
                  <a:latin typeface="Times New Roman" pitchFamily="18" charset="0"/>
                </a:endParaRPr>
              </a:p>
            </p:txBody>
          </p:sp>
          <p:sp>
            <p:nvSpPr>
              <p:cNvPr id="69650" name="Oval 17"/>
              <p:cNvSpPr>
                <a:spLocks noChangeArrowheads="1"/>
              </p:cNvSpPr>
              <p:nvPr/>
            </p:nvSpPr>
            <p:spPr bwMode="auto">
              <a:xfrm>
                <a:off x="2755" y="946"/>
                <a:ext cx="401" cy="402"/>
              </a:xfrm>
              <a:prstGeom prst="ellipse">
                <a:avLst/>
              </a:prstGeom>
              <a:solidFill>
                <a:srgbClr val="00FFCC"/>
              </a:solidFill>
              <a:ln w="12700">
                <a:solidFill>
                  <a:srgbClr val="000000"/>
                </a:solidFill>
                <a:round/>
                <a:headEnd/>
                <a:tailEnd/>
              </a:ln>
            </p:spPr>
            <p:txBody>
              <a:bodyPr wrap="none" lIns="92075" tIns="46038" rIns="92075" bIns="46038" anchor="ctr"/>
              <a:lstStyle/>
              <a:p>
                <a:pPr algn="ctr"/>
                <a:endParaRPr lang="en-US" sz="2400">
                  <a:latin typeface="Times New Roman" pitchFamily="18" charset="0"/>
                </a:endParaRPr>
              </a:p>
            </p:txBody>
          </p:sp>
          <p:sp>
            <p:nvSpPr>
              <p:cNvPr id="69651" name="Line 18"/>
              <p:cNvSpPr>
                <a:spLocks noChangeShapeType="1"/>
              </p:cNvSpPr>
              <p:nvPr/>
            </p:nvSpPr>
            <p:spPr bwMode="auto">
              <a:xfrm>
                <a:off x="2955" y="1350"/>
                <a:ext cx="0" cy="565"/>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52" name="Rectangle 19"/>
              <p:cNvSpPr>
                <a:spLocks noChangeArrowheads="1"/>
              </p:cNvSpPr>
              <p:nvPr/>
            </p:nvSpPr>
            <p:spPr bwMode="auto">
              <a:xfrm>
                <a:off x="1031" y="2786"/>
                <a:ext cx="803" cy="518"/>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weight</a:t>
                </a:r>
              </a:p>
              <a:p>
                <a:pPr algn="ctr" eaLnBrk="0" hangingPunct="0"/>
                <a:r>
                  <a:rPr lang="en-US" sz="2400" b="1">
                    <a:latin typeface="Times New Roman" pitchFamily="18" charset="0"/>
                  </a:rPr>
                  <a:t>vector </a:t>
                </a:r>
                <a:r>
                  <a:rPr lang="en-US" sz="2400" b="1" i="1">
                    <a:latin typeface="Times New Roman" pitchFamily="18" charset="0"/>
                  </a:rPr>
                  <a:t>w</a:t>
                </a:r>
                <a:endParaRPr lang="en-US" sz="2400" i="1">
                  <a:latin typeface="Times New Roman" pitchFamily="18" charset="0"/>
                </a:endParaRPr>
              </a:p>
            </p:txBody>
          </p:sp>
          <p:sp>
            <p:nvSpPr>
              <p:cNvPr id="69653" name="Freeform 20"/>
              <p:cNvSpPr>
                <a:spLocks/>
              </p:cNvSpPr>
              <p:nvPr/>
            </p:nvSpPr>
            <p:spPr bwMode="auto">
              <a:xfrm>
                <a:off x="2101" y="1271"/>
                <a:ext cx="568" cy="1220"/>
              </a:xfrm>
              <a:custGeom>
                <a:avLst/>
                <a:gdLst>
                  <a:gd name="T0" fmla="*/ 0 w 568"/>
                  <a:gd name="T1" fmla="*/ 0 h 1220"/>
                  <a:gd name="T2" fmla="*/ 0 w 568"/>
                  <a:gd name="T3" fmla="*/ 1219 h 1220"/>
                  <a:gd name="T4" fmla="*/ 254 w 568"/>
                  <a:gd name="T5" fmla="*/ 1219 h 1220"/>
                  <a:gd name="T6" fmla="*/ 567 w 568"/>
                  <a:gd name="T7" fmla="*/ 632 h 1220"/>
                  <a:gd name="T8" fmla="*/ 254 w 568"/>
                  <a:gd name="T9" fmla="*/ 14 h 1220"/>
                  <a:gd name="T10" fmla="*/ 0 w 568"/>
                  <a:gd name="T11" fmla="*/ 0 h 1220"/>
                  <a:gd name="T12" fmla="*/ 0 60000 65536"/>
                  <a:gd name="T13" fmla="*/ 0 60000 65536"/>
                  <a:gd name="T14" fmla="*/ 0 60000 65536"/>
                  <a:gd name="T15" fmla="*/ 0 60000 65536"/>
                  <a:gd name="T16" fmla="*/ 0 60000 65536"/>
                  <a:gd name="T17" fmla="*/ 0 60000 65536"/>
                  <a:gd name="T18" fmla="*/ 0 w 568"/>
                  <a:gd name="T19" fmla="*/ 0 h 1220"/>
                  <a:gd name="T20" fmla="*/ 568 w 568"/>
                  <a:gd name="T21" fmla="*/ 1220 h 1220"/>
                </a:gdLst>
                <a:ahLst/>
                <a:cxnLst>
                  <a:cxn ang="T12">
                    <a:pos x="T0" y="T1"/>
                  </a:cxn>
                  <a:cxn ang="T13">
                    <a:pos x="T2" y="T3"/>
                  </a:cxn>
                  <a:cxn ang="T14">
                    <a:pos x="T4" y="T5"/>
                  </a:cxn>
                  <a:cxn ang="T15">
                    <a:pos x="T6" y="T7"/>
                  </a:cxn>
                  <a:cxn ang="T16">
                    <a:pos x="T8" y="T9"/>
                  </a:cxn>
                  <a:cxn ang="T17">
                    <a:pos x="T10" y="T11"/>
                  </a:cxn>
                </a:cxnLst>
                <a:rect l="T18" t="T19" r="T20" b="T21"/>
                <a:pathLst>
                  <a:path w="568" h="1220">
                    <a:moveTo>
                      <a:pt x="0" y="0"/>
                    </a:moveTo>
                    <a:lnTo>
                      <a:pt x="0" y="1219"/>
                    </a:lnTo>
                    <a:lnTo>
                      <a:pt x="254" y="1219"/>
                    </a:lnTo>
                    <a:lnTo>
                      <a:pt x="567" y="632"/>
                    </a:lnTo>
                    <a:lnTo>
                      <a:pt x="254" y="14"/>
                    </a:lnTo>
                    <a:lnTo>
                      <a:pt x="0" y="0"/>
                    </a:lnTo>
                  </a:path>
                </a:pathLst>
              </a:custGeom>
              <a:solidFill>
                <a:srgbClr val="99CCFF"/>
              </a:solidFill>
              <a:ln w="12700" cap="rnd">
                <a:solidFill>
                  <a:srgbClr val="000000"/>
                </a:solidFill>
                <a:round/>
                <a:headEnd/>
                <a:tailEnd/>
              </a:ln>
            </p:spPr>
            <p:txBody>
              <a:bodyPr/>
              <a:lstStyle/>
              <a:p>
                <a:endParaRPr lang="en-US"/>
              </a:p>
            </p:txBody>
          </p:sp>
          <p:sp>
            <p:nvSpPr>
              <p:cNvPr id="69654" name="Rectangle 21"/>
              <p:cNvSpPr>
                <a:spLocks noChangeArrowheads="1"/>
              </p:cNvSpPr>
              <p:nvPr/>
            </p:nvSpPr>
            <p:spPr bwMode="auto">
              <a:xfrm>
                <a:off x="2153" y="1667"/>
                <a:ext cx="321" cy="404"/>
              </a:xfrm>
              <a:prstGeom prst="rect">
                <a:avLst/>
              </a:prstGeom>
              <a:noFill/>
              <a:ln w="9525">
                <a:noFill/>
                <a:miter lim="800000"/>
                <a:headEnd/>
                <a:tailEnd/>
              </a:ln>
            </p:spPr>
            <p:txBody>
              <a:bodyPr wrap="none" lIns="92075" tIns="46038" rIns="92075" bIns="46038">
                <a:spAutoFit/>
              </a:bodyPr>
              <a:lstStyle/>
              <a:p>
                <a:pPr algn="ctr" eaLnBrk="0" hangingPunct="0"/>
                <a:r>
                  <a:rPr lang="en-US" sz="3600">
                    <a:latin typeface="Symbol" pitchFamily="18" charset="2"/>
                  </a:rPr>
                  <a:t>å</a:t>
                </a:r>
              </a:p>
            </p:txBody>
          </p:sp>
          <p:sp>
            <p:nvSpPr>
              <p:cNvPr id="69655" name="Line 22"/>
              <p:cNvSpPr>
                <a:spLocks noChangeShapeType="1"/>
              </p:cNvSpPr>
              <p:nvPr/>
            </p:nvSpPr>
            <p:spPr bwMode="auto">
              <a:xfrm>
                <a:off x="1680" y="1406"/>
                <a:ext cx="430" cy="0"/>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56" name="Rectangle 23"/>
              <p:cNvSpPr>
                <a:spLocks noChangeArrowheads="1"/>
              </p:cNvSpPr>
              <p:nvPr/>
            </p:nvSpPr>
            <p:spPr bwMode="auto">
              <a:xfrm>
                <a:off x="1314" y="1259"/>
                <a:ext cx="308"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w</a:t>
                </a:r>
                <a:r>
                  <a:rPr lang="en-US" sz="2400" i="1" baseline="-25000">
                    <a:latin typeface="Times New Roman" pitchFamily="18" charset="0"/>
                  </a:rPr>
                  <a:t>0</a:t>
                </a:r>
              </a:p>
            </p:txBody>
          </p:sp>
          <p:sp>
            <p:nvSpPr>
              <p:cNvPr id="69657" name="Line 24"/>
              <p:cNvSpPr>
                <a:spLocks noChangeShapeType="1"/>
              </p:cNvSpPr>
              <p:nvPr/>
            </p:nvSpPr>
            <p:spPr bwMode="auto">
              <a:xfrm>
                <a:off x="854" y="1406"/>
                <a:ext cx="431" cy="0"/>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58" name="Line 25"/>
              <p:cNvSpPr>
                <a:spLocks noChangeShapeType="1"/>
              </p:cNvSpPr>
              <p:nvPr/>
            </p:nvSpPr>
            <p:spPr bwMode="auto">
              <a:xfrm>
                <a:off x="1671" y="1762"/>
                <a:ext cx="430" cy="0"/>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59" name="Rectangle 26"/>
              <p:cNvSpPr>
                <a:spLocks noChangeArrowheads="1"/>
              </p:cNvSpPr>
              <p:nvPr/>
            </p:nvSpPr>
            <p:spPr bwMode="auto">
              <a:xfrm>
                <a:off x="1305" y="1615"/>
                <a:ext cx="308"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w</a:t>
                </a:r>
                <a:r>
                  <a:rPr lang="en-US" sz="2400" i="1" baseline="-25000">
                    <a:latin typeface="Times New Roman" pitchFamily="18" charset="0"/>
                  </a:rPr>
                  <a:t>1</a:t>
                </a:r>
              </a:p>
            </p:txBody>
          </p:sp>
          <p:sp>
            <p:nvSpPr>
              <p:cNvPr id="69660" name="Line 27"/>
              <p:cNvSpPr>
                <a:spLocks noChangeShapeType="1"/>
              </p:cNvSpPr>
              <p:nvPr/>
            </p:nvSpPr>
            <p:spPr bwMode="auto">
              <a:xfrm>
                <a:off x="845" y="1762"/>
                <a:ext cx="431" cy="0"/>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69661" name="Line 28"/>
              <p:cNvSpPr>
                <a:spLocks noChangeShapeType="1"/>
              </p:cNvSpPr>
              <p:nvPr/>
            </p:nvSpPr>
            <p:spPr bwMode="auto">
              <a:xfrm>
                <a:off x="1670" y="2346"/>
                <a:ext cx="430" cy="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69662" name="Rectangle 29"/>
              <p:cNvSpPr>
                <a:spLocks noChangeArrowheads="1"/>
              </p:cNvSpPr>
              <p:nvPr/>
            </p:nvSpPr>
            <p:spPr bwMode="auto">
              <a:xfrm>
                <a:off x="1304" y="2199"/>
                <a:ext cx="308"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w</a:t>
                </a:r>
                <a:r>
                  <a:rPr lang="en-US" sz="2400" i="1" baseline="-25000">
                    <a:latin typeface="Times New Roman" pitchFamily="18" charset="0"/>
                  </a:rPr>
                  <a:t>n</a:t>
                </a:r>
              </a:p>
            </p:txBody>
          </p:sp>
          <p:sp>
            <p:nvSpPr>
              <p:cNvPr id="69663" name="Line 30"/>
              <p:cNvSpPr>
                <a:spLocks noChangeShapeType="1"/>
              </p:cNvSpPr>
              <p:nvPr/>
            </p:nvSpPr>
            <p:spPr bwMode="auto">
              <a:xfrm>
                <a:off x="844" y="2346"/>
                <a:ext cx="431" cy="0"/>
              </a:xfrm>
              <a:prstGeom prst="line">
                <a:avLst/>
              </a:prstGeom>
              <a:noFill/>
              <a:ln w="12700">
                <a:solidFill>
                  <a:schemeClr val="tx1"/>
                </a:solidFill>
                <a:round/>
                <a:headEnd type="none" w="sm" len="sm"/>
                <a:tailEnd type="stealth" w="med" len="med"/>
              </a:ln>
            </p:spPr>
            <p:txBody>
              <a:bodyPr wrap="none" anchor="ctr"/>
              <a:lstStyle/>
              <a:p>
                <a:endParaRPr lang="en-US"/>
              </a:p>
            </p:txBody>
          </p:sp>
          <p:sp>
            <p:nvSpPr>
              <p:cNvPr id="69664" name="Rectangle 31"/>
              <p:cNvSpPr>
                <a:spLocks noChangeArrowheads="1"/>
              </p:cNvSpPr>
              <p:nvPr/>
            </p:nvSpPr>
            <p:spPr bwMode="auto">
              <a:xfrm>
                <a:off x="471" y="1231"/>
                <a:ext cx="265"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x</a:t>
                </a:r>
                <a:r>
                  <a:rPr lang="en-US" sz="2400" i="1" baseline="-25000">
                    <a:latin typeface="Times New Roman" pitchFamily="18" charset="0"/>
                  </a:rPr>
                  <a:t>0</a:t>
                </a:r>
              </a:p>
            </p:txBody>
          </p:sp>
          <p:sp>
            <p:nvSpPr>
              <p:cNvPr id="69665" name="Rectangle 32"/>
              <p:cNvSpPr>
                <a:spLocks noChangeArrowheads="1"/>
              </p:cNvSpPr>
              <p:nvPr/>
            </p:nvSpPr>
            <p:spPr bwMode="auto">
              <a:xfrm>
                <a:off x="490" y="1606"/>
                <a:ext cx="265"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x</a:t>
                </a:r>
                <a:r>
                  <a:rPr lang="en-US" sz="2400" i="1" baseline="-25000">
                    <a:latin typeface="Times New Roman" pitchFamily="18" charset="0"/>
                  </a:rPr>
                  <a:t>1</a:t>
                </a:r>
              </a:p>
            </p:txBody>
          </p:sp>
          <p:sp>
            <p:nvSpPr>
              <p:cNvPr id="69666" name="Rectangle 33"/>
              <p:cNvSpPr>
                <a:spLocks noChangeArrowheads="1"/>
              </p:cNvSpPr>
              <p:nvPr/>
            </p:nvSpPr>
            <p:spPr bwMode="auto">
              <a:xfrm>
                <a:off x="509" y="2163"/>
                <a:ext cx="265" cy="288"/>
              </a:xfrm>
              <a:prstGeom prst="rect">
                <a:avLst/>
              </a:prstGeom>
              <a:noFill/>
              <a:ln w="9525">
                <a:noFill/>
                <a:miter lim="800000"/>
                <a:headEnd/>
                <a:tailEnd/>
              </a:ln>
            </p:spPr>
            <p:txBody>
              <a:bodyPr wrap="none" lIns="92075" tIns="46038" rIns="92075" bIns="46038">
                <a:spAutoFit/>
              </a:bodyPr>
              <a:lstStyle/>
              <a:p>
                <a:pPr algn="ctr" eaLnBrk="0" hangingPunct="0"/>
                <a:r>
                  <a:rPr lang="en-US" sz="2400" i="1">
                    <a:latin typeface="Times New Roman" pitchFamily="18" charset="0"/>
                  </a:rPr>
                  <a:t>x</a:t>
                </a:r>
                <a:r>
                  <a:rPr lang="en-US" sz="2400" i="1" baseline="-25000">
                    <a:latin typeface="Times New Roman" pitchFamily="18" charset="0"/>
                  </a:rPr>
                  <a:t>n</a:t>
                </a:r>
              </a:p>
            </p:txBody>
          </p:sp>
        </p:grpSp>
      </p:grpSp>
    </p:spTree>
  </p:cSld>
  <p:clrMapOvr>
    <a:masterClrMapping/>
  </p:clrMapOvr>
  <p:transition>
    <p:checke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p:spPr>
        <p:txBody>
          <a:bodyPr/>
          <a:lstStyle/>
          <a:p>
            <a:fld id="{B1F5C90C-5671-4254-9B58-B5C28183CE81}" type="slidenum">
              <a:rPr lang="en-US" smtClean="0"/>
              <a:pPr/>
              <a:t>64</a:t>
            </a:fld>
            <a:endParaRPr lang="en-US" smtClean="0"/>
          </a:p>
        </p:txBody>
      </p:sp>
      <p:sp>
        <p:nvSpPr>
          <p:cNvPr id="70659" name="Rectangle 2"/>
          <p:cNvSpPr>
            <a:spLocks noGrp="1" noChangeArrowheads="1"/>
          </p:cNvSpPr>
          <p:nvPr>
            <p:ph type="title"/>
          </p:nvPr>
        </p:nvSpPr>
        <p:spPr>
          <a:xfrm>
            <a:off x="457200" y="838200"/>
            <a:ext cx="4495800" cy="609600"/>
          </a:xfrm>
          <a:noFill/>
        </p:spPr>
        <p:txBody>
          <a:bodyPr lIns="92075" tIns="46038" rIns="92075" bIns="46038" anchor="b"/>
          <a:lstStyle/>
          <a:p>
            <a:pPr eaLnBrk="1" hangingPunct="1"/>
            <a:r>
              <a:rPr lang="en-US" smtClean="0"/>
              <a:t>Network Training</a:t>
            </a:r>
          </a:p>
        </p:txBody>
      </p:sp>
      <p:sp>
        <p:nvSpPr>
          <p:cNvPr id="70660" name="Rectangle 3"/>
          <p:cNvSpPr>
            <a:spLocks noGrp="1" noChangeArrowheads="1"/>
          </p:cNvSpPr>
          <p:nvPr>
            <p:ph type="body" idx="1"/>
          </p:nvPr>
        </p:nvSpPr>
        <p:spPr>
          <a:xfrm>
            <a:off x="457200" y="1600200"/>
            <a:ext cx="8001000" cy="4953000"/>
          </a:xfrm>
          <a:noFill/>
        </p:spPr>
        <p:txBody>
          <a:bodyPr lIns="92075" tIns="46038" rIns="92075" bIns="46038"/>
          <a:lstStyle/>
          <a:p>
            <a:pPr eaLnBrk="1" hangingPunct="1">
              <a:lnSpc>
                <a:spcPct val="120000"/>
              </a:lnSpc>
              <a:spcBef>
                <a:spcPct val="0"/>
              </a:spcBef>
            </a:pPr>
            <a:r>
              <a:rPr lang="en-US" sz="2800" smtClean="0"/>
              <a:t>The ultimate objective of training </a:t>
            </a:r>
          </a:p>
          <a:p>
            <a:pPr lvl="1" eaLnBrk="1" hangingPunct="1">
              <a:lnSpc>
                <a:spcPct val="120000"/>
              </a:lnSpc>
              <a:spcBef>
                <a:spcPct val="0"/>
              </a:spcBef>
            </a:pPr>
            <a:r>
              <a:rPr lang="en-US" sz="2400" smtClean="0"/>
              <a:t>obtain a set of weights that makes almost all the tuples in the training data classified correctly </a:t>
            </a:r>
          </a:p>
          <a:p>
            <a:pPr eaLnBrk="1" hangingPunct="1">
              <a:lnSpc>
                <a:spcPct val="120000"/>
              </a:lnSpc>
              <a:spcBef>
                <a:spcPct val="0"/>
              </a:spcBef>
            </a:pPr>
            <a:r>
              <a:rPr lang="en-US" sz="2800" smtClean="0"/>
              <a:t>Steps</a:t>
            </a:r>
          </a:p>
          <a:p>
            <a:pPr lvl="1" eaLnBrk="1" hangingPunct="1">
              <a:lnSpc>
                <a:spcPct val="120000"/>
              </a:lnSpc>
              <a:spcBef>
                <a:spcPct val="0"/>
              </a:spcBef>
            </a:pPr>
            <a:r>
              <a:rPr lang="en-US" sz="2400" smtClean="0"/>
              <a:t>Initialize weights with random values </a:t>
            </a:r>
          </a:p>
          <a:p>
            <a:pPr lvl="1" eaLnBrk="1" hangingPunct="1">
              <a:lnSpc>
                <a:spcPct val="120000"/>
              </a:lnSpc>
              <a:spcBef>
                <a:spcPct val="0"/>
              </a:spcBef>
            </a:pPr>
            <a:r>
              <a:rPr lang="en-US" sz="2400" smtClean="0"/>
              <a:t>Feed the input tuples into the network one by one</a:t>
            </a:r>
          </a:p>
          <a:p>
            <a:pPr lvl="1" eaLnBrk="1" hangingPunct="1">
              <a:lnSpc>
                <a:spcPct val="120000"/>
              </a:lnSpc>
              <a:spcBef>
                <a:spcPct val="0"/>
              </a:spcBef>
            </a:pPr>
            <a:r>
              <a:rPr lang="en-US" sz="2400" smtClean="0"/>
              <a:t>For each unit</a:t>
            </a:r>
          </a:p>
          <a:p>
            <a:pPr lvl="2" eaLnBrk="1" hangingPunct="1">
              <a:lnSpc>
                <a:spcPct val="120000"/>
              </a:lnSpc>
              <a:spcBef>
                <a:spcPct val="0"/>
              </a:spcBef>
            </a:pPr>
            <a:r>
              <a:rPr lang="en-US" sz="2000" smtClean="0"/>
              <a:t>Compute the net input to the unit as a linear combination of all the inputs to the unit</a:t>
            </a:r>
          </a:p>
          <a:p>
            <a:pPr lvl="2" eaLnBrk="1" hangingPunct="1">
              <a:lnSpc>
                <a:spcPct val="120000"/>
              </a:lnSpc>
              <a:spcBef>
                <a:spcPct val="0"/>
              </a:spcBef>
            </a:pPr>
            <a:r>
              <a:rPr lang="en-US" sz="2000" smtClean="0"/>
              <a:t>Compute the output value using the activation function</a:t>
            </a:r>
          </a:p>
          <a:p>
            <a:pPr lvl="2" eaLnBrk="1" hangingPunct="1">
              <a:lnSpc>
                <a:spcPct val="120000"/>
              </a:lnSpc>
              <a:spcBef>
                <a:spcPct val="0"/>
              </a:spcBef>
            </a:pPr>
            <a:r>
              <a:rPr lang="en-US" sz="2000" smtClean="0"/>
              <a:t>Compute the error</a:t>
            </a:r>
          </a:p>
          <a:p>
            <a:pPr lvl="2" eaLnBrk="1" hangingPunct="1">
              <a:lnSpc>
                <a:spcPct val="120000"/>
              </a:lnSpc>
              <a:spcBef>
                <a:spcPct val="0"/>
              </a:spcBef>
            </a:pPr>
            <a:r>
              <a:rPr lang="en-US" sz="2000" smtClean="0"/>
              <a:t>Update the weights and the bias</a:t>
            </a:r>
          </a:p>
        </p:txBody>
      </p:sp>
    </p:spTree>
  </p:cSld>
  <p:clrMapOvr>
    <a:masterClrMapping/>
  </p:clrMapOvr>
  <p:transition>
    <p:checke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Slide Number Placeholder 5"/>
          <p:cNvSpPr>
            <a:spLocks noGrp="1"/>
          </p:cNvSpPr>
          <p:nvPr>
            <p:ph type="sldNum" sz="quarter" idx="12"/>
          </p:nvPr>
        </p:nvSpPr>
        <p:spPr>
          <a:noFill/>
        </p:spPr>
        <p:txBody>
          <a:bodyPr/>
          <a:lstStyle/>
          <a:p>
            <a:fld id="{9316099F-172E-4E94-B1CB-6BC85CA46D4C}" type="slidenum">
              <a:rPr lang="en-US" smtClean="0"/>
              <a:pPr/>
              <a:t>65</a:t>
            </a:fld>
            <a:endParaRPr lang="en-US" smtClean="0"/>
          </a:p>
        </p:txBody>
      </p:sp>
      <p:sp>
        <p:nvSpPr>
          <p:cNvPr id="10249" name="Rectangle 2"/>
          <p:cNvSpPr>
            <a:spLocks noGrp="1" noChangeArrowheads="1"/>
          </p:cNvSpPr>
          <p:nvPr>
            <p:ph type="title"/>
          </p:nvPr>
        </p:nvSpPr>
        <p:spPr>
          <a:xfrm>
            <a:off x="457200" y="838200"/>
            <a:ext cx="5791200" cy="533400"/>
          </a:xfrm>
          <a:noFill/>
        </p:spPr>
        <p:txBody>
          <a:bodyPr lIns="92075" tIns="46038" rIns="92075" bIns="46038" anchor="b"/>
          <a:lstStyle/>
          <a:p>
            <a:pPr eaLnBrk="1" hangingPunct="1"/>
            <a:r>
              <a:rPr lang="en-US" smtClean="0"/>
              <a:t>Multi-Layer Perceptron</a:t>
            </a:r>
          </a:p>
        </p:txBody>
      </p:sp>
      <p:grpSp>
        <p:nvGrpSpPr>
          <p:cNvPr id="10250" name="Group 3"/>
          <p:cNvGrpSpPr>
            <a:grpSpLocks/>
          </p:cNvGrpSpPr>
          <p:nvPr/>
        </p:nvGrpSpPr>
        <p:grpSpPr bwMode="auto">
          <a:xfrm>
            <a:off x="2438400" y="1701800"/>
            <a:ext cx="3409950" cy="4948238"/>
            <a:chOff x="1536" y="1072"/>
            <a:chExt cx="2148" cy="3117"/>
          </a:xfrm>
        </p:grpSpPr>
        <p:sp>
          <p:nvSpPr>
            <p:cNvPr id="10258" name="Oval 4"/>
            <p:cNvSpPr>
              <a:spLocks noChangeArrowheads="1"/>
            </p:cNvSpPr>
            <p:nvPr/>
          </p:nvSpPr>
          <p:spPr bwMode="auto">
            <a:xfrm>
              <a:off x="1730" y="1625"/>
              <a:ext cx="340" cy="316"/>
            </a:xfrm>
            <a:prstGeom prst="ellipse">
              <a:avLst/>
            </a:prstGeom>
            <a:noFill/>
            <a:ln w="12700">
              <a:solidFill>
                <a:srgbClr val="000000"/>
              </a:solidFill>
              <a:round/>
              <a:headEnd/>
              <a:tailEnd/>
            </a:ln>
          </p:spPr>
          <p:txBody>
            <a:bodyPr wrap="none" anchor="ctr"/>
            <a:lstStyle/>
            <a:p>
              <a:endParaRPr lang="en-US"/>
            </a:p>
          </p:txBody>
        </p:sp>
        <p:sp>
          <p:nvSpPr>
            <p:cNvPr id="10259" name="Oval 5"/>
            <p:cNvSpPr>
              <a:spLocks noChangeArrowheads="1"/>
            </p:cNvSpPr>
            <p:nvPr/>
          </p:nvSpPr>
          <p:spPr bwMode="auto">
            <a:xfrm>
              <a:off x="2430" y="1642"/>
              <a:ext cx="340" cy="316"/>
            </a:xfrm>
            <a:prstGeom prst="ellipse">
              <a:avLst/>
            </a:prstGeom>
            <a:noFill/>
            <a:ln w="12700">
              <a:solidFill>
                <a:srgbClr val="000000"/>
              </a:solidFill>
              <a:round/>
              <a:headEnd/>
              <a:tailEnd/>
            </a:ln>
          </p:spPr>
          <p:txBody>
            <a:bodyPr wrap="none" anchor="ctr"/>
            <a:lstStyle/>
            <a:p>
              <a:endParaRPr lang="en-US"/>
            </a:p>
          </p:txBody>
        </p:sp>
        <p:sp>
          <p:nvSpPr>
            <p:cNvPr id="10260" name="Oval 6"/>
            <p:cNvSpPr>
              <a:spLocks noChangeArrowheads="1"/>
            </p:cNvSpPr>
            <p:nvPr/>
          </p:nvSpPr>
          <p:spPr bwMode="auto">
            <a:xfrm>
              <a:off x="3094" y="1642"/>
              <a:ext cx="340" cy="316"/>
            </a:xfrm>
            <a:prstGeom prst="ellipse">
              <a:avLst/>
            </a:prstGeom>
            <a:noFill/>
            <a:ln w="12700">
              <a:solidFill>
                <a:srgbClr val="000000"/>
              </a:solidFill>
              <a:round/>
              <a:headEnd/>
              <a:tailEnd/>
            </a:ln>
          </p:spPr>
          <p:txBody>
            <a:bodyPr wrap="none" anchor="ctr"/>
            <a:lstStyle/>
            <a:p>
              <a:endParaRPr lang="en-US"/>
            </a:p>
          </p:txBody>
        </p:sp>
        <p:sp>
          <p:nvSpPr>
            <p:cNvPr id="10261" name="Oval 7"/>
            <p:cNvSpPr>
              <a:spLocks noChangeArrowheads="1"/>
            </p:cNvSpPr>
            <p:nvPr/>
          </p:nvSpPr>
          <p:spPr bwMode="auto">
            <a:xfrm>
              <a:off x="2449" y="2432"/>
              <a:ext cx="339" cy="316"/>
            </a:xfrm>
            <a:prstGeom prst="ellipse">
              <a:avLst/>
            </a:prstGeom>
            <a:solidFill>
              <a:schemeClr val="tx1"/>
            </a:solidFill>
            <a:ln w="12700">
              <a:solidFill>
                <a:srgbClr val="000000"/>
              </a:solidFill>
              <a:round/>
              <a:headEnd/>
              <a:tailEnd/>
            </a:ln>
          </p:spPr>
          <p:txBody>
            <a:bodyPr wrap="none" anchor="ctr"/>
            <a:lstStyle/>
            <a:p>
              <a:endParaRPr lang="en-US"/>
            </a:p>
          </p:txBody>
        </p:sp>
        <p:sp>
          <p:nvSpPr>
            <p:cNvPr id="10262" name="Oval 8"/>
            <p:cNvSpPr>
              <a:spLocks noChangeArrowheads="1"/>
            </p:cNvSpPr>
            <p:nvPr/>
          </p:nvSpPr>
          <p:spPr bwMode="auto">
            <a:xfrm>
              <a:off x="3344" y="2432"/>
              <a:ext cx="340" cy="316"/>
            </a:xfrm>
            <a:prstGeom prst="ellipse">
              <a:avLst/>
            </a:prstGeom>
            <a:solidFill>
              <a:schemeClr val="tx1"/>
            </a:solidFill>
            <a:ln w="12700">
              <a:solidFill>
                <a:srgbClr val="000000"/>
              </a:solidFill>
              <a:round/>
              <a:headEnd/>
              <a:tailEnd/>
            </a:ln>
          </p:spPr>
          <p:txBody>
            <a:bodyPr wrap="none" anchor="ctr"/>
            <a:lstStyle/>
            <a:p>
              <a:endParaRPr lang="en-US"/>
            </a:p>
          </p:txBody>
        </p:sp>
        <p:sp>
          <p:nvSpPr>
            <p:cNvPr id="10263" name="Oval 9"/>
            <p:cNvSpPr>
              <a:spLocks noChangeArrowheads="1"/>
            </p:cNvSpPr>
            <p:nvPr/>
          </p:nvSpPr>
          <p:spPr bwMode="auto">
            <a:xfrm>
              <a:off x="1536" y="2448"/>
              <a:ext cx="340" cy="316"/>
            </a:xfrm>
            <a:prstGeom prst="ellipse">
              <a:avLst/>
            </a:prstGeom>
            <a:solidFill>
              <a:schemeClr val="tx1"/>
            </a:solidFill>
            <a:ln w="12700">
              <a:solidFill>
                <a:srgbClr val="000000"/>
              </a:solidFill>
              <a:round/>
              <a:headEnd/>
              <a:tailEnd/>
            </a:ln>
          </p:spPr>
          <p:txBody>
            <a:bodyPr wrap="none" anchor="ctr"/>
            <a:lstStyle/>
            <a:p>
              <a:endParaRPr lang="en-US"/>
            </a:p>
          </p:txBody>
        </p:sp>
        <p:sp>
          <p:nvSpPr>
            <p:cNvPr id="10264" name="Oval 10"/>
            <p:cNvSpPr>
              <a:spLocks noChangeArrowheads="1"/>
            </p:cNvSpPr>
            <p:nvPr/>
          </p:nvSpPr>
          <p:spPr bwMode="auto">
            <a:xfrm>
              <a:off x="2055" y="3288"/>
              <a:ext cx="339" cy="316"/>
            </a:xfrm>
            <a:prstGeom prst="ellipse">
              <a:avLst/>
            </a:prstGeom>
            <a:noFill/>
            <a:ln w="12700">
              <a:solidFill>
                <a:srgbClr val="000000"/>
              </a:solidFill>
              <a:round/>
              <a:headEnd/>
              <a:tailEnd/>
            </a:ln>
          </p:spPr>
          <p:txBody>
            <a:bodyPr wrap="none" anchor="ctr"/>
            <a:lstStyle/>
            <a:p>
              <a:endParaRPr lang="en-US"/>
            </a:p>
          </p:txBody>
        </p:sp>
        <p:sp>
          <p:nvSpPr>
            <p:cNvPr id="10265" name="Oval 11"/>
            <p:cNvSpPr>
              <a:spLocks noChangeArrowheads="1"/>
            </p:cNvSpPr>
            <p:nvPr/>
          </p:nvSpPr>
          <p:spPr bwMode="auto">
            <a:xfrm>
              <a:off x="2897" y="3269"/>
              <a:ext cx="339" cy="316"/>
            </a:xfrm>
            <a:prstGeom prst="ellipse">
              <a:avLst/>
            </a:prstGeom>
            <a:noFill/>
            <a:ln w="12700">
              <a:solidFill>
                <a:srgbClr val="000000"/>
              </a:solidFill>
              <a:round/>
              <a:headEnd/>
              <a:tailEnd/>
            </a:ln>
          </p:spPr>
          <p:txBody>
            <a:bodyPr wrap="none" anchor="ctr"/>
            <a:lstStyle/>
            <a:p>
              <a:endParaRPr lang="en-US"/>
            </a:p>
          </p:txBody>
        </p:sp>
        <p:sp>
          <p:nvSpPr>
            <p:cNvPr id="10266" name="Line 12"/>
            <p:cNvSpPr>
              <a:spLocks noChangeShapeType="1"/>
            </p:cNvSpPr>
            <p:nvPr/>
          </p:nvSpPr>
          <p:spPr bwMode="auto">
            <a:xfrm flipH="1" flipV="1">
              <a:off x="1768" y="2781"/>
              <a:ext cx="320" cy="537"/>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67" name="Line 13"/>
            <p:cNvSpPr>
              <a:spLocks noChangeShapeType="1"/>
            </p:cNvSpPr>
            <p:nvPr/>
          </p:nvSpPr>
          <p:spPr bwMode="auto">
            <a:xfrm flipV="1">
              <a:off x="2217" y="2732"/>
              <a:ext cx="303" cy="551"/>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68" name="Line 14"/>
            <p:cNvSpPr>
              <a:spLocks noChangeShapeType="1"/>
            </p:cNvSpPr>
            <p:nvPr/>
          </p:nvSpPr>
          <p:spPr bwMode="auto">
            <a:xfrm flipV="1">
              <a:off x="2358" y="2715"/>
              <a:ext cx="1022" cy="619"/>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69" name="Line 15"/>
            <p:cNvSpPr>
              <a:spLocks noChangeShapeType="1"/>
            </p:cNvSpPr>
            <p:nvPr/>
          </p:nvSpPr>
          <p:spPr bwMode="auto">
            <a:xfrm flipH="1" flipV="1">
              <a:off x="1875" y="2714"/>
              <a:ext cx="1020" cy="586"/>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0" name="Line 16"/>
            <p:cNvSpPr>
              <a:spLocks noChangeShapeType="1"/>
            </p:cNvSpPr>
            <p:nvPr/>
          </p:nvSpPr>
          <p:spPr bwMode="auto">
            <a:xfrm flipH="1" flipV="1">
              <a:off x="2735" y="2765"/>
              <a:ext cx="322" cy="502"/>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1" name="Line 17"/>
            <p:cNvSpPr>
              <a:spLocks noChangeShapeType="1"/>
            </p:cNvSpPr>
            <p:nvPr/>
          </p:nvSpPr>
          <p:spPr bwMode="auto">
            <a:xfrm flipV="1">
              <a:off x="3219" y="2799"/>
              <a:ext cx="287" cy="469"/>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2" name="Line 18"/>
            <p:cNvSpPr>
              <a:spLocks noChangeShapeType="1"/>
            </p:cNvSpPr>
            <p:nvPr/>
          </p:nvSpPr>
          <p:spPr bwMode="auto">
            <a:xfrm flipV="1">
              <a:off x="1606" y="1943"/>
              <a:ext cx="268" cy="519"/>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3" name="Line 19"/>
            <p:cNvSpPr>
              <a:spLocks noChangeShapeType="1"/>
            </p:cNvSpPr>
            <p:nvPr/>
          </p:nvSpPr>
          <p:spPr bwMode="auto">
            <a:xfrm flipV="1">
              <a:off x="1767" y="1940"/>
              <a:ext cx="787" cy="504"/>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4" name="Line 20"/>
            <p:cNvSpPr>
              <a:spLocks noChangeShapeType="1"/>
            </p:cNvSpPr>
            <p:nvPr/>
          </p:nvSpPr>
          <p:spPr bwMode="auto">
            <a:xfrm flipV="1">
              <a:off x="1858" y="1959"/>
              <a:ext cx="1380" cy="502"/>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5" name="Line 21"/>
            <p:cNvSpPr>
              <a:spLocks noChangeShapeType="1"/>
            </p:cNvSpPr>
            <p:nvPr/>
          </p:nvSpPr>
          <p:spPr bwMode="auto">
            <a:xfrm flipH="1" flipV="1">
              <a:off x="2017" y="1905"/>
              <a:ext cx="1342" cy="572"/>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6" name="Line 22"/>
            <p:cNvSpPr>
              <a:spLocks noChangeShapeType="1"/>
            </p:cNvSpPr>
            <p:nvPr/>
          </p:nvSpPr>
          <p:spPr bwMode="auto">
            <a:xfrm flipH="1" flipV="1">
              <a:off x="3341" y="1940"/>
              <a:ext cx="197" cy="504"/>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7" name="Line 23"/>
            <p:cNvSpPr>
              <a:spLocks noChangeShapeType="1"/>
            </p:cNvSpPr>
            <p:nvPr/>
          </p:nvSpPr>
          <p:spPr bwMode="auto">
            <a:xfrm flipH="1" flipV="1">
              <a:off x="2679" y="1990"/>
              <a:ext cx="734" cy="453"/>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8" name="Line 24"/>
            <p:cNvSpPr>
              <a:spLocks noChangeShapeType="1"/>
            </p:cNvSpPr>
            <p:nvPr/>
          </p:nvSpPr>
          <p:spPr bwMode="auto">
            <a:xfrm flipH="1" flipV="1">
              <a:off x="1965" y="1960"/>
              <a:ext cx="537" cy="469"/>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79" name="Line 25"/>
            <p:cNvSpPr>
              <a:spLocks noChangeShapeType="1"/>
            </p:cNvSpPr>
            <p:nvPr/>
          </p:nvSpPr>
          <p:spPr bwMode="auto">
            <a:xfrm flipV="1">
              <a:off x="2610" y="1977"/>
              <a:ext cx="0" cy="434"/>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0" name="Line 26"/>
            <p:cNvSpPr>
              <a:spLocks noChangeShapeType="1"/>
            </p:cNvSpPr>
            <p:nvPr/>
          </p:nvSpPr>
          <p:spPr bwMode="auto">
            <a:xfrm flipV="1">
              <a:off x="2736" y="2011"/>
              <a:ext cx="501" cy="451"/>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1" name="Line 27"/>
            <p:cNvSpPr>
              <a:spLocks noChangeShapeType="1"/>
            </p:cNvSpPr>
            <p:nvPr/>
          </p:nvSpPr>
          <p:spPr bwMode="auto">
            <a:xfrm flipV="1">
              <a:off x="2179" y="3604"/>
              <a:ext cx="0" cy="569"/>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2" name="Line 28"/>
            <p:cNvSpPr>
              <a:spLocks noChangeShapeType="1"/>
            </p:cNvSpPr>
            <p:nvPr/>
          </p:nvSpPr>
          <p:spPr bwMode="auto">
            <a:xfrm flipV="1">
              <a:off x="3075" y="3621"/>
              <a:ext cx="0" cy="568"/>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3" name="Line 29"/>
            <p:cNvSpPr>
              <a:spLocks noChangeShapeType="1"/>
            </p:cNvSpPr>
            <p:nvPr/>
          </p:nvSpPr>
          <p:spPr bwMode="auto">
            <a:xfrm flipV="1">
              <a:off x="1875" y="1088"/>
              <a:ext cx="0" cy="568"/>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4" name="Line 30"/>
            <p:cNvSpPr>
              <a:spLocks noChangeShapeType="1"/>
            </p:cNvSpPr>
            <p:nvPr/>
          </p:nvSpPr>
          <p:spPr bwMode="auto">
            <a:xfrm flipV="1">
              <a:off x="2591" y="1072"/>
              <a:ext cx="0" cy="568"/>
            </a:xfrm>
            <a:prstGeom prst="line">
              <a:avLst/>
            </a:prstGeom>
            <a:noFill/>
            <a:ln w="12700">
              <a:solidFill>
                <a:srgbClr val="000000"/>
              </a:solidFill>
              <a:round/>
              <a:headEnd type="none" w="sm" len="sm"/>
              <a:tailEnd type="stealth" w="med" len="med"/>
            </a:ln>
          </p:spPr>
          <p:txBody>
            <a:bodyPr wrap="none" anchor="ctr"/>
            <a:lstStyle/>
            <a:p>
              <a:endParaRPr lang="en-US"/>
            </a:p>
          </p:txBody>
        </p:sp>
        <p:sp>
          <p:nvSpPr>
            <p:cNvPr id="10285" name="Line 31"/>
            <p:cNvSpPr>
              <a:spLocks noChangeShapeType="1"/>
            </p:cNvSpPr>
            <p:nvPr/>
          </p:nvSpPr>
          <p:spPr bwMode="auto">
            <a:xfrm flipV="1">
              <a:off x="3235" y="1072"/>
              <a:ext cx="0" cy="568"/>
            </a:xfrm>
            <a:prstGeom prst="line">
              <a:avLst/>
            </a:prstGeom>
            <a:noFill/>
            <a:ln w="12700">
              <a:solidFill>
                <a:srgbClr val="000000"/>
              </a:solidFill>
              <a:round/>
              <a:headEnd type="none" w="sm" len="sm"/>
              <a:tailEnd type="stealth" w="med" len="med"/>
            </a:ln>
          </p:spPr>
          <p:txBody>
            <a:bodyPr wrap="none" anchor="ctr"/>
            <a:lstStyle/>
            <a:p>
              <a:endParaRPr lang="en-US"/>
            </a:p>
          </p:txBody>
        </p:sp>
      </p:grpSp>
      <p:sp>
        <p:nvSpPr>
          <p:cNvPr id="10251" name="Rectangle 32"/>
          <p:cNvSpPr>
            <a:spLocks noChangeArrowheads="1"/>
          </p:cNvSpPr>
          <p:nvPr/>
        </p:nvSpPr>
        <p:spPr bwMode="auto">
          <a:xfrm>
            <a:off x="465138" y="2514600"/>
            <a:ext cx="1955800"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Output nodes</a:t>
            </a:r>
            <a:endParaRPr lang="en-US" sz="2400">
              <a:latin typeface="Times New Roman" pitchFamily="18" charset="0"/>
            </a:endParaRPr>
          </a:p>
        </p:txBody>
      </p:sp>
      <p:sp>
        <p:nvSpPr>
          <p:cNvPr id="10252" name="Rectangle 33"/>
          <p:cNvSpPr>
            <a:spLocks noChangeArrowheads="1"/>
          </p:cNvSpPr>
          <p:nvPr/>
        </p:nvSpPr>
        <p:spPr bwMode="auto">
          <a:xfrm>
            <a:off x="452438" y="5191125"/>
            <a:ext cx="1736725"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Input nodes</a:t>
            </a:r>
          </a:p>
        </p:txBody>
      </p:sp>
      <p:sp>
        <p:nvSpPr>
          <p:cNvPr id="10253" name="Rectangle 34"/>
          <p:cNvSpPr>
            <a:spLocks noChangeArrowheads="1"/>
          </p:cNvSpPr>
          <p:nvPr/>
        </p:nvSpPr>
        <p:spPr bwMode="auto">
          <a:xfrm>
            <a:off x="461963" y="3863975"/>
            <a:ext cx="1971675"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Hidden nodes</a:t>
            </a:r>
            <a:endParaRPr lang="en-US" sz="2400">
              <a:latin typeface="Times New Roman" pitchFamily="18" charset="0"/>
            </a:endParaRPr>
          </a:p>
        </p:txBody>
      </p:sp>
      <p:sp>
        <p:nvSpPr>
          <p:cNvPr id="10254" name="Rectangle 35"/>
          <p:cNvSpPr>
            <a:spLocks noChangeArrowheads="1"/>
          </p:cNvSpPr>
          <p:nvPr/>
        </p:nvSpPr>
        <p:spPr bwMode="auto">
          <a:xfrm>
            <a:off x="403225" y="1677988"/>
            <a:ext cx="2020888"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Output vector</a:t>
            </a:r>
            <a:endParaRPr lang="en-US" sz="2400">
              <a:latin typeface="Times New Roman" pitchFamily="18" charset="0"/>
            </a:endParaRPr>
          </a:p>
        </p:txBody>
      </p:sp>
      <p:sp>
        <p:nvSpPr>
          <p:cNvPr id="10255" name="Rectangle 36"/>
          <p:cNvSpPr>
            <a:spLocks noChangeArrowheads="1"/>
          </p:cNvSpPr>
          <p:nvPr/>
        </p:nvSpPr>
        <p:spPr bwMode="auto">
          <a:xfrm>
            <a:off x="417513" y="6076950"/>
            <a:ext cx="2189162" cy="457200"/>
          </a:xfrm>
          <a:prstGeom prst="rect">
            <a:avLst/>
          </a:prstGeom>
          <a:noFill/>
          <a:ln w="9525">
            <a:noFill/>
            <a:miter lim="800000"/>
            <a:headEnd/>
            <a:tailEnd/>
          </a:ln>
        </p:spPr>
        <p:txBody>
          <a:bodyPr wrap="none" lIns="92075" tIns="46038" rIns="92075" bIns="46038">
            <a:spAutoFit/>
          </a:bodyPr>
          <a:lstStyle/>
          <a:p>
            <a:pPr algn="ctr" eaLnBrk="0" hangingPunct="0"/>
            <a:r>
              <a:rPr lang="en-US" sz="2400" b="1">
                <a:latin typeface="Times New Roman" pitchFamily="18" charset="0"/>
              </a:rPr>
              <a:t>Input vector: </a:t>
            </a:r>
            <a:r>
              <a:rPr lang="en-US" sz="2400" b="1" i="1">
                <a:latin typeface="Times New Roman" pitchFamily="18" charset="0"/>
              </a:rPr>
              <a:t>x</a:t>
            </a:r>
            <a:r>
              <a:rPr lang="en-US" sz="2400" b="1" i="1" baseline="-25000">
                <a:latin typeface="Times New Roman" pitchFamily="18" charset="0"/>
              </a:rPr>
              <a:t>i</a:t>
            </a:r>
          </a:p>
        </p:txBody>
      </p:sp>
      <p:sp>
        <p:nvSpPr>
          <p:cNvPr id="10256" name="Rectangle 37"/>
          <p:cNvSpPr>
            <a:spLocks noChangeArrowheads="1"/>
          </p:cNvSpPr>
          <p:nvPr/>
        </p:nvSpPr>
        <p:spPr bwMode="auto">
          <a:xfrm>
            <a:off x="5983288" y="4521200"/>
            <a:ext cx="501650" cy="457200"/>
          </a:xfrm>
          <a:prstGeom prst="rect">
            <a:avLst/>
          </a:prstGeom>
          <a:noFill/>
          <a:ln w="9525">
            <a:noFill/>
            <a:miter lim="800000"/>
            <a:headEnd/>
            <a:tailEnd/>
          </a:ln>
        </p:spPr>
        <p:txBody>
          <a:bodyPr wrap="none" lIns="92075" tIns="46038" rIns="92075" bIns="46038">
            <a:spAutoFit/>
          </a:bodyPr>
          <a:lstStyle/>
          <a:p>
            <a:pPr algn="ctr"/>
            <a:r>
              <a:rPr lang="en-US" sz="2400" i="1">
                <a:latin typeface="Times New Roman" pitchFamily="18" charset="0"/>
              </a:rPr>
              <a:t>w</a:t>
            </a:r>
            <a:r>
              <a:rPr lang="en-US" sz="2400" i="1" baseline="-25000">
                <a:latin typeface="Times New Roman" pitchFamily="18" charset="0"/>
              </a:rPr>
              <a:t>ij</a:t>
            </a:r>
          </a:p>
        </p:txBody>
      </p:sp>
      <p:sp>
        <p:nvSpPr>
          <p:cNvPr id="10257" name="Freeform 38"/>
          <p:cNvSpPr>
            <a:spLocks/>
          </p:cNvSpPr>
          <p:nvPr/>
        </p:nvSpPr>
        <p:spPr bwMode="auto">
          <a:xfrm>
            <a:off x="5249863" y="4808538"/>
            <a:ext cx="611187" cy="160337"/>
          </a:xfrm>
          <a:custGeom>
            <a:avLst/>
            <a:gdLst>
              <a:gd name="T0" fmla="*/ 2147483647 w 385"/>
              <a:gd name="T1" fmla="*/ 0 h 101"/>
              <a:gd name="T2" fmla="*/ 2147483647 w 385"/>
              <a:gd name="T3" fmla="*/ 2147483647 h 101"/>
              <a:gd name="T4" fmla="*/ 2147483647 w 385"/>
              <a:gd name="T5" fmla="*/ 2147483647 h 101"/>
              <a:gd name="T6" fmla="*/ 2147483647 w 385"/>
              <a:gd name="T7" fmla="*/ 2147483647 h 101"/>
              <a:gd name="T8" fmla="*/ 2147483647 w 385"/>
              <a:gd name="T9" fmla="*/ 2147483647 h 101"/>
              <a:gd name="T10" fmla="*/ 2147483647 w 385"/>
              <a:gd name="T11" fmla="*/ 2147483647 h 101"/>
              <a:gd name="T12" fmla="*/ 2147483647 w 385"/>
              <a:gd name="T13" fmla="*/ 2147483647 h 101"/>
              <a:gd name="T14" fmla="*/ 2147483647 w 385"/>
              <a:gd name="T15" fmla="*/ 2147483647 h 101"/>
              <a:gd name="T16" fmla="*/ 2147483647 w 385"/>
              <a:gd name="T17" fmla="*/ 2147483647 h 101"/>
              <a:gd name="T18" fmla="*/ 2147483647 w 385"/>
              <a:gd name="T19" fmla="*/ 2147483647 h 101"/>
              <a:gd name="T20" fmla="*/ 2147483647 w 385"/>
              <a:gd name="T21" fmla="*/ 2147483647 h 101"/>
              <a:gd name="T22" fmla="*/ 2147483647 w 385"/>
              <a:gd name="T23" fmla="*/ 2147483647 h 101"/>
              <a:gd name="T24" fmla="*/ 0 w 385"/>
              <a:gd name="T25" fmla="*/ 2147483647 h 1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85"/>
              <a:gd name="T40" fmla="*/ 0 h 101"/>
              <a:gd name="T41" fmla="*/ 385 w 385"/>
              <a:gd name="T42" fmla="*/ 101 h 10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85" h="101">
                <a:moveTo>
                  <a:pt x="384" y="0"/>
                </a:moveTo>
                <a:lnTo>
                  <a:pt x="313" y="5"/>
                </a:lnTo>
                <a:lnTo>
                  <a:pt x="254" y="15"/>
                </a:lnTo>
                <a:lnTo>
                  <a:pt x="230" y="25"/>
                </a:lnTo>
                <a:lnTo>
                  <a:pt x="213" y="30"/>
                </a:lnTo>
                <a:lnTo>
                  <a:pt x="201" y="40"/>
                </a:lnTo>
                <a:lnTo>
                  <a:pt x="195" y="50"/>
                </a:lnTo>
                <a:lnTo>
                  <a:pt x="189" y="60"/>
                </a:lnTo>
                <a:lnTo>
                  <a:pt x="177" y="70"/>
                </a:lnTo>
                <a:lnTo>
                  <a:pt x="160" y="75"/>
                </a:lnTo>
                <a:lnTo>
                  <a:pt x="136" y="85"/>
                </a:lnTo>
                <a:lnTo>
                  <a:pt x="71" y="95"/>
                </a:lnTo>
                <a:lnTo>
                  <a:pt x="0" y="100"/>
                </a:lnTo>
              </a:path>
            </a:pathLst>
          </a:custGeom>
          <a:noFill/>
          <a:ln w="12700" cap="rnd">
            <a:solidFill>
              <a:srgbClr val="000000"/>
            </a:solidFill>
            <a:round/>
            <a:headEnd type="none" w="sm" len="sm"/>
            <a:tailEnd type="stealth" w="med" len="med"/>
          </a:ln>
        </p:spPr>
        <p:txBody>
          <a:bodyPr/>
          <a:lstStyle/>
          <a:p>
            <a:endParaRPr lang="en-US"/>
          </a:p>
        </p:txBody>
      </p:sp>
      <p:graphicFrame>
        <p:nvGraphicFramePr>
          <p:cNvPr id="10242" name="Object 39"/>
          <p:cNvGraphicFramePr>
            <a:graphicFrameLocks noChangeAspect="1"/>
          </p:cNvGraphicFramePr>
          <p:nvPr/>
        </p:nvGraphicFramePr>
        <p:xfrm>
          <a:off x="6591300" y="5448300"/>
          <a:ext cx="2095500" cy="571500"/>
        </p:xfrm>
        <a:graphic>
          <a:graphicData uri="http://schemas.openxmlformats.org/presentationml/2006/ole">
            <p:oleObj spid="_x0000_s10242" name="Equation" r:id="rId3" imgW="2095200" imgH="571320" progId="Equation.3">
              <p:embed/>
            </p:oleObj>
          </a:graphicData>
        </a:graphic>
      </p:graphicFrame>
      <p:graphicFrame>
        <p:nvGraphicFramePr>
          <p:cNvPr id="10243" name="Object 40"/>
          <p:cNvGraphicFramePr>
            <a:graphicFrameLocks noChangeAspect="1"/>
          </p:cNvGraphicFramePr>
          <p:nvPr/>
        </p:nvGraphicFramePr>
        <p:xfrm>
          <a:off x="6819900" y="4559300"/>
          <a:ext cx="1562100" cy="774700"/>
        </p:xfrm>
        <a:graphic>
          <a:graphicData uri="http://schemas.openxmlformats.org/presentationml/2006/ole">
            <p:oleObj spid="_x0000_s10243" name="Equation" r:id="rId4" imgW="1562040" imgH="774360" progId="Equation.3">
              <p:embed/>
            </p:oleObj>
          </a:graphicData>
        </a:graphic>
      </p:graphicFrame>
      <p:graphicFrame>
        <p:nvGraphicFramePr>
          <p:cNvPr id="10244" name="Object 41"/>
          <p:cNvGraphicFramePr>
            <a:graphicFrameLocks noChangeAspect="1"/>
          </p:cNvGraphicFramePr>
          <p:nvPr/>
        </p:nvGraphicFramePr>
        <p:xfrm>
          <a:off x="5905500" y="4000500"/>
          <a:ext cx="3238500" cy="419100"/>
        </p:xfrm>
        <a:graphic>
          <a:graphicData uri="http://schemas.openxmlformats.org/presentationml/2006/ole">
            <p:oleObj spid="_x0000_s10244" name="Equation" r:id="rId5" imgW="3238200" imgH="419040" progId="Equation.3">
              <p:embed/>
            </p:oleObj>
          </a:graphicData>
        </a:graphic>
      </p:graphicFrame>
      <p:graphicFrame>
        <p:nvGraphicFramePr>
          <p:cNvPr id="10245" name="Object 42"/>
          <p:cNvGraphicFramePr>
            <a:graphicFrameLocks noChangeAspect="1"/>
          </p:cNvGraphicFramePr>
          <p:nvPr/>
        </p:nvGraphicFramePr>
        <p:xfrm>
          <a:off x="5753100" y="2247900"/>
          <a:ext cx="3390900" cy="571500"/>
        </p:xfrm>
        <a:graphic>
          <a:graphicData uri="http://schemas.openxmlformats.org/presentationml/2006/ole">
            <p:oleObj spid="_x0000_s10245" name="Equation" r:id="rId6" imgW="3390840" imgH="571320" progId="Equation.3">
              <p:embed/>
            </p:oleObj>
          </a:graphicData>
        </a:graphic>
      </p:graphicFrame>
      <p:graphicFrame>
        <p:nvGraphicFramePr>
          <p:cNvPr id="10246" name="Object 43"/>
          <p:cNvGraphicFramePr>
            <a:graphicFrameLocks noChangeAspect="1"/>
          </p:cNvGraphicFramePr>
          <p:nvPr/>
        </p:nvGraphicFramePr>
        <p:xfrm>
          <a:off x="6197600" y="3467100"/>
          <a:ext cx="2413000" cy="419100"/>
        </p:xfrm>
        <a:graphic>
          <a:graphicData uri="http://schemas.openxmlformats.org/presentationml/2006/ole">
            <p:oleObj spid="_x0000_s10246" name="Equation" r:id="rId7" imgW="2412720" imgH="419040" progId="Equation.3">
              <p:embed/>
            </p:oleObj>
          </a:graphicData>
        </a:graphic>
      </p:graphicFrame>
      <p:graphicFrame>
        <p:nvGraphicFramePr>
          <p:cNvPr id="10247" name="Object 44"/>
          <p:cNvGraphicFramePr>
            <a:graphicFrameLocks noChangeAspect="1"/>
          </p:cNvGraphicFramePr>
          <p:nvPr/>
        </p:nvGraphicFramePr>
        <p:xfrm>
          <a:off x="6400800" y="2933700"/>
          <a:ext cx="2019300" cy="419100"/>
        </p:xfrm>
        <a:graphic>
          <a:graphicData uri="http://schemas.openxmlformats.org/presentationml/2006/ole">
            <p:oleObj spid="_x0000_s10247" name="Equation" r:id="rId8" imgW="2019240" imgH="419040" progId="Equation.3">
              <p:embed/>
            </p:oleObj>
          </a:graphicData>
        </a:graphic>
      </p:graphicFrame>
    </p:spTree>
  </p:cSld>
  <p:clrMapOvr>
    <a:masterClrMapping/>
  </p:clrMapOvr>
  <p:transition>
    <p:checker/>
  </p:transition>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Slide Number Placeholder 5"/>
          <p:cNvSpPr>
            <a:spLocks noGrp="1"/>
          </p:cNvSpPr>
          <p:nvPr>
            <p:ph type="sldNum" sz="quarter" idx="12"/>
          </p:nvPr>
        </p:nvSpPr>
        <p:spPr>
          <a:noFill/>
        </p:spPr>
        <p:txBody>
          <a:bodyPr/>
          <a:lstStyle/>
          <a:p>
            <a:fld id="{7848B97B-AE79-4248-AD80-596F9203F4A3}" type="slidenum">
              <a:rPr lang="en-US" smtClean="0"/>
              <a:pPr/>
              <a:t>66</a:t>
            </a:fld>
            <a:endParaRPr lang="en-US" smtClean="0"/>
          </a:p>
        </p:txBody>
      </p:sp>
      <p:sp>
        <p:nvSpPr>
          <p:cNvPr id="71683" name="Rectangle 2"/>
          <p:cNvSpPr>
            <a:spLocks noGrp="1" noChangeArrowheads="1"/>
          </p:cNvSpPr>
          <p:nvPr>
            <p:ph type="title"/>
          </p:nvPr>
        </p:nvSpPr>
        <p:spPr>
          <a:xfrm>
            <a:off x="457200" y="685800"/>
            <a:ext cx="7924800" cy="609600"/>
          </a:xfrm>
          <a:noFill/>
        </p:spPr>
        <p:txBody>
          <a:bodyPr lIns="92075" tIns="46038" rIns="92075" bIns="46038" anchor="b"/>
          <a:lstStyle/>
          <a:p>
            <a:pPr eaLnBrk="1" hangingPunct="1"/>
            <a:r>
              <a:rPr lang="en-US" sz="4000" smtClean="0"/>
              <a:t>Network Pruning and Rule Extraction</a:t>
            </a:r>
            <a:endParaRPr lang="en-US" sz="3600" smtClean="0"/>
          </a:p>
        </p:txBody>
      </p:sp>
      <p:sp>
        <p:nvSpPr>
          <p:cNvPr id="71684" name="Rectangle 3"/>
          <p:cNvSpPr>
            <a:spLocks noGrp="1" noChangeArrowheads="1"/>
          </p:cNvSpPr>
          <p:nvPr>
            <p:ph type="body" idx="1"/>
          </p:nvPr>
        </p:nvSpPr>
        <p:spPr>
          <a:xfrm>
            <a:off x="304800" y="1524000"/>
            <a:ext cx="8401050" cy="4846638"/>
          </a:xfrm>
          <a:noFill/>
        </p:spPr>
        <p:txBody>
          <a:bodyPr lIns="92075" tIns="46038" rIns="92075" bIns="46038"/>
          <a:lstStyle/>
          <a:p>
            <a:pPr eaLnBrk="1" hangingPunct="1">
              <a:lnSpc>
                <a:spcPct val="110000"/>
              </a:lnSpc>
            </a:pPr>
            <a:r>
              <a:rPr lang="en-US" sz="2400" smtClean="0"/>
              <a:t>Network pruning</a:t>
            </a:r>
          </a:p>
          <a:p>
            <a:pPr lvl="1" eaLnBrk="1" hangingPunct="1">
              <a:lnSpc>
                <a:spcPct val="110000"/>
              </a:lnSpc>
            </a:pPr>
            <a:r>
              <a:rPr lang="en-US" sz="2000" smtClean="0"/>
              <a:t>Fully connected network will be hard to articulate</a:t>
            </a:r>
          </a:p>
          <a:p>
            <a:pPr lvl="1" eaLnBrk="1" hangingPunct="1">
              <a:lnSpc>
                <a:spcPct val="110000"/>
              </a:lnSpc>
            </a:pPr>
            <a:r>
              <a:rPr lang="en-US" sz="2000" i="1" smtClean="0"/>
              <a:t>N</a:t>
            </a:r>
            <a:r>
              <a:rPr lang="en-US" sz="2000" smtClean="0"/>
              <a:t> input nodes, </a:t>
            </a:r>
            <a:r>
              <a:rPr lang="en-US" sz="2000" i="1" smtClean="0"/>
              <a:t>h</a:t>
            </a:r>
            <a:r>
              <a:rPr lang="en-US" sz="2000" smtClean="0"/>
              <a:t> hidden nodes and </a:t>
            </a:r>
            <a:r>
              <a:rPr lang="en-US" sz="2000" i="1" smtClean="0"/>
              <a:t>m</a:t>
            </a:r>
            <a:r>
              <a:rPr lang="en-US" sz="2000" smtClean="0"/>
              <a:t> output nodes lead to </a:t>
            </a:r>
            <a:r>
              <a:rPr lang="en-US" sz="2000" i="1" smtClean="0"/>
              <a:t>h(m+N)</a:t>
            </a:r>
            <a:r>
              <a:rPr lang="en-US" sz="2000" smtClean="0"/>
              <a:t> weights</a:t>
            </a:r>
          </a:p>
          <a:p>
            <a:pPr lvl="1" eaLnBrk="1" hangingPunct="1">
              <a:lnSpc>
                <a:spcPct val="110000"/>
              </a:lnSpc>
            </a:pPr>
            <a:r>
              <a:rPr lang="en-US" sz="2000" smtClean="0"/>
              <a:t>Pruning: Remove some of the links without affecting classification accuracy of the network</a:t>
            </a:r>
          </a:p>
          <a:p>
            <a:pPr eaLnBrk="1" hangingPunct="1">
              <a:lnSpc>
                <a:spcPct val="110000"/>
              </a:lnSpc>
            </a:pPr>
            <a:r>
              <a:rPr lang="en-US" sz="2400" smtClean="0"/>
              <a:t>Extracting rules from a trained network</a:t>
            </a:r>
          </a:p>
          <a:p>
            <a:pPr lvl="1" eaLnBrk="1" hangingPunct="1">
              <a:lnSpc>
                <a:spcPct val="110000"/>
              </a:lnSpc>
            </a:pPr>
            <a:r>
              <a:rPr lang="en-US" sz="2000" smtClean="0"/>
              <a:t>Discretize activation values; replace individual activation value by the cluster average maintaining the network accuracy</a:t>
            </a:r>
          </a:p>
          <a:p>
            <a:pPr lvl="1" eaLnBrk="1" hangingPunct="1">
              <a:lnSpc>
                <a:spcPct val="110000"/>
              </a:lnSpc>
            </a:pPr>
            <a:r>
              <a:rPr lang="en-US" sz="2000" smtClean="0"/>
              <a:t>Enumerate the output from the discretized activation values to find rules between activation value and output</a:t>
            </a:r>
          </a:p>
          <a:p>
            <a:pPr lvl="1" eaLnBrk="1" hangingPunct="1">
              <a:lnSpc>
                <a:spcPct val="110000"/>
              </a:lnSpc>
            </a:pPr>
            <a:r>
              <a:rPr lang="en-US" sz="2000" smtClean="0"/>
              <a:t>Find the relationship between the input and activation value </a:t>
            </a:r>
          </a:p>
          <a:p>
            <a:pPr lvl="1" eaLnBrk="1" hangingPunct="1">
              <a:lnSpc>
                <a:spcPct val="110000"/>
              </a:lnSpc>
            </a:pPr>
            <a:r>
              <a:rPr lang="en-US" sz="2000" smtClean="0"/>
              <a:t>Combine the above two to have rules relating the output to input</a:t>
            </a:r>
          </a:p>
        </p:txBody>
      </p:sp>
    </p:spTree>
  </p:cSld>
  <p:clrMapOvr>
    <a:masterClrMapping/>
  </p:clrMapOvr>
  <p:transition>
    <p:checke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p:cNvSpPr>
            <a:spLocks noGrp="1"/>
          </p:cNvSpPr>
          <p:nvPr>
            <p:ph type="sldNum" sz="quarter" idx="12"/>
          </p:nvPr>
        </p:nvSpPr>
        <p:spPr>
          <a:noFill/>
        </p:spPr>
        <p:txBody>
          <a:bodyPr/>
          <a:lstStyle/>
          <a:p>
            <a:fld id="{EB809382-F48E-4ABD-9463-FD95EA979D07}" type="slidenum">
              <a:rPr lang="en-US" smtClean="0"/>
              <a:pPr/>
              <a:t>67</a:t>
            </a:fld>
            <a:endParaRPr lang="en-US" smtClean="0"/>
          </a:p>
        </p:txBody>
      </p:sp>
      <p:sp>
        <p:nvSpPr>
          <p:cNvPr id="72707" name="Rectangle 2"/>
          <p:cNvSpPr>
            <a:spLocks noGrp="1" noChangeArrowheads="1"/>
          </p:cNvSpPr>
          <p:nvPr>
            <p:ph type="title"/>
          </p:nvPr>
        </p:nvSpPr>
        <p:spPr>
          <a:xfrm>
            <a:off x="457200" y="381000"/>
            <a:ext cx="8153400" cy="990600"/>
          </a:xfrm>
          <a:noFill/>
        </p:spPr>
        <p:txBody>
          <a:bodyPr lIns="92075" tIns="46038" rIns="92075" bIns="46038"/>
          <a:lstStyle/>
          <a:p>
            <a:pPr eaLnBrk="1" hangingPunct="1"/>
            <a:r>
              <a:rPr lang="en-US" smtClean="0"/>
              <a:t>Classification and Prediction</a:t>
            </a:r>
          </a:p>
        </p:txBody>
      </p:sp>
      <p:sp>
        <p:nvSpPr>
          <p:cNvPr id="72708" name="Rectangle 3"/>
          <p:cNvSpPr>
            <a:spLocks noGrp="1" noChangeArrowheads="1"/>
          </p:cNvSpPr>
          <p:nvPr>
            <p:ph type="body" idx="1"/>
          </p:nvPr>
        </p:nvSpPr>
        <p:spPr>
          <a:xfrm>
            <a:off x="685800" y="1447800"/>
            <a:ext cx="7924800" cy="51054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solidFill>
                  <a:schemeClr val="hlink"/>
                </a:solidFill>
              </a:rPr>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p:cNvSpPr>
            <a:spLocks noGrp="1"/>
          </p:cNvSpPr>
          <p:nvPr>
            <p:ph type="sldNum" sz="quarter" idx="12"/>
          </p:nvPr>
        </p:nvSpPr>
        <p:spPr>
          <a:noFill/>
        </p:spPr>
        <p:txBody>
          <a:bodyPr/>
          <a:lstStyle/>
          <a:p>
            <a:fld id="{151F6FDA-145B-427B-8A3E-DBADA960BF48}" type="slidenum">
              <a:rPr lang="en-US" smtClean="0"/>
              <a:pPr/>
              <a:t>68</a:t>
            </a:fld>
            <a:endParaRPr lang="en-US" smtClean="0"/>
          </a:p>
        </p:txBody>
      </p:sp>
      <p:sp>
        <p:nvSpPr>
          <p:cNvPr id="73731" name="Rectangle 2"/>
          <p:cNvSpPr>
            <a:spLocks noGrp="1" noChangeArrowheads="1"/>
          </p:cNvSpPr>
          <p:nvPr>
            <p:ph type="title"/>
          </p:nvPr>
        </p:nvSpPr>
        <p:spPr>
          <a:xfrm>
            <a:off x="533400" y="0"/>
            <a:ext cx="7772400" cy="685800"/>
          </a:xfrm>
          <a:noFill/>
        </p:spPr>
        <p:txBody>
          <a:bodyPr lIns="92075" tIns="46038" rIns="92075" bIns="46038"/>
          <a:lstStyle/>
          <a:p>
            <a:pPr eaLnBrk="1" hangingPunct="1"/>
            <a:r>
              <a:rPr lang="en-US" sz="4000" smtClean="0">
                <a:solidFill>
                  <a:srgbClr val="121328"/>
                </a:solidFill>
              </a:rPr>
              <a:t>Association-Based Classification</a:t>
            </a:r>
            <a:r>
              <a:rPr lang="en-US" sz="4000" smtClean="0">
                <a:solidFill>
                  <a:schemeClr val="hlink"/>
                </a:solidFill>
              </a:rPr>
              <a:t> </a:t>
            </a:r>
          </a:p>
        </p:txBody>
      </p:sp>
      <p:sp>
        <p:nvSpPr>
          <p:cNvPr id="73732" name="Rectangle 3"/>
          <p:cNvSpPr>
            <a:spLocks noGrp="1" noChangeArrowheads="1"/>
          </p:cNvSpPr>
          <p:nvPr>
            <p:ph type="body" idx="1"/>
          </p:nvPr>
        </p:nvSpPr>
        <p:spPr>
          <a:xfrm>
            <a:off x="381000" y="990600"/>
            <a:ext cx="8534400" cy="5334000"/>
          </a:xfrm>
          <a:noFill/>
        </p:spPr>
        <p:txBody>
          <a:bodyPr lIns="92075" tIns="46038" rIns="92075" bIns="46038"/>
          <a:lstStyle/>
          <a:p>
            <a:pPr eaLnBrk="1" hangingPunct="1"/>
            <a:r>
              <a:rPr lang="en-US" sz="2800" smtClean="0"/>
              <a:t>Several methods for association-based classification</a:t>
            </a:r>
            <a:r>
              <a:rPr lang="en-US" sz="2800" smtClean="0">
                <a:solidFill>
                  <a:schemeClr val="hlink"/>
                </a:solidFill>
              </a:rPr>
              <a:t> </a:t>
            </a:r>
            <a:endParaRPr lang="en-US" sz="2800" smtClean="0"/>
          </a:p>
          <a:p>
            <a:pPr lvl="1" eaLnBrk="1" hangingPunct="1"/>
            <a:r>
              <a:rPr lang="en-US" sz="2400" smtClean="0"/>
              <a:t>ARCS: Quantitative association mining and clustering of association rules (Lent et al’97)</a:t>
            </a:r>
          </a:p>
          <a:p>
            <a:pPr lvl="2" eaLnBrk="1" hangingPunct="1"/>
            <a:r>
              <a:rPr lang="en-US" sz="2000" smtClean="0"/>
              <a:t>It beats C4.5 in (mainly) scalability and also accuracy</a:t>
            </a:r>
          </a:p>
          <a:p>
            <a:pPr lvl="1" eaLnBrk="1" hangingPunct="1"/>
            <a:r>
              <a:rPr lang="en-US" sz="2400" smtClean="0"/>
              <a:t>Associative classification: (Liu et al’98)  </a:t>
            </a:r>
          </a:p>
          <a:p>
            <a:pPr lvl="2" eaLnBrk="1" hangingPunct="1"/>
            <a:r>
              <a:rPr lang="en-US" sz="2000" smtClean="0"/>
              <a:t>It mines high support and high confidence rules in the form of “cond_set =&gt; y”, where y is a class label</a:t>
            </a:r>
          </a:p>
          <a:p>
            <a:pPr lvl="1" eaLnBrk="1" hangingPunct="1"/>
            <a:r>
              <a:rPr lang="en-US" sz="2400" smtClean="0"/>
              <a:t>CAEP (Classification by aggregating emerging patterns) (Dong et al’99)</a:t>
            </a:r>
          </a:p>
          <a:p>
            <a:pPr lvl="2" eaLnBrk="1" hangingPunct="1"/>
            <a:r>
              <a:rPr lang="en-US" sz="2000" smtClean="0"/>
              <a:t>Emerging patterns (EPs): the itemsets whose support increases significantly from one class to another</a:t>
            </a:r>
          </a:p>
          <a:p>
            <a:pPr lvl="2" eaLnBrk="1" hangingPunct="1"/>
            <a:r>
              <a:rPr lang="en-US" sz="2000" smtClean="0"/>
              <a:t>Mine Eps based on minimum support and growth rate</a:t>
            </a:r>
          </a:p>
        </p:txBody>
      </p:sp>
    </p:spTree>
  </p:cSld>
  <p:clrMapOvr>
    <a:masterClrMapping/>
  </p:clrMapOvr>
  <p:transition>
    <p:checke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Date Placeholder 3"/>
          <p:cNvSpPr>
            <a:spLocks noGrp="1"/>
          </p:cNvSpPr>
          <p:nvPr>
            <p:ph type="dt" sz="quarter" idx="10"/>
          </p:nvPr>
        </p:nvSpPr>
        <p:spPr>
          <a:noFill/>
        </p:spPr>
        <p:txBody>
          <a:bodyPr/>
          <a:lstStyle/>
          <a:p>
            <a:fld id="{70A80C4C-04D5-4186-85CC-7FC39CA5384B}" type="datetime4">
              <a:rPr lang="en-US" smtClean="0"/>
              <a:pPr/>
              <a:t>December 5, 2024</a:t>
            </a:fld>
            <a:endParaRPr lang="en-US" smtClean="0"/>
          </a:p>
        </p:txBody>
      </p:sp>
      <p:sp>
        <p:nvSpPr>
          <p:cNvPr id="74755" name="Slide Number Placeholder 5"/>
          <p:cNvSpPr>
            <a:spLocks noGrp="1"/>
          </p:cNvSpPr>
          <p:nvPr>
            <p:ph type="sldNum" sz="quarter" idx="12"/>
          </p:nvPr>
        </p:nvSpPr>
        <p:spPr>
          <a:noFill/>
        </p:spPr>
        <p:txBody>
          <a:bodyPr/>
          <a:lstStyle/>
          <a:p>
            <a:fld id="{A2814E7A-26E5-429A-950B-FD0C4BE476C5}" type="slidenum">
              <a:rPr lang="en-US" smtClean="0"/>
              <a:pPr/>
              <a:t>69</a:t>
            </a:fld>
            <a:endParaRPr lang="en-US" smtClean="0"/>
          </a:p>
        </p:txBody>
      </p:sp>
      <p:sp>
        <p:nvSpPr>
          <p:cNvPr id="74756" name="Rectangle 2"/>
          <p:cNvSpPr>
            <a:spLocks noGrp="1" noChangeArrowheads="1"/>
          </p:cNvSpPr>
          <p:nvPr>
            <p:ph type="title"/>
          </p:nvPr>
        </p:nvSpPr>
        <p:spPr>
          <a:xfrm>
            <a:off x="990600" y="304800"/>
            <a:ext cx="7631113" cy="685800"/>
          </a:xfrm>
        </p:spPr>
        <p:txBody>
          <a:bodyPr/>
          <a:lstStyle/>
          <a:p>
            <a:pPr eaLnBrk="1" hangingPunct="1"/>
            <a:r>
              <a:rPr lang="en-US" sz="2400" smtClean="0"/>
              <a:t>Mining Quantitative Association Rules</a:t>
            </a:r>
          </a:p>
        </p:txBody>
      </p:sp>
      <p:sp>
        <p:nvSpPr>
          <p:cNvPr id="107525" name="Rectangle 5"/>
          <p:cNvSpPr>
            <a:spLocks noChangeArrowheads="1"/>
          </p:cNvSpPr>
          <p:nvPr/>
        </p:nvSpPr>
        <p:spPr bwMode="auto">
          <a:xfrm>
            <a:off x="381000" y="1447800"/>
            <a:ext cx="8534400" cy="5181600"/>
          </a:xfrm>
          <a:prstGeom prst="rect">
            <a:avLst/>
          </a:prstGeom>
          <a:noFill/>
          <a:ln w="9525">
            <a:noFill/>
            <a:miter lim="800000"/>
            <a:headEnd/>
            <a:tailEnd/>
          </a:ln>
        </p:spPr>
        <p:txBody>
          <a:bodyPr/>
          <a:lstStyle/>
          <a:p>
            <a:pPr eaLnBrk="0" hangingPunct="0">
              <a:lnSpc>
                <a:spcPct val="90000"/>
              </a:lnSpc>
              <a:defRPr/>
            </a:pPr>
            <a:r>
              <a:rPr lang="en-US" dirty="0"/>
              <a:t>     </a:t>
            </a:r>
            <a:r>
              <a:rPr lang="en-US" sz="2000" dirty="0"/>
              <a:t>Numeric attributes are </a:t>
            </a:r>
            <a:r>
              <a:rPr lang="en-US" sz="2000" i="1" dirty="0"/>
              <a:t>dynamically</a:t>
            </a:r>
            <a:r>
              <a:rPr lang="en-US" sz="2000" dirty="0"/>
              <a:t> discretized during the  </a:t>
            </a:r>
          </a:p>
          <a:p>
            <a:pPr eaLnBrk="0" hangingPunct="0">
              <a:lnSpc>
                <a:spcPct val="90000"/>
              </a:lnSpc>
              <a:defRPr/>
            </a:pPr>
            <a:r>
              <a:rPr lang="en-US" sz="2000" dirty="0"/>
              <a:t>      mining process so as to satisfy some mining criteria, such that    </a:t>
            </a:r>
          </a:p>
          <a:p>
            <a:pPr eaLnBrk="0" hangingPunct="0">
              <a:lnSpc>
                <a:spcPct val="90000"/>
              </a:lnSpc>
              <a:defRPr/>
            </a:pPr>
            <a:r>
              <a:rPr lang="en-US" sz="2000" dirty="0"/>
              <a:t>      the confidence or compactness of the rules mined is </a:t>
            </a:r>
          </a:p>
          <a:p>
            <a:pPr eaLnBrk="0" hangingPunct="0">
              <a:lnSpc>
                <a:spcPct val="90000"/>
              </a:lnSpc>
              <a:defRPr/>
            </a:pPr>
            <a:r>
              <a:rPr lang="en-US" sz="2000" dirty="0"/>
              <a:t>      maximized.</a:t>
            </a:r>
          </a:p>
          <a:p>
            <a:pPr eaLnBrk="0" hangingPunct="0">
              <a:lnSpc>
                <a:spcPct val="90000"/>
              </a:lnSpc>
              <a:defRPr/>
            </a:pPr>
            <a:endParaRPr lang="en-US" sz="2000" dirty="0"/>
          </a:p>
          <a:p>
            <a:pPr eaLnBrk="0" hangingPunct="0">
              <a:lnSpc>
                <a:spcPct val="90000"/>
              </a:lnSpc>
              <a:defRPr/>
            </a:pPr>
            <a:r>
              <a:rPr lang="en-US" sz="2000" dirty="0"/>
              <a:t>     2-D quantitative association rules: </a:t>
            </a:r>
          </a:p>
          <a:p>
            <a:pPr eaLnBrk="0" hangingPunct="0">
              <a:lnSpc>
                <a:spcPct val="90000"/>
              </a:lnSpc>
              <a:defRPr/>
            </a:pPr>
            <a:endParaRPr lang="en-US" sz="2000" dirty="0"/>
          </a:p>
          <a:p>
            <a:pPr eaLnBrk="0" hangingPunct="0">
              <a:lnSpc>
                <a:spcPct val="90000"/>
              </a:lnSpc>
              <a:defRPr/>
            </a:pPr>
            <a:r>
              <a:rPr lang="en-US" sz="2000" dirty="0"/>
              <a:t>                                </a:t>
            </a:r>
            <a:r>
              <a:rPr lang="en-US" sz="2000" dirty="0">
                <a:solidFill>
                  <a:srgbClr val="FF0000"/>
                </a:solidFill>
              </a:rPr>
              <a:t>A</a:t>
            </a:r>
            <a:r>
              <a:rPr lang="en-US" sz="2000" baseline="-25000" dirty="0">
                <a:solidFill>
                  <a:srgbClr val="FF0000"/>
                </a:solidFill>
              </a:rPr>
              <a:t>quan1</a:t>
            </a:r>
            <a:r>
              <a:rPr lang="en-US" sz="2000" dirty="0">
                <a:solidFill>
                  <a:srgbClr val="FF0000"/>
                </a:solidFill>
              </a:rPr>
              <a:t> </a:t>
            </a:r>
            <a:r>
              <a:rPr lang="en-US" sz="2000" dirty="0">
                <a:solidFill>
                  <a:srgbClr val="FF0000"/>
                </a:solidFill>
                <a:sym typeface="Symbol" pitchFamily="18" charset="2"/>
              </a:rPr>
              <a:t> A</a:t>
            </a:r>
            <a:r>
              <a:rPr lang="en-US" sz="2000" baseline="-25000" dirty="0">
                <a:solidFill>
                  <a:srgbClr val="FF0000"/>
                </a:solidFill>
                <a:sym typeface="Symbol" pitchFamily="18" charset="2"/>
              </a:rPr>
              <a:t>quan2 </a:t>
            </a:r>
            <a:r>
              <a:rPr lang="en-US" sz="2000" dirty="0">
                <a:solidFill>
                  <a:srgbClr val="FF0000"/>
                </a:solidFill>
                <a:sym typeface="Symbol" pitchFamily="18" charset="2"/>
              </a:rPr>
              <a:t> </a:t>
            </a:r>
            <a:r>
              <a:rPr lang="en-US" sz="1600" dirty="0" err="1">
                <a:solidFill>
                  <a:srgbClr val="FF0000"/>
                </a:solidFill>
                <a:sym typeface="Symbol" pitchFamily="18" charset="2"/>
              </a:rPr>
              <a:t>A</a:t>
            </a:r>
            <a:r>
              <a:rPr lang="en-US" sz="1600" baseline="-25000" dirty="0" err="1">
                <a:solidFill>
                  <a:srgbClr val="FF0000"/>
                </a:solidFill>
                <a:sym typeface="Symbol" pitchFamily="18" charset="2"/>
              </a:rPr>
              <a:t>cat</a:t>
            </a:r>
            <a:r>
              <a:rPr lang="en-US" sz="1600" baseline="-25000" dirty="0">
                <a:solidFill>
                  <a:srgbClr val="FF0000"/>
                </a:solidFill>
                <a:sym typeface="Symbol" pitchFamily="18" charset="2"/>
              </a:rPr>
              <a:t>     </a:t>
            </a:r>
            <a:r>
              <a:rPr lang="en-US" sz="1600" dirty="0">
                <a:sym typeface="Symbol" pitchFamily="18" charset="2"/>
              </a:rPr>
              <a:t>(two dimensional quantitative association rules).</a:t>
            </a:r>
          </a:p>
          <a:p>
            <a:pPr eaLnBrk="0" hangingPunct="0">
              <a:lnSpc>
                <a:spcPct val="90000"/>
              </a:lnSpc>
              <a:defRPr/>
            </a:pPr>
            <a:r>
              <a:rPr lang="en-US" sz="1600" dirty="0">
                <a:sym typeface="Symbol" pitchFamily="18" charset="2"/>
              </a:rPr>
              <a:t>  </a:t>
            </a:r>
            <a:r>
              <a:rPr lang="en-US" sz="1600" baseline="-25000" dirty="0">
                <a:sym typeface="Symbol" pitchFamily="18" charset="2"/>
              </a:rPr>
              <a:t>  </a:t>
            </a:r>
          </a:p>
          <a:p>
            <a:pPr eaLnBrk="0" hangingPunct="0">
              <a:lnSpc>
                <a:spcPct val="90000"/>
              </a:lnSpc>
              <a:defRPr/>
            </a:pPr>
            <a:r>
              <a:rPr lang="en-US" sz="2000" dirty="0"/>
              <a:t>     We can mine such rules by ARCS ( association rule clustering  </a:t>
            </a:r>
          </a:p>
          <a:p>
            <a:pPr eaLnBrk="0" hangingPunct="0">
              <a:lnSpc>
                <a:spcPct val="90000"/>
              </a:lnSpc>
              <a:defRPr/>
            </a:pPr>
            <a:r>
              <a:rPr lang="en-US" sz="2000" dirty="0"/>
              <a:t>     system). </a:t>
            </a:r>
          </a:p>
          <a:p>
            <a:pPr eaLnBrk="0" hangingPunct="0">
              <a:lnSpc>
                <a:spcPct val="90000"/>
              </a:lnSpc>
              <a:defRPr/>
            </a:pPr>
            <a:endParaRPr lang="en-US" sz="2000" dirty="0"/>
          </a:p>
          <a:p>
            <a:pPr eaLnBrk="0" hangingPunct="0">
              <a:defRPr/>
            </a:pPr>
            <a:r>
              <a:rPr lang="en-US" sz="2000" dirty="0"/>
              <a:t>     Example:</a:t>
            </a:r>
            <a:r>
              <a:rPr lang="en-US" sz="2000" dirty="0">
                <a:solidFill>
                  <a:schemeClr val="folHlink"/>
                </a:solidFill>
                <a:sym typeface="Symbol" pitchFamily="18" charset="2"/>
              </a:rPr>
              <a:t> </a:t>
            </a:r>
          </a:p>
          <a:p>
            <a:pPr eaLnBrk="0" hangingPunct="0">
              <a:defRPr/>
            </a:pPr>
            <a:endParaRPr lang="en-US" sz="2000" dirty="0">
              <a:solidFill>
                <a:schemeClr val="folHlink"/>
              </a:solidFill>
              <a:sym typeface="Symbol" pitchFamily="18" charset="2"/>
            </a:endParaRPr>
          </a:p>
          <a:p>
            <a:pPr eaLnBrk="0" hangingPunct="0">
              <a:defRPr/>
            </a:pPr>
            <a:r>
              <a:rPr lang="en-US" sz="2000" b="1" dirty="0">
                <a:solidFill>
                  <a:schemeClr val="folHlink"/>
                </a:solidFill>
                <a:latin typeface="Garamond" pitchFamily="18" charset="0"/>
              </a:rPr>
              <a:t>       </a:t>
            </a:r>
            <a:r>
              <a:rPr lang="en-US" b="1" dirty="0">
                <a:solidFill>
                  <a:schemeClr val="tx2">
                    <a:lumMod val="50000"/>
                  </a:schemeClr>
                </a:solidFill>
                <a:latin typeface="Garamond" pitchFamily="18" charset="0"/>
              </a:rPr>
              <a:t>age(X,”30-34”) </a:t>
            </a:r>
            <a:r>
              <a:rPr lang="en-US" b="1" dirty="0">
                <a:solidFill>
                  <a:schemeClr val="tx2">
                    <a:lumMod val="50000"/>
                  </a:schemeClr>
                </a:solidFill>
                <a:latin typeface="Garamond" pitchFamily="18" charset="0"/>
                <a:sym typeface="Symbol" pitchFamily="18" charset="2"/>
              </a:rPr>
              <a:t> income(X,”24K - 48K”)   buys(</a:t>
            </a:r>
            <a:r>
              <a:rPr lang="en-US" b="1" dirty="0" err="1">
                <a:solidFill>
                  <a:schemeClr val="tx2">
                    <a:lumMod val="50000"/>
                  </a:schemeClr>
                </a:solidFill>
                <a:latin typeface="Garamond" pitchFamily="18" charset="0"/>
                <a:sym typeface="Symbol" pitchFamily="18" charset="2"/>
              </a:rPr>
              <a:t>X,”high</a:t>
            </a:r>
            <a:r>
              <a:rPr lang="en-US" b="1" dirty="0">
                <a:solidFill>
                  <a:schemeClr val="tx2">
                    <a:lumMod val="50000"/>
                  </a:schemeClr>
                </a:solidFill>
                <a:latin typeface="Garamond" pitchFamily="18" charset="0"/>
                <a:sym typeface="Symbol" pitchFamily="18" charset="2"/>
              </a:rPr>
              <a:t> resolution TV”)</a:t>
            </a:r>
            <a:endParaRPr lang="en-US" dirty="0">
              <a:solidFill>
                <a:schemeClr val="tx2">
                  <a:lumMod val="50000"/>
                </a:schemeClr>
              </a:solidFill>
              <a:latin typeface="Garamond" pitchFamily="18" charset="0"/>
              <a:sym typeface="Symbol" pitchFamily="18" charset="2"/>
            </a:endParaRPr>
          </a:p>
          <a:p>
            <a:pPr eaLnBrk="0" hangingPunct="0">
              <a:defRPr/>
            </a:pPr>
            <a:endParaRPr lang="en-US" sz="2000" dirty="0">
              <a:solidFill>
                <a:schemeClr val="folHlink"/>
              </a:solidFill>
              <a:sym typeface="Symbol" pitchFamily="18" charset="2"/>
            </a:endParaRPr>
          </a:p>
          <a:p>
            <a:pPr eaLnBrk="0" hangingPunct="0">
              <a:lnSpc>
                <a:spcPct val="90000"/>
              </a:lnSpc>
              <a:defRPr/>
            </a:pPr>
            <a:r>
              <a:rPr lang="en-US" sz="2000" dirty="0">
                <a:solidFill>
                  <a:schemeClr val="folHlink"/>
                </a:solidFill>
                <a:sym typeface="Symbol" pitchFamily="18" charset="2"/>
              </a:rPr>
              <a:t> </a:t>
            </a:r>
          </a:p>
          <a:p>
            <a:pPr eaLnBrk="0" hangingPunct="0">
              <a:lnSpc>
                <a:spcPct val="90000"/>
              </a:lnSpc>
              <a:defRPr/>
            </a:pPr>
            <a:r>
              <a:rPr lang="en-US" sz="2000" dirty="0">
                <a:solidFill>
                  <a:schemeClr val="folHlink"/>
                </a:solidFill>
                <a:sym typeface="Symbol" pitchFamily="18" charset="2"/>
              </a:rPr>
              <a:t> </a:t>
            </a:r>
          </a:p>
        </p:txBody>
      </p:sp>
    </p:spTree>
  </p:cSld>
  <p:clrMapOvr>
    <a:masterClrMapping/>
  </p:clrMapOvr>
  <p:transition advClick="0">
    <p:zoom/>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Date Placeholder 3"/>
          <p:cNvSpPr>
            <a:spLocks noGrp="1"/>
          </p:cNvSpPr>
          <p:nvPr>
            <p:ph type="dt" sz="quarter" idx="10"/>
          </p:nvPr>
        </p:nvSpPr>
        <p:spPr>
          <a:noFill/>
        </p:spPr>
        <p:txBody>
          <a:bodyPr/>
          <a:lstStyle/>
          <a:p>
            <a:fld id="{57D4AD18-3326-49F4-8559-3D6DA253F9B4}" type="datetime4">
              <a:rPr lang="en-US" smtClean="0"/>
              <a:pPr/>
              <a:t>December 5, 2024</a:t>
            </a:fld>
            <a:endParaRPr lang="en-US" smtClean="0"/>
          </a:p>
        </p:txBody>
      </p:sp>
      <p:sp>
        <p:nvSpPr>
          <p:cNvPr id="11268" name="Slide Number Placeholder 5"/>
          <p:cNvSpPr>
            <a:spLocks noGrp="1"/>
          </p:cNvSpPr>
          <p:nvPr>
            <p:ph type="sldNum" sz="quarter" idx="12"/>
          </p:nvPr>
        </p:nvSpPr>
        <p:spPr>
          <a:noFill/>
        </p:spPr>
        <p:txBody>
          <a:bodyPr/>
          <a:lstStyle/>
          <a:p>
            <a:fld id="{B5D03BC1-F94E-4DA8-992D-55D1002095E2}" type="slidenum">
              <a:rPr lang="en-US" smtClean="0"/>
              <a:pPr/>
              <a:t>70</a:t>
            </a:fld>
            <a:endParaRPr lang="en-US" smtClean="0"/>
          </a:p>
        </p:txBody>
      </p:sp>
      <p:graphicFrame>
        <p:nvGraphicFramePr>
          <p:cNvPr id="11266" name="Object 4"/>
          <p:cNvGraphicFramePr>
            <a:graphicFrameLocks noChangeAspect="1"/>
          </p:cNvGraphicFramePr>
          <p:nvPr>
            <p:ph idx="1"/>
          </p:nvPr>
        </p:nvGraphicFramePr>
        <p:xfrm>
          <a:off x="1828800" y="1219200"/>
          <a:ext cx="5032375" cy="3228975"/>
        </p:xfrm>
        <a:graphic>
          <a:graphicData uri="http://schemas.openxmlformats.org/presentationml/2006/ole">
            <p:oleObj spid="_x0000_s11266" name="Image" r:id="rId3" imgW="5375221" imgH="2986234" progId="Photoshop.Image.5">
              <p:embed/>
            </p:oleObj>
          </a:graphicData>
        </a:graphic>
      </p:graphicFrame>
      <p:sp>
        <p:nvSpPr>
          <p:cNvPr id="11269" name="TextBox 4"/>
          <p:cNvSpPr txBox="1">
            <a:spLocks noChangeArrowheads="1"/>
          </p:cNvSpPr>
          <p:nvPr/>
        </p:nvSpPr>
        <p:spPr bwMode="auto">
          <a:xfrm>
            <a:off x="762000" y="4724400"/>
            <a:ext cx="7548563" cy="369888"/>
          </a:xfrm>
          <a:prstGeom prst="rect">
            <a:avLst/>
          </a:prstGeom>
          <a:noFill/>
          <a:ln w="9525">
            <a:noFill/>
            <a:miter lim="800000"/>
            <a:headEnd/>
            <a:tailEnd/>
          </a:ln>
        </p:spPr>
        <p:txBody>
          <a:bodyPr wrap="none">
            <a:spAutoFit/>
          </a:bodyPr>
          <a:lstStyle/>
          <a:p>
            <a:r>
              <a:rPr lang="en-US"/>
              <a:t>A 2-D grid for tuples representing customers who purchase high resolution TVs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Date Placeholder 3"/>
          <p:cNvSpPr>
            <a:spLocks noGrp="1"/>
          </p:cNvSpPr>
          <p:nvPr>
            <p:ph type="dt" sz="quarter" idx="10"/>
          </p:nvPr>
        </p:nvSpPr>
        <p:spPr>
          <a:noFill/>
        </p:spPr>
        <p:txBody>
          <a:bodyPr/>
          <a:lstStyle/>
          <a:p>
            <a:fld id="{95BAE7E0-8125-44F1-A096-5F812D7A83DC}" type="datetime4">
              <a:rPr lang="en-US" smtClean="0"/>
              <a:pPr/>
              <a:t>December 5, 2024</a:t>
            </a:fld>
            <a:endParaRPr lang="en-US" smtClean="0"/>
          </a:p>
        </p:txBody>
      </p:sp>
      <p:sp>
        <p:nvSpPr>
          <p:cNvPr id="12292" name="Slide Number Placeholder 5"/>
          <p:cNvSpPr>
            <a:spLocks noGrp="1"/>
          </p:cNvSpPr>
          <p:nvPr>
            <p:ph type="sldNum" sz="quarter" idx="12"/>
          </p:nvPr>
        </p:nvSpPr>
        <p:spPr>
          <a:noFill/>
        </p:spPr>
        <p:txBody>
          <a:bodyPr/>
          <a:lstStyle/>
          <a:p>
            <a:fld id="{F021E3E0-19AA-4BC0-BD56-BDB4AC231F28}" type="slidenum">
              <a:rPr lang="en-US" smtClean="0"/>
              <a:pPr/>
              <a:t>71</a:t>
            </a:fld>
            <a:endParaRPr lang="en-US" smtClean="0"/>
          </a:p>
        </p:txBody>
      </p:sp>
      <p:sp>
        <p:nvSpPr>
          <p:cNvPr id="12293" name="Rectangle 1026"/>
          <p:cNvSpPr>
            <a:spLocks noGrp="1" noChangeArrowheads="1"/>
          </p:cNvSpPr>
          <p:nvPr>
            <p:ph type="title"/>
          </p:nvPr>
        </p:nvSpPr>
        <p:spPr>
          <a:xfrm>
            <a:off x="1066800" y="228600"/>
            <a:ext cx="7315200" cy="609600"/>
          </a:xfrm>
        </p:spPr>
        <p:txBody>
          <a:bodyPr/>
          <a:lstStyle/>
          <a:p>
            <a:pPr eaLnBrk="1" hangingPunct="1"/>
            <a:r>
              <a:rPr lang="en-US" sz="2400" smtClean="0"/>
              <a:t>ARCS (Association Rule Clustering System)</a:t>
            </a:r>
            <a:endParaRPr lang="en-US" sz="2800" smtClean="0"/>
          </a:p>
        </p:txBody>
      </p:sp>
      <p:graphicFrame>
        <p:nvGraphicFramePr>
          <p:cNvPr id="12290" name="Object 1027"/>
          <p:cNvGraphicFramePr>
            <a:graphicFrameLocks noChangeAspect="1"/>
          </p:cNvGraphicFramePr>
          <p:nvPr/>
        </p:nvGraphicFramePr>
        <p:xfrm>
          <a:off x="3200400" y="1447800"/>
          <a:ext cx="5867400" cy="5181600"/>
        </p:xfrm>
        <a:graphic>
          <a:graphicData uri="http://schemas.openxmlformats.org/presentationml/2006/ole">
            <p:oleObj spid="_x0000_s12290" name="Paint Shop Pro Image" r:id="rId3" imgW="6634146" imgH="7414634" progId="PaintShopPro">
              <p:embed/>
            </p:oleObj>
          </a:graphicData>
        </a:graphic>
      </p:graphicFrame>
      <p:sp>
        <p:nvSpPr>
          <p:cNvPr id="12294" name="Rectangle 1028"/>
          <p:cNvSpPr>
            <a:spLocks noChangeArrowheads="1"/>
          </p:cNvSpPr>
          <p:nvPr/>
        </p:nvSpPr>
        <p:spPr bwMode="auto">
          <a:xfrm>
            <a:off x="381000" y="2286000"/>
            <a:ext cx="2895600" cy="4267200"/>
          </a:xfrm>
          <a:prstGeom prst="rect">
            <a:avLst/>
          </a:prstGeom>
          <a:noFill/>
          <a:ln w="9525">
            <a:noFill/>
            <a:miter lim="800000"/>
            <a:headEnd/>
            <a:tailEnd/>
          </a:ln>
        </p:spPr>
        <p:txBody>
          <a:bodyPr/>
          <a:lstStyle/>
          <a:p>
            <a:pPr eaLnBrk="0" hangingPunct="0"/>
            <a:endParaRPr lang="en-US">
              <a:sym typeface="Symbol" pitchFamily="18" charset="2"/>
            </a:endParaRPr>
          </a:p>
        </p:txBody>
      </p:sp>
      <p:sp>
        <p:nvSpPr>
          <p:cNvPr id="12295" name="Rectangle 1029"/>
          <p:cNvSpPr>
            <a:spLocks noGrp="1" noChangeArrowheads="1"/>
          </p:cNvSpPr>
          <p:nvPr>
            <p:ph type="body" idx="1"/>
          </p:nvPr>
        </p:nvSpPr>
        <p:spPr>
          <a:xfrm>
            <a:off x="228600" y="1447800"/>
            <a:ext cx="4332288" cy="4724400"/>
          </a:xfrm>
          <a:noFill/>
        </p:spPr>
        <p:txBody>
          <a:bodyPr/>
          <a:lstStyle/>
          <a:p>
            <a:pPr eaLnBrk="1" hangingPunct="1">
              <a:lnSpc>
                <a:spcPct val="90000"/>
              </a:lnSpc>
              <a:buFontTx/>
              <a:buNone/>
            </a:pPr>
            <a:r>
              <a:rPr lang="en-US" smtClean="0"/>
              <a:t>How does ARCS work?</a:t>
            </a:r>
          </a:p>
          <a:p>
            <a:pPr eaLnBrk="1" hangingPunct="1">
              <a:lnSpc>
                <a:spcPct val="90000"/>
              </a:lnSpc>
              <a:buFontTx/>
              <a:buNone/>
            </a:pPr>
            <a:endParaRPr lang="en-US" sz="2000" smtClean="0">
              <a:sym typeface="Symbol" pitchFamily="18" charset="2"/>
            </a:endParaRPr>
          </a:p>
          <a:p>
            <a:pPr eaLnBrk="1" hangingPunct="1">
              <a:lnSpc>
                <a:spcPct val="90000"/>
              </a:lnSpc>
              <a:buFontTx/>
              <a:buNone/>
            </a:pPr>
            <a:r>
              <a:rPr lang="en-US" sz="2000" smtClean="0">
                <a:sym typeface="Symbol" pitchFamily="18" charset="2"/>
              </a:rPr>
              <a:t>1. Binning</a:t>
            </a:r>
          </a:p>
          <a:p>
            <a:pPr eaLnBrk="1" hangingPunct="1">
              <a:lnSpc>
                <a:spcPct val="90000"/>
              </a:lnSpc>
              <a:buFontTx/>
              <a:buNone/>
            </a:pPr>
            <a:endParaRPr lang="en-US" sz="2000" smtClean="0">
              <a:sym typeface="Symbol" pitchFamily="18" charset="2"/>
            </a:endParaRPr>
          </a:p>
          <a:p>
            <a:pPr eaLnBrk="1" hangingPunct="1">
              <a:lnSpc>
                <a:spcPct val="90000"/>
              </a:lnSpc>
              <a:buFontTx/>
              <a:buNone/>
            </a:pPr>
            <a:r>
              <a:rPr lang="en-US" sz="2000" smtClean="0">
                <a:sym typeface="Symbol" pitchFamily="18" charset="2"/>
              </a:rPr>
              <a:t>2. Find frequent predicate set</a:t>
            </a:r>
          </a:p>
          <a:p>
            <a:pPr eaLnBrk="1" hangingPunct="1">
              <a:lnSpc>
                <a:spcPct val="90000"/>
              </a:lnSpc>
              <a:buFontTx/>
              <a:buNone/>
            </a:pPr>
            <a:endParaRPr lang="en-US" sz="2000" smtClean="0">
              <a:sym typeface="Symbol" pitchFamily="18" charset="2"/>
            </a:endParaRPr>
          </a:p>
          <a:p>
            <a:pPr eaLnBrk="1" hangingPunct="1">
              <a:lnSpc>
                <a:spcPct val="90000"/>
              </a:lnSpc>
              <a:buFontTx/>
              <a:buNone/>
            </a:pPr>
            <a:r>
              <a:rPr lang="en-US" sz="2000" smtClean="0">
                <a:sym typeface="Symbol" pitchFamily="18" charset="2"/>
              </a:rPr>
              <a:t>3. Clustering</a:t>
            </a:r>
          </a:p>
          <a:p>
            <a:pPr eaLnBrk="1" hangingPunct="1">
              <a:lnSpc>
                <a:spcPct val="90000"/>
              </a:lnSpc>
              <a:buFontTx/>
              <a:buNone/>
            </a:pPr>
            <a:endParaRPr lang="en-US" sz="2000" smtClean="0">
              <a:sym typeface="Symbol" pitchFamily="18" charset="2"/>
            </a:endParaRPr>
          </a:p>
          <a:p>
            <a:pPr eaLnBrk="1" hangingPunct="1">
              <a:lnSpc>
                <a:spcPct val="90000"/>
              </a:lnSpc>
              <a:buFontTx/>
              <a:buNone/>
            </a:pPr>
            <a:r>
              <a:rPr lang="en-US" sz="2000" smtClean="0">
                <a:sym typeface="Symbol" pitchFamily="18" charset="2"/>
              </a:rPr>
              <a:t>4. Optimize</a:t>
            </a:r>
          </a:p>
          <a:p>
            <a:pPr eaLnBrk="1" hangingPunct="1">
              <a:lnSpc>
                <a:spcPct val="90000"/>
              </a:lnSpc>
              <a:buFontTx/>
              <a:buNone/>
            </a:pPr>
            <a:endParaRPr lang="en-US" sz="2000" smtClean="0"/>
          </a:p>
        </p:txBody>
      </p:sp>
    </p:spTree>
  </p:cSld>
  <p:clrMapOvr>
    <a:masterClrMapping/>
  </p:clrMapOvr>
  <p:transition advClick="0">
    <p:zoom/>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Date Placeholder 3"/>
          <p:cNvSpPr>
            <a:spLocks noGrp="1"/>
          </p:cNvSpPr>
          <p:nvPr>
            <p:ph type="dt" sz="quarter" idx="10"/>
          </p:nvPr>
        </p:nvSpPr>
        <p:spPr>
          <a:noFill/>
        </p:spPr>
        <p:txBody>
          <a:bodyPr/>
          <a:lstStyle/>
          <a:p>
            <a:fld id="{5CFE7B13-46BB-44D2-8229-CF98B5C03C49}" type="datetime4">
              <a:rPr lang="en-US" smtClean="0"/>
              <a:pPr/>
              <a:t>December 5, 2024</a:t>
            </a:fld>
            <a:endParaRPr lang="en-US" smtClean="0"/>
          </a:p>
        </p:txBody>
      </p:sp>
      <p:sp>
        <p:nvSpPr>
          <p:cNvPr id="75779" name="Slide Number Placeholder 5"/>
          <p:cNvSpPr>
            <a:spLocks noGrp="1"/>
          </p:cNvSpPr>
          <p:nvPr>
            <p:ph type="sldNum" sz="quarter" idx="12"/>
          </p:nvPr>
        </p:nvSpPr>
        <p:spPr>
          <a:noFill/>
        </p:spPr>
        <p:txBody>
          <a:bodyPr/>
          <a:lstStyle/>
          <a:p>
            <a:fld id="{B02AB235-ABFB-449D-B2A8-0871E2801AAD}" type="slidenum">
              <a:rPr lang="en-US" smtClean="0"/>
              <a:pPr/>
              <a:t>72</a:t>
            </a:fld>
            <a:endParaRPr lang="en-US" smtClean="0"/>
          </a:p>
        </p:txBody>
      </p:sp>
      <p:sp>
        <p:nvSpPr>
          <p:cNvPr id="75780" name="Rectangle 4"/>
          <p:cNvSpPr>
            <a:spLocks noGrp="1" noChangeArrowheads="1"/>
          </p:cNvSpPr>
          <p:nvPr>
            <p:ph type="title"/>
          </p:nvPr>
        </p:nvSpPr>
        <p:spPr>
          <a:xfrm>
            <a:off x="1295400" y="228600"/>
            <a:ext cx="3124200" cy="609600"/>
          </a:xfrm>
          <a:noFill/>
        </p:spPr>
        <p:txBody>
          <a:bodyPr/>
          <a:lstStyle/>
          <a:p>
            <a:pPr eaLnBrk="1" hangingPunct="1"/>
            <a:r>
              <a:rPr lang="en-US" smtClean="0"/>
              <a:t>ARCS</a:t>
            </a:r>
          </a:p>
        </p:txBody>
      </p:sp>
      <p:sp>
        <p:nvSpPr>
          <p:cNvPr id="75781" name="Rectangle 5"/>
          <p:cNvSpPr>
            <a:spLocks noGrp="1" noChangeArrowheads="1"/>
          </p:cNvSpPr>
          <p:nvPr>
            <p:ph type="body" idx="1"/>
          </p:nvPr>
        </p:nvSpPr>
        <p:spPr>
          <a:xfrm>
            <a:off x="228600" y="1066800"/>
            <a:ext cx="8915400" cy="5486400"/>
          </a:xfrm>
          <a:noFill/>
        </p:spPr>
        <p:txBody>
          <a:bodyPr/>
          <a:lstStyle/>
          <a:p>
            <a:pPr eaLnBrk="1" hangingPunct="1"/>
            <a:r>
              <a:rPr lang="en-US" sz="1800" b="1" smtClean="0"/>
              <a:t>Binning:</a:t>
            </a:r>
            <a:r>
              <a:rPr lang="en-US" sz="1800" smtClean="0"/>
              <a:t> To keep the grids in a manageable size, we partition the ranges of quantitative attributes into intervals.</a:t>
            </a:r>
          </a:p>
          <a:p>
            <a:pPr eaLnBrk="1" hangingPunct="1">
              <a:buFontTx/>
              <a:buNone/>
            </a:pPr>
            <a:endParaRPr lang="en-US" sz="1800" smtClean="0"/>
          </a:p>
          <a:p>
            <a:pPr eaLnBrk="1" hangingPunct="1"/>
            <a:r>
              <a:rPr lang="en-US" sz="1800" smtClean="0"/>
              <a:t>These intervals are dynamic that may further be combined during the mining process.</a:t>
            </a:r>
          </a:p>
          <a:p>
            <a:pPr eaLnBrk="1" hangingPunct="1">
              <a:buFontTx/>
              <a:buNone/>
            </a:pPr>
            <a:endParaRPr lang="en-US" sz="1800" smtClean="0"/>
          </a:p>
          <a:p>
            <a:pPr eaLnBrk="1" hangingPunct="1"/>
            <a:r>
              <a:rPr lang="en-US" sz="1800" smtClean="0"/>
              <a:t>This partitioning process is referred to as binning, where intervals are considered as “bins”. Three binning strategies are:</a:t>
            </a:r>
          </a:p>
          <a:p>
            <a:pPr lvl="1" eaLnBrk="1" hangingPunct="1"/>
            <a:r>
              <a:rPr lang="en-US" sz="1800" b="1" smtClean="0"/>
              <a:t>Equiwidth :</a:t>
            </a:r>
            <a:r>
              <a:rPr lang="en-US" sz="1800" smtClean="0"/>
              <a:t> where the interval size of each bin is same.</a:t>
            </a:r>
          </a:p>
          <a:p>
            <a:pPr lvl="1" eaLnBrk="1" hangingPunct="1"/>
            <a:r>
              <a:rPr lang="en-US" sz="1800" b="1" smtClean="0"/>
              <a:t>Equidepth :</a:t>
            </a:r>
            <a:r>
              <a:rPr lang="en-US" sz="1800" smtClean="0"/>
              <a:t> where each bin has approximately the same no. of tuples assigned to it.</a:t>
            </a:r>
          </a:p>
          <a:p>
            <a:pPr lvl="1" eaLnBrk="1" hangingPunct="1"/>
            <a:r>
              <a:rPr lang="en-US" sz="1800" b="1" smtClean="0"/>
              <a:t>Homogeneity based binning :</a:t>
            </a:r>
            <a:r>
              <a:rPr lang="en-US" sz="1800" smtClean="0"/>
              <a:t>  where bin size is determined so that the tuples are uniformly distributed in each bin.</a:t>
            </a:r>
          </a:p>
          <a:p>
            <a:pPr lvl="1" eaLnBrk="1" hangingPunct="1"/>
            <a:r>
              <a:rPr lang="en-US" sz="1800" smtClean="0"/>
              <a:t>ARCS uses equi-width binning, where bin size for each quantitative attribute is input by the user. </a:t>
            </a:r>
          </a:p>
          <a:p>
            <a:pPr lvl="1" eaLnBrk="1" hangingPunct="1"/>
            <a:r>
              <a:rPr lang="en-US" sz="1800" smtClean="0"/>
              <a:t>A 2-D array can be used to generate rules for any value of the categorical attribute, based on the two quantitative attributes.</a:t>
            </a:r>
            <a:endParaRPr lang="en-US" sz="1600" smtClean="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Date Placeholder 3"/>
          <p:cNvSpPr>
            <a:spLocks noGrp="1"/>
          </p:cNvSpPr>
          <p:nvPr>
            <p:ph type="dt" sz="quarter" idx="10"/>
          </p:nvPr>
        </p:nvSpPr>
        <p:spPr>
          <a:noFill/>
        </p:spPr>
        <p:txBody>
          <a:bodyPr/>
          <a:lstStyle/>
          <a:p>
            <a:fld id="{30C3B6C0-DE96-4E7F-AB2B-738FDDAFEE4F}" type="datetime4">
              <a:rPr lang="en-US" smtClean="0"/>
              <a:pPr/>
              <a:t>December 5, 2024</a:t>
            </a:fld>
            <a:endParaRPr lang="en-US" smtClean="0"/>
          </a:p>
        </p:txBody>
      </p:sp>
      <p:sp>
        <p:nvSpPr>
          <p:cNvPr id="76803" name="Slide Number Placeholder 5"/>
          <p:cNvSpPr>
            <a:spLocks noGrp="1"/>
          </p:cNvSpPr>
          <p:nvPr>
            <p:ph type="sldNum" sz="quarter" idx="12"/>
          </p:nvPr>
        </p:nvSpPr>
        <p:spPr>
          <a:noFill/>
        </p:spPr>
        <p:txBody>
          <a:bodyPr/>
          <a:lstStyle/>
          <a:p>
            <a:fld id="{C50C03FC-7E9E-4B04-A4E9-CDEC8A49CEFE}" type="slidenum">
              <a:rPr lang="en-US" smtClean="0"/>
              <a:pPr/>
              <a:t>73</a:t>
            </a:fld>
            <a:endParaRPr lang="en-US" smtClean="0"/>
          </a:p>
        </p:txBody>
      </p:sp>
      <p:sp>
        <p:nvSpPr>
          <p:cNvPr id="76804" name="Rectangle 3"/>
          <p:cNvSpPr>
            <a:spLocks noGrp="1" noChangeArrowheads="1"/>
          </p:cNvSpPr>
          <p:nvPr>
            <p:ph type="body" idx="1"/>
          </p:nvPr>
        </p:nvSpPr>
        <p:spPr/>
        <p:txBody>
          <a:bodyPr/>
          <a:lstStyle/>
          <a:p>
            <a:pPr eaLnBrk="1" hangingPunct="1">
              <a:buFontTx/>
              <a:buNone/>
            </a:pPr>
            <a:r>
              <a:rPr lang="en-US" b="1" smtClean="0"/>
              <a:t>Finding Frequent predicate sets : </a:t>
            </a:r>
          </a:p>
          <a:p>
            <a:pPr eaLnBrk="1" hangingPunct="1"/>
            <a:r>
              <a:rPr lang="en-US" smtClean="0"/>
              <a:t>Once 2-D array containing the count distribution for each category is set up, frequent predicate sets are found out (that satisfy min_support) and also which satisfy min_confidence.</a:t>
            </a:r>
          </a:p>
          <a:p>
            <a:pPr eaLnBrk="1" hangingPunct="1"/>
            <a:r>
              <a:rPr lang="en-US" smtClean="0"/>
              <a:t>Strong association rules can be generated from these predicate sets using rule generation algo.</a:t>
            </a:r>
          </a:p>
          <a:p>
            <a:pPr eaLnBrk="1" hangingPunct="1"/>
            <a:endParaRPr lang="en-US" smtClean="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Date Placeholder 3"/>
          <p:cNvSpPr>
            <a:spLocks noGrp="1"/>
          </p:cNvSpPr>
          <p:nvPr>
            <p:ph type="dt" sz="quarter" idx="10"/>
          </p:nvPr>
        </p:nvSpPr>
        <p:spPr>
          <a:noFill/>
        </p:spPr>
        <p:txBody>
          <a:bodyPr/>
          <a:lstStyle/>
          <a:p>
            <a:fld id="{A52AF818-9799-44C2-AE95-98978AB3692B}" type="datetime4">
              <a:rPr lang="en-US" smtClean="0"/>
              <a:pPr/>
              <a:t>December 5, 2024</a:t>
            </a:fld>
            <a:endParaRPr lang="en-US" smtClean="0"/>
          </a:p>
        </p:txBody>
      </p:sp>
      <p:sp>
        <p:nvSpPr>
          <p:cNvPr id="13316" name="Slide Number Placeholder 5"/>
          <p:cNvSpPr>
            <a:spLocks noGrp="1"/>
          </p:cNvSpPr>
          <p:nvPr>
            <p:ph type="sldNum" sz="quarter" idx="12"/>
          </p:nvPr>
        </p:nvSpPr>
        <p:spPr>
          <a:noFill/>
        </p:spPr>
        <p:txBody>
          <a:bodyPr/>
          <a:lstStyle/>
          <a:p>
            <a:fld id="{0777195E-90DB-49E0-BE44-998003215090}" type="slidenum">
              <a:rPr lang="en-US" smtClean="0"/>
              <a:pPr/>
              <a:t>74</a:t>
            </a:fld>
            <a:endParaRPr lang="en-US" smtClean="0"/>
          </a:p>
        </p:txBody>
      </p:sp>
      <p:sp>
        <p:nvSpPr>
          <p:cNvPr id="13317" name="Rectangle 4"/>
          <p:cNvSpPr>
            <a:spLocks noGrp="1" noChangeArrowheads="1"/>
          </p:cNvSpPr>
          <p:nvPr>
            <p:ph type="title"/>
          </p:nvPr>
        </p:nvSpPr>
        <p:spPr>
          <a:xfrm>
            <a:off x="838200" y="228600"/>
            <a:ext cx="7793038" cy="609600"/>
          </a:xfrm>
          <a:noFill/>
        </p:spPr>
        <p:txBody>
          <a:bodyPr/>
          <a:lstStyle/>
          <a:p>
            <a:pPr eaLnBrk="1" hangingPunct="1"/>
            <a:r>
              <a:rPr lang="en-US" sz="3600" b="1" smtClean="0"/>
              <a:t>Clustering the Association rule:</a:t>
            </a:r>
          </a:p>
        </p:txBody>
      </p:sp>
      <p:sp>
        <p:nvSpPr>
          <p:cNvPr id="13318" name="Rectangle 5"/>
          <p:cNvSpPr>
            <a:spLocks noGrp="1" noChangeArrowheads="1"/>
          </p:cNvSpPr>
          <p:nvPr>
            <p:ph type="body" sz="half" idx="1"/>
          </p:nvPr>
        </p:nvSpPr>
        <p:spPr>
          <a:xfrm>
            <a:off x="228600" y="1143000"/>
            <a:ext cx="5105400" cy="5334000"/>
          </a:xfrm>
          <a:noFill/>
        </p:spPr>
        <p:txBody>
          <a:bodyPr/>
          <a:lstStyle/>
          <a:p>
            <a:pPr eaLnBrk="1" hangingPunct="1">
              <a:lnSpc>
                <a:spcPct val="90000"/>
              </a:lnSpc>
            </a:pPr>
            <a:r>
              <a:rPr lang="en-US" sz="1500" smtClean="0"/>
              <a:t>Association Rules obtained in the previous step are mapped to a 2-D grid.</a:t>
            </a:r>
          </a:p>
          <a:p>
            <a:pPr eaLnBrk="1" hangingPunct="1">
              <a:lnSpc>
                <a:spcPct val="90000"/>
              </a:lnSpc>
            </a:pPr>
            <a:r>
              <a:rPr lang="en-US" sz="1500" smtClean="0"/>
              <a:t>Given the rules,</a:t>
            </a:r>
          </a:p>
          <a:p>
            <a:pPr eaLnBrk="1" hangingPunct="1">
              <a:lnSpc>
                <a:spcPct val="90000"/>
              </a:lnSpc>
            </a:pPr>
            <a:r>
              <a:rPr lang="en-US" sz="1500" b="1" smtClean="0"/>
              <a:t>Age(X,34)^income(X,”31k…40k)=&gt;buys(X, “high resolution TV”)</a:t>
            </a:r>
          </a:p>
          <a:p>
            <a:pPr eaLnBrk="1" hangingPunct="1">
              <a:lnSpc>
                <a:spcPct val="90000"/>
              </a:lnSpc>
            </a:pPr>
            <a:r>
              <a:rPr lang="en-US" sz="1500" b="1" smtClean="0"/>
              <a:t>Age(X,35)^income(X,”31k…40k)=&gt;buys(X, “high resolution TV”)</a:t>
            </a:r>
          </a:p>
          <a:p>
            <a:pPr eaLnBrk="1" hangingPunct="1">
              <a:lnSpc>
                <a:spcPct val="90000"/>
              </a:lnSpc>
            </a:pPr>
            <a:r>
              <a:rPr lang="en-US" sz="1500" b="1" smtClean="0"/>
              <a:t>Age(X,34)^income(X,”41k…50k)=&gt;buys(X, “high resolution TV”)</a:t>
            </a:r>
          </a:p>
          <a:p>
            <a:pPr eaLnBrk="1" hangingPunct="1">
              <a:lnSpc>
                <a:spcPct val="90000"/>
              </a:lnSpc>
            </a:pPr>
            <a:r>
              <a:rPr lang="en-US" sz="1500" b="1" smtClean="0"/>
              <a:t>Age(X,35)^income(X,”41k…50k)=&gt;buys(X, “high resolution TV”)</a:t>
            </a:r>
          </a:p>
          <a:p>
            <a:pPr eaLnBrk="1" hangingPunct="1">
              <a:lnSpc>
                <a:spcPct val="90000"/>
              </a:lnSpc>
            </a:pPr>
            <a:r>
              <a:rPr lang="en-US" sz="1500" smtClean="0"/>
              <a:t>The above rules can be clustered &amp; replaced</a:t>
            </a:r>
          </a:p>
          <a:p>
            <a:pPr eaLnBrk="1" hangingPunct="1">
              <a:lnSpc>
                <a:spcPct val="90000"/>
              </a:lnSpc>
            </a:pPr>
            <a:r>
              <a:rPr lang="en-US" sz="1500" b="1" smtClean="0"/>
              <a:t>Age(X,34..35)^income(X,”31k…50k”)=&gt;buys(X, “high resolution TV”)</a:t>
            </a:r>
          </a:p>
          <a:p>
            <a:pPr eaLnBrk="1" hangingPunct="1">
              <a:lnSpc>
                <a:spcPct val="90000"/>
              </a:lnSpc>
            </a:pPr>
            <a:r>
              <a:rPr lang="en-US" sz="1500" smtClean="0"/>
              <a:t>ARCS employs a clustering algorithm that scans the grid, searching for rectangular clusters of rules.</a:t>
            </a:r>
          </a:p>
          <a:p>
            <a:pPr eaLnBrk="1" hangingPunct="1">
              <a:lnSpc>
                <a:spcPct val="90000"/>
              </a:lnSpc>
            </a:pPr>
            <a:r>
              <a:rPr lang="en-US" sz="1500" smtClean="0"/>
              <a:t>Grid based techniques assumes that the initial association rules can be clustered.</a:t>
            </a:r>
          </a:p>
          <a:p>
            <a:pPr eaLnBrk="1" hangingPunct="1">
              <a:lnSpc>
                <a:spcPct val="90000"/>
              </a:lnSpc>
            </a:pPr>
            <a:r>
              <a:rPr lang="en-US" sz="1500" smtClean="0"/>
              <a:t>Prior to clustering, smoothing techniques can be used to remove noise and outliers.</a:t>
            </a:r>
          </a:p>
          <a:p>
            <a:pPr eaLnBrk="1" hangingPunct="1">
              <a:lnSpc>
                <a:spcPct val="90000"/>
              </a:lnSpc>
            </a:pPr>
            <a:endParaRPr lang="en-US" sz="1500" b="1" smtClean="0"/>
          </a:p>
          <a:p>
            <a:pPr eaLnBrk="1" hangingPunct="1">
              <a:lnSpc>
                <a:spcPct val="90000"/>
              </a:lnSpc>
              <a:buFontTx/>
              <a:buNone/>
            </a:pPr>
            <a:endParaRPr lang="en-US" sz="1500" b="1" smtClean="0"/>
          </a:p>
        </p:txBody>
      </p:sp>
      <p:graphicFrame>
        <p:nvGraphicFramePr>
          <p:cNvPr id="13314" name="Object 6"/>
          <p:cNvGraphicFramePr>
            <a:graphicFrameLocks noChangeAspect="1"/>
          </p:cNvGraphicFramePr>
          <p:nvPr/>
        </p:nvGraphicFramePr>
        <p:xfrm>
          <a:off x="5410200" y="2133600"/>
          <a:ext cx="3581400" cy="3581400"/>
        </p:xfrm>
        <a:graphic>
          <a:graphicData uri="http://schemas.openxmlformats.org/presentationml/2006/ole">
            <p:oleObj spid="_x0000_s13314" name="Image" r:id="rId3" imgW="5375221" imgH="2986234" progId="Photoshop.Image.5">
              <p:embed/>
            </p:oleObj>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Date Placeholder 3"/>
          <p:cNvSpPr>
            <a:spLocks noGrp="1"/>
          </p:cNvSpPr>
          <p:nvPr>
            <p:ph type="dt" sz="quarter" idx="10"/>
          </p:nvPr>
        </p:nvSpPr>
        <p:spPr>
          <a:noFill/>
        </p:spPr>
        <p:txBody>
          <a:bodyPr/>
          <a:lstStyle/>
          <a:p>
            <a:fld id="{E1AF20A9-C419-4538-B08E-789BD88BEE33}" type="datetime4">
              <a:rPr lang="en-US" smtClean="0"/>
              <a:pPr/>
              <a:t>December 5, 2024</a:t>
            </a:fld>
            <a:endParaRPr lang="en-US" smtClean="0"/>
          </a:p>
        </p:txBody>
      </p:sp>
      <p:sp>
        <p:nvSpPr>
          <p:cNvPr id="77827" name="Slide Number Placeholder 5"/>
          <p:cNvSpPr>
            <a:spLocks noGrp="1"/>
          </p:cNvSpPr>
          <p:nvPr>
            <p:ph type="sldNum" sz="quarter" idx="12"/>
          </p:nvPr>
        </p:nvSpPr>
        <p:spPr>
          <a:noFill/>
        </p:spPr>
        <p:txBody>
          <a:bodyPr/>
          <a:lstStyle/>
          <a:p>
            <a:fld id="{8BF0E0C3-FBB8-4548-AC23-7CE23940D66C}" type="slidenum">
              <a:rPr lang="en-US" smtClean="0"/>
              <a:pPr/>
              <a:t>75</a:t>
            </a:fld>
            <a:endParaRPr lang="en-US" smtClean="0"/>
          </a:p>
        </p:txBody>
      </p:sp>
      <p:sp>
        <p:nvSpPr>
          <p:cNvPr id="77828" name="Rectangle 2"/>
          <p:cNvSpPr>
            <a:spLocks noGrp="1" noChangeArrowheads="1"/>
          </p:cNvSpPr>
          <p:nvPr>
            <p:ph type="title"/>
          </p:nvPr>
        </p:nvSpPr>
        <p:spPr>
          <a:xfrm>
            <a:off x="1328738" y="593725"/>
            <a:ext cx="4799012" cy="460375"/>
          </a:xfrm>
        </p:spPr>
        <p:txBody>
          <a:bodyPr/>
          <a:lstStyle/>
          <a:p>
            <a:pPr eaLnBrk="1" hangingPunct="1"/>
            <a:r>
              <a:rPr lang="en-US" smtClean="0"/>
              <a:t>Limitations of ARCS</a:t>
            </a:r>
          </a:p>
        </p:txBody>
      </p:sp>
      <p:sp>
        <p:nvSpPr>
          <p:cNvPr id="77829" name="Rectangle 3"/>
          <p:cNvSpPr>
            <a:spLocks noChangeArrowheads="1"/>
          </p:cNvSpPr>
          <p:nvPr/>
        </p:nvSpPr>
        <p:spPr bwMode="auto">
          <a:xfrm>
            <a:off x="381000" y="2057400"/>
            <a:ext cx="8153400" cy="4648200"/>
          </a:xfrm>
          <a:prstGeom prst="rect">
            <a:avLst/>
          </a:prstGeom>
          <a:noFill/>
          <a:ln w="9525">
            <a:noFill/>
            <a:miter lim="800000"/>
            <a:headEnd/>
            <a:tailEnd/>
          </a:ln>
        </p:spPr>
        <p:txBody>
          <a:bodyPr/>
          <a:lstStyle/>
          <a:p>
            <a:pPr eaLnBrk="0" hangingPunct="0">
              <a:lnSpc>
                <a:spcPct val="120000"/>
              </a:lnSpc>
              <a:buFont typeface="Arial" pitchFamily="34" charset="0"/>
              <a:buChar char="•"/>
            </a:pPr>
            <a:r>
              <a:rPr lang="en-US">
                <a:sym typeface="Symbol" pitchFamily="18" charset="2"/>
              </a:rPr>
              <a:t>Only quantitative attributes on LHS of rules.</a:t>
            </a:r>
          </a:p>
          <a:p>
            <a:pPr eaLnBrk="0" hangingPunct="0">
              <a:lnSpc>
                <a:spcPct val="120000"/>
              </a:lnSpc>
              <a:buFont typeface="Arial" pitchFamily="34" charset="0"/>
              <a:buChar char="•"/>
            </a:pPr>
            <a:r>
              <a:rPr lang="en-US">
                <a:sym typeface="Symbol" pitchFamily="18" charset="2"/>
              </a:rPr>
              <a:t>Only 2 attributes on LHS.  (2D limitation)</a:t>
            </a:r>
          </a:p>
          <a:p>
            <a:pPr eaLnBrk="0" hangingPunct="0">
              <a:lnSpc>
                <a:spcPct val="120000"/>
              </a:lnSpc>
              <a:buFont typeface="Arial" pitchFamily="34" charset="0"/>
              <a:buChar char="•"/>
            </a:pPr>
            <a:r>
              <a:rPr lang="en-US">
                <a:sym typeface="Symbol" pitchFamily="18" charset="2"/>
              </a:rPr>
              <a:t>An alternative to ARCS</a:t>
            </a:r>
          </a:p>
          <a:p>
            <a:pPr lvl="1" eaLnBrk="0" hangingPunct="0">
              <a:lnSpc>
                <a:spcPct val="120000"/>
              </a:lnSpc>
              <a:buFont typeface="Arial" pitchFamily="34" charset="0"/>
              <a:buChar char="•"/>
            </a:pPr>
            <a:r>
              <a:rPr lang="en-US">
                <a:sym typeface="Symbol" pitchFamily="18" charset="2"/>
              </a:rPr>
              <a:t>Non-grid-based</a:t>
            </a:r>
          </a:p>
          <a:p>
            <a:pPr lvl="1" eaLnBrk="0" hangingPunct="0">
              <a:lnSpc>
                <a:spcPct val="120000"/>
              </a:lnSpc>
              <a:buFont typeface="Arial" pitchFamily="34" charset="0"/>
              <a:buChar char="•"/>
            </a:pPr>
            <a:r>
              <a:rPr lang="en-US">
                <a:sym typeface="Symbol" pitchFamily="18" charset="2"/>
              </a:rPr>
              <a:t>equi-depth binning</a:t>
            </a:r>
          </a:p>
          <a:p>
            <a:pPr lvl="1" eaLnBrk="0" hangingPunct="0">
              <a:lnSpc>
                <a:spcPct val="120000"/>
              </a:lnSpc>
              <a:buFont typeface="Arial" pitchFamily="34" charset="0"/>
              <a:buChar char="•"/>
            </a:pPr>
            <a:r>
              <a:rPr lang="en-US">
                <a:sym typeface="Symbol" pitchFamily="18" charset="2"/>
              </a:rPr>
              <a:t>clustering based on a measure of </a:t>
            </a:r>
            <a:r>
              <a:rPr lang="en-US" i="1">
                <a:sym typeface="Symbol" pitchFamily="18" charset="2"/>
              </a:rPr>
              <a:t>partial completeness</a:t>
            </a:r>
            <a:r>
              <a:rPr lang="en-US">
                <a:sym typeface="Symbol" pitchFamily="18" charset="2"/>
              </a:rPr>
              <a:t>.</a:t>
            </a:r>
          </a:p>
        </p:txBody>
      </p:sp>
    </p:spTree>
  </p:cSld>
  <p:clrMapOvr>
    <a:masterClrMapping/>
  </p:clrMapOvr>
  <p:transition advClick="0">
    <p:zoom/>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p:cNvSpPr>
            <a:spLocks noGrp="1"/>
          </p:cNvSpPr>
          <p:nvPr>
            <p:ph type="sldNum" sz="quarter" idx="12"/>
          </p:nvPr>
        </p:nvSpPr>
        <p:spPr>
          <a:noFill/>
        </p:spPr>
        <p:txBody>
          <a:bodyPr/>
          <a:lstStyle/>
          <a:p>
            <a:fld id="{FED4EF9D-303A-4FFF-BD9A-787F4425E8FD}" type="slidenum">
              <a:rPr lang="en-US" smtClean="0"/>
              <a:pPr/>
              <a:t>76</a:t>
            </a:fld>
            <a:endParaRPr lang="en-US" smtClean="0"/>
          </a:p>
        </p:txBody>
      </p:sp>
      <p:sp>
        <p:nvSpPr>
          <p:cNvPr id="78851" name="Rectangle 2"/>
          <p:cNvSpPr>
            <a:spLocks noGrp="1" noChangeArrowheads="1"/>
          </p:cNvSpPr>
          <p:nvPr>
            <p:ph type="title"/>
          </p:nvPr>
        </p:nvSpPr>
        <p:spPr>
          <a:xfrm>
            <a:off x="533400" y="304800"/>
            <a:ext cx="8001000" cy="914400"/>
          </a:xfrm>
          <a:noFill/>
        </p:spPr>
        <p:txBody>
          <a:bodyPr lIns="92075" tIns="46038" rIns="92075" bIns="46038"/>
          <a:lstStyle/>
          <a:p>
            <a:pPr eaLnBrk="1" hangingPunct="1"/>
            <a:r>
              <a:rPr lang="en-US" smtClean="0"/>
              <a:t>Classification and Prediction</a:t>
            </a:r>
          </a:p>
        </p:txBody>
      </p:sp>
      <p:sp>
        <p:nvSpPr>
          <p:cNvPr id="78852" name="Rectangle 3"/>
          <p:cNvSpPr>
            <a:spLocks noGrp="1" noChangeArrowheads="1"/>
          </p:cNvSpPr>
          <p:nvPr>
            <p:ph type="body" idx="1"/>
          </p:nvPr>
        </p:nvSpPr>
        <p:spPr>
          <a:xfrm>
            <a:off x="685800" y="1295400"/>
            <a:ext cx="7924800" cy="50292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solidFill>
                  <a:schemeClr val="hlink"/>
                </a:solidFill>
              </a:rPr>
              <a:t>Other Classification Methods-KNN</a:t>
            </a:r>
          </a:p>
          <a:p>
            <a:pPr eaLnBrk="1" hangingPunct="1">
              <a:lnSpc>
                <a:spcPct val="90000"/>
              </a:lnSpc>
            </a:pPr>
            <a:r>
              <a:rPr lang="en-US" sz="2800" smtClean="0"/>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p:cNvSpPr>
            <a:spLocks noGrp="1"/>
          </p:cNvSpPr>
          <p:nvPr>
            <p:ph type="sldNum" sz="quarter" idx="12"/>
          </p:nvPr>
        </p:nvSpPr>
        <p:spPr>
          <a:noFill/>
        </p:spPr>
        <p:txBody>
          <a:bodyPr/>
          <a:lstStyle/>
          <a:p>
            <a:fld id="{194F716D-A297-4DBC-B084-DDFEDFD22A1F}" type="slidenum">
              <a:rPr lang="en-US" smtClean="0"/>
              <a:pPr/>
              <a:t>77</a:t>
            </a:fld>
            <a:endParaRPr lang="en-US" smtClean="0"/>
          </a:p>
        </p:txBody>
      </p:sp>
      <p:sp>
        <p:nvSpPr>
          <p:cNvPr id="79875" name="Rectangle 2"/>
          <p:cNvSpPr>
            <a:spLocks noGrp="1" noChangeArrowheads="1"/>
          </p:cNvSpPr>
          <p:nvPr>
            <p:ph type="title"/>
          </p:nvPr>
        </p:nvSpPr>
        <p:spPr/>
        <p:txBody>
          <a:bodyPr/>
          <a:lstStyle/>
          <a:p>
            <a:pPr eaLnBrk="1" hangingPunct="1"/>
            <a:r>
              <a:rPr lang="en-US" smtClean="0"/>
              <a:t>Other Classification Methods</a:t>
            </a:r>
          </a:p>
        </p:txBody>
      </p:sp>
      <p:sp>
        <p:nvSpPr>
          <p:cNvPr id="79876" name="Rectangle 3"/>
          <p:cNvSpPr>
            <a:spLocks noGrp="1" noChangeArrowheads="1"/>
          </p:cNvSpPr>
          <p:nvPr>
            <p:ph type="body" idx="1"/>
          </p:nvPr>
        </p:nvSpPr>
        <p:spPr/>
        <p:txBody>
          <a:bodyPr/>
          <a:lstStyle/>
          <a:p>
            <a:pPr eaLnBrk="1" hangingPunct="1"/>
            <a:r>
              <a:rPr lang="en-US" smtClean="0"/>
              <a:t>k-nearest neighbor classifier</a:t>
            </a:r>
            <a:r>
              <a:rPr lang="en-US" smtClean="0">
                <a:solidFill>
                  <a:srgbClr val="FF0066"/>
                </a:solidFill>
              </a:rPr>
              <a:t> </a:t>
            </a:r>
          </a:p>
          <a:p>
            <a:pPr eaLnBrk="1" hangingPunct="1">
              <a:lnSpc>
                <a:spcPct val="110000"/>
              </a:lnSpc>
            </a:pPr>
            <a:r>
              <a:rPr lang="en-US" smtClean="0"/>
              <a:t>case-based reasoning</a:t>
            </a:r>
            <a:endParaRPr lang="en-US" smtClean="0">
              <a:solidFill>
                <a:srgbClr val="FF0066"/>
              </a:solidFill>
            </a:endParaRPr>
          </a:p>
          <a:p>
            <a:pPr eaLnBrk="1" hangingPunct="1">
              <a:lnSpc>
                <a:spcPct val="110000"/>
              </a:lnSpc>
            </a:pPr>
            <a:r>
              <a:rPr lang="en-US" smtClean="0"/>
              <a:t>Genetic algorithm</a:t>
            </a:r>
          </a:p>
          <a:p>
            <a:pPr eaLnBrk="1" hangingPunct="1">
              <a:lnSpc>
                <a:spcPct val="110000"/>
              </a:lnSpc>
            </a:pPr>
            <a:r>
              <a:rPr lang="en-US" smtClean="0"/>
              <a:t>Rough set approach</a:t>
            </a:r>
          </a:p>
          <a:p>
            <a:pPr eaLnBrk="1" hangingPunct="1">
              <a:lnSpc>
                <a:spcPct val="110000"/>
              </a:lnSpc>
            </a:pPr>
            <a:r>
              <a:rPr lang="en-US" smtClean="0"/>
              <a:t>Fuzzy set approaches</a:t>
            </a:r>
          </a:p>
          <a:p>
            <a:pPr eaLnBrk="1" hangingPunct="1">
              <a:lnSpc>
                <a:spcPct val="110000"/>
              </a:lnSpc>
            </a:pPr>
            <a:endParaRPr lang="en-US" smtClean="0"/>
          </a:p>
        </p:txBody>
      </p:sp>
    </p:spTree>
  </p:cSld>
  <p:clrMapOvr>
    <a:masterClrMapping/>
  </p:clrMapOvr>
  <p:transition>
    <p:checke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p:cNvSpPr>
            <a:spLocks noGrp="1"/>
          </p:cNvSpPr>
          <p:nvPr>
            <p:ph type="sldNum" sz="quarter" idx="12"/>
          </p:nvPr>
        </p:nvSpPr>
        <p:spPr>
          <a:noFill/>
        </p:spPr>
        <p:txBody>
          <a:bodyPr/>
          <a:lstStyle/>
          <a:p>
            <a:fld id="{B9AFD09B-B1E0-4A6E-A42D-90233274D747}" type="slidenum">
              <a:rPr lang="en-US" smtClean="0"/>
              <a:pPr/>
              <a:t>78</a:t>
            </a:fld>
            <a:endParaRPr lang="en-US" smtClean="0"/>
          </a:p>
        </p:txBody>
      </p:sp>
      <p:sp>
        <p:nvSpPr>
          <p:cNvPr id="80899" name="Rectangle 2"/>
          <p:cNvSpPr>
            <a:spLocks noGrp="1" noChangeArrowheads="1"/>
          </p:cNvSpPr>
          <p:nvPr>
            <p:ph type="title"/>
          </p:nvPr>
        </p:nvSpPr>
        <p:spPr>
          <a:xfrm>
            <a:off x="1066800" y="381000"/>
            <a:ext cx="7162800" cy="762000"/>
          </a:xfrm>
          <a:noFill/>
        </p:spPr>
        <p:txBody>
          <a:bodyPr lIns="92075" tIns="46038" rIns="92075" bIns="46038"/>
          <a:lstStyle/>
          <a:p>
            <a:pPr eaLnBrk="1" hangingPunct="1"/>
            <a:r>
              <a:rPr lang="en-US" smtClean="0"/>
              <a:t>Instance-Based Methods</a:t>
            </a:r>
          </a:p>
        </p:txBody>
      </p:sp>
      <p:sp>
        <p:nvSpPr>
          <p:cNvPr id="80900" name="Rectangle 3"/>
          <p:cNvSpPr>
            <a:spLocks noGrp="1" noChangeArrowheads="1"/>
          </p:cNvSpPr>
          <p:nvPr>
            <p:ph type="body" idx="1"/>
          </p:nvPr>
        </p:nvSpPr>
        <p:spPr>
          <a:xfrm>
            <a:off x="533400" y="1219200"/>
            <a:ext cx="8077200" cy="5029200"/>
          </a:xfrm>
          <a:noFill/>
        </p:spPr>
        <p:txBody>
          <a:bodyPr lIns="92075" tIns="46038" rIns="92075" bIns="46038"/>
          <a:lstStyle/>
          <a:p>
            <a:pPr eaLnBrk="1" hangingPunct="1"/>
            <a:r>
              <a:rPr lang="en-US" sz="2800" smtClean="0"/>
              <a:t>Instance-based learning: </a:t>
            </a:r>
          </a:p>
          <a:p>
            <a:pPr lvl="1" eaLnBrk="1" hangingPunct="1"/>
            <a:r>
              <a:rPr lang="en-US" sz="2400" smtClean="0"/>
              <a:t>Store training examples and delay the processing (“lazy evaluation”) until a new instance must be classified</a:t>
            </a:r>
          </a:p>
          <a:p>
            <a:pPr eaLnBrk="1" hangingPunct="1"/>
            <a:r>
              <a:rPr lang="en-US" sz="2800" smtClean="0"/>
              <a:t>Typical approaches</a:t>
            </a:r>
            <a:endParaRPr lang="en-US" sz="2800" u="sng" smtClean="0"/>
          </a:p>
          <a:p>
            <a:pPr lvl="1" eaLnBrk="1" hangingPunct="1"/>
            <a:r>
              <a:rPr lang="en-US" sz="2400" i="1" u="sng" smtClean="0"/>
              <a:t>k</a:t>
            </a:r>
            <a:r>
              <a:rPr lang="en-US" sz="2400" u="sng" smtClean="0"/>
              <a:t>-nearest neighbor approach</a:t>
            </a:r>
            <a:endParaRPr lang="en-US" sz="2400" smtClean="0"/>
          </a:p>
          <a:p>
            <a:pPr lvl="2" eaLnBrk="1" hangingPunct="1"/>
            <a:r>
              <a:rPr lang="en-US" smtClean="0"/>
              <a:t>Instances represented as points in a Euclidean space.</a:t>
            </a:r>
          </a:p>
          <a:p>
            <a:pPr lvl="1" eaLnBrk="1" hangingPunct="1"/>
            <a:r>
              <a:rPr lang="en-US" sz="2400" u="sng" smtClean="0"/>
              <a:t>Locally weighted regression</a:t>
            </a:r>
            <a:endParaRPr lang="en-US" sz="2400" smtClean="0"/>
          </a:p>
          <a:p>
            <a:pPr lvl="2" eaLnBrk="1" hangingPunct="1"/>
            <a:r>
              <a:rPr lang="en-US" smtClean="0"/>
              <a:t>Constructs local approximation</a:t>
            </a:r>
          </a:p>
          <a:p>
            <a:pPr lvl="1" eaLnBrk="1" hangingPunct="1"/>
            <a:r>
              <a:rPr lang="en-US" sz="2400" u="sng" smtClean="0"/>
              <a:t>Case-based reasoning</a:t>
            </a:r>
            <a:endParaRPr lang="en-US" sz="2400" smtClean="0"/>
          </a:p>
          <a:p>
            <a:pPr lvl="2" eaLnBrk="1" hangingPunct="1"/>
            <a:r>
              <a:rPr lang="en-US" smtClean="0"/>
              <a:t>Uses symbolic representations and knowledge-based inference</a:t>
            </a:r>
          </a:p>
        </p:txBody>
      </p:sp>
    </p:spTree>
  </p:cSld>
  <p:clrMapOvr>
    <a:masterClrMapping/>
  </p:clrMapOvr>
  <p:transition>
    <p:checke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r>
              <a:rPr lang="en-US" sz="3200" smtClean="0"/>
              <a:t>The </a:t>
            </a:r>
            <a:r>
              <a:rPr lang="en-US" sz="3200" i="1" smtClean="0"/>
              <a:t>k</a:t>
            </a:r>
            <a:r>
              <a:rPr lang="en-US" sz="3200" smtClean="0"/>
              <a:t>-Nearest Neighbor Algorithm</a:t>
            </a:r>
          </a:p>
        </p:txBody>
      </p:sp>
      <p:sp>
        <p:nvSpPr>
          <p:cNvPr id="81923" name="Slide Number Placeholder 3"/>
          <p:cNvSpPr>
            <a:spLocks noGrp="1"/>
          </p:cNvSpPr>
          <p:nvPr>
            <p:ph type="sldNum" sz="quarter" idx="12"/>
          </p:nvPr>
        </p:nvSpPr>
        <p:spPr>
          <a:noFill/>
        </p:spPr>
        <p:txBody>
          <a:bodyPr/>
          <a:lstStyle/>
          <a:p>
            <a:fld id="{C879DF4D-D0D3-467B-9A24-E8E197213189}" type="slidenum">
              <a:rPr lang="en-US" smtClean="0"/>
              <a:pPr/>
              <a:t>79</a:t>
            </a:fld>
            <a:endParaRPr lang="en-US" smtClean="0"/>
          </a:p>
        </p:txBody>
      </p:sp>
      <p:sp>
        <p:nvSpPr>
          <p:cNvPr id="81924" name="Content Placeholder 7"/>
          <p:cNvSpPr>
            <a:spLocks noGrp="1"/>
          </p:cNvSpPr>
          <p:nvPr>
            <p:ph idx="1"/>
          </p:nvPr>
        </p:nvSpPr>
        <p:spPr>
          <a:xfrm>
            <a:off x="457200" y="1295400"/>
            <a:ext cx="8229600" cy="5181600"/>
          </a:xfrm>
        </p:spPr>
        <p:txBody>
          <a:bodyPr/>
          <a:lstStyle/>
          <a:p>
            <a:r>
              <a:rPr lang="en-US" sz="2000" smtClean="0"/>
              <a:t>The </a:t>
            </a:r>
            <a:r>
              <a:rPr lang="en-US" sz="2000" i="1" smtClean="0"/>
              <a:t>k-nearest-neighbor method was first described in the early 1950s. The method is </a:t>
            </a:r>
            <a:r>
              <a:rPr lang="en-US" sz="2000" smtClean="0"/>
              <a:t>labor intensive when given large training sets, and did not gain popularity until the 1960s</a:t>
            </a:r>
          </a:p>
          <a:p>
            <a:endParaRPr lang="en-US" sz="2000" smtClean="0"/>
          </a:p>
          <a:p>
            <a:r>
              <a:rPr lang="en-US" sz="2000" smtClean="0"/>
              <a:t>when increased computing power became available. It has since been widely used in the area of pattern recognition.</a:t>
            </a:r>
          </a:p>
          <a:p>
            <a:endParaRPr lang="en-US" sz="2000" smtClean="0"/>
          </a:p>
          <a:p>
            <a:r>
              <a:rPr lang="en-US" sz="2000" smtClean="0"/>
              <a:t>Nearest-neighbor classifiers are based on learning by analogy, that is, by comparing a given test tuplewith training tuples that are similar to it. The training tuples are described by </a:t>
            </a:r>
            <a:r>
              <a:rPr lang="en-US" sz="2000" i="1" smtClean="0"/>
              <a:t>n attributes. </a:t>
            </a:r>
          </a:p>
          <a:p>
            <a:pPr>
              <a:buFontTx/>
              <a:buNone/>
            </a:pPr>
            <a:endParaRPr lang="en-US" sz="2000" i="1" smtClean="0"/>
          </a:p>
          <a:p>
            <a:r>
              <a:rPr lang="en-US" sz="2000" i="1" smtClean="0"/>
              <a:t>Each tuple represents a point in an n-dimensional space. </a:t>
            </a:r>
          </a:p>
          <a:p>
            <a:pPr>
              <a:buFontTx/>
              <a:buNone/>
            </a:pPr>
            <a:endParaRPr lang="en-US" sz="2000" i="1" smtClean="0"/>
          </a:p>
          <a:p>
            <a:r>
              <a:rPr lang="en-US" sz="2000" i="1" smtClean="0"/>
              <a:t>In this way, </a:t>
            </a:r>
            <a:r>
              <a:rPr lang="en-US" sz="2000" smtClean="0"/>
              <a:t>all of the training tuples are stored in an </a:t>
            </a:r>
            <a:r>
              <a:rPr lang="en-US" sz="2000" i="1" smtClean="0"/>
              <a:t>n-dimensional pattern space.</a:t>
            </a:r>
          </a:p>
          <a:p>
            <a:endParaRPr lang="en-US" sz="2000" smtClean="0"/>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Content Placeholder 2"/>
          <p:cNvSpPr>
            <a:spLocks noGrp="1"/>
          </p:cNvSpPr>
          <p:nvPr>
            <p:ph idx="1"/>
          </p:nvPr>
        </p:nvSpPr>
        <p:spPr>
          <a:xfrm>
            <a:off x="457200" y="533400"/>
            <a:ext cx="8229600" cy="5592763"/>
          </a:xfrm>
        </p:spPr>
        <p:txBody>
          <a:bodyPr/>
          <a:lstStyle/>
          <a:p>
            <a:r>
              <a:rPr lang="en-US" sz="2000" i="1" smtClean="0"/>
              <a:t> When given an </a:t>
            </a:r>
            <a:r>
              <a:rPr lang="en-US" sz="2000" smtClean="0"/>
              <a:t>unknown tuple, a </a:t>
            </a:r>
            <a:r>
              <a:rPr lang="en-US" sz="2000" b="1" i="1" smtClean="0"/>
              <a:t>k-nearest-neighbor classifier searches the pattern space for the k training </a:t>
            </a:r>
            <a:r>
              <a:rPr lang="en-US" sz="2000" smtClean="0"/>
              <a:t>tuples that are closest to the unknown tuple. </a:t>
            </a:r>
          </a:p>
          <a:p>
            <a:pPr>
              <a:buFontTx/>
              <a:buNone/>
            </a:pPr>
            <a:endParaRPr lang="en-US" sz="2000" smtClean="0"/>
          </a:p>
          <a:p>
            <a:r>
              <a:rPr lang="en-US" sz="2000" smtClean="0"/>
              <a:t>These </a:t>
            </a:r>
            <a:r>
              <a:rPr lang="en-US" sz="2000" i="1" smtClean="0"/>
              <a:t>k training tuples are the k “nearest </a:t>
            </a:r>
            <a:r>
              <a:rPr lang="en-US" sz="2000" smtClean="0"/>
              <a:t>neighbors” of the unknown tuple.</a:t>
            </a:r>
          </a:p>
          <a:p>
            <a:pPr>
              <a:buFontTx/>
              <a:buNone/>
            </a:pPr>
            <a:endParaRPr lang="en-US" sz="2000" smtClean="0"/>
          </a:p>
          <a:p>
            <a:r>
              <a:rPr lang="en-US" sz="2000" smtClean="0"/>
              <a:t>“Closeness” is defined in terms of a distance metric, such as Euclidean distance.</a:t>
            </a:r>
          </a:p>
          <a:p>
            <a:endParaRPr lang="en-US" sz="2000" smtClean="0"/>
          </a:p>
          <a:p>
            <a:r>
              <a:rPr lang="en-US" sz="2000" smtClean="0"/>
              <a:t>The Euclidean distance between two points or tuples, say, </a:t>
            </a:r>
            <a:r>
              <a:rPr lang="en-US" sz="2000" b="1" i="1" smtClean="0"/>
              <a:t>X1 = (x11, x12, : : : , x1n) and </a:t>
            </a:r>
            <a:r>
              <a:rPr lang="nl-NL" sz="2000" b="1" i="1" smtClean="0"/>
              <a:t>X2 = (x21, x22, : : : , x2n), is</a:t>
            </a:r>
          </a:p>
          <a:p>
            <a:endParaRPr lang="en-US" smtClean="0"/>
          </a:p>
        </p:txBody>
      </p:sp>
      <p:sp>
        <p:nvSpPr>
          <p:cNvPr id="82947" name="Slide Number Placeholder 3"/>
          <p:cNvSpPr>
            <a:spLocks noGrp="1"/>
          </p:cNvSpPr>
          <p:nvPr>
            <p:ph type="sldNum" sz="quarter" idx="12"/>
          </p:nvPr>
        </p:nvSpPr>
        <p:spPr>
          <a:noFill/>
        </p:spPr>
        <p:txBody>
          <a:bodyPr/>
          <a:lstStyle/>
          <a:p>
            <a:fld id="{38563131-77FD-4784-BD51-D3A429F34660}" type="slidenum">
              <a:rPr lang="en-US" smtClean="0"/>
              <a:pPr/>
              <a:t>80</a:t>
            </a:fld>
            <a:endParaRPr lang="en-US" smtClean="0"/>
          </a:p>
        </p:txBody>
      </p:sp>
      <p:pic>
        <p:nvPicPr>
          <p:cNvPr id="82948" name="Picture 3"/>
          <p:cNvPicPr>
            <a:picLocks noChangeAspect="1" noChangeArrowheads="1"/>
          </p:cNvPicPr>
          <p:nvPr/>
        </p:nvPicPr>
        <p:blipFill>
          <a:blip r:embed="rId2"/>
          <a:srcRect/>
          <a:stretch>
            <a:fillRect/>
          </a:stretch>
        </p:blipFill>
        <p:spPr bwMode="auto">
          <a:xfrm>
            <a:off x="2971800" y="5181600"/>
            <a:ext cx="3352800" cy="1219200"/>
          </a:xfrm>
          <a:prstGeom prst="rect">
            <a:avLst/>
          </a:prstGeom>
          <a:noFill/>
          <a:ln w="9525">
            <a:noFill/>
            <a:miter lim="800000"/>
            <a:headEnd/>
            <a:tailEnd/>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Content Placeholder 2"/>
          <p:cNvSpPr>
            <a:spLocks noGrp="1"/>
          </p:cNvSpPr>
          <p:nvPr>
            <p:ph idx="1"/>
          </p:nvPr>
        </p:nvSpPr>
        <p:spPr>
          <a:xfrm>
            <a:off x="457200" y="228600"/>
            <a:ext cx="8229600" cy="5897563"/>
          </a:xfrm>
        </p:spPr>
        <p:txBody>
          <a:bodyPr/>
          <a:lstStyle/>
          <a:p>
            <a:r>
              <a:rPr lang="en-US" sz="2400" smtClean="0"/>
              <a:t>For </a:t>
            </a:r>
            <a:r>
              <a:rPr lang="en-US" sz="2400" i="1" smtClean="0"/>
              <a:t>k-nearest-neighbor classification, the unknown tuple is assigned the most </a:t>
            </a:r>
            <a:r>
              <a:rPr lang="en-US" sz="2400" smtClean="0"/>
              <a:t>common class among its </a:t>
            </a:r>
            <a:r>
              <a:rPr lang="en-US" sz="2400" i="1" smtClean="0"/>
              <a:t>k nearest neighbors. </a:t>
            </a:r>
          </a:p>
          <a:p>
            <a:r>
              <a:rPr lang="en-US" sz="2400" i="1" smtClean="0"/>
              <a:t>When k = 1, the unknown tuple is </a:t>
            </a:r>
            <a:r>
              <a:rPr lang="en-US" sz="2400" smtClean="0"/>
              <a:t>assigned the class of the training tuple that is closest to it in pattern space.</a:t>
            </a:r>
          </a:p>
          <a:p>
            <a:r>
              <a:rPr lang="en-US" sz="2400" smtClean="0"/>
              <a:t>Nearest neighbor classifiers can also be used for prediction, that is, to return a real-valued prediction for a given unknown tuple.</a:t>
            </a:r>
          </a:p>
          <a:p>
            <a:endParaRPr lang="en-US" sz="2400" smtClean="0"/>
          </a:p>
          <a:p>
            <a:endParaRPr lang="en-US" sz="2400" smtClean="0"/>
          </a:p>
        </p:txBody>
      </p:sp>
      <p:sp>
        <p:nvSpPr>
          <p:cNvPr id="83971" name="Slide Number Placeholder 3"/>
          <p:cNvSpPr>
            <a:spLocks noGrp="1"/>
          </p:cNvSpPr>
          <p:nvPr>
            <p:ph type="sldNum" sz="quarter" idx="12"/>
          </p:nvPr>
        </p:nvSpPr>
        <p:spPr>
          <a:noFill/>
        </p:spPr>
        <p:txBody>
          <a:bodyPr/>
          <a:lstStyle/>
          <a:p>
            <a:fld id="{D214DF92-15DB-4C87-B6AC-39FFFE1A4320}" type="slidenum">
              <a:rPr lang="en-US" smtClean="0"/>
              <a:pPr/>
              <a:t>81</a:t>
            </a:fld>
            <a:endParaRPr lang="en-US" smtClean="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p:cNvSpPr>
            <a:spLocks noGrp="1"/>
          </p:cNvSpPr>
          <p:nvPr>
            <p:ph type="sldNum" sz="quarter" idx="12"/>
          </p:nvPr>
        </p:nvSpPr>
        <p:spPr>
          <a:noFill/>
        </p:spPr>
        <p:txBody>
          <a:bodyPr/>
          <a:lstStyle/>
          <a:p>
            <a:fld id="{96DF33F1-FC44-4D2D-A320-284F30B3FCD4}" type="slidenum">
              <a:rPr lang="en-US" smtClean="0"/>
              <a:pPr/>
              <a:t>82</a:t>
            </a:fld>
            <a:endParaRPr lang="en-US" smtClean="0"/>
          </a:p>
        </p:txBody>
      </p:sp>
      <p:sp>
        <p:nvSpPr>
          <p:cNvPr id="84995" name="Rectangle 2"/>
          <p:cNvSpPr>
            <a:spLocks noGrp="1" noChangeArrowheads="1"/>
          </p:cNvSpPr>
          <p:nvPr>
            <p:ph type="title"/>
          </p:nvPr>
        </p:nvSpPr>
        <p:spPr>
          <a:xfrm>
            <a:off x="1143000" y="457200"/>
            <a:ext cx="7848600" cy="609600"/>
          </a:xfrm>
          <a:noFill/>
        </p:spPr>
        <p:txBody>
          <a:bodyPr lIns="92075" tIns="46038" rIns="92075" bIns="46038"/>
          <a:lstStyle/>
          <a:p>
            <a:pPr eaLnBrk="1" hangingPunct="1"/>
            <a:r>
              <a:rPr lang="en-US" smtClean="0"/>
              <a:t>Remarks on Lazy vs. Eager Learning</a:t>
            </a:r>
          </a:p>
        </p:txBody>
      </p:sp>
      <p:sp>
        <p:nvSpPr>
          <p:cNvPr id="84996" name="Rectangle 3"/>
          <p:cNvSpPr>
            <a:spLocks noGrp="1" noChangeArrowheads="1"/>
          </p:cNvSpPr>
          <p:nvPr>
            <p:ph type="body" idx="1"/>
          </p:nvPr>
        </p:nvSpPr>
        <p:spPr>
          <a:xfrm>
            <a:off x="228600" y="1524000"/>
            <a:ext cx="8610600" cy="5029200"/>
          </a:xfrm>
          <a:noFill/>
        </p:spPr>
        <p:txBody>
          <a:bodyPr lIns="92075" tIns="46038" rIns="92075" bIns="46038"/>
          <a:lstStyle/>
          <a:p>
            <a:pPr eaLnBrk="1" hangingPunct="1">
              <a:lnSpc>
                <a:spcPct val="90000"/>
              </a:lnSpc>
            </a:pPr>
            <a:r>
              <a:rPr lang="en-US" sz="2400" u="sng" smtClean="0"/>
              <a:t>Instance-based learning:</a:t>
            </a:r>
            <a:r>
              <a:rPr lang="en-US" sz="2400" smtClean="0"/>
              <a:t>  lazy evaluation </a:t>
            </a:r>
          </a:p>
          <a:p>
            <a:pPr eaLnBrk="1" hangingPunct="1">
              <a:lnSpc>
                <a:spcPct val="90000"/>
              </a:lnSpc>
            </a:pPr>
            <a:r>
              <a:rPr lang="en-US" sz="2400" u="sng" smtClean="0"/>
              <a:t>Decision-tree and Bayesian classification</a:t>
            </a:r>
            <a:r>
              <a:rPr lang="en-US" sz="2400" smtClean="0"/>
              <a:t>:  eager evaluation</a:t>
            </a:r>
          </a:p>
          <a:p>
            <a:pPr eaLnBrk="1" hangingPunct="1">
              <a:lnSpc>
                <a:spcPct val="90000"/>
              </a:lnSpc>
            </a:pPr>
            <a:r>
              <a:rPr lang="en-US" sz="2400" u="sng" smtClean="0"/>
              <a:t>Key differences</a:t>
            </a:r>
          </a:p>
          <a:p>
            <a:pPr lvl="1" eaLnBrk="1" hangingPunct="1">
              <a:lnSpc>
                <a:spcPct val="90000"/>
              </a:lnSpc>
            </a:pPr>
            <a:r>
              <a:rPr lang="en-US" sz="2000" smtClean="0"/>
              <a:t>Lazy method may consider query instance </a:t>
            </a:r>
            <a:r>
              <a:rPr lang="en-US" sz="2000" i="1" smtClean="0"/>
              <a:t>xq</a:t>
            </a:r>
            <a:r>
              <a:rPr lang="en-US" sz="2000" smtClean="0"/>
              <a:t> when deciding how to generalize beyond the training data </a:t>
            </a:r>
            <a:r>
              <a:rPr lang="en-US" sz="2000" i="1" smtClean="0"/>
              <a:t>D</a:t>
            </a:r>
            <a:endParaRPr lang="en-US" sz="2000" smtClean="0"/>
          </a:p>
          <a:p>
            <a:pPr lvl="1" eaLnBrk="1" hangingPunct="1">
              <a:lnSpc>
                <a:spcPct val="90000"/>
              </a:lnSpc>
            </a:pPr>
            <a:r>
              <a:rPr lang="en-US" sz="2000" smtClean="0"/>
              <a:t>Eager method cannot since they have already chosen global approximation when seeing the query</a:t>
            </a:r>
          </a:p>
          <a:p>
            <a:pPr eaLnBrk="1" hangingPunct="1">
              <a:lnSpc>
                <a:spcPct val="90000"/>
              </a:lnSpc>
            </a:pPr>
            <a:r>
              <a:rPr lang="en-US" sz="2400" smtClean="0"/>
              <a:t>Efficiency: Lazy - less time training but more time predicting</a:t>
            </a:r>
          </a:p>
          <a:p>
            <a:pPr eaLnBrk="1" hangingPunct="1">
              <a:lnSpc>
                <a:spcPct val="90000"/>
              </a:lnSpc>
            </a:pPr>
            <a:r>
              <a:rPr lang="en-US" sz="2400" smtClean="0"/>
              <a:t>Accuracy</a:t>
            </a:r>
          </a:p>
          <a:p>
            <a:pPr lvl="1" eaLnBrk="1" hangingPunct="1">
              <a:lnSpc>
                <a:spcPct val="90000"/>
              </a:lnSpc>
            </a:pPr>
            <a:r>
              <a:rPr lang="en-US" sz="2000" smtClean="0"/>
              <a:t>Lazy method effectively uses a richer hypothesis space since it uses many local linear functions to form its implicit global approximation to the target function</a:t>
            </a:r>
          </a:p>
          <a:p>
            <a:pPr lvl="1" eaLnBrk="1" hangingPunct="1">
              <a:lnSpc>
                <a:spcPct val="90000"/>
              </a:lnSpc>
            </a:pPr>
            <a:r>
              <a:rPr lang="en-US" sz="2000" smtClean="0"/>
              <a:t>Eager: must commit to a single hypothesis that covers the entire instance space</a:t>
            </a:r>
          </a:p>
        </p:txBody>
      </p:sp>
    </p:spTree>
  </p:cSld>
  <p:clrMapOvr>
    <a:masterClrMapping/>
  </p:clrMapOvr>
  <p:transition>
    <p:checke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p:cNvSpPr>
            <a:spLocks noGrp="1"/>
          </p:cNvSpPr>
          <p:nvPr>
            <p:ph type="sldNum" sz="quarter" idx="12"/>
          </p:nvPr>
        </p:nvSpPr>
        <p:spPr>
          <a:noFill/>
        </p:spPr>
        <p:txBody>
          <a:bodyPr/>
          <a:lstStyle/>
          <a:p>
            <a:fld id="{7941EF96-2C7C-4177-AA52-7AFD13FE1C7D}" type="slidenum">
              <a:rPr lang="en-US" smtClean="0"/>
              <a:pPr/>
              <a:t>83</a:t>
            </a:fld>
            <a:endParaRPr lang="en-US" smtClean="0"/>
          </a:p>
        </p:txBody>
      </p:sp>
      <p:sp>
        <p:nvSpPr>
          <p:cNvPr id="86019" name="Rectangle 2"/>
          <p:cNvSpPr>
            <a:spLocks noGrp="1" noChangeArrowheads="1"/>
          </p:cNvSpPr>
          <p:nvPr>
            <p:ph type="title"/>
          </p:nvPr>
        </p:nvSpPr>
        <p:spPr>
          <a:xfrm>
            <a:off x="609600" y="381000"/>
            <a:ext cx="7848600" cy="990600"/>
          </a:xfrm>
          <a:noFill/>
        </p:spPr>
        <p:txBody>
          <a:bodyPr lIns="92075" tIns="46038" rIns="92075" bIns="46038"/>
          <a:lstStyle/>
          <a:p>
            <a:pPr eaLnBrk="1" hangingPunct="1"/>
            <a:r>
              <a:rPr lang="en-US" smtClean="0"/>
              <a:t>Classification and Prediction</a:t>
            </a:r>
          </a:p>
        </p:txBody>
      </p:sp>
      <p:sp>
        <p:nvSpPr>
          <p:cNvPr id="86020" name="Rectangle 3"/>
          <p:cNvSpPr>
            <a:spLocks noGrp="1" noChangeArrowheads="1"/>
          </p:cNvSpPr>
          <p:nvPr>
            <p:ph type="body" idx="1"/>
          </p:nvPr>
        </p:nvSpPr>
        <p:spPr>
          <a:xfrm>
            <a:off x="685800" y="1295400"/>
            <a:ext cx="7924800" cy="50292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solidFill>
                  <a:schemeClr val="hlink"/>
                </a:solidFill>
              </a:rPr>
              <a:t>Prediction</a:t>
            </a:r>
          </a:p>
          <a:p>
            <a:pPr eaLnBrk="1" hangingPunct="1">
              <a:lnSpc>
                <a:spcPct val="90000"/>
              </a:lnSpc>
            </a:pPr>
            <a:r>
              <a:rPr lang="en-US" sz="2800" smtClean="0"/>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5"/>
          <p:cNvSpPr>
            <a:spLocks noGrp="1"/>
          </p:cNvSpPr>
          <p:nvPr>
            <p:ph type="sldNum" sz="quarter" idx="12"/>
          </p:nvPr>
        </p:nvSpPr>
        <p:spPr>
          <a:noFill/>
        </p:spPr>
        <p:txBody>
          <a:bodyPr/>
          <a:lstStyle/>
          <a:p>
            <a:fld id="{822D01C4-00C8-4F5A-9C40-1BBB4D2E2EC9}" type="slidenum">
              <a:rPr lang="en-US" smtClean="0"/>
              <a:pPr/>
              <a:t>84</a:t>
            </a:fld>
            <a:endParaRPr lang="en-US" smtClean="0"/>
          </a:p>
        </p:txBody>
      </p:sp>
      <p:sp>
        <p:nvSpPr>
          <p:cNvPr id="87043" name="Rectangle 2"/>
          <p:cNvSpPr>
            <a:spLocks noGrp="1" noChangeArrowheads="1"/>
          </p:cNvSpPr>
          <p:nvPr>
            <p:ph type="title"/>
          </p:nvPr>
        </p:nvSpPr>
        <p:spPr>
          <a:xfrm>
            <a:off x="609600" y="914400"/>
            <a:ext cx="5410200" cy="685800"/>
          </a:xfrm>
        </p:spPr>
        <p:txBody>
          <a:bodyPr/>
          <a:lstStyle/>
          <a:p>
            <a:pPr eaLnBrk="1" hangingPunct="1"/>
            <a:r>
              <a:rPr lang="en-US" smtClean="0"/>
              <a:t>What Is Prediction?</a:t>
            </a:r>
          </a:p>
        </p:txBody>
      </p:sp>
      <p:sp>
        <p:nvSpPr>
          <p:cNvPr id="87044" name="Rectangle 3"/>
          <p:cNvSpPr>
            <a:spLocks noGrp="1" noChangeArrowheads="1"/>
          </p:cNvSpPr>
          <p:nvPr>
            <p:ph type="body" idx="1"/>
          </p:nvPr>
        </p:nvSpPr>
        <p:spPr>
          <a:xfrm>
            <a:off x="685800" y="1752600"/>
            <a:ext cx="8077200" cy="4495800"/>
          </a:xfrm>
        </p:spPr>
        <p:txBody>
          <a:bodyPr/>
          <a:lstStyle/>
          <a:p>
            <a:pPr eaLnBrk="1" hangingPunct="1">
              <a:lnSpc>
                <a:spcPct val="110000"/>
              </a:lnSpc>
            </a:pPr>
            <a:r>
              <a:rPr lang="en-US" sz="2800" smtClean="0"/>
              <a:t>Prediction is similar to classification</a:t>
            </a:r>
          </a:p>
          <a:p>
            <a:pPr lvl="1" eaLnBrk="1" hangingPunct="1">
              <a:lnSpc>
                <a:spcPct val="110000"/>
              </a:lnSpc>
            </a:pPr>
            <a:r>
              <a:rPr lang="en-US" sz="2400" smtClean="0"/>
              <a:t>First, construct a model</a:t>
            </a:r>
          </a:p>
          <a:p>
            <a:pPr lvl="1" eaLnBrk="1" hangingPunct="1">
              <a:lnSpc>
                <a:spcPct val="110000"/>
              </a:lnSpc>
            </a:pPr>
            <a:r>
              <a:rPr lang="en-US" sz="2400" smtClean="0"/>
              <a:t>Second, use model to predict unknown value</a:t>
            </a:r>
          </a:p>
          <a:p>
            <a:pPr lvl="2" eaLnBrk="1" hangingPunct="1">
              <a:lnSpc>
                <a:spcPct val="110000"/>
              </a:lnSpc>
            </a:pPr>
            <a:r>
              <a:rPr lang="en-US" smtClean="0"/>
              <a:t>Major method for prediction is regression</a:t>
            </a:r>
          </a:p>
          <a:p>
            <a:pPr lvl="3" eaLnBrk="1" hangingPunct="1">
              <a:lnSpc>
                <a:spcPct val="110000"/>
              </a:lnSpc>
            </a:pPr>
            <a:r>
              <a:rPr lang="en-US" sz="2400" smtClean="0"/>
              <a:t>Linear and multiple regression</a:t>
            </a:r>
          </a:p>
          <a:p>
            <a:pPr lvl="3" eaLnBrk="1" hangingPunct="1">
              <a:lnSpc>
                <a:spcPct val="110000"/>
              </a:lnSpc>
            </a:pPr>
            <a:r>
              <a:rPr lang="en-US" sz="2400" smtClean="0"/>
              <a:t>Non-linear regression</a:t>
            </a:r>
          </a:p>
          <a:p>
            <a:pPr eaLnBrk="1" hangingPunct="1">
              <a:lnSpc>
                <a:spcPct val="110000"/>
              </a:lnSpc>
            </a:pPr>
            <a:r>
              <a:rPr lang="en-US" sz="2800" smtClean="0"/>
              <a:t>Prediction is different from classification</a:t>
            </a:r>
          </a:p>
          <a:p>
            <a:pPr lvl="1" eaLnBrk="1" hangingPunct="1">
              <a:lnSpc>
                <a:spcPct val="110000"/>
              </a:lnSpc>
            </a:pPr>
            <a:r>
              <a:rPr lang="en-US" sz="2400" smtClean="0"/>
              <a:t>Classification refers to predict categorical class label</a:t>
            </a:r>
          </a:p>
          <a:p>
            <a:pPr lvl="1" eaLnBrk="1" hangingPunct="1">
              <a:lnSpc>
                <a:spcPct val="110000"/>
              </a:lnSpc>
            </a:pPr>
            <a:r>
              <a:rPr lang="en-US" sz="2400" smtClean="0"/>
              <a:t>Prediction models continuous-valued functions</a:t>
            </a:r>
          </a:p>
        </p:txBody>
      </p:sp>
    </p:spTree>
  </p:cSld>
  <p:clrMapOvr>
    <a:masterClrMapping/>
  </p:clrMapOvr>
  <p:transition>
    <p:checke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p:cNvSpPr>
            <a:spLocks noGrp="1"/>
          </p:cNvSpPr>
          <p:nvPr>
            <p:ph type="sldNum" sz="quarter" idx="12"/>
          </p:nvPr>
        </p:nvSpPr>
        <p:spPr>
          <a:noFill/>
        </p:spPr>
        <p:txBody>
          <a:bodyPr/>
          <a:lstStyle/>
          <a:p>
            <a:fld id="{2B3E3DD0-F1A8-41A5-938E-94033DD8A95A}" type="slidenum">
              <a:rPr lang="en-US" smtClean="0"/>
              <a:pPr/>
              <a:t>85</a:t>
            </a:fld>
            <a:endParaRPr lang="en-US" smtClean="0"/>
          </a:p>
        </p:txBody>
      </p:sp>
      <p:sp>
        <p:nvSpPr>
          <p:cNvPr id="88067" name="Rectangle 2"/>
          <p:cNvSpPr>
            <a:spLocks noGrp="1" noChangeArrowheads="1"/>
          </p:cNvSpPr>
          <p:nvPr>
            <p:ph type="body" idx="1"/>
          </p:nvPr>
        </p:nvSpPr>
        <p:spPr>
          <a:xfrm>
            <a:off x="381000" y="1066800"/>
            <a:ext cx="8534400" cy="4876800"/>
          </a:xfrm>
          <a:noFill/>
        </p:spPr>
        <p:txBody>
          <a:bodyPr lIns="92075" tIns="46038" rIns="92075" bIns="46038"/>
          <a:lstStyle/>
          <a:p>
            <a:pPr eaLnBrk="1" hangingPunct="1">
              <a:lnSpc>
                <a:spcPct val="90000"/>
              </a:lnSpc>
            </a:pPr>
            <a:r>
              <a:rPr lang="en-US" sz="2400" smtClean="0"/>
              <a:t>Predictive modeling: Predict data values or construct   generalized linear models based on the database data.</a:t>
            </a:r>
          </a:p>
          <a:p>
            <a:pPr eaLnBrk="1" hangingPunct="1">
              <a:lnSpc>
                <a:spcPct val="90000"/>
              </a:lnSpc>
            </a:pPr>
            <a:r>
              <a:rPr lang="en-US" sz="2400" smtClean="0"/>
              <a:t>One can only predict value ranges or category distributions</a:t>
            </a:r>
          </a:p>
          <a:p>
            <a:pPr eaLnBrk="1" hangingPunct="1">
              <a:lnSpc>
                <a:spcPct val="90000"/>
              </a:lnSpc>
            </a:pPr>
            <a:r>
              <a:rPr lang="en-US" sz="2400" smtClean="0"/>
              <a:t>Method outline:</a:t>
            </a:r>
          </a:p>
          <a:p>
            <a:pPr lvl="1" eaLnBrk="1" hangingPunct="1">
              <a:lnSpc>
                <a:spcPct val="90000"/>
              </a:lnSpc>
            </a:pPr>
            <a:r>
              <a:rPr lang="en-US" sz="2400" smtClean="0"/>
              <a:t> Minimal generalization</a:t>
            </a:r>
          </a:p>
          <a:p>
            <a:pPr lvl="1" eaLnBrk="1" hangingPunct="1">
              <a:lnSpc>
                <a:spcPct val="90000"/>
              </a:lnSpc>
            </a:pPr>
            <a:r>
              <a:rPr lang="en-US" sz="2400" smtClean="0"/>
              <a:t> Attribute relevance analysis</a:t>
            </a:r>
          </a:p>
          <a:p>
            <a:pPr lvl="1" eaLnBrk="1" hangingPunct="1">
              <a:lnSpc>
                <a:spcPct val="90000"/>
              </a:lnSpc>
            </a:pPr>
            <a:r>
              <a:rPr lang="en-US" sz="2400" smtClean="0"/>
              <a:t> Generalized linear model construction</a:t>
            </a:r>
          </a:p>
          <a:p>
            <a:pPr lvl="1" eaLnBrk="1" hangingPunct="1">
              <a:lnSpc>
                <a:spcPct val="90000"/>
              </a:lnSpc>
            </a:pPr>
            <a:r>
              <a:rPr lang="en-US" sz="2400" smtClean="0"/>
              <a:t> Prediction</a:t>
            </a:r>
          </a:p>
          <a:p>
            <a:pPr eaLnBrk="1" hangingPunct="1">
              <a:lnSpc>
                <a:spcPct val="90000"/>
              </a:lnSpc>
            </a:pPr>
            <a:r>
              <a:rPr lang="en-US" sz="2400" smtClean="0"/>
              <a:t>Determine the major factors which influence the prediction</a:t>
            </a:r>
          </a:p>
          <a:p>
            <a:pPr lvl="1" eaLnBrk="1" hangingPunct="1">
              <a:lnSpc>
                <a:spcPct val="90000"/>
              </a:lnSpc>
            </a:pPr>
            <a:r>
              <a:rPr lang="en-US" sz="2400" smtClean="0"/>
              <a:t>Data relevance analysis: uncertainty measurement, entropy analysis, expert judgement, etc.</a:t>
            </a:r>
          </a:p>
          <a:p>
            <a:pPr eaLnBrk="1" hangingPunct="1">
              <a:lnSpc>
                <a:spcPct val="90000"/>
              </a:lnSpc>
            </a:pPr>
            <a:r>
              <a:rPr lang="en-US" sz="2400" smtClean="0"/>
              <a:t>Multi-level prediction: drill-down and roll-up analysis</a:t>
            </a:r>
          </a:p>
        </p:txBody>
      </p:sp>
      <p:sp>
        <p:nvSpPr>
          <p:cNvPr id="88068" name="Rectangle 3"/>
          <p:cNvSpPr>
            <a:spLocks noGrp="1" noChangeArrowheads="1"/>
          </p:cNvSpPr>
          <p:nvPr>
            <p:ph type="title"/>
          </p:nvPr>
        </p:nvSpPr>
        <p:spPr>
          <a:xfrm>
            <a:off x="228600" y="228600"/>
            <a:ext cx="8915400" cy="914400"/>
          </a:xfrm>
          <a:noFill/>
        </p:spPr>
        <p:txBody>
          <a:bodyPr lIns="92075" tIns="46038" rIns="92075" bIns="46038"/>
          <a:lstStyle/>
          <a:p>
            <a:pPr eaLnBrk="1" hangingPunct="1"/>
            <a:r>
              <a:rPr lang="en-US" smtClean="0"/>
              <a:t>Predictive Modeling in Databases</a:t>
            </a:r>
            <a:endParaRPr lang="en-US" sz="3200" smtClean="0"/>
          </a:p>
        </p:txBody>
      </p:sp>
    </p:spTree>
  </p:cSld>
  <p:clrMapOvr>
    <a:masterClrMapping/>
  </p:clrMapOvr>
  <p:transition>
    <p:checke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5"/>
          <p:cNvSpPr>
            <a:spLocks noGrp="1"/>
          </p:cNvSpPr>
          <p:nvPr>
            <p:ph type="sldNum" sz="quarter" idx="12"/>
          </p:nvPr>
        </p:nvSpPr>
        <p:spPr>
          <a:noFill/>
        </p:spPr>
        <p:txBody>
          <a:bodyPr/>
          <a:lstStyle/>
          <a:p>
            <a:fld id="{73664B1F-04AA-417A-86C3-6A939D5AA0E4}" type="slidenum">
              <a:rPr lang="en-US" smtClean="0"/>
              <a:pPr/>
              <a:t>86</a:t>
            </a:fld>
            <a:endParaRPr lang="en-US" smtClean="0"/>
          </a:p>
        </p:txBody>
      </p:sp>
      <p:sp>
        <p:nvSpPr>
          <p:cNvPr id="89091" name="Rectangle 2"/>
          <p:cNvSpPr>
            <a:spLocks noGrp="1" noChangeArrowheads="1"/>
          </p:cNvSpPr>
          <p:nvPr>
            <p:ph type="body" idx="1"/>
          </p:nvPr>
        </p:nvSpPr>
        <p:spPr>
          <a:xfrm>
            <a:off x="533400" y="1524000"/>
            <a:ext cx="8382000" cy="5029200"/>
          </a:xfrm>
          <a:noFill/>
        </p:spPr>
        <p:txBody>
          <a:bodyPr lIns="92075" tIns="46038" rIns="92075" bIns="46038"/>
          <a:lstStyle/>
          <a:p>
            <a:pPr eaLnBrk="1" hangingPunct="1"/>
            <a:r>
              <a:rPr lang="en-US" sz="2800" u="sng" smtClean="0"/>
              <a:t>Linear regression</a:t>
            </a:r>
            <a:r>
              <a:rPr lang="en-US" sz="2400" smtClean="0"/>
              <a:t>: Y = </a:t>
            </a:r>
            <a:r>
              <a:rPr lang="en-US" sz="2400" smtClean="0">
                <a:sym typeface="Symbol" pitchFamily="18" charset="2"/>
              </a:rPr>
              <a:t> +  X</a:t>
            </a:r>
            <a:endParaRPr lang="en-US" sz="2400" smtClean="0"/>
          </a:p>
          <a:p>
            <a:pPr lvl="1" eaLnBrk="1" hangingPunct="1"/>
            <a:r>
              <a:rPr lang="en-US" sz="2400" smtClean="0"/>
              <a:t>Two parameters , </a:t>
            </a:r>
            <a:r>
              <a:rPr lang="en-US" sz="2400" smtClean="0">
                <a:sym typeface="Symbol" pitchFamily="18" charset="2"/>
              </a:rPr>
              <a:t>  and </a:t>
            </a:r>
            <a:r>
              <a:rPr lang="en-US" sz="2400" smtClean="0"/>
              <a:t> specify the line and are to be estimated by using the data at hand.</a:t>
            </a:r>
          </a:p>
          <a:p>
            <a:pPr lvl="1" eaLnBrk="1" hangingPunct="1"/>
            <a:r>
              <a:rPr lang="en-US" sz="2400" smtClean="0"/>
              <a:t>using the least squares criterion to the known values of Y</a:t>
            </a:r>
            <a:r>
              <a:rPr lang="en-US" sz="1800" smtClean="0"/>
              <a:t>1</a:t>
            </a:r>
            <a:r>
              <a:rPr lang="en-US" sz="2400" smtClean="0"/>
              <a:t>, Y</a:t>
            </a:r>
            <a:r>
              <a:rPr lang="en-US" sz="1800" smtClean="0"/>
              <a:t>2</a:t>
            </a:r>
            <a:r>
              <a:rPr lang="en-US" sz="2400" smtClean="0"/>
              <a:t>, …, X</a:t>
            </a:r>
            <a:r>
              <a:rPr lang="en-US" sz="1800" smtClean="0"/>
              <a:t>1</a:t>
            </a:r>
            <a:r>
              <a:rPr lang="en-US" sz="2400" smtClean="0"/>
              <a:t>, X</a:t>
            </a:r>
            <a:r>
              <a:rPr lang="en-US" sz="2000" smtClean="0"/>
              <a:t>2</a:t>
            </a:r>
            <a:r>
              <a:rPr lang="en-US" sz="2400" smtClean="0"/>
              <a:t>, ….</a:t>
            </a:r>
          </a:p>
          <a:p>
            <a:pPr eaLnBrk="1" hangingPunct="1"/>
            <a:r>
              <a:rPr lang="en-US" sz="2800" u="sng" smtClean="0"/>
              <a:t>Multiple regression</a:t>
            </a:r>
            <a:r>
              <a:rPr lang="en-US" sz="2400" smtClean="0"/>
              <a:t>: Y = b0 + b1 X1 + b2 X2.</a:t>
            </a:r>
            <a:endParaRPr lang="en-US" sz="2800" smtClean="0"/>
          </a:p>
          <a:p>
            <a:pPr lvl="1" eaLnBrk="1" hangingPunct="1"/>
            <a:r>
              <a:rPr lang="en-US" sz="2400" smtClean="0"/>
              <a:t>Many nonlinear functions can be transformed into the above.</a:t>
            </a:r>
          </a:p>
          <a:p>
            <a:pPr eaLnBrk="1" hangingPunct="1"/>
            <a:r>
              <a:rPr lang="en-US" sz="2800" u="sng" smtClean="0"/>
              <a:t>Log-linear models</a:t>
            </a:r>
            <a:r>
              <a:rPr lang="en-US" sz="2400" smtClean="0"/>
              <a:t>:</a:t>
            </a:r>
          </a:p>
          <a:p>
            <a:pPr lvl="1" eaLnBrk="1" hangingPunct="1"/>
            <a:r>
              <a:rPr lang="en-US" sz="2400" smtClean="0"/>
              <a:t>The multi-way table of joint probabilities is approximated by a product of lower-order tables.</a:t>
            </a:r>
          </a:p>
          <a:p>
            <a:pPr lvl="1" eaLnBrk="1" hangingPunct="1"/>
            <a:r>
              <a:rPr lang="en-US" sz="2400" smtClean="0"/>
              <a:t>Probability:  </a:t>
            </a:r>
            <a:r>
              <a:rPr lang="en-US" sz="2400" i="1" smtClean="0"/>
              <a:t>p(a, b, c, d) = </a:t>
            </a:r>
            <a:r>
              <a:rPr lang="en-US" i="1" smtClean="0">
                <a:sym typeface="Symbol" pitchFamily="18" charset="2"/>
              </a:rPr>
              <a:t></a:t>
            </a:r>
            <a:r>
              <a:rPr lang="en-US" sz="2000" i="1" smtClean="0">
                <a:sym typeface="Symbol" pitchFamily="18" charset="2"/>
              </a:rPr>
              <a:t>ab </a:t>
            </a:r>
            <a:r>
              <a:rPr lang="en-US" i="1" smtClean="0">
                <a:sym typeface="Symbol" pitchFamily="18" charset="2"/>
              </a:rPr>
              <a:t></a:t>
            </a:r>
            <a:r>
              <a:rPr lang="en-US" sz="2000" i="1" smtClean="0">
                <a:sym typeface="Symbol" pitchFamily="18" charset="2"/>
              </a:rPr>
              <a:t>ac</a:t>
            </a:r>
            <a:r>
              <a:rPr lang="en-US" i="1" smtClean="0">
                <a:sym typeface="Symbol" pitchFamily="18" charset="2"/>
              </a:rPr>
              <a:t></a:t>
            </a:r>
            <a:r>
              <a:rPr lang="en-US" sz="2000" i="1" smtClean="0">
                <a:sym typeface="Symbol" pitchFamily="18" charset="2"/>
              </a:rPr>
              <a:t>ad</a:t>
            </a:r>
            <a:r>
              <a:rPr lang="en-US" i="1" smtClean="0">
                <a:sym typeface="Symbol" pitchFamily="18" charset="2"/>
              </a:rPr>
              <a:t> </a:t>
            </a:r>
            <a:r>
              <a:rPr lang="en-US" sz="2000" i="1" smtClean="0">
                <a:sym typeface="Symbol" pitchFamily="18" charset="2"/>
              </a:rPr>
              <a:t>bcd</a:t>
            </a:r>
            <a:endParaRPr lang="en-US" sz="2000" i="1" smtClean="0"/>
          </a:p>
        </p:txBody>
      </p:sp>
      <p:sp>
        <p:nvSpPr>
          <p:cNvPr id="89092" name="Rectangle 3"/>
          <p:cNvSpPr>
            <a:spLocks noGrp="1" noChangeArrowheads="1"/>
          </p:cNvSpPr>
          <p:nvPr>
            <p:ph type="title"/>
          </p:nvPr>
        </p:nvSpPr>
        <p:spPr>
          <a:xfrm>
            <a:off x="228600" y="304800"/>
            <a:ext cx="8382000" cy="838200"/>
          </a:xfrm>
          <a:noFill/>
        </p:spPr>
        <p:txBody>
          <a:bodyPr lIns="92075" tIns="46038" rIns="92075" bIns="46038"/>
          <a:lstStyle/>
          <a:p>
            <a:pPr eaLnBrk="1" hangingPunct="1"/>
            <a:r>
              <a:rPr lang="en-US" smtClean="0"/>
              <a:t>Regress Analysis and Log-Linear Models in Prediction</a:t>
            </a:r>
            <a:r>
              <a:rPr lang="en-US" sz="4000" b="1" smtClean="0"/>
              <a:t> </a:t>
            </a:r>
            <a:endParaRPr lang="en-US" sz="3200" smtClean="0"/>
          </a:p>
        </p:txBody>
      </p:sp>
    </p:spTree>
  </p:cSld>
  <p:clrMapOvr>
    <a:masterClrMapping/>
  </p:clrMapOvr>
  <p:transition>
    <p:checke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p:cNvSpPr>
            <a:spLocks noGrp="1"/>
          </p:cNvSpPr>
          <p:nvPr>
            <p:ph type="sldNum" sz="quarter" idx="12"/>
          </p:nvPr>
        </p:nvSpPr>
        <p:spPr>
          <a:noFill/>
        </p:spPr>
        <p:txBody>
          <a:bodyPr/>
          <a:lstStyle/>
          <a:p>
            <a:fld id="{298C97B7-9ABE-4E9C-B072-5C05C4A98E80}" type="slidenum">
              <a:rPr lang="en-US" smtClean="0"/>
              <a:pPr/>
              <a:t>87</a:t>
            </a:fld>
            <a:endParaRPr lang="en-US" smtClean="0"/>
          </a:p>
        </p:txBody>
      </p:sp>
      <p:sp>
        <p:nvSpPr>
          <p:cNvPr id="90115" name="Rectangle 2"/>
          <p:cNvSpPr>
            <a:spLocks noGrp="1" noChangeArrowheads="1"/>
          </p:cNvSpPr>
          <p:nvPr>
            <p:ph type="title"/>
          </p:nvPr>
        </p:nvSpPr>
        <p:spPr>
          <a:xfrm>
            <a:off x="609600" y="381000"/>
            <a:ext cx="8077200" cy="1066800"/>
          </a:xfrm>
          <a:noFill/>
        </p:spPr>
        <p:txBody>
          <a:bodyPr lIns="92075" tIns="46038" rIns="92075" bIns="46038"/>
          <a:lstStyle/>
          <a:p>
            <a:pPr eaLnBrk="1" hangingPunct="1"/>
            <a:r>
              <a:rPr lang="en-US" smtClean="0"/>
              <a:t>Classification and Prediction</a:t>
            </a:r>
          </a:p>
        </p:txBody>
      </p:sp>
      <p:sp>
        <p:nvSpPr>
          <p:cNvPr id="90116" name="Rectangle 3"/>
          <p:cNvSpPr>
            <a:spLocks noGrp="1" noChangeArrowheads="1"/>
          </p:cNvSpPr>
          <p:nvPr>
            <p:ph type="body" idx="1"/>
          </p:nvPr>
        </p:nvSpPr>
        <p:spPr>
          <a:xfrm>
            <a:off x="685800" y="1371600"/>
            <a:ext cx="7924800" cy="5029200"/>
          </a:xfrm>
          <a:noFill/>
        </p:spPr>
        <p:txBody>
          <a:bodyPr lIns="92075" tIns="46038" rIns="92075" bIns="46038"/>
          <a:lstStyle/>
          <a:p>
            <a:pPr eaLnBrk="1" hangingPunct="1">
              <a:lnSpc>
                <a:spcPct val="90000"/>
              </a:lnSpc>
            </a:pPr>
            <a:r>
              <a:rPr lang="en-US" sz="2800" smtClean="0"/>
              <a:t>What is classification? What is prediction?</a:t>
            </a:r>
          </a:p>
          <a:p>
            <a:pPr eaLnBrk="1" hangingPunct="1">
              <a:lnSpc>
                <a:spcPct val="90000"/>
              </a:lnSpc>
            </a:pPr>
            <a:r>
              <a:rPr lang="en-US" sz="2800" smtClean="0"/>
              <a:t>Issues regarding classification and prediction</a:t>
            </a:r>
          </a:p>
          <a:p>
            <a:pPr eaLnBrk="1" hangingPunct="1">
              <a:lnSpc>
                <a:spcPct val="90000"/>
              </a:lnSpc>
            </a:pPr>
            <a:r>
              <a:rPr lang="en-US" sz="2800" smtClean="0"/>
              <a:t>Classification by decision tree induction</a:t>
            </a:r>
          </a:p>
          <a:p>
            <a:pPr eaLnBrk="1" hangingPunct="1">
              <a:lnSpc>
                <a:spcPct val="90000"/>
              </a:lnSpc>
            </a:pPr>
            <a:r>
              <a:rPr lang="en-US" sz="2800" smtClean="0"/>
              <a:t>Bayesian Classification</a:t>
            </a:r>
          </a:p>
          <a:p>
            <a:pPr eaLnBrk="1" hangingPunct="1">
              <a:lnSpc>
                <a:spcPct val="90000"/>
              </a:lnSpc>
            </a:pPr>
            <a:r>
              <a:rPr lang="en-US" sz="2800" smtClean="0"/>
              <a:t>Classification by backpropagation</a:t>
            </a:r>
          </a:p>
          <a:p>
            <a:pPr eaLnBrk="1" hangingPunct="1">
              <a:lnSpc>
                <a:spcPct val="90000"/>
              </a:lnSpc>
            </a:pPr>
            <a:r>
              <a:rPr lang="en-US" sz="2800" smtClean="0"/>
              <a:t>Classification based on concepts from association rule mining</a:t>
            </a:r>
          </a:p>
          <a:p>
            <a:pPr eaLnBrk="1" hangingPunct="1">
              <a:lnSpc>
                <a:spcPct val="90000"/>
              </a:lnSpc>
            </a:pPr>
            <a:r>
              <a:rPr lang="en-US" sz="2800" smtClean="0"/>
              <a:t>Other Classification Methods-KNN</a:t>
            </a:r>
          </a:p>
          <a:p>
            <a:pPr eaLnBrk="1" hangingPunct="1">
              <a:lnSpc>
                <a:spcPct val="90000"/>
              </a:lnSpc>
            </a:pPr>
            <a:r>
              <a:rPr lang="en-US" sz="2800" smtClean="0"/>
              <a:t>Prediction</a:t>
            </a:r>
          </a:p>
          <a:p>
            <a:pPr eaLnBrk="1" hangingPunct="1">
              <a:lnSpc>
                <a:spcPct val="90000"/>
              </a:lnSpc>
            </a:pPr>
            <a:r>
              <a:rPr lang="en-US" sz="2800" smtClean="0">
                <a:solidFill>
                  <a:schemeClr val="hlink"/>
                </a:solidFill>
              </a:rPr>
              <a:t>Classifier Accuracy</a:t>
            </a:r>
          </a:p>
          <a:p>
            <a:pPr eaLnBrk="1" hangingPunct="1">
              <a:lnSpc>
                <a:spcPct val="90000"/>
              </a:lnSpc>
            </a:pPr>
            <a:r>
              <a:rPr lang="en-US" sz="2800" smtClean="0"/>
              <a:t>Summary</a:t>
            </a:r>
          </a:p>
        </p:txBody>
      </p:sp>
    </p:spTree>
  </p:cSld>
  <p:clrMapOvr>
    <a:masterClrMapping/>
  </p:clrMapOvr>
  <p:transition>
    <p:checke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p:cNvSpPr>
          <p:nvPr>
            <p:ph type="title"/>
          </p:nvPr>
        </p:nvSpPr>
        <p:spPr>
          <a:xfrm>
            <a:off x="457200" y="274638"/>
            <a:ext cx="8229600" cy="868362"/>
          </a:xfrm>
        </p:spPr>
        <p:txBody>
          <a:bodyPr/>
          <a:lstStyle/>
          <a:p>
            <a:r>
              <a:rPr lang="en-US" smtClean="0"/>
              <a:t>Classifier Accuracy</a:t>
            </a:r>
          </a:p>
        </p:txBody>
      </p:sp>
      <p:sp>
        <p:nvSpPr>
          <p:cNvPr id="91139" name="Content Placeholder 2"/>
          <p:cNvSpPr>
            <a:spLocks noGrp="1"/>
          </p:cNvSpPr>
          <p:nvPr>
            <p:ph idx="1"/>
          </p:nvPr>
        </p:nvSpPr>
        <p:spPr>
          <a:xfrm>
            <a:off x="533400" y="1219200"/>
            <a:ext cx="8229600" cy="5410200"/>
          </a:xfrm>
        </p:spPr>
        <p:txBody>
          <a:bodyPr/>
          <a:lstStyle/>
          <a:p>
            <a:r>
              <a:rPr lang="en-US" sz="2000" smtClean="0"/>
              <a:t>Estimating classifier accuracy is important in that it allows one to evaluate how accurately a given classifier will label future data, that is, data on which the classifier has not been trained. </a:t>
            </a:r>
          </a:p>
          <a:p>
            <a:pPr>
              <a:buFontTx/>
              <a:buNone/>
            </a:pPr>
            <a:endParaRPr lang="en-US" sz="2000" smtClean="0"/>
          </a:p>
          <a:p>
            <a:r>
              <a:rPr lang="en-US" sz="2000" smtClean="0"/>
              <a:t>For example, suppose you used data from previous sales to train a classifier to predict customer purchasing behavior. </a:t>
            </a:r>
          </a:p>
          <a:p>
            <a:pPr>
              <a:buFontTx/>
              <a:buNone/>
            </a:pPr>
            <a:endParaRPr lang="en-US" sz="2000" smtClean="0"/>
          </a:p>
          <a:p>
            <a:r>
              <a:rPr lang="en-US" sz="2000" smtClean="0"/>
              <a:t>You would like an estimate of how accurately the classifier can predict the purchasing behavior of future customers, that is, future customer data on which the classifier has not been trained.</a:t>
            </a:r>
          </a:p>
          <a:p>
            <a:pPr>
              <a:buFontTx/>
              <a:buNone/>
            </a:pPr>
            <a:endParaRPr lang="en-US" sz="2000" smtClean="0"/>
          </a:p>
          <a:p>
            <a:r>
              <a:rPr lang="en-US" sz="2000" smtClean="0"/>
              <a:t>Accuracy estimates to help in the comparison of different classifiers.</a:t>
            </a:r>
          </a:p>
          <a:p>
            <a:pPr>
              <a:buFontTx/>
              <a:buNone/>
            </a:pPr>
            <a:endParaRPr lang="en-US" sz="2000" smtClean="0"/>
          </a:p>
          <a:p>
            <a:r>
              <a:rPr lang="en-US" sz="2000" smtClean="0"/>
              <a:t>We can use these measures in techniques for accuracy estimation, such as the </a:t>
            </a:r>
            <a:r>
              <a:rPr lang="en-US" sz="2000" i="1" smtClean="0"/>
              <a:t>holdout, random subsampling, k-fold cross-validation, and bootstrap methods</a:t>
            </a:r>
          </a:p>
          <a:p>
            <a:endParaRPr lang="en-US" sz="2000" smtClean="0"/>
          </a:p>
          <a:p>
            <a:endParaRPr lang="en-US" sz="2000" smtClean="0"/>
          </a:p>
        </p:txBody>
      </p:sp>
      <p:sp>
        <p:nvSpPr>
          <p:cNvPr id="91140" name="Slide Number Placeholder 3"/>
          <p:cNvSpPr>
            <a:spLocks noGrp="1"/>
          </p:cNvSpPr>
          <p:nvPr>
            <p:ph type="sldNum" sz="quarter" idx="12"/>
          </p:nvPr>
        </p:nvSpPr>
        <p:spPr>
          <a:noFill/>
        </p:spPr>
        <p:txBody>
          <a:bodyPr/>
          <a:lstStyle/>
          <a:p>
            <a:fld id="{6367A6C9-E35E-4EF9-8BF1-8DEB6B1F9DAE}" type="slidenum">
              <a:rPr lang="en-US" smtClean="0"/>
              <a:pPr/>
              <a:t>88</a:t>
            </a:fld>
            <a:endParaRPr lang="en-US" smtClean="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1"/>
          <p:cNvSpPr>
            <a:spLocks noGrp="1"/>
          </p:cNvSpPr>
          <p:nvPr>
            <p:ph type="title"/>
          </p:nvPr>
        </p:nvSpPr>
        <p:spPr>
          <a:xfrm>
            <a:off x="457200" y="274638"/>
            <a:ext cx="8229600" cy="944562"/>
          </a:xfrm>
        </p:spPr>
        <p:txBody>
          <a:bodyPr/>
          <a:lstStyle/>
          <a:p>
            <a:r>
              <a:rPr lang="en-US" sz="3600" smtClean="0"/>
              <a:t>Estimating Classifier Accuracy</a:t>
            </a:r>
          </a:p>
        </p:txBody>
      </p:sp>
      <p:sp>
        <p:nvSpPr>
          <p:cNvPr id="92163" name="Content Placeholder 2"/>
          <p:cNvSpPr>
            <a:spLocks noGrp="1"/>
          </p:cNvSpPr>
          <p:nvPr>
            <p:ph idx="1"/>
          </p:nvPr>
        </p:nvSpPr>
        <p:spPr>
          <a:xfrm>
            <a:off x="457200" y="1219200"/>
            <a:ext cx="8686800" cy="5791200"/>
          </a:xfrm>
        </p:spPr>
        <p:txBody>
          <a:bodyPr/>
          <a:lstStyle/>
          <a:p>
            <a:r>
              <a:rPr lang="en-US" sz="2000" smtClean="0"/>
              <a:t>The holdout method is what we have alluded to so far in our discussions about accuracy.</a:t>
            </a:r>
          </a:p>
          <a:p>
            <a:r>
              <a:rPr lang="en-US" sz="2000" smtClean="0"/>
              <a:t>In this method, the given data are randomly partitioned into two independent sets, a </a:t>
            </a:r>
            <a:r>
              <a:rPr lang="en-US" sz="2000" i="1" smtClean="0"/>
              <a:t>training set and a test set. Typically, two-thirds of the data are allocated to the </a:t>
            </a:r>
            <a:r>
              <a:rPr lang="en-US" sz="2000" smtClean="0"/>
              <a:t>training set, and the remaining one-third is allocated to the test set. </a:t>
            </a:r>
          </a:p>
          <a:p>
            <a:r>
              <a:rPr lang="en-US" sz="2000" smtClean="0"/>
              <a:t>The training set is used to derive the model, whose accuracy is estimated with the test set</a:t>
            </a:r>
          </a:p>
          <a:p>
            <a:r>
              <a:rPr lang="en-US" sz="2000" smtClean="0"/>
              <a:t>The estimate is pessimistic because only a portion of the initial data is used to derive the model.</a:t>
            </a:r>
          </a:p>
          <a:p>
            <a:r>
              <a:rPr lang="en-US" sz="2000" smtClean="0"/>
              <a:t>Random subsampling is a variation of the holdout method in which the holdout method is repeated </a:t>
            </a:r>
            <a:r>
              <a:rPr lang="en-US" sz="2000" i="1" smtClean="0"/>
              <a:t>k times. </a:t>
            </a:r>
          </a:p>
          <a:p>
            <a:r>
              <a:rPr lang="en-US" sz="2000" i="1" smtClean="0"/>
              <a:t>The overall accuracy estimate is taken as the average of the </a:t>
            </a:r>
            <a:r>
              <a:rPr lang="en-US" sz="2000" smtClean="0"/>
              <a:t>accuracies obtained from each iteration. (For prediction, we can take the average of the predictor error rates.)</a:t>
            </a:r>
          </a:p>
          <a:p>
            <a:endParaRPr lang="en-US" sz="2000" smtClean="0"/>
          </a:p>
        </p:txBody>
      </p:sp>
      <p:sp>
        <p:nvSpPr>
          <p:cNvPr id="92164" name="Slide Number Placeholder 3"/>
          <p:cNvSpPr>
            <a:spLocks noGrp="1"/>
          </p:cNvSpPr>
          <p:nvPr>
            <p:ph type="sldNum" sz="quarter" idx="12"/>
          </p:nvPr>
        </p:nvSpPr>
        <p:spPr>
          <a:noFill/>
        </p:spPr>
        <p:txBody>
          <a:bodyPr/>
          <a:lstStyle/>
          <a:p>
            <a:fld id="{AEFCB5CD-64EA-4655-A1EF-AB61BEEB0321}" type="slidenum">
              <a:rPr lang="en-US" smtClean="0"/>
              <a:pPr/>
              <a:t>89</a:t>
            </a:fld>
            <a:endParaRPr lang="en-US" smtClean="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a:xfrm>
            <a:off x="533400" y="762000"/>
            <a:ext cx="8229600" cy="639763"/>
          </a:xfrm>
        </p:spPr>
        <p:txBody>
          <a:bodyPr/>
          <a:lstStyle/>
          <a:p>
            <a:r>
              <a:rPr lang="en-US" sz="2800" b="1" smtClean="0">
                <a:solidFill>
                  <a:schemeClr val="tx1"/>
                </a:solidFill>
              </a:rPr>
              <a:t>Holdout Method and Random Subsampling</a:t>
            </a:r>
            <a:br>
              <a:rPr lang="en-US" sz="2800" b="1" smtClean="0">
                <a:solidFill>
                  <a:schemeClr val="tx1"/>
                </a:solidFill>
              </a:rPr>
            </a:br>
            <a:endParaRPr lang="en-US" sz="2800" smtClean="0"/>
          </a:p>
        </p:txBody>
      </p:sp>
      <p:sp>
        <p:nvSpPr>
          <p:cNvPr id="93187" name="Content Placeholder 2"/>
          <p:cNvSpPr>
            <a:spLocks noGrp="1"/>
          </p:cNvSpPr>
          <p:nvPr>
            <p:ph idx="1"/>
          </p:nvPr>
        </p:nvSpPr>
        <p:spPr>
          <a:xfrm>
            <a:off x="228600" y="1600200"/>
            <a:ext cx="8534400" cy="4419600"/>
          </a:xfrm>
        </p:spPr>
        <p:txBody>
          <a:bodyPr/>
          <a:lstStyle/>
          <a:p>
            <a:r>
              <a:rPr lang="en-US" sz="2000" smtClean="0"/>
              <a:t>The holdout method is what we have alluded to so far in our discussions about accuracy.</a:t>
            </a:r>
          </a:p>
          <a:p>
            <a:endParaRPr lang="en-US" sz="2000" smtClean="0"/>
          </a:p>
          <a:p>
            <a:r>
              <a:rPr lang="en-US" sz="2000" smtClean="0"/>
              <a:t>In this method, the given data are randomly partitioned into two independent sets, a </a:t>
            </a:r>
            <a:r>
              <a:rPr lang="en-US" sz="2000" i="1" smtClean="0"/>
              <a:t>training set and a test set. </a:t>
            </a:r>
          </a:p>
          <a:p>
            <a:pPr>
              <a:buFontTx/>
              <a:buNone/>
            </a:pPr>
            <a:endParaRPr lang="en-US" sz="2000" i="1" smtClean="0"/>
          </a:p>
          <a:p>
            <a:r>
              <a:rPr lang="en-US" sz="2000" i="1" smtClean="0"/>
              <a:t>Typically, two-thirds of the data are allocated to the </a:t>
            </a:r>
            <a:r>
              <a:rPr lang="en-US" sz="2000" smtClean="0"/>
              <a:t>training set, and the remaining one-third is allocated to the test set.</a:t>
            </a:r>
          </a:p>
          <a:p>
            <a:endParaRPr lang="en-US" sz="2000" smtClean="0"/>
          </a:p>
          <a:p>
            <a:r>
              <a:rPr lang="en-US" sz="2000" smtClean="0"/>
              <a:t> The training set is used to derive the model, whose accuracy is estimated with the test set .</a:t>
            </a:r>
          </a:p>
          <a:p>
            <a:pPr>
              <a:buFontTx/>
              <a:buNone/>
            </a:pPr>
            <a:endParaRPr lang="en-US" sz="2000" smtClean="0"/>
          </a:p>
          <a:p>
            <a:endParaRPr lang="en-US" sz="2000" smtClean="0"/>
          </a:p>
        </p:txBody>
      </p:sp>
      <p:sp>
        <p:nvSpPr>
          <p:cNvPr id="93188" name="Slide Number Placeholder 3"/>
          <p:cNvSpPr>
            <a:spLocks noGrp="1"/>
          </p:cNvSpPr>
          <p:nvPr>
            <p:ph type="sldNum" sz="quarter" idx="12"/>
          </p:nvPr>
        </p:nvSpPr>
        <p:spPr>
          <a:noFill/>
        </p:spPr>
        <p:txBody>
          <a:bodyPr/>
          <a:lstStyle/>
          <a:p>
            <a:fld id="{702F8DA2-37CC-49CF-B06A-1F7EB7C574D9}" type="slidenum">
              <a:rPr lang="en-US" smtClean="0"/>
              <a:pPr/>
              <a:t>90</a:t>
            </a:fld>
            <a:endParaRPr lang="en-US" smtClean="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Number Placeholder 3"/>
          <p:cNvSpPr>
            <a:spLocks noGrp="1"/>
          </p:cNvSpPr>
          <p:nvPr>
            <p:ph type="sldNum" sz="quarter" idx="12"/>
          </p:nvPr>
        </p:nvSpPr>
        <p:spPr>
          <a:noFill/>
        </p:spPr>
        <p:txBody>
          <a:bodyPr/>
          <a:lstStyle/>
          <a:p>
            <a:fld id="{F8028EB0-6813-49FA-846A-C1B8017DF5CF}" type="slidenum">
              <a:rPr lang="en-US" smtClean="0"/>
              <a:pPr/>
              <a:t>91</a:t>
            </a:fld>
            <a:endParaRPr lang="en-US" smtClean="0"/>
          </a:p>
        </p:txBody>
      </p:sp>
      <p:pic>
        <p:nvPicPr>
          <p:cNvPr id="94211" name="Picture 2"/>
          <p:cNvPicPr>
            <a:picLocks noGrp="1" noChangeAspect="1" noChangeArrowheads="1"/>
          </p:cNvPicPr>
          <p:nvPr>
            <p:ph idx="1"/>
          </p:nvPr>
        </p:nvPicPr>
        <p:blipFill>
          <a:blip r:embed="rId2"/>
          <a:srcRect/>
          <a:stretch>
            <a:fillRect/>
          </a:stretch>
        </p:blipFill>
        <p:spPr>
          <a:xfrm>
            <a:off x="1295400" y="3505200"/>
            <a:ext cx="6477000" cy="2362200"/>
          </a:xfrm>
          <a:noFill/>
        </p:spPr>
      </p:pic>
      <p:sp>
        <p:nvSpPr>
          <p:cNvPr id="94212" name="Rectangle 5"/>
          <p:cNvSpPr>
            <a:spLocks noChangeArrowheads="1"/>
          </p:cNvSpPr>
          <p:nvPr/>
        </p:nvSpPr>
        <p:spPr bwMode="auto">
          <a:xfrm>
            <a:off x="685800" y="304800"/>
            <a:ext cx="7772400" cy="2586038"/>
          </a:xfrm>
          <a:prstGeom prst="rect">
            <a:avLst/>
          </a:prstGeom>
          <a:noFill/>
          <a:ln w="9525">
            <a:noFill/>
            <a:miter lim="800000"/>
            <a:headEnd/>
            <a:tailEnd/>
          </a:ln>
        </p:spPr>
        <p:txBody>
          <a:bodyPr>
            <a:spAutoFit/>
          </a:bodyPr>
          <a:lstStyle/>
          <a:p>
            <a:r>
              <a:rPr lang="en-US"/>
              <a:t>The estimate is pessimistic because only a portion of the initial data is used to derive the model.</a:t>
            </a:r>
          </a:p>
          <a:p>
            <a:endParaRPr lang="en-US"/>
          </a:p>
          <a:p>
            <a:r>
              <a:rPr lang="en-US"/>
              <a:t>Random sub sampling is a variation of the holdout method in which the holdout method is repeated </a:t>
            </a:r>
            <a:r>
              <a:rPr lang="en-US" i="1"/>
              <a:t>k times. </a:t>
            </a:r>
          </a:p>
          <a:p>
            <a:endParaRPr lang="en-US" i="1"/>
          </a:p>
          <a:p>
            <a:r>
              <a:rPr lang="en-US" i="1"/>
              <a:t>The overall accuracy estimate is taken as the average of the </a:t>
            </a:r>
            <a:r>
              <a:rPr lang="en-US"/>
              <a:t>accuracies obtained from each iteration. (For prediction, we can take the average of the predictor error rates.)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p:cNvSpPr>
          <p:nvPr>
            <p:ph type="title"/>
          </p:nvPr>
        </p:nvSpPr>
        <p:spPr>
          <a:xfrm>
            <a:off x="457200" y="152400"/>
            <a:ext cx="8229600" cy="411163"/>
          </a:xfrm>
        </p:spPr>
        <p:txBody>
          <a:bodyPr/>
          <a:lstStyle/>
          <a:p>
            <a:r>
              <a:rPr lang="en-US" sz="3200" b="1" smtClean="0">
                <a:solidFill>
                  <a:schemeClr val="tx1"/>
                </a:solidFill>
              </a:rPr>
              <a:t>Cross-validation</a:t>
            </a:r>
          </a:p>
        </p:txBody>
      </p:sp>
      <p:sp>
        <p:nvSpPr>
          <p:cNvPr id="95235" name="Content Placeholder 2"/>
          <p:cNvSpPr>
            <a:spLocks noGrp="1"/>
          </p:cNvSpPr>
          <p:nvPr>
            <p:ph idx="1"/>
          </p:nvPr>
        </p:nvSpPr>
        <p:spPr>
          <a:xfrm>
            <a:off x="457200" y="838200"/>
            <a:ext cx="8229600" cy="5715000"/>
          </a:xfrm>
        </p:spPr>
        <p:txBody>
          <a:bodyPr/>
          <a:lstStyle/>
          <a:p>
            <a:r>
              <a:rPr lang="en-US" sz="1800" smtClean="0"/>
              <a:t>In </a:t>
            </a:r>
            <a:r>
              <a:rPr lang="en-US" sz="1800" b="1" i="1" smtClean="0"/>
              <a:t>k-fold cross-validation, the initial data are randomly partitioned into k mutually </a:t>
            </a:r>
            <a:r>
              <a:rPr lang="en-US" sz="1800" smtClean="0"/>
              <a:t>exclusive subsets or “folds,” </a:t>
            </a:r>
            <a:r>
              <a:rPr lang="en-US" sz="1800" i="1" smtClean="0"/>
              <a:t>D1, D2, : : : , Dk, each of approximately equal size. </a:t>
            </a:r>
          </a:p>
          <a:p>
            <a:pPr>
              <a:buFontTx/>
              <a:buNone/>
            </a:pPr>
            <a:endParaRPr lang="en-US" sz="1800" i="1" smtClean="0"/>
          </a:p>
          <a:p>
            <a:r>
              <a:rPr lang="en-US" sz="1800" i="1" smtClean="0"/>
              <a:t>Training </a:t>
            </a:r>
            <a:r>
              <a:rPr lang="en-US" sz="1800" smtClean="0"/>
              <a:t>and testing is performed </a:t>
            </a:r>
            <a:r>
              <a:rPr lang="en-US" sz="1800" i="1" smtClean="0"/>
              <a:t>k times. In iteration i, partition Di is reserved as the test </a:t>
            </a:r>
            <a:r>
              <a:rPr lang="en-US" sz="1800" smtClean="0"/>
              <a:t>set, and the remaining partitions are collectively used to train the model. </a:t>
            </a:r>
          </a:p>
          <a:p>
            <a:pPr>
              <a:buFontTx/>
              <a:buNone/>
            </a:pPr>
            <a:endParaRPr lang="en-US" sz="1800" smtClean="0"/>
          </a:p>
          <a:p>
            <a:r>
              <a:rPr lang="en-US" sz="1800" smtClean="0"/>
              <a:t>That is, in the first iteration, subsets </a:t>
            </a:r>
            <a:r>
              <a:rPr lang="en-US" sz="1800" i="1" smtClean="0"/>
              <a:t>D2, : : : , Dk collectively serve as the training set in order to </a:t>
            </a:r>
            <a:r>
              <a:rPr lang="en-US" sz="1800" smtClean="0"/>
              <a:t>obtain a first model, which is tested on </a:t>
            </a:r>
            <a:r>
              <a:rPr lang="en-US" sz="1800" i="1" smtClean="0"/>
              <a:t>D1; the second iteration is trained on subsets D1, D3, : : : , Dk and tested on D2; and so on. Unlike the holdout and random subsampling </a:t>
            </a:r>
            <a:r>
              <a:rPr lang="en-US" sz="1800" smtClean="0"/>
              <a:t>methods above, here, each sample is used the same number of times for training and once for testing. </a:t>
            </a:r>
          </a:p>
          <a:p>
            <a:pPr>
              <a:buFontTx/>
              <a:buNone/>
            </a:pPr>
            <a:endParaRPr lang="en-US" sz="1800" smtClean="0"/>
          </a:p>
          <a:p>
            <a:r>
              <a:rPr lang="en-US" sz="1800" smtClean="0"/>
              <a:t>For classification, the accuracy estimate is the overall number of correct classifications from the </a:t>
            </a:r>
            <a:r>
              <a:rPr lang="en-US" sz="1800" i="1" smtClean="0"/>
              <a:t>k iterations, divided by the total number of tuples in the </a:t>
            </a:r>
            <a:r>
              <a:rPr lang="en-US" sz="1800" smtClean="0"/>
              <a:t>initial data. For prediction, the error estimate can be computed as the total loss from the </a:t>
            </a:r>
            <a:r>
              <a:rPr lang="en-US" sz="1800" i="1" smtClean="0"/>
              <a:t>k iterations, divided by the total number of initial tuples.</a:t>
            </a:r>
          </a:p>
          <a:p>
            <a:endParaRPr lang="en-US" sz="1800" smtClean="0"/>
          </a:p>
        </p:txBody>
      </p:sp>
      <p:sp>
        <p:nvSpPr>
          <p:cNvPr id="95236" name="Slide Number Placeholder 3"/>
          <p:cNvSpPr>
            <a:spLocks noGrp="1"/>
          </p:cNvSpPr>
          <p:nvPr>
            <p:ph type="sldNum" sz="quarter" idx="12"/>
          </p:nvPr>
        </p:nvSpPr>
        <p:spPr>
          <a:noFill/>
        </p:spPr>
        <p:txBody>
          <a:bodyPr/>
          <a:lstStyle/>
          <a:p>
            <a:fld id="{4A18D9E0-35F9-4BC1-BEB8-906AD427966A}" type="slidenum">
              <a:rPr lang="en-US" smtClean="0"/>
              <a:pPr/>
              <a:t>92</a:t>
            </a:fld>
            <a:endParaRPr lang="en-US" smtClean="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p:cNvSpPr>
            <a:spLocks noGrp="1"/>
          </p:cNvSpPr>
          <p:nvPr>
            <p:ph type="title"/>
          </p:nvPr>
        </p:nvSpPr>
        <p:spPr>
          <a:xfrm>
            <a:off x="457200" y="274638"/>
            <a:ext cx="8229600" cy="487362"/>
          </a:xfrm>
        </p:spPr>
        <p:txBody>
          <a:bodyPr/>
          <a:lstStyle/>
          <a:p>
            <a:r>
              <a:rPr lang="en-US" smtClean="0"/>
              <a:t>Bootstrap</a:t>
            </a:r>
          </a:p>
        </p:txBody>
      </p:sp>
      <p:sp>
        <p:nvSpPr>
          <p:cNvPr id="96259" name="Content Placeholder 2"/>
          <p:cNvSpPr>
            <a:spLocks noGrp="1"/>
          </p:cNvSpPr>
          <p:nvPr>
            <p:ph idx="1"/>
          </p:nvPr>
        </p:nvSpPr>
        <p:spPr>
          <a:xfrm>
            <a:off x="457200" y="1295400"/>
            <a:ext cx="8229600" cy="5257800"/>
          </a:xfrm>
        </p:spPr>
        <p:txBody>
          <a:bodyPr/>
          <a:lstStyle/>
          <a:p>
            <a:r>
              <a:rPr lang="en-US" sz="2000" smtClean="0"/>
              <a:t>Unlike the accuracy estimation methods mentioned above, the bootstrap method samples the given training tuples uniformly </a:t>
            </a:r>
            <a:r>
              <a:rPr lang="en-US" sz="2000" i="1" smtClean="0"/>
              <a:t>with replacement. </a:t>
            </a:r>
          </a:p>
          <a:p>
            <a:pPr>
              <a:buFontTx/>
              <a:buNone/>
            </a:pPr>
            <a:endParaRPr lang="en-US" sz="2000" i="1" smtClean="0"/>
          </a:p>
          <a:p>
            <a:r>
              <a:rPr lang="en-US" sz="2000" i="1" smtClean="0"/>
              <a:t>That is, each time a </a:t>
            </a:r>
            <a:r>
              <a:rPr lang="en-US" sz="2000" smtClean="0"/>
              <a:t>tuple is selected, it is equally likely to be selected again and readded to the training set.</a:t>
            </a:r>
          </a:p>
          <a:p>
            <a:pPr>
              <a:buFontTx/>
              <a:buNone/>
            </a:pPr>
            <a:endParaRPr lang="en-US" sz="2000" smtClean="0"/>
          </a:p>
          <a:p>
            <a:r>
              <a:rPr lang="en-US" sz="2000" smtClean="0"/>
              <a:t>For instance, imagine a machine that randomly selects tuples for our training set. In </a:t>
            </a:r>
            <a:r>
              <a:rPr lang="en-US" sz="2000" i="1" smtClean="0"/>
              <a:t>sampling with replacement, the machine is allowed to select the same tuple more than </a:t>
            </a:r>
            <a:r>
              <a:rPr lang="en-US" sz="2000" smtClean="0"/>
              <a:t>once</a:t>
            </a:r>
          </a:p>
          <a:p>
            <a:endParaRPr lang="en-US" sz="2000" smtClean="0"/>
          </a:p>
        </p:txBody>
      </p:sp>
      <p:sp>
        <p:nvSpPr>
          <p:cNvPr id="96260" name="Slide Number Placeholder 3"/>
          <p:cNvSpPr>
            <a:spLocks noGrp="1"/>
          </p:cNvSpPr>
          <p:nvPr>
            <p:ph type="sldNum" sz="quarter" idx="12"/>
          </p:nvPr>
        </p:nvSpPr>
        <p:spPr>
          <a:noFill/>
        </p:spPr>
        <p:txBody>
          <a:bodyPr/>
          <a:lstStyle/>
          <a:p>
            <a:fld id="{25DCE16C-EB01-40F7-9EC2-229CEB77E6A5}" type="slidenum">
              <a:rPr lang="en-US" smtClean="0"/>
              <a:pPr/>
              <a:t>93</a:t>
            </a:fld>
            <a:endParaRPr lang="en-US" smtClean="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p:cNvSpPr>
            <a:spLocks noGrp="1"/>
          </p:cNvSpPr>
          <p:nvPr>
            <p:ph type="title"/>
          </p:nvPr>
        </p:nvSpPr>
        <p:spPr>
          <a:xfrm>
            <a:off x="457200" y="304800"/>
            <a:ext cx="8229600" cy="838200"/>
          </a:xfrm>
        </p:spPr>
        <p:txBody>
          <a:bodyPr/>
          <a:lstStyle/>
          <a:p>
            <a:r>
              <a:rPr lang="en-US" sz="2800" b="1" smtClean="0">
                <a:solidFill>
                  <a:schemeClr val="tx1"/>
                </a:solidFill>
              </a:rPr>
              <a:t>Ensemble Methods—Increasing the Accuracy</a:t>
            </a:r>
            <a:r>
              <a:rPr lang="en-US" sz="6000" b="1" smtClean="0">
                <a:solidFill>
                  <a:schemeClr val="tx1"/>
                </a:solidFill>
              </a:rPr>
              <a:t/>
            </a:r>
            <a:br>
              <a:rPr lang="en-US" sz="6000" b="1" smtClean="0">
                <a:solidFill>
                  <a:schemeClr val="tx1"/>
                </a:solidFill>
              </a:rPr>
            </a:br>
            <a:endParaRPr lang="en-US" smtClean="0"/>
          </a:p>
        </p:txBody>
      </p:sp>
      <p:sp>
        <p:nvSpPr>
          <p:cNvPr id="97283" name="Content Placeholder 2"/>
          <p:cNvSpPr>
            <a:spLocks noGrp="1"/>
          </p:cNvSpPr>
          <p:nvPr>
            <p:ph idx="1"/>
          </p:nvPr>
        </p:nvSpPr>
        <p:spPr>
          <a:xfrm>
            <a:off x="457200" y="1066800"/>
            <a:ext cx="8305800" cy="5334000"/>
          </a:xfrm>
        </p:spPr>
        <p:txBody>
          <a:bodyPr/>
          <a:lstStyle/>
          <a:p>
            <a:r>
              <a:rPr lang="en-US" sz="1800" smtClean="0"/>
              <a:t>Are there </a:t>
            </a:r>
            <a:r>
              <a:rPr lang="en-US" sz="1800" i="1" smtClean="0"/>
              <a:t>general strategies for </a:t>
            </a:r>
            <a:r>
              <a:rPr lang="en-US" sz="1800" smtClean="0"/>
              <a:t>improving classifier and predictor accuracy?</a:t>
            </a:r>
          </a:p>
          <a:p>
            <a:r>
              <a:rPr lang="en-US" sz="1800" smtClean="0"/>
              <a:t>YES,</a:t>
            </a:r>
            <a:r>
              <a:rPr lang="en-US" sz="1800" i="1" smtClean="0"/>
              <a:t> Bagging and boosting are two such techniques.</a:t>
            </a:r>
          </a:p>
          <a:p>
            <a:pPr>
              <a:buFontTx/>
              <a:buNone/>
            </a:pPr>
            <a:endParaRPr lang="en-US" sz="1800" i="1" smtClean="0"/>
          </a:p>
          <a:p>
            <a:r>
              <a:rPr lang="en-US" sz="1800" smtClean="0"/>
              <a:t>We first take an intuitive look at how bagging works as a method of increasing accuracy.</a:t>
            </a:r>
          </a:p>
          <a:p>
            <a:r>
              <a:rPr lang="en-US" sz="1800" smtClean="0"/>
              <a:t>For ease of explanation, we will assume at first that our model is a classifier. Suppose that you are a patient and would like to have a diagnosis made based on your symptoms.</a:t>
            </a:r>
          </a:p>
          <a:p>
            <a:r>
              <a:rPr lang="en-US" sz="1800" smtClean="0"/>
              <a:t>Instead of asking one doctor, you may choose to ask several. If a certain diagnosis occurs more than any of the others, you may choose this as the final or best diagnosis. </a:t>
            </a:r>
          </a:p>
          <a:p>
            <a:pPr>
              <a:buFontTx/>
              <a:buNone/>
            </a:pPr>
            <a:endParaRPr lang="en-US" sz="1800" smtClean="0"/>
          </a:p>
          <a:p>
            <a:r>
              <a:rPr lang="en-US" sz="1800" smtClean="0"/>
              <a:t>That is, the final diagnosis is made based on a majority vote, where each doctor gets an equal vote. Now replace each doctor by a classifier, and you have the basic idea behind bagging. </a:t>
            </a:r>
          </a:p>
          <a:p>
            <a:r>
              <a:rPr lang="en-US" sz="1800" smtClean="0"/>
              <a:t>Intuitively, a majority vote made by a large group of doctors may be more reliable than a majority vote made by a small group.</a:t>
            </a:r>
          </a:p>
          <a:p>
            <a:endParaRPr lang="en-US" sz="2000" i="1" smtClean="0"/>
          </a:p>
          <a:p>
            <a:endParaRPr lang="en-US" sz="2000" smtClean="0"/>
          </a:p>
        </p:txBody>
      </p:sp>
      <p:sp>
        <p:nvSpPr>
          <p:cNvPr id="97284" name="Slide Number Placeholder 3"/>
          <p:cNvSpPr>
            <a:spLocks noGrp="1"/>
          </p:cNvSpPr>
          <p:nvPr>
            <p:ph type="sldNum" sz="quarter" idx="12"/>
          </p:nvPr>
        </p:nvSpPr>
        <p:spPr>
          <a:noFill/>
        </p:spPr>
        <p:txBody>
          <a:bodyPr/>
          <a:lstStyle/>
          <a:p>
            <a:fld id="{AC57C8C4-A3A1-44E8-B214-6A7D60CE133E}" type="slidenum">
              <a:rPr lang="en-US" smtClean="0"/>
              <a:pPr/>
              <a:t>94</a:t>
            </a:fld>
            <a:endParaRPr lang="en-US" smtClean="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2"/>
          <p:cNvSpPr>
            <a:spLocks noGrp="1"/>
          </p:cNvSpPr>
          <p:nvPr>
            <p:ph idx="1"/>
          </p:nvPr>
        </p:nvSpPr>
        <p:spPr>
          <a:xfrm>
            <a:off x="457200" y="152400"/>
            <a:ext cx="8229600" cy="6324600"/>
          </a:xfrm>
        </p:spPr>
        <p:txBody>
          <a:bodyPr/>
          <a:lstStyle/>
          <a:p>
            <a:r>
              <a:rPr lang="en-US" sz="2000" smtClean="0"/>
              <a:t>Given a set, </a:t>
            </a:r>
            <a:r>
              <a:rPr lang="en-US" sz="2000" i="1" smtClean="0"/>
              <a:t>D, of d tuples, bagging works as follows. </a:t>
            </a:r>
          </a:p>
          <a:p>
            <a:pPr>
              <a:buFontTx/>
              <a:buNone/>
            </a:pPr>
            <a:endParaRPr lang="en-US" sz="2000" i="1" smtClean="0"/>
          </a:p>
          <a:p>
            <a:r>
              <a:rPr lang="en-US" sz="2000" i="1" smtClean="0"/>
              <a:t>For iteration i (i = 1, 2, : : : , k), a </a:t>
            </a:r>
            <a:r>
              <a:rPr lang="en-US" sz="2000" smtClean="0"/>
              <a:t>training set,</a:t>
            </a:r>
            <a:r>
              <a:rPr lang="en-US" sz="2000" i="1" smtClean="0"/>
              <a:t>Di, of d tuples is sampled with replacement from the original set of tuples,D.</a:t>
            </a:r>
          </a:p>
          <a:p>
            <a:pPr>
              <a:buFontTx/>
              <a:buNone/>
            </a:pPr>
            <a:endParaRPr lang="en-US" sz="2000" i="1" smtClean="0"/>
          </a:p>
          <a:p>
            <a:r>
              <a:rPr lang="en-US" sz="2000" smtClean="0"/>
              <a:t>Note that the term bagging stands for </a:t>
            </a:r>
            <a:r>
              <a:rPr lang="en-US" sz="2000" i="1" smtClean="0"/>
              <a:t>bootstrap aggregation.</a:t>
            </a:r>
          </a:p>
          <a:p>
            <a:r>
              <a:rPr lang="en-US" sz="2000" smtClean="0"/>
              <a:t>A classifier model, </a:t>
            </a:r>
            <a:r>
              <a:rPr lang="en-US" sz="2000" i="1" smtClean="0"/>
              <a:t>Mi, is learned for each training set, Di. </a:t>
            </a:r>
          </a:p>
          <a:p>
            <a:pPr>
              <a:buFontTx/>
              <a:buNone/>
            </a:pPr>
            <a:endParaRPr lang="en-US" sz="2000" i="1" smtClean="0"/>
          </a:p>
          <a:p>
            <a:r>
              <a:rPr lang="en-US" sz="2000" i="1" smtClean="0"/>
              <a:t>To classify an unknown </a:t>
            </a:r>
            <a:r>
              <a:rPr lang="en-US" sz="2000" smtClean="0"/>
              <a:t>tuple, </a:t>
            </a:r>
            <a:r>
              <a:rPr lang="en-US" sz="2000" b="1" i="1" smtClean="0"/>
              <a:t>X, each classifier, Mi, returns its class prediction, which counts as one vote. </a:t>
            </a:r>
          </a:p>
          <a:p>
            <a:endParaRPr lang="en-US" sz="2000" b="1" i="1" smtClean="0"/>
          </a:p>
          <a:p>
            <a:r>
              <a:rPr lang="en-US" sz="2000" b="1" i="1" smtClean="0"/>
              <a:t>The </a:t>
            </a:r>
            <a:r>
              <a:rPr lang="en-US" sz="2000" smtClean="0"/>
              <a:t>bagged classifier, </a:t>
            </a:r>
            <a:r>
              <a:rPr lang="en-US" sz="2000" i="1" smtClean="0"/>
              <a:t>M, counts the votes and assigns the class with the most votes to </a:t>
            </a:r>
            <a:r>
              <a:rPr lang="en-US" sz="2000" b="1" i="1" smtClean="0"/>
              <a:t>X.</a:t>
            </a:r>
          </a:p>
          <a:p>
            <a:pPr>
              <a:buFontTx/>
              <a:buNone/>
            </a:pPr>
            <a:endParaRPr lang="en-US" sz="2000" b="1" i="1" smtClean="0"/>
          </a:p>
          <a:p>
            <a:r>
              <a:rPr lang="en-US" sz="2000" smtClean="0"/>
              <a:t>Bagging can be applied to the prediction of continuous values by taking the average value of each prediction for a given test tuple.</a:t>
            </a:r>
          </a:p>
          <a:p>
            <a:r>
              <a:rPr lang="en-US" sz="2000" smtClean="0"/>
              <a:t>The bagged classifier often has significantly greater accuracy than a single classifier derived from </a:t>
            </a:r>
            <a:r>
              <a:rPr lang="en-US" sz="2000" i="1" smtClean="0"/>
              <a:t>D, the original training data.</a:t>
            </a:r>
          </a:p>
          <a:p>
            <a:endParaRPr lang="en-US" sz="2000" smtClean="0"/>
          </a:p>
          <a:p>
            <a:endParaRPr lang="en-US" sz="2000" smtClean="0"/>
          </a:p>
        </p:txBody>
      </p:sp>
      <p:sp>
        <p:nvSpPr>
          <p:cNvPr id="98307" name="Slide Number Placeholder 3"/>
          <p:cNvSpPr>
            <a:spLocks noGrp="1"/>
          </p:cNvSpPr>
          <p:nvPr>
            <p:ph type="sldNum" sz="quarter" idx="12"/>
          </p:nvPr>
        </p:nvSpPr>
        <p:spPr>
          <a:noFill/>
        </p:spPr>
        <p:txBody>
          <a:bodyPr/>
          <a:lstStyle/>
          <a:p>
            <a:fld id="{608A98ED-EF8B-42DE-B49F-828680400622}" type="slidenum">
              <a:rPr lang="en-US" smtClean="0"/>
              <a:pPr/>
              <a:t>95</a:t>
            </a:fld>
            <a:endParaRPr lang="en-US" smtClean="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p:cNvSpPr>
            <a:spLocks noGrp="1"/>
          </p:cNvSpPr>
          <p:nvPr>
            <p:ph type="title"/>
          </p:nvPr>
        </p:nvSpPr>
        <p:spPr>
          <a:xfrm>
            <a:off x="457200" y="274638"/>
            <a:ext cx="8229600" cy="487362"/>
          </a:xfrm>
        </p:spPr>
        <p:txBody>
          <a:bodyPr/>
          <a:lstStyle/>
          <a:p>
            <a:r>
              <a:rPr lang="en-US" smtClean="0"/>
              <a:t>Boosting</a:t>
            </a:r>
          </a:p>
        </p:txBody>
      </p:sp>
      <p:sp>
        <p:nvSpPr>
          <p:cNvPr id="99331" name="Content Placeholder 2"/>
          <p:cNvSpPr>
            <a:spLocks noGrp="1"/>
          </p:cNvSpPr>
          <p:nvPr>
            <p:ph idx="1"/>
          </p:nvPr>
        </p:nvSpPr>
        <p:spPr>
          <a:xfrm>
            <a:off x="457200" y="1295400"/>
            <a:ext cx="8153400" cy="5562600"/>
          </a:xfrm>
        </p:spPr>
        <p:txBody>
          <a:bodyPr/>
          <a:lstStyle/>
          <a:p>
            <a:r>
              <a:rPr lang="en-US" sz="2000" smtClean="0"/>
              <a:t>We now look at the ensemble method of boosting. As in the previous section, suppose that as a patient, you have certain symptoms. </a:t>
            </a:r>
          </a:p>
          <a:p>
            <a:r>
              <a:rPr lang="en-US" sz="2000" smtClean="0"/>
              <a:t>Instead of consulting one doctor, you choose to consult several. Suppose you assign weights to the value or worth of each doctor’s diagnosis, based on the accuracies of previous diagnoses they have made. </a:t>
            </a:r>
          </a:p>
          <a:p>
            <a:r>
              <a:rPr lang="en-US" sz="2000" smtClean="0"/>
              <a:t>The final diagnosis is then a combination of the weighted diagnoses. This is the essence behind boosting.</a:t>
            </a:r>
          </a:p>
          <a:p>
            <a:endParaRPr lang="en-US" sz="2000" smtClean="0"/>
          </a:p>
          <a:p>
            <a:endParaRPr lang="en-US" sz="2000" smtClean="0"/>
          </a:p>
        </p:txBody>
      </p:sp>
      <p:sp>
        <p:nvSpPr>
          <p:cNvPr id="99332" name="Slide Number Placeholder 3"/>
          <p:cNvSpPr>
            <a:spLocks noGrp="1"/>
          </p:cNvSpPr>
          <p:nvPr>
            <p:ph type="sldNum" sz="quarter" idx="12"/>
          </p:nvPr>
        </p:nvSpPr>
        <p:spPr>
          <a:noFill/>
        </p:spPr>
        <p:txBody>
          <a:bodyPr/>
          <a:lstStyle/>
          <a:p>
            <a:fld id="{D27F50AC-36BC-4C65-9079-7F04E151447D}" type="slidenum">
              <a:rPr lang="en-US" smtClean="0"/>
              <a:pPr/>
              <a:t>96</a:t>
            </a:fld>
            <a:endParaRPr lang="en-US" smtClean="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p:cNvSpPr>
            <a:spLocks noGrp="1"/>
          </p:cNvSpPr>
          <p:nvPr>
            <p:ph idx="1"/>
          </p:nvPr>
        </p:nvSpPr>
        <p:spPr>
          <a:xfrm>
            <a:off x="457200" y="1066800"/>
            <a:ext cx="8229600" cy="5059363"/>
          </a:xfrm>
        </p:spPr>
        <p:txBody>
          <a:bodyPr/>
          <a:lstStyle/>
          <a:p>
            <a:r>
              <a:rPr lang="en-US" sz="2400" smtClean="0"/>
              <a:t>In boosting, weights are assigned to each training tuple.</a:t>
            </a:r>
          </a:p>
          <a:p>
            <a:r>
              <a:rPr lang="en-US" sz="2400" smtClean="0"/>
              <a:t> A series of </a:t>
            </a:r>
            <a:r>
              <a:rPr lang="en-US" sz="2400" i="1" smtClean="0"/>
              <a:t>k classifiers is </a:t>
            </a:r>
            <a:r>
              <a:rPr lang="en-US" sz="2400" smtClean="0"/>
              <a:t>iteratively learned. After a classifier </a:t>
            </a:r>
            <a:r>
              <a:rPr lang="en-US" sz="2400" i="1" smtClean="0"/>
              <a:t>Mi is learned, the weights are updated to allow the </a:t>
            </a:r>
            <a:r>
              <a:rPr lang="en-US" sz="2400" smtClean="0"/>
              <a:t>subsequent classifier,</a:t>
            </a:r>
            <a:r>
              <a:rPr lang="en-US" sz="2400" i="1" smtClean="0"/>
              <a:t>Mi+1, to “pay more attention” to the training tuples that were misclassified </a:t>
            </a:r>
            <a:r>
              <a:rPr lang="en-US" sz="2400" smtClean="0"/>
              <a:t>by </a:t>
            </a:r>
            <a:r>
              <a:rPr lang="en-US" sz="2400" i="1" smtClean="0"/>
              <a:t>Mi. </a:t>
            </a:r>
          </a:p>
          <a:p>
            <a:r>
              <a:rPr lang="en-US" sz="2400" i="1" smtClean="0"/>
              <a:t>The final boosted classifier, M, combines the votes of each individual </a:t>
            </a:r>
            <a:r>
              <a:rPr lang="en-US" sz="2400" smtClean="0"/>
              <a:t>classifier, where the weight of each classifier’s vote is a function of its accuracy. </a:t>
            </a:r>
          </a:p>
          <a:p>
            <a:r>
              <a:rPr lang="en-US" sz="2400" smtClean="0"/>
              <a:t>The boosting algorithm can be extended for the prediction of continuous values</a:t>
            </a:r>
          </a:p>
          <a:p>
            <a:endParaRPr lang="en-US" sz="2400" smtClean="0"/>
          </a:p>
        </p:txBody>
      </p:sp>
      <p:sp>
        <p:nvSpPr>
          <p:cNvPr id="100355" name="Slide Number Placeholder 3"/>
          <p:cNvSpPr>
            <a:spLocks noGrp="1"/>
          </p:cNvSpPr>
          <p:nvPr>
            <p:ph type="sldNum" sz="quarter" idx="12"/>
          </p:nvPr>
        </p:nvSpPr>
        <p:spPr>
          <a:noFill/>
        </p:spPr>
        <p:txBody>
          <a:bodyPr/>
          <a:lstStyle/>
          <a:p>
            <a:fld id="{10709604-8AF4-448D-9246-A425CCA4AB37}" type="slidenum">
              <a:rPr lang="en-US" smtClean="0"/>
              <a:pPr/>
              <a:t>97</a:t>
            </a:fld>
            <a:endParaRPr lang="en-US" smtClean="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Number Placeholder 5"/>
          <p:cNvSpPr>
            <a:spLocks noGrp="1"/>
          </p:cNvSpPr>
          <p:nvPr>
            <p:ph type="sldNum" sz="quarter" idx="12"/>
          </p:nvPr>
        </p:nvSpPr>
        <p:spPr>
          <a:noFill/>
        </p:spPr>
        <p:txBody>
          <a:bodyPr/>
          <a:lstStyle/>
          <a:p>
            <a:fld id="{AAF6981B-21DD-4782-BF7D-8396432CBAFF}" type="slidenum">
              <a:rPr lang="en-US" smtClean="0"/>
              <a:pPr/>
              <a:t>98</a:t>
            </a:fld>
            <a:endParaRPr lang="en-US" smtClean="0"/>
          </a:p>
        </p:txBody>
      </p:sp>
      <p:sp>
        <p:nvSpPr>
          <p:cNvPr id="101379" name="Rectangle 2"/>
          <p:cNvSpPr>
            <a:spLocks noGrp="1" noChangeArrowheads="1"/>
          </p:cNvSpPr>
          <p:nvPr>
            <p:ph type="title"/>
          </p:nvPr>
        </p:nvSpPr>
        <p:spPr>
          <a:xfrm>
            <a:off x="609600" y="365125"/>
            <a:ext cx="8320088" cy="930275"/>
          </a:xfrm>
          <a:noFill/>
        </p:spPr>
        <p:txBody>
          <a:bodyPr lIns="92075" tIns="46038" rIns="92075" bIns="46038" anchor="b"/>
          <a:lstStyle/>
          <a:p>
            <a:pPr eaLnBrk="1" hangingPunct="1"/>
            <a:r>
              <a:rPr lang="en-US" sz="3600" smtClean="0"/>
              <a:t>Classification Accuracy: Estimating Error Rates</a:t>
            </a:r>
            <a:endParaRPr lang="en-US" sz="4000" smtClean="0"/>
          </a:p>
        </p:txBody>
      </p:sp>
      <p:sp>
        <p:nvSpPr>
          <p:cNvPr id="101380" name="Rectangle 3"/>
          <p:cNvSpPr>
            <a:spLocks noGrp="1" noChangeArrowheads="1"/>
          </p:cNvSpPr>
          <p:nvPr>
            <p:ph type="body" idx="1"/>
          </p:nvPr>
        </p:nvSpPr>
        <p:spPr>
          <a:xfrm>
            <a:off x="609600" y="1371600"/>
            <a:ext cx="8229600" cy="5075238"/>
          </a:xfrm>
          <a:noFill/>
        </p:spPr>
        <p:txBody>
          <a:bodyPr lIns="92075" tIns="46038" rIns="92075" bIns="46038"/>
          <a:lstStyle/>
          <a:p>
            <a:pPr eaLnBrk="1" hangingPunct="1">
              <a:lnSpc>
                <a:spcPct val="110000"/>
              </a:lnSpc>
            </a:pPr>
            <a:r>
              <a:rPr lang="en-US" sz="2400" smtClean="0"/>
              <a:t>Partition: Training-and-testing</a:t>
            </a:r>
          </a:p>
          <a:p>
            <a:pPr lvl="1" eaLnBrk="1" hangingPunct="1">
              <a:lnSpc>
                <a:spcPct val="110000"/>
              </a:lnSpc>
            </a:pPr>
            <a:r>
              <a:rPr lang="en-US" sz="2400" smtClean="0"/>
              <a:t>use two independent data sets, e.g., training set (2/3), test set(1/3)</a:t>
            </a:r>
          </a:p>
          <a:p>
            <a:pPr lvl="1" eaLnBrk="1" hangingPunct="1">
              <a:lnSpc>
                <a:spcPct val="110000"/>
              </a:lnSpc>
            </a:pPr>
            <a:r>
              <a:rPr lang="en-US" sz="2400" smtClean="0"/>
              <a:t>used for data set with large number of samples</a:t>
            </a:r>
          </a:p>
          <a:p>
            <a:pPr eaLnBrk="1" hangingPunct="1">
              <a:lnSpc>
                <a:spcPct val="110000"/>
              </a:lnSpc>
            </a:pPr>
            <a:r>
              <a:rPr lang="en-US" sz="2400" smtClean="0"/>
              <a:t>Cross-validation</a:t>
            </a:r>
          </a:p>
          <a:p>
            <a:pPr lvl="1" eaLnBrk="1" hangingPunct="1">
              <a:lnSpc>
                <a:spcPct val="110000"/>
              </a:lnSpc>
            </a:pPr>
            <a:r>
              <a:rPr lang="en-US" sz="2400" smtClean="0"/>
              <a:t>divide the data set into </a:t>
            </a:r>
            <a:r>
              <a:rPr lang="en-US" sz="2400" i="1" smtClean="0"/>
              <a:t>k</a:t>
            </a:r>
            <a:r>
              <a:rPr lang="en-US" sz="2400" smtClean="0"/>
              <a:t> subsamples</a:t>
            </a:r>
          </a:p>
          <a:p>
            <a:pPr lvl="1" eaLnBrk="1" hangingPunct="1">
              <a:lnSpc>
                <a:spcPct val="110000"/>
              </a:lnSpc>
            </a:pPr>
            <a:r>
              <a:rPr lang="en-US" sz="2400" smtClean="0"/>
              <a:t>use </a:t>
            </a:r>
            <a:r>
              <a:rPr lang="en-US" sz="2400" i="1" smtClean="0"/>
              <a:t>k-1</a:t>
            </a:r>
            <a:r>
              <a:rPr lang="en-US" sz="2400" smtClean="0"/>
              <a:t> subsamples as training data and one sub-sample as test data --- </a:t>
            </a:r>
            <a:r>
              <a:rPr lang="en-US" sz="2400" i="1" smtClean="0"/>
              <a:t>k</a:t>
            </a:r>
            <a:r>
              <a:rPr lang="en-US" sz="2400" smtClean="0"/>
              <a:t>-fold cross-validation</a:t>
            </a:r>
          </a:p>
          <a:p>
            <a:pPr lvl="1" eaLnBrk="1" hangingPunct="1">
              <a:lnSpc>
                <a:spcPct val="110000"/>
              </a:lnSpc>
            </a:pPr>
            <a:r>
              <a:rPr lang="en-US" sz="2400" smtClean="0"/>
              <a:t>for data set with moderate size</a:t>
            </a:r>
          </a:p>
          <a:p>
            <a:pPr eaLnBrk="1" hangingPunct="1">
              <a:lnSpc>
                <a:spcPct val="110000"/>
              </a:lnSpc>
            </a:pPr>
            <a:r>
              <a:rPr lang="en-US" sz="2400" smtClean="0"/>
              <a:t>Bootstrapping (leave-one-out)</a:t>
            </a:r>
          </a:p>
          <a:p>
            <a:pPr lvl="1" eaLnBrk="1" hangingPunct="1">
              <a:lnSpc>
                <a:spcPct val="110000"/>
              </a:lnSpc>
            </a:pPr>
            <a:r>
              <a:rPr lang="en-US" sz="2400" smtClean="0"/>
              <a:t>for small size data</a:t>
            </a:r>
          </a:p>
        </p:txBody>
      </p:sp>
    </p:spTree>
  </p:cSld>
  <p:clrMapOvr>
    <a:masterClrMapping/>
  </p:clrMapOvr>
  <p:transition>
    <p:checke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7685</TotalTime>
  <Words>7488</Words>
  <Application>Microsoft PowerPoint</Application>
  <PresentationFormat>On-screen Show (4:3)</PresentationFormat>
  <Paragraphs>1004</Paragraphs>
  <Slides>98</Slides>
  <Notes>14</Notes>
  <HiddenSlides>2</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4</vt:i4>
      </vt:variant>
      <vt:variant>
        <vt:lpstr>Slide Titles</vt:lpstr>
      </vt:variant>
      <vt:variant>
        <vt:i4>98</vt:i4>
      </vt:variant>
    </vt:vector>
  </HeadingPairs>
  <TitlesOfParts>
    <vt:vector size="114" baseType="lpstr">
      <vt:lpstr>Arial</vt:lpstr>
      <vt:lpstr>Times New Roman</vt:lpstr>
      <vt:lpstr>Tahoma</vt:lpstr>
      <vt:lpstr>Wingdings</vt:lpstr>
      <vt:lpstr>Marlett</vt:lpstr>
      <vt:lpstr>Wingdings 2</vt:lpstr>
      <vt:lpstr>Times-BoldItalic-8r</vt:lpstr>
      <vt:lpstr>Minion-Regular</vt:lpstr>
      <vt:lpstr>Minion-Italic</vt:lpstr>
      <vt:lpstr>Garamond</vt:lpstr>
      <vt:lpstr>Symbol</vt:lpstr>
      <vt:lpstr>Default Design</vt:lpstr>
      <vt:lpstr>Microsoft Excel Worksheet</vt:lpstr>
      <vt:lpstr>Microsoft Equation 3.0</vt:lpstr>
      <vt:lpstr>Adobe Photoshop Image</vt:lpstr>
      <vt:lpstr>Paint Shop Pro Image</vt:lpstr>
      <vt:lpstr>Classification and Prediction</vt:lpstr>
      <vt:lpstr>Classification and Prediction</vt:lpstr>
      <vt:lpstr>Slide 3</vt:lpstr>
      <vt:lpstr>What is Classification ? What is Prediction</vt:lpstr>
      <vt:lpstr>Slide 5</vt:lpstr>
      <vt:lpstr>Slide 6</vt:lpstr>
      <vt:lpstr>Classification Process (1): Model Construction</vt:lpstr>
      <vt:lpstr>Slide 8</vt:lpstr>
      <vt:lpstr>Slide 9</vt:lpstr>
      <vt:lpstr>Slide 10</vt:lpstr>
      <vt:lpstr>Classification Process (2): Use the Model in Prediction</vt:lpstr>
      <vt:lpstr>Slide 12</vt:lpstr>
      <vt:lpstr>Slide 13</vt:lpstr>
      <vt:lpstr>Classification vs. Prediction</vt:lpstr>
      <vt:lpstr>Classification— A Two-Step Process </vt:lpstr>
      <vt:lpstr>Classification Process (1): Model Construction</vt:lpstr>
      <vt:lpstr>Classification Process (2): Use the Model in Prediction</vt:lpstr>
      <vt:lpstr>Supervised vs. Unsupervised Learning</vt:lpstr>
      <vt:lpstr>Classification and Prediction</vt:lpstr>
      <vt:lpstr>Issues regarding classification and prediction</vt:lpstr>
      <vt:lpstr>Slide 21</vt:lpstr>
      <vt:lpstr>Slide 22</vt:lpstr>
      <vt:lpstr>Classification and Prediction</vt:lpstr>
      <vt:lpstr>Classification by Decision Tree Induction</vt:lpstr>
      <vt:lpstr>Training Dataset</vt:lpstr>
      <vt:lpstr>Algorithm for Decision Tree Induction</vt:lpstr>
      <vt:lpstr>Attribute Selection Measure</vt:lpstr>
      <vt:lpstr>Slide 28</vt:lpstr>
      <vt:lpstr>Information Gain (ID3/C4.5)</vt:lpstr>
      <vt:lpstr>Information Gain in Decision Tree Induction</vt:lpstr>
      <vt:lpstr>Attribute Selection by Information Gain Computation</vt:lpstr>
      <vt:lpstr>Slide 32</vt:lpstr>
      <vt:lpstr>Output: A Decision Tree for “buys_computer”</vt:lpstr>
      <vt:lpstr>Extracting Classification Rules from Trees</vt:lpstr>
      <vt:lpstr>Avoid Overfitting in Classification</vt:lpstr>
      <vt:lpstr>Enhancements to basic decision tree induction</vt:lpstr>
      <vt:lpstr>Classification in Large Databases</vt:lpstr>
      <vt:lpstr>Scalable Decision Tree Induction Methods in Data Mining Studies</vt:lpstr>
      <vt:lpstr>Classification and Prediction</vt:lpstr>
      <vt:lpstr>Bayesian Classification: Why?</vt:lpstr>
      <vt:lpstr>Bayesian Classification(contd..)</vt:lpstr>
      <vt:lpstr>Slide 42</vt:lpstr>
      <vt:lpstr>Bayesian Theorem</vt:lpstr>
      <vt:lpstr>The naïve Bayesian classifier(simple Bayesian classifier) works as follows:</vt:lpstr>
      <vt:lpstr>Slide 45</vt:lpstr>
      <vt:lpstr>Slide 46</vt:lpstr>
      <vt:lpstr>Naïve Bayesian Classification</vt:lpstr>
      <vt:lpstr>Slide 48</vt:lpstr>
      <vt:lpstr>Slide 49</vt:lpstr>
      <vt:lpstr>Slide 50</vt:lpstr>
      <vt:lpstr>Slide 51</vt:lpstr>
      <vt:lpstr>Slide 52</vt:lpstr>
      <vt:lpstr>Slide 53</vt:lpstr>
      <vt:lpstr>Bayesian Belief Networks (I)</vt:lpstr>
      <vt:lpstr>Slide 55</vt:lpstr>
      <vt:lpstr>Slide 56</vt:lpstr>
      <vt:lpstr>Classification and Prediction</vt:lpstr>
      <vt:lpstr>Slide 58</vt:lpstr>
      <vt:lpstr>Neural Networks </vt:lpstr>
      <vt:lpstr>Slide 60</vt:lpstr>
      <vt:lpstr>Slide 61</vt:lpstr>
      <vt:lpstr>Slide 62</vt:lpstr>
      <vt:lpstr>A  Neuron</vt:lpstr>
      <vt:lpstr>Network Training</vt:lpstr>
      <vt:lpstr>Multi-Layer Perceptron</vt:lpstr>
      <vt:lpstr>Network Pruning and Rule Extraction</vt:lpstr>
      <vt:lpstr>Classification and Prediction</vt:lpstr>
      <vt:lpstr>Association-Based Classification </vt:lpstr>
      <vt:lpstr>Mining Quantitative Association Rules</vt:lpstr>
      <vt:lpstr>Slide 70</vt:lpstr>
      <vt:lpstr>ARCS (Association Rule Clustering System)</vt:lpstr>
      <vt:lpstr>ARCS</vt:lpstr>
      <vt:lpstr>Slide 73</vt:lpstr>
      <vt:lpstr>Clustering the Association rule:</vt:lpstr>
      <vt:lpstr>Limitations of ARCS</vt:lpstr>
      <vt:lpstr>Classification and Prediction</vt:lpstr>
      <vt:lpstr>Other Classification Methods</vt:lpstr>
      <vt:lpstr>Instance-Based Methods</vt:lpstr>
      <vt:lpstr>The k-Nearest Neighbor Algorithm</vt:lpstr>
      <vt:lpstr>Slide 80</vt:lpstr>
      <vt:lpstr>Slide 81</vt:lpstr>
      <vt:lpstr>Remarks on Lazy vs. Eager Learning</vt:lpstr>
      <vt:lpstr>Classification and Prediction</vt:lpstr>
      <vt:lpstr>What Is Prediction?</vt:lpstr>
      <vt:lpstr>Predictive Modeling in Databases</vt:lpstr>
      <vt:lpstr>Regress Analysis and Log-Linear Models in Prediction </vt:lpstr>
      <vt:lpstr>Classification and Prediction</vt:lpstr>
      <vt:lpstr>Classifier Accuracy</vt:lpstr>
      <vt:lpstr>Estimating Classifier Accuracy</vt:lpstr>
      <vt:lpstr>Holdout Method and Random Subsampling </vt:lpstr>
      <vt:lpstr>Slide 91</vt:lpstr>
      <vt:lpstr>Cross-validation</vt:lpstr>
      <vt:lpstr>Bootstrap</vt:lpstr>
      <vt:lpstr>Ensemble Methods—Increasing the Accuracy </vt:lpstr>
      <vt:lpstr>Slide 95</vt:lpstr>
      <vt:lpstr>Boosting</vt:lpstr>
      <vt:lpstr>Slide 97</vt:lpstr>
      <vt:lpstr>Classification Accuracy: Estimating Error Rates</vt:lpstr>
    </vt:vector>
  </TitlesOfParts>
  <Company>S.F.U.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Jiawei Han</dc:creator>
  <cp:lastModifiedBy>Admin</cp:lastModifiedBy>
  <cp:revision>543</cp:revision>
  <cp:lastPrinted>1999-09-10T20:38:56Z</cp:lastPrinted>
  <dcterms:created xsi:type="dcterms:W3CDTF">1998-06-19T04:38:52Z</dcterms:created>
  <dcterms:modified xsi:type="dcterms:W3CDTF">2024-12-05T07:08:08Z</dcterms:modified>
</cp:coreProperties>
</file>