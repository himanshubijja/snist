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5" r:id="rId3"/>
    <p:sldId id="258" r:id="rId4"/>
    <p:sldId id="275" r:id="rId5"/>
    <p:sldId id="327" r:id="rId6"/>
    <p:sldId id="271" r:id="rId7"/>
    <p:sldId id="287" r:id="rId8"/>
    <p:sldId id="328" r:id="rId9"/>
    <p:sldId id="288" r:id="rId10"/>
    <p:sldId id="259" r:id="rId11"/>
    <p:sldId id="260" r:id="rId12"/>
    <p:sldId id="261" r:id="rId13"/>
    <p:sldId id="262" r:id="rId14"/>
    <p:sldId id="263" r:id="rId15"/>
    <p:sldId id="264" r:id="rId16"/>
    <p:sldId id="333" r:id="rId17"/>
    <p:sldId id="265" r:id="rId18"/>
    <p:sldId id="266" r:id="rId19"/>
    <p:sldId id="267" r:id="rId20"/>
    <p:sldId id="268" r:id="rId21"/>
    <p:sldId id="329" r:id="rId22"/>
    <p:sldId id="292" r:id="rId23"/>
    <p:sldId id="293" r:id="rId24"/>
    <p:sldId id="294" r:id="rId25"/>
    <p:sldId id="334" r:id="rId26"/>
    <p:sldId id="290" r:id="rId27"/>
    <p:sldId id="291"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3" r:id="rId43"/>
    <p:sldId id="314" r:id="rId44"/>
    <p:sldId id="315" r:id="rId45"/>
    <p:sldId id="316" r:id="rId46"/>
    <p:sldId id="317" r:id="rId47"/>
    <p:sldId id="330" r:id="rId48"/>
    <p:sldId id="318" r:id="rId49"/>
    <p:sldId id="331" r:id="rId50"/>
    <p:sldId id="319" r:id="rId51"/>
    <p:sldId id="320" r:id="rId52"/>
    <p:sldId id="322" r:id="rId53"/>
    <p:sldId id="323" r:id="rId54"/>
    <p:sldId id="324" r:id="rId55"/>
    <p:sldId id="325" r:id="rId56"/>
    <p:sldId id="332" r:id="rId57"/>
    <p:sldId id="336" r:id="rId58"/>
    <p:sldId id="337" r:id="rId59"/>
    <p:sldId id="338" r:id="rId60"/>
    <p:sldId id="339" r:id="rId61"/>
    <p:sldId id="340" r:id="rId62"/>
    <p:sldId id="3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64" d="100"/>
          <a:sy n="64" d="100"/>
        </p:scale>
        <p:origin x="-108" y="-1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08DE77-CF57-2CF5-A73A-31CD148B48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1086F205-2DC3-5B22-71E8-DB69344E6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0001AA04-5F75-8DD5-74F5-D6D44F1196F8}"/>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596237F6-F110-5E58-7DE0-D98D4EF36E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5768B23-68D5-753D-BB84-D084441EA0D8}"/>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72195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CCE7A0-B2BF-EAB6-E242-CF640BD57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65A650B2-7BF2-68A0-D07D-F09BC305A8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FEF7B4B-CFC4-1F82-3ED9-60314EB91845}"/>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6A5B164D-E5DB-3EAB-D4F6-33556DC58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B0A822A-7E5D-37D8-237F-2E0C21DF541B}"/>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351204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B85B70-AB97-DEEC-1D0C-BBE1C338E6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6B1BAA06-CFC4-06CB-71AC-C113E25A8C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46E9FFDA-A008-0E82-B0B2-CBB54EFE7991}"/>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FDAB1A9F-3B7B-CDDE-F0C6-5496BE1E1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D4918AF-8A4C-D8A3-4717-A28CB0FA429A}"/>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3856401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E323FD-A7E7-22E8-62F3-5073932A66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3C9F6F38-396B-982C-3FD9-36B6DAC364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7E01858F-DD83-F26E-2DCB-D66953F00F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6ADF1CC9-1FD6-98FF-D4EA-B5E8AB936A98}"/>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6" name="Footer Placeholder 5">
            <a:extLst>
              <a:ext uri="{FF2B5EF4-FFF2-40B4-BE49-F238E27FC236}">
                <a16:creationId xmlns="" xmlns:a16="http://schemas.microsoft.com/office/drawing/2014/main" id="{11094497-4C76-7CD6-338B-269C8B27F9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C7DC171-F982-3DB4-D8BC-5666717A2EB0}"/>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274391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271C53-FB35-4B6B-8403-F16F5D3048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10042C0D-1653-EC88-E479-74979FA695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B5EB559-76FF-0E48-9E0D-3FA1E89D20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818E8359-C022-7646-3856-A842B1AE80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D9E27C7-A907-CDB3-0CA7-DCD417BBE5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E3188DC-2724-C16B-46ED-8F152360AEF3}"/>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8" name="Footer Placeholder 7">
            <a:extLst>
              <a:ext uri="{FF2B5EF4-FFF2-40B4-BE49-F238E27FC236}">
                <a16:creationId xmlns="" xmlns:a16="http://schemas.microsoft.com/office/drawing/2014/main" id="{D9880476-418D-0E09-631B-C12F651681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2F4622BF-D671-1CF8-B346-4046A0867B41}"/>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36069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7AECEA-5C36-8719-12F1-0E0139422E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30E19781-D9B6-724A-EBD7-F6C36D646505}"/>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4" name="Footer Placeholder 3">
            <a:extLst>
              <a:ext uri="{FF2B5EF4-FFF2-40B4-BE49-F238E27FC236}">
                <a16:creationId xmlns="" xmlns:a16="http://schemas.microsoft.com/office/drawing/2014/main" id="{8ECD5C95-0E61-4CCF-359B-4AF97EABE7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93D33247-8B61-46C5-8445-91A93A1CE13A}"/>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164984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BF3E13D-0BB5-8BED-E375-E3E14DC459C5}"/>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3" name="Footer Placeholder 2">
            <a:extLst>
              <a:ext uri="{FF2B5EF4-FFF2-40B4-BE49-F238E27FC236}">
                <a16:creationId xmlns="" xmlns:a16="http://schemas.microsoft.com/office/drawing/2014/main" id="{4B03B640-3080-1438-0CB1-AA52890DD0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56B07EE-ACB1-3E03-C273-81247E74B57E}"/>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245509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84D45-5AF1-8093-5DC9-C42DDBDF9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187A5EFC-35C2-1146-8767-16615E40C0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E69536D1-6F3F-44BD-65BA-F7D14089FB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D2374EF-B525-B65F-9BB3-DDD380CC705F}"/>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6" name="Footer Placeholder 5">
            <a:extLst>
              <a:ext uri="{FF2B5EF4-FFF2-40B4-BE49-F238E27FC236}">
                <a16:creationId xmlns="" xmlns:a16="http://schemas.microsoft.com/office/drawing/2014/main" id="{DCF03C78-C55A-7B82-1785-AF4DED7670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C668A47-29FA-5D27-141A-E638FE7A9C4A}"/>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2428716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B0579F-0FB0-9CCD-DFF4-679A4C995A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7ACCA848-DE0A-D41F-2080-511F796D75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8CC2A58B-3072-8067-4626-FEEAEAC7F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A5F781C-E47A-FBBE-1BAC-AFF41DD3B068}"/>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6" name="Footer Placeholder 5">
            <a:extLst>
              <a:ext uri="{FF2B5EF4-FFF2-40B4-BE49-F238E27FC236}">
                <a16:creationId xmlns="" xmlns:a16="http://schemas.microsoft.com/office/drawing/2014/main" id="{D5037690-AB71-4D70-EEDC-E6363C75A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EC4CCDF-DA3B-DD91-116B-11CEF5963E3E}"/>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2970736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396075-ADFA-2336-21CA-1AAE791E9C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EFA46746-7EF5-C86C-35FC-3462A7FECD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9239423-3139-0D1D-1B68-3B101E2FA658}"/>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B58F6BEB-49BE-8A2F-F85E-73CF3C21E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0976D57-3F47-9604-3F1E-AA95AA5028DC}"/>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3662847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CE3E3D8C-93C7-2F3A-1056-FAE1539B6D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C654F29-5A5E-BBE6-F66B-3897490EB0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81249CF-633A-409E-B6E5-846B2C2E8153}"/>
              </a:ext>
            </a:extLst>
          </p:cNvPr>
          <p:cNvSpPr>
            <a:spLocks noGrp="1"/>
          </p:cNvSpPr>
          <p:nvPr>
            <p:ph type="dt" sz="half" idx="10"/>
          </p:nvPr>
        </p:nvSpPr>
        <p:spPr/>
        <p:txBody>
          <a:body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95C07763-4551-394C-CEE4-BCE3683E24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222D822-BDDD-7042-AB0D-A163A3EE0387}"/>
              </a:ext>
            </a:extLst>
          </p:cNvPr>
          <p:cNvSpPr>
            <a:spLocks noGrp="1"/>
          </p:cNvSpPr>
          <p:nvPr>
            <p:ph type="sldNum" sz="quarter" idx="12"/>
          </p:nvPr>
        </p:nvSpPr>
        <p:spPr/>
        <p:txBody>
          <a:body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2192233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9D20759-C870-4919-F519-14765EE38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1CD40796-A4C0-2C88-A260-F7EC171F69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81F0451-04E3-A4DF-FBBB-A225FC92A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28B0CA-9277-47AC-8EE3-9D5F5339CE2B}" type="datetimeFigureOut">
              <a:rPr lang="en-US" smtClean="0"/>
              <a:pPr/>
              <a:t>11/19/2025</a:t>
            </a:fld>
            <a:endParaRPr lang="en-US"/>
          </a:p>
        </p:txBody>
      </p:sp>
      <p:sp>
        <p:nvSpPr>
          <p:cNvPr id="5" name="Footer Placeholder 4">
            <a:extLst>
              <a:ext uri="{FF2B5EF4-FFF2-40B4-BE49-F238E27FC236}">
                <a16:creationId xmlns="" xmlns:a16="http://schemas.microsoft.com/office/drawing/2014/main" id="{1428DC07-B5D7-5B63-5321-AC122E6DA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957AAE32-1888-4762-99EF-559759E204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8046C5-80BC-43F0-A2F3-0181D8281D9C}" type="slidenum">
              <a:rPr lang="en-US" smtClean="0"/>
              <a:pPr/>
              <a:t>‹#›</a:t>
            </a:fld>
            <a:endParaRPr lang="en-US"/>
          </a:p>
        </p:txBody>
      </p:sp>
    </p:spTree>
    <p:extLst>
      <p:ext uri="{BB962C8B-B14F-4D97-AF65-F5344CB8AC3E}">
        <p14:creationId xmlns="" xmlns:p14="http://schemas.microsoft.com/office/powerpoint/2010/main" val="1140667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dropbox.com/s/l3om4v0avt92xdu/benefits.jpg?dl=0"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AD2517-4289-8D58-44B1-A56D9AFA54C0}"/>
              </a:ext>
            </a:extLst>
          </p:cNvPr>
          <p:cNvSpPr>
            <a:spLocks noGrp="1"/>
          </p:cNvSpPr>
          <p:nvPr>
            <p:ph type="title"/>
          </p:nvPr>
        </p:nvSpPr>
        <p:spPr>
          <a:xfrm>
            <a:off x="823210" y="3093335"/>
            <a:ext cx="10515600" cy="1325563"/>
          </a:xfrm>
        </p:spPr>
        <p:txBody>
          <a:bodyPr>
            <a:normAutofit/>
          </a:bodyPr>
          <a:lstStyle/>
          <a:p>
            <a:pPr algn="ctr"/>
            <a:r>
              <a:rPr lang="en-US" sz="6000" b="1" dirty="0" smtClean="0">
                <a:solidFill>
                  <a:srgbClr val="FF0000"/>
                </a:solidFill>
                <a:latin typeface="Times New Roman" pitchFamily="18" charset="0"/>
                <a:cs typeface="Times New Roman" pitchFamily="18" charset="0"/>
              </a:rPr>
              <a:t>UNIT </a:t>
            </a:r>
            <a:r>
              <a:rPr lang="en-US" sz="6000" b="1" dirty="0" smtClean="0">
                <a:solidFill>
                  <a:srgbClr val="FF0000"/>
                </a:solidFill>
                <a:latin typeface="Times New Roman" pitchFamily="18" charset="0"/>
                <a:cs typeface="Times New Roman" pitchFamily="18" charset="0"/>
              </a:rPr>
              <a:t>4</a:t>
            </a:r>
            <a:endParaRPr lang="en-US" sz="6000" b="1" dirty="0">
              <a:solidFill>
                <a:srgbClr val="FF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2897511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1"/>
          <p:cNvSpPr>
            <a:spLocks noChangeArrowheads="1"/>
          </p:cNvSpPr>
          <p:nvPr/>
        </p:nvSpPr>
        <p:spPr bwMode="auto">
          <a:xfrm>
            <a:off x="464695" y="539646"/>
            <a:ext cx="10073391"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lang="en-US" sz="2400" b="1" dirty="0" smtClean="0">
                <a:latin typeface="Times New Roman" pitchFamily="18" charset="0"/>
                <a:cs typeface="Times New Roman" pitchFamily="18" charset="0"/>
              </a:rPr>
              <a:t>Contents: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Basics of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NumPy</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Arrays - The Basics of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NumPy</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Arrays - Aggregations: Min, Max,</a:t>
            </a:r>
            <a:r>
              <a:rPr lang="en-US" sz="2400" dirty="0" smtClean="0">
                <a:latin typeface="Arial" pitchFamily="34" charset="0"/>
                <a:ea typeface="Calibri" pitchFamily="34" charset="0"/>
                <a:cs typeface="Arial" pitchFamily="34" charset="0"/>
              </a:rPr>
              <a:t> </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and Everything in Between - Computation on Arrays: Broadcasting - Fancy Indexing</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Data Manipulation with Pandas - Introducing Pandas Objects - Data Indexing and</a:t>
            </a:r>
            <a:r>
              <a:rPr lang="en-US" sz="2400" dirty="0" smtClean="0">
                <a:latin typeface="Arial" pitchFamily="34" charset="0"/>
                <a:ea typeface="Calibri" pitchFamily="34" charset="0"/>
                <a:cs typeface="Arial" pitchFamily="34" charset="0"/>
              </a:rPr>
              <a:t> </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Selection - Handling Missing Data - Combining Datasets: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Concat</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and Append – Aggregation</a:t>
            </a:r>
            <a:r>
              <a:rPr lang="en-US" sz="2400" dirty="0" smtClean="0">
                <a:latin typeface="Arial" pitchFamily="34" charset="0"/>
                <a:ea typeface="Calibri" pitchFamily="34" charset="0"/>
                <a:cs typeface="Arial" pitchFamily="34" charset="0"/>
              </a:rPr>
              <a:t> </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and Grouping. Visualization with Matplotlib - Importing matplotlib - Simple Line Plots - Simple Scatter</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Plots - Histograms, </a:t>
            </a:r>
            <a:r>
              <a:rPr kumimoji="0" lang="en-US" sz="2400" b="0"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Binnings</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and Density </a:t>
            </a:r>
            <a:r>
              <a:rPr kumimoji="0" lang="en-US" sz="2400" b="0" i="0" u="none" strike="noStrike" cap="none" normalizeH="0" baseline="0" dirty="0" smtClean="0">
                <a:ln>
                  <a:noFill/>
                </a:ln>
                <a:solidFill>
                  <a:schemeClr val="tx1"/>
                </a:solidFill>
                <a:effectLst/>
                <a:latin typeface="Calibri"/>
                <a:ea typeface="Calibri" pitchFamily="34" charset="0"/>
                <a:cs typeface="Times New Roman" pitchFamily="18" charset="0"/>
              </a:rPr>
              <a:t>–</a:t>
            </a:r>
            <a:r>
              <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case study: Effect of Holidays on US Births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5642B5-3882-4BCB-8C11-5A7AEB5F0EB8}"/>
              </a:ext>
            </a:extLst>
          </p:cNvPr>
          <p:cNvSpPr>
            <a:spLocks noGrp="1"/>
          </p:cNvSpPr>
          <p:nvPr>
            <p:ph type="ctrTitle"/>
          </p:nvPr>
        </p:nvSpPr>
        <p:spPr/>
        <p:txBody>
          <a:bodyPr/>
          <a:lstStyle/>
          <a:p>
            <a:r>
              <a:rPr lang="en-US" dirty="0">
                <a:latin typeface="Times New Roman" pitchFamily="18" charset="0"/>
                <a:cs typeface="Times New Roman" pitchFamily="18" charset="0"/>
              </a:rPr>
              <a:t>Introduction to </a:t>
            </a:r>
            <a:r>
              <a:rPr lang="en-US" dirty="0" err="1">
                <a:latin typeface="Times New Roman" pitchFamily="18" charset="0"/>
                <a:cs typeface="Times New Roman" pitchFamily="18" charset="0"/>
              </a:rPr>
              <a:t>Numpy</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48547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FA7B459-B304-4D76-9C7F-8C7A337E9304}"/>
              </a:ext>
            </a:extLst>
          </p:cNvPr>
          <p:cNvSpPr>
            <a:spLocks noGrp="1"/>
          </p:cNvSpPr>
          <p:nvPr>
            <p:ph idx="1"/>
          </p:nvPr>
        </p:nvSpPr>
        <p:spPr>
          <a:xfrm>
            <a:off x="115410" y="79900"/>
            <a:ext cx="11238390" cy="6631618"/>
          </a:xfrm>
        </p:spPr>
        <p:txBody>
          <a:bodyPr>
            <a:normAutofit/>
          </a:bodyPr>
          <a:lstStyle/>
          <a:p>
            <a:pPr algn="just"/>
            <a:r>
              <a:rPr lang="en-US" b="1" i="0" dirty="0">
                <a:effectLst/>
                <a:latin typeface="Times New Roman" panose="02020603050405020304" pitchFamily="18" charset="0"/>
                <a:cs typeface="Times New Roman" panose="02020603050405020304" pitchFamily="18" charset="0"/>
              </a:rPr>
              <a:t>Python Lists vs NumPy Arrays – What’s the Difference Python Lists vs NumPy Arrays </a:t>
            </a:r>
            <a:r>
              <a:rPr lang="en-US" b="1" i="0" dirty="0" smtClean="0">
                <a:effectLst/>
                <a:latin typeface="Times New Roman" panose="02020603050405020304" pitchFamily="18" charset="0"/>
                <a:cs typeface="Times New Roman" panose="02020603050405020304" pitchFamily="18" charset="0"/>
              </a:rPr>
              <a:t>?</a:t>
            </a:r>
          </a:p>
          <a:p>
            <a:pPr algn="just">
              <a:buNone/>
            </a:pP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why use NumPy arrays when we already have Python lists? After all, these Python lists act as an array that can store elements of various types. </a:t>
            </a:r>
          </a:p>
          <a:p>
            <a:pPr algn="just"/>
            <a:r>
              <a:rPr lang="en-US" b="0" i="0" dirty="0">
                <a:effectLst/>
                <a:latin typeface="Times New Roman" panose="02020603050405020304" pitchFamily="18" charset="0"/>
                <a:cs typeface="Times New Roman" panose="02020603050405020304" pitchFamily="18" charset="0"/>
              </a:rPr>
              <a:t>This is a perfectly valid question and the answer to this is hidden in the way Python stores an object in memory.</a:t>
            </a:r>
          </a:p>
          <a:p>
            <a:pPr algn="just"/>
            <a:r>
              <a:rPr lang="en-US" b="0" i="0" dirty="0">
                <a:effectLst/>
                <a:latin typeface="Times New Roman" panose="02020603050405020304" pitchFamily="18" charset="0"/>
                <a:cs typeface="Times New Roman" panose="02020603050405020304" pitchFamily="18" charset="0"/>
              </a:rPr>
              <a:t>A Python object is actually a pointer to a memory location that stores all the details about the object, like bytes and the value. Although this extra information is what makes Python a dynamically typed language, it also comes at a cost which becomes apparent when storing a large collection of objects, like in an array.</a:t>
            </a:r>
          </a:p>
          <a:p>
            <a:pPr algn="just"/>
            <a:r>
              <a:rPr lang="en-US" b="0" i="0" dirty="0">
                <a:effectLst/>
                <a:latin typeface="Times New Roman" panose="02020603050405020304" pitchFamily="18" charset="0"/>
                <a:cs typeface="Times New Roman" panose="02020603050405020304" pitchFamily="18" charset="0"/>
              </a:rPr>
              <a:t>Python lists are essentially an array of pointers, each pointing to a location that contains the information related to the element</a:t>
            </a:r>
            <a:r>
              <a:rPr lang="en-US" b="0" i="0" dirty="0" smtClean="0">
                <a:effectLst/>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321935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6142"/>
            <a:ext cx="10515600" cy="4351338"/>
          </a:xfrm>
        </p:spPr>
        <p:txBody>
          <a:bodyPr>
            <a:noAutofit/>
          </a:bodyPr>
          <a:lstStyle/>
          <a:p>
            <a:pPr algn="just"/>
            <a:r>
              <a:rPr lang="en-US" dirty="0">
                <a:solidFill>
                  <a:srgbClr val="595858"/>
                </a:solidFill>
                <a:latin typeface="Times New Roman" panose="02020603050405020304" pitchFamily="18" charset="0"/>
                <a:cs typeface="Times New Roman" panose="02020603050405020304" pitchFamily="18" charset="0"/>
              </a:rPr>
              <a:t> This adds a lot of overhead in terms of memory and computation. And most of this information is rendered redundant when all the objects stored in the list are of the same type!</a:t>
            </a:r>
          </a:p>
          <a:p>
            <a:pPr algn="just"/>
            <a:r>
              <a:rPr lang="en-US" b="1" dirty="0">
                <a:solidFill>
                  <a:srgbClr val="333333"/>
                </a:solidFill>
                <a:latin typeface="Times New Roman" panose="02020603050405020304" pitchFamily="18" charset="0"/>
                <a:cs typeface="Times New Roman" panose="02020603050405020304" pitchFamily="18" charset="0"/>
              </a:rPr>
              <a:t>To overcome this problem, we use </a:t>
            </a:r>
            <a:r>
              <a:rPr lang="en-US" b="1" dirty="0" err="1">
                <a:solidFill>
                  <a:srgbClr val="333333"/>
                </a:solidFill>
                <a:latin typeface="Times New Roman" panose="02020603050405020304" pitchFamily="18" charset="0"/>
                <a:cs typeface="Times New Roman" panose="02020603050405020304" pitchFamily="18" charset="0"/>
              </a:rPr>
              <a:t>NumPy</a:t>
            </a:r>
            <a:r>
              <a:rPr lang="en-US" b="1" dirty="0">
                <a:solidFill>
                  <a:srgbClr val="333333"/>
                </a:solidFill>
                <a:latin typeface="Times New Roman" panose="02020603050405020304" pitchFamily="18" charset="0"/>
                <a:cs typeface="Times New Roman" panose="02020603050405020304" pitchFamily="18" charset="0"/>
              </a:rPr>
              <a:t> arrays that contain only homogeneous elements</a:t>
            </a:r>
            <a:r>
              <a:rPr lang="en-US" dirty="0">
                <a:solidFill>
                  <a:srgbClr val="595858"/>
                </a:solidFill>
                <a:latin typeface="Times New Roman" panose="02020603050405020304" pitchFamily="18" charset="0"/>
                <a:cs typeface="Times New Roman" panose="02020603050405020304" pitchFamily="18" charset="0"/>
              </a:rPr>
              <a:t>, i.e. elements having the same data type. </a:t>
            </a:r>
          </a:p>
          <a:p>
            <a:pPr algn="just"/>
            <a:r>
              <a:rPr lang="en-US" dirty="0">
                <a:solidFill>
                  <a:srgbClr val="595858"/>
                </a:solidFill>
                <a:latin typeface="Times New Roman" panose="02020603050405020304" pitchFamily="18" charset="0"/>
                <a:cs typeface="Times New Roman" panose="02020603050405020304" pitchFamily="18" charset="0"/>
              </a:rPr>
              <a:t>This makes it more efficient at storing and manipulating the array. </a:t>
            </a:r>
          </a:p>
          <a:p>
            <a:pPr algn="just"/>
            <a:r>
              <a:rPr lang="en-US" dirty="0">
                <a:solidFill>
                  <a:srgbClr val="595858"/>
                </a:solidFill>
                <a:latin typeface="Times New Roman" panose="02020603050405020304" pitchFamily="18" charset="0"/>
                <a:cs typeface="Times New Roman" panose="02020603050405020304" pitchFamily="18" charset="0"/>
              </a:rPr>
              <a:t>This difference becomes apparent when the array has a large number of elements, say thousands or millions.</a:t>
            </a:r>
          </a:p>
          <a:p>
            <a:pPr algn="just"/>
            <a:r>
              <a:rPr lang="en-US" dirty="0">
                <a:solidFill>
                  <a:srgbClr val="595858"/>
                </a:solidFill>
                <a:latin typeface="Times New Roman" panose="02020603050405020304" pitchFamily="18" charset="0"/>
                <a:cs typeface="Times New Roman" panose="02020603050405020304" pitchFamily="18" charset="0"/>
              </a:rPr>
              <a:t> </a:t>
            </a:r>
            <a:r>
              <a:rPr lang="en-US" b="1" dirty="0">
                <a:solidFill>
                  <a:srgbClr val="333333"/>
                </a:solidFill>
                <a:latin typeface="Times New Roman" panose="02020603050405020304" pitchFamily="18" charset="0"/>
                <a:cs typeface="Times New Roman" panose="02020603050405020304" pitchFamily="18" charset="0"/>
              </a:rPr>
              <a:t>Also, with </a:t>
            </a:r>
            <a:r>
              <a:rPr lang="en-US" b="1" dirty="0" err="1">
                <a:solidFill>
                  <a:srgbClr val="333333"/>
                </a:solidFill>
                <a:latin typeface="Times New Roman" panose="02020603050405020304" pitchFamily="18" charset="0"/>
                <a:cs typeface="Times New Roman" panose="02020603050405020304" pitchFamily="18" charset="0"/>
              </a:rPr>
              <a:t>NumPy</a:t>
            </a:r>
            <a:r>
              <a:rPr lang="en-US" b="1" dirty="0">
                <a:solidFill>
                  <a:srgbClr val="333333"/>
                </a:solidFill>
                <a:latin typeface="Times New Roman" panose="02020603050405020304" pitchFamily="18" charset="0"/>
                <a:cs typeface="Times New Roman" panose="02020603050405020304" pitchFamily="18" charset="0"/>
              </a:rPr>
              <a:t> arrays, you can perform element-wise operations, something which is not possible using Python lists!</a:t>
            </a:r>
            <a:endParaRPr lang="en-US" dirty="0">
              <a:solidFill>
                <a:srgbClr val="595858"/>
              </a:solidFill>
              <a:latin typeface="Times New Roman" panose="02020603050405020304" pitchFamily="18" charset="0"/>
              <a:cs typeface="Times New Roman" panose="02020603050405020304" pitchFamily="18" charset="0"/>
            </a:endParaRPr>
          </a:p>
          <a:p>
            <a:pPr algn="just"/>
            <a:r>
              <a:rPr lang="en-US" dirty="0">
                <a:solidFill>
                  <a:srgbClr val="595858"/>
                </a:solidFill>
                <a:latin typeface="Times New Roman" panose="02020603050405020304" pitchFamily="18" charset="0"/>
                <a:cs typeface="Times New Roman" panose="02020603050405020304" pitchFamily="18" charset="0"/>
              </a:rPr>
              <a:t>This is the reason why </a:t>
            </a:r>
            <a:r>
              <a:rPr lang="en-US" dirty="0" err="1">
                <a:solidFill>
                  <a:srgbClr val="595858"/>
                </a:solidFill>
                <a:latin typeface="Times New Roman" panose="02020603050405020304" pitchFamily="18" charset="0"/>
                <a:cs typeface="Times New Roman" panose="02020603050405020304" pitchFamily="18" charset="0"/>
              </a:rPr>
              <a:t>NumPy</a:t>
            </a:r>
            <a:r>
              <a:rPr lang="en-US" dirty="0">
                <a:solidFill>
                  <a:srgbClr val="595858"/>
                </a:solidFill>
                <a:latin typeface="Times New Roman" panose="02020603050405020304" pitchFamily="18" charset="0"/>
                <a:cs typeface="Times New Roman" panose="02020603050405020304" pitchFamily="18" charset="0"/>
              </a:rPr>
              <a:t> arrays are preferred over Python lists when performing mathematical operations on a large amount of data.</a:t>
            </a:r>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430323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F81BDAA-2A58-4A60-83A6-8FBCACA56345}"/>
              </a:ext>
            </a:extLst>
          </p:cNvPr>
          <p:cNvSpPr>
            <a:spLocks noGrp="1"/>
          </p:cNvSpPr>
          <p:nvPr>
            <p:ph idx="1"/>
          </p:nvPr>
        </p:nvSpPr>
        <p:spPr>
          <a:xfrm>
            <a:off x="257452" y="150920"/>
            <a:ext cx="11096348" cy="6622742"/>
          </a:xfrm>
        </p:spPr>
        <p:txBody>
          <a:bodyPr/>
          <a:lstStyle/>
          <a:p>
            <a:pPr marL="0" indent="0" algn="l">
              <a:buNone/>
            </a:pPr>
            <a:r>
              <a:rPr lang="en-US" b="1" i="0" dirty="0">
                <a:solidFill>
                  <a:srgbClr val="333333"/>
                </a:solidFill>
                <a:effectLst/>
                <a:latin typeface="Times New Roman" panose="02020603050405020304" pitchFamily="18" charset="0"/>
                <a:cs typeface="Times New Roman" panose="02020603050405020304" pitchFamily="18" charset="0"/>
              </a:rPr>
              <a:t>What is a pip?</a:t>
            </a:r>
          </a:p>
          <a:p>
            <a:pPr algn="l"/>
            <a:r>
              <a:rPr lang="en-US" b="0" i="0" dirty="0">
                <a:solidFill>
                  <a:srgbClr val="595858"/>
                </a:solidFill>
                <a:effectLst/>
                <a:latin typeface="Times New Roman" panose="02020603050405020304" pitchFamily="18" charset="0"/>
                <a:cs typeface="Times New Roman" panose="02020603050405020304" pitchFamily="18" charset="0"/>
              </a:rPr>
              <a:t> Pip is a standard package management system used to install and manage the software packages written in python.</a:t>
            </a:r>
          </a:p>
          <a:p>
            <a:pPr algn="l"/>
            <a:r>
              <a:rPr lang="en-US" b="0" i="0" dirty="0">
                <a:solidFill>
                  <a:srgbClr val="595858"/>
                </a:solidFill>
                <a:effectLst/>
                <a:latin typeface="Times New Roman" panose="02020603050405020304" pitchFamily="18" charset="0"/>
                <a:cs typeface="Times New Roman" panose="02020603050405020304" pitchFamily="18" charset="0"/>
              </a:rPr>
              <a:t>We can use pip to install additional packages that are not available in the Python standard library</a:t>
            </a:r>
          </a:p>
          <a:p>
            <a:pPr algn="l"/>
            <a:r>
              <a:rPr lang="en-US" b="1" i="0" dirty="0">
                <a:solidFill>
                  <a:srgbClr val="333333"/>
                </a:solidFill>
                <a:effectLst/>
                <a:latin typeface="Times New Roman" panose="02020603050405020304" pitchFamily="18" charset="0"/>
                <a:cs typeface="Times New Roman" panose="02020603050405020304" pitchFamily="18" charset="0"/>
              </a:rPr>
              <a:t> What are the various commands of pip?</a:t>
            </a:r>
          </a:p>
          <a:p>
            <a:pPr algn="l"/>
            <a:r>
              <a:rPr lang="en-US" b="0" i="0" dirty="0">
                <a:solidFill>
                  <a:srgbClr val="595858"/>
                </a:solidFill>
                <a:effectLst/>
                <a:latin typeface="Times New Roman" panose="02020603050405020304" pitchFamily="18" charset="0"/>
                <a:cs typeface="Times New Roman" panose="02020603050405020304" pitchFamily="18" charset="0"/>
              </a:rPr>
              <a:t>Below are the various commands of pip to be run in the command prompt/terminal</a:t>
            </a:r>
          </a:p>
          <a:p>
            <a:pPr algn="l">
              <a:buFont typeface="Arial" panose="020B0604020202020204" pitchFamily="34" charset="0"/>
              <a:buChar char="•"/>
            </a:pPr>
            <a:r>
              <a:rPr lang="en-US" b="0" i="0" dirty="0">
                <a:solidFill>
                  <a:srgbClr val="595858"/>
                </a:solidFill>
                <a:effectLst/>
                <a:latin typeface="Times New Roman" panose="02020603050405020304" pitchFamily="18" charset="0"/>
                <a:cs typeface="Times New Roman" panose="02020603050405020304" pitchFamily="18" charset="0"/>
              </a:rPr>
              <a:t>List all the packages-&gt; pip list</a:t>
            </a:r>
          </a:p>
          <a:p>
            <a:pPr algn="l">
              <a:buFont typeface="Arial" panose="020B0604020202020204" pitchFamily="34" charset="0"/>
              <a:buChar char="•"/>
            </a:pPr>
            <a:r>
              <a:rPr lang="en-US" b="0" i="0" dirty="0">
                <a:solidFill>
                  <a:srgbClr val="595858"/>
                </a:solidFill>
                <a:effectLst/>
                <a:latin typeface="Times New Roman" panose="02020603050405020304" pitchFamily="18" charset="0"/>
                <a:cs typeface="Times New Roman" panose="02020603050405020304" pitchFamily="18" charset="0"/>
              </a:rPr>
              <a:t>Install package -&gt; pip install package Name; an example is:  </a:t>
            </a:r>
            <a:r>
              <a:rPr lang="en-US" b="1" i="0" dirty="0">
                <a:solidFill>
                  <a:srgbClr val="595858"/>
                </a:solidFill>
                <a:effectLst/>
                <a:latin typeface="Times New Roman" panose="02020603050405020304" pitchFamily="18" charset="0"/>
                <a:cs typeface="Times New Roman" panose="02020603050405020304" pitchFamily="18" charset="0"/>
              </a:rPr>
              <a:t>pip install </a:t>
            </a:r>
            <a:r>
              <a:rPr lang="en-US" b="1" i="0" dirty="0" err="1">
                <a:solidFill>
                  <a:srgbClr val="595858"/>
                </a:solidFill>
                <a:effectLst/>
                <a:latin typeface="Times New Roman" panose="02020603050405020304" pitchFamily="18" charset="0"/>
                <a:cs typeface="Times New Roman" panose="02020603050405020304" pitchFamily="18" charset="0"/>
              </a:rPr>
              <a:t>Numpy</a:t>
            </a:r>
            <a:endParaRPr lang="en-US" b="0" i="0" dirty="0">
              <a:solidFill>
                <a:srgbClr val="595858"/>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595858"/>
                </a:solidFill>
                <a:effectLst/>
                <a:latin typeface="Times New Roman" panose="02020603050405020304" pitchFamily="18" charset="0"/>
                <a:cs typeface="Times New Roman" panose="02020603050405020304" pitchFamily="18" charset="0"/>
              </a:rPr>
              <a:t>Uninstall package -&gt; pip uninstall package Name</a:t>
            </a:r>
          </a:p>
          <a:p>
            <a:pPr algn="l">
              <a:buFont typeface="Arial" panose="020B0604020202020204" pitchFamily="34" charset="0"/>
              <a:buChar char="•"/>
            </a:pPr>
            <a:r>
              <a:rPr lang="en-US" b="0" i="0" dirty="0">
                <a:solidFill>
                  <a:srgbClr val="595858"/>
                </a:solidFill>
                <a:effectLst/>
                <a:latin typeface="Times New Roman" panose="02020603050405020304" pitchFamily="18" charset="0"/>
                <a:cs typeface="Times New Roman" panose="02020603050405020304" pitchFamily="18" charset="0"/>
              </a:rPr>
              <a:t>Search a package -&gt; pip search package Name</a:t>
            </a:r>
          </a:p>
          <a:p>
            <a:pPr marL="0" indent="0">
              <a:buNone/>
            </a:pPr>
            <a:endParaRPr lang="en-US" dirty="0"/>
          </a:p>
        </p:txBody>
      </p:sp>
    </p:spTree>
    <p:extLst>
      <p:ext uri="{BB962C8B-B14F-4D97-AF65-F5344CB8AC3E}">
        <p14:creationId xmlns="" xmlns:p14="http://schemas.microsoft.com/office/powerpoint/2010/main" val="2323701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A420781-62D3-45F5-BA5D-DB0E9D46967A}"/>
              </a:ext>
            </a:extLst>
          </p:cNvPr>
          <p:cNvSpPr>
            <a:spLocks noGrp="1"/>
          </p:cNvSpPr>
          <p:nvPr>
            <p:ph idx="1"/>
          </p:nvPr>
        </p:nvSpPr>
        <p:spPr>
          <a:xfrm>
            <a:off x="177553" y="984738"/>
            <a:ext cx="11833934" cy="4670474"/>
          </a:xfrm>
        </p:spPr>
        <p:txBody>
          <a:bodyPr>
            <a:normAutofit/>
          </a:bodyPr>
          <a:lstStyle/>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What is NumPy and Why NumPy is an important library to work with data?</a:t>
            </a:r>
          </a:p>
          <a:p>
            <a:pPr algn="l"/>
            <a:r>
              <a:rPr lang="en-US" b="0" i="0" dirty="0">
                <a:solidFill>
                  <a:srgbClr val="595858"/>
                </a:solidFill>
                <a:effectLst/>
                <a:latin typeface="Times New Roman" panose="02020603050405020304" pitchFamily="18" charset="0"/>
                <a:cs typeface="Times New Roman" panose="02020603050405020304" pitchFamily="18" charset="0"/>
              </a:rPr>
              <a:t>NumPy is a Python library widely used to handle arrays with arrays. </a:t>
            </a:r>
          </a:p>
          <a:p>
            <a:pPr algn="l"/>
            <a:r>
              <a:rPr lang="en-US" b="0" i="0" dirty="0" err="1">
                <a:solidFill>
                  <a:srgbClr val="595858"/>
                </a:solidFill>
                <a:effectLst/>
                <a:latin typeface="Times New Roman" panose="02020603050405020304" pitchFamily="18" charset="0"/>
                <a:cs typeface="Times New Roman" panose="02020603050405020304" pitchFamily="18" charset="0"/>
              </a:rPr>
              <a:t>Numpy</a:t>
            </a:r>
            <a:r>
              <a:rPr lang="en-US" b="0" i="0" dirty="0">
                <a:solidFill>
                  <a:srgbClr val="595858"/>
                </a:solidFill>
                <a:effectLst/>
                <a:latin typeface="Times New Roman" panose="02020603050405020304" pitchFamily="18" charset="0"/>
                <a:cs typeface="Times New Roman" panose="02020603050405020304" pitchFamily="18" charset="0"/>
              </a:rPr>
              <a:t> can handle oversized, multi-dimensional arrays and matrices, along with a large collection of mathematical operations to operate on these arrays. </a:t>
            </a:r>
          </a:p>
          <a:p>
            <a:pPr algn="l"/>
            <a:r>
              <a:rPr lang="en-US" b="0" i="0" dirty="0">
                <a:solidFill>
                  <a:srgbClr val="595858"/>
                </a:solidFill>
                <a:effectLst/>
                <a:latin typeface="Times New Roman" panose="02020603050405020304" pitchFamily="18" charset="0"/>
                <a:cs typeface="Times New Roman" panose="02020603050405020304" pitchFamily="18" charset="0"/>
              </a:rPr>
              <a:t>It stands for </a:t>
            </a:r>
            <a:r>
              <a:rPr lang="en-US" b="0" i="0" u="sng" dirty="0">
                <a:solidFill>
                  <a:srgbClr val="595858"/>
                </a:solidFill>
                <a:effectLst/>
                <a:latin typeface="Times New Roman" panose="02020603050405020304" pitchFamily="18" charset="0"/>
                <a:cs typeface="Times New Roman" panose="02020603050405020304" pitchFamily="18" charset="0"/>
              </a:rPr>
              <a:t>numerical python</a:t>
            </a:r>
            <a:r>
              <a:rPr lang="en-US" b="0" i="0" dirty="0">
                <a:solidFill>
                  <a:srgbClr val="595858"/>
                </a:solidFill>
                <a:effectLst/>
                <a:latin typeface="Times New Roman" panose="02020603050405020304" pitchFamily="18" charset="0"/>
                <a:cs typeface="Times New Roman" panose="02020603050405020304" pitchFamily="18" charset="0"/>
              </a:rPr>
              <a:t>. NumPy can provide an array object that is  </a:t>
            </a:r>
            <a:r>
              <a:rPr lang="en-US" b="1" i="1" dirty="0">
                <a:solidFill>
                  <a:srgbClr val="595858"/>
                </a:solidFill>
                <a:effectLst/>
                <a:latin typeface="Times New Roman" panose="02020603050405020304" pitchFamily="18" charset="0"/>
                <a:cs typeface="Times New Roman" panose="02020603050405020304" pitchFamily="18" charset="0"/>
              </a:rPr>
              <a:t>50 times faster</a:t>
            </a:r>
            <a:r>
              <a:rPr lang="en-US" b="0" i="0" dirty="0">
                <a:solidFill>
                  <a:srgbClr val="595858"/>
                </a:solidFill>
                <a:effectLst/>
                <a:latin typeface="Times New Roman" panose="02020603050405020304" pitchFamily="18" charset="0"/>
                <a:cs typeface="Times New Roman" panose="02020603050405020304" pitchFamily="18" charset="0"/>
              </a:rPr>
              <a:t> than traditional Python lists.</a:t>
            </a:r>
          </a:p>
          <a:p>
            <a:pPr algn="l"/>
            <a:r>
              <a:rPr lang="en-US" b="0" i="0" dirty="0">
                <a:solidFill>
                  <a:srgbClr val="595858"/>
                </a:solidFill>
                <a:effectLst/>
                <a:latin typeface="Times New Roman" panose="02020603050405020304" pitchFamily="18" charset="0"/>
                <a:cs typeface="Times New Roman" panose="02020603050405020304" pitchFamily="18" charset="0"/>
              </a:rPr>
              <a:t>An array occupies less memory and is extremely convenient to use as compared to python lists.  </a:t>
            </a:r>
          </a:p>
        </p:txBody>
      </p:sp>
    </p:spTree>
    <p:extLst>
      <p:ext uri="{BB962C8B-B14F-4D97-AF65-F5344CB8AC3E}">
        <p14:creationId xmlns="" xmlns:p14="http://schemas.microsoft.com/office/powerpoint/2010/main" val="1396833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34321" y="1151067"/>
            <a:ext cx="10515600" cy="4351338"/>
          </a:xfrm>
        </p:spPr>
        <p:txBody>
          <a:bodyPr>
            <a:normAutofit/>
          </a:bodyPr>
          <a:lstStyle/>
          <a:p>
            <a:pPr algn="just"/>
            <a:r>
              <a:rPr lang="en-US" dirty="0">
                <a:solidFill>
                  <a:srgbClr val="595858"/>
                </a:solidFill>
                <a:latin typeface="Times New Roman" panose="02020603050405020304" pitchFamily="18" charset="0"/>
                <a:cs typeface="Times New Roman" panose="02020603050405020304" pitchFamily="18" charset="0"/>
              </a:rPr>
              <a:t>Additionally, it has a mechanism for specifying the data types. </a:t>
            </a:r>
            <a:r>
              <a:rPr lang="en-US" dirty="0" err="1">
                <a:solidFill>
                  <a:srgbClr val="595858"/>
                </a:solidFill>
                <a:latin typeface="Times New Roman" panose="02020603050405020304" pitchFamily="18" charset="0"/>
                <a:cs typeface="Times New Roman" panose="02020603050405020304" pitchFamily="18" charset="0"/>
              </a:rPr>
              <a:t>NumPy</a:t>
            </a:r>
            <a:r>
              <a:rPr lang="en-US" dirty="0">
                <a:solidFill>
                  <a:srgbClr val="595858"/>
                </a:solidFill>
                <a:latin typeface="Times New Roman" panose="02020603050405020304" pitchFamily="18" charset="0"/>
                <a:cs typeface="Times New Roman" panose="02020603050405020304" pitchFamily="18" charset="0"/>
              </a:rPr>
              <a:t> can operate on individual elements in the array without using loops and list comprehensions.</a:t>
            </a:r>
          </a:p>
          <a:p>
            <a:pPr algn="just"/>
            <a:r>
              <a:rPr lang="en-US" dirty="0">
                <a:solidFill>
                  <a:srgbClr val="595858"/>
                </a:solidFill>
                <a:latin typeface="Times New Roman" panose="02020603050405020304" pitchFamily="18" charset="0"/>
                <a:cs typeface="Times New Roman" panose="02020603050405020304" pitchFamily="18" charset="0"/>
              </a:rPr>
              <a:t>Now, before diving deep into the concept of </a:t>
            </a:r>
            <a:r>
              <a:rPr lang="en-US" dirty="0" err="1">
                <a:solidFill>
                  <a:srgbClr val="595858"/>
                </a:solidFill>
                <a:latin typeface="Times New Roman" panose="02020603050405020304" pitchFamily="18" charset="0"/>
                <a:cs typeface="Times New Roman" panose="02020603050405020304" pitchFamily="18" charset="0"/>
              </a:rPr>
              <a:t>NumPy</a:t>
            </a:r>
            <a:r>
              <a:rPr lang="en-US" dirty="0">
                <a:solidFill>
                  <a:srgbClr val="595858"/>
                </a:solidFill>
                <a:latin typeface="Times New Roman" panose="02020603050405020304" pitchFamily="18" charset="0"/>
                <a:cs typeface="Times New Roman" panose="02020603050405020304" pitchFamily="18" charset="0"/>
              </a:rPr>
              <a:t> arrays, it’s important to note that Python lists can very well perform all the actions that </a:t>
            </a:r>
            <a:r>
              <a:rPr lang="en-US" dirty="0" err="1">
                <a:solidFill>
                  <a:srgbClr val="595858"/>
                </a:solidFill>
                <a:latin typeface="Times New Roman" panose="02020603050405020304" pitchFamily="18" charset="0"/>
                <a:cs typeface="Times New Roman" panose="02020603050405020304" pitchFamily="18" charset="0"/>
              </a:rPr>
              <a:t>NumPy</a:t>
            </a:r>
            <a:r>
              <a:rPr lang="en-US" dirty="0">
                <a:solidFill>
                  <a:srgbClr val="595858"/>
                </a:solidFill>
                <a:latin typeface="Times New Roman" panose="02020603050405020304" pitchFamily="18" charset="0"/>
                <a:cs typeface="Times New Roman" panose="02020603050405020304" pitchFamily="18" charset="0"/>
              </a:rPr>
              <a:t> arrays </a:t>
            </a:r>
            <a:r>
              <a:rPr lang="en-US" dirty="0" smtClean="0">
                <a:solidFill>
                  <a:srgbClr val="595858"/>
                </a:solidFill>
                <a:latin typeface="Times New Roman" panose="02020603050405020304" pitchFamily="18" charset="0"/>
                <a:cs typeface="Times New Roman" panose="02020603050405020304" pitchFamily="18" charset="0"/>
              </a:rPr>
              <a:t>perform</a:t>
            </a:r>
            <a:r>
              <a:rPr lang="en-US" dirty="0">
                <a:solidFill>
                  <a:srgbClr val="595858"/>
                </a:solidFill>
                <a:latin typeface="Times New Roman" panose="02020603050405020304" pitchFamily="18" charset="0"/>
                <a:cs typeface="Times New Roman" panose="02020603050405020304" pitchFamily="18" charset="0"/>
              </a:rPr>
              <a:t>.</a:t>
            </a:r>
          </a:p>
          <a:p>
            <a:pPr algn="just"/>
            <a:r>
              <a:rPr lang="en-US" dirty="0" smtClean="0">
                <a:solidFill>
                  <a:srgbClr val="595858"/>
                </a:solidFill>
                <a:latin typeface="Times New Roman" panose="02020603050405020304" pitchFamily="18" charset="0"/>
                <a:cs typeface="Times New Roman" panose="02020603050405020304" pitchFamily="18" charset="0"/>
              </a:rPr>
              <a:t>It </a:t>
            </a:r>
            <a:r>
              <a:rPr lang="en-US" dirty="0">
                <a:solidFill>
                  <a:srgbClr val="595858"/>
                </a:solidFill>
                <a:latin typeface="Times New Roman" panose="02020603050405020304" pitchFamily="18" charset="0"/>
                <a:cs typeface="Times New Roman" panose="02020603050405020304" pitchFamily="18" charset="0"/>
              </a:rPr>
              <a:t>is simply the fact that </a:t>
            </a:r>
            <a:r>
              <a:rPr lang="en-US" dirty="0" err="1">
                <a:solidFill>
                  <a:srgbClr val="595858"/>
                </a:solidFill>
                <a:latin typeface="Times New Roman" panose="02020603050405020304" pitchFamily="18" charset="0"/>
                <a:cs typeface="Times New Roman" panose="02020603050405020304" pitchFamily="18" charset="0"/>
              </a:rPr>
              <a:t>NumPy</a:t>
            </a:r>
            <a:r>
              <a:rPr lang="en-US" dirty="0">
                <a:solidFill>
                  <a:srgbClr val="595858"/>
                </a:solidFill>
                <a:latin typeface="Times New Roman" panose="02020603050405020304" pitchFamily="18" charset="0"/>
                <a:cs typeface="Times New Roman" panose="02020603050405020304" pitchFamily="18" charset="0"/>
              </a:rPr>
              <a:t> arrays are faster and more convenient </a:t>
            </a:r>
            <a:r>
              <a:rPr lang="en-US" dirty="0" smtClean="0">
                <a:solidFill>
                  <a:srgbClr val="595858"/>
                </a:solidFill>
                <a:latin typeface="Times New Roman" panose="02020603050405020304" pitchFamily="18" charset="0"/>
                <a:cs typeface="Times New Roman" panose="02020603050405020304" pitchFamily="18" charset="0"/>
              </a:rPr>
              <a:t>than </a:t>
            </a:r>
            <a:r>
              <a:rPr lang="en-US" dirty="0">
                <a:solidFill>
                  <a:srgbClr val="595858"/>
                </a:solidFill>
                <a:latin typeface="Times New Roman" panose="02020603050405020304" pitchFamily="18" charset="0"/>
                <a:cs typeface="Times New Roman" panose="02020603050405020304" pitchFamily="18" charset="0"/>
              </a:rPr>
              <a:t>lists when it comes extensive computations, which make them extremely useful, especially when you are working with a large amount of data</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687274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FB9CD7B-31C2-4480-A8A2-18134115E789}"/>
              </a:ext>
            </a:extLst>
          </p:cNvPr>
          <p:cNvSpPr>
            <a:spLocks noGrp="1"/>
          </p:cNvSpPr>
          <p:nvPr>
            <p:ph idx="1"/>
          </p:nvPr>
        </p:nvSpPr>
        <p:spPr>
          <a:xfrm>
            <a:off x="248575" y="266330"/>
            <a:ext cx="11780668" cy="6480699"/>
          </a:xfrm>
        </p:spPr>
        <p:txBody>
          <a:bodyPr>
            <a:normAutofit fontScale="92500" lnSpcReduction="10000"/>
          </a:bodyPr>
          <a:lstStyle/>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Installing NumPy in your System</a:t>
            </a:r>
          </a:p>
          <a:p>
            <a:pPr marL="0" indent="0">
              <a:buNone/>
            </a:pPr>
            <a:r>
              <a:rPr lang="en-US" dirty="0">
                <a:latin typeface="Times New Roman" panose="02020603050405020304" pitchFamily="18" charset="0"/>
                <a:cs typeface="Times New Roman" panose="02020603050405020304" pitchFamily="18" charset="0"/>
              </a:rPr>
              <a:t>$ pip install </a:t>
            </a:r>
            <a:r>
              <a:rPr lang="en-US" dirty="0" err="1">
                <a:latin typeface="Times New Roman" panose="02020603050405020304" pitchFamily="18" charset="0"/>
                <a:cs typeface="Times New Roman" panose="02020603050405020304" pitchFamily="18" charset="0"/>
              </a:rPr>
              <a:t>numpy</a:t>
            </a:r>
            <a:endParaRPr lang="en-US" dirty="0">
              <a:latin typeface="Times New Roman" panose="02020603050405020304" pitchFamily="18" charset="0"/>
              <a:cs typeface="Times New Roman" panose="02020603050405020304" pitchFamily="18" charset="0"/>
            </a:endParaRP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Once </a:t>
            </a:r>
            <a:r>
              <a:rPr lang="en-US" b="0" i="0" dirty="0" err="1">
                <a:solidFill>
                  <a:srgbClr val="595858"/>
                </a:solidFill>
                <a:effectLst/>
                <a:latin typeface="Times New Roman" panose="02020603050405020304" pitchFamily="18" charset="0"/>
                <a:cs typeface="Times New Roman" panose="02020603050405020304" pitchFamily="18" charset="0"/>
              </a:rPr>
              <a:t>Numpy</a:t>
            </a:r>
            <a:r>
              <a:rPr lang="en-US" b="0" i="0" dirty="0">
                <a:solidFill>
                  <a:srgbClr val="595858"/>
                </a:solidFill>
                <a:effectLst/>
                <a:latin typeface="Times New Roman" panose="02020603050405020304" pitchFamily="18" charset="0"/>
                <a:cs typeface="Times New Roman" panose="02020603050405020304" pitchFamily="18" charset="0"/>
              </a:rPr>
              <a:t> is successfully installed in your system</a:t>
            </a:r>
          </a:p>
          <a:p>
            <a:pPr marL="0" indent="0">
              <a:buNone/>
            </a:pPr>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as np</a:t>
            </a:r>
          </a:p>
          <a:p>
            <a:pPr marL="0" indent="0">
              <a:buNone/>
            </a:pPr>
            <a:r>
              <a:rPr lang="en-US" dirty="0">
                <a:latin typeface="Times New Roman" panose="02020603050405020304" pitchFamily="18" charset="0"/>
                <a:cs typeface="Times New Roman" panose="02020603050405020304" pitchFamily="18" charset="0"/>
              </a:rPr>
              <a:t>where np is an alias used for NumPy so that the NumPy package can be referred to as np instead of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two ways to create NumPy arrays</a:t>
            </a: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By converting the existing lists or tuples to arrays using </a:t>
            </a:r>
            <a:r>
              <a:rPr lang="en-US" b="0" i="0" dirty="0" err="1">
                <a:solidFill>
                  <a:srgbClr val="000000"/>
                </a:solidFill>
                <a:effectLst/>
                <a:latin typeface="Times New Roman" panose="02020603050405020304" pitchFamily="18" charset="0"/>
                <a:cs typeface="Times New Roman" panose="02020603050405020304" pitchFamily="18" charset="0"/>
              </a:rPr>
              <a:t>np.array</a:t>
            </a:r>
            <a:endParaRPr lang="en-US" b="0" i="0" dirty="0">
              <a:solidFill>
                <a:srgbClr val="595858"/>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By initializing fixed-length arrays using the </a:t>
            </a:r>
            <a:r>
              <a:rPr lang="en-US" b="0" i="0" dirty="0" err="1">
                <a:solidFill>
                  <a:srgbClr val="000000"/>
                </a:solidFill>
                <a:effectLst/>
                <a:latin typeface="Times New Roman" panose="02020603050405020304" pitchFamily="18" charset="0"/>
                <a:cs typeface="Times New Roman" panose="02020603050405020304" pitchFamily="18" charset="0"/>
              </a:rPr>
              <a:t>Numpy</a:t>
            </a:r>
            <a:r>
              <a:rPr lang="en-US" b="0" i="0" dirty="0">
                <a:solidFill>
                  <a:srgbClr val="000000"/>
                </a:solidFill>
                <a:effectLst/>
                <a:latin typeface="Times New Roman" panose="02020603050405020304" pitchFamily="18" charset="0"/>
                <a:cs typeface="Times New Roman" panose="02020603050405020304" pitchFamily="18" charset="0"/>
              </a:rPr>
              <a:t> functions.</a:t>
            </a:r>
            <a:endParaRPr lang="en-US" b="0" i="0" dirty="0">
              <a:solidFill>
                <a:srgbClr val="595858"/>
              </a:solidFill>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#Creating a 1D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array</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([1,2,3,4,5])</a:t>
            </a:r>
          </a:p>
          <a:p>
            <a:pPr marL="0" indent="0">
              <a:buNone/>
            </a:pPr>
            <a:r>
              <a:rPr lang="en-US" dirty="0">
                <a:latin typeface="Times New Roman" panose="02020603050405020304" pitchFamily="18" charset="0"/>
                <a:cs typeface="Times New Roman" panose="02020603050405020304" pitchFamily="18" charset="0"/>
              </a:rPr>
              <a:t>#Creating a 2D array</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 [  [1,2,3],</a:t>
            </a:r>
          </a:p>
          <a:p>
            <a:pPr marL="0" indent="0">
              <a:buNone/>
            </a:pPr>
            <a:r>
              <a:rPr lang="en-US" dirty="0">
                <a:latin typeface="Times New Roman" panose="02020603050405020304" pitchFamily="18" charset="0"/>
                <a:cs typeface="Times New Roman" panose="02020603050405020304" pitchFamily="18" charset="0"/>
              </a:rPr>
              <a:t>                   [4,5,6] ] )</a:t>
            </a:r>
          </a:p>
        </p:txBody>
      </p:sp>
    </p:spTree>
    <p:extLst>
      <p:ext uri="{BB962C8B-B14F-4D97-AF65-F5344CB8AC3E}">
        <p14:creationId xmlns="" xmlns:p14="http://schemas.microsoft.com/office/powerpoint/2010/main" val="1554147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C92A5A6-2F31-44CB-9BC0-351F6969664D}"/>
              </a:ext>
            </a:extLst>
          </p:cNvPr>
          <p:cNvSpPr>
            <a:spLocks noGrp="1"/>
          </p:cNvSpPr>
          <p:nvPr>
            <p:ph idx="1"/>
          </p:nvPr>
        </p:nvSpPr>
        <p:spPr>
          <a:xfrm>
            <a:off x="159797" y="239696"/>
            <a:ext cx="11798423" cy="6383045"/>
          </a:xfrm>
        </p:spPr>
        <p:txBody>
          <a:bodyPr/>
          <a:lstStyle/>
          <a:p>
            <a:pPr marL="0" indent="0">
              <a:buNone/>
            </a:pPr>
            <a:r>
              <a:rPr lang="en-US" dirty="0">
                <a:latin typeface="Times New Roman" panose="02020603050405020304" pitchFamily="18" charset="0"/>
                <a:cs typeface="Times New Roman" panose="02020603050405020304" pitchFamily="18" charset="0"/>
              </a:rPr>
              <a:t># Creating array of ones</a:t>
            </a:r>
          </a:p>
          <a:p>
            <a:pPr marL="0" indent="0">
              <a:buNone/>
            </a:pPr>
            <a:r>
              <a:rPr lang="en-US" dirty="0" err="1">
                <a:latin typeface="Times New Roman" panose="02020603050405020304" pitchFamily="18" charset="0"/>
                <a:cs typeface="Times New Roman" panose="02020603050405020304" pitchFamily="18" charset="0"/>
              </a:rPr>
              <a:t>np.ones</a:t>
            </a:r>
            <a:r>
              <a:rPr lang="en-US" dirty="0">
                <a:latin typeface="Times New Roman" panose="02020603050405020304" pitchFamily="18" charset="0"/>
                <a:cs typeface="Times New Roman" panose="02020603050405020304" pitchFamily="18" charset="0"/>
              </a:rPr>
              <a:t>(5) #1D </a:t>
            </a:r>
          </a:p>
          <a:p>
            <a:pPr marL="0" indent="0">
              <a:buNone/>
            </a:pPr>
            <a:r>
              <a:rPr lang="en-US" dirty="0" err="1">
                <a:latin typeface="Times New Roman" panose="02020603050405020304" pitchFamily="18" charset="0"/>
                <a:cs typeface="Times New Roman" panose="02020603050405020304" pitchFamily="18" charset="0"/>
              </a:rPr>
              <a:t>np.ones</a:t>
            </a:r>
            <a:r>
              <a:rPr lang="en-US" dirty="0">
                <a:latin typeface="Times New Roman" panose="02020603050405020304" pitchFamily="18" charset="0"/>
                <a:cs typeface="Times New Roman" panose="02020603050405020304" pitchFamily="18" charset="0"/>
              </a:rPr>
              <a:t>( (3,5) ) #2D</a:t>
            </a:r>
          </a:p>
          <a:p>
            <a:pPr marL="0" indent="0">
              <a:buNone/>
            </a:pPr>
            <a:r>
              <a:rPr lang="en-US" dirty="0">
                <a:latin typeface="Times New Roman" panose="02020603050405020304" pitchFamily="18" charset="0"/>
                <a:cs typeface="Times New Roman" panose="02020603050405020304" pitchFamily="18" charset="0"/>
              </a:rPr>
              <a:t># Change the default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of an array </a:t>
            </a:r>
          </a:p>
          <a:p>
            <a:pPr marL="0" indent="0">
              <a:buNone/>
            </a:pPr>
            <a:r>
              <a:rPr lang="en-US" dirty="0" err="1">
                <a:latin typeface="Times New Roman" panose="02020603050405020304" pitchFamily="18" charset="0"/>
                <a:cs typeface="Times New Roman" panose="02020603050405020304" pitchFamily="18" charset="0"/>
              </a:rPr>
              <a:t>np.ones</a:t>
            </a: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 np.int) # creating array of integers</a:t>
            </a:r>
          </a:p>
          <a:p>
            <a:pPr marL="0" indent="0">
              <a:buNone/>
            </a:pPr>
            <a:r>
              <a:rPr lang="en-US" dirty="0" err="1">
                <a:latin typeface="Times New Roman" panose="02020603050405020304" pitchFamily="18" charset="0"/>
                <a:cs typeface="Times New Roman" panose="02020603050405020304" pitchFamily="18" charset="0"/>
              </a:rPr>
              <a:t>np.ones</a:t>
            </a: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np.float</a:t>
            </a:r>
            <a:r>
              <a:rPr lang="en-US" dirty="0">
                <a:latin typeface="Times New Roman" panose="02020603050405020304" pitchFamily="18" charset="0"/>
                <a:cs typeface="Times New Roman" panose="02020603050405020304" pitchFamily="18" charset="0"/>
              </a:rPr>
              <a:t> ) # creating array of floats</a:t>
            </a:r>
          </a:p>
          <a:p>
            <a:pPr marL="0" indent="0">
              <a:buNone/>
            </a:pPr>
            <a:r>
              <a:rPr lang="en-US" dirty="0">
                <a:latin typeface="Times New Roman" panose="02020603050405020304" pitchFamily="18" charset="0"/>
                <a:cs typeface="Times New Roman" panose="02020603050405020304" pitchFamily="18" charset="0"/>
              </a:rPr>
              <a:t># Creating array of random numbers</a:t>
            </a:r>
          </a:p>
          <a:p>
            <a:pPr marL="0" indent="0">
              <a:buNone/>
            </a:pPr>
            <a:r>
              <a:rPr lang="en-US" dirty="0" err="1">
                <a:latin typeface="Times New Roman" panose="02020603050405020304" pitchFamily="18" charset="0"/>
                <a:cs typeface="Times New Roman" panose="02020603050405020304" pitchFamily="18" charset="0"/>
              </a:rPr>
              <a:t>np.random.random</a:t>
            </a:r>
            <a:r>
              <a:rPr lang="en-US" dirty="0">
                <a:latin typeface="Times New Roman" panose="02020603050405020304" pitchFamily="18" charset="0"/>
                <a:cs typeface="Times New Roman" panose="02020603050405020304" pitchFamily="18" charset="0"/>
              </a:rPr>
              <a:t>( [3,4] ) </a:t>
            </a:r>
          </a:p>
          <a:p>
            <a:pPr marL="0" indent="0">
              <a:buNone/>
            </a:pPr>
            <a:r>
              <a:rPr lang="en-US" dirty="0">
                <a:latin typeface="Times New Roman" panose="02020603050405020304" pitchFamily="18" charset="0"/>
                <a:cs typeface="Times New Roman" panose="02020603050405020304" pitchFamily="18" charset="0"/>
              </a:rPr>
              <a:t>#creating an array of numbers 1 to 100 with step of 5</a:t>
            </a:r>
          </a:p>
          <a:p>
            <a:pPr marL="0" indent="0">
              <a:buNone/>
            </a:pPr>
            <a:r>
              <a:rPr lang="en-US" dirty="0" err="1">
                <a:latin typeface="Times New Roman" panose="02020603050405020304" pitchFamily="18" charset="0"/>
                <a:cs typeface="Times New Roman" panose="02020603050405020304" pitchFamily="18" charset="0"/>
              </a:rPr>
              <a:t>np.arange</a:t>
            </a:r>
            <a:r>
              <a:rPr lang="en-US" dirty="0">
                <a:latin typeface="Times New Roman" panose="02020603050405020304" pitchFamily="18" charset="0"/>
                <a:cs typeface="Times New Roman" panose="02020603050405020304" pitchFamily="18" charset="0"/>
              </a:rPr>
              <a:t>(1,100,5)</a:t>
            </a:r>
          </a:p>
          <a:p>
            <a:pPr marL="0" indent="0">
              <a:buNone/>
            </a:pPr>
            <a:r>
              <a:rPr lang="en-US" dirty="0">
                <a:latin typeface="Times New Roman" panose="02020603050405020304" pitchFamily="18" charset="0"/>
                <a:cs typeface="Times New Roman" panose="02020603050405020304" pitchFamily="18" charset="0"/>
              </a:rPr>
              <a:t>#Creating an array of length 25 between 1 to 10</a:t>
            </a:r>
          </a:p>
          <a:p>
            <a:pPr marL="0" indent="0">
              <a:buNone/>
            </a:pPr>
            <a:r>
              <a:rPr lang="en-US" dirty="0" err="1">
                <a:latin typeface="Times New Roman" panose="02020603050405020304" pitchFamily="18" charset="0"/>
                <a:cs typeface="Times New Roman" panose="02020603050405020304" pitchFamily="18" charset="0"/>
              </a:rPr>
              <a:t>np.linspace</a:t>
            </a:r>
            <a:r>
              <a:rPr lang="en-US" dirty="0">
                <a:latin typeface="Times New Roman" panose="02020603050405020304" pitchFamily="18" charset="0"/>
                <a:cs typeface="Times New Roman" panose="02020603050405020304" pitchFamily="18" charset="0"/>
              </a:rPr>
              <a:t>(1,10,25)  # It equally divides 1 to 100 in 25 parts</a:t>
            </a:r>
          </a:p>
        </p:txBody>
      </p:sp>
    </p:spTree>
    <p:extLst>
      <p:ext uri="{BB962C8B-B14F-4D97-AF65-F5344CB8AC3E}">
        <p14:creationId xmlns="" xmlns:p14="http://schemas.microsoft.com/office/powerpoint/2010/main" val="690818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A25B4B2-2153-4ED7-9AB4-9FE57636E94D}"/>
              </a:ext>
            </a:extLst>
          </p:cNvPr>
          <p:cNvSpPr>
            <a:spLocks noGrp="1"/>
          </p:cNvSpPr>
          <p:nvPr>
            <p:ph idx="1"/>
          </p:nvPr>
        </p:nvSpPr>
        <p:spPr>
          <a:xfrm>
            <a:off x="168675" y="204186"/>
            <a:ext cx="11789545" cy="6653814"/>
          </a:xfrm>
        </p:spPr>
        <p:txBody>
          <a:bodyPr/>
          <a:lstStyle/>
          <a:p>
            <a:pPr marL="0" indent="0">
              <a:buNone/>
            </a:pPr>
            <a:r>
              <a:rPr lang="en-US" dirty="0">
                <a:latin typeface="Times New Roman" panose="02020603050405020304" pitchFamily="18" charset="0"/>
                <a:cs typeface="Times New Roman" panose="02020603050405020304" pitchFamily="18" charset="0"/>
              </a:rPr>
              <a:t>#Creating an array of length 25 between 1 to 10</a:t>
            </a:r>
          </a:p>
          <a:p>
            <a:pPr marL="0" indent="0">
              <a:buNone/>
            </a:pPr>
            <a:r>
              <a:rPr lang="en-US" dirty="0" err="1">
                <a:latin typeface="Times New Roman" panose="02020603050405020304" pitchFamily="18" charset="0"/>
                <a:cs typeface="Times New Roman" panose="02020603050405020304" pitchFamily="18" charset="0"/>
              </a:rPr>
              <a:t>np.linspace</a:t>
            </a:r>
            <a:r>
              <a:rPr lang="en-US" dirty="0">
                <a:latin typeface="Times New Roman" panose="02020603050405020304" pitchFamily="18" charset="0"/>
                <a:cs typeface="Times New Roman" panose="02020603050405020304" pitchFamily="18" charset="0"/>
              </a:rPr>
              <a:t>(1,10,25)  # It equally divides 1 to 100 in 25 parts</a:t>
            </a:r>
          </a:p>
          <a:p>
            <a:pPr marL="0" indent="0">
              <a:buNone/>
            </a:pPr>
            <a:r>
              <a:rPr lang="en-US" dirty="0">
                <a:latin typeface="Times New Roman" panose="02020603050405020304" pitchFamily="18" charset="0"/>
                <a:cs typeface="Times New Roman" panose="02020603050405020304" pitchFamily="18" charset="0"/>
              </a:rPr>
              <a:t># To create an array of repeating sequence</a:t>
            </a:r>
          </a:p>
          <a:p>
            <a:pPr marL="0" indent="0">
              <a:buNone/>
            </a:pPr>
            <a:r>
              <a:rPr lang="en-US" dirty="0" err="1">
                <a:latin typeface="Times New Roman" panose="02020603050405020304" pitchFamily="18" charset="0"/>
                <a:cs typeface="Times New Roman" panose="02020603050405020304" pitchFamily="18" charset="0"/>
              </a:rPr>
              <a:t>np.tile</a:t>
            </a:r>
            <a:r>
              <a:rPr lang="en-US" dirty="0">
                <a:latin typeface="Times New Roman" panose="02020603050405020304" pitchFamily="18" charset="0"/>
                <a:cs typeface="Times New Roman" panose="02020603050405020304" pitchFamily="18" charset="0"/>
              </a:rPr>
              <a:t>( [1,2,3] , 3 ) # The op will look like [ 1,2,3,1,2,3,1,2,3 ]</a:t>
            </a:r>
          </a:p>
          <a:p>
            <a:pPr marL="0" indent="0">
              <a:buNone/>
            </a:pPr>
            <a:r>
              <a:rPr lang="en-US" dirty="0">
                <a:latin typeface="Times New Roman" panose="02020603050405020304" pitchFamily="18" charset="0"/>
                <a:cs typeface="Times New Roman" panose="02020603050405020304" pitchFamily="18" charset="0"/>
              </a:rPr>
              <a:t># Creating an array of identity matrix</a:t>
            </a:r>
          </a:p>
          <a:p>
            <a:pPr marL="0" indent="0">
              <a:buNone/>
            </a:pPr>
            <a:r>
              <a:rPr lang="en-US" dirty="0" err="1">
                <a:latin typeface="Times New Roman" panose="02020603050405020304" pitchFamily="18" charset="0"/>
                <a:cs typeface="Times New Roman" panose="02020603050405020304" pitchFamily="18" charset="0"/>
              </a:rPr>
              <a:t>np.eye</a:t>
            </a:r>
            <a:r>
              <a:rPr lang="en-US" dirty="0">
                <a:latin typeface="Times New Roman" panose="02020603050405020304" pitchFamily="18" charset="0"/>
                <a:cs typeface="Times New Roman" panose="02020603050405020304" pitchFamily="18" charset="0"/>
              </a:rPr>
              <a:t>(3,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 int )   # it will create an 3x3 identity matrix</a:t>
            </a:r>
          </a:p>
          <a:p>
            <a:pPr marL="0" indent="0">
              <a:buNone/>
            </a:pPr>
            <a:r>
              <a:rPr lang="en-US" dirty="0">
                <a:latin typeface="Times New Roman" panose="02020603050405020304" pitchFamily="18" charset="0"/>
                <a:cs typeface="Times New Roman" panose="02020603050405020304" pitchFamily="18" charset="0"/>
              </a:rPr>
              <a:t>#create a matrix of random integer between a particular range</a:t>
            </a:r>
          </a:p>
          <a:p>
            <a:pPr marL="0" indent="0">
              <a:buNone/>
            </a:pPr>
            <a:r>
              <a:rPr lang="en-US" dirty="0" err="1">
                <a:latin typeface="Times New Roman" panose="02020603050405020304" pitchFamily="18" charset="0"/>
                <a:cs typeface="Times New Roman" panose="02020603050405020304" pitchFamily="18" charset="0"/>
              </a:rPr>
              <a:t>np.random.randint</a:t>
            </a:r>
            <a:r>
              <a:rPr lang="en-US" dirty="0">
                <a:latin typeface="Times New Roman" panose="02020603050405020304" pitchFamily="18" charset="0"/>
                <a:cs typeface="Times New Roman" panose="02020603050405020304" pitchFamily="18" charset="0"/>
              </a:rPr>
              <a:t>(0, 10, (3,3))  #3x3 array of random integers ranging from 0 to 9</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creating uninitialized array of specific shape and </a:t>
            </a:r>
            <a:r>
              <a:rPr lang="en-US" dirty="0" err="1">
                <a:latin typeface="Times New Roman" panose="02020603050405020304" pitchFamily="18" charset="0"/>
                <a:cs typeface="Times New Roman" panose="02020603050405020304" pitchFamily="18" charset="0"/>
              </a:rPr>
              <a:t>dtype</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np.empty</a:t>
            </a:r>
            <a:r>
              <a:rPr lang="en-US" dirty="0">
                <a:latin typeface="Times New Roman" panose="02020603050405020304" pitchFamily="18" charset="0"/>
                <a:cs typeface="Times New Roman" panose="02020603050405020304" pitchFamily="18" charset="0"/>
              </a:rPr>
              <a:t>( [3,3] ,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 int ) </a:t>
            </a:r>
          </a:p>
        </p:txBody>
      </p:sp>
    </p:spTree>
    <p:extLst>
      <p:ext uri="{BB962C8B-B14F-4D97-AF65-F5344CB8AC3E}">
        <p14:creationId xmlns="" xmlns:p14="http://schemas.microsoft.com/office/powerpoint/2010/main" val="405101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F56BEE-338C-4C71-A12B-99186CD15943}"/>
              </a:ext>
            </a:extLst>
          </p:cNvPr>
          <p:cNvSpPr>
            <a:spLocks noGrp="1"/>
          </p:cNvSpPr>
          <p:nvPr>
            <p:ph idx="1"/>
          </p:nvPr>
        </p:nvSpPr>
        <p:spPr>
          <a:xfrm>
            <a:off x="97654" y="221942"/>
            <a:ext cx="11798424" cy="6436310"/>
          </a:xfrm>
        </p:spPr>
        <p:txBody>
          <a:bodyPr/>
          <a:lstStyle/>
          <a:p>
            <a:pPr marL="0" indent="0">
              <a:buNone/>
            </a:pPr>
            <a:r>
              <a:rPr lang="en-US" dirty="0">
                <a:latin typeface="Times New Roman" panose="02020603050405020304" pitchFamily="18" charset="0"/>
                <a:cs typeface="Times New Roman" panose="02020603050405020304" pitchFamily="18" charset="0"/>
              </a:rPr>
              <a:t>#create an array of specific shape filled with zeroes</a:t>
            </a:r>
          </a:p>
          <a:p>
            <a:pPr marL="0" indent="0">
              <a:buNone/>
            </a:pPr>
            <a:r>
              <a:rPr lang="en-US" dirty="0" err="1">
                <a:latin typeface="Times New Roman" panose="02020603050405020304" pitchFamily="18" charset="0"/>
                <a:cs typeface="Times New Roman" panose="02020603050405020304" pitchFamily="18" charset="0"/>
              </a:rPr>
              <a:t>np.zeros</a:t>
            </a:r>
            <a:r>
              <a:rPr lang="en-US" dirty="0">
                <a:latin typeface="Times New Roman" panose="02020603050405020304" pitchFamily="18" charset="0"/>
                <a:cs typeface="Times New Roman" panose="02020603050405020304" pitchFamily="18" charset="0"/>
              </a:rPr>
              <a:t>( [3,3] ,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 int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Checking shape of an array</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 [1,2,3] )</a:t>
            </a:r>
          </a:p>
          <a:p>
            <a:pPr marL="0" indent="0">
              <a:buNone/>
            </a:pPr>
            <a:r>
              <a:rPr lang="en-US" dirty="0" err="1">
                <a:latin typeface="Times New Roman" panose="02020603050405020304" pitchFamily="18" charset="0"/>
                <a:cs typeface="Times New Roman" panose="02020603050405020304" pitchFamily="18" charset="0"/>
              </a:rPr>
              <a:t>arr.shape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#checking dimensions of an array</a:t>
            </a:r>
          </a:p>
          <a:p>
            <a:pPr marL="0" indent="0">
              <a:buNone/>
            </a:pPr>
            <a:r>
              <a:rPr lang="en-US" dirty="0" err="1">
                <a:latin typeface="Times New Roman" panose="02020603050405020304" pitchFamily="18" charset="0"/>
                <a:cs typeface="Times New Roman" panose="02020603050405020304" pitchFamily="18" charset="0"/>
              </a:rPr>
              <a:t>arr.ndim</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#checking shape of an array</a:t>
            </a:r>
          </a:p>
          <a:p>
            <a:pPr marL="0" indent="0">
              <a:buNone/>
            </a:pPr>
            <a:r>
              <a:rPr lang="en-US" dirty="0" err="1">
                <a:latin typeface="Times New Roman" panose="02020603050405020304" pitchFamily="18" charset="0"/>
                <a:cs typeface="Times New Roman" panose="02020603050405020304" pitchFamily="18" charset="0"/>
              </a:rPr>
              <a:t>arr.size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#checking the </a:t>
            </a:r>
            <a:r>
              <a:rPr lang="en-US" dirty="0" err="1">
                <a:latin typeface="Times New Roman" panose="02020603050405020304" pitchFamily="18" charset="0"/>
                <a:cs typeface="Times New Roman" panose="02020603050405020304" pitchFamily="18" charset="0"/>
              </a:rPr>
              <a:t>dtype</a:t>
            </a:r>
            <a:r>
              <a:rPr lang="en-US" dirty="0">
                <a:latin typeface="Times New Roman" panose="02020603050405020304" pitchFamily="18" charset="0"/>
                <a:cs typeface="Times New Roman" panose="02020603050405020304" pitchFamily="18" charset="0"/>
              </a:rPr>
              <a:t> of an array</a:t>
            </a:r>
          </a:p>
          <a:p>
            <a:pPr marL="0" indent="0">
              <a:buNone/>
            </a:pPr>
            <a:r>
              <a:rPr lang="en-US" dirty="0" err="1">
                <a:latin typeface="Times New Roman" panose="02020603050405020304" pitchFamily="18" charset="0"/>
                <a:cs typeface="Times New Roman" panose="02020603050405020304" pitchFamily="18" charset="0"/>
              </a:rPr>
              <a:t>np.dtype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986369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1CD9DE2-3F01-4FBA-A3C1-0DC3616D11CD}"/>
              </a:ext>
            </a:extLst>
          </p:cNvPr>
          <p:cNvSpPr>
            <a:spLocks noGrp="1"/>
          </p:cNvSpPr>
          <p:nvPr>
            <p:ph idx="1"/>
          </p:nvPr>
        </p:nvSpPr>
        <p:spPr>
          <a:xfrm>
            <a:off x="239697" y="133165"/>
            <a:ext cx="11789546" cy="6560598"/>
          </a:xfrm>
        </p:spPr>
        <p:txBody>
          <a:bodyPr>
            <a:normAutofit lnSpcReduction="10000"/>
          </a:bodyPr>
          <a:lstStyle/>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Reshaping the NumPy arrays</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 [1,2,3,4,5,6,7,8,9] ) </a:t>
            </a:r>
          </a:p>
          <a:p>
            <a:pPr marL="0" indent="0">
              <a:buNone/>
            </a:pPr>
            <a:r>
              <a:rPr lang="en-US" dirty="0" err="1">
                <a:latin typeface="Times New Roman" panose="02020603050405020304" pitchFamily="18" charset="0"/>
                <a:cs typeface="Times New Roman" panose="02020603050405020304" pitchFamily="18" charset="0"/>
              </a:rPr>
              <a:t>arr.reshape</a:t>
            </a:r>
            <a:r>
              <a:rPr lang="en-US" dirty="0">
                <a:latin typeface="Times New Roman" panose="02020603050405020304" pitchFamily="18" charset="0"/>
                <a:cs typeface="Times New Roman" panose="02020603050405020304" pitchFamily="18" charset="0"/>
              </a:rPr>
              <a:t>( [3,3]) # </a:t>
            </a:r>
            <a:r>
              <a:rPr lang="en-US" dirty="0" err="1">
                <a:latin typeface="Times New Roman" panose="02020603050405020304" pitchFamily="18" charset="0"/>
                <a:cs typeface="Times New Roman" panose="02020603050405020304" pitchFamily="18" charset="0"/>
              </a:rPr>
              <a:t>convering</a:t>
            </a:r>
            <a:r>
              <a:rPr lang="en-US" dirty="0">
                <a:latin typeface="Times New Roman" panose="02020603050405020304" pitchFamily="18" charset="0"/>
                <a:cs typeface="Times New Roman" panose="02020603050405020304" pitchFamily="18" charset="0"/>
              </a:rPr>
              <a:t> above array in 3x3 matrix</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#flatenning the array</a:t>
            </a:r>
          </a:p>
          <a:p>
            <a:pPr marL="0" indent="0">
              <a:buNone/>
            </a:pPr>
            <a:r>
              <a:rPr lang="en-US" dirty="0">
                <a:latin typeface="Times New Roman" panose="02020603050405020304" pitchFamily="18" charset="0"/>
                <a:cs typeface="Times New Roman" panose="02020603050405020304" pitchFamily="18" charset="0"/>
              </a:rPr>
              <a:t>y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 [[1,1], [1,1] ])</a:t>
            </a:r>
          </a:p>
          <a:p>
            <a:pPr marL="0" indent="0">
              <a:buNone/>
            </a:pPr>
            <a:r>
              <a:rPr lang="en-US" dirty="0" err="1">
                <a:latin typeface="Times New Roman" panose="02020603050405020304" pitchFamily="18" charset="0"/>
                <a:cs typeface="Times New Roman" panose="02020603050405020304" pitchFamily="18" charset="0"/>
              </a:rPr>
              <a:t>y.flatten</a:t>
            </a:r>
            <a:r>
              <a:rPr lang="en-US" dirty="0">
                <a:latin typeface="Times New Roman" panose="02020603050405020304" pitchFamily="18" charset="0"/>
                <a:cs typeface="Times New Roman" panose="02020603050405020304" pitchFamily="18" charset="0"/>
              </a:rPr>
              <a:t>()  # output : [1,1,1,1]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Array Indexing</a:t>
            </a:r>
          </a:p>
          <a:p>
            <a:pPr marL="0" indent="0">
              <a:buNone/>
            </a:pPr>
            <a:r>
              <a:rPr lang="en-US" dirty="0">
                <a:latin typeface="Times New Roman" panose="02020603050405020304" pitchFamily="18" charset="0"/>
                <a:cs typeface="Times New Roman" panose="02020603050405020304" pitchFamily="18" charset="0"/>
              </a:rPr>
              <a:t>array_1d[2] # Third element </a:t>
            </a:r>
          </a:p>
          <a:p>
            <a:pPr marL="0" indent="0">
              <a:buNone/>
            </a:pPr>
            <a:r>
              <a:rPr lang="en-US" dirty="0">
                <a:latin typeface="Times New Roman" panose="02020603050405020304" pitchFamily="18" charset="0"/>
                <a:cs typeface="Times New Roman" panose="02020603050405020304" pitchFamily="18" charset="0"/>
              </a:rPr>
              <a:t>array_1d[2:] # Third element onwards </a:t>
            </a:r>
          </a:p>
          <a:p>
            <a:pPr marL="0" indent="0">
              <a:buNone/>
            </a:pPr>
            <a:r>
              <a:rPr lang="en-US" dirty="0">
                <a:latin typeface="Times New Roman" panose="02020603050405020304" pitchFamily="18" charset="0"/>
                <a:cs typeface="Times New Roman" panose="02020603050405020304" pitchFamily="18" charset="0"/>
              </a:rPr>
              <a:t>array_1d[:3] # First three elements </a:t>
            </a:r>
          </a:p>
          <a:p>
            <a:pPr marL="0" indent="0">
              <a:buNone/>
            </a:pPr>
            <a:r>
              <a:rPr lang="en-US" dirty="0">
                <a:latin typeface="Times New Roman" panose="02020603050405020304" pitchFamily="18" charset="0"/>
                <a:cs typeface="Times New Roman" panose="02020603050405020304" pitchFamily="18" charset="0"/>
              </a:rPr>
              <a:t>array_1d[2:7] # Third to seventh elements </a:t>
            </a:r>
          </a:p>
          <a:p>
            <a:pPr marL="0" indent="0">
              <a:buNone/>
            </a:pPr>
            <a:r>
              <a:rPr lang="en-US" dirty="0">
                <a:latin typeface="Times New Roman" panose="02020603050405020304" pitchFamily="18" charset="0"/>
                <a:cs typeface="Times New Roman" panose="02020603050405020304" pitchFamily="18" charset="0"/>
              </a:rPr>
              <a:t>array_1d[0::2] # Subset starting 0 at increment of 2</a:t>
            </a:r>
          </a:p>
        </p:txBody>
      </p:sp>
    </p:spTree>
    <p:extLst>
      <p:ext uri="{BB962C8B-B14F-4D97-AF65-F5344CB8AC3E}">
        <p14:creationId xmlns="" xmlns:p14="http://schemas.microsoft.com/office/powerpoint/2010/main" val="3244938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92355A7-3BFA-4488-B5EA-F4400185A144}"/>
              </a:ext>
            </a:extLst>
          </p:cNvPr>
          <p:cNvSpPr>
            <a:spLocks noGrp="1"/>
          </p:cNvSpPr>
          <p:nvPr>
            <p:ph idx="1"/>
          </p:nvPr>
        </p:nvSpPr>
        <p:spPr>
          <a:xfrm>
            <a:off x="186431" y="150920"/>
            <a:ext cx="11683014" cy="6569476"/>
          </a:xfrm>
        </p:spPr>
        <p:txBody>
          <a:bodyPr/>
          <a:lstStyle/>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[0]) #it will print first row </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[1]) #it will print second row </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[0][1]) #it will print second element of first row </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([[81,19,46,74,94],[69,79,26,7,29],[21,45,12,80,72] ])</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[2][1]) #it will print second element of third</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Array </a:t>
            </a:r>
            <a:r>
              <a:rPr lang="en-US" dirty="0">
                <a:latin typeface="Times New Roman" panose="02020603050405020304" pitchFamily="18" charset="0"/>
                <a:cs typeface="Times New Roman" panose="02020603050405020304" pitchFamily="18" charset="0"/>
              </a:rPr>
              <a:t>Slicing</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([0,1,2,3,4,5,6,7,8,9,10]) </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[:5]) #by default its </a:t>
            </a:r>
            <a:r>
              <a:rPr lang="en-US" dirty="0" err="1">
                <a:latin typeface="Times New Roman" panose="02020603050405020304" pitchFamily="18" charset="0"/>
                <a:cs typeface="Times New Roman" panose="02020603050405020304" pitchFamily="18" charset="0"/>
              </a:rPr>
              <a:t>startindex</a:t>
            </a:r>
            <a:r>
              <a:rPr lang="en-US" dirty="0">
                <a:latin typeface="Times New Roman" panose="02020603050405020304" pitchFamily="18" charset="0"/>
                <a:cs typeface="Times New Roman" panose="02020603050405020304" pitchFamily="18" charset="0"/>
              </a:rPr>
              <a:t> start from [0 1 2 3 4]</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[5:]) #by default its </a:t>
            </a:r>
            <a:r>
              <a:rPr lang="en-US" dirty="0" err="1">
                <a:latin typeface="Times New Roman" panose="02020603050405020304" pitchFamily="18" charset="0"/>
                <a:cs typeface="Times New Roman" panose="02020603050405020304" pitchFamily="18" charset="0"/>
              </a:rPr>
              <a:t>stopindex</a:t>
            </a:r>
            <a:r>
              <a:rPr lang="en-US" dirty="0">
                <a:latin typeface="Times New Roman" panose="02020603050405020304" pitchFamily="18" charset="0"/>
                <a:cs typeface="Times New Roman" panose="02020603050405020304" pitchFamily="18" charset="0"/>
              </a:rPr>
              <a:t> go till </a:t>
            </a:r>
            <a:r>
              <a:rPr lang="en-US" dirty="0" smtClean="0">
                <a:latin typeface="Times New Roman" panose="02020603050405020304" pitchFamily="18" charset="0"/>
                <a:cs typeface="Times New Roman" panose="02020603050405020304" pitchFamily="18" charset="0"/>
              </a:rPr>
              <a:t>last </a:t>
            </a:r>
            <a:r>
              <a:rPr lang="en-US" dirty="0">
                <a:latin typeface="Times New Roman" panose="02020603050405020304" pitchFamily="18" charset="0"/>
                <a:cs typeface="Times New Roman" panose="02020603050405020304" pitchFamily="18" charset="0"/>
              </a:rPr>
              <a:t>[ 5 6 7 8 9 10]</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[4:10:2]) #output : [4 6 8]</a:t>
            </a:r>
          </a:p>
          <a:p>
            <a:pPr marL="0" indent="0">
              <a:buNone/>
            </a:pPr>
            <a:r>
              <a:rPr lang="en-US" dirty="0" smtClean="0">
                <a:latin typeface="Times New Roman" panose="02020603050405020304" pitchFamily="18" charset="0"/>
                <a:cs typeface="Times New Roman" panose="02020603050405020304" pitchFamily="18" charset="0"/>
              </a:rPr>
              <a:t>print(</a:t>
            </a:r>
            <a:r>
              <a:rPr lang="en-US" dirty="0" err="1" smtClean="0">
                <a:latin typeface="Times New Roman" panose="02020603050405020304" pitchFamily="18" charset="0"/>
                <a:cs typeface="Times New Roman" panose="02020603050405020304" pitchFamily="18" charset="0"/>
              </a:rPr>
              <a:t>arr</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by default it </a:t>
            </a:r>
            <a:r>
              <a:rPr lang="en-US" dirty="0" err="1">
                <a:latin typeface="Times New Roman" panose="02020603050405020304" pitchFamily="18" charset="0"/>
                <a:cs typeface="Times New Roman" panose="02020603050405020304" pitchFamily="18" charset="0"/>
              </a:rPr>
              <a:t>startindex</a:t>
            </a:r>
            <a:r>
              <a:rPr lang="en-US" dirty="0">
                <a:latin typeface="Times New Roman" panose="02020603050405020304" pitchFamily="18" charset="0"/>
                <a:cs typeface="Times New Roman" panose="02020603050405020304" pitchFamily="18" charset="0"/>
              </a:rPr>
              <a:t> is 0 </a:t>
            </a:r>
            <a:r>
              <a:rPr lang="en-US" dirty="0" err="1">
                <a:latin typeface="Times New Roman" panose="02020603050405020304" pitchFamily="18" charset="0"/>
                <a:cs typeface="Times New Roman" panose="02020603050405020304" pitchFamily="18" charset="0"/>
              </a:rPr>
              <a:t>stopin</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[0 </a:t>
            </a:r>
            <a:r>
              <a:rPr lang="en-US" dirty="0">
                <a:latin typeface="Times New Roman" panose="02020603050405020304" pitchFamily="18" charset="0"/>
                <a:cs typeface="Times New Roman" panose="02020603050405020304" pitchFamily="18" charset="0"/>
              </a:rPr>
              <a:t>1 2 3 4 5 6 7 8 9 10]</a:t>
            </a:r>
          </a:p>
        </p:txBody>
      </p:sp>
    </p:spTree>
    <p:extLst>
      <p:ext uri="{BB962C8B-B14F-4D97-AF65-F5344CB8AC3E}">
        <p14:creationId xmlns="" xmlns:p14="http://schemas.microsoft.com/office/powerpoint/2010/main" val="4179377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C7C27D7-4FFB-44B2-A7AD-70B4F4542FA8}"/>
              </a:ext>
            </a:extLst>
          </p:cNvPr>
          <p:cNvSpPr>
            <a:spLocks noGrp="1"/>
          </p:cNvSpPr>
          <p:nvPr>
            <p:ph idx="1"/>
          </p:nvPr>
        </p:nvSpPr>
        <p:spPr>
          <a:xfrm>
            <a:off x="204186" y="213064"/>
            <a:ext cx="11842812" cy="6454066"/>
          </a:xfrm>
        </p:spPr>
        <p:txBody>
          <a:bodyPr>
            <a:normAutofit/>
          </a:bodyPr>
          <a:lstStyle/>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err="1" smtClean="0">
                <a:latin typeface="Times New Roman" panose="02020603050405020304" pitchFamily="18" charset="0"/>
                <a:cs typeface="Times New Roman" panose="02020603050405020304" pitchFamily="18" charset="0"/>
              </a:rPr>
              <a:t>arr</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np.array</a:t>
            </a:r>
            <a:r>
              <a:rPr lang="en-US" sz="2000" dirty="0">
                <a:latin typeface="Times New Roman" panose="02020603050405020304" pitchFamily="18" charset="0"/>
                <a:cs typeface="Times New Roman" panose="02020603050405020304" pitchFamily="18" charset="0"/>
              </a:rPr>
              <a:t>([[1,2,3,4,5,6],[7,8,9,10,11,12],[13,14,15,16,17,18]]) </a:t>
            </a: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[0,1:5]) #it select first row and element from 1  </a:t>
            </a:r>
          </a:p>
          <a:p>
            <a:pPr marL="0" indent="0">
              <a:buNone/>
            </a:pPr>
            <a:r>
              <a:rPr lang="en-US" sz="2000" dirty="0">
                <a:latin typeface="Times New Roman" panose="02020603050405020304" pitchFamily="18" charset="0"/>
                <a:cs typeface="Times New Roman" panose="02020603050405020304" pitchFamily="18" charset="0"/>
              </a:rPr>
              <a:t>#output : [2 3 4 5]</a:t>
            </a: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[1:4,2:4]) #it select row from first to third and  </a:t>
            </a:r>
          </a:p>
          <a:p>
            <a:pPr marL="0" indent="0">
              <a:buNone/>
            </a:pPr>
            <a:r>
              <a:rPr lang="en-US" sz="2000" dirty="0">
                <a:latin typeface="Times New Roman" panose="02020603050405020304" pitchFamily="18" charset="0"/>
                <a:cs typeface="Times New Roman" panose="02020603050405020304" pitchFamily="18" charset="0"/>
              </a:rPr>
              <a:t># output : [[ 9 10] [15 16]]</a:t>
            </a:r>
          </a:p>
          <a:p>
            <a:pPr marL="0" indent="0">
              <a:buNone/>
            </a:pPr>
            <a:endParaRPr lang="en-US" sz="2000" b="1" i="0" dirty="0" smtClean="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2000" b="1" dirty="0" smtClean="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385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284814" y="1049311"/>
            <a:ext cx="11377534" cy="5072137"/>
          </a:xfrm>
          <a:prstGeom prst="rect">
            <a:avLst/>
          </a:prstGeom>
          <a:solidFill>
            <a:srgbClr val="FFFFFF"/>
          </a:solidFill>
          <a:ln w="9525">
            <a:noFill/>
            <a:miter lim="800000"/>
            <a:headEnd/>
            <a:tailEnd/>
          </a:ln>
          <a:effectLst/>
        </p:spPr>
        <p:txBody>
          <a:bodyPr vert="horz" wrap="square" lIns="0" tIns="88872" rIns="0" bIns="179331"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smtClean="0">
                <a:ln>
                  <a:noFill/>
                </a:ln>
                <a:solidFill>
                  <a:srgbClr val="0A0A0A"/>
                </a:solidFill>
                <a:effectLst/>
                <a:latin typeface="Times New Roman" pitchFamily="18" charset="0"/>
                <a:cs typeface="Times New Roman" pitchFamily="18" charset="0"/>
              </a:rPr>
              <a:t>NumPy</a:t>
            </a:r>
            <a:r>
              <a:rPr kumimoji="0" lang="en-US" sz="2400" b="1" i="0" u="none" strike="noStrike" cap="none" normalizeH="0" baseline="0" dirty="0" smtClean="0">
                <a:ln>
                  <a:noFill/>
                </a:ln>
                <a:solidFill>
                  <a:srgbClr val="0A0A0A"/>
                </a:solidFill>
                <a:effectLst/>
                <a:latin typeface="Times New Roman" pitchFamily="18" charset="0"/>
                <a:cs typeface="Times New Roman" pitchFamily="18" charset="0"/>
              </a:rPr>
              <a:t> Aggregation Functions: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np.sum(): Calculates the sum of all elements in an array or along a specified axis.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np.mean</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Computes the arithmetic mean (average) of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np.max(): Finds the maximum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np.min(): Finds the minimum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np.prod</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Calculates the product of all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np.std(): Computes the standard deviation.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np.var(): Computes the variance.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np.median</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Calculates the median of the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np.percentile</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Computes the q-</a:t>
            </a: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th</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percentile(s) of the data along the specified axis.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np.argmin</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Returns the index of the minimum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err="1" smtClean="0">
                <a:ln>
                  <a:noFill/>
                </a:ln>
                <a:solidFill>
                  <a:srgbClr val="0A0A0A"/>
                </a:solidFill>
                <a:effectLst/>
                <a:latin typeface="Times New Roman" pitchFamily="18" charset="0"/>
                <a:cs typeface="Times New Roman" pitchFamily="18" charset="0"/>
              </a:rPr>
              <a:t>np.argmax</a:t>
            </a:r>
            <a:r>
              <a:rPr kumimoji="0" lang="en-US" sz="2400" b="0" i="0" u="none" strike="noStrike" cap="none" normalizeH="0" baseline="0" dirty="0" smtClean="0">
                <a:ln>
                  <a:noFill/>
                </a:ln>
                <a:solidFill>
                  <a:srgbClr val="0A0A0A"/>
                </a:solidFill>
                <a:effectLst/>
                <a:latin typeface="Times New Roman" pitchFamily="18" charset="0"/>
                <a:cs typeface="Times New Roman" pitchFamily="18" charset="0"/>
              </a:rPr>
              <a:t>(): Returns the index of the maximum 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645A78F-58F9-4FEA-9A18-138B6F995E9C}"/>
              </a:ext>
            </a:extLst>
          </p:cNvPr>
          <p:cNvSpPr>
            <a:spLocks noGrp="1"/>
          </p:cNvSpPr>
          <p:nvPr>
            <p:ph idx="1"/>
          </p:nvPr>
        </p:nvSpPr>
        <p:spPr>
          <a:xfrm>
            <a:off x="133165" y="230819"/>
            <a:ext cx="11220635" cy="6516210"/>
          </a:xfrm>
        </p:spPr>
        <p:txBody>
          <a:bodyPr>
            <a:normAutofit fontScale="77500" lnSpcReduction="20000"/>
          </a:bodyPr>
          <a:lstStyle/>
          <a:p>
            <a:pPr marL="0" indent="0">
              <a:buNone/>
            </a:pPr>
            <a:r>
              <a:rPr lang="en-US" b="1" dirty="0" smtClean="0">
                <a:solidFill>
                  <a:srgbClr val="333333"/>
                </a:solidFill>
                <a:latin typeface="Times New Roman" panose="02020603050405020304" pitchFamily="18" charset="0"/>
                <a:cs typeface="Times New Roman" panose="02020603050405020304" pitchFamily="18" charset="0"/>
              </a:rPr>
              <a:t>Concatenation</a:t>
            </a:r>
          </a:p>
          <a:p>
            <a:pPr marL="0" indent="0">
              <a:buNone/>
            </a:pPr>
            <a:r>
              <a:rPr lang="en-US" dirty="0" smtClean="0">
                <a:solidFill>
                  <a:srgbClr val="595858"/>
                </a:solidFill>
                <a:latin typeface="Times New Roman" panose="02020603050405020304" pitchFamily="18" charset="0"/>
                <a:cs typeface="Times New Roman" panose="02020603050405020304" pitchFamily="18" charset="0"/>
              </a:rPr>
              <a:t>Concatenate() function can join the sequence of arrays that we provide, along with the axis specified. If the axis is not explicitly given, it is taken as 0</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Concatenating 1D array</a:t>
            </a:r>
          </a:p>
          <a:p>
            <a:pPr marL="0" indent="0">
              <a:buNone/>
            </a:pPr>
            <a:r>
              <a:rPr lang="en-US" dirty="0">
                <a:latin typeface="Times New Roman" panose="02020603050405020304" pitchFamily="18" charset="0"/>
                <a:cs typeface="Times New Roman" panose="02020603050405020304" pitchFamily="18" charset="0"/>
              </a:rPr>
              <a:t>arr1=</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([1,2,3])</a:t>
            </a:r>
          </a:p>
          <a:p>
            <a:pPr marL="0" indent="0">
              <a:buNone/>
            </a:pPr>
            <a:r>
              <a:rPr lang="en-US" dirty="0">
                <a:latin typeface="Times New Roman" panose="02020603050405020304" pitchFamily="18" charset="0"/>
                <a:cs typeface="Times New Roman" panose="02020603050405020304" pitchFamily="18" charset="0"/>
              </a:rPr>
              <a:t>arr2=</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([4,5,6])</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np.concatenate</a:t>
            </a:r>
            <a:r>
              <a:rPr lang="en-US" dirty="0">
                <a:latin typeface="Times New Roman" panose="02020603050405020304" pitchFamily="18" charset="0"/>
                <a:cs typeface="Times New Roman" panose="02020603050405020304" pitchFamily="18" charset="0"/>
              </a:rPr>
              <a:t>((arr1,arr2),axis=0)</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#output : [1 2 3 4 5 6]</a:t>
            </a:r>
          </a:p>
          <a:p>
            <a:pPr marL="0" indent="0">
              <a:buNone/>
            </a:pPr>
            <a:r>
              <a:rPr lang="en-US" dirty="0">
                <a:latin typeface="Times New Roman" panose="02020603050405020304" pitchFamily="18" charset="0"/>
                <a:cs typeface="Times New Roman" panose="02020603050405020304" pitchFamily="18" charset="0"/>
              </a:rPr>
              <a:t>#Concatenating @d array along axis 0</a:t>
            </a:r>
          </a:p>
          <a:p>
            <a:pPr marL="0" indent="0">
              <a:buNone/>
            </a:pPr>
            <a:r>
              <a:rPr lang="en-US" dirty="0">
                <a:latin typeface="Times New Roman" panose="02020603050405020304" pitchFamily="18" charset="0"/>
                <a:cs typeface="Times New Roman" panose="02020603050405020304" pitchFamily="18" charset="0"/>
              </a:rPr>
              <a:t>arr1=</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([[1,1,1],[1,1,1]])</a:t>
            </a:r>
          </a:p>
          <a:p>
            <a:pPr marL="0" indent="0">
              <a:buNone/>
            </a:pPr>
            <a:r>
              <a:rPr lang="en-US" dirty="0">
                <a:latin typeface="Times New Roman" panose="02020603050405020304" pitchFamily="18" charset="0"/>
                <a:cs typeface="Times New Roman" panose="02020603050405020304" pitchFamily="18" charset="0"/>
              </a:rPr>
              <a:t>arr2=</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([[9,9,9,],[9,9,9]])</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np.concatenate</a:t>
            </a:r>
            <a:r>
              <a:rPr lang="en-US" dirty="0">
                <a:latin typeface="Times New Roman" panose="02020603050405020304" pitchFamily="18" charset="0"/>
                <a:cs typeface="Times New Roman" panose="02020603050405020304" pitchFamily="18" charset="0"/>
              </a:rPr>
              <a:t>((arr1,arr2),axis=0)</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#output : [[1 1 1]</a:t>
            </a:r>
          </a:p>
          <a:p>
            <a:pPr marL="0" indent="0">
              <a:buNone/>
            </a:pPr>
            <a:r>
              <a:rPr lang="en-US" dirty="0">
                <a:latin typeface="Times New Roman" panose="02020603050405020304" pitchFamily="18" charset="0"/>
                <a:cs typeface="Times New Roman" panose="02020603050405020304" pitchFamily="18" charset="0"/>
              </a:rPr>
              <a:t>             [1 1 1]</a:t>
            </a:r>
          </a:p>
          <a:p>
            <a:pPr marL="0" indent="0">
              <a:buNone/>
            </a:pPr>
            <a:r>
              <a:rPr lang="en-US" dirty="0">
                <a:latin typeface="Times New Roman" panose="02020603050405020304" pitchFamily="18" charset="0"/>
                <a:cs typeface="Times New Roman" panose="02020603050405020304" pitchFamily="18" charset="0"/>
              </a:rPr>
              <a:t>             [9 9 9]</a:t>
            </a:r>
          </a:p>
          <a:p>
            <a:pPr marL="0" indent="0">
              <a:buNone/>
            </a:pPr>
            <a:r>
              <a:rPr lang="en-US" dirty="0">
                <a:latin typeface="Times New Roman" panose="02020603050405020304" pitchFamily="18" charset="0"/>
                <a:cs typeface="Times New Roman" panose="02020603050405020304" pitchFamily="18" charset="0"/>
              </a:rPr>
              <a:t>            [9 9 9]]</a:t>
            </a:r>
          </a:p>
        </p:txBody>
      </p:sp>
    </p:spTree>
    <p:extLst>
      <p:ext uri="{BB962C8B-B14F-4D97-AF65-F5344CB8AC3E}">
        <p14:creationId xmlns="" xmlns:p14="http://schemas.microsoft.com/office/powerpoint/2010/main" val="3673246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B131B24-9783-4D29-A18D-A5EC6B13598C}"/>
              </a:ext>
            </a:extLst>
          </p:cNvPr>
          <p:cNvSpPr>
            <a:spLocks noGrp="1"/>
          </p:cNvSpPr>
          <p:nvPr>
            <p:ph idx="1"/>
          </p:nvPr>
        </p:nvSpPr>
        <p:spPr>
          <a:xfrm>
            <a:off x="319596" y="186431"/>
            <a:ext cx="11034204" cy="6551720"/>
          </a:xfrm>
        </p:spPr>
        <p:txBody>
          <a:bodyPr>
            <a:normAutofit fontScale="92500" lnSpcReduction="10000"/>
          </a:bodyPr>
          <a:lstStyle/>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Joining array using Stack function</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Stacking is the same as concatenation, the only difference is that stacking is done along a new axis.</a:t>
            </a:r>
          </a:p>
          <a:p>
            <a:pPr marL="0" indent="0">
              <a:buNone/>
            </a:pPr>
            <a:r>
              <a:rPr lang="en-US" b="1" i="0" u="sng" dirty="0" err="1">
                <a:solidFill>
                  <a:srgbClr val="595858"/>
                </a:solidFill>
                <a:effectLst/>
                <a:latin typeface="Times New Roman" panose="02020603050405020304" pitchFamily="18" charset="0"/>
                <a:cs typeface="Times New Roman" panose="02020603050405020304" pitchFamily="18" charset="0"/>
              </a:rPr>
              <a:t>np.hstack</a:t>
            </a:r>
            <a:r>
              <a:rPr lang="en-US" b="1" i="0" u="sng" dirty="0">
                <a:solidFill>
                  <a:srgbClr val="595858"/>
                </a:solidFill>
                <a:effectLst/>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stacking two 1D arrays horizontally</a:t>
            </a:r>
          </a:p>
          <a:p>
            <a:pPr marL="0" indent="0">
              <a:buNone/>
            </a:pPr>
            <a:r>
              <a:rPr lang="en-US" dirty="0">
                <a:latin typeface="Times New Roman" panose="02020603050405020304" pitchFamily="18" charset="0"/>
                <a:cs typeface="Times New Roman" panose="02020603050405020304" pitchFamily="18" charset="0"/>
              </a:rPr>
              <a:t>arr1=</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([0,0]) </a:t>
            </a:r>
          </a:p>
          <a:p>
            <a:pPr marL="0" indent="0">
              <a:buNone/>
            </a:pPr>
            <a:r>
              <a:rPr lang="en-US" dirty="0">
                <a:latin typeface="Times New Roman" panose="02020603050405020304" pitchFamily="18" charset="0"/>
                <a:cs typeface="Times New Roman" panose="02020603050405020304" pitchFamily="18" charset="0"/>
              </a:rPr>
              <a:t>arr2=</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([1,1])</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np.hstack</a:t>
            </a:r>
            <a:r>
              <a:rPr lang="en-US" dirty="0">
                <a:latin typeface="Times New Roman" panose="02020603050405020304" pitchFamily="18" charset="0"/>
                <a:cs typeface="Times New Roman" panose="02020603050405020304" pitchFamily="18" charset="0"/>
              </a:rPr>
              <a:t>((arr1,arr2))</a:t>
            </a:r>
          </a:p>
          <a:p>
            <a:pPr marL="0" indent="0">
              <a:buNone/>
            </a:pPr>
            <a:r>
              <a:rPr lang="en-US" dirty="0">
                <a:latin typeface="Times New Roman" panose="02020603050405020304" pitchFamily="18" charset="0"/>
                <a:cs typeface="Times New Roman" panose="02020603050405020304" pitchFamily="18" charset="0"/>
              </a:rPr>
              <a:t># Stacking two 2D arrays horizontally</a:t>
            </a:r>
          </a:p>
          <a:p>
            <a:pPr marL="0" indent="0">
              <a:buNone/>
            </a:pPr>
            <a:r>
              <a:rPr lang="en-US" dirty="0">
                <a:latin typeface="Times New Roman" panose="02020603050405020304" pitchFamily="18" charset="0"/>
                <a:cs typeface="Times New Roman" panose="02020603050405020304" pitchFamily="18" charset="0"/>
              </a:rPr>
              <a:t>arr1=</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([[0,0],[0,0]]) </a:t>
            </a:r>
          </a:p>
          <a:p>
            <a:pPr marL="0" indent="0">
              <a:buNone/>
            </a:pPr>
            <a:r>
              <a:rPr lang="en-US" dirty="0">
                <a:latin typeface="Times New Roman" panose="02020603050405020304" pitchFamily="18" charset="0"/>
                <a:cs typeface="Times New Roman" panose="02020603050405020304" pitchFamily="18" charset="0"/>
              </a:rPr>
              <a:t>arr2=</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([[1,1],[1,1]]) </a:t>
            </a:r>
          </a:p>
          <a:p>
            <a:pPr marL="0" indent="0">
              <a:buNone/>
            </a:pP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np.hstack</a:t>
            </a:r>
            <a:r>
              <a:rPr lang="en-US" dirty="0">
                <a:latin typeface="Times New Roman" panose="02020603050405020304" pitchFamily="18" charset="0"/>
                <a:cs typeface="Times New Roman" panose="02020603050405020304" pitchFamily="18" charset="0"/>
              </a:rPr>
              <a:t>((arr1,arr2)) </a:t>
            </a:r>
          </a:p>
          <a:p>
            <a:pPr marL="0" indent="0">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output : [[0 0 1 1] </a:t>
            </a:r>
          </a:p>
          <a:p>
            <a:pPr marL="0" indent="0">
              <a:buNone/>
            </a:pPr>
            <a:r>
              <a:rPr lang="en-US" dirty="0">
                <a:latin typeface="Times New Roman" panose="02020603050405020304" pitchFamily="18" charset="0"/>
                <a:cs typeface="Times New Roman" panose="02020603050405020304" pitchFamily="18" charset="0"/>
              </a:rPr>
              <a:t> [0 0 1 1]]</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A5102E8B-5E24-4EA3-986F-A5319FC6E315}"/>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249880" y="1862230"/>
            <a:ext cx="4065602" cy="2085975"/>
          </a:xfrm>
          <a:prstGeom prst="rect">
            <a:avLst/>
          </a:prstGeom>
        </p:spPr>
      </p:pic>
    </p:spTree>
    <p:extLst>
      <p:ext uri="{BB962C8B-B14F-4D97-AF65-F5344CB8AC3E}">
        <p14:creationId xmlns="" xmlns:p14="http://schemas.microsoft.com/office/powerpoint/2010/main" val="2642028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F0B7D66-C737-4F86-9A1F-FCA7E168E2F4}"/>
              </a:ext>
            </a:extLst>
          </p:cNvPr>
          <p:cNvSpPr>
            <a:spLocks noGrp="1"/>
          </p:cNvSpPr>
          <p:nvPr>
            <p:ph idx="1"/>
          </p:nvPr>
        </p:nvSpPr>
        <p:spPr>
          <a:xfrm>
            <a:off x="164988" y="176051"/>
            <a:ext cx="11202880" cy="6436311"/>
          </a:xfrm>
        </p:spPr>
        <p:txBody>
          <a:bodyPr>
            <a:noAutofit/>
          </a:bodyPr>
          <a:lstStyle/>
          <a:p>
            <a:pPr marL="0" indent="0">
              <a:buNone/>
            </a:pPr>
            <a:r>
              <a:rPr lang="en-US" sz="2000" b="1" i="0" u="sng" dirty="0" err="1">
                <a:solidFill>
                  <a:srgbClr val="595858"/>
                </a:solidFill>
                <a:effectLst/>
                <a:latin typeface="Times New Roman" panose="02020603050405020304" pitchFamily="18" charset="0"/>
                <a:cs typeface="Times New Roman" panose="02020603050405020304" pitchFamily="18" charset="0"/>
              </a:rPr>
              <a:t>np.vstack</a:t>
            </a:r>
            <a:r>
              <a:rPr lang="en-US" sz="2000" b="1" i="0" u="sng" dirty="0">
                <a:solidFill>
                  <a:srgbClr val="595858"/>
                </a:solidFill>
                <a:effectLst/>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#Stacking 1D arrays vertically</a:t>
            </a:r>
          </a:p>
          <a:p>
            <a:pPr marL="0" indent="0">
              <a:buNone/>
            </a:pPr>
            <a:r>
              <a:rPr lang="en-US" sz="2000" dirty="0">
                <a:latin typeface="Times New Roman" panose="02020603050405020304" pitchFamily="18" charset="0"/>
                <a:cs typeface="Times New Roman" panose="02020603050405020304" pitchFamily="18" charset="0"/>
              </a:rPr>
              <a:t>arr1=</a:t>
            </a:r>
            <a:r>
              <a:rPr lang="en-US" sz="2000" dirty="0" err="1">
                <a:latin typeface="Times New Roman" panose="02020603050405020304" pitchFamily="18" charset="0"/>
                <a:cs typeface="Times New Roman" panose="02020603050405020304" pitchFamily="18" charset="0"/>
              </a:rPr>
              <a:t>np.array</a:t>
            </a:r>
            <a:r>
              <a:rPr lang="en-US" sz="2000" dirty="0">
                <a:latin typeface="Times New Roman" panose="02020603050405020304" pitchFamily="18" charset="0"/>
                <a:cs typeface="Times New Roman" panose="02020603050405020304" pitchFamily="18" charset="0"/>
              </a:rPr>
              <a:t>([0,0]) </a:t>
            </a:r>
          </a:p>
          <a:p>
            <a:pPr marL="0" indent="0">
              <a:buNone/>
            </a:pPr>
            <a:r>
              <a:rPr lang="en-US" sz="2000" dirty="0">
                <a:latin typeface="Times New Roman" panose="02020603050405020304" pitchFamily="18" charset="0"/>
                <a:cs typeface="Times New Roman" panose="02020603050405020304" pitchFamily="18" charset="0"/>
              </a:rPr>
              <a:t>arr2=</a:t>
            </a:r>
            <a:r>
              <a:rPr lang="en-US" sz="2000" dirty="0" err="1">
                <a:latin typeface="Times New Roman" panose="02020603050405020304" pitchFamily="18" charset="0"/>
                <a:cs typeface="Times New Roman" panose="02020603050405020304" pitchFamily="18" charset="0"/>
              </a:rPr>
              <a:t>np.array</a:t>
            </a:r>
            <a:r>
              <a:rPr lang="en-US" sz="2000" dirty="0">
                <a:latin typeface="Times New Roman" panose="02020603050405020304" pitchFamily="18" charset="0"/>
                <a:cs typeface="Times New Roman" panose="02020603050405020304" pitchFamily="18" charset="0"/>
              </a:rPr>
              <a:t>([1,1]) </a:t>
            </a:r>
          </a:p>
          <a:p>
            <a:pPr marL="0" indent="0">
              <a:buNone/>
            </a:pP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np.vstack</a:t>
            </a:r>
            <a:r>
              <a:rPr lang="en-US" sz="2000" dirty="0">
                <a:latin typeface="Times New Roman" panose="02020603050405020304" pitchFamily="18" charset="0"/>
                <a:cs typeface="Times New Roman" panose="02020603050405020304" pitchFamily="18" charset="0"/>
              </a:rPr>
              <a:t>((arr1,arr2)) </a:t>
            </a: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#output :[[0 0] </a:t>
            </a:r>
          </a:p>
          <a:p>
            <a:pPr marL="0" indent="0">
              <a:buNone/>
            </a:pPr>
            <a:r>
              <a:rPr lang="en-US" sz="2000" dirty="0">
                <a:latin typeface="Times New Roman" panose="02020603050405020304" pitchFamily="18" charset="0"/>
                <a:cs typeface="Times New Roman" panose="02020603050405020304" pitchFamily="18" charset="0"/>
              </a:rPr>
              <a:t>                 [1 1]]</a:t>
            </a:r>
          </a:p>
          <a:p>
            <a:pPr marL="0" indent="0">
              <a:buNone/>
            </a:pPr>
            <a:r>
              <a:rPr lang="en-US" sz="2000" dirty="0">
                <a:latin typeface="Times New Roman" panose="02020603050405020304" pitchFamily="18" charset="0"/>
                <a:cs typeface="Times New Roman" panose="02020603050405020304" pitchFamily="18" charset="0"/>
              </a:rPr>
              <a:t># Stacking 2D arrays vertically</a:t>
            </a:r>
          </a:p>
          <a:p>
            <a:pPr marL="0" indent="0">
              <a:buNone/>
            </a:pPr>
            <a:r>
              <a:rPr lang="en-US" sz="2000" dirty="0">
                <a:latin typeface="Times New Roman" panose="02020603050405020304" pitchFamily="18" charset="0"/>
                <a:cs typeface="Times New Roman" panose="02020603050405020304" pitchFamily="18" charset="0"/>
              </a:rPr>
              <a:t>arr1=</a:t>
            </a:r>
            <a:r>
              <a:rPr lang="en-US" sz="2000" dirty="0" err="1">
                <a:latin typeface="Times New Roman" panose="02020603050405020304" pitchFamily="18" charset="0"/>
                <a:cs typeface="Times New Roman" panose="02020603050405020304" pitchFamily="18" charset="0"/>
              </a:rPr>
              <a:t>np.array</a:t>
            </a:r>
            <a:r>
              <a:rPr lang="en-US" sz="2000" dirty="0">
                <a:latin typeface="Times New Roman" panose="02020603050405020304" pitchFamily="18" charset="0"/>
                <a:cs typeface="Times New Roman" panose="02020603050405020304" pitchFamily="18" charset="0"/>
              </a:rPr>
              <a:t>([[0,0],[0,0]]) </a:t>
            </a:r>
          </a:p>
          <a:p>
            <a:pPr marL="0" indent="0">
              <a:buNone/>
            </a:pPr>
            <a:r>
              <a:rPr lang="en-US" sz="2000" dirty="0">
                <a:latin typeface="Times New Roman" panose="02020603050405020304" pitchFamily="18" charset="0"/>
                <a:cs typeface="Times New Roman" panose="02020603050405020304" pitchFamily="18" charset="0"/>
              </a:rPr>
              <a:t>arr2=</a:t>
            </a:r>
            <a:r>
              <a:rPr lang="en-US" sz="2000" dirty="0" err="1">
                <a:latin typeface="Times New Roman" panose="02020603050405020304" pitchFamily="18" charset="0"/>
                <a:cs typeface="Times New Roman" panose="02020603050405020304" pitchFamily="18" charset="0"/>
              </a:rPr>
              <a:t>np.array</a:t>
            </a:r>
            <a:r>
              <a:rPr lang="en-US" sz="2000" dirty="0">
                <a:latin typeface="Times New Roman" panose="02020603050405020304" pitchFamily="18" charset="0"/>
                <a:cs typeface="Times New Roman" panose="02020603050405020304" pitchFamily="18" charset="0"/>
              </a:rPr>
              <a:t>([[1,1],[1,1]]) </a:t>
            </a:r>
          </a:p>
          <a:p>
            <a:pPr marL="0" indent="0">
              <a:buNone/>
            </a:pP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np.vstack</a:t>
            </a:r>
            <a:r>
              <a:rPr lang="en-US" sz="2000" dirty="0">
                <a:latin typeface="Times New Roman" panose="02020603050405020304" pitchFamily="18" charset="0"/>
                <a:cs typeface="Times New Roman" panose="02020603050405020304" pitchFamily="18" charset="0"/>
              </a:rPr>
              <a:t>((arr1,arr2)) </a:t>
            </a: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arr</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#output : [[0 0] </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0 0] </a:t>
            </a:r>
          </a:p>
          <a:p>
            <a:pPr marL="0" indent="0">
              <a:buNone/>
            </a:pPr>
            <a:r>
              <a:rPr lang="en-US" sz="2000" dirty="0">
                <a:latin typeface="Times New Roman" panose="02020603050405020304" pitchFamily="18" charset="0"/>
                <a:cs typeface="Times New Roman" panose="02020603050405020304" pitchFamily="18" charset="0"/>
              </a:rPr>
              <a:t>           [1 1] </a:t>
            </a:r>
          </a:p>
          <a:p>
            <a:pPr marL="0" indent="0">
              <a:buNone/>
            </a:pPr>
            <a:r>
              <a:rPr lang="en-US" sz="2000" dirty="0">
                <a:latin typeface="Times New Roman" panose="02020603050405020304" pitchFamily="18" charset="0"/>
                <a:cs typeface="Times New Roman" panose="02020603050405020304" pitchFamily="18" charset="0"/>
              </a:rPr>
              <a:t>           [1 1]]</a:t>
            </a:r>
          </a:p>
        </p:txBody>
      </p:sp>
      <p:pic>
        <p:nvPicPr>
          <p:cNvPr id="5" name="Picture 4">
            <a:extLst>
              <a:ext uri="{FF2B5EF4-FFF2-40B4-BE49-F238E27FC236}">
                <a16:creationId xmlns="" xmlns:a16="http://schemas.microsoft.com/office/drawing/2014/main" id="{13BBA8E6-07C3-4221-81BE-744A303A0B69}"/>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8077200" y="575292"/>
            <a:ext cx="1524000" cy="2990850"/>
          </a:xfrm>
          <a:prstGeom prst="rect">
            <a:avLst/>
          </a:prstGeom>
        </p:spPr>
      </p:pic>
    </p:spTree>
    <p:extLst>
      <p:ext uri="{BB962C8B-B14F-4D97-AF65-F5344CB8AC3E}">
        <p14:creationId xmlns="" xmlns:p14="http://schemas.microsoft.com/office/powerpoint/2010/main" val="16595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3C4CD77-21C2-4D08-9565-8E85B51B6801}"/>
              </a:ext>
            </a:extLst>
          </p:cNvPr>
          <p:cNvSpPr>
            <a:spLocks noGrp="1"/>
          </p:cNvSpPr>
          <p:nvPr>
            <p:ph idx="1"/>
          </p:nvPr>
        </p:nvSpPr>
        <p:spPr>
          <a:xfrm>
            <a:off x="204187" y="71020"/>
            <a:ext cx="11762912" cy="6596109"/>
          </a:xfrm>
        </p:spPr>
        <p:txBody>
          <a:bodyPr>
            <a:normAutofit/>
          </a:bodyPr>
          <a:lstStyle/>
          <a:p>
            <a:pPr marL="0" indent="0">
              <a:buNone/>
            </a:pPr>
            <a:endParaRPr lang="en-US" b="1" i="0" dirty="0" smtClean="0">
              <a:solidFill>
                <a:srgbClr val="333333"/>
              </a:solidFill>
              <a:effectLst/>
              <a:latin typeface="Times New Roman" panose="02020603050405020304" pitchFamily="18" charset="0"/>
              <a:cs typeface="Times New Roman" panose="02020603050405020304" pitchFamily="18" charset="0"/>
            </a:endParaRPr>
          </a:p>
          <a:p>
            <a:pPr marL="0" indent="0">
              <a:buNone/>
            </a:pPr>
            <a:r>
              <a:rPr lang="en-US" b="1" i="0" dirty="0" smtClean="0">
                <a:solidFill>
                  <a:srgbClr val="333333"/>
                </a:solidFill>
                <a:effectLst/>
                <a:latin typeface="Times New Roman" panose="02020603050405020304" pitchFamily="18" charset="0"/>
                <a:cs typeface="Times New Roman" panose="02020603050405020304" pitchFamily="18" charset="0"/>
              </a:rPr>
              <a:t>Sort </a:t>
            </a:r>
            <a:r>
              <a:rPr lang="en-US" b="1" i="0" dirty="0">
                <a:solidFill>
                  <a:srgbClr val="333333"/>
                </a:solidFill>
                <a:effectLst/>
                <a:latin typeface="Times New Roman" panose="02020603050405020304" pitchFamily="18" charset="0"/>
                <a:cs typeface="Times New Roman" panose="02020603050405020304" pitchFamily="18" charset="0"/>
              </a:rPr>
              <a:t>the arrays</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sorting means simply arranging </a:t>
            </a:r>
            <a:r>
              <a:rPr lang="en-US" b="0" i="0" dirty="0" err="1">
                <a:solidFill>
                  <a:srgbClr val="595858"/>
                </a:solidFill>
                <a:effectLst/>
                <a:latin typeface="Times New Roman" panose="02020603050405020304" pitchFamily="18" charset="0"/>
                <a:cs typeface="Times New Roman" panose="02020603050405020304" pitchFamily="18" charset="0"/>
              </a:rPr>
              <a:t>el</a:t>
            </a:r>
            <a:endParaRPr lang="en-US" b="0" i="0" dirty="0">
              <a:solidFill>
                <a:srgbClr val="595858"/>
              </a:solidFill>
              <a:effectLst/>
              <a:latin typeface="Times New Roman" panose="02020603050405020304" pitchFamily="18" charset="0"/>
              <a:cs typeface="Times New Roman" panose="02020603050405020304" pitchFamily="18" charset="0"/>
            </a:endParaRPr>
          </a:p>
          <a:p>
            <a:pPr marL="0" indent="0">
              <a:buNone/>
            </a:pPr>
            <a:r>
              <a:rPr lang="en-US" b="0" i="0" dirty="0" err="1">
                <a:solidFill>
                  <a:srgbClr val="595858"/>
                </a:solidFill>
                <a:effectLst/>
                <a:latin typeface="Times New Roman" panose="02020603050405020304" pitchFamily="18" charset="0"/>
                <a:cs typeface="Times New Roman" panose="02020603050405020304" pitchFamily="18" charset="0"/>
              </a:rPr>
              <a:t>arr</a:t>
            </a:r>
            <a:r>
              <a:rPr lang="en-US" b="0" i="0" dirty="0">
                <a:solidFill>
                  <a:srgbClr val="595858"/>
                </a:solidFill>
                <a:effectLst/>
                <a:latin typeface="Times New Roman" panose="02020603050405020304" pitchFamily="18" charset="0"/>
                <a:cs typeface="Times New Roman" panose="02020603050405020304" pitchFamily="18" charset="0"/>
              </a:rPr>
              <a:t>=</a:t>
            </a:r>
            <a:r>
              <a:rPr lang="en-US" b="0" i="0" dirty="0" err="1">
                <a:solidFill>
                  <a:srgbClr val="595858"/>
                </a:solidFill>
                <a:effectLst/>
                <a:latin typeface="Times New Roman" panose="02020603050405020304" pitchFamily="18" charset="0"/>
                <a:cs typeface="Times New Roman" panose="02020603050405020304" pitchFamily="18" charset="0"/>
              </a:rPr>
              <a:t>np.array</a:t>
            </a:r>
            <a:r>
              <a:rPr lang="en-US" b="0" i="0" dirty="0">
                <a:solidFill>
                  <a:srgbClr val="595858"/>
                </a:solidFill>
                <a:effectLst/>
                <a:latin typeface="Times New Roman" panose="02020603050405020304" pitchFamily="18" charset="0"/>
                <a:cs typeface="Times New Roman" panose="02020603050405020304" pitchFamily="18" charset="0"/>
              </a:rPr>
              <a:t>([3,2,0,1]) </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print(</a:t>
            </a:r>
            <a:r>
              <a:rPr lang="en-US" b="0" i="0" dirty="0" err="1">
                <a:solidFill>
                  <a:srgbClr val="595858"/>
                </a:solidFill>
                <a:effectLst/>
                <a:latin typeface="Times New Roman" panose="02020603050405020304" pitchFamily="18" charset="0"/>
                <a:cs typeface="Times New Roman" panose="02020603050405020304" pitchFamily="18" charset="0"/>
              </a:rPr>
              <a:t>np.sort</a:t>
            </a:r>
            <a:r>
              <a:rPr lang="en-US" b="0" i="0" dirty="0">
                <a:solidFill>
                  <a:srgbClr val="595858"/>
                </a:solidFill>
                <a:effectLst/>
                <a:latin typeface="Times New Roman" panose="02020603050405020304" pitchFamily="18" charset="0"/>
                <a:cs typeface="Times New Roman" panose="02020603050405020304" pitchFamily="18" charset="0"/>
              </a:rPr>
              <a:t>(</a:t>
            </a:r>
            <a:r>
              <a:rPr lang="en-US" b="0" i="0" dirty="0" err="1">
                <a:solidFill>
                  <a:srgbClr val="595858"/>
                </a:solidFill>
                <a:effectLst/>
                <a:latin typeface="Times New Roman" panose="02020603050405020304" pitchFamily="18" charset="0"/>
                <a:cs typeface="Times New Roman" panose="02020603050405020304" pitchFamily="18" charset="0"/>
              </a:rPr>
              <a:t>arr</a:t>
            </a:r>
            <a:r>
              <a:rPr lang="en-US" b="0" i="0" dirty="0">
                <a:solidFill>
                  <a:srgbClr val="595858"/>
                </a:solidFill>
                <a:effectLst/>
                <a:latin typeface="Times New Roman" panose="02020603050405020304" pitchFamily="18" charset="0"/>
                <a:cs typeface="Times New Roman" panose="02020603050405020304" pitchFamily="18" charset="0"/>
              </a:rPr>
              <a:t>)) </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#output : [0 1 2 3]</a:t>
            </a:r>
            <a:r>
              <a:rPr lang="en-US" b="0" i="0" dirty="0" err="1">
                <a:solidFill>
                  <a:srgbClr val="595858"/>
                </a:solidFill>
                <a:effectLst/>
                <a:latin typeface="Times New Roman" panose="02020603050405020304" pitchFamily="18" charset="0"/>
                <a:cs typeface="Times New Roman" panose="02020603050405020304" pitchFamily="18" charset="0"/>
              </a:rPr>
              <a:t>ements</a:t>
            </a:r>
            <a:r>
              <a:rPr lang="en-US" b="0" i="0" dirty="0">
                <a:solidFill>
                  <a:srgbClr val="595858"/>
                </a:solidFill>
                <a:effectLst/>
                <a:latin typeface="Times New Roman" panose="02020603050405020304" pitchFamily="18" charset="0"/>
                <a:cs typeface="Times New Roman" panose="02020603050405020304" pitchFamily="18" charset="0"/>
              </a:rPr>
              <a:t> in an ordered sequence</a:t>
            </a:r>
          </a:p>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Operations on  Arrays</a:t>
            </a:r>
          </a:p>
          <a:p>
            <a:pPr marL="0" indent="0" algn="l">
              <a:buNone/>
            </a:pPr>
            <a:r>
              <a:rPr lang="en-US" b="1" i="0" u="sng" dirty="0">
                <a:solidFill>
                  <a:srgbClr val="595858"/>
                </a:solidFill>
                <a:effectLst/>
                <a:latin typeface="Times New Roman" panose="02020603050405020304" pitchFamily="18" charset="0"/>
                <a:cs typeface="Times New Roman" panose="02020603050405020304" pitchFamily="18" charset="0"/>
              </a:rPr>
              <a:t>Array </a:t>
            </a:r>
            <a:r>
              <a:rPr lang="en-US" b="1" i="0" u="sng" dirty="0" smtClean="0">
                <a:solidFill>
                  <a:srgbClr val="595858"/>
                </a:solidFill>
                <a:effectLst/>
                <a:latin typeface="Times New Roman" panose="02020603050405020304" pitchFamily="18" charset="0"/>
                <a:cs typeface="Times New Roman" panose="02020603050405020304" pitchFamily="18" charset="0"/>
              </a:rPr>
              <a:t>Addition:</a:t>
            </a:r>
            <a:endParaRPr lang="en-US" b="0" i="0" dirty="0">
              <a:solidFill>
                <a:srgbClr val="595858"/>
              </a:solidFill>
              <a:effectLst/>
              <a:latin typeface="Times New Roman" panose="02020603050405020304" pitchFamily="18" charset="0"/>
              <a:cs typeface="Times New Roman" panose="02020603050405020304" pitchFamily="18" charset="0"/>
            </a:endParaRPr>
          </a:p>
          <a:p>
            <a:pPr marL="0" indent="0" algn="l">
              <a:buNone/>
            </a:pPr>
            <a:r>
              <a:rPr lang="en-US" b="0" i="0" dirty="0">
                <a:solidFill>
                  <a:srgbClr val="595858"/>
                </a:solidFill>
                <a:effectLst/>
                <a:latin typeface="Times New Roman" panose="02020603050405020304" pitchFamily="18" charset="0"/>
                <a:cs typeface="Times New Roman" panose="02020603050405020304" pitchFamily="18" charset="0"/>
              </a:rPr>
              <a:t>array_1 + array_2</a:t>
            </a:r>
          </a:p>
          <a:p>
            <a:pPr marL="0" indent="0">
              <a:buNone/>
            </a:pP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([0,1])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([2,3</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227593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9469" y="1495841"/>
            <a:ext cx="10515600" cy="4351338"/>
          </a:xfrm>
        </p:spPr>
        <p:txBody>
          <a:bodyPr/>
          <a:lstStyle/>
          <a:p>
            <a:pPr marL="0" indent="0">
              <a:buNone/>
            </a:pPr>
            <a:r>
              <a:rPr lang="en-US" b="1" u="sng" dirty="0">
                <a:solidFill>
                  <a:srgbClr val="595858"/>
                </a:solidFill>
                <a:latin typeface="Times New Roman" panose="02020603050405020304" pitchFamily="18" charset="0"/>
                <a:cs typeface="Times New Roman" panose="02020603050405020304" pitchFamily="18" charset="0"/>
              </a:rPr>
              <a:t>Array Subtraction</a:t>
            </a:r>
            <a:endParaRPr lang="en-US" dirty="0">
              <a:solidFill>
                <a:srgbClr val="595858"/>
              </a:solidFill>
              <a:latin typeface="Times New Roman" panose="02020603050405020304" pitchFamily="18" charset="0"/>
              <a:cs typeface="Times New Roman" panose="02020603050405020304" pitchFamily="18" charset="0"/>
            </a:endParaRPr>
          </a:p>
          <a:p>
            <a:r>
              <a:rPr lang="en-US" dirty="0">
                <a:solidFill>
                  <a:srgbClr val="595858"/>
                </a:solidFill>
                <a:latin typeface="Times New Roman" panose="02020603050405020304" pitchFamily="18" charset="0"/>
                <a:cs typeface="Times New Roman" panose="02020603050405020304" pitchFamily="18" charset="0"/>
              </a:rPr>
              <a:t>array_1 – array_2</a:t>
            </a:r>
          </a:p>
          <a:p>
            <a:pPr marL="0" indent="0">
              <a:buNone/>
            </a:pP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([0,1])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([2,3])</a:t>
            </a:r>
          </a:p>
          <a:p>
            <a:pPr marL="0" indent="0">
              <a:buNone/>
            </a:pPr>
            <a:r>
              <a:rPr lang="en-US" b="1" u="sng" dirty="0">
                <a:solidFill>
                  <a:srgbClr val="595858"/>
                </a:solidFill>
                <a:latin typeface="Times New Roman" panose="02020603050405020304" pitchFamily="18" charset="0"/>
                <a:cs typeface="Times New Roman" panose="02020603050405020304" pitchFamily="18" charset="0"/>
              </a:rPr>
              <a:t>Raising by a power :</a:t>
            </a:r>
          </a:p>
          <a:p>
            <a:pPr marL="0" indent="0">
              <a:buNone/>
            </a:pPr>
            <a:r>
              <a:rPr lang="en-US" dirty="0" err="1">
                <a:solidFill>
                  <a:srgbClr val="595858"/>
                </a:solidFill>
                <a:latin typeface="Times New Roman" panose="02020603050405020304" pitchFamily="18" charset="0"/>
                <a:cs typeface="Times New Roman" panose="02020603050405020304" pitchFamily="18" charset="0"/>
              </a:rPr>
              <a:t>Some_array</a:t>
            </a:r>
            <a:r>
              <a:rPr lang="en-US" dirty="0">
                <a:solidFill>
                  <a:srgbClr val="595858"/>
                </a:solidFill>
                <a:latin typeface="Times New Roman" panose="02020603050405020304" pitchFamily="18" charset="0"/>
                <a:cs typeface="Times New Roman" panose="02020603050405020304" pitchFamily="18" charset="0"/>
              </a:rPr>
              <a:t> ** n  , where n is any real number</a:t>
            </a:r>
            <a:endParaRPr lang="en-US" b="1" u="sng" dirty="0">
              <a:solidFill>
                <a:srgbClr val="595858"/>
              </a:solidFill>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([0,1])**2 #squaring</a:t>
            </a:r>
          </a:p>
          <a:p>
            <a:pPr marL="0" indent="0">
              <a:buNone/>
            </a:pP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([1,2]) ** 1.2 #raising power by 1.2</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459374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348ED79-CFFE-4AB1-A95A-856A83A2F346}"/>
              </a:ext>
            </a:extLst>
          </p:cNvPr>
          <p:cNvSpPr>
            <a:spLocks noGrp="1"/>
          </p:cNvSpPr>
          <p:nvPr>
            <p:ph idx="1"/>
          </p:nvPr>
        </p:nvSpPr>
        <p:spPr>
          <a:xfrm>
            <a:off x="230819" y="266330"/>
            <a:ext cx="11122981" cy="6427433"/>
          </a:xfrm>
        </p:spPr>
        <p:txBody>
          <a:bodyPr/>
          <a:lstStyle/>
          <a:p>
            <a:pPr marL="0" indent="0">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([1,4,2,5,3,6,8,7,9])</a:t>
            </a:r>
          </a:p>
          <a:p>
            <a:pPr marL="0" indent="0">
              <a:buNone/>
            </a:pPr>
            <a:r>
              <a:rPr lang="en-US" dirty="0" err="1">
                <a:latin typeface="Times New Roman" panose="02020603050405020304" pitchFamily="18" charset="0"/>
                <a:cs typeface="Times New Roman" panose="02020603050405020304" pitchFamily="18" charset="0"/>
              </a:rPr>
              <a:t>np.sort</a:t>
            </a:r>
            <a:r>
              <a:rPr lang="en-US" dirty="0">
                <a:latin typeface="Times New Roman" panose="02020603050405020304" pitchFamily="18" charset="0"/>
                <a:cs typeface="Times New Roman" panose="02020603050405020304" pitchFamily="18" charset="0"/>
              </a:rPr>
              <a:t>(a, kind='quicksort’)</a:t>
            </a:r>
          </a:p>
          <a:p>
            <a:pPr marL="0" indent="0">
              <a:buNone/>
            </a:pPr>
            <a:r>
              <a:rPr lang="en-US" dirty="0">
                <a:latin typeface="Times New Roman" panose="02020603050405020304" pitchFamily="18" charset="0"/>
                <a:cs typeface="Times New Roman" panose="02020603050405020304" pitchFamily="18" charset="0"/>
              </a:rPr>
              <a:t>Output?</a:t>
            </a:r>
          </a:p>
          <a:p>
            <a:pPr marL="0" indent="0">
              <a:buNone/>
            </a:pPr>
            <a:r>
              <a:rPr lang="en-US" b="0" i="0" dirty="0">
                <a:solidFill>
                  <a:srgbClr val="595858"/>
                </a:solidFill>
                <a:effectLst/>
                <a:latin typeface="Times New Roman" panose="02020603050405020304" pitchFamily="18" charset="0"/>
                <a:cs typeface="Times New Roman" panose="02020603050405020304" pitchFamily="18" charset="0"/>
              </a:rPr>
              <a:t>Sort the array along any axis you desire</a:t>
            </a:r>
          </a:p>
          <a:p>
            <a:pPr marL="0" indent="0">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([[5,6,7,4],</a:t>
            </a:r>
          </a:p>
          <a:p>
            <a:pPr marL="0" indent="0">
              <a:buNone/>
            </a:pPr>
            <a:r>
              <a:rPr lang="en-US" dirty="0">
                <a:latin typeface="Times New Roman" panose="02020603050405020304" pitchFamily="18" charset="0"/>
                <a:cs typeface="Times New Roman" panose="02020603050405020304" pitchFamily="18" charset="0"/>
              </a:rPr>
              <a:t>              [9,2,3,7]])# sort along the column</a:t>
            </a:r>
          </a:p>
          <a:p>
            <a:pPr marL="0" indent="0">
              <a:buNone/>
            </a:pPr>
            <a:r>
              <a:rPr lang="en-US" dirty="0">
                <a:latin typeface="Times New Roman" panose="02020603050405020304" pitchFamily="18" charset="0"/>
                <a:cs typeface="Times New Roman" panose="02020603050405020304" pitchFamily="18" charset="0"/>
              </a:rPr>
              <a:t>print('Sort along column :','\n',</a:t>
            </a:r>
            <a:r>
              <a:rPr lang="en-US" dirty="0" err="1">
                <a:latin typeface="Times New Roman" panose="02020603050405020304" pitchFamily="18" charset="0"/>
                <a:cs typeface="Times New Roman" panose="02020603050405020304" pitchFamily="18" charset="0"/>
              </a:rPr>
              <a:t>np.sort</a:t>
            </a:r>
            <a:r>
              <a:rPr lang="en-US" dirty="0">
                <a:latin typeface="Times New Roman" panose="02020603050405020304" pitchFamily="18" charset="0"/>
                <a:cs typeface="Times New Roman" panose="02020603050405020304" pitchFamily="18" charset="0"/>
              </a:rPr>
              <a:t>(a, kind='</a:t>
            </a:r>
            <a:r>
              <a:rPr lang="en-US" dirty="0" err="1">
                <a:latin typeface="Times New Roman" panose="02020603050405020304" pitchFamily="18" charset="0"/>
                <a:cs typeface="Times New Roman" panose="02020603050405020304" pitchFamily="18" charset="0"/>
              </a:rPr>
              <a:t>mergresort</a:t>
            </a:r>
            <a:r>
              <a:rPr lang="en-US" dirty="0">
                <a:latin typeface="Times New Roman" panose="02020603050405020304" pitchFamily="18" charset="0"/>
                <a:cs typeface="Times New Roman" panose="02020603050405020304" pitchFamily="18" charset="0"/>
              </a:rPr>
              <a:t>',axis=1))</a:t>
            </a:r>
          </a:p>
          <a:p>
            <a:pPr marL="0" indent="0">
              <a:buNone/>
            </a:pPr>
            <a:r>
              <a:rPr lang="en-US" dirty="0">
                <a:latin typeface="Times New Roman" panose="02020603050405020304" pitchFamily="18" charset="0"/>
                <a:cs typeface="Times New Roman" panose="02020603050405020304" pitchFamily="18" charset="0"/>
              </a:rPr>
              <a:t># sort along the row</a:t>
            </a:r>
          </a:p>
          <a:p>
            <a:pPr marL="0" indent="0">
              <a:buNone/>
            </a:pPr>
            <a:r>
              <a:rPr lang="en-US" dirty="0">
                <a:latin typeface="Times New Roman" panose="02020603050405020304" pitchFamily="18" charset="0"/>
                <a:cs typeface="Times New Roman" panose="02020603050405020304" pitchFamily="18" charset="0"/>
              </a:rPr>
              <a:t>print('Sort along row :','\n',</a:t>
            </a:r>
            <a:r>
              <a:rPr lang="en-US" dirty="0" err="1">
                <a:latin typeface="Times New Roman" panose="02020603050405020304" pitchFamily="18" charset="0"/>
                <a:cs typeface="Times New Roman" panose="02020603050405020304" pitchFamily="18" charset="0"/>
              </a:rPr>
              <a:t>np.sort</a:t>
            </a:r>
            <a:r>
              <a:rPr lang="en-US" dirty="0">
                <a:latin typeface="Times New Roman" panose="02020603050405020304" pitchFamily="18" charset="0"/>
                <a:cs typeface="Times New Roman" panose="02020603050405020304" pitchFamily="18" charset="0"/>
              </a:rPr>
              <a:t>(a, kind='</a:t>
            </a:r>
            <a:r>
              <a:rPr lang="en-US" dirty="0" err="1">
                <a:latin typeface="Times New Roman" panose="02020603050405020304" pitchFamily="18" charset="0"/>
                <a:cs typeface="Times New Roman" panose="02020603050405020304" pitchFamily="18" charset="0"/>
              </a:rPr>
              <a:t>mergresort</a:t>
            </a:r>
            <a:r>
              <a:rPr lang="en-US" dirty="0">
                <a:latin typeface="Times New Roman" panose="02020603050405020304" pitchFamily="18" charset="0"/>
                <a:cs typeface="Times New Roman" panose="02020603050405020304" pitchFamily="18" charset="0"/>
              </a:rPr>
              <a:t>',axis=0))</a:t>
            </a:r>
            <a:endParaRPr lang="en-US" dirty="0">
              <a:solidFill>
                <a:srgbClr val="595858"/>
              </a:solidFill>
              <a:latin typeface="Times New Roman" panose="02020603050405020304" pitchFamily="18" charset="0"/>
              <a:cs typeface="Times New Roman" panose="02020603050405020304" pitchFamily="18" charset="0"/>
            </a:endParaRPr>
          </a:p>
          <a:p>
            <a:pPr marL="0" indent="0">
              <a:buNone/>
            </a:pPr>
            <a:r>
              <a:rPr lang="en-US" dirty="0">
                <a:solidFill>
                  <a:srgbClr val="595858"/>
                </a:solidFill>
                <a:latin typeface="Times New Roman" panose="02020603050405020304" pitchFamily="18" charset="0"/>
                <a:cs typeface="Times New Roman" panose="02020603050405020304" pitchFamily="18" charset="0"/>
              </a:rPr>
              <a:t>Output: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86792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9FD8862-3212-459A-AAF5-76C41AE83171}"/>
              </a:ext>
            </a:extLst>
          </p:cNvPr>
          <p:cNvSpPr>
            <a:spLocks noGrp="1"/>
          </p:cNvSpPr>
          <p:nvPr>
            <p:ph idx="1"/>
          </p:nvPr>
        </p:nvSpPr>
        <p:spPr>
          <a:xfrm>
            <a:off x="239697" y="133165"/>
            <a:ext cx="11114103" cy="6462944"/>
          </a:xfrm>
        </p:spPr>
        <p:txBody>
          <a:bodyPr>
            <a:normAutofit/>
          </a:bodyPr>
          <a:lstStyle/>
          <a:p>
            <a:pPr algn="l"/>
            <a:endParaRPr lang="en-US" b="1" i="0" dirty="0" smtClean="0">
              <a:solidFill>
                <a:srgbClr val="333333"/>
              </a:solidFill>
              <a:effectLst/>
              <a:latin typeface="Times New Roman" panose="02020603050405020304" pitchFamily="18" charset="0"/>
              <a:cs typeface="Times New Roman" panose="02020603050405020304" pitchFamily="18" charset="0"/>
            </a:endParaRPr>
          </a:p>
          <a:p>
            <a:pPr algn="l"/>
            <a:r>
              <a:rPr lang="en-US" b="1" i="0" dirty="0" smtClean="0">
                <a:solidFill>
                  <a:srgbClr val="333333"/>
                </a:solidFill>
                <a:effectLst/>
                <a:latin typeface="Times New Roman" panose="02020603050405020304" pitchFamily="18" charset="0"/>
                <a:cs typeface="Times New Roman" panose="02020603050405020304" pitchFamily="18" charset="0"/>
              </a:rPr>
              <a:t>Broadcasting </a:t>
            </a:r>
            <a:r>
              <a:rPr lang="en-US" b="1" i="0" dirty="0">
                <a:solidFill>
                  <a:srgbClr val="333333"/>
                </a:solidFill>
                <a:effectLst/>
                <a:latin typeface="Times New Roman" panose="02020603050405020304" pitchFamily="18" charset="0"/>
                <a:cs typeface="Times New Roman" panose="02020603050405020304" pitchFamily="18" charset="0"/>
              </a:rPr>
              <a:t>in NumPy arrays – A class apart!</a:t>
            </a:r>
          </a:p>
          <a:p>
            <a:pPr algn="l"/>
            <a:r>
              <a:rPr lang="en-US" b="0" i="0" dirty="0">
                <a:solidFill>
                  <a:srgbClr val="595858"/>
                </a:solidFill>
                <a:effectLst/>
                <a:latin typeface="Times New Roman" panose="02020603050405020304" pitchFamily="18" charset="0"/>
                <a:cs typeface="Times New Roman" panose="02020603050405020304" pitchFamily="18" charset="0"/>
              </a:rPr>
              <a:t>Broadcasting is one of the best features of </a:t>
            </a:r>
            <a:r>
              <a:rPr lang="en-US" b="0" i="0" dirty="0" err="1">
                <a:solidFill>
                  <a:srgbClr val="595858"/>
                </a:solidFill>
                <a:effectLst/>
                <a:latin typeface="Times New Roman" panose="02020603050405020304" pitchFamily="18" charset="0"/>
                <a:cs typeface="Times New Roman" panose="02020603050405020304" pitchFamily="18" charset="0"/>
              </a:rPr>
              <a:t>ndarrays</a:t>
            </a:r>
            <a:r>
              <a:rPr lang="en-US" b="0" i="0" dirty="0">
                <a:solidFill>
                  <a:srgbClr val="595858"/>
                </a:solidFill>
                <a:effectLst/>
                <a:latin typeface="Times New Roman" panose="02020603050405020304" pitchFamily="18" charset="0"/>
                <a:cs typeface="Times New Roman" panose="02020603050405020304" pitchFamily="18" charset="0"/>
              </a:rPr>
              <a:t>. It lets you perform </a:t>
            </a:r>
            <a:r>
              <a:rPr lang="en-US" b="0" i="0" dirty="0" err="1">
                <a:solidFill>
                  <a:srgbClr val="595858"/>
                </a:solidFill>
                <a:effectLst/>
                <a:latin typeface="Times New Roman" panose="02020603050405020304" pitchFamily="18" charset="0"/>
                <a:cs typeface="Times New Roman" panose="02020603050405020304" pitchFamily="18" charset="0"/>
              </a:rPr>
              <a:t>arithmetics</a:t>
            </a:r>
            <a:r>
              <a:rPr lang="en-US" b="0" i="0" dirty="0">
                <a:solidFill>
                  <a:srgbClr val="595858"/>
                </a:solidFill>
                <a:effectLst/>
                <a:latin typeface="Times New Roman" panose="02020603050405020304" pitchFamily="18" charset="0"/>
                <a:cs typeface="Times New Roman" panose="02020603050405020304" pitchFamily="18" charset="0"/>
              </a:rPr>
              <a:t> operations between </a:t>
            </a:r>
            <a:r>
              <a:rPr lang="en-US" b="0" i="0" dirty="0" err="1">
                <a:solidFill>
                  <a:srgbClr val="595858"/>
                </a:solidFill>
                <a:effectLst/>
                <a:latin typeface="Times New Roman" panose="02020603050405020304" pitchFamily="18" charset="0"/>
                <a:cs typeface="Times New Roman" panose="02020603050405020304" pitchFamily="18" charset="0"/>
              </a:rPr>
              <a:t>ndarrays</a:t>
            </a:r>
            <a:r>
              <a:rPr lang="en-US" b="0" i="0" dirty="0">
                <a:solidFill>
                  <a:srgbClr val="595858"/>
                </a:solidFill>
                <a:effectLst/>
                <a:latin typeface="Times New Roman" panose="02020603050405020304" pitchFamily="18" charset="0"/>
                <a:cs typeface="Times New Roman" panose="02020603050405020304" pitchFamily="18" charset="0"/>
              </a:rPr>
              <a:t> of different sizes or between an </a:t>
            </a:r>
            <a:r>
              <a:rPr lang="en-US" b="0" i="0" dirty="0" err="1">
                <a:solidFill>
                  <a:srgbClr val="595858"/>
                </a:solidFill>
                <a:effectLst/>
                <a:latin typeface="Times New Roman" panose="02020603050405020304" pitchFamily="18" charset="0"/>
                <a:cs typeface="Times New Roman" panose="02020603050405020304" pitchFamily="18" charset="0"/>
              </a:rPr>
              <a:t>ndarray</a:t>
            </a:r>
            <a:r>
              <a:rPr lang="en-US" b="0" i="0" dirty="0">
                <a:solidFill>
                  <a:srgbClr val="595858"/>
                </a:solidFill>
                <a:effectLst/>
                <a:latin typeface="Times New Roman" panose="02020603050405020304" pitchFamily="18" charset="0"/>
                <a:cs typeface="Times New Roman" panose="02020603050405020304" pitchFamily="18" charset="0"/>
              </a:rPr>
              <a:t> and a simple number!</a:t>
            </a:r>
          </a:p>
          <a:p>
            <a:pPr algn="l"/>
            <a:r>
              <a:rPr lang="en-US" b="0" i="0" dirty="0">
                <a:solidFill>
                  <a:srgbClr val="000000"/>
                </a:solidFill>
                <a:effectLst/>
                <a:latin typeface="Times New Roman" panose="02020603050405020304" pitchFamily="18" charset="0"/>
                <a:cs typeface="Times New Roman" panose="02020603050405020304" pitchFamily="18" charset="0"/>
              </a:rPr>
              <a:t>The term </a:t>
            </a:r>
            <a:r>
              <a:rPr lang="en-US" b="1" i="0" dirty="0">
                <a:solidFill>
                  <a:srgbClr val="000000"/>
                </a:solidFill>
                <a:effectLst/>
                <a:latin typeface="Times New Roman" panose="02020603050405020304" pitchFamily="18" charset="0"/>
                <a:cs typeface="Times New Roman" panose="02020603050405020304" pitchFamily="18" charset="0"/>
              </a:rPr>
              <a:t>broadcasting</a:t>
            </a:r>
            <a:r>
              <a:rPr lang="en-US" b="0" i="0" dirty="0">
                <a:solidFill>
                  <a:srgbClr val="000000"/>
                </a:solidFill>
                <a:effectLst/>
                <a:latin typeface="Times New Roman" panose="02020603050405020304" pitchFamily="18" charset="0"/>
                <a:cs typeface="Times New Roman" panose="02020603050405020304" pitchFamily="18" charset="0"/>
              </a:rPr>
              <a:t> refers to the ability of NumPy to treat arrays of different shapes </a:t>
            </a:r>
            <a:r>
              <a:rPr lang="en-US" dirty="0" smtClean="0">
                <a:solidFill>
                  <a:srgbClr val="000000"/>
                </a:solidFill>
                <a:latin typeface="Times New Roman" panose="02020603050405020304" pitchFamily="18" charset="0"/>
                <a:cs typeface="Times New Roman" panose="02020603050405020304" pitchFamily="18" charset="0"/>
              </a:rPr>
              <a:t>for performing operations.</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r>
              <a:rPr lang="en-US" b="0" i="0" dirty="0">
                <a:solidFill>
                  <a:srgbClr val="000000"/>
                </a:solidFill>
                <a:effectLst/>
                <a:latin typeface="Times New Roman" panose="02020603050405020304" pitchFamily="18" charset="0"/>
                <a:cs typeface="Times New Roman" panose="02020603050405020304" pitchFamily="18" charset="0"/>
              </a:rPr>
              <a:t>If the dimensions of two arrays are dissimilar, element-to-element operations are not possible. However, operations on arrays of non-similar shapes is still possible in NumPy, because of the broadcasting capability. </a:t>
            </a:r>
          </a:p>
          <a:p>
            <a:pPr algn="just"/>
            <a:r>
              <a:rPr lang="en-US" b="0" i="0" dirty="0">
                <a:solidFill>
                  <a:srgbClr val="000000"/>
                </a:solidFill>
                <a:effectLst/>
                <a:latin typeface="Times New Roman" panose="02020603050405020304" pitchFamily="18" charset="0"/>
                <a:cs typeface="Times New Roman" panose="02020603050405020304" pitchFamily="18" charset="0"/>
              </a:rPr>
              <a:t>The smaller array is </a:t>
            </a:r>
            <a:r>
              <a:rPr lang="en-US" b="1" i="0" dirty="0">
                <a:solidFill>
                  <a:srgbClr val="000000"/>
                </a:solidFill>
                <a:effectLst/>
                <a:latin typeface="Times New Roman" panose="02020603050405020304" pitchFamily="18" charset="0"/>
                <a:cs typeface="Times New Roman" panose="02020603050405020304" pitchFamily="18" charset="0"/>
              </a:rPr>
              <a:t>broadcast</a:t>
            </a:r>
            <a:r>
              <a:rPr lang="en-US" b="0" i="0" dirty="0">
                <a:solidFill>
                  <a:srgbClr val="000000"/>
                </a:solidFill>
                <a:effectLst/>
                <a:latin typeface="Times New Roman" panose="02020603050405020304" pitchFamily="18" charset="0"/>
                <a:cs typeface="Times New Roman" panose="02020603050405020304" pitchFamily="18" charset="0"/>
              </a:rPr>
              <a:t> to the size of the larger array so that they have compatible shapes.</a:t>
            </a:r>
          </a:p>
        </p:txBody>
      </p:sp>
    </p:spTree>
    <p:extLst>
      <p:ext uri="{BB962C8B-B14F-4D97-AF65-F5344CB8AC3E}">
        <p14:creationId xmlns="" xmlns:p14="http://schemas.microsoft.com/office/powerpoint/2010/main" val="2356160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3BE2C2F-0AAC-43D7-B327-378E2B0749A2}"/>
              </a:ext>
            </a:extLst>
          </p:cNvPr>
          <p:cNvSpPr>
            <a:spLocks noGrp="1"/>
          </p:cNvSpPr>
          <p:nvPr>
            <p:ph idx="1"/>
          </p:nvPr>
        </p:nvSpPr>
        <p:spPr>
          <a:xfrm>
            <a:off x="115410" y="213064"/>
            <a:ext cx="11238390" cy="6480699"/>
          </a:xfrm>
        </p:spPr>
        <p:txBody>
          <a:bodyPr/>
          <a:lstStyle/>
          <a:p>
            <a:pPr algn="l" fontAlgn="base"/>
            <a:endParaRPr lang="en-US" b="0" i="0" dirty="0" smtClean="0">
              <a:solidFill>
                <a:srgbClr val="242729"/>
              </a:solidFill>
              <a:effectLst/>
              <a:latin typeface="Times New Roman" panose="02020603050405020304" pitchFamily="18" charset="0"/>
              <a:cs typeface="Times New Roman" panose="02020603050405020304" pitchFamily="18" charset="0"/>
            </a:endParaRPr>
          </a:p>
          <a:p>
            <a:pPr algn="l" fontAlgn="base"/>
            <a:endParaRPr lang="en-US" dirty="0">
              <a:solidFill>
                <a:srgbClr val="242729"/>
              </a:solidFill>
              <a:latin typeface="Times New Roman" panose="02020603050405020304" pitchFamily="18" charset="0"/>
              <a:cs typeface="Times New Roman" panose="02020603050405020304" pitchFamily="18" charset="0"/>
            </a:endParaRPr>
          </a:p>
          <a:p>
            <a:pPr algn="l" fontAlgn="base"/>
            <a:r>
              <a:rPr lang="en-US" b="0" i="0" dirty="0" smtClean="0">
                <a:solidFill>
                  <a:srgbClr val="242729"/>
                </a:solidFill>
                <a:effectLst/>
                <a:latin typeface="Times New Roman" panose="02020603050405020304" pitchFamily="18" charset="0"/>
                <a:cs typeface="Times New Roman" panose="02020603050405020304" pitchFamily="18" charset="0"/>
              </a:rPr>
              <a:t>broadcasting </a:t>
            </a:r>
            <a:r>
              <a:rPr lang="en-US" b="0" i="0" dirty="0">
                <a:solidFill>
                  <a:srgbClr val="242729"/>
                </a:solidFill>
                <a:effectLst/>
                <a:latin typeface="Times New Roman" panose="02020603050405020304" pitchFamily="18" charset="0"/>
                <a:cs typeface="Times New Roman" panose="02020603050405020304" pitchFamily="18" charset="0"/>
              </a:rPr>
              <a:t>describes how </a:t>
            </a:r>
            <a:r>
              <a:rPr lang="en-US" b="0" i="0" dirty="0" err="1">
                <a:solidFill>
                  <a:srgbClr val="242729"/>
                </a:solidFill>
                <a:effectLst/>
                <a:latin typeface="Times New Roman" panose="02020603050405020304" pitchFamily="18" charset="0"/>
                <a:cs typeface="Times New Roman" panose="02020603050405020304" pitchFamily="18" charset="0"/>
              </a:rPr>
              <a:t>numpy</a:t>
            </a:r>
            <a:r>
              <a:rPr lang="en-US" b="0" i="0" dirty="0">
                <a:solidFill>
                  <a:srgbClr val="242729"/>
                </a:solidFill>
                <a:effectLst/>
                <a:latin typeface="Times New Roman" panose="02020603050405020304" pitchFamily="18" charset="0"/>
                <a:cs typeface="Times New Roman" panose="02020603050405020304" pitchFamily="18" charset="0"/>
              </a:rPr>
              <a:t> treats arrays with different shapes during arithmetic operations.</a:t>
            </a:r>
          </a:p>
          <a:p>
            <a:pPr algn="l" fontAlgn="base">
              <a:buFont typeface="Arial" panose="020B0604020202020204" pitchFamily="34" charset="0"/>
              <a:buChar char="•"/>
            </a:pPr>
            <a:r>
              <a:rPr lang="en-US" b="0" i="0" dirty="0">
                <a:solidFill>
                  <a:srgbClr val="242729"/>
                </a:solidFill>
                <a:effectLst/>
                <a:latin typeface="Times New Roman" panose="02020603050405020304" pitchFamily="18" charset="0"/>
                <a:cs typeface="Times New Roman" panose="02020603050405020304" pitchFamily="18" charset="0"/>
              </a:rPr>
              <a:t>Aligned dimensions are equal.</a:t>
            </a:r>
          </a:p>
          <a:p>
            <a:pPr algn="l" fontAlgn="base">
              <a:buFont typeface="Arial" panose="020B0604020202020204" pitchFamily="34" charset="0"/>
              <a:buChar char="•"/>
            </a:pPr>
            <a:r>
              <a:rPr lang="en-US" b="0" i="0" dirty="0">
                <a:solidFill>
                  <a:srgbClr val="242729"/>
                </a:solidFill>
                <a:effectLst/>
                <a:latin typeface="Times New Roman" panose="02020603050405020304" pitchFamily="18" charset="0"/>
                <a:cs typeface="Times New Roman" panose="02020603050405020304" pitchFamily="18" charset="0"/>
              </a:rPr>
              <a:t>One of the aligned dimensions is 1</a:t>
            </a:r>
          </a:p>
          <a:p>
            <a:pPr marL="0" indent="0">
              <a:buNone/>
            </a:pPr>
            <a:r>
              <a:rPr lang="en-US" b="0" i="0" dirty="0">
                <a:solidFill>
                  <a:srgbClr val="242729"/>
                </a:solidFill>
                <a:effectLst/>
                <a:latin typeface="Times New Roman" panose="02020603050405020304" pitchFamily="18" charset="0"/>
                <a:cs typeface="Times New Roman" panose="02020603050405020304" pitchFamily="18" charset="0"/>
              </a:rPr>
              <a:t>Broadcasting is a Tensor operation. Helpful in Neural Network (ML, AI)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457280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59764" y="599606"/>
            <a:ext cx="11242622" cy="5951095"/>
          </a:xfrm>
        </p:spPr>
        <p:txBody>
          <a:bodyPr>
            <a:normAutofit fontScale="85000" lnSpcReduction="20000"/>
          </a:bodyPr>
          <a:lstStyle/>
          <a:p>
            <a:pPr algn="just" fontAlgn="base">
              <a:buNone/>
            </a:pPr>
            <a:r>
              <a:rPr lang="en-US" b="1" dirty="0" smtClean="0">
                <a:latin typeface="Times New Roman" pitchFamily="18" charset="0"/>
                <a:cs typeface="Times New Roman" pitchFamily="18" charset="0"/>
              </a:rPr>
              <a:t>Broadcasting a 1D Array to a 2D Array:</a:t>
            </a:r>
          </a:p>
          <a:p>
            <a:pPr algn="just" fontAlgn="base">
              <a:buNone/>
            </a:pPr>
            <a:r>
              <a:rPr lang="en-US" dirty="0" smtClean="0">
                <a:latin typeface="Times New Roman" pitchFamily="18" charset="0"/>
                <a:cs typeface="Times New Roman" pitchFamily="18" charset="0"/>
              </a:rPr>
              <a:t>This example shows how a 1D array a1 is added to a 2D array a2. </a:t>
            </a:r>
          </a:p>
          <a:p>
            <a:pPr algn="just" fontAlgn="base">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automatically expands the 1D array along the rows of the 2D array to perform element-wise addition.</a:t>
            </a:r>
          </a:p>
          <a:p>
            <a:pPr algn="just" fontAlgn="base">
              <a:buNone/>
            </a:pPr>
            <a:r>
              <a:rPr lang="en-US" dirty="0" smtClean="0">
                <a:latin typeface="Times New Roman" pitchFamily="18" charset="0"/>
                <a:cs typeface="Times New Roman" pitchFamily="18" charset="0"/>
              </a:rPr>
              <a:t>   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lgn="just" fontAlgn="base">
              <a:buNone/>
            </a:pPr>
            <a:r>
              <a:rPr lang="en-US" dirty="0" smtClean="0">
                <a:latin typeface="Times New Roman" pitchFamily="18" charset="0"/>
                <a:cs typeface="Times New Roman" pitchFamily="18" charset="0"/>
              </a:rPr>
              <a:t>   a1 = </a:t>
            </a:r>
            <a:r>
              <a:rPr lang="en-US" dirty="0" err="1" smtClean="0">
                <a:latin typeface="Times New Roman" pitchFamily="18" charset="0"/>
                <a:cs typeface="Times New Roman" pitchFamily="18" charset="0"/>
              </a:rPr>
              <a:t>np.array</a:t>
            </a:r>
            <a:r>
              <a:rPr lang="en-US" dirty="0" smtClean="0">
                <a:latin typeface="Times New Roman" pitchFamily="18" charset="0"/>
                <a:cs typeface="Times New Roman" pitchFamily="18" charset="0"/>
              </a:rPr>
              <a:t>([2, 4, 6])</a:t>
            </a:r>
          </a:p>
          <a:p>
            <a:pPr algn="just" fontAlgn="base">
              <a:buNone/>
            </a:pPr>
            <a:r>
              <a:rPr lang="en-US" dirty="0" smtClean="0">
                <a:latin typeface="Times New Roman" pitchFamily="18" charset="0"/>
                <a:cs typeface="Times New Roman" pitchFamily="18" charset="0"/>
              </a:rPr>
              <a:t>   a2 = </a:t>
            </a:r>
            <a:r>
              <a:rPr lang="en-US" dirty="0" err="1" smtClean="0">
                <a:latin typeface="Times New Roman" pitchFamily="18" charset="0"/>
                <a:cs typeface="Times New Roman" pitchFamily="18" charset="0"/>
              </a:rPr>
              <a:t>np.array</a:t>
            </a:r>
            <a:r>
              <a:rPr lang="en-US" dirty="0" smtClean="0">
                <a:latin typeface="Times New Roman" pitchFamily="18" charset="0"/>
                <a:cs typeface="Times New Roman" pitchFamily="18" charset="0"/>
              </a:rPr>
              <a:t>([[1, 3, 5], [7, 9, 11]])</a:t>
            </a:r>
          </a:p>
          <a:p>
            <a:pPr algn="just" fontAlgn="base">
              <a:buNone/>
            </a:pPr>
            <a:r>
              <a:rPr lang="en-US" dirty="0" smtClean="0">
                <a:latin typeface="Times New Roman" pitchFamily="18" charset="0"/>
                <a:cs typeface="Times New Roman" pitchFamily="18" charset="0"/>
              </a:rPr>
              <a:t>   res = a1 + a2</a:t>
            </a:r>
          </a:p>
          <a:p>
            <a:pPr algn="just" fontAlgn="base">
              <a:buNone/>
            </a:pPr>
            <a:r>
              <a:rPr lang="en-US" dirty="0" smtClean="0">
                <a:latin typeface="Times New Roman" pitchFamily="18" charset="0"/>
                <a:cs typeface="Times New Roman" pitchFamily="18" charset="0"/>
              </a:rPr>
              <a:t>   print(res)</a:t>
            </a:r>
          </a:p>
          <a:p>
            <a:pPr algn="just" fontAlgn="base"/>
            <a:endParaRPr lang="en-US" dirty="0" smtClean="0">
              <a:latin typeface="Times New Roman" pitchFamily="18" charset="0"/>
              <a:cs typeface="Times New Roman" pitchFamily="18" charset="0"/>
            </a:endParaRPr>
          </a:p>
          <a:p>
            <a:pPr algn="just" fontAlgn="base">
              <a:buNone/>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Output:</a:t>
            </a:r>
          </a:p>
          <a:p>
            <a:pPr algn="just" fontAlgn="base">
              <a:buNone/>
            </a:pPr>
            <a:r>
              <a:rPr lang="en-US" dirty="0" smtClean="0">
                <a:latin typeface="Times New Roman" pitchFamily="18" charset="0"/>
                <a:cs typeface="Times New Roman" pitchFamily="18" charset="0"/>
              </a:rPr>
              <a:t>     [[ 3 7 11] [ 9 13 17]] </a:t>
            </a:r>
          </a:p>
          <a:p>
            <a:pPr algn="just" fontAlgn="base">
              <a:buNone/>
            </a:pPr>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It allows us to perform addition on arrays of different shapes without needing to reshape them.</a:t>
            </a:r>
          </a:p>
          <a:p>
            <a:pPr algn="just"/>
            <a:endParaRPr lang="en-US"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6E43568-5400-4953-B4BA-9F05D568DF76}"/>
              </a:ext>
            </a:extLst>
          </p:cNvPr>
          <p:cNvSpPr>
            <a:spLocks noGrp="1"/>
          </p:cNvSpPr>
          <p:nvPr>
            <p:ph idx="1"/>
          </p:nvPr>
        </p:nvSpPr>
        <p:spPr>
          <a:xfrm>
            <a:off x="115410" y="464234"/>
            <a:ext cx="11238390" cy="6202895"/>
          </a:xfrm>
        </p:spPr>
        <p:txBody>
          <a:bodyPr>
            <a:normAutofit lnSpcReduction="10000"/>
          </a:bodyPr>
          <a:lstStyle/>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Mean, Median and Standard deviation</a:t>
            </a:r>
          </a:p>
          <a:p>
            <a:pPr marL="0" indent="0">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np.arange</a:t>
            </a:r>
            <a:r>
              <a:rPr lang="en-US" dirty="0">
                <a:latin typeface="Times New Roman" panose="02020603050405020304" pitchFamily="18" charset="0"/>
                <a:cs typeface="Times New Roman" panose="02020603050405020304" pitchFamily="18" charset="0"/>
              </a:rPr>
              <a:t>(5,15,2)</a:t>
            </a:r>
          </a:p>
          <a:p>
            <a:pPr marL="0" indent="0">
              <a:buNone/>
            </a:pPr>
            <a:r>
              <a:rPr lang="en-US" dirty="0">
                <a:latin typeface="Times New Roman" panose="02020603050405020304" pitchFamily="18" charset="0"/>
                <a:cs typeface="Times New Roman" panose="02020603050405020304" pitchFamily="18" charset="0"/>
              </a:rPr>
              <a:t>print('Mean :',</a:t>
            </a:r>
            <a:r>
              <a:rPr lang="en-US" dirty="0" err="1">
                <a:latin typeface="Times New Roman" panose="02020603050405020304" pitchFamily="18" charset="0"/>
                <a:cs typeface="Times New Roman" panose="02020603050405020304" pitchFamily="18" charset="0"/>
              </a:rPr>
              <a:t>np.mean</a:t>
            </a:r>
            <a:r>
              <a:rPr lang="en-US" dirty="0">
                <a:latin typeface="Times New Roman" panose="02020603050405020304" pitchFamily="18" charset="0"/>
                <a:cs typeface="Times New Roman" panose="02020603050405020304" pitchFamily="18" charset="0"/>
              </a:rPr>
              <a:t>(a))</a:t>
            </a:r>
          </a:p>
          <a:p>
            <a:pPr marL="0" indent="0">
              <a:buNone/>
            </a:pPr>
            <a:r>
              <a:rPr lang="en-US" dirty="0">
                <a:latin typeface="Times New Roman" panose="02020603050405020304" pitchFamily="18" charset="0"/>
                <a:cs typeface="Times New Roman" panose="02020603050405020304" pitchFamily="18" charset="0"/>
              </a:rPr>
              <a:t>print('Standard deviation :',</a:t>
            </a:r>
            <a:r>
              <a:rPr lang="en-US" dirty="0" err="1">
                <a:latin typeface="Times New Roman" panose="02020603050405020304" pitchFamily="18" charset="0"/>
                <a:cs typeface="Times New Roman" panose="02020603050405020304" pitchFamily="18" charset="0"/>
              </a:rPr>
              <a:t>np.std</a:t>
            </a:r>
            <a:r>
              <a:rPr lang="en-US" dirty="0">
                <a:latin typeface="Times New Roman" panose="02020603050405020304" pitchFamily="18" charset="0"/>
                <a:cs typeface="Times New Roman" panose="02020603050405020304" pitchFamily="18" charset="0"/>
              </a:rPr>
              <a:t>(a))</a:t>
            </a:r>
          </a:p>
          <a:p>
            <a:pPr marL="0" indent="0">
              <a:buNone/>
            </a:pPr>
            <a:r>
              <a:rPr lang="en-US" dirty="0">
                <a:latin typeface="Times New Roman" panose="02020603050405020304" pitchFamily="18" charset="0"/>
                <a:cs typeface="Times New Roman" panose="02020603050405020304" pitchFamily="18" charset="0"/>
              </a:rPr>
              <a:t>print('Median :',</a:t>
            </a:r>
            <a:r>
              <a:rPr lang="en-US" dirty="0" err="1">
                <a:latin typeface="Times New Roman" panose="02020603050405020304" pitchFamily="18" charset="0"/>
                <a:cs typeface="Times New Roman" panose="02020603050405020304" pitchFamily="18" charset="0"/>
              </a:rPr>
              <a:t>np.median</a:t>
            </a:r>
            <a:r>
              <a:rPr lang="en-US" dirty="0">
                <a:latin typeface="Times New Roman" panose="02020603050405020304" pitchFamily="18" charset="0"/>
                <a:cs typeface="Times New Roman" panose="02020603050405020304" pitchFamily="18" charset="0"/>
              </a:rPr>
              <a:t>(a))</a:t>
            </a:r>
          </a:p>
          <a:p>
            <a:pPr marL="0" indent="0">
              <a:buNone/>
            </a:pPr>
            <a:r>
              <a:rPr lang="en-US" dirty="0">
                <a:latin typeface="Times New Roman" panose="02020603050405020304" pitchFamily="18" charset="0"/>
                <a:cs typeface="Times New Roman" panose="02020603050405020304" pitchFamily="18" charset="0"/>
              </a:rPr>
              <a:t>Output:?</a:t>
            </a:r>
          </a:p>
          <a:p>
            <a:pPr marL="0" indent="0">
              <a:buNone/>
            </a:pPr>
            <a:r>
              <a:rPr lang="en-US" b="1" i="0" dirty="0">
                <a:solidFill>
                  <a:srgbClr val="333333"/>
                </a:solidFill>
                <a:effectLst/>
                <a:latin typeface="Times New Roman" panose="02020603050405020304" pitchFamily="18" charset="0"/>
                <a:cs typeface="Times New Roman" panose="02020603050405020304" pitchFamily="18" charset="0"/>
              </a:rPr>
              <a:t>Min-Max values and their indexes</a:t>
            </a:r>
          </a:p>
          <a:p>
            <a:pPr marL="0" indent="0">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np.array</a:t>
            </a:r>
            <a:r>
              <a:rPr lang="en-US" dirty="0">
                <a:latin typeface="Times New Roman" panose="02020603050405020304" pitchFamily="18" charset="0"/>
                <a:cs typeface="Times New Roman" panose="02020603050405020304" pitchFamily="18" charset="0"/>
              </a:rPr>
              <a:t>([[1,6],</a:t>
            </a:r>
          </a:p>
          <a:p>
            <a:pPr marL="0" indent="0">
              <a:buNone/>
            </a:pPr>
            <a:r>
              <a:rPr lang="en-US" dirty="0">
                <a:latin typeface="Times New Roman" panose="02020603050405020304" pitchFamily="18" charset="0"/>
                <a:cs typeface="Times New Roman" panose="02020603050405020304" pitchFamily="18" charset="0"/>
              </a:rPr>
              <a:t>[4,3]])</a:t>
            </a:r>
          </a:p>
          <a:p>
            <a:pPr marL="0" indent="0">
              <a:buNone/>
            </a:pPr>
            <a:r>
              <a:rPr lang="en-US" dirty="0">
                <a:latin typeface="Times New Roman" panose="02020603050405020304" pitchFamily="18" charset="0"/>
                <a:cs typeface="Times New Roman" panose="02020603050405020304" pitchFamily="18" charset="0"/>
              </a:rPr>
              <a:t># minimum along a column</a:t>
            </a:r>
          </a:p>
          <a:p>
            <a:pPr marL="0" indent="0">
              <a:buNone/>
            </a:pPr>
            <a:r>
              <a:rPr lang="en-US" dirty="0">
                <a:latin typeface="Times New Roman" panose="02020603050405020304" pitchFamily="18" charset="0"/>
                <a:cs typeface="Times New Roman" panose="02020603050405020304" pitchFamily="18" charset="0"/>
              </a:rPr>
              <a:t>print('Min :',</a:t>
            </a:r>
            <a:r>
              <a:rPr lang="en-US" dirty="0" err="1">
                <a:latin typeface="Times New Roman" panose="02020603050405020304" pitchFamily="18" charset="0"/>
                <a:cs typeface="Times New Roman" panose="02020603050405020304" pitchFamily="18" charset="0"/>
              </a:rPr>
              <a:t>np.min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a,axis</a:t>
            </a:r>
            <a:r>
              <a:rPr lang="en-US" dirty="0">
                <a:latin typeface="Times New Roman" panose="02020603050405020304" pitchFamily="18" charset="0"/>
                <a:cs typeface="Times New Roman" panose="02020603050405020304" pitchFamily="18" charset="0"/>
              </a:rPr>
              <a:t>=0))</a:t>
            </a:r>
          </a:p>
          <a:p>
            <a:pPr marL="0" indent="0">
              <a:buNone/>
            </a:pPr>
            <a:r>
              <a:rPr lang="en-US" dirty="0">
                <a:latin typeface="Times New Roman" panose="02020603050405020304" pitchFamily="18" charset="0"/>
                <a:cs typeface="Times New Roman" panose="02020603050405020304" pitchFamily="18" charset="0"/>
              </a:rPr>
              <a:t># maximum along a row</a:t>
            </a:r>
          </a:p>
          <a:p>
            <a:pPr marL="0" indent="0">
              <a:buNone/>
            </a:pPr>
            <a:r>
              <a:rPr lang="en-US" dirty="0">
                <a:latin typeface="Times New Roman" panose="02020603050405020304" pitchFamily="18" charset="0"/>
                <a:cs typeface="Times New Roman" panose="02020603050405020304" pitchFamily="18" charset="0"/>
              </a:rPr>
              <a:t>print('Max :',</a:t>
            </a:r>
            <a:r>
              <a:rPr lang="en-US" dirty="0" err="1">
                <a:latin typeface="Times New Roman" panose="02020603050405020304" pitchFamily="18" charset="0"/>
                <a:cs typeface="Times New Roman" panose="02020603050405020304" pitchFamily="18" charset="0"/>
              </a:rPr>
              <a:t>np.max</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a,axis</a:t>
            </a:r>
            <a:r>
              <a:rPr lang="en-US" dirty="0">
                <a:latin typeface="Times New Roman" panose="02020603050405020304" pitchFamily="18" charset="0"/>
                <a:cs typeface="Times New Roman" panose="02020603050405020304" pitchFamily="18" charset="0"/>
              </a:rPr>
              <a:t>=1))</a:t>
            </a:r>
          </a:p>
        </p:txBody>
      </p:sp>
    </p:spTree>
    <p:extLst>
      <p:ext uri="{BB962C8B-B14F-4D97-AF65-F5344CB8AC3E}">
        <p14:creationId xmlns="" xmlns:p14="http://schemas.microsoft.com/office/powerpoint/2010/main" val="1204401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73334B3-3A01-4E52-B6E7-881AEC3C1E08}"/>
              </a:ext>
            </a:extLst>
          </p:cNvPr>
          <p:cNvSpPr>
            <a:spLocks noGrp="1"/>
          </p:cNvSpPr>
          <p:nvPr>
            <p:ph idx="1"/>
          </p:nvPr>
        </p:nvSpPr>
        <p:spPr>
          <a:xfrm>
            <a:off x="159798" y="133164"/>
            <a:ext cx="11194002" cy="6533965"/>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we</a:t>
            </a:r>
            <a:r>
              <a:rPr lang="en-US" b="0" i="0" dirty="0">
                <a:effectLst/>
                <a:latin typeface="Times New Roman" panose="02020603050405020304" pitchFamily="18" charset="0"/>
                <a:cs typeface="Times New Roman" panose="02020603050405020304" pitchFamily="18" charset="0"/>
              </a:rPr>
              <a:t> can also easily determine the index of the minimum or maximum value in the </a:t>
            </a:r>
            <a:r>
              <a:rPr lang="en-US" b="0" i="0" dirty="0" err="1">
                <a:effectLst/>
                <a:latin typeface="Times New Roman" panose="02020603050405020304" pitchFamily="18" charset="0"/>
                <a:cs typeface="Times New Roman" panose="02020603050405020304" pitchFamily="18" charset="0"/>
              </a:rPr>
              <a:t>ndarray</a:t>
            </a:r>
            <a:r>
              <a:rPr lang="en-US" b="0" i="0" dirty="0">
                <a:effectLst/>
                <a:latin typeface="Times New Roman" panose="02020603050405020304" pitchFamily="18" charset="0"/>
                <a:cs typeface="Times New Roman" panose="02020603050405020304" pitchFamily="18" charset="0"/>
              </a:rPr>
              <a:t> along a particular axis using the </a:t>
            </a:r>
            <a:r>
              <a:rPr lang="en-US" b="1" i="0" dirty="0" err="1">
                <a:effectLst/>
                <a:latin typeface="Times New Roman" panose="02020603050405020304" pitchFamily="18" charset="0"/>
                <a:cs typeface="Times New Roman" panose="02020603050405020304" pitchFamily="18" charset="0"/>
              </a:rPr>
              <a:t>argmin</a:t>
            </a:r>
            <a:r>
              <a:rPr lang="en-US" b="1" i="0" dirty="0">
                <a:effectLst/>
                <a:latin typeface="Times New Roman" panose="02020603050405020304" pitchFamily="18" charset="0"/>
                <a:cs typeface="Times New Roman" panose="02020603050405020304" pitchFamily="18" charset="0"/>
              </a:rPr>
              <a:t>()</a:t>
            </a:r>
            <a:r>
              <a:rPr lang="en-US" b="0" i="0" dirty="0">
                <a:effectLst/>
                <a:latin typeface="Times New Roman" panose="02020603050405020304" pitchFamily="18" charset="0"/>
                <a:cs typeface="Times New Roman" panose="02020603050405020304" pitchFamily="18" charset="0"/>
              </a:rPr>
              <a:t> and </a:t>
            </a:r>
            <a:r>
              <a:rPr lang="en-US" b="1" i="0" dirty="0">
                <a:effectLst/>
                <a:latin typeface="Times New Roman" panose="02020603050405020304" pitchFamily="18" charset="0"/>
                <a:cs typeface="Times New Roman" panose="02020603050405020304" pitchFamily="18" charset="0"/>
              </a:rPr>
              <a:t>argmax()</a:t>
            </a:r>
            <a:r>
              <a:rPr lang="en-US" b="0" i="0" dirty="0">
                <a:effectLst/>
                <a:latin typeface="Times New Roman" panose="02020603050405020304" pitchFamily="18" charset="0"/>
                <a:cs typeface="Times New Roman" panose="02020603050405020304" pitchFamily="18" charset="0"/>
              </a:rPr>
              <a:t> methods</a:t>
            </a:r>
          </a:p>
          <a:p>
            <a:pPr marL="0" indent="0">
              <a:buNone/>
            </a:pPr>
            <a:r>
              <a:rPr lang="en-US" b="0" i="0" dirty="0">
                <a:effectLst/>
                <a:latin typeface="Times New Roman" panose="02020603050405020304" pitchFamily="18" charset="0"/>
                <a:cs typeface="Times New Roman" panose="02020603050405020304" pitchFamily="18" charset="0"/>
              </a:rPr>
              <a:t>a = </a:t>
            </a:r>
            <a:r>
              <a:rPr lang="en-US" b="0" i="0" dirty="0" err="1">
                <a:effectLst/>
                <a:latin typeface="Times New Roman" panose="02020603050405020304" pitchFamily="18" charset="0"/>
                <a:cs typeface="Times New Roman" panose="02020603050405020304" pitchFamily="18" charset="0"/>
              </a:rPr>
              <a:t>np.array</a:t>
            </a:r>
            <a:r>
              <a:rPr lang="en-US" b="0" i="0" dirty="0">
                <a:effectLst/>
                <a:latin typeface="Times New Roman" panose="02020603050405020304" pitchFamily="18" charset="0"/>
                <a:cs typeface="Times New Roman" panose="02020603050405020304" pitchFamily="18" charset="0"/>
              </a:rPr>
              <a:t>([[1,6,5],</a:t>
            </a:r>
          </a:p>
          <a:p>
            <a:pPr marL="0" indent="0">
              <a:buNone/>
            </a:pPr>
            <a:r>
              <a:rPr lang="en-US" b="0" i="0" dirty="0">
                <a:effectLst/>
                <a:latin typeface="Times New Roman" panose="02020603050405020304" pitchFamily="18" charset="0"/>
                <a:cs typeface="Times New Roman" panose="02020603050405020304" pitchFamily="18" charset="0"/>
              </a:rPr>
              <a:t>[4,3,7]])</a:t>
            </a:r>
          </a:p>
          <a:p>
            <a:pPr marL="0" indent="0">
              <a:buNone/>
            </a:pPr>
            <a:r>
              <a:rPr lang="en-US" b="0" i="0" dirty="0">
                <a:effectLst/>
                <a:latin typeface="Times New Roman" panose="02020603050405020304" pitchFamily="18" charset="0"/>
                <a:cs typeface="Times New Roman" panose="02020603050405020304" pitchFamily="18" charset="0"/>
              </a:rPr>
              <a:t># minimum along a column</a:t>
            </a:r>
          </a:p>
          <a:p>
            <a:pPr marL="0" indent="0">
              <a:buNone/>
            </a:pPr>
            <a:r>
              <a:rPr lang="en-US" b="0" i="0" dirty="0">
                <a:effectLst/>
                <a:latin typeface="Times New Roman" panose="02020603050405020304" pitchFamily="18" charset="0"/>
                <a:cs typeface="Times New Roman" panose="02020603050405020304" pitchFamily="18" charset="0"/>
              </a:rPr>
              <a:t>print('Min :',</a:t>
            </a:r>
            <a:r>
              <a:rPr lang="en-US" b="0" i="0" dirty="0" err="1">
                <a:effectLst/>
                <a:latin typeface="Times New Roman" panose="02020603050405020304" pitchFamily="18" charset="0"/>
                <a:cs typeface="Times New Roman" panose="02020603050405020304" pitchFamily="18" charset="0"/>
              </a:rPr>
              <a:t>np.argmin</a:t>
            </a:r>
            <a:r>
              <a:rPr lang="en-US" b="0" i="0" dirty="0">
                <a:effectLst/>
                <a:latin typeface="Times New Roman" panose="02020603050405020304" pitchFamily="18" charset="0"/>
                <a:cs typeface="Times New Roman" panose="02020603050405020304" pitchFamily="18" charset="0"/>
              </a:rPr>
              <a:t>(</a:t>
            </a:r>
            <a:r>
              <a:rPr lang="en-US" b="0" i="0" dirty="0" err="1">
                <a:effectLst/>
                <a:latin typeface="Times New Roman" panose="02020603050405020304" pitchFamily="18" charset="0"/>
                <a:cs typeface="Times New Roman" panose="02020603050405020304" pitchFamily="18" charset="0"/>
              </a:rPr>
              <a:t>a,axis</a:t>
            </a:r>
            <a:r>
              <a:rPr lang="en-US" b="0" i="0" dirty="0">
                <a:effectLst/>
                <a:latin typeface="Times New Roman" panose="02020603050405020304" pitchFamily="18" charset="0"/>
                <a:cs typeface="Times New Roman" panose="02020603050405020304" pitchFamily="18" charset="0"/>
              </a:rPr>
              <a:t>=0))</a:t>
            </a:r>
          </a:p>
          <a:p>
            <a:pPr marL="0" indent="0">
              <a:buNone/>
            </a:pPr>
            <a:r>
              <a:rPr lang="en-US" b="0" i="0" dirty="0">
                <a:effectLst/>
                <a:latin typeface="Times New Roman" panose="02020603050405020304" pitchFamily="18" charset="0"/>
                <a:cs typeface="Times New Roman" panose="02020603050405020304" pitchFamily="18" charset="0"/>
              </a:rPr>
              <a:t># maximum along a row</a:t>
            </a:r>
          </a:p>
          <a:p>
            <a:pPr marL="0" indent="0">
              <a:buNone/>
            </a:pPr>
            <a:r>
              <a:rPr lang="en-US" b="0" i="0" dirty="0">
                <a:effectLst/>
                <a:latin typeface="Times New Roman" panose="02020603050405020304" pitchFamily="18" charset="0"/>
                <a:cs typeface="Times New Roman" panose="02020603050405020304" pitchFamily="18" charset="0"/>
              </a:rPr>
              <a:t>print('Max :',</a:t>
            </a:r>
            <a:r>
              <a:rPr lang="en-US" b="0" i="0" dirty="0" err="1">
                <a:effectLst/>
                <a:latin typeface="Times New Roman" panose="02020603050405020304" pitchFamily="18" charset="0"/>
                <a:cs typeface="Times New Roman" panose="02020603050405020304" pitchFamily="18" charset="0"/>
              </a:rPr>
              <a:t>np.argmax</a:t>
            </a:r>
            <a:r>
              <a:rPr lang="en-US" b="0" i="0" dirty="0">
                <a:effectLst/>
                <a:latin typeface="Times New Roman" panose="02020603050405020304" pitchFamily="18" charset="0"/>
                <a:cs typeface="Times New Roman" panose="02020603050405020304" pitchFamily="18" charset="0"/>
              </a:rPr>
              <a:t>(</a:t>
            </a:r>
            <a:r>
              <a:rPr lang="en-US" b="0" i="0" dirty="0" err="1">
                <a:effectLst/>
                <a:latin typeface="Times New Roman" panose="02020603050405020304" pitchFamily="18" charset="0"/>
                <a:cs typeface="Times New Roman" panose="02020603050405020304" pitchFamily="18" charset="0"/>
              </a:rPr>
              <a:t>a,axis</a:t>
            </a:r>
            <a:r>
              <a:rPr lang="en-US" b="0" i="0" dirty="0">
                <a:effectLst/>
                <a:latin typeface="Times New Roman" panose="02020603050405020304" pitchFamily="18" charset="0"/>
                <a:cs typeface="Times New Roman" panose="02020603050405020304" pitchFamily="18" charset="0"/>
              </a:rPr>
              <a:t>=1))</a:t>
            </a:r>
          </a:p>
          <a:p>
            <a:pPr marL="0" indent="0">
              <a:buNone/>
            </a:pPr>
            <a:r>
              <a:rPr lang="en-US" dirty="0">
                <a:latin typeface="Times New Roman" panose="02020603050405020304" pitchFamily="18" charset="0"/>
                <a:cs typeface="Times New Roman" panose="02020603050405020304" pitchFamily="18" charset="0"/>
              </a:rPr>
              <a:t>Output?</a:t>
            </a:r>
          </a:p>
          <a:p>
            <a:pPr algn="l"/>
            <a:r>
              <a:rPr lang="en-US" b="0" i="0" dirty="0">
                <a:effectLst/>
                <a:latin typeface="Times New Roman" panose="02020603050405020304" pitchFamily="18" charset="0"/>
                <a:cs typeface="Times New Roman" panose="02020603050405020304" pitchFamily="18" charset="0"/>
              </a:rPr>
              <a:t>Let me break down the output for you. The minimum value for the first column is the first element along the column. For the second column, it is the second element. And for the third column, it is the first element.</a:t>
            </a:r>
          </a:p>
          <a:p>
            <a:pPr algn="l"/>
            <a:r>
              <a:rPr lang="en-US" b="0" i="0" dirty="0">
                <a:effectLst/>
                <a:latin typeface="Times New Roman" panose="02020603050405020304" pitchFamily="18" charset="0"/>
                <a:cs typeface="Times New Roman" panose="02020603050405020304" pitchFamily="18" charset="0"/>
              </a:rPr>
              <a:t>You can similarly determine what the output for maximum values indicates</a:t>
            </a:r>
            <a:r>
              <a:rPr lang="en-US" b="0" i="0" dirty="0" smtClean="0">
                <a:effectLst/>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245181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09BA9B-55C0-4B69-BE5F-3A6D445CA8B2}"/>
              </a:ext>
            </a:extLst>
          </p:cNvPr>
          <p:cNvSpPr>
            <a:spLocks noGrp="1"/>
          </p:cNvSpPr>
          <p:nvPr>
            <p:ph type="ctrTitle"/>
          </p:nvPr>
        </p:nvSpPr>
        <p:spPr>
          <a:xfrm>
            <a:off x="839449" y="1122363"/>
            <a:ext cx="10433154" cy="2387600"/>
          </a:xfrm>
        </p:spPr>
        <p:txBody>
          <a:bodyPr/>
          <a:lstStyle/>
          <a:p>
            <a:r>
              <a:rPr lang="en-US" b="1" i="0" dirty="0">
                <a:solidFill>
                  <a:srgbClr val="36394D"/>
                </a:solidFill>
                <a:effectLst/>
                <a:latin typeface="Times New Roman" pitchFamily="18" charset="0"/>
                <a:cs typeface="Times New Roman" pitchFamily="18" charset="0"/>
              </a:rPr>
              <a:t>Introduction </a:t>
            </a:r>
            <a:r>
              <a:rPr lang="en-US" b="1" i="0" dirty="0" smtClean="0">
                <a:solidFill>
                  <a:srgbClr val="36394D"/>
                </a:solidFill>
                <a:effectLst/>
                <a:latin typeface="Times New Roman" pitchFamily="18" charset="0"/>
                <a:cs typeface="Times New Roman" pitchFamily="18" charset="0"/>
              </a:rPr>
              <a:t>to Pandas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286743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728621A-437D-4A13-80F9-356063E9CCFA}"/>
              </a:ext>
            </a:extLst>
          </p:cNvPr>
          <p:cNvSpPr>
            <a:spLocks noGrp="1"/>
          </p:cNvSpPr>
          <p:nvPr>
            <p:ph idx="1"/>
          </p:nvPr>
        </p:nvSpPr>
        <p:spPr>
          <a:xfrm>
            <a:off x="195943" y="205272"/>
            <a:ext cx="11157857" cy="6410131"/>
          </a:xfrm>
        </p:spPr>
        <p:txBody>
          <a:bodyPr/>
          <a:lstStyle/>
          <a:p>
            <a:pPr marL="0" indent="0" algn="just">
              <a:buNone/>
            </a:pPr>
            <a:endParaRPr lang="en-US" b="1" i="0" dirty="0" smtClean="0">
              <a:solidFill>
                <a:srgbClr val="36394D"/>
              </a:solidFill>
              <a:effectLst/>
              <a:latin typeface="Times New Roman" pitchFamily="18" charset="0"/>
              <a:cs typeface="Times New Roman" pitchFamily="18" charset="0"/>
            </a:endParaRPr>
          </a:p>
          <a:p>
            <a:pPr marL="0" indent="0" algn="just">
              <a:buNone/>
            </a:pPr>
            <a:endParaRPr lang="en-US" b="1" dirty="0" smtClean="0">
              <a:solidFill>
                <a:srgbClr val="36394D"/>
              </a:solidFill>
              <a:latin typeface="Times New Roman" pitchFamily="18" charset="0"/>
              <a:cs typeface="Times New Roman" pitchFamily="18" charset="0"/>
            </a:endParaRPr>
          </a:p>
          <a:p>
            <a:pPr marL="0" indent="0" algn="just">
              <a:buNone/>
            </a:pPr>
            <a:r>
              <a:rPr lang="en-US" b="1" i="0" dirty="0" smtClean="0">
                <a:solidFill>
                  <a:srgbClr val="36394D"/>
                </a:solidFill>
                <a:effectLst/>
                <a:latin typeface="Times New Roman" pitchFamily="18" charset="0"/>
                <a:cs typeface="Times New Roman" pitchFamily="18" charset="0"/>
              </a:rPr>
              <a:t>Pandas</a:t>
            </a:r>
            <a:r>
              <a:rPr lang="en-US" b="0" i="0" dirty="0">
                <a:solidFill>
                  <a:srgbClr val="36394D"/>
                </a:solidFill>
                <a:effectLst/>
                <a:latin typeface="Times New Roman" pitchFamily="18" charset="0"/>
                <a:cs typeface="Times New Roman" pitchFamily="18" charset="0"/>
              </a:rPr>
              <a:t> is a fast, powerful, flexible and easy to use open source data analysis and manipulation tool</a:t>
            </a:r>
          </a:p>
          <a:p>
            <a:pPr marL="0" indent="0" algn="just">
              <a:buNone/>
            </a:pPr>
            <a:r>
              <a:rPr lang="en-US" b="0" i="0" dirty="0">
                <a:solidFill>
                  <a:srgbClr val="36394D"/>
                </a:solidFill>
                <a:effectLst/>
                <a:latin typeface="Times New Roman" pitchFamily="18" charset="0"/>
                <a:cs typeface="Times New Roman" pitchFamily="18" charset="0"/>
              </a:rPr>
              <a:t>Among its scientific computation libraries, Pandas is one of the most useful for data science operations. Pandas, along with Scikit-learn provides almost the entire stack needed by a data scientist.</a:t>
            </a:r>
            <a:endParaRPr lang="en-US" dirty="0">
              <a:solidFill>
                <a:srgbClr val="36394D"/>
              </a:solidFill>
              <a:latin typeface="Times New Roman" pitchFamily="18" charset="0"/>
              <a:cs typeface="Times New Roman" pitchFamily="18" charset="0"/>
            </a:endParaRPr>
          </a:p>
          <a:p>
            <a:pPr marL="0" indent="0" algn="just">
              <a:buNone/>
            </a:pPr>
            <a:r>
              <a:rPr lang="en-US" b="1" i="0" dirty="0">
                <a:solidFill>
                  <a:srgbClr val="36394D"/>
                </a:solidFill>
                <a:effectLst/>
                <a:latin typeface="Times New Roman" pitchFamily="18" charset="0"/>
                <a:cs typeface="Times New Roman" pitchFamily="18" charset="0"/>
              </a:rPr>
              <a:t>Installing with Anaconda</a:t>
            </a:r>
          </a:p>
          <a:p>
            <a:pPr marL="0" indent="0" algn="just">
              <a:buNone/>
            </a:pPr>
            <a:r>
              <a:rPr lang="en-US" dirty="0">
                <a:latin typeface="Times New Roman" pitchFamily="18" charset="0"/>
                <a:cs typeface="Times New Roman" pitchFamily="18" charset="0"/>
              </a:rPr>
              <a:t>pip install pandas</a:t>
            </a:r>
          </a:p>
        </p:txBody>
      </p:sp>
    </p:spTree>
    <p:extLst>
      <p:ext uri="{BB962C8B-B14F-4D97-AF65-F5344CB8AC3E}">
        <p14:creationId xmlns="" xmlns:p14="http://schemas.microsoft.com/office/powerpoint/2010/main" val="2718218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9FB6917-1A49-4554-814E-4B3B41A5A138}"/>
              </a:ext>
            </a:extLst>
          </p:cNvPr>
          <p:cNvSpPr>
            <a:spLocks noGrp="1"/>
          </p:cNvSpPr>
          <p:nvPr>
            <p:ph idx="1"/>
          </p:nvPr>
        </p:nvSpPr>
        <p:spPr>
          <a:xfrm>
            <a:off x="214604" y="233265"/>
            <a:ext cx="11139196" cy="6428792"/>
          </a:xfrm>
        </p:spPr>
        <p:txBody>
          <a:bodyPr>
            <a:normAutofit fontScale="62500" lnSpcReduction="20000"/>
          </a:bodyPr>
          <a:lstStyle/>
          <a:p>
            <a:pPr marL="0" indent="0" algn="just">
              <a:buNone/>
            </a:pPr>
            <a:r>
              <a:rPr lang="en-US" sz="4500" b="1" i="0" dirty="0">
                <a:solidFill>
                  <a:srgbClr val="000000"/>
                </a:solidFill>
                <a:effectLst/>
                <a:latin typeface="Times New Roman" pitchFamily="18" charset="0"/>
                <a:cs typeface="Times New Roman" pitchFamily="18" charset="0"/>
              </a:rPr>
              <a:t>Series</a:t>
            </a:r>
          </a:p>
          <a:p>
            <a:pPr marL="0" indent="0" algn="just">
              <a:buNone/>
            </a:pPr>
            <a:r>
              <a:rPr lang="en-US" b="0" i="0" dirty="0">
                <a:solidFill>
                  <a:srgbClr val="000000"/>
                </a:solidFill>
                <a:effectLst/>
                <a:latin typeface="Times New Roman" pitchFamily="18" charset="0"/>
                <a:cs typeface="Times New Roman" pitchFamily="18" charset="0"/>
              </a:rPr>
              <a:t>The first main data type we will learn about for pandas is the Series data type</a:t>
            </a:r>
          </a:p>
          <a:p>
            <a:pPr marL="0" indent="0" algn="just">
              <a:buNone/>
            </a:pPr>
            <a:r>
              <a:rPr lang="en-US" b="0" i="0" dirty="0">
                <a:solidFill>
                  <a:srgbClr val="000000"/>
                </a:solidFill>
                <a:effectLst/>
                <a:latin typeface="Times New Roman" pitchFamily="18" charset="0"/>
                <a:cs typeface="Times New Roman" pitchFamily="18" charset="0"/>
              </a:rPr>
              <a:t>A Series is very similar to a NumPy array (in fact it is built on top of the NumPy array object). What differentiates the NumPy array from a Series, is that a Series can have axis labels, meaning it can be indexed by a label, instead of just a number location. It also doesn't need to hold numeric data, it can hold any arbitrary Python Object</a:t>
            </a:r>
            <a:endParaRPr lang="en-US" dirty="0">
              <a:solidFill>
                <a:srgbClr val="000000"/>
              </a:solidFill>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numpy</a:t>
            </a:r>
            <a:r>
              <a:rPr lang="en-US" dirty="0">
                <a:latin typeface="Times New Roman" pitchFamily="18" charset="0"/>
                <a:cs typeface="Times New Roman" pitchFamily="18" charset="0"/>
              </a:rPr>
              <a:t> as np</a:t>
            </a:r>
          </a:p>
          <a:p>
            <a:pPr marL="0" indent="0" algn="just">
              <a:buNone/>
            </a:pPr>
            <a:r>
              <a:rPr lang="en-US" dirty="0">
                <a:latin typeface="Times New Roman" pitchFamily="18" charset="0"/>
                <a:cs typeface="Times New Roman" pitchFamily="18" charset="0"/>
              </a:rPr>
              <a:t>import pandas as pd</a:t>
            </a:r>
            <a:endParaRPr lang="en-US" dirty="0">
              <a:solidFill>
                <a:srgbClr val="000000"/>
              </a:solidFill>
              <a:latin typeface="Times New Roman" pitchFamily="18" charset="0"/>
              <a:cs typeface="Times New Roman" pitchFamily="18" charset="0"/>
            </a:endParaRPr>
          </a:p>
          <a:p>
            <a:pPr marL="0" indent="0" algn="just">
              <a:buNone/>
            </a:pPr>
            <a:r>
              <a:rPr lang="en-US" b="1" i="0" dirty="0">
                <a:solidFill>
                  <a:srgbClr val="000000"/>
                </a:solidFill>
                <a:effectLst/>
                <a:latin typeface="Times New Roman" pitchFamily="18" charset="0"/>
                <a:cs typeface="Times New Roman" pitchFamily="18" charset="0"/>
              </a:rPr>
              <a:t>Creating a Series</a:t>
            </a:r>
          </a:p>
          <a:p>
            <a:pPr marL="0" indent="0" algn="just">
              <a:buNone/>
            </a:pPr>
            <a:r>
              <a:rPr lang="en-US" b="1" dirty="0">
                <a:latin typeface="Times New Roman" pitchFamily="18" charset="0"/>
                <a:cs typeface="Times New Roman" pitchFamily="18" charset="0"/>
              </a:rPr>
              <a:t>We </a:t>
            </a:r>
            <a:r>
              <a:rPr lang="en-US" b="0" i="0" dirty="0">
                <a:solidFill>
                  <a:srgbClr val="000000"/>
                </a:solidFill>
                <a:effectLst/>
                <a:latin typeface="Times New Roman" pitchFamily="18" charset="0"/>
                <a:cs typeface="Times New Roman" pitchFamily="18" charset="0"/>
              </a:rPr>
              <a:t>can convert a </a:t>
            </a:r>
            <a:r>
              <a:rPr lang="en-US" b="0" i="0" dirty="0" err="1">
                <a:solidFill>
                  <a:srgbClr val="000000"/>
                </a:solidFill>
                <a:effectLst/>
                <a:latin typeface="Times New Roman" pitchFamily="18" charset="0"/>
                <a:cs typeface="Times New Roman" pitchFamily="18" charset="0"/>
              </a:rPr>
              <a:t>list,numpy</a:t>
            </a:r>
            <a:r>
              <a:rPr lang="en-US" b="0" i="0" dirty="0">
                <a:solidFill>
                  <a:srgbClr val="000000"/>
                </a:solidFill>
                <a:effectLst/>
                <a:latin typeface="Times New Roman" pitchFamily="18" charset="0"/>
                <a:cs typeface="Times New Roman" pitchFamily="18" charset="0"/>
              </a:rPr>
              <a:t> array, or dictionary to a Series</a:t>
            </a:r>
          </a:p>
          <a:p>
            <a:pPr marL="0" indent="0" algn="just">
              <a:buNone/>
            </a:pPr>
            <a:r>
              <a:rPr lang="en-US" b="1" dirty="0">
                <a:latin typeface="Times New Roman" pitchFamily="18" charset="0"/>
                <a:cs typeface="Times New Roman" pitchFamily="18" charset="0"/>
              </a:rPr>
              <a:t>labels = ['</a:t>
            </a:r>
            <a:r>
              <a:rPr lang="en-US" b="1" dirty="0" err="1">
                <a:latin typeface="Times New Roman" pitchFamily="18" charset="0"/>
                <a:cs typeface="Times New Roman" pitchFamily="18" charset="0"/>
              </a:rPr>
              <a:t>a','b','c</a:t>
            </a:r>
            <a:r>
              <a:rPr lang="en-US" b="1" dirty="0">
                <a:latin typeface="Times New Roman" pitchFamily="18" charset="0"/>
                <a:cs typeface="Times New Roman" pitchFamily="18" charset="0"/>
              </a:rPr>
              <a:t>']</a:t>
            </a:r>
          </a:p>
          <a:p>
            <a:pPr marL="0" indent="0" algn="just">
              <a:buNone/>
            </a:pPr>
            <a:r>
              <a:rPr lang="en-US" b="1" dirty="0" err="1">
                <a:latin typeface="Times New Roman" pitchFamily="18" charset="0"/>
                <a:cs typeface="Times New Roman" pitchFamily="18" charset="0"/>
              </a:rPr>
              <a:t>my_list</a:t>
            </a:r>
            <a:r>
              <a:rPr lang="en-US" b="1" dirty="0">
                <a:latin typeface="Times New Roman" pitchFamily="18" charset="0"/>
                <a:cs typeface="Times New Roman" pitchFamily="18" charset="0"/>
              </a:rPr>
              <a:t> = [10,20,30]</a:t>
            </a:r>
          </a:p>
          <a:p>
            <a:pPr marL="0" indent="0" algn="just">
              <a:buNone/>
            </a:pPr>
            <a:r>
              <a:rPr lang="en-US" b="1" dirty="0" err="1">
                <a:latin typeface="Times New Roman" pitchFamily="18" charset="0"/>
                <a:cs typeface="Times New Roman" pitchFamily="18" charset="0"/>
              </a:rPr>
              <a:t>arr</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np.array</a:t>
            </a:r>
            <a:r>
              <a:rPr lang="en-US" b="1" dirty="0">
                <a:latin typeface="Times New Roman" pitchFamily="18" charset="0"/>
                <a:cs typeface="Times New Roman" pitchFamily="18" charset="0"/>
              </a:rPr>
              <a:t>([10,20,30])</a:t>
            </a:r>
          </a:p>
          <a:p>
            <a:pPr marL="0" indent="0" algn="just">
              <a:buNone/>
            </a:pPr>
            <a:r>
              <a:rPr lang="en-US" b="1" dirty="0">
                <a:latin typeface="Times New Roman" pitchFamily="18" charset="0"/>
                <a:cs typeface="Times New Roman" pitchFamily="18" charset="0"/>
              </a:rPr>
              <a:t>d = {'a':10,'b':20,'c':30}</a:t>
            </a:r>
          </a:p>
          <a:p>
            <a:pPr marL="0" indent="0" algn="just">
              <a:buNone/>
            </a:pPr>
            <a:r>
              <a:rPr lang="en-US" b="1" dirty="0" err="1">
                <a:latin typeface="Times New Roman" pitchFamily="18" charset="0"/>
                <a:cs typeface="Times New Roman" pitchFamily="18" charset="0"/>
              </a:rPr>
              <a:t>pd.Series</a:t>
            </a:r>
            <a:r>
              <a:rPr lang="en-US" b="1" dirty="0">
                <a:latin typeface="Times New Roman" pitchFamily="18" charset="0"/>
                <a:cs typeface="Times New Roman" pitchFamily="18" charset="0"/>
              </a:rPr>
              <a:t>(data=</a:t>
            </a:r>
            <a:r>
              <a:rPr lang="en-US" b="1" dirty="0" err="1">
                <a:latin typeface="Times New Roman" pitchFamily="18" charset="0"/>
                <a:cs typeface="Times New Roman" pitchFamily="18" charset="0"/>
              </a:rPr>
              <a:t>my_list</a:t>
            </a:r>
            <a:r>
              <a:rPr lang="en-US" b="1" dirty="0">
                <a:latin typeface="Times New Roman" pitchFamily="18" charset="0"/>
                <a:cs typeface="Times New Roman" pitchFamily="18" charset="0"/>
              </a:rPr>
              <a:t>)</a:t>
            </a:r>
          </a:p>
          <a:p>
            <a:pPr marL="0" indent="0" algn="just">
              <a:buNone/>
            </a:pPr>
            <a:r>
              <a:rPr lang="en-US" b="1" dirty="0">
                <a:latin typeface="Times New Roman" pitchFamily="18" charset="0"/>
                <a:cs typeface="Times New Roman" pitchFamily="18" charset="0"/>
              </a:rPr>
              <a:t>Output:</a:t>
            </a:r>
          </a:p>
          <a:p>
            <a:pPr marL="0" indent="0" algn="just">
              <a:buNone/>
            </a:pPr>
            <a:r>
              <a:rPr lang="en-US" b="1" dirty="0">
                <a:latin typeface="Times New Roman" pitchFamily="18" charset="0"/>
                <a:cs typeface="Times New Roman" pitchFamily="18" charset="0"/>
              </a:rPr>
              <a:t>0    10</a:t>
            </a:r>
          </a:p>
          <a:p>
            <a:pPr marL="0" indent="0" algn="just">
              <a:buNone/>
            </a:pPr>
            <a:r>
              <a:rPr lang="en-US" b="1" dirty="0">
                <a:latin typeface="Times New Roman" pitchFamily="18" charset="0"/>
                <a:cs typeface="Times New Roman" pitchFamily="18" charset="0"/>
              </a:rPr>
              <a:t>1    </a:t>
            </a:r>
            <a:r>
              <a:rPr lang="en-US" b="1" dirty="0" smtClean="0">
                <a:latin typeface="Times New Roman" pitchFamily="18" charset="0"/>
                <a:cs typeface="Times New Roman" pitchFamily="18" charset="0"/>
              </a:rPr>
              <a:t>20</a:t>
            </a:r>
            <a:endParaRPr lang="en-US" b="1" dirty="0">
              <a:latin typeface="Times New Roman" pitchFamily="18" charset="0"/>
              <a:cs typeface="Times New Roman" pitchFamily="18" charset="0"/>
            </a:endParaRPr>
          </a:p>
          <a:p>
            <a:pPr marL="514350" indent="-514350" algn="just">
              <a:buAutoNum type="arabicPlain" startAt="2"/>
            </a:pPr>
            <a:r>
              <a:rPr lang="en-US" b="1" dirty="0">
                <a:latin typeface="Times New Roman" pitchFamily="18" charset="0"/>
                <a:cs typeface="Times New Roman" pitchFamily="18" charset="0"/>
              </a:rPr>
              <a:t>30</a:t>
            </a:r>
          </a:p>
          <a:p>
            <a:pPr marL="0" indent="0" algn="just">
              <a:buNone/>
            </a:pPr>
            <a:r>
              <a:rPr lang="en-US" b="1" dirty="0">
                <a:latin typeface="Times New Roman" pitchFamily="18" charset="0"/>
                <a:cs typeface="Times New Roman" pitchFamily="18" charset="0"/>
              </a:rPr>
              <a:t>try this </a:t>
            </a:r>
            <a:r>
              <a:rPr lang="en-US" b="1" dirty="0" err="1">
                <a:latin typeface="Times New Roman" pitchFamily="18" charset="0"/>
                <a:cs typeface="Times New Roman" pitchFamily="18" charset="0"/>
              </a:rPr>
              <a:t>pd.Series</a:t>
            </a:r>
            <a:r>
              <a:rPr lang="en-US" b="1" dirty="0">
                <a:latin typeface="Times New Roman" pitchFamily="18" charset="0"/>
                <a:cs typeface="Times New Roman" pitchFamily="18" charset="0"/>
              </a:rPr>
              <a:t>(data=</a:t>
            </a:r>
            <a:r>
              <a:rPr lang="en-US" b="1" dirty="0" err="1">
                <a:latin typeface="Times New Roman" pitchFamily="18" charset="0"/>
                <a:cs typeface="Times New Roman" pitchFamily="18" charset="0"/>
              </a:rPr>
              <a:t>my_list,index</a:t>
            </a:r>
            <a:r>
              <a:rPr lang="en-US" b="1" dirty="0">
                <a:latin typeface="Times New Roman" pitchFamily="18" charset="0"/>
                <a:cs typeface="Times New Roman" pitchFamily="18" charset="0"/>
              </a:rPr>
              <a:t>=labels) ?</a:t>
            </a:r>
          </a:p>
        </p:txBody>
      </p:sp>
    </p:spTree>
    <p:extLst>
      <p:ext uri="{BB962C8B-B14F-4D97-AF65-F5344CB8AC3E}">
        <p14:creationId xmlns="" xmlns:p14="http://schemas.microsoft.com/office/powerpoint/2010/main" val="50076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D20102D-3536-49DB-827C-B52329143850}"/>
              </a:ext>
            </a:extLst>
          </p:cNvPr>
          <p:cNvSpPr>
            <a:spLocks noGrp="1"/>
          </p:cNvSpPr>
          <p:nvPr>
            <p:ph idx="1"/>
          </p:nvPr>
        </p:nvSpPr>
        <p:spPr>
          <a:xfrm>
            <a:off x="223935" y="111966"/>
            <a:ext cx="11588620" cy="6466115"/>
          </a:xfrm>
        </p:spPr>
        <p:txBody>
          <a:bodyPr>
            <a:normAutofit lnSpcReduction="10000"/>
          </a:bodyPr>
          <a:lstStyle/>
          <a:p>
            <a:pPr marL="0" indent="0" algn="just">
              <a:buNone/>
            </a:pPr>
            <a:r>
              <a:rPr lang="en-US" dirty="0" err="1">
                <a:latin typeface="Times New Roman" pitchFamily="18" charset="0"/>
                <a:cs typeface="Times New Roman" pitchFamily="18" charset="0"/>
              </a:rPr>
              <a:t>pd.Series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my_list,labels</a:t>
            </a:r>
            <a:r>
              <a:rPr lang="en-US" dirty="0">
                <a:latin typeface="Times New Roman" pitchFamily="18" charset="0"/>
                <a:cs typeface="Times New Roman" pitchFamily="18" charset="0"/>
              </a:rPr>
              <a:t>) ?</a:t>
            </a:r>
          </a:p>
          <a:p>
            <a:pPr marL="0" indent="0" algn="just">
              <a:buNone/>
            </a:pPr>
            <a:r>
              <a:rPr lang="en-US" dirty="0" err="1">
                <a:latin typeface="Times New Roman" pitchFamily="18" charset="0"/>
                <a:cs typeface="Times New Roman" pitchFamily="18" charset="0"/>
              </a:rPr>
              <a:t>pd.Series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arr</a:t>
            </a:r>
            <a:r>
              <a:rPr lang="en-US" dirty="0">
                <a:latin typeface="Times New Roman" pitchFamily="18" charset="0"/>
                <a:cs typeface="Times New Roman" pitchFamily="18" charset="0"/>
              </a:rPr>
              <a:t>) ?</a:t>
            </a:r>
          </a:p>
          <a:p>
            <a:pPr marL="0" indent="0" algn="just">
              <a:buNone/>
            </a:pPr>
            <a:r>
              <a:rPr lang="en-US" dirty="0" err="1">
                <a:latin typeface="Times New Roman" pitchFamily="18" charset="0"/>
                <a:cs typeface="Times New Roman" pitchFamily="18" charset="0"/>
              </a:rPr>
              <a:t>pd.Series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arr,labels</a:t>
            </a:r>
            <a:r>
              <a:rPr lang="en-US" dirty="0">
                <a:latin typeface="Times New Roman" pitchFamily="18" charset="0"/>
                <a:cs typeface="Times New Roman" pitchFamily="18" charset="0"/>
              </a:rPr>
              <a:t>) ?</a:t>
            </a:r>
          </a:p>
          <a:p>
            <a:pPr marL="0" indent="0" algn="just">
              <a:buNone/>
            </a:pPr>
            <a:r>
              <a:rPr lang="en-US" b="1" i="0" dirty="0">
                <a:solidFill>
                  <a:srgbClr val="000000"/>
                </a:solidFill>
                <a:effectLst/>
                <a:latin typeface="Times New Roman" pitchFamily="18" charset="0"/>
                <a:cs typeface="Times New Roman" pitchFamily="18" charset="0"/>
              </a:rPr>
              <a:t>Using an Index</a:t>
            </a:r>
          </a:p>
          <a:p>
            <a:pPr algn="just"/>
            <a:r>
              <a:rPr lang="en-US" b="0" i="0" dirty="0">
                <a:solidFill>
                  <a:srgbClr val="000000"/>
                </a:solidFill>
                <a:effectLst/>
                <a:latin typeface="Times New Roman" pitchFamily="18" charset="0"/>
                <a:cs typeface="Times New Roman" pitchFamily="18" charset="0"/>
              </a:rPr>
              <a:t>The key to using a Series is understanding its index. Pandas makes use of these index names or numbers by allowing for fast look ups of information (works like a hash table or dictionary).</a:t>
            </a:r>
          </a:p>
          <a:p>
            <a:pPr marL="0" indent="0" algn="just">
              <a:buNone/>
            </a:pPr>
            <a:r>
              <a:rPr lang="en-US" b="0" i="0" dirty="0">
                <a:solidFill>
                  <a:srgbClr val="000000"/>
                </a:solidFill>
                <a:effectLst/>
                <a:latin typeface="Times New Roman" pitchFamily="18" charset="0"/>
                <a:cs typeface="Times New Roman" pitchFamily="18" charset="0"/>
              </a:rPr>
              <a:t>ser1 = </a:t>
            </a:r>
            <a:r>
              <a:rPr lang="en-US" b="0" i="0" dirty="0" err="1">
                <a:solidFill>
                  <a:srgbClr val="000000"/>
                </a:solidFill>
                <a:effectLst/>
                <a:latin typeface="Times New Roman" pitchFamily="18" charset="0"/>
                <a:cs typeface="Times New Roman" pitchFamily="18" charset="0"/>
              </a:rPr>
              <a:t>pd.Series</a:t>
            </a:r>
            <a:r>
              <a:rPr lang="en-US" b="0" i="0" dirty="0">
                <a:solidFill>
                  <a:srgbClr val="000000"/>
                </a:solidFill>
                <a:effectLst/>
                <a:latin typeface="Times New Roman" pitchFamily="18" charset="0"/>
                <a:cs typeface="Times New Roman" pitchFamily="18" charset="0"/>
              </a:rPr>
              <a:t>([1,2,3,4],index = ['USA', '</a:t>
            </a:r>
            <a:r>
              <a:rPr lang="en-US" b="0" i="0" dirty="0" err="1">
                <a:solidFill>
                  <a:srgbClr val="000000"/>
                </a:solidFill>
                <a:effectLst/>
                <a:latin typeface="Times New Roman" pitchFamily="18" charset="0"/>
                <a:cs typeface="Times New Roman" pitchFamily="18" charset="0"/>
              </a:rPr>
              <a:t>Germany','USSR</a:t>
            </a:r>
            <a:r>
              <a:rPr lang="en-US" b="0" i="0" dirty="0">
                <a:solidFill>
                  <a:srgbClr val="000000"/>
                </a:solidFill>
                <a:effectLst/>
                <a:latin typeface="Times New Roman" pitchFamily="18" charset="0"/>
                <a:cs typeface="Times New Roman" pitchFamily="18" charset="0"/>
              </a:rPr>
              <a:t>', 'Japan’]) </a:t>
            </a:r>
            <a:endParaRPr lang="en-US" dirty="0">
              <a:solidFill>
                <a:srgbClr val="000000"/>
              </a:solidFill>
              <a:latin typeface="Times New Roman" pitchFamily="18" charset="0"/>
              <a:cs typeface="Times New Roman" pitchFamily="18" charset="0"/>
            </a:endParaRPr>
          </a:p>
          <a:p>
            <a:pPr marL="0" indent="0" algn="just">
              <a:buNone/>
            </a:pPr>
            <a:r>
              <a:rPr lang="en-US" b="0" i="0" dirty="0">
                <a:solidFill>
                  <a:srgbClr val="000000"/>
                </a:solidFill>
                <a:effectLst/>
                <a:latin typeface="Times New Roman" pitchFamily="18" charset="0"/>
                <a:cs typeface="Times New Roman" pitchFamily="18" charset="0"/>
              </a:rPr>
              <a:t>Ser1</a:t>
            </a:r>
          </a:p>
          <a:p>
            <a:pPr marL="0" indent="0" algn="just">
              <a:buNone/>
            </a:pPr>
            <a:r>
              <a:rPr lang="en-US" dirty="0">
                <a:solidFill>
                  <a:srgbClr val="000000"/>
                </a:solidFill>
                <a:latin typeface="Times New Roman" pitchFamily="18" charset="0"/>
                <a:cs typeface="Times New Roman" pitchFamily="18" charset="0"/>
              </a:rPr>
              <a:t>Output:</a:t>
            </a:r>
          </a:p>
          <a:p>
            <a:pPr marL="0" indent="0" algn="just">
              <a:buNone/>
            </a:pPr>
            <a:r>
              <a:rPr lang="en-US" b="0" i="0" dirty="0">
                <a:solidFill>
                  <a:srgbClr val="000000"/>
                </a:solidFill>
                <a:effectLst/>
                <a:latin typeface="Times New Roman" pitchFamily="18" charset="0"/>
                <a:cs typeface="Times New Roman" pitchFamily="18" charset="0"/>
              </a:rPr>
              <a:t>USA        1</a:t>
            </a:r>
          </a:p>
          <a:p>
            <a:pPr marL="0" indent="0" algn="just">
              <a:buNone/>
            </a:pPr>
            <a:r>
              <a:rPr lang="en-US" b="0" i="0" dirty="0">
                <a:solidFill>
                  <a:srgbClr val="000000"/>
                </a:solidFill>
                <a:effectLst/>
                <a:latin typeface="Times New Roman" pitchFamily="18" charset="0"/>
                <a:cs typeface="Times New Roman" pitchFamily="18" charset="0"/>
              </a:rPr>
              <a:t>Germany    2</a:t>
            </a:r>
          </a:p>
          <a:p>
            <a:pPr marL="0" indent="0" algn="just">
              <a:buNone/>
            </a:pPr>
            <a:r>
              <a:rPr lang="en-US" b="0" i="0" dirty="0">
                <a:solidFill>
                  <a:srgbClr val="000000"/>
                </a:solidFill>
                <a:effectLst/>
                <a:latin typeface="Times New Roman" pitchFamily="18" charset="0"/>
                <a:cs typeface="Times New Roman" pitchFamily="18" charset="0"/>
              </a:rPr>
              <a:t>USSR       3</a:t>
            </a:r>
          </a:p>
          <a:p>
            <a:pPr marL="0" indent="0" algn="just">
              <a:buNone/>
            </a:pPr>
            <a:r>
              <a:rPr lang="en-US" b="0" i="0" dirty="0">
                <a:solidFill>
                  <a:srgbClr val="000000"/>
                </a:solidFill>
                <a:effectLst/>
                <a:latin typeface="Times New Roman" pitchFamily="18" charset="0"/>
                <a:cs typeface="Times New Roman" pitchFamily="18" charset="0"/>
              </a:rPr>
              <a:t>Japan      4</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479567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A02A248-B698-4A7B-9FA4-D1B4278FE962}"/>
              </a:ext>
            </a:extLst>
          </p:cNvPr>
          <p:cNvSpPr>
            <a:spLocks noGrp="1"/>
          </p:cNvSpPr>
          <p:nvPr>
            <p:ph idx="1"/>
          </p:nvPr>
        </p:nvSpPr>
        <p:spPr>
          <a:xfrm>
            <a:off x="149290" y="223935"/>
            <a:ext cx="11204510" cy="6372808"/>
          </a:xfrm>
        </p:spPr>
        <p:txBody>
          <a:bodyPr>
            <a:normAutofit/>
          </a:bodyPr>
          <a:lstStyle/>
          <a:p>
            <a:pPr marL="0" indent="0" algn="l">
              <a:buNone/>
            </a:pPr>
            <a:r>
              <a:rPr lang="en-US" sz="2400" b="1" i="0" dirty="0" err="1">
                <a:solidFill>
                  <a:srgbClr val="000000"/>
                </a:solidFill>
                <a:effectLst/>
                <a:latin typeface="Times New Roman" panose="02020603050405020304" pitchFamily="18" charset="0"/>
                <a:cs typeface="Times New Roman" panose="02020603050405020304" pitchFamily="18" charset="0"/>
              </a:rPr>
              <a:t>DataFrames</a:t>
            </a:r>
            <a:endParaRPr lang="en-US" sz="2400" b="1" i="0" dirty="0">
              <a:solidFill>
                <a:srgbClr val="000000"/>
              </a:solidFill>
              <a:effectLst/>
              <a:latin typeface="Times New Roman" panose="02020603050405020304" pitchFamily="18" charset="0"/>
              <a:cs typeface="Times New Roman" panose="02020603050405020304" pitchFamily="18" charset="0"/>
            </a:endParaRPr>
          </a:p>
          <a:p>
            <a:pPr algn="l"/>
            <a:r>
              <a:rPr lang="en-US" sz="2400" b="0" i="0" dirty="0" err="1">
                <a:solidFill>
                  <a:srgbClr val="000000"/>
                </a:solidFill>
                <a:effectLst/>
                <a:latin typeface="Times New Roman" panose="02020603050405020304" pitchFamily="18" charset="0"/>
                <a:cs typeface="Times New Roman" panose="02020603050405020304" pitchFamily="18" charset="0"/>
              </a:rPr>
              <a:t>DataFrames</a:t>
            </a:r>
            <a:r>
              <a:rPr lang="en-US" sz="2400" b="0" i="0" dirty="0">
                <a:solidFill>
                  <a:srgbClr val="000000"/>
                </a:solidFill>
                <a:effectLst/>
                <a:latin typeface="Times New Roman" panose="02020603050405020304" pitchFamily="18" charset="0"/>
                <a:cs typeface="Times New Roman" panose="02020603050405020304" pitchFamily="18" charset="0"/>
              </a:rPr>
              <a:t> are the workhorse of pandas and are directly inspired by the R programming language. We can think of a </a:t>
            </a:r>
            <a:r>
              <a:rPr lang="en-US" sz="2400" b="0" i="0" dirty="0" err="1">
                <a:solidFill>
                  <a:srgbClr val="000000"/>
                </a:solidFill>
                <a:effectLst/>
                <a:latin typeface="Times New Roman" panose="02020603050405020304" pitchFamily="18" charset="0"/>
                <a:cs typeface="Times New Roman" panose="02020603050405020304" pitchFamily="18" charset="0"/>
              </a:rPr>
              <a:t>DataFrame</a:t>
            </a:r>
            <a:r>
              <a:rPr lang="en-US" sz="2400" b="0" i="0" dirty="0">
                <a:solidFill>
                  <a:srgbClr val="000000"/>
                </a:solidFill>
                <a:effectLst/>
                <a:latin typeface="Times New Roman" panose="02020603050405020304" pitchFamily="18" charset="0"/>
                <a:cs typeface="Times New Roman" panose="02020603050405020304" pitchFamily="18" charset="0"/>
              </a:rPr>
              <a:t> as a bunch of Series objects put together to share the same index</a:t>
            </a:r>
          </a:p>
          <a:p>
            <a:pPr marL="0" indent="0" algn="l">
              <a:buNone/>
            </a:pPr>
            <a:r>
              <a:rPr lang="en-US" sz="2400" b="0" i="0" dirty="0">
                <a:solidFill>
                  <a:srgbClr val="000000"/>
                </a:solidFill>
                <a:effectLst/>
                <a:latin typeface="Times New Roman" panose="02020603050405020304" pitchFamily="18" charset="0"/>
                <a:cs typeface="Times New Roman" panose="02020603050405020304" pitchFamily="18" charset="0"/>
              </a:rPr>
              <a:t>import pandas as pd</a:t>
            </a:r>
          </a:p>
          <a:p>
            <a:pPr marL="0" indent="0" algn="l">
              <a:buNone/>
            </a:pPr>
            <a:r>
              <a:rPr lang="en-US" sz="2400" b="0" i="0" dirty="0">
                <a:solidFill>
                  <a:srgbClr val="000000"/>
                </a:solidFill>
                <a:effectLst/>
                <a:latin typeface="Times New Roman" panose="02020603050405020304" pitchFamily="18" charset="0"/>
                <a:cs typeface="Times New Roman" panose="02020603050405020304" pitchFamily="18" charset="0"/>
              </a:rPr>
              <a:t>import </a:t>
            </a:r>
            <a:r>
              <a:rPr lang="en-US" sz="2400" b="0" i="0" dirty="0" err="1">
                <a:solidFill>
                  <a:srgbClr val="000000"/>
                </a:solidFill>
                <a:effectLst/>
                <a:latin typeface="Times New Roman" panose="02020603050405020304" pitchFamily="18" charset="0"/>
                <a:cs typeface="Times New Roman" panose="02020603050405020304" pitchFamily="18" charset="0"/>
              </a:rPr>
              <a:t>numpy</a:t>
            </a:r>
            <a:r>
              <a:rPr lang="en-US" sz="2400" b="0" i="0" dirty="0">
                <a:solidFill>
                  <a:srgbClr val="000000"/>
                </a:solidFill>
                <a:effectLst/>
                <a:latin typeface="Times New Roman" panose="02020603050405020304" pitchFamily="18" charset="0"/>
                <a:cs typeface="Times New Roman" panose="02020603050405020304" pitchFamily="18" charset="0"/>
              </a:rPr>
              <a:t> as np</a:t>
            </a:r>
          </a:p>
          <a:p>
            <a:pPr marL="0" indent="0">
              <a:buNone/>
            </a:pPr>
            <a:r>
              <a:rPr lang="en-US" sz="2400" dirty="0">
                <a:latin typeface="Times New Roman" panose="02020603050405020304" pitchFamily="18" charset="0"/>
                <a:cs typeface="Times New Roman" panose="02020603050405020304" pitchFamily="18" charset="0"/>
              </a:rPr>
              <a:t>from </a:t>
            </a:r>
            <a:r>
              <a:rPr lang="en-US" sz="2400" dirty="0" err="1">
                <a:latin typeface="Times New Roman" panose="02020603050405020304" pitchFamily="18" charset="0"/>
                <a:cs typeface="Times New Roman" panose="02020603050405020304" pitchFamily="18" charset="0"/>
              </a:rPr>
              <a:t>numpy.random</a:t>
            </a:r>
            <a:r>
              <a:rPr lang="en-US" sz="2400" dirty="0">
                <a:latin typeface="Times New Roman" panose="02020603050405020304" pitchFamily="18" charset="0"/>
                <a:cs typeface="Times New Roman" panose="02020603050405020304" pitchFamily="18" charset="0"/>
              </a:rPr>
              <a:t> import </a:t>
            </a:r>
            <a:r>
              <a:rPr lang="en-US" sz="2400" dirty="0" err="1">
                <a:latin typeface="Times New Roman" panose="02020603050405020304" pitchFamily="18" charset="0"/>
                <a:cs typeface="Times New Roman" panose="02020603050405020304" pitchFamily="18" charset="0"/>
              </a:rPr>
              <a:t>randn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np.random.seed</a:t>
            </a:r>
            <a:r>
              <a:rPr lang="en-US" sz="2400" dirty="0">
                <a:latin typeface="Times New Roman" panose="02020603050405020304" pitchFamily="18" charset="0"/>
                <a:cs typeface="Times New Roman" panose="02020603050405020304" pitchFamily="18" charset="0"/>
              </a:rPr>
              <a:t>(101)</a:t>
            </a:r>
          </a:p>
          <a:p>
            <a:pPr marL="0" indent="0">
              <a:buNone/>
            </a:pPr>
            <a:r>
              <a:rPr lang="en-US" sz="2400" dirty="0">
                <a:latin typeface="Times New Roman" panose="02020603050405020304" pitchFamily="18" charset="0"/>
                <a:cs typeface="Times New Roman" panose="02020603050405020304" pitchFamily="18" charset="0"/>
              </a:rPr>
              <a:t>df = </a:t>
            </a:r>
            <a:r>
              <a:rPr lang="en-US" sz="2400" dirty="0" err="1">
                <a:latin typeface="Times New Roman" panose="02020603050405020304" pitchFamily="18" charset="0"/>
                <a:cs typeface="Times New Roman" panose="02020603050405020304" pitchFamily="18" charset="0"/>
              </a:rPr>
              <a:t>pd.DataFrame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randn</a:t>
            </a:r>
            <a:r>
              <a:rPr lang="en-US" sz="2400" dirty="0">
                <a:latin typeface="Times New Roman" panose="02020603050405020304" pitchFamily="18" charset="0"/>
                <a:cs typeface="Times New Roman" panose="02020603050405020304" pitchFamily="18" charset="0"/>
              </a:rPr>
              <a:t>(5,4), "A B C D </a:t>
            </a:r>
            <a:r>
              <a:rPr lang="en-US" sz="2400" dirty="0" err="1">
                <a:latin typeface="Times New Roman" panose="02020603050405020304" pitchFamily="18" charset="0"/>
                <a:cs typeface="Times New Roman" panose="02020603050405020304" pitchFamily="18" charset="0"/>
              </a:rPr>
              <a:t>E".split</a:t>
            </a:r>
            <a:r>
              <a:rPr lang="en-US" sz="2400" dirty="0">
                <a:latin typeface="Times New Roman" panose="02020603050405020304" pitchFamily="18" charset="0"/>
                <a:cs typeface="Times New Roman" panose="02020603050405020304" pitchFamily="18" charset="0"/>
              </a:rPr>
              <a:t>(), "W X Y </a:t>
            </a:r>
            <a:r>
              <a:rPr lang="en-US" sz="2400" dirty="0" err="1">
                <a:latin typeface="Times New Roman" panose="02020603050405020304" pitchFamily="18" charset="0"/>
                <a:cs typeface="Times New Roman" panose="02020603050405020304" pitchFamily="18" charset="0"/>
              </a:rPr>
              <a:t>Z".split</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Df</a:t>
            </a:r>
          </a:p>
          <a:p>
            <a:pPr marL="0" indent="0">
              <a:buNone/>
            </a:pPr>
            <a:r>
              <a:rPr lang="en-US" sz="2400" dirty="0">
                <a:latin typeface="Times New Roman" panose="02020603050405020304" pitchFamily="18" charset="0"/>
                <a:cs typeface="Times New Roman" panose="02020603050405020304" pitchFamily="18" charset="0"/>
              </a:rPr>
              <a:t>Output:</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A49193E4-371A-47BF-B51B-45F46F58308A}"/>
              </a:ext>
            </a:extLst>
          </p:cNvPr>
          <p:cNvPicPr>
            <a:picLocks noChangeAspect="1"/>
          </p:cNvPicPr>
          <p:nvPr/>
        </p:nvPicPr>
        <p:blipFill>
          <a:blip r:embed="rId2"/>
          <a:stretch>
            <a:fillRect/>
          </a:stretch>
        </p:blipFill>
        <p:spPr>
          <a:xfrm>
            <a:off x="1399591" y="4508347"/>
            <a:ext cx="3576541" cy="1864462"/>
          </a:xfrm>
          <a:prstGeom prst="rect">
            <a:avLst/>
          </a:prstGeom>
        </p:spPr>
      </p:pic>
    </p:spTree>
    <p:extLst>
      <p:ext uri="{BB962C8B-B14F-4D97-AF65-F5344CB8AC3E}">
        <p14:creationId xmlns="" xmlns:p14="http://schemas.microsoft.com/office/powerpoint/2010/main" val="2581048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CA700F6-E837-4BB0-B8A7-5D0966701FAE}"/>
              </a:ext>
            </a:extLst>
          </p:cNvPr>
          <p:cNvSpPr>
            <a:spLocks noGrp="1"/>
          </p:cNvSpPr>
          <p:nvPr>
            <p:ph idx="1"/>
          </p:nvPr>
        </p:nvSpPr>
        <p:spPr>
          <a:xfrm>
            <a:off x="279918" y="261257"/>
            <a:ext cx="11073882" cy="6391470"/>
          </a:xfrm>
        </p:spPr>
        <p:txBody>
          <a:bodyPr/>
          <a:lstStyle/>
          <a:p>
            <a:pPr marL="0" indent="0">
              <a:buNone/>
            </a:pPr>
            <a:r>
              <a:rPr lang="en-US" b="1" i="0" dirty="0">
                <a:solidFill>
                  <a:srgbClr val="000000"/>
                </a:solidFill>
                <a:effectLst/>
                <a:latin typeface="Times New Roman" pitchFamily="18" charset="0"/>
                <a:cs typeface="Times New Roman" pitchFamily="18" charset="0"/>
              </a:rPr>
              <a:t>Selection and Indexing</a:t>
            </a:r>
          </a:p>
          <a:p>
            <a:pPr marL="0" indent="0">
              <a:buNone/>
            </a:pPr>
            <a:r>
              <a:rPr lang="en-US" dirty="0">
                <a:latin typeface="Times New Roman" pitchFamily="18" charset="0"/>
                <a:cs typeface="Times New Roman" pitchFamily="18" charset="0"/>
              </a:rPr>
              <a:t>df[‘W’]</a:t>
            </a:r>
          </a:p>
          <a:p>
            <a:pPr marL="0" indent="0">
              <a:buNone/>
            </a:pPr>
            <a:r>
              <a:rPr lang="en-US" dirty="0">
                <a:latin typeface="Times New Roman" pitchFamily="18" charset="0"/>
                <a:cs typeface="Times New Roman" pitchFamily="18" charset="0"/>
              </a:rPr>
              <a:t>Output:</a:t>
            </a:r>
          </a:p>
          <a:p>
            <a:pPr marL="0" indent="0">
              <a:buNone/>
            </a:pPr>
            <a:endParaRPr lang="en-US" dirty="0">
              <a:latin typeface="Times New Roman" pitchFamily="18" charset="0"/>
              <a:cs typeface="Times New Roman" pitchFamily="18" charset="0"/>
            </a:endParaRPr>
          </a:p>
          <a:p>
            <a:pPr marL="0" indent="0">
              <a:buNone/>
            </a:pPr>
            <a:endParaRPr lang="en-US" b="0" i="0" dirty="0" smtClean="0">
              <a:solidFill>
                <a:srgbClr val="000000"/>
              </a:solidFill>
              <a:effectLst/>
              <a:latin typeface="Times New Roman" pitchFamily="18" charset="0"/>
              <a:cs typeface="Times New Roman" pitchFamily="18" charset="0"/>
            </a:endParaRPr>
          </a:p>
          <a:p>
            <a:pPr marL="0" indent="0">
              <a:buNone/>
            </a:pPr>
            <a:endParaRPr lang="en-US" dirty="0" smtClean="0">
              <a:solidFill>
                <a:srgbClr val="000000"/>
              </a:solidFill>
              <a:latin typeface="Times New Roman" pitchFamily="18" charset="0"/>
              <a:cs typeface="Times New Roman" pitchFamily="18" charset="0"/>
            </a:endParaRPr>
          </a:p>
          <a:p>
            <a:pPr marL="0" indent="0">
              <a:buNone/>
            </a:pPr>
            <a:endParaRPr lang="en-US" b="0" i="0" dirty="0" smtClean="0">
              <a:solidFill>
                <a:srgbClr val="000000"/>
              </a:solidFill>
              <a:effectLst/>
              <a:latin typeface="Times New Roman" pitchFamily="18" charset="0"/>
              <a:cs typeface="Times New Roman" pitchFamily="18" charset="0"/>
            </a:endParaRPr>
          </a:p>
          <a:p>
            <a:pPr marL="0" indent="0">
              <a:buNone/>
            </a:pPr>
            <a:r>
              <a:rPr lang="en-US" b="0" i="0" dirty="0" smtClean="0">
                <a:solidFill>
                  <a:srgbClr val="000000"/>
                </a:solidFill>
                <a:effectLst/>
                <a:latin typeface="Times New Roman" pitchFamily="18" charset="0"/>
                <a:cs typeface="Times New Roman" pitchFamily="18" charset="0"/>
              </a:rPr>
              <a:t>Removing </a:t>
            </a:r>
            <a:r>
              <a:rPr lang="en-US" b="0" i="0" dirty="0">
                <a:solidFill>
                  <a:srgbClr val="000000"/>
                </a:solidFill>
                <a:effectLst/>
                <a:latin typeface="Times New Roman" pitchFamily="18" charset="0"/>
                <a:cs typeface="Times New Roman" pitchFamily="18" charset="0"/>
              </a:rPr>
              <a:t>Columns</a:t>
            </a:r>
          </a:p>
          <a:p>
            <a:pPr marL="0" indent="0">
              <a:buNone/>
            </a:pPr>
            <a:r>
              <a:rPr lang="en-US" dirty="0" err="1">
                <a:latin typeface="Times New Roman" pitchFamily="18" charset="0"/>
                <a:cs typeface="Times New Roman" pitchFamily="18" charset="0"/>
              </a:rPr>
              <a:t>df.drop</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new',axis</a:t>
            </a:r>
            <a:r>
              <a:rPr lang="en-US" dirty="0">
                <a:latin typeface="Times New Roman" pitchFamily="18" charset="0"/>
                <a:cs typeface="Times New Roman" pitchFamily="18" charset="0"/>
              </a:rPr>
              <a:t>=1)</a:t>
            </a:r>
            <a:endParaRPr lang="en-US" dirty="0">
              <a:solidFill>
                <a:srgbClr val="000000"/>
              </a:solidFill>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664C2956-B4F9-4FA6-AAFC-EA78645A469D}"/>
              </a:ext>
            </a:extLst>
          </p:cNvPr>
          <p:cNvPicPr>
            <a:picLocks noChangeAspect="1"/>
          </p:cNvPicPr>
          <p:nvPr/>
        </p:nvPicPr>
        <p:blipFill>
          <a:blip r:embed="rId2"/>
          <a:stretch>
            <a:fillRect/>
          </a:stretch>
        </p:blipFill>
        <p:spPr>
          <a:xfrm>
            <a:off x="1987711" y="1187709"/>
            <a:ext cx="1647825" cy="1104900"/>
          </a:xfrm>
          <a:prstGeom prst="rect">
            <a:avLst/>
          </a:prstGeom>
        </p:spPr>
      </p:pic>
    </p:spTree>
    <p:extLst>
      <p:ext uri="{BB962C8B-B14F-4D97-AF65-F5344CB8AC3E}">
        <p14:creationId xmlns="" xmlns:p14="http://schemas.microsoft.com/office/powerpoint/2010/main" val="1325183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62DBF84-922D-42AA-B536-561BAC8EC0DA}"/>
              </a:ext>
            </a:extLst>
          </p:cNvPr>
          <p:cNvSpPr>
            <a:spLocks noGrp="1"/>
          </p:cNvSpPr>
          <p:nvPr>
            <p:ph idx="1"/>
          </p:nvPr>
        </p:nvSpPr>
        <p:spPr>
          <a:xfrm>
            <a:off x="186612" y="233264"/>
            <a:ext cx="11167188" cy="6410131"/>
          </a:xfrm>
        </p:spPr>
        <p:txBody>
          <a:bodyPr>
            <a:normAutofit/>
          </a:bodyPr>
          <a:lstStyle/>
          <a:p>
            <a:pPr marL="0" indent="0">
              <a:buNone/>
            </a:pPr>
            <a:r>
              <a:rPr lang="en-US" sz="2000" b="1" i="0" dirty="0">
                <a:solidFill>
                  <a:srgbClr val="000000"/>
                </a:solidFill>
                <a:effectLst/>
                <a:latin typeface="Times New Roman" panose="02020603050405020304" pitchFamily="18" charset="0"/>
                <a:cs typeface="Times New Roman" panose="02020603050405020304" pitchFamily="18" charset="0"/>
              </a:rPr>
              <a:t>Missing Data</a:t>
            </a:r>
          </a:p>
          <a:p>
            <a:pPr marL="0" indent="0">
              <a:buNone/>
            </a:pPr>
            <a:r>
              <a:rPr lang="en-US" sz="2000" b="0" i="0" dirty="0">
                <a:solidFill>
                  <a:srgbClr val="000000"/>
                </a:solidFill>
                <a:effectLst/>
                <a:latin typeface="Times New Roman" panose="02020603050405020304" pitchFamily="18" charset="0"/>
                <a:cs typeface="Times New Roman" panose="02020603050405020304" pitchFamily="18" charset="0"/>
              </a:rPr>
              <a:t>methods to deal with Missing Data in pandas</a:t>
            </a:r>
          </a:p>
          <a:p>
            <a:pPr marL="0" indent="0">
              <a:buNone/>
            </a:pPr>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as np</a:t>
            </a:r>
          </a:p>
          <a:p>
            <a:pPr marL="0" indent="0">
              <a:buNone/>
            </a:pPr>
            <a:r>
              <a:rPr lang="en-US" sz="2000" dirty="0">
                <a:latin typeface="Times New Roman" panose="02020603050405020304" pitchFamily="18" charset="0"/>
                <a:cs typeface="Times New Roman" panose="02020603050405020304" pitchFamily="18" charset="0"/>
              </a:rPr>
              <a:t>import pandas as pd</a:t>
            </a:r>
            <a:endParaRPr lang="en-US" sz="2000" dirty="0">
              <a:solidFill>
                <a:srgbClr val="000000"/>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df = </a:t>
            </a:r>
            <a:r>
              <a:rPr lang="en-US" sz="2000" dirty="0" err="1">
                <a:latin typeface="Times New Roman" panose="02020603050405020304" pitchFamily="18" charset="0"/>
                <a:cs typeface="Times New Roman" panose="02020603050405020304" pitchFamily="18" charset="0"/>
              </a:rPr>
              <a:t>pd.DataFrame</a:t>
            </a:r>
            <a:r>
              <a:rPr lang="en-US" sz="2000" dirty="0">
                <a:latin typeface="Times New Roman" panose="02020603050405020304" pitchFamily="18" charset="0"/>
                <a:cs typeface="Times New Roman" panose="02020603050405020304" pitchFamily="18" charset="0"/>
              </a:rPr>
              <a:t>({'A':[1,2,np.nan],</a:t>
            </a:r>
          </a:p>
          <a:p>
            <a:pPr marL="0" indent="0">
              <a:buNone/>
            </a:pPr>
            <a:r>
              <a:rPr lang="en-US" sz="2000" dirty="0">
                <a:latin typeface="Times New Roman" panose="02020603050405020304" pitchFamily="18" charset="0"/>
                <a:cs typeface="Times New Roman" panose="02020603050405020304" pitchFamily="18" charset="0"/>
              </a:rPr>
              <a:t>                  'B':[5,np.nan,np.nan],</a:t>
            </a:r>
          </a:p>
          <a:p>
            <a:pPr marL="0" indent="0">
              <a:buNone/>
            </a:pPr>
            <a:r>
              <a:rPr lang="en-US" sz="2000" dirty="0">
                <a:latin typeface="Times New Roman" panose="02020603050405020304" pitchFamily="18" charset="0"/>
                <a:cs typeface="Times New Roman" panose="02020603050405020304" pitchFamily="18" charset="0"/>
              </a:rPr>
              <a:t>                  'C':[1,2,3]})</a:t>
            </a:r>
            <a:endParaRPr lang="en-US" sz="2000" dirty="0">
              <a:solidFill>
                <a:srgbClr val="000000"/>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Df</a:t>
            </a:r>
            <a:endParaRPr lang="en-US" sz="2000" dirty="0">
              <a:solidFill>
                <a:srgbClr val="000000"/>
              </a:solidFill>
              <a:latin typeface="Times New Roman" panose="02020603050405020304" pitchFamily="18" charset="0"/>
              <a:cs typeface="Times New Roman" panose="02020603050405020304" pitchFamily="18" charset="0"/>
            </a:endParaRPr>
          </a:p>
          <a:p>
            <a:pPr marL="0" indent="0">
              <a:buNone/>
            </a:pPr>
            <a:r>
              <a:rPr lang="en-US" sz="2000" dirty="0">
                <a:solidFill>
                  <a:srgbClr val="000000"/>
                </a:solidFill>
                <a:latin typeface="Times New Roman" panose="02020603050405020304" pitchFamily="18" charset="0"/>
                <a:cs typeface="Times New Roman" panose="02020603050405020304" pitchFamily="18" charset="0"/>
              </a:rPr>
              <a:t>Output:</a:t>
            </a: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2000" dirty="0">
              <a:solidFill>
                <a:srgbClr val="000000"/>
              </a:solidFill>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mean = df['A'].mean()</a:t>
            </a:r>
          </a:p>
          <a:p>
            <a:pPr marL="0" indent="0">
              <a:buNone/>
            </a:pPr>
            <a:r>
              <a:rPr lang="en-US" sz="2000" dirty="0">
                <a:latin typeface="Times New Roman" panose="02020603050405020304" pitchFamily="18" charset="0"/>
                <a:cs typeface="Times New Roman" panose="02020603050405020304" pitchFamily="18" charset="0"/>
              </a:rPr>
              <a:t>df['A'] = df['A'].</a:t>
            </a:r>
            <a:r>
              <a:rPr lang="en-US" sz="2000" dirty="0" err="1">
                <a:latin typeface="Times New Roman" panose="02020603050405020304" pitchFamily="18" charset="0"/>
                <a:cs typeface="Times New Roman" panose="02020603050405020304" pitchFamily="18" charset="0"/>
              </a:rPr>
              <a:t>fillna</a:t>
            </a:r>
            <a:r>
              <a:rPr lang="en-US" sz="2000" dirty="0">
                <a:latin typeface="Times New Roman" panose="02020603050405020304" pitchFamily="18" charset="0"/>
                <a:cs typeface="Times New Roman" panose="02020603050405020304" pitchFamily="18" charset="0"/>
              </a:rPr>
              <a:t>(value=mean)</a:t>
            </a:r>
          </a:p>
          <a:p>
            <a:pPr marL="0" indent="0">
              <a:buNone/>
            </a:pPr>
            <a:r>
              <a:rPr lang="en-US" sz="2000" dirty="0">
                <a:latin typeface="Times New Roman" panose="02020603050405020304" pitchFamily="18" charset="0"/>
                <a:cs typeface="Times New Roman" panose="02020603050405020304" pitchFamily="18" charset="0"/>
              </a:rPr>
              <a:t>Df</a:t>
            </a:r>
          </a:p>
          <a:p>
            <a:pPr marL="0" indent="0">
              <a:buNone/>
            </a:pPr>
            <a:r>
              <a:rPr lang="en-US" sz="2000" dirty="0">
                <a:latin typeface="Times New Roman" panose="02020603050405020304" pitchFamily="18" charset="0"/>
                <a:cs typeface="Times New Roman" panose="02020603050405020304" pitchFamily="18" charset="0"/>
              </a:rPr>
              <a:t>Output: </a:t>
            </a:r>
          </a:p>
        </p:txBody>
      </p:sp>
      <p:pic>
        <p:nvPicPr>
          <p:cNvPr id="5" name="Picture 4">
            <a:extLst>
              <a:ext uri="{FF2B5EF4-FFF2-40B4-BE49-F238E27FC236}">
                <a16:creationId xmlns="" xmlns:a16="http://schemas.microsoft.com/office/drawing/2014/main" id="{2B334860-C14D-4062-A45E-FB80879543FD}"/>
              </a:ext>
            </a:extLst>
          </p:cNvPr>
          <p:cNvPicPr>
            <a:picLocks noChangeAspect="1"/>
          </p:cNvPicPr>
          <p:nvPr/>
        </p:nvPicPr>
        <p:blipFill>
          <a:blip r:embed="rId2"/>
          <a:stretch>
            <a:fillRect/>
          </a:stretch>
        </p:blipFill>
        <p:spPr>
          <a:xfrm>
            <a:off x="1429041" y="3108064"/>
            <a:ext cx="1533525" cy="1276350"/>
          </a:xfrm>
          <a:prstGeom prst="rect">
            <a:avLst/>
          </a:prstGeom>
        </p:spPr>
      </p:pic>
      <p:pic>
        <p:nvPicPr>
          <p:cNvPr id="7" name="Picture 6">
            <a:extLst>
              <a:ext uri="{FF2B5EF4-FFF2-40B4-BE49-F238E27FC236}">
                <a16:creationId xmlns="" xmlns:a16="http://schemas.microsoft.com/office/drawing/2014/main" id="{16FB863E-6F67-4131-82D2-6E0834E55E54}"/>
              </a:ext>
            </a:extLst>
          </p:cNvPr>
          <p:cNvPicPr>
            <a:picLocks noChangeAspect="1"/>
          </p:cNvPicPr>
          <p:nvPr/>
        </p:nvPicPr>
        <p:blipFill>
          <a:blip r:embed="rId3"/>
          <a:stretch>
            <a:fillRect/>
          </a:stretch>
        </p:blipFill>
        <p:spPr>
          <a:xfrm>
            <a:off x="1531678" y="5514975"/>
            <a:ext cx="1647825" cy="1343025"/>
          </a:xfrm>
          <a:prstGeom prst="rect">
            <a:avLst/>
          </a:prstGeom>
        </p:spPr>
      </p:pic>
    </p:spTree>
    <p:extLst>
      <p:ext uri="{BB962C8B-B14F-4D97-AF65-F5344CB8AC3E}">
        <p14:creationId xmlns="" xmlns:p14="http://schemas.microsoft.com/office/powerpoint/2010/main" val="1187313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A72F23F-C123-4AC4-A20F-ED9CC0E36B37}"/>
              </a:ext>
            </a:extLst>
          </p:cNvPr>
          <p:cNvSpPr>
            <a:spLocks noGrp="1"/>
          </p:cNvSpPr>
          <p:nvPr>
            <p:ph idx="1"/>
          </p:nvPr>
        </p:nvSpPr>
        <p:spPr>
          <a:xfrm>
            <a:off x="167951" y="195943"/>
            <a:ext cx="11803225" cy="6522098"/>
          </a:xfrm>
        </p:spPr>
        <p:txBody>
          <a:bodyPr>
            <a:noAutofit/>
          </a:bodyPr>
          <a:lstStyle/>
          <a:p>
            <a:pPr marL="0" indent="0">
              <a:buNone/>
            </a:pPr>
            <a:r>
              <a:rPr lang="en-US" sz="1800" b="1" i="0" dirty="0">
                <a:solidFill>
                  <a:srgbClr val="000000"/>
                </a:solidFill>
                <a:effectLst/>
                <a:latin typeface="Times New Roman" panose="02020603050405020304" pitchFamily="18" charset="0"/>
                <a:cs typeface="Times New Roman" panose="02020603050405020304" pitchFamily="18" charset="0"/>
              </a:rPr>
              <a:t>Merging, Joining, and Concatenating</a:t>
            </a:r>
          </a:p>
          <a:p>
            <a:pPr marL="0" indent="0">
              <a:buNone/>
            </a:pPr>
            <a:r>
              <a:rPr lang="en-US" sz="1800" dirty="0">
                <a:latin typeface="Times New Roman" panose="02020603050405020304" pitchFamily="18" charset="0"/>
                <a:cs typeface="Times New Roman" panose="02020603050405020304" pitchFamily="18" charset="0"/>
              </a:rPr>
              <a:t>import pandas as pd</a:t>
            </a:r>
            <a:endParaRPr lang="en-US" sz="18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df1 = </a:t>
            </a:r>
            <a:r>
              <a:rPr lang="en-US" sz="1800" dirty="0" err="1">
                <a:latin typeface="Times New Roman" panose="02020603050405020304" pitchFamily="18" charset="0"/>
                <a:cs typeface="Times New Roman" panose="02020603050405020304" pitchFamily="18" charset="0"/>
              </a:rPr>
              <a:t>pd.DataFrame</a:t>
            </a:r>
            <a:r>
              <a:rPr lang="en-US" sz="1800" dirty="0">
                <a:latin typeface="Times New Roman" panose="02020603050405020304" pitchFamily="18" charset="0"/>
                <a:cs typeface="Times New Roman" panose="02020603050405020304" pitchFamily="18" charset="0"/>
              </a:rPr>
              <a:t>({'A': ['A0', 'A1', 'A2', 'A3'],</a:t>
            </a:r>
          </a:p>
          <a:p>
            <a:pPr marL="0" indent="0">
              <a:buNone/>
            </a:pPr>
            <a:r>
              <a:rPr lang="en-US" sz="1800" dirty="0">
                <a:latin typeface="Times New Roman" panose="02020603050405020304" pitchFamily="18" charset="0"/>
                <a:cs typeface="Times New Roman" panose="02020603050405020304" pitchFamily="18" charset="0"/>
              </a:rPr>
              <a:t>                        'B': ['B0', 'B1', 'B2', 'B3'],</a:t>
            </a:r>
          </a:p>
          <a:p>
            <a:pPr marL="0" indent="0">
              <a:buNone/>
            </a:pPr>
            <a:r>
              <a:rPr lang="en-US" sz="1800" dirty="0">
                <a:latin typeface="Times New Roman" panose="02020603050405020304" pitchFamily="18" charset="0"/>
                <a:cs typeface="Times New Roman" panose="02020603050405020304" pitchFamily="18" charset="0"/>
              </a:rPr>
              <a:t>                        'C': ['C0', 'C1', 'C2', 'C3'],</a:t>
            </a:r>
          </a:p>
          <a:p>
            <a:pPr marL="0" indent="0">
              <a:buNone/>
            </a:pPr>
            <a:r>
              <a:rPr lang="en-US" sz="1800" dirty="0">
                <a:latin typeface="Times New Roman" panose="02020603050405020304" pitchFamily="18" charset="0"/>
                <a:cs typeface="Times New Roman" panose="02020603050405020304" pitchFamily="18" charset="0"/>
              </a:rPr>
              <a:t>                        'D': ['D0', 'D1', 'D2', 'D3']},</a:t>
            </a:r>
          </a:p>
          <a:p>
            <a:pPr marL="0" indent="0">
              <a:buNone/>
            </a:pPr>
            <a:r>
              <a:rPr lang="en-US" sz="1800" dirty="0">
                <a:latin typeface="Times New Roman" panose="02020603050405020304" pitchFamily="18" charset="0"/>
                <a:cs typeface="Times New Roman" panose="02020603050405020304" pitchFamily="18" charset="0"/>
              </a:rPr>
              <a:t>                        index=[0, 1, 2, 3])</a:t>
            </a:r>
            <a:endParaRPr lang="en-US" sz="18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df2 = </a:t>
            </a:r>
            <a:r>
              <a:rPr lang="en-US" sz="1800" dirty="0" err="1">
                <a:latin typeface="Times New Roman" panose="02020603050405020304" pitchFamily="18" charset="0"/>
                <a:cs typeface="Times New Roman" panose="02020603050405020304" pitchFamily="18" charset="0"/>
              </a:rPr>
              <a:t>pd.DataFrame</a:t>
            </a:r>
            <a:r>
              <a:rPr lang="en-US" sz="1800" dirty="0">
                <a:latin typeface="Times New Roman" panose="02020603050405020304" pitchFamily="18" charset="0"/>
                <a:cs typeface="Times New Roman" panose="02020603050405020304" pitchFamily="18" charset="0"/>
              </a:rPr>
              <a:t>({'A': ['A4', 'A5', 'A6', 'A7'],</a:t>
            </a:r>
          </a:p>
          <a:p>
            <a:pPr marL="0" indent="0">
              <a:buNone/>
            </a:pPr>
            <a:r>
              <a:rPr lang="en-US" sz="1800" dirty="0">
                <a:latin typeface="Times New Roman" panose="02020603050405020304" pitchFamily="18" charset="0"/>
                <a:cs typeface="Times New Roman" panose="02020603050405020304" pitchFamily="18" charset="0"/>
              </a:rPr>
              <a:t>                        'B': ['B4', 'B5', 'B6', 'B7'],</a:t>
            </a:r>
          </a:p>
          <a:p>
            <a:pPr marL="0" indent="0">
              <a:buNone/>
            </a:pPr>
            <a:r>
              <a:rPr lang="en-US" sz="1800" dirty="0">
                <a:latin typeface="Times New Roman" panose="02020603050405020304" pitchFamily="18" charset="0"/>
                <a:cs typeface="Times New Roman" panose="02020603050405020304" pitchFamily="18" charset="0"/>
              </a:rPr>
              <a:t>                        'C': ['C4', 'C5', 'C6', 'C7'],</a:t>
            </a:r>
          </a:p>
          <a:p>
            <a:pPr marL="0" indent="0">
              <a:buNone/>
            </a:pPr>
            <a:r>
              <a:rPr lang="en-US" sz="1800" dirty="0">
                <a:latin typeface="Times New Roman" panose="02020603050405020304" pitchFamily="18" charset="0"/>
                <a:cs typeface="Times New Roman" panose="02020603050405020304" pitchFamily="18" charset="0"/>
              </a:rPr>
              <a:t>                        'D': ['D4', 'D5', 'D6', 'D7']},</a:t>
            </a:r>
          </a:p>
          <a:p>
            <a:pPr marL="0" indent="0">
              <a:buNone/>
            </a:pPr>
            <a:r>
              <a:rPr lang="en-US" sz="1800" dirty="0">
                <a:latin typeface="Times New Roman" panose="02020603050405020304" pitchFamily="18" charset="0"/>
                <a:cs typeface="Times New Roman" panose="02020603050405020304" pitchFamily="18" charset="0"/>
              </a:rPr>
              <a:t>                         index=[4, 5, 6, 7]) </a:t>
            </a:r>
            <a:endParaRPr lang="en-US" sz="1800" dirty="0">
              <a:solidFill>
                <a:srgbClr val="000000"/>
              </a:solidFill>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df3 = </a:t>
            </a:r>
            <a:r>
              <a:rPr lang="en-US" sz="1800" dirty="0" err="1">
                <a:latin typeface="Times New Roman" panose="02020603050405020304" pitchFamily="18" charset="0"/>
                <a:cs typeface="Times New Roman" panose="02020603050405020304" pitchFamily="18" charset="0"/>
              </a:rPr>
              <a:t>pd.DataFrame</a:t>
            </a:r>
            <a:r>
              <a:rPr lang="en-US" sz="1800" dirty="0">
                <a:latin typeface="Times New Roman" panose="02020603050405020304" pitchFamily="18" charset="0"/>
                <a:cs typeface="Times New Roman" panose="02020603050405020304" pitchFamily="18" charset="0"/>
              </a:rPr>
              <a:t>({'A': ['A8', 'A9', 'A10', 'A11'],</a:t>
            </a:r>
          </a:p>
          <a:p>
            <a:pPr marL="0" indent="0">
              <a:buNone/>
            </a:pPr>
            <a:r>
              <a:rPr lang="en-US" sz="1800" dirty="0">
                <a:latin typeface="Times New Roman" panose="02020603050405020304" pitchFamily="18" charset="0"/>
                <a:cs typeface="Times New Roman" panose="02020603050405020304" pitchFamily="18" charset="0"/>
              </a:rPr>
              <a:t>                        'B': ['B8', 'B9', 'B10', 'B11'],</a:t>
            </a:r>
          </a:p>
          <a:p>
            <a:pPr marL="0" indent="0">
              <a:buNone/>
            </a:pPr>
            <a:r>
              <a:rPr lang="en-US" sz="1800" dirty="0">
                <a:latin typeface="Times New Roman" panose="02020603050405020304" pitchFamily="18" charset="0"/>
                <a:cs typeface="Times New Roman" panose="02020603050405020304" pitchFamily="18" charset="0"/>
              </a:rPr>
              <a:t>                        'C': ['C8', 'C9', 'C10', 'C11'],</a:t>
            </a:r>
          </a:p>
          <a:p>
            <a:pPr marL="0" indent="0">
              <a:buNone/>
            </a:pPr>
            <a:r>
              <a:rPr lang="en-US" sz="1800" dirty="0">
                <a:latin typeface="Times New Roman" panose="02020603050405020304" pitchFamily="18" charset="0"/>
                <a:cs typeface="Times New Roman" panose="02020603050405020304" pitchFamily="18" charset="0"/>
              </a:rPr>
              <a:t>                        'D': ['D8', 'D9', 'D10', 'D11']},</a:t>
            </a:r>
          </a:p>
          <a:p>
            <a:pPr marL="0" indent="0">
              <a:buNone/>
            </a:pPr>
            <a:r>
              <a:rPr lang="en-US" sz="1800" dirty="0">
                <a:latin typeface="Times New Roman" panose="02020603050405020304" pitchFamily="18" charset="0"/>
                <a:cs typeface="Times New Roman" panose="02020603050405020304" pitchFamily="18" charset="0"/>
              </a:rPr>
              <a:t>                        index=[8, 9, 10, 11])</a:t>
            </a:r>
          </a:p>
        </p:txBody>
      </p:sp>
    </p:spTree>
    <p:extLst>
      <p:ext uri="{BB962C8B-B14F-4D97-AF65-F5344CB8AC3E}">
        <p14:creationId xmlns="" xmlns:p14="http://schemas.microsoft.com/office/powerpoint/2010/main" val="2609736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5A527D3-2A3B-4957-B89D-09D7C66CDAB5}"/>
              </a:ext>
            </a:extLst>
          </p:cNvPr>
          <p:cNvSpPr>
            <a:spLocks noGrp="1"/>
          </p:cNvSpPr>
          <p:nvPr>
            <p:ph idx="1"/>
          </p:nvPr>
        </p:nvSpPr>
        <p:spPr>
          <a:xfrm>
            <a:off x="261257" y="130628"/>
            <a:ext cx="11467323" cy="6550089"/>
          </a:xfrm>
        </p:spPr>
        <p:txBody>
          <a:bodyPr/>
          <a:lstStyle/>
          <a:p>
            <a:pPr marL="0" indent="0" algn="just">
              <a:buNone/>
            </a:pPr>
            <a:r>
              <a:rPr lang="en-US" b="0" i="0" dirty="0">
                <a:solidFill>
                  <a:srgbClr val="000000"/>
                </a:solidFill>
                <a:effectLst/>
                <a:latin typeface="Times New Roman" pitchFamily="18" charset="0"/>
                <a:cs typeface="Times New Roman" pitchFamily="18" charset="0"/>
              </a:rPr>
              <a:t>Concatenation basically glues together </a:t>
            </a:r>
            <a:r>
              <a:rPr lang="en-US" b="0" i="0" dirty="0" err="1">
                <a:solidFill>
                  <a:srgbClr val="000000"/>
                </a:solidFill>
                <a:effectLst/>
                <a:latin typeface="Times New Roman" pitchFamily="18" charset="0"/>
                <a:cs typeface="Times New Roman" pitchFamily="18" charset="0"/>
              </a:rPr>
              <a:t>DataFrames</a:t>
            </a:r>
            <a:r>
              <a:rPr lang="en-US" b="0" i="0" dirty="0">
                <a:solidFill>
                  <a:srgbClr val="000000"/>
                </a:solidFill>
                <a:effectLst/>
                <a:latin typeface="Times New Roman" pitchFamily="18" charset="0"/>
                <a:cs typeface="Times New Roman" pitchFamily="18" charset="0"/>
              </a:rPr>
              <a:t>. Keep in mind that dimensions should match along the axis you are concatenating on. You can use </a:t>
            </a:r>
            <a:r>
              <a:rPr lang="en-US" b="1" i="0" dirty="0" err="1">
                <a:solidFill>
                  <a:srgbClr val="000000"/>
                </a:solidFill>
                <a:effectLst/>
                <a:latin typeface="Times New Roman" pitchFamily="18" charset="0"/>
                <a:cs typeface="Times New Roman" pitchFamily="18" charset="0"/>
              </a:rPr>
              <a:t>pd.concat</a:t>
            </a:r>
            <a:r>
              <a:rPr lang="en-US" b="0" i="0" dirty="0">
                <a:solidFill>
                  <a:srgbClr val="000000"/>
                </a:solidFill>
                <a:effectLst/>
                <a:latin typeface="Times New Roman" pitchFamily="18" charset="0"/>
                <a:cs typeface="Times New Roman" pitchFamily="18" charset="0"/>
              </a:rPr>
              <a:t> and pass in a list of </a:t>
            </a:r>
            <a:r>
              <a:rPr lang="en-US" b="0" i="0" dirty="0" err="1">
                <a:solidFill>
                  <a:srgbClr val="000000"/>
                </a:solidFill>
                <a:effectLst/>
                <a:latin typeface="Times New Roman" pitchFamily="18" charset="0"/>
                <a:cs typeface="Times New Roman" pitchFamily="18" charset="0"/>
              </a:rPr>
              <a:t>DataFrames</a:t>
            </a:r>
            <a:r>
              <a:rPr lang="en-US" b="0" i="0" dirty="0">
                <a:solidFill>
                  <a:srgbClr val="000000"/>
                </a:solidFill>
                <a:effectLst/>
                <a:latin typeface="Times New Roman" pitchFamily="18" charset="0"/>
                <a:cs typeface="Times New Roman" pitchFamily="18" charset="0"/>
              </a:rPr>
              <a:t> to concatenate together</a:t>
            </a:r>
          </a:p>
          <a:p>
            <a:pPr marL="0" indent="0" algn="just">
              <a:buNone/>
            </a:pPr>
            <a:r>
              <a:rPr lang="en-US" dirty="0" err="1">
                <a:latin typeface="Times New Roman" pitchFamily="18" charset="0"/>
                <a:cs typeface="Times New Roman" pitchFamily="18" charset="0"/>
              </a:rPr>
              <a:t>pd.concat</a:t>
            </a:r>
            <a:r>
              <a:rPr lang="en-US" dirty="0">
                <a:latin typeface="Times New Roman" pitchFamily="18" charset="0"/>
                <a:cs typeface="Times New Roman" pitchFamily="18" charset="0"/>
              </a:rPr>
              <a:t>([df1,df2,df3])</a:t>
            </a:r>
            <a:endParaRPr lang="en-US" dirty="0">
              <a:solidFill>
                <a:srgbClr val="000000"/>
              </a:solidFill>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Output:</a:t>
            </a:r>
          </a:p>
        </p:txBody>
      </p:sp>
      <p:pic>
        <p:nvPicPr>
          <p:cNvPr id="5" name="Picture 4">
            <a:extLst>
              <a:ext uri="{FF2B5EF4-FFF2-40B4-BE49-F238E27FC236}">
                <a16:creationId xmlns="" xmlns:a16="http://schemas.microsoft.com/office/drawing/2014/main" id="{F04B1622-6E9C-4603-8D92-1A3634C4A2F4}"/>
              </a:ext>
            </a:extLst>
          </p:cNvPr>
          <p:cNvPicPr>
            <a:picLocks noChangeAspect="1"/>
          </p:cNvPicPr>
          <p:nvPr/>
        </p:nvPicPr>
        <p:blipFill>
          <a:blip r:embed="rId2"/>
          <a:stretch>
            <a:fillRect/>
          </a:stretch>
        </p:blipFill>
        <p:spPr>
          <a:xfrm>
            <a:off x="3857625" y="2337317"/>
            <a:ext cx="2238375" cy="4343400"/>
          </a:xfrm>
          <a:prstGeom prst="rect">
            <a:avLst/>
          </a:prstGeom>
        </p:spPr>
      </p:pic>
    </p:spTree>
    <p:extLst>
      <p:ext uri="{BB962C8B-B14F-4D97-AF65-F5344CB8AC3E}">
        <p14:creationId xmlns="" xmlns:p14="http://schemas.microsoft.com/office/powerpoint/2010/main" val="366025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B0520D0-4E12-4B8D-9C1C-F74260F2131E}"/>
              </a:ext>
            </a:extLst>
          </p:cNvPr>
          <p:cNvSpPr>
            <a:spLocks noGrp="1"/>
          </p:cNvSpPr>
          <p:nvPr>
            <p:ph idx="1"/>
          </p:nvPr>
        </p:nvSpPr>
        <p:spPr>
          <a:xfrm>
            <a:off x="186611" y="223935"/>
            <a:ext cx="11653935" cy="6382138"/>
          </a:xfrm>
        </p:spPr>
        <p:txBody>
          <a:bodyPr/>
          <a:lstStyle/>
          <a:p>
            <a:pPr marL="0" indent="0" algn="just">
              <a:buNone/>
            </a:pPr>
            <a:r>
              <a:rPr lang="en-US" b="0" i="0" dirty="0">
                <a:solidFill>
                  <a:srgbClr val="000000"/>
                </a:solidFill>
                <a:effectLst/>
                <a:latin typeface="Times New Roman" pitchFamily="18" charset="0"/>
                <a:cs typeface="Times New Roman" pitchFamily="18" charset="0"/>
              </a:rPr>
              <a:t>The </a:t>
            </a:r>
            <a:r>
              <a:rPr lang="en-US" b="1" i="0" dirty="0">
                <a:solidFill>
                  <a:srgbClr val="000000"/>
                </a:solidFill>
                <a:effectLst/>
                <a:latin typeface="Times New Roman" pitchFamily="18" charset="0"/>
                <a:cs typeface="Times New Roman" pitchFamily="18" charset="0"/>
              </a:rPr>
              <a:t>merge</a:t>
            </a:r>
            <a:r>
              <a:rPr lang="en-US" b="0" i="0" dirty="0">
                <a:solidFill>
                  <a:srgbClr val="000000"/>
                </a:solidFill>
                <a:effectLst/>
                <a:latin typeface="Times New Roman" pitchFamily="18" charset="0"/>
                <a:cs typeface="Times New Roman" pitchFamily="18" charset="0"/>
              </a:rPr>
              <a:t> function allows you to merge </a:t>
            </a:r>
            <a:r>
              <a:rPr lang="en-US" b="0" i="0" dirty="0" err="1">
                <a:solidFill>
                  <a:srgbClr val="000000"/>
                </a:solidFill>
                <a:effectLst/>
                <a:latin typeface="Times New Roman" pitchFamily="18" charset="0"/>
                <a:cs typeface="Times New Roman" pitchFamily="18" charset="0"/>
              </a:rPr>
              <a:t>DataFrames</a:t>
            </a:r>
            <a:r>
              <a:rPr lang="en-US" b="0" i="0" dirty="0">
                <a:solidFill>
                  <a:srgbClr val="000000"/>
                </a:solidFill>
                <a:effectLst/>
                <a:latin typeface="Times New Roman" pitchFamily="18" charset="0"/>
                <a:cs typeface="Times New Roman" pitchFamily="18" charset="0"/>
              </a:rPr>
              <a:t> together using a similar logic as merging SQL Tables together</a:t>
            </a:r>
          </a:p>
          <a:p>
            <a:pPr marL="0" indent="0" algn="just">
              <a:buNone/>
            </a:pPr>
            <a:r>
              <a:rPr lang="en-US" b="0" i="0" dirty="0">
                <a:solidFill>
                  <a:srgbClr val="000000"/>
                </a:solidFill>
                <a:effectLst/>
                <a:latin typeface="Times New Roman" pitchFamily="18" charset="0"/>
                <a:cs typeface="Times New Roman" pitchFamily="18" charset="0"/>
              </a:rPr>
              <a:t>Joining is a convenient method for combining the columns of two potentially differently-indexed </a:t>
            </a:r>
            <a:r>
              <a:rPr lang="en-US" b="0" i="0" dirty="0" err="1">
                <a:solidFill>
                  <a:srgbClr val="000000"/>
                </a:solidFill>
                <a:effectLst/>
                <a:latin typeface="Times New Roman" pitchFamily="18" charset="0"/>
                <a:cs typeface="Times New Roman" pitchFamily="18" charset="0"/>
              </a:rPr>
              <a:t>DataFrames</a:t>
            </a:r>
            <a:r>
              <a:rPr lang="en-US" b="0" i="0" dirty="0">
                <a:solidFill>
                  <a:srgbClr val="000000"/>
                </a:solidFill>
                <a:effectLst/>
                <a:latin typeface="Times New Roman" pitchFamily="18" charset="0"/>
                <a:cs typeface="Times New Roman" pitchFamily="18" charset="0"/>
              </a:rPr>
              <a:t> into a single result </a:t>
            </a:r>
            <a:r>
              <a:rPr lang="en-US" b="0" i="0" dirty="0" err="1">
                <a:solidFill>
                  <a:srgbClr val="000000"/>
                </a:solidFill>
                <a:effectLst/>
                <a:latin typeface="Times New Roman" pitchFamily="18" charset="0"/>
                <a:cs typeface="Times New Roman" pitchFamily="18" charset="0"/>
              </a:rPr>
              <a:t>DataFrame</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184473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E515F20-D081-4F9E-879F-3BC777E5B0BF}"/>
              </a:ext>
            </a:extLst>
          </p:cNvPr>
          <p:cNvSpPr>
            <a:spLocks noGrp="1"/>
          </p:cNvSpPr>
          <p:nvPr>
            <p:ph idx="1"/>
          </p:nvPr>
        </p:nvSpPr>
        <p:spPr>
          <a:xfrm>
            <a:off x="205273" y="214604"/>
            <a:ext cx="11756572" cy="6447453"/>
          </a:xfrm>
        </p:spPr>
        <p:txBody>
          <a:bodyPr/>
          <a:lstStyle/>
          <a:p>
            <a:pPr marL="0" indent="0">
              <a:buNone/>
            </a:pPr>
            <a:r>
              <a:rPr lang="en-US" b="0" i="0" dirty="0">
                <a:solidFill>
                  <a:srgbClr val="000000"/>
                </a:solidFill>
                <a:effectLst/>
                <a:latin typeface="Helvetica Neue"/>
              </a:rPr>
              <a:t>There are lots of operations with pandas that will be really useful to you, but don't fall into any distinct category</a:t>
            </a:r>
          </a:p>
          <a:p>
            <a:pPr marL="0" indent="0">
              <a:buNone/>
            </a:pPr>
            <a:r>
              <a:rPr lang="en-US" dirty="0"/>
              <a:t>import pandas as pd</a:t>
            </a:r>
          </a:p>
          <a:p>
            <a:pPr marL="0" indent="0">
              <a:buNone/>
            </a:pPr>
            <a:r>
              <a:rPr lang="en-US" dirty="0"/>
              <a:t>df = </a:t>
            </a:r>
            <a:r>
              <a:rPr lang="en-US" dirty="0" err="1"/>
              <a:t>pd.DataFrame</a:t>
            </a:r>
            <a:r>
              <a:rPr lang="en-US" dirty="0"/>
              <a:t>({'col1':[1,2,3,4],'col2':[444,555,666,444],'col3':['</a:t>
            </a:r>
            <a:r>
              <a:rPr lang="en-US" dirty="0" err="1"/>
              <a:t>abc</a:t>
            </a:r>
            <a:r>
              <a:rPr lang="en-US" dirty="0"/>
              <a:t>','def','</a:t>
            </a:r>
            <a:r>
              <a:rPr lang="en-US" dirty="0" err="1"/>
              <a:t>ghi</a:t>
            </a:r>
            <a:r>
              <a:rPr lang="en-US" dirty="0"/>
              <a:t>','</a:t>
            </a:r>
            <a:r>
              <a:rPr lang="en-US" dirty="0" err="1"/>
              <a:t>xyz</a:t>
            </a:r>
            <a:r>
              <a:rPr lang="en-US" dirty="0"/>
              <a:t>']})</a:t>
            </a:r>
          </a:p>
          <a:p>
            <a:pPr marL="0" indent="0">
              <a:buNone/>
            </a:pPr>
            <a:r>
              <a:rPr lang="en-US" dirty="0" err="1"/>
              <a:t>df.head</a:t>
            </a:r>
            <a:r>
              <a:rPr lang="en-US" dirty="0"/>
              <a:t>()</a:t>
            </a:r>
          </a:p>
          <a:p>
            <a:pPr marL="0" indent="0">
              <a:buNone/>
            </a:pPr>
            <a:r>
              <a:rPr lang="en-US" dirty="0"/>
              <a:t>Output:</a:t>
            </a:r>
          </a:p>
          <a:p>
            <a:pPr marL="0" indent="0">
              <a:buNone/>
            </a:pPr>
            <a:endParaRPr lang="en-US" dirty="0"/>
          </a:p>
        </p:txBody>
      </p:sp>
      <p:pic>
        <p:nvPicPr>
          <p:cNvPr id="5" name="Picture 4">
            <a:extLst>
              <a:ext uri="{FF2B5EF4-FFF2-40B4-BE49-F238E27FC236}">
                <a16:creationId xmlns="" xmlns:a16="http://schemas.microsoft.com/office/drawing/2014/main" id="{CB9CDE82-0F00-440B-A9AD-FDC68751DC86}"/>
              </a:ext>
            </a:extLst>
          </p:cNvPr>
          <p:cNvPicPr>
            <a:picLocks noChangeAspect="1"/>
          </p:cNvPicPr>
          <p:nvPr/>
        </p:nvPicPr>
        <p:blipFill>
          <a:blip r:embed="rId2"/>
          <a:stretch>
            <a:fillRect/>
          </a:stretch>
        </p:blipFill>
        <p:spPr>
          <a:xfrm>
            <a:off x="918871" y="4121604"/>
            <a:ext cx="1695450" cy="1619250"/>
          </a:xfrm>
          <a:prstGeom prst="rect">
            <a:avLst/>
          </a:prstGeom>
        </p:spPr>
      </p:pic>
    </p:spTree>
    <p:extLst>
      <p:ext uri="{BB962C8B-B14F-4D97-AF65-F5344CB8AC3E}">
        <p14:creationId xmlns="" xmlns:p14="http://schemas.microsoft.com/office/powerpoint/2010/main" val="11323669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C6BD26C-A46F-444F-8995-ADA79A6ED18E}"/>
              </a:ext>
            </a:extLst>
          </p:cNvPr>
          <p:cNvSpPr>
            <a:spLocks noGrp="1"/>
          </p:cNvSpPr>
          <p:nvPr>
            <p:ph idx="1"/>
          </p:nvPr>
        </p:nvSpPr>
        <p:spPr>
          <a:xfrm>
            <a:off x="270587" y="205273"/>
            <a:ext cx="11635273" cy="6419462"/>
          </a:xfrm>
        </p:spPr>
        <p:txBody>
          <a:bodyPr/>
          <a:lstStyle/>
          <a:p>
            <a:pPr marL="0" indent="0">
              <a:buNone/>
            </a:pPr>
            <a:r>
              <a:rPr lang="en-US" b="0" i="0" dirty="0">
                <a:solidFill>
                  <a:srgbClr val="000000"/>
                </a:solidFill>
                <a:effectLst/>
                <a:latin typeface="Times New Roman" pitchFamily="18" charset="0"/>
                <a:cs typeface="Times New Roman" pitchFamily="18" charset="0"/>
              </a:rPr>
              <a:t>Get column and index names</a:t>
            </a:r>
          </a:p>
          <a:p>
            <a:pPr marL="0" indent="0">
              <a:buNone/>
            </a:pPr>
            <a:r>
              <a:rPr lang="en-US" dirty="0" err="1">
                <a:latin typeface="Times New Roman" pitchFamily="18" charset="0"/>
                <a:cs typeface="Times New Roman" pitchFamily="18" charset="0"/>
              </a:rPr>
              <a:t>df.columns</a:t>
            </a:r>
            <a:endParaRPr lang="en-US" dirty="0">
              <a:solidFill>
                <a:srgbClr val="000000"/>
              </a:solidFill>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Output:</a:t>
            </a:r>
          </a:p>
          <a:p>
            <a:pPr marL="0" indent="0">
              <a:buNone/>
            </a:pPr>
            <a:r>
              <a:rPr lang="en-US" dirty="0">
                <a:latin typeface="Times New Roman" pitchFamily="18" charset="0"/>
                <a:cs typeface="Times New Roman" pitchFamily="18" charset="0"/>
              </a:rPr>
              <a:t>Index(['col2', 'col3’]</a:t>
            </a:r>
          </a:p>
          <a:p>
            <a:pPr marL="0" indent="0">
              <a:buNone/>
            </a:pPr>
            <a:r>
              <a:rPr lang="en-US" dirty="0" err="1">
                <a:latin typeface="Times New Roman" pitchFamily="18" charset="0"/>
                <a:cs typeface="Times New Roman" pitchFamily="18" charset="0"/>
              </a:rPr>
              <a:t>df.index</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Output:</a:t>
            </a:r>
          </a:p>
          <a:p>
            <a:pPr marL="0" indent="0">
              <a:buNone/>
            </a:pPr>
            <a:r>
              <a:rPr lang="en-US" dirty="0" err="1">
                <a:latin typeface="Times New Roman" pitchFamily="18" charset="0"/>
                <a:cs typeface="Times New Roman" pitchFamily="18" charset="0"/>
              </a:rPr>
              <a:t>RangeIndex</a:t>
            </a:r>
            <a:r>
              <a:rPr lang="en-US" dirty="0">
                <a:latin typeface="Times New Roman" pitchFamily="18" charset="0"/>
                <a:cs typeface="Times New Roman" pitchFamily="18" charset="0"/>
              </a:rPr>
              <a:t>(start=0, stop=4, step=1)</a:t>
            </a:r>
          </a:p>
          <a:p>
            <a:pPr marL="0" indent="0">
              <a:buNone/>
            </a:pPr>
            <a:r>
              <a:rPr lang="en-US" b="0" i="0" dirty="0">
                <a:solidFill>
                  <a:srgbClr val="000000"/>
                </a:solidFill>
                <a:effectLst/>
                <a:latin typeface="Times New Roman" pitchFamily="18" charset="0"/>
                <a:cs typeface="Times New Roman" pitchFamily="18" charset="0"/>
              </a:rPr>
              <a:t> Find Null Values or Check for Null Values</a:t>
            </a:r>
          </a:p>
          <a:p>
            <a:pPr marL="0" indent="0">
              <a:buNone/>
            </a:pPr>
            <a:r>
              <a:rPr lang="en-US" dirty="0" err="1">
                <a:latin typeface="Times New Roman" pitchFamily="18" charset="0"/>
                <a:cs typeface="Times New Roman" pitchFamily="18" charset="0"/>
              </a:rPr>
              <a:t>df.isnull</a:t>
            </a:r>
            <a:r>
              <a:rPr lang="en-US" dirty="0">
                <a:latin typeface="Times New Roman" pitchFamily="18" charset="0"/>
                <a:cs typeface="Times New Roman" pitchFamily="18" charset="0"/>
              </a:rPr>
              <a:t>()</a:t>
            </a:r>
            <a:endParaRPr lang="en-US" dirty="0">
              <a:solidFill>
                <a:srgbClr val="000000"/>
              </a:solidFill>
              <a:latin typeface="Times New Roman" pitchFamily="18" charset="0"/>
              <a:cs typeface="Times New Roman" pitchFamily="18" charset="0"/>
            </a:endParaRPr>
          </a:p>
          <a:p>
            <a:pPr marL="0" indent="0">
              <a:buNone/>
            </a:pPr>
            <a:r>
              <a:rPr lang="en-US" dirty="0">
                <a:solidFill>
                  <a:srgbClr val="000000"/>
                </a:solidFill>
                <a:latin typeface="Times New Roman" pitchFamily="18" charset="0"/>
                <a:cs typeface="Times New Roman" pitchFamily="18" charset="0"/>
              </a:rPr>
              <a:t>Output:</a:t>
            </a:r>
            <a:endParaRPr lang="en-US" dirty="0">
              <a:latin typeface="Times New Roman" pitchFamily="18" charset="0"/>
              <a:cs typeface="Times New Roman" pitchFamily="18" charset="0"/>
            </a:endParaRPr>
          </a:p>
        </p:txBody>
      </p:sp>
      <p:pic>
        <p:nvPicPr>
          <p:cNvPr id="7" name="Picture 6">
            <a:extLst>
              <a:ext uri="{FF2B5EF4-FFF2-40B4-BE49-F238E27FC236}">
                <a16:creationId xmlns="" xmlns:a16="http://schemas.microsoft.com/office/drawing/2014/main" id="{A7A8002A-5069-44B0-A823-79BBD1D348B9}"/>
              </a:ext>
            </a:extLst>
          </p:cNvPr>
          <p:cNvPicPr>
            <a:picLocks noChangeAspect="1"/>
          </p:cNvPicPr>
          <p:nvPr/>
        </p:nvPicPr>
        <p:blipFill>
          <a:blip r:embed="rId2"/>
          <a:stretch>
            <a:fillRect/>
          </a:stretch>
        </p:blipFill>
        <p:spPr>
          <a:xfrm>
            <a:off x="2096278" y="4810903"/>
            <a:ext cx="1524000" cy="1733550"/>
          </a:xfrm>
          <a:prstGeom prst="rect">
            <a:avLst/>
          </a:prstGeom>
        </p:spPr>
      </p:pic>
    </p:spTree>
    <p:extLst>
      <p:ext uri="{BB962C8B-B14F-4D97-AF65-F5344CB8AC3E}">
        <p14:creationId xmlns="" xmlns:p14="http://schemas.microsoft.com/office/powerpoint/2010/main" val="1138137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C33072E-4343-467F-B46B-AF080E76BEDA}"/>
              </a:ext>
            </a:extLst>
          </p:cNvPr>
          <p:cNvSpPr>
            <a:spLocks noGrp="1"/>
          </p:cNvSpPr>
          <p:nvPr>
            <p:ph idx="1"/>
          </p:nvPr>
        </p:nvSpPr>
        <p:spPr>
          <a:xfrm>
            <a:off x="270587" y="139959"/>
            <a:ext cx="11597951" cy="6550090"/>
          </a:xfrm>
        </p:spPr>
        <p:txBody>
          <a:bodyPr/>
          <a:lstStyle/>
          <a:p>
            <a:pPr marL="0" indent="0">
              <a:buNone/>
            </a:pPr>
            <a:r>
              <a:rPr lang="en-US" dirty="0"/>
              <a:t># Drop rows with </a:t>
            </a:r>
            <a:r>
              <a:rPr lang="en-US" dirty="0" err="1"/>
              <a:t>NaN</a:t>
            </a:r>
            <a:r>
              <a:rPr lang="en-US" dirty="0"/>
              <a:t> Values</a:t>
            </a:r>
          </a:p>
          <a:p>
            <a:pPr marL="0" indent="0">
              <a:buNone/>
            </a:pPr>
            <a:r>
              <a:rPr lang="en-US" dirty="0" err="1"/>
              <a:t>df.dropna</a:t>
            </a:r>
            <a:r>
              <a:rPr lang="en-US" dirty="0"/>
              <a:t>()</a:t>
            </a:r>
          </a:p>
          <a:p>
            <a:pPr marL="0" indent="0">
              <a:buNone/>
            </a:pPr>
            <a:r>
              <a:rPr lang="en-US" dirty="0"/>
              <a:t>Output:</a:t>
            </a:r>
          </a:p>
          <a:p>
            <a:pPr marL="0" indent="0">
              <a:buNone/>
            </a:pPr>
            <a:endParaRPr lang="en-US" dirty="0"/>
          </a:p>
        </p:txBody>
      </p:sp>
      <p:pic>
        <p:nvPicPr>
          <p:cNvPr id="5" name="Picture 4">
            <a:extLst>
              <a:ext uri="{FF2B5EF4-FFF2-40B4-BE49-F238E27FC236}">
                <a16:creationId xmlns="" xmlns:a16="http://schemas.microsoft.com/office/drawing/2014/main" id="{EB1B496E-DB87-439D-B9B3-3B19D5BE26FA}"/>
              </a:ext>
            </a:extLst>
          </p:cNvPr>
          <p:cNvPicPr>
            <a:picLocks noChangeAspect="1"/>
          </p:cNvPicPr>
          <p:nvPr/>
        </p:nvPicPr>
        <p:blipFill>
          <a:blip r:embed="rId2"/>
          <a:stretch>
            <a:fillRect/>
          </a:stretch>
        </p:blipFill>
        <p:spPr>
          <a:xfrm>
            <a:off x="1711097" y="1195970"/>
            <a:ext cx="1323975" cy="1666875"/>
          </a:xfrm>
          <a:prstGeom prst="rect">
            <a:avLst/>
          </a:prstGeom>
        </p:spPr>
      </p:pic>
    </p:spTree>
    <p:extLst>
      <p:ext uri="{BB962C8B-B14F-4D97-AF65-F5344CB8AC3E}">
        <p14:creationId xmlns="" xmlns:p14="http://schemas.microsoft.com/office/powerpoint/2010/main" val="2554480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6BD730-CF01-4B64-8AB6-102E82BBA279}"/>
              </a:ext>
            </a:extLst>
          </p:cNvPr>
          <p:cNvSpPr>
            <a:spLocks noGrp="1"/>
          </p:cNvSpPr>
          <p:nvPr>
            <p:ph idx="1"/>
          </p:nvPr>
        </p:nvSpPr>
        <p:spPr>
          <a:xfrm>
            <a:off x="186612" y="261256"/>
            <a:ext cx="11635274" cy="6288833"/>
          </a:xfrm>
        </p:spPr>
        <p:txBody>
          <a:bodyPr/>
          <a:lstStyle/>
          <a:p>
            <a:r>
              <a:rPr lang="en-US" b="1" i="0" dirty="0">
                <a:solidFill>
                  <a:srgbClr val="000000"/>
                </a:solidFill>
                <a:effectLst/>
                <a:latin typeface="Helvetica Neue"/>
              </a:rPr>
              <a:t>Data Input and Output</a:t>
            </a:r>
          </a:p>
          <a:p>
            <a:pPr marL="0" indent="0">
              <a:buNone/>
            </a:pPr>
            <a:r>
              <a:rPr lang="en-US" dirty="0"/>
              <a:t>How to read dataset in to pandas:</a:t>
            </a:r>
          </a:p>
          <a:p>
            <a:pPr marL="0" indent="0">
              <a:buNone/>
            </a:pPr>
            <a:r>
              <a:rPr lang="en-US" b="0" i="0" dirty="0">
                <a:solidFill>
                  <a:srgbClr val="000000"/>
                </a:solidFill>
                <a:effectLst/>
                <a:latin typeface="Helvetica Neue"/>
              </a:rPr>
              <a:t> pandas can read a variety of file types using its </a:t>
            </a:r>
            <a:r>
              <a:rPr lang="en-US" b="0" i="0" dirty="0" err="1">
                <a:solidFill>
                  <a:srgbClr val="000000"/>
                </a:solidFill>
                <a:effectLst/>
                <a:latin typeface="Helvetica Neue"/>
              </a:rPr>
              <a:t>pd.read</a:t>
            </a:r>
            <a:r>
              <a:rPr lang="en-US" b="0" i="0" dirty="0">
                <a:solidFill>
                  <a:srgbClr val="000000"/>
                </a:solidFill>
                <a:effectLst/>
                <a:latin typeface="Helvetica Neue"/>
              </a:rPr>
              <a:t>_ methods</a:t>
            </a:r>
          </a:p>
          <a:p>
            <a:pPr marL="0" indent="0">
              <a:buNone/>
            </a:pPr>
            <a:r>
              <a:rPr lang="en-US" dirty="0"/>
              <a:t>import </a:t>
            </a:r>
            <a:r>
              <a:rPr lang="en-US" dirty="0" err="1"/>
              <a:t>numpy</a:t>
            </a:r>
            <a:r>
              <a:rPr lang="en-US" dirty="0"/>
              <a:t> as np</a:t>
            </a:r>
          </a:p>
          <a:p>
            <a:pPr marL="0" indent="0">
              <a:buNone/>
            </a:pPr>
            <a:r>
              <a:rPr lang="en-US" dirty="0"/>
              <a:t>import pandas as pd</a:t>
            </a:r>
            <a:endParaRPr lang="en-US" dirty="0">
              <a:solidFill>
                <a:srgbClr val="000000"/>
              </a:solidFill>
              <a:latin typeface="Helvetica Neue"/>
            </a:endParaRPr>
          </a:p>
          <a:p>
            <a:pPr marL="0" indent="0">
              <a:buNone/>
            </a:pPr>
            <a:r>
              <a:rPr lang="en-US" b="1" i="0" dirty="0">
                <a:solidFill>
                  <a:srgbClr val="000000"/>
                </a:solidFill>
                <a:effectLst/>
                <a:latin typeface="Helvetica Neue"/>
              </a:rPr>
              <a:t>CSV Input</a:t>
            </a:r>
          </a:p>
          <a:p>
            <a:pPr marL="0" indent="0">
              <a:buNone/>
            </a:pPr>
            <a:r>
              <a:rPr lang="en-US" dirty="0"/>
              <a:t>df = </a:t>
            </a:r>
            <a:r>
              <a:rPr lang="en-US" dirty="0" err="1"/>
              <a:t>pd.read_csv</a:t>
            </a:r>
            <a:r>
              <a:rPr lang="en-US" dirty="0"/>
              <a:t>('example')</a:t>
            </a:r>
          </a:p>
          <a:p>
            <a:pPr marL="0" indent="0">
              <a:buNone/>
            </a:pPr>
            <a:r>
              <a:rPr lang="en-US" dirty="0"/>
              <a:t>Df</a:t>
            </a:r>
            <a:endParaRPr lang="en-US" dirty="0">
              <a:solidFill>
                <a:srgbClr val="000000"/>
              </a:solidFill>
              <a:latin typeface="Helvetica Neue"/>
            </a:endParaRPr>
          </a:p>
          <a:p>
            <a:pPr algn="l"/>
            <a:r>
              <a:rPr lang="en-US" b="1" i="0" dirty="0">
                <a:solidFill>
                  <a:srgbClr val="000000"/>
                </a:solidFill>
                <a:effectLst/>
                <a:latin typeface="Helvetica Neue"/>
              </a:rPr>
              <a:t>Excel</a:t>
            </a:r>
          </a:p>
          <a:p>
            <a:pPr algn="l"/>
            <a:r>
              <a:rPr lang="en-US" b="0" i="0" dirty="0">
                <a:solidFill>
                  <a:srgbClr val="000000"/>
                </a:solidFill>
                <a:effectLst/>
                <a:latin typeface="Helvetica Neue"/>
              </a:rPr>
              <a:t>Pandas can read and write excel files, keep in mind, this only imports data</a:t>
            </a:r>
          </a:p>
          <a:p>
            <a:pPr marL="0" indent="0" algn="l">
              <a:buNone/>
            </a:pPr>
            <a:r>
              <a:rPr lang="en-US" b="0" i="0" dirty="0" err="1">
                <a:solidFill>
                  <a:srgbClr val="000000"/>
                </a:solidFill>
                <a:effectLst/>
                <a:latin typeface="Helvetica Neue"/>
              </a:rPr>
              <a:t>pd.read_excel</a:t>
            </a:r>
            <a:r>
              <a:rPr lang="en-US" b="0" i="0" dirty="0">
                <a:solidFill>
                  <a:srgbClr val="000000"/>
                </a:solidFill>
                <a:effectLst/>
                <a:latin typeface="Helvetica Neue"/>
              </a:rPr>
              <a:t>('Excel_Sample.xlsx',</a:t>
            </a:r>
            <a:r>
              <a:rPr lang="en-US" b="0" i="0" dirty="0" err="1">
                <a:solidFill>
                  <a:srgbClr val="000000"/>
                </a:solidFill>
                <a:effectLst/>
                <a:latin typeface="Helvetica Neue"/>
              </a:rPr>
              <a:t>sheetname</a:t>
            </a:r>
            <a:r>
              <a:rPr lang="en-US" b="0" i="0" dirty="0">
                <a:solidFill>
                  <a:srgbClr val="000000"/>
                </a:solidFill>
                <a:effectLst/>
                <a:latin typeface="Helvetica Neue"/>
              </a:rPr>
              <a:t>='Sheet1')</a:t>
            </a:r>
          </a:p>
          <a:p>
            <a:pPr marL="0" indent="0">
              <a:buNone/>
            </a:pPr>
            <a:endParaRPr lang="en-US" dirty="0"/>
          </a:p>
        </p:txBody>
      </p:sp>
    </p:spTree>
    <p:extLst>
      <p:ext uri="{BB962C8B-B14F-4D97-AF65-F5344CB8AC3E}">
        <p14:creationId xmlns="" xmlns:p14="http://schemas.microsoft.com/office/powerpoint/2010/main" val="3657403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FA7E85-8764-464B-B7D0-6C1B85FC7AA6}"/>
              </a:ext>
            </a:extLst>
          </p:cNvPr>
          <p:cNvSpPr>
            <a:spLocks noGrp="1"/>
          </p:cNvSpPr>
          <p:nvPr>
            <p:ph type="ctrTitle"/>
          </p:nvPr>
        </p:nvSpPr>
        <p:spPr>
          <a:xfrm>
            <a:off x="1426346" y="429905"/>
            <a:ext cx="9144000" cy="1345629"/>
          </a:xfrm>
        </p:spPr>
        <p:txBody>
          <a:bodyPr>
            <a:normAutofit fontScale="90000"/>
          </a:bodyPr>
          <a:lstStyle/>
          <a:p>
            <a:r>
              <a:rPr lang="en-US" b="1" i="0" dirty="0">
                <a:solidFill>
                  <a:srgbClr val="333333"/>
                </a:solidFill>
                <a:effectLst/>
                <a:latin typeface="poppins"/>
              </a:rPr>
              <a:t>Data Visualization </a:t>
            </a:r>
            <a:br>
              <a:rPr lang="en-US" b="1" i="0" dirty="0">
                <a:solidFill>
                  <a:srgbClr val="333333"/>
                </a:solidFill>
                <a:effectLst/>
                <a:latin typeface="poppins"/>
              </a:rPr>
            </a:br>
            <a:endParaRPr lang="en-US" dirty="0"/>
          </a:p>
        </p:txBody>
      </p:sp>
      <p:pic>
        <p:nvPicPr>
          <p:cNvPr id="5" name="Picture 4">
            <a:extLst>
              <a:ext uri="{FF2B5EF4-FFF2-40B4-BE49-F238E27FC236}">
                <a16:creationId xmlns="" xmlns:a16="http://schemas.microsoft.com/office/drawing/2014/main" id="{BFCAAE02-8C3A-42BB-9EBE-E3FDB6EA802A}"/>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48575" y="1118586"/>
            <a:ext cx="10697591" cy="5530789"/>
          </a:xfrm>
          <a:prstGeom prst="rect">
            <a:avLst/>
          </a:prstGeom>
        </p:spPr>
      </p:pic>
    </p:spTree>
    <p:extLst>
      <p:ext uri="{BB962C8B-B14F-4D97-AF65-F5344CB8AC3E}">
        <p14:creationId xmlns="" xmlns:p14="http://schemas.microsoft.com/office/powerpoint/2010/main" val="809151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570A51A-70DF-4133-821D-DE44ED15192C}"/>
              </a:ext>
            </a:extLst>
          </p:cNvPr>
          <p:cNvSpPr>
            <a:spLocks noGrp="1"/>
          </p:cNvSpPr>
          <p:nvPr>
            <p:ph idx="1"/>
          </p:nvPr>
        </p:nvSpPr>
        <p:spPr>
          <a:xfrm>
            <a:off x="159798" y="248575"/>
            <a:ext cx="11674136" cy="6347534"/>
          </a:xfrm>
        </p:spPr>
        <p:txBody>
          <a:bodyPr>
            <a:normAutofit/>
          </a:bodyPr>
          <a:lstStyle/>
          <a:p>
            <a:pPr algn="just"/>
            <a:r>
              <a:rPr lang="en-US" b="0" i="0" dirty="0">
                <a:effectLst/>
                <a:latin typeface="Times New Roman" panose="02020603050405020304" pitchFamily="18" charset="0"/>
                <a:cs typeface="Times New Roman" panose="02020603050405020304" pitchFamily="18" charset="0"/>
              </a:rPr>
              <a:t>Data visualization is the most important step in the life cycle of data science, data analytics, or we can say in data engineering.</a:t>
            </a:r>
          </a:p>
          <a:p>
            <a:pPr algn="just"/>
            <a:r>
              <a:rPr lang="en-US" b="0" i="0" dirty="0">
                <a:effectLst/>
                <a:latin typeface="Times New Roman" panose="02020603050405020304" pitchFamily="18" charset="0"/>
                <a:cs typeface="Times New Roman" panose="02020603050405020304" pitchFamily="18" charset="0"/>
              </a:rPr>
              <a:t> It is more impressive, interesting and understanding when we represent our study or analysis with the help of colors and graphics.</a:t>
            </a:r>
          </a:p>
          <a:p>
            <a:pPr algn="just"/>
            <a:r>
              <a:rPr lang="en-US" b="0" i="0" dirty="0">
                <a:effectLst/>
                <a:latin typeface="Times New Roman" panose="02020603050405020304" pitchFamily="18" charset="0"/>
                <a:cs typeface="Times New Roman" panose="02020603050405020304" pitchFamily="18" charset="0"/>
              </a:rPr>
              <a:t> Using visualization elements like graphs, charts, maps, etc., it becomes easier for clients to understand the underlying structure, trends, patterns and relationships among variables within the dataset.</a:t>
            </a:r>
          </a:p>
          <a:p>
            <a:pPr algn="just"/>
            <a:r>
              <a:rPr lang="en-US" b="0" i="0" dirty="0">
                <a:effectLst/>
                <a:latin typeface="Times New Roman" panose="02020603050405020304" pitchFamily="18" charset="0"/>
                <a:cs typeface="Times New Roman" panose="02020603050405020304" pitchFamily="18" charset="0"/>
              </a:rPr>
              <a:t> Simply explaining the data summary and analysis using plain numbers becomes complicated for both, people coming from technical and non-technical backgrounds.</a:t>
            </a:r>
          </a:p>
          <a:p>
            <a:pPr algn="just"/>
            <a:r>
              <a:rPr lang="en-US" b="0" i="0" dirty="0">
                <a:effectLst/>
                <a:latin typeface="Times New Roman" panose="02020603050405020304" pitchFamily="18" charset="0"/>
                <a:cs typeface="Times New Roman" panose="02020603050405020304" pitchFamily="18" charset="0"/>
              </a:rPr>
              <a:t> Data visualization gives us a clear idea of what the data wants to convey to us. It makes data neutral for us to understand the data insights.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8636309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62D96DC-1E6F-4438-A74F-A13F6471C5E1}"/>
              </a:ext>
            </a:extLst>
          </p:cNvPr>
          <p:cNvSpPr>
            <a:spLocks noGrp="1"/>
          </p:cNvSpPr>
          <p:nvPr>
            <p:ph idx="1"/>
          </p:nvPr>
        </p:nvSpPr>
        <p:spPr>
          <a:xfrm>
            <a:off x="213064" y="266330"/>
            <a:ext cx="11771790" cy="6400800"/>
          </a:xfrm>
        </p:spPr>
        <p:txBody>
          <a:bodyPr>
            <a:normAutofit/>
          </a:bodyPr>
          <a:lstStyle/>
          <a:p>
            <a:pPr algn="just"/>
            <a:r>
              <a:rPr lang="en-US" b="0" i="0" dirty="0">
                <a:effectLst/>
                <a:latin typeface="Times New Roman" panose="02020603050405020304" pitchFamily="18" charset="0"/>
                <a:cs typeface="Times New Roman" panose="02020603050405020304" pitchFamily="18" charset="0"/>
              </a:rPr>
              <a:t>Data visualization involves operating a huge amount of data and converts it into meaningful and knowledgeable visuals using various tools.</a:t>
            </a:r>
          </a:p>
          <a:p>
            <a:pPr algn="just"/>
            <a:r>
              <a:rPr lang="en-US" b="0" i="0" dirty="0">
                <a:effectLst/>
                <a:latin typeface="Times New Roman" panose="02020603050405020304" pitchFamily="18" charset="0"/>
                <a:cs typeface="Times New Roman" panose="02020603050405020304" pitchFamily="18" charset="0"/>
              </a:rPr>
              <a:t> For visualizing data we need the best software tools to handle various types of data in structured or unstructured format from different sources such as files, web API, databases, and many more.</a:t>
            </a:r>
          </a:p>
          <a:p>
            <a:pPr algn="just"/>
            <a:r>
              <a:rPr lang="en-US" b="0" i="0" dirty="0" smtClean="0">
                <a:effectLst/>
                <a:latin typeface="Times New Roman" panose="02020603050405020304" pitchFamily="18" charset="0"/>
                <a:cs typeface="Times New Roman" panose="02020603050405020304" pitchFamily="18" charset="0"/>
              </a:rPr>
              <a:t>We </a:t>
            </a:r>
            <a:r>
              <a:rPr lang="en-US" b="0" i="0" dirty="0">
                <a:effectLst/>
                <a:latin typeface="Times New Roman" panose="02020603050405020304" pitchFamily="18" charset="0"/>
                <a:cs typeface="Times New Roman" panose="02020603050405020304" pitchFamily="18" charset="0"/>
              </a:rPr>
              <a:t>must choose </a:t>
            </a:r>
            <a:r>
              <a:rPr lang="en-US" b="0" i="0" dirty="0" smtClean="0">
                <a:effectLst/>
                <a:latin typeface="Times New Roman" panose="02020603050405020304" pitchFamily="18" charset="0"/>
                <a:cs typeface="Times New Roman" panose="02020603050405020304" pitchFamily="18" charset="0"/>
              </a:rPr>
              <a:t>the best </a:t>
            </a:r>
            <a:r>
              <a:rPr lang="en-US" b="0" i="0" dirty="0">
                <a:effectLst/>
                <a:latin typeface="Times New Roman" panose="02020603050405020304" pitchFamily="18" charset="0"/>
                <a:cs typeface="Times New Roman" panose="02020603050405020304" pitchFamily="18" charset="0"/>
              </a:rPr>
              <a:t>visualization tool that fulfils all our requirements. </a:t>
            </a:r>
          </a:p>
          <a:p>
            <a:pPr algn="just"/>
            <a:r>
              <a:rPr lang="en-US" b="0" i="0" dirty="0">
                <a:effectLst/>
                <a:latin typeface="Times New Roman" panose="02020603050405020304" pitchFamily="18" charset="0"/>
                <a:cs typeface="Times New Roman" panose="02020603050405020304" pitchFamily="18" charset="0"/>
              </a:rPr>
              <a:t>The tool should support interactive plots generation, connectivity to data sources, combining data sources, automatically refresh the data, secured access to data sources, and exporting widgets. </a:t>
            </a:r>
          </a:p>
          <a:p>
            <a:pPr algn="just"/>
            <a:r>
              <a:rPr lang="en-US" b="0" i="0" dirty="0">
                <a:effectLst/>
                <a:latin typeface="Times New Roman" panose="02020603050405020304" pitchFamily="18" charset="0"/>
                <a:cs typeface="Times New Roman" panose="02020603050405020304" pitchFamily="18" charset="0"/>
              </a:rPr>
              <a:t>All these features allow us to make the best visuals of our data and also save time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775182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C2484AE5-8173-40F0-8D17-907A7A2867AA}"/>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204787" y="684610"/>
            <a:ext cx="11336183" cy="5668092"/>
          </a:xfrm>
        </p:spPr>
      </p:pic>
      <p:sp>
        <p:nvSpPr>
          <p:cNvPr id="7" name="TextBox 6">
            <a:extLst>
              <a:ext uri="{FF2B5EF4-FFF2-40B4-BE49-F238E27FC236}">
                <a16:creationId xmlns="" xmlns:a16="http://schemas.microsoft.com/office/drawing/2014/main" id="{DD2BF455-135F-42BA-8715-BBCC0F02D7D3}"/>
              </a:ext>
            </a:extLst>
          </p:cNvPr>
          <p:cNvSpPr txBox="1"/>
          <p:nvPr/>
        </p:nvSpPr>
        <p:spPr>
          <a:xfrm>
            <a:off x="943252" y="6078530"/>
            <a:ext cx="6094520" cy="369332"/>
          </a:xfrm>
          <a:prstGeom prst="rect">
            <a:avLst/>
          </a:prstGeom>
          <a:noFill/>
        </p:spPr>
        <p:txBody>
          <a:bodyPr wrap="square">
            <a:spAutoFit/>
          </a:bodyPr>
          <a:lstStyle/>
          <a:p>
            <a:r>
              <a:rPr lang="en-US" b="0" i="0" u="sng" dirty="0">
                <a:solidFill>
                  <a:srgbClr val="0037EE"/>
                </a:solidFill>
                <a:effectLst/>
                <a:latin typeface="roboto" panose="02000000000000000000" pitchFamily="2" charset="0"/>
                <a:hlinkClick r:id="rId3"/>
              </a:rPr>
              <a:t>Source</a:t>
            </a:r>
            <a:r>
              <a:rPr lang="en-US" b="0" i="0" u="sng" dirty="0">
                <a:solidFill>
                  <a:srgbClr val="0037EE"/>
                </a:solidFill>
                <a:effectLst/>
                <a:latin typeface="roboto" panose="02000000000000000000" pitchFamily="2" charset="0"/>
              </a:rPr>
              <a:t> : AV</a:t>
            </a:r>
            <a:endParaRPr lang="en-US" dirty="0"/>
          </a:p>
        </p:txBody>
      </p:sp>
      <p:sp>
        <p:nvSpPr>
          <p:cNvPr id="9" name="TextBox 8">
            <a:extLst>
              <a:ext uri="{FF2B5EF4-FFF2-40B4-BE49-F238E27FC236}">
                <a16:creationId xmlns="" xmlns:a16="http://schemas.microsoft.com/office/drawing/2014/main" id="{36218574-A121-479A-8508-3B8196ACE835}"/>
              </a:ext>
            </a:extLst>
          </p:cNvPr>
          <p:cNvSpPr txBox="1"/>
          <p:nvPr/>
        </p:nvSpPr>
        <p:spPr>
          <a:xfrm>
            <a:off x="2505722" y="212910"/>
            <a:ext cx="6094520" cy="584775"/>
          </a:xfrm>
          <a:prstGeom prst="rect">
            <a:avLst/>
          </a:prstGeom>
          <a:noFill/>
        </p:spPr>
        <p:txBody>
          <a:bodyPr wrap="square">
            <a:spAutoFit/>
          </a:bodyPr>
          <a:lstStyle/>
          <a:p>
            <a:pPr algn="l"/>
            <a:r>
              <a:rPr lang="en-US" sz="3200" b="1" i="0" dirty="0">
                <a:solidFill>
                  <a:srgbClr val="333333"/>
                </a:solidFill>
                <a:effectLst/>
                <a:latin typeface="poppins"/>
              </a:rPr>
              <a:t>Advantages of Data Visualization:</a:t>
            </a:r>
          </a:p>
        </p:txBody>
      </p:sp>
    </p:spTree>
    <p:extLst>
      <p:ext uri="{BB962C8B-B14F-4D97-AF65-F5344CB8AC3E}">
        <p14:creationId xmlns="" xmlns:p14="http://schemas.microsoft.com/office/powerpoint/2010/main" val="16450174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CF37B89-5FDF-4098-B554-72C55A00C358}"/>
              </a:ext>
            </a:extLst>
          </p:cNvPr>
          <p:cNvSpPr>
            <a:spLocks noGrp="1"/>
          </p:cNvSpPr>
          <p:nvPr>
            <p:ph idx="1"/>
          </p:nvPr>
        </p:nvSpPr>
        <p:spPr>
          <a:xfrm>
            <a:off x="150919" y="168676"/>
            <a:ext cx="11549849" cy="6498454"/>
          </a:xfrm>
        </p:spPr>
        <p:txBody>
          <a:bodyPr>
            <a:normAutofit/>
          </a:bodyPr>
          <a:lstStyle/>
          <a:p>
            <a:pPr>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Easy to understand:</a:t>
            </a:r>
            <a:r>
              <a:rPr lang="en-US" b="0" i="0" dirty="0">
                <a:effectLst/>
                <a:latin typeface="Times New Roman" panose="02020603050405020304" pitchFamily="18" charset="0"/>
                <a:cs typeface="Times New Roman" panose="02020603050405020304" pitchFamily="18" charset="0"/>
              </a:rPr>
              <a:t> Managers and decision-makers use data visualization tools to create plots easily and rapidly consume important metrics.</a:t>
            </a:r>
          </a:p>
          <a:p>
            <a:pPr>
              <a:buFont typeface="Arial" panose="020B0604020202020204" pitchFamily="34" charset="0"/>
              <a:buChar char="•"/>
            </a:pPr>
            <a:r>
              <a:rPr lang="en-US" b="0" i="0" dirty="0" smtClean="0">
                <a:effectLst/>
                <a:latin typeface="Times New Roman" panose="02020603050405020304" pitchFamily="18" charset="0"/>
                <a:cs typeface="Times New Roman" panose="02020603050405020304" pitchFamily="18" charset="0"/>
              </a:rPr>
              <a:t>These </a:t>
            </a:r>
            <a:r>
              <a:rPr lang="en-US" b="0" i="0" dirty="0">
                <a:effectLst/>
                <a:latin typeface="Times New Roman" panose="02020603050405020304" pitchFamily="18" charset="0"/>
                <a:cs typeface="Times New Roman" panose="02020603050405020304" pitchFamily="18" charset="0"/>
              </a:rPr>
              <a:t>metrics show the clear cut growth or loss in business. For example, if Sales are</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significantly going down in one region, decision-makers will easily find out from the data what circumstances or decisions are at present and how to respond to the factors encountered. </a:t>
            </a:r>
          </a:p>
          <a:p>
            <a:pPr>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Through graphical representations</a:t>
            </a:r>
            <a:r>
              <a:rPr lang="en-US" b="0" i="0" dirty="0" smtClean="0">
                <a:effectLst/>
                <a:latin typeface="Times New Roman" panose="02020603050405020304" pitchFamily="18" charset="0"/>
                <a:cs typeface="Times New Roman" panose="02020603050405020304" pitchFamily="18" charset="0"/>
              </a:rPr>
              <a:t>, we </a:t>
            </a:r>
            <a:r>
              <a:rPr lang="en-US" b="0" i="0" dirty="0">
                <a:effectLst/>
                <a:latin typeface="Times New Roman" panose="02020603050405020304" pitchFamily="18" charset="0"/>
                <a:cs typeface="Times New Roman" panose="02020603050405020304" pitchFamily="18" charset="0"/>
              </a:rPr>
              <a:t>can interpret the vast features of data very clearly and cohesively, which allows us to understand the data and to draw conclusions from those insights and see business outlook.</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745315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476" y="926215"/>
            <a:ext cx="10515600" cy="4351338"/>
          </a:xfrm>
        </p:spPr>
        <p:txBody>
          <a:bodyPr>
            <a:normAutofit fontScale="92500" lnSpcReduction="10000"/>
          </a:bodyPr>
          <a:lstStyle/>
          <a:p>
            <a:pPr algn="just">
              <a:buNone/>
            </a:pPr>
            <a:r>
              <a:rPr lang="en-US" b="1" dirty="0">
                <a:latin typeface="Times New Roman" panose="02020603050405020304" pitchFamily="18" charset="0"/>
                <a:cs typeface="Times New Roman" panose="02020603050405020304" pitchFamily="18" charset="0"/>
              </a:rPr>
              <a:t>Quick  Decision Making:</a:t>
            </a:r>
            <a:r>
              <a:rPr lang="en-US" dirty="0">
                <a:latin typeface="Times New Roman" panose="02020603050405020304" pitchFamily="18" charset="0"/>
                <a:cs typeface="Times New Roman" panose="02020603050405020304" pitchFamily="18" charset="0"/>
              </a:rPr>
              <a:t> The Human mind can process visual images faster than texts and numerical values.</a:t>
            </a:r>
          </a:p>
          <a:p>
            <a:pPr algn="just"/>
            <a:r>
              <a:rPr lang="en-US" dirty="0">
                <a:latin typeface="Times New Roman" panose="02020603050405020304" pitchFamily="18" charset="0"/>
                <a:cs typeface="Times New Roman" panose="02020603050405020304" pitchFamily="18" charset="0"/>
              </a:rPr>
              <a:t>Hence, seeing a graph, chart, or other visual and graphical representations of data is more pleasant and easy for our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brain to process.</a:t>
            </a:r>
          </a:p>
          <a:p>
            <a:pPr algn="just"/>
            <a:r>
              <a:rPr lang="en-US" dirty="0">
                <a:latin typeface="Times New Roman" panose="02020603050405020304" pitchFamily="18" charset="0"/>
                <a:cs typeface="Times New Roman" panose="02020603050405020304" pitchFamily="18" charset="0"/>
              </a:rPr>
              <a:t>To read and graph text, and then convert this into a visualization of the data that might not be entirely accurate becomes difficult and time consuming to understand for the team of decision-makers.</a:t>
            </a:r>
          </a:p>
          <a:p>
            <a:pPr algn="just"/>
            <a:r>
              <a:rPr lang="en-US" dirty="0">
                <a:latin typeface="Times New Roman" panose="02020603050405020304" pitchFamily="18" charset="0"/>
                <a:cs typeface="Times New Roman" panose="02020603050405020304" pitchFamily="18" charset="0"/>
              </a:rPr>
              <a:t>It is a good human ability that easily interprets visual data; data visualization completely proves to improve the speed of decision-making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processes. Data visualization always helps to shorten business meetings and efficient decision making.</a:t>
            </a:r>
          </a:p>
          <a:p>
            <a:pPr algn="just"/>
            <a:endParaRPr lang="en-IN" dirty="0"/>
          </a:p>
        </p:txBody>
      </p:sp>
    </p:spTree>
    <p:extLst>
      <p:ext uri="{BB962C8B-B14F-4D97-AF65-F5344CB8AC3E}">
        <p14:creationId xmlns="" xmlns:p14="http://schemas.microsoft.com/office/powerpoint/2010/main" val="3186568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F08DF26-AC95-44A5-99BA-C3A84B2B8F61}"/>
              </a:ext>
            </a:extLst>
          </p:cNvPr>
          <p:cNvSpPr>
            <a:spLocks noGrp="1"/>
          </p:cNvSpPr>
          <p:nvPr>
            <p:ph idx="1"/>
          </p:nvPr>
        </p:nvSpPr>
        <p:spPr>
          <a:xfrm>
            <a:off x="523406" y="749944"/>
            <a:ext cx="10515600" cy="6569475"/>
          </a:xfrm>
        </p:spPr>
        <p:txBody>
          <a:bodyPr>
            <a:normAutofit/>
          </a:bodyPr>
          <a:lstStyle/>
          <a:p>
            <a:pPr algn="just">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Better Analysis:</a:t>
            </a:r>
            <a:r>
              <a:rPr lang="en-US" b="0" i="0" dirty="0">
                <a:effectLst/>
                <a:latin typeface="Times New Roman" panose="02020603050405020304" pitchFamily="18" charset="0"/>
                <a:cs typeface="Times New Roman" panose="02020603050405020304" pitchFamily="18" charset="0"/>
              </a:rPr>
              <a:t> Data visualization plays an important role for business stakeholders to analyze reports of business regarding sales, marketing strategies, and product interest. </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Better analysis can put our focus on the areas that require more attention to improve the strategies that increase profits and make the business more productive.</a:t>
            </a:r>
          </a:p>
          <a:p>
            <a:pPr algn="just">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Identifying patterns:</a:t>
            </a:r>
            <a:r>
              <a:rPr lang="en-US" b="0" i="0" dirty="0">
                <a:effectLst/>
                <a:latin typeface="Times New Roman" panose="02020603050405020304" pitchFamily="18" charset="0"/>
                <a:cs typeface="Times New Roman" panose="02020603050405020304" pitchFamily="18" charset="0"/>
              </a:rPr>
              <a:t> Huge amount of sophisticated data will give several opportunities for insights after we visualize them.</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Visualization permits business users to acknowledge relationships and patterns between the data, also providing bigger meaning to it.</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Exploring these patterns helps users concentrate on specific areas that need attention within the data, to establish the importance of these areas to drive their business forward.</a:t>
            </a:r>
          </a:p>
          <a:p>
            <a:pPr marL="0" indent="0">
              <a:buNone/>
            </a:pPr>
            <a:endParaRPr lang="en-US" dirty="0"/>
          </a:p>
        </p:txBody>
      </p:sp>
    </p:spTree>
    <p:extLst>
      <p:ext uri="{BB962C8B-B14F-4D97-AF65-F5344CB8AC3E}">
        <p14:creationId xmlns="" xmlns:p14="http://schemas.microsoft.com/office/powerpoint/2010/main" val="25156955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7286"/>
            <a:ext cx="10515600" cy="6217920"/>
          </a:xfrm>
        </p:spPr>
        <p:txBody>
          <a:bodyPr>
            <a:normAutofit fontScale="92500"/>
          </a:bodyPr>
          <a:lstStyle/>
          <a:p>
            <a:pPr algn="just"/>
            <a:r>
              <a:rPr lang="en-US" b="1" dirty="0">
                <a:latin typeface="Times New Roman" panose="02020603050405020304" pitchFamily="18" charset="0"/>
                <a:cs typeface="Times New Roman" panose="02020603050405020304" pitchFamily="18" charset="0"/>
              </a:rPr>
              <a:t>Detecting Errors:</a:t>
            </a:r>
            <a:r>
              <a:rPr lang="en-US" dirty="0">
                <a:latin typeface="Times New Roman" panose="02020603050405020304" pitchFamily="18" charset="0"/>
                <a:cs typeface="Times New Roman" panose="02020603050405020304" pitchFamily="18" charset="0"/>
              </a:rPr>
              <a:t> Visualizing our data helps quickly determine any errors within the data. </a:t>
            </a:r>
          </a:p>
          <a:p>
            <a:pPr algn="just"/>
            <a:r>
              <a:rPr lang="en-US" dirty="0">
                <a:latin typeface="Times New Roman" panose="02020603050405020304" pitchFamily="18" charset="0"/>
                <a:cs typeface="Times New Roman" panose="02020603050405020304" pitchFamily="18" charset="0"/>
              </a:rPr>
              <a:t>If the data tend to counsel the incorrect actions, visualization facilitates detecting inaccurate data sooner so it will be off from the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analysis</a:t>
            </a:r>
            <a:r>
              <a:rPr lang="en-US"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Exploring business insights:</a:t>
            </a:r>
            <a:r>
              <a:rPr lang="en-US" dirty="0">
                <a:latin typeface="Times New Roman" panose="02020603050405020304" pitchFamily="18" charset="0"/>
                <a:cs typeface="Times New Roman" panose="02020603050405020304" pitchFamily="18" charset="0"/>
              </a:rPr>
              <a:t> Within the current competitive business atmosphere, finding data correlations using visual representations is essential to characterize business insights.</a:t>
            </a:r>
          </a:p>
          <a:p>
            <a:r>
              <a:rPr lang="en-US" dirty="0">
                <a:latin typeface="Times New Roman" panose="02020603050405020304" pitchFamily="18" charset="0"/>
                <a:cs typeface="Times New Roman" panose="02020603050405020304" pitchFamily="18" charset="0"/>
              </a:rPr>
              <a:t>Exploring these insights is very important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business users or executives to line up the correct path to achieving the business goals.</a:t>
            </a:r>
          </a:p>
          <a:p>
            <a:r>
              <a:rPr lang="en-US" b="1" dirty="0">
                <a:latin typeface="Times New Roman" panose="02020603050405020304" pitchFamily="18" charset="0"/>
                <a:cs typeface="Times New Roman" panose="02020603050405020304" pitchFamily="18" charset="0"/>
              </a:rPr>
              <a:t>Efficient Storytelling:</a:t>
            </a:r>
            <a:r>
              <a:rPr lang="en-US" dirty="0">
                <a:latin typeface="Times New Roman" panose="02020603050405020304" pitchFamily="18" charset="0"/>
                <a:cs typeface="Times New Roman" panose="02020603050405020304" pitchFamily="18" charset="0"/>
              </a:rPr>
              <a:t> Data visualizations are acknowledged because of the method of displaying data to produce insights that will support better decisions i.e., telling the story behind the data. It can offer factors, raise and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draw attention to crucial insights and visually beat the other’s business.</a:t>
            </a:r>
          </a:p>
          <a:p>
            <a:pPr algn="just"/>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23623791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A82CF7C-2E93-494B-AFE6-5C060493573F}"/>
              </a:ext>
            </a:extLst>
          </p:cNvPr>
          <p:cNvSpPr>
            <a:spLocks noGrp="1"/>
          </p:cNvSpPr>
          <p:nvPr>
            <p:ph idx="1"/>
          </p:nvPr>
        </p:nvSpPr>
        <p:spPr>
          <a:xfrm>
            <a:off x="492368" y="1066004"/>
            <a:ext cx="11288299" cy="6454066"/>
          </a:xfrm>
        </p:spPr>
        <p:txBody>
          <a:bodyPr>
            <a:normAutofit/>
          </a:bodyPr>
          <a:lstStyle/>
          <a:p>
            <a:pPr>
              <a:buFont typeface="Arial" panose="020B0604020202020204" pitchFamily="34" charset="0"/>
              <a:buChar char="•"/>
            </a:pPr>
            <a:r>
              <a:rPr lang="en-US" b="1" i="0" dirty="0" smtClean="0">
                <a:effectLst/>
                <a:latin typeface="Times New Roman" panose="02020603050405020304" pitchFamily="18" charset="0"/>
                <a:cs typeface="Times New Roman" panose="02020603050405020304" pitchFamily="18" charset="0"/>
              </a:rPr>
              <a:t>Discovery </a:t>
            </a:r>
            <a:r>
              <a:rPr lang="en-US" b="1" i="0" dirty="0">
                <a:effectLst/>
                <a:latin typeface="Times New Roman" panose="02020603050405020304" pitchFamily="18" charset="0"/>
                <a:cs typeface="Times New Roman" panose="02020603050405020304" pitchFamily="18" charset="0"/>
              </a:rPr>
              <a:t>of Latest Trends within the Market:</a:t>
            </a:r>
            <a:r>
              <a:rPr lang="en-US" b="0" i="0" dirty="0">
                <a:effectLst/>
                <a:latin typeface="Times New Roman" panose="02020603050405020304" pitchFamily="18" charset="0"/>
                <a:cs typeface="Times New Roman" panose="02020603050405020304" pitchFamily="18" charset="0"/>
              </a:rPr>
              <a:t> Using data visualization, we’ll be able to discover the most recent trends in your business to produce a quality product and determine issues before they arise. </a:t>
            </a:r>
            <a:endParaRPr lang="en-US" b="0" i="0" dirty="0" smtClean="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smtClean="0">
                <a:effectLst/>
                <a:latin typeface="Times New Roman" panose="02020603050405020304" pitchFamily="18" charset="0"/>
                <a:cs typeface="Times New Roman" panose="02020603050405020304" pitchFamily="18" charset="0"/>
              </a:rPr>
              <a:t>Staying </a:t>
            </a:r>
            <a:r>
              <a:rPr lang="en-US" b="0" i="0" dirty="0">
                <a:effectLst/>
                <a:latin typeface="Times New Roman" panose="02020603050405020304" pitchFamily="18" charset="0"/>
                <a:cs typeface="Times New Roman" panose="02020603050405020304" pitchFamily="18" charset="0"/>
              </a:rPr>
              <a:t>on high </a:t>
            </a:r>
            <a:r>
              <a:rPr lang="en-US" b="0" i="0" dirty="0" smtClean="0">
                <a:effectLst/>
                <a:latin typeface="Times New Roman" panose="02020603050405020304" pitchFamily="18" charset="0"/>
                <a:cs typeface="Times New Roman" panose="02020603050405020304" pitchFamily="18" charset="0"/>
              </a:rPr>
              <a:t>of trends</a:t>
            </a:r>
            <a:r>
              <a:rPr lang="en-US" b="0" i="0" dirty="0">
                <a:effectLst/>
                <a:latin typeface="Times New Roman" panose="02020603050405020304" pitchFamily="18" charset="0"/>
                <a:cs typeface="Times New Roman" panose="02020603050405020304" pitchFamily="18" charset="0"/>
              </a:rPr>
              <a:t>, we’ll be able to place a lot of effort into augmented profits for our business.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934359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5DEA0F0-149C-425D-BF62-6781952251CC}"/>
              </a:ext>
            </a:extLst>
          </p:cNvPr>
          <p:cNvSpPr>
            <a:spLocks noGrp="1"/>
          </p:cNvSpPr>
          <p:nvPr>
            <p:ph idx="1"/>
          </p:nvPr>
        </p:nvSpPr>
        <p:spPr>
          <a:xfrm>
            <a:off x="213064" y="186431"/>
            <a:ext cx="11140736" cy="6158098"/>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Data Visualization with Pandas:</a:t>
            </a:r>
          </a:p>
          <a:p>
            <a:pPr algn="just"/>
            <a:r>
              <a:rPr lang="en-US" b="0" i="0" dirty="0">
                <a:effectLst/>
                <a:latin typeface="Times New Roman" panose="02020603050405020304" pitchFamily="18" charset="0"/>
                <a:cs typeface="Times New Roman" panose="02020603050405020304" pitchFamily="18" charset="0"/>
              </a:rPr>
              <a:t>Pandas library in python is mainly used for data analysis.</a:t>
            </a:r>
          </a:p>
          <a:p>
            <a:pPr algn="just"/>
            <a:r>
              <a:rPr lang="en-US" b="0" i="0" dirty="0">
                <a:effectLst/>
                <a:latin typeface="Times New Roman" panose="02020603050405020304" pitchFamily="18" charset="0"/>
                <a:cs typeface="Times New Roman" panose="02020603050405020304" pitchFamily="18" charset="0"/>
              </a:rPr>
              <a:t> It is not a data visualization library but, we can create basic plots using Pandas. </a:t>
            </a:r>
          </a:p>
          <a:p>
            <a:pPr algn="just"/>
            <a:r>
              <a:rPr lang="en-US" b="0" i="0" dirty="0">
                <a:effectLst/>
                <a:latin typeface="Times New Roman" panose="02020603050405020304" pitchFamily="18" charset="0"/>
                <a:cs typeface="Times New Roman" panose="02020603050405020304" pitchFamily="18" charset="0"/>
              </a:rPr>
              <a:t>Pandas is highly useful and practical if we want to create exploratory data analysis plots. </a:t>
            </a:r>
          </a:p>
          <a:p>
            <a:pPr algn="just"/>
            <a:r>
              <a:rPr lang="en-US" b="0" i="0" dirty="0" smtClean="0">
                <a:effectLst/>
                <a:latin typeface="Times New Roman" panose="02020603050405020304" pitchFamily="18" charset="0"/>
                <a:cs typeface="Times New Roman" panose="02020603050405020304" pitchFamily="18" charset="0"/>
              </a:rPr>
              <a:t>As </a:t>
            </a:r>
            <a:r>
              <a:rPr lang="en-US" b="0" i="0" dirty="0">
                <a:effectLst/>
                <a:latin typeface="Times New Roman" panose="02020603050405020304" pitchFamily="18" charset="0"/>
                <a:cs typeface="Times New Roman" panose="02020603050405020304" pitchFamily="18" charset="0"/>
              </a:rPr>
              <a:t>Pandas is Python’s popular data analysis library, it provides several different functions to visualizing our data with the help of the .plot() function. </a:t>
            </a:r>
          </a:p>
          <a:p>
            <a:pPr algn="just"/>
            <a:r>
              <a:rPr lang="en-US" b="0" i="0" dirty="0">
                <a:effectLst/>
                <a:latin typeface="Times New Roman" panose="02020603050405020304" pitchFamily="18" charset="0"/>
                <a:cs typeface="Times New Roman" panose="02020603050405020304" pitchFamily="18" charset="0"/>
              </a:rPr>
              <a:t>There is one more advantage of using Pandas for visualization is we can serialize or create a pipeline of data analysis functions and plotting functions. It simplifies the </a:t>
            </a:r>
            <a:r>
              <a:rPr lang="en-US" b="0" i="0" dirty="0" smtClean="0">
                <a:effectLst/>
                <a:latin typeface="Times New Roman" panose="02020603050405020304" pitchFamily="18" charset="0"/>
                <a:cs typeface="Times New Roman" panose="02020603050405020304" pitchFamily="18" charset="0"/>
              </a:rPr>
              <a:t>task</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247316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166BC74-075B-46DC-9307-1717475E43AD}"/>
              </a:ext>
            </a:extLst>
          </p:cNvPr>
          <p:cNvSpPr>
            <a:spLocks noGrp="1"/>
          </p:cNvSpPr>
          <p:nvPr>
            <p:ph idx="1"/>
          </p:nvPr>
        </p:nvSpPr>
        <p:spPr>
          <a:xfrm>
            <a:off x="71021" y="520505"/>
            <a:ext cx="11851690" cy="5809958"/>
          </a:xfrm>
        </p:spPr>
        <p:txBody>
          <a:bodyPr>
            <a:normAutofit/>
          </a:bodyPr>
          <a:lstStyle/>
          <a:p>
            <a:pPr marL="0" indent="0">
              <a:buNone/>
            </a:pPr>
            <a:r>
              <a:rPr lang="en-US" b="1" i="0" dirty="0">
                <a:effectLst/>
                <a:latin typeface="Times New Roman" panose="02020603050405020304" pitchFamily="18" charset="0"/>
                <a:cs typeface="Times New Roman" panose="02020603050405020304" pitchFamily="18" charset="0"/>
              </a:rPr>
              <a:t>Libraries for Data Visualization in Python</a:t>
            </a:r>
          </a:p>
          <a:p>
            <a:pPr marL="0" indent="0">
              <a:buNone/>
            </a:pPr>
            <a:r>
              <a:rPr lang="en-US" b="0" i="0" dirty="0">
                <a:effectLst/>
                <a:latin typeface="Times New Roman" panose="02020603050405020304" pitchFamily="18" charset="0"/>
                <a:cs typeface="Times New Roman" panose="02020603050405020304" pitchFamily="18" charset="0"/>
              </a:rPr>
              <a:t>As they said a picture is better than a thousand words, executives and non-tech decision-makers heavily rely on and prefer visualizations and infographics to understand the underlying business insights and convey/pitch to the stakeholder. </a:t>
            </a:r>
          </a:p>
          <a:p>
            <a:pPr marL="0" indent="0">
              <a:buNone/>
            </a:pPr>
            <a:r>
              <a:rPr lang="en-US" b="0" i="0" dirty="0">
                <a:effectLst/>
                <a:latin typeface="Times New Roman" panose="02020603050405020304" pitchFamily="18" charset="0"/>
                <a:cs typeface="Times New Roman" panose="02020603050405020304" pitchFamily="18" charset="0"/>
              </a:rPr>
              <a:t>Data-driven decision making is making its way to the top and we need to make sure to stay upbeat with the tools for the art.</a:t>
            </a:r>
          </a:p>
          <a:p>
            <a:pPr marL="0" indent="0" algn="l">
              <a:buNone/>
            </a:pPr>
            <a:r>
              <a:rPr lang="en-US" b="1" u="sng" dirty="0" smtClean="0">
                <a:latin typeface="Times New Roman" panose="02020603050405020304" pitchFamily="18" charset="0"/>
                <a:cs typeface="Times New Roman" panose="02020603050405020304" pitchFamily="18" charset="0"/>
              </a:rPr>
              <a:t>M</a:t>
            </a:r>
            <a:r>
              <a:rPr lang="en-US" b="1" i="0" u="sng" dirty="0" smtClean="0">
                <a:effectLst/>
                <a:latin typeface="Times New Roman" panose="02020603050405020304" pitchFamily="18" charset="0"/>
                <a:cs typeface="Times New Roman" panose="02020603050405020304" pitchFamily="18" charset="0"/>
              </a:rPr>
              <a:t>atplotlib:</a:t>
            </a:r>
            <a:endParaRPr lang="en-US" b="1" i="0" u="sng" dirty="0">
              <a:effectLst/>
              <a:latin typeface="Times New Roman" panose="02020603050405020304" pitchFamily="18" charset="0"/>
              <a:cs typeface="Times New Roman" panose="02020603050405020304" pitchFamily="18" charset="0"/>
            </a:endParaRPr>
          </a:p>
          <a:p>
            <a:pPr algn="l"/>
            <a:r>
              <a:rPr lang="en-US" b="0" i="0" dirty="0">
                <a:effectLst/>
                <a:latin typeface="Times New Roman" panose="02020603050405020304" pitchFamily="18" charset="0"/>
                <a:cs typeface="Times New Roman" panose="02020603050405020304" pitchFamily="18" charset="0"/>
              </a:rPr>
              <a:t>The  Python library, to create stories with data. Another library from the SciPy Stack, Matplotlib plots 2D figures mainly.</a:t>
            </a:r>
          </a:p>
          <a:p>
            <a:pPr marL="0" indent="0" algn="l">
              <a:buNone/>
            </a:pPr>
            <a:r>
              <a:rPr lang="en-US" b="0" i="1" dirty="0">
                <a:effectLst/>
                <a:latin typeface="Times New Roman" panose="02020603050405020304" pitchFamily="18" charset="0"/>
                <a:cs typeface="Times New Roman" panose="02020603050405020304" pitchFamily="18" charset="0"/>
              </a:rPr>
              <a:t>When to use?</a:t>
            </a:r>
            <a:br>
              <a:rPr lang="en-US" b="0" i="1"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Matplotlib is the quintessential plotting library for Python that provides an object-oriented API for embedding plots into project files or applications</a:t>
            </a:r>
            <a:r>
              <a:rPr lang="en-US" b="0" i="0" dirty="0" smtClean="0">
                <a:effectLst/>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70410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C846166-2881-468F-A6E8-16B68278F218}"/>
              </a:ext>
            </a:extLst>
          </p:cNvPr>
          <p:cNvSpPr>
            <a:spLocks noGrp="1"/>
          </p:cNvSpPr>
          <p:nvPr>
            <p:ph idx="1"/>
          </p:nvPr>
        </p:nvSpPr>
        <p:spPr>
          <a:xfrm>
            <a:off x="79899" y="248574"/>
            <a:ext cx="11273901" cy="6365289"/>
          </a:xfrm>
        </p:spPr>
        <p:txBody>
          <a:bodyPr/>
          <a:lstStyle/>
          <a:p>
            <a:pPr marL="0" indent="0" algn="l">
              <a:buNone/>
            </a:pPr>
            <a:r>
              <a:rPr lang="en-US" b="0" i="0" dirty="0">
                <a:effectLst/>
                <a:latin typeface="Times New Roman" panose="02020603050405020304" pitchFamily="18" charset="0"/>
                <a:cs typeface="Times New Roman" panose="02020603050405020304" pitchFamily="18" charset="0"/>
              </a:rPr>
              <a:t>What can you do with Matplotlib?</a:t>
            </a:r>
          </a:p>
          <a:p>
            <a:pPr algn="l"/>
            <a:r>
              <a:rPr lang="en-US" b="0" i="0" dirty="0">
                <a:effectLst/>
                <a:latin typeface="Times New Roman" panose="02020603050405020304" pitchFamily="18" charset="0"/>
                <a:cs typeface="Times New Roman" panose="02020603050405020304" pitchFamily="18" charset="0"/>
              </a:rPr>
              <a:t>Histogram, </a:t>
            </a:r>
          </a:p>
          <a:p>
            <a:pPr algn="l"/>
            <a:r>
              <a:rPr lang="en-US" dirty="0">
                <a:latin typeface="Times New Roman" panose="02020603050405020304" pitchFamily="18" charset="0"/>
                <a:cs typeface="Times New Roman" panose="02020603050405020304" pitchFamily="18" charset="0"/>
              </a:rPr>
              <a:t>B</a:t>
            </a:r>
            <a:r>
              <a:rPr lang="en-US" b="0" i="0" dirty="0" smtClean="0">
                <a:effectLst/>
                <a:latin typeface="Times New Roman" panose="02020603050405020304" pitchFamily="18" charset="0"/>
                <a:cs typeface="Times New Roman" panose="02020603050405020304" pitchFamily="18" charset="0"/>
              </a:rPr>
              <a:t>ar </a:t>
            </a:r>
            <a:r>
              <a:rPr lang="en-US" b="0" i="0" dirty="0">
                <a:effectLst/>
                <a:latin typeface="Times New Roman" panose="02020603050405020304" pitchFamily="18" charset="0"/>
                <a:cs typeface="Times New Roman" panose="02020603050405020304" pitchFamily="18" charset="0"/>
              </a:rPr>
              <a:t>plots,</a:t>
            </a:r>
          </a:p>
          <a:p>
            <a:pPr algn="l"/>
            <a:r>
              <a:rPr lang="en-US" b="0" i="0" dirty="0" smtClean="0">
                <a:effectLst/>
                <a:latin typeface="Times New Roman" panose="02020603050405020304" pitchFamily="18" charset="0"/>
                <a:cs typeface="Times New Roman" panose="02020603050405020304" pitchFamily="18" charset="0"/>
              </a:rPr>
              <a:t>Scatter </a:t>
            </a:r>
            <a:r>
              <a:rPr lang="en-US" b="0" i="0" dirty="0">
                <a:effectLst/>
                <a:latin typeface="Times New Roman" panose="02020603050405020304" pitchFamily="18" charset="0"/>
                <a:cs typeface="Times New Roman" panose="02020603050405020304" pitchFamily="18" charset="0"/>
              </a:rPr>
              <a:t>plots</a:t>
            </a:r>
          </a:p>
          <a:p>
            <a:pPr algn="l"/>
            <a:r>
              <a:rPr lang="en-US" dirty="0">
                <a:latin typeface="Times New Roman" panose="02020603050405020304" pitchFamily="18" charset="0"/>
                <a:cs typeface="Times New Roman" panose="02020603050405020304" pitchFamily="18" charset="0"/>
              </a:rPr>
              <a:t>A</a:t>
            </a:r>
            <a:r>
              <a:rPr lang="en-US" b="0" i="0" dirty="0" smtClean="0">
                <a:effectLst/>
                <a:latin typeface="Times New Roman" panose="02020603050405020304" pitchFamily="18" charset="0"/>
                <a:cs typeface="Times New Roman" panose="02020603050405020304" pitchFamily="18" charset="0"/>
              </a:rPr>
              <a:t>rea </a:t>
            </a:r>
            <a:r>
              <a:rPr lang="en-US" b="0" i="0" dirty="0">
                <a:effectLst/>
                <a:latin typeface="Times New Roman" panose="02020603050405020304" pitchFamily="18" charset="0"/>
                <a:cs typeface="Times New Roman" panose="02020603050405020304" pitchFamily="18" charset="0"/>
              </a:rPr>
              <a:t>plot</a:t>
            </a:r>
          </a:p>
          <a:p>
            <a:pPr algn="l"/>
            <a:r>
              <a:rPr lang="en-US" b="0" i="0" dirty="0" smtClean="0">
                <a:effectLst/>
                <a:latin typeface="Times New Roman" panose="02020603050405020304" pitchFamily="18" charset="0"/>
                <a:cs typeface="Times New Roman" panose="02020603050405020304" pitchFamily="18" charset="0"/>
              </a:rPr>
              <a:t>Pie charts,</a:t>
            </a:r>
            <a:endParaRPr lang="en-US" b="0" i="0" dirty="0">
              <a:effectLst/>
              <a:latin typeface="Times New Roman" panose="02020603050405020304" pitchFamily="18" charset="0"/>
              <a:cs typeface="Times New Roman" panose="02020603050405020304" pitchFamily="18" charset="0"/>
            </a:endParaRPr>
          </a:p>
          <a:p>
            <a:pPr algn="l">
              <a:buNone/>
            </a:pPr>
            <a:r>
              <a:rPr lang="en-US" b="0" i="0" dirty="0" smtClean="0">
                <a:effectLst/>
                <a:latin typeface="Times New Roman" panose="02020603050405020304" pitchFamily="18" charset="0"/>
                <a:cs typeface="Times New Roman" panose="02020603050405020304" pitchFamily="18" charset="0"/>
              </a:rPr>
              <a:t>Matplotlib </a:t>
            </a:r>
            <a:r>
              <a:rPr lang="en-US" b="0" i="0" dirty="0">
                <a:effectLst/>
                <a:latin typeface="Times New Roman" panose="02020603050405020304" pitchFamily="18" charset="0"/>
                <a:cs typeface="Times New Roman" panose="02020603050405020304" pitchFamily="18" charset="0"/>
              </a:rPr>
              <a:t>can depict a wide range of 2D visualizations.</a:t>
            </a:r>
          </a:p>
          <a:p>
            <a:pPr marL="0" indent="0" algn="l">
              <a:buNone/>
            </a:pPr>
            <a:r>
              <a:rPr lang="en-US" b="0" i="0" dirty="0">
                <a:effectLst/>
                <a:latin typeface="Times New Roman" panose="02020603050405020304" pitchFamily="18" charset="0"/>
                <a:cs typeface="Times New Roman" panose="02020603050405020304" pitchFamily="18" charset="0"/>
              </a:rPr>
              <a:t>Matplotlib also facilitates labels, grids, legends, and some more formatting </a:t>
            </a:r>
            <a:r>
              <a:rPr lang="en-US" b="0" i="0" dirty="0" smtClean="0">
                <a:effectLst/>
                <a:latin typeface="Times New Roman" panose="02020603050405020304" pitchFamily="18" charset="0"/>
                <a:cs typeface="Times New Roman" panose="02020603050405020304" pitchFamily="18" charset="0"/>
              </a:rPr>
              <a:t>entities. </a:t>
            </a:r>
            <a:r>
              <a:rPr lang="en-US" b="0" i="0" dirty="0">
                <a:effectLst/>
                <a:latin typeface="Times New Roman" panose="02020603050405020304" pitchFamily="18" charset="0"/>
                <a:cs typeface="Times New Roman" panose="02020603050405020304" pitchFamily="18" charset="0"/>
              </a:rPr>
              <a:t>Basically, everything that can be drawn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699336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D383BDB-FDCD-4510-A93A-CC7161FA6E0A}"/>
              </a:ext>
            </a:extLst>
          </p:cNvPr>
          <p:cNvSpPr>
            <a:spLocks noGrp="1"/>
          </p:cNvSpPr>
          <p:nvPr>
            <p:ph idx="1"/>
          </p:nvPr>
        </p:nvSpPr>
        <p:spPr>
          <a:xfrm>
            <a:off x="186431" y="97654"/>
            <a:ext cx="11167369" cy="6622742"/>
          </a:xfrm>
        </p:spPr>
        <p:txBody>
          <a:bodyPr>
            <a:normAutofit fontScale="92500" lnSpcReduction="10000"/>
          </a:bodyPr>
          <a:lstStyle/>
          <a:p>
            <a:pPr marL="0" indent="0" algn="l">
              <a:buNone/>
            </a:pPr>
            <a:r>
              <a:rPr lang="en-US" b="0" i="0" dirty="0">
                <a:effectLst/>
                <a:latin typeface="Times New Roman" panose="02020603050405020304" pitchFamily="18" charset="0"/>
                <a:cs typeface="Times New Roman" panose="02020603050405020304" pitchFamily="18" charset="0"/>
              </a:rPr>
              <a:t>Seaborn</a:t>
            </a:r>
          </a:p>
          <a:p>
            <a:pPr algn="l"/>
            <a:r>
              <a:rPr lang="en-US" b="0" i="0" dirty="0">
                <a:effectLst/>
                <a:latin typeface="Times New Roman" panose="02020603050405020304" pitchFamily="18" charset="0"/>
                <a:cs typeface="Times New Roman" panose="02020603050405020304" pitchFamily="18" charset="0"/>
              </a:rPr>
              <a:t>it is defined as the data visualization library based on Matplotlib that provides a high-level interface for drawing attractive and informative statistical graphics. </a:t>
            </a:r>
          </a:p>
          <a:p>
            <a:pPr algn="l"/>
            <a:r>
              <a:rPr lang="en-US" b="0" i="0" dirty="0">
                <a:effectLst/>
                <a:latin typeface="Times New Roman" panose="02020603050405020304" pitchFamily="18" charset="0"/>
                <a:cs typeface="Times New Roman" panose="02020603050405020304" pitchFamily="18" charset="0"/>
              </a:rPr>
              <a:t>Putting it simply, </a:t>
            </a:r>
            <a:r>
              <a:rPr lang="en-US" b="0" i="1" dirty="0">
                <a:effectLst/>
                <a:latin typeface="Times New Roman" panose="02020603050405020304" pitchFamily="18" charset="0"/>
                <a:cs typeface="Times New Roman" panose="02020603050405020304" pitchFamily="18" charset="0"/>
              </a:rPr>
              <a:t>seaborn </a:t>
            </a:r>
            <a:r>
              <a:rPr lang="en-US" b="0" i="0" dirty="0">
                <a:effectLst/>
                <a:latin typeface="Times New Roman" panose="02020603050405020304" pitchFamily="18" charset="0"/>
                <a:cs typeface="Times New Roman" panose="02020603050405020304" pitchFamily="18" charset="0"/>
              </a:rPr>
              <a:t>is an extension of Matplotlib with advanced features.</a:t>
            </a:r>
          </a:p>
          <a:p>
            <a:pPr algn="l"/>
            <a:r>
              <a:rPr lang="en-US" b="0" i="0" dirty="0">
                <a:effectLst/>
                <a:latin typeface="Times New Roman" panose="02020603050405020304" pitchFamily="18" charset="0"/>
                <a:cs typeface="Times New Roman" panose="02020603050405020304" pitchFamily="18" charset="0"/>
              </a:rPr>
              <a:t>what is the difference between Matplotlib and Seaborn?</a:t>
            </a:r>
          </a:p>
          <a:p>
            <a:pPr marL="0" indent="0" algn="l">
              <a:buNone/>
            </a:pPr>
            <a:r>
              <a:rPr lang="en-US" b="0" i="0" dirty="0">
                <a:effectLst/>
                <a:latin typeface="Times New Roman" panose="02020603050405020304" pitchFamily="18" charset="0"/>
                <a:cs typeface="Times New Roman" panose="02020603050405020304" pitchFamily="18" charset="0"/>
              </a:rPr>
              <a:t/>
            </a:r>
            <a:br>
              <a:rPr lang="en-US" b="0" i="0" dirty="0">
                <a:effectLst/>
                <a:latin typeface="Times New Roman" panose="02020603050405020304" pitchFamily="18" charset="0"/>
                <a:cs typeface="Times New Roman" panose="02020603050405020304" pitchFamily="18" charset="0"/>
              </a:rPr>
            </a:br>
            <a:r>
              <a:rPr lang="en-US" b="0" i="1" dirty="0">
                <a:effectLst/>
                <a:latin typeface="Times New Roman" panose="02020603050405020304" pitchFamily="18" charset="0"/>
                <a:cs typeface="Times New Roman" panose="02020603050405020304" pitchFamily="18" charset="0"/>
              </a:rPr>
              <a:t>Matplotlib</a:t>
            </a:r>
            <a:r>
              <a:rPr lang="en-US" b="0" i="0" dirty="0">
                <a:effectLst/>
                <a:latin typeface="Times New Roman" panose="02020603050405020304" pitchFamily="18" charset="0"/>
                <a:cs typeface="Times New Roman" panose="02020603050405020304" pitchFamily="18" charset="0"/>
              </a:rPr>
              <a:t> is used for basic plotting; bars, pies, lines, scatter plots and stuff whereas, </a:t>
            </a:r>
            <a:r>
              <a:rPr lang="en-US" b="0" i="1" dirty="0">
                <a:effectLst/>
                <a:latin typeface="Times New Roman" panose="02020603050405020304" pitchFamily="18" charset="0"/>
                <a:cs typeface="Times New Roman" panose="02020603050405020304" pitchFamily="18" charset="0"/>
              </a:rPr>
              <a:t>seaborn </a:t>
            </a:r>
            <a:r>
              <a:rPr lang="en-US" b="0" i="0" dirty="0">
                <a:effectLst/>
                <a:latin typeface="Times New Roman" panose="02020603050405020304" pitchFamily="18" charset="0"/>
                <a:cs typeface="Times New Roman" panose="02020603050405020304" pitchFamily="18" charset="0"/>
              </a:rPr>
              <a:t>provides a variety of advanced visualization patterns with less complex and fewer syntax.</a:t>
            </a:r>
          </a:p>
          <a:p>
            <a:pPr marL="0" indent="0" algn="l">
              <a:buNone/>
            </a:pPr>
            <a:r>
              <a:rPr lang="en-US" b="0" i="0" dirty="0">
                <a:effectLst/>
                <a:latin typeface="Times New Roman" panose="02020603050405020304" pitchFamily="18" charset="0"/>
                <a:cs typeface="Times New Roman" panose="02020603050405020304" pitchFamily="18" charset="0"/>
              </a:rPr>
              <a:t>What can you do with Seaborn?</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Determine relationships between multiple variables (correlation)</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Observe categorical variables for aggregate statistics</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Analyze </a:t>
            </a:r>
            <a:r>
              <a:rPr lang="en-US" b="0" i="0" dirty="0" err="1">
                <a:effectLst/>
                <a:latin typeface="Times New Roman" panose="02020603050405020304" pitchFamily="18" charset="0"/>
                <a:cs typeface="Times New Roman" panose="02020603050405020304" pitchFamily="18" charset="0"/>
              </a:rPr>
              <a:t>uni</a:t>
            </a:r>
            <a:r>
              <a:rPr lang="en-US" b="0" i="0" dirty="0">
                <a:effectLst/>
                <a:latin typeface="Times New Roman" panose="02020603050405020304" pitchFamily="18" charset="0"/>
                <a:cs typeface="Times New Roman" panose="02020603050405020304" pitchFamily="18" charset="0"/>
              </a:rPr>
              <a:t>-variate or bi-variate distributions and compare them between different data subsets</a:t>
            </a:r>
          </a:p>
          <a:p>
            <a:pPr algn="l">
              <a:buFont typeface="+mj-lt"/>
              <a:buAutoNum type="arabicPeriod"/>
            </a:pPr>
            <a:r>
              <a:rPr lang="en-US" b="0" i="0" dirty="0">
                <a:effectLst/>
                <a:latin typeface="Times New Roman" panose="02020603050405020304" pitchFamily="18" charset="0"/>
                <a:cs typeface="Times New Roman" panose="02020603050405020304" pitchFamily="18" charset="0"/>
              </a:rPr>
              <a:t>Plot linear regression models for dependent variables</a:t>
            </a:r>
          </a:p>
          <a:p>
            <a:pPr>
              <a:buFont typeface="+mj-lt"/>
              <a:buAutoNum type="arabicPeriod"/>
            </a:pPr>
            <a:r>
              <a:rPr lang="en-US" b="0" i="0" dirty="0">
                <a:effectLst/>
                <a:latin typeface="Times New Roman" panose="02020603050405020304" pitchFamily="18" charset="0"/>
                <a:cs typeface="Times New Roman" panose="02020603050405020304" pitchFamily="18" charset="0"/>
              </a:rPr>
              <a:t>Provide high-level abstractions, multi-plot </a:t>
            </a:r>
            <a:r>
              <a:rPr lang="en-US" b="0" i="0" dirty="0" smtClean="0">
                <a:effectLst/>
                <a:latin typeface="Times New Roman" panose="02020603050405020304" pitchFamily="18" charset="0"/>
                <a:cs typeface="Times New Roman" panose="02020603050405020304" pitchFamily="18" charset="0"/>
              </a:rPr>
              <a:t>grids</a:t>
            </a:r>
            <a:endParaRPr lang="en-US" b="0" i="0" dirty="0">
              <a:effectLst/>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1664002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3CB0686-16F8-40EA-92D9-576A268E6F43}"/>
              </a:ext>
            </a:extLst>
          </p:cNvPr>
          <p:cNvSpPr>
            <a:spLocks noGrp="1"/>
          </p:cNvSpPr>
          <p:nvPr>
            <p:ph idx="1"/>
          </p:nvPr>
        </p:nvSpPr>
        <p:spPr>
          <a:xfrm>
            <a:off x="177553" y="1041009"/>
            <a:ext cx="11807301" cy="5176912"/>
          </a:xfrm>
        </p:spPr>
        <p:txBody>
          <a:bodyPr>
            <a:normAutofit/>
          </a:bodyPr>
          <a:lstStyle/>
          <a:p>
            <a:pPr marL="0" indent="0" algn="l">
              <a:buNone/>
            </a:pPr>
            <a:r>
              <a:rPr lang="en-US" b="0" i="0" dirty="0" err="1">
                <a:effectLst/>
                <a:latin typeface="Times New Roman" panose="02020603050405020304" pitchFamily="18" charset="0"/>
                <a:cs typeface="Times New Roman" panose="02020603050405020304" pitchFamily="18" charset="0"/>
              </a:rPr>
              <a:t>Plotly</a:t>
            </a:r>
            <a:endParaRPr lang="en-US" b="0" i="0" dirty="0">
              <a:effectLst/>
              <a:latin typeface="Times New Roman" panose="02020603050405020304" pitchFamily="18" charset="0"/>
              <a:cs typeface="Times New Roman" panose="02020603050405020304" pitchFamily="18" charset="0"/>
            </a:endParaRPr>
          </a:p>
          <a:p>
            <a:pPr algn="l"/>
            <a:r>
              <a:rPr lang="en-US" b="0" i="0" dirty="0" err="1">
                <a:effectLst/>
                <a:latin typeface="Times New Roman" panose="02020603050405020304" pitchFamily="18" charset="0"/>
                <a:cs typeface="Times New Roman" panose="02020603050405020304" pitchFamily="18" charset="0"/>
              </a:rPr>
              <a:t>Plotly</a:t>
            </a:r>
            <a:r>
              <a:rPr lang="en-US" b="0" i="0" dirty="0">
                <a:effectLst/>
                <a:latin typeface="Times New Roman" panose="02020603050405020304" pitchFamily="18" charset="0"/>
                <a:cs typeface="Times New Roman" panose="02020603050405020304" pitchFamily="18" charset="0"/>
              </a:rPr>
              <a:t> is again a graph plotting library for Python. Users can import, copy, paste, or stream data that is to be analyzed and visualized.</a:t>
            </a:r>
          </a:p>
          <a:p>
            <a:pPr algn="l"/>
            <a:r>
              <a:rPr lang="en-US" b="0" i="0" dirty="0">
                <a:effectLst/>
                <a:latin typeface="Times New Roman" panose="02020603050405020304" pitchFamily="18" charset="0"/>
                <a:cs typeface="Times New Roman" panose="02020603050405020304" pitchFamily="18" charset="0"/>
              </a:rPr>
              <a:t>Each data viz library in Python varies from one another while also overlaps on some features. </a:t>
            </a:r>
            <a:r>
              <a:rPr lang="en-US" b="0" i="0" dirty="0" err="1">
                <a:effectLst/>
                <a:latin typeface="Times New Roman" panose="02020603050405020304" pitchFamily="18" charset="0"/>
                <a:cs typeface="Times New Roman" panose="02020603050405020304" pitchFamily="18" charset="0"/>
              </a:rPr>
              <a:t>Plotly</a:t>
            </a:r>
            <a:r>
              <a:rPr lang="en-US" b="0" i="0" dirty="0">
                <a:effectLst/>
                <a:latin typeface="Times New Roman" panose="02020603050405020304" pitchFamily="18" charset="0"/>
                <a:cs typeface="Times New Roman" panose="02020603050405020304" pitchFamily="18" charset="0"/>
              </a:rPr>
              <a:t> has many overlaps with </a:t>
            </a:r>
            <a:r>
              <a:rPr lang="en-US" b="0" i="1" dirty="0">
                <a:effectLst/>
                <a:latin typeface="Times New Roman" panose="02020603050405020304" pitchFamily="18" charset="0"/>
                <a:cs typeface="Times New Roman" panose="02020603050405020304" pitchFamily="18" charset="0"/>
              </a:rPr>
              <a:t>matplotlib</a:t>
            </a:r>
            <a:r>
              <a:rPr lang="en-US" b="0" i="0" dirty="0">
                <a:effectLst/>
                <a:latin typeface="Times New Roman" panose="02020603050405020304" pitchFamily="18" charset="0"/>
                <a:cs typeface="Times New Roman" panose="02020603050405020304" pitchFamily="18" charset="0"/>
              </a:rPr>
              <a:t> in terms of the range of viz available and </a:t>
            </a:r>
            <a:r>
              <a:rPr lang="en-US" b="0" i="1" dirty="0">
                <a:effectLst/>
                <a:latin typeface="Times New Roman" panose="02020603050405020304" pitchFamily="18" charset="0"/>
                <a:cs typeface="Times New Roman" panose="02020603050405020304" pitchFamily="18" charset="0"/>
              </a:rPr>
              <a:t>seaborn</a:t>
            </a:r>
            <a:r>
              <a:rPr lang="en-US" b="0" i="0" dirty="0">
                <a:effectLst/>
                <a:latin typeface="Times New Roman" panose="02020603050405020304" pitchFamily="18" charset="0"/>
                <a:cs typeface="Times New Roman" panose="02020603050405020304" pitchFamily="18" charset="0"/>
              </a:rPr>
              <a:t> for the advanced features.</a:t>
            </a:r>
          </a:p>
          <a:p>
            <a:pPr marL="0" indent="0" algn="l">
              <a:buNone/>
            </a:pPr>
            <a:r>
              <a:rPr lang="en-US" b="0" i="0" dirty="0">
                <a:effectLst/>
                <a:latin typeface="Times New Roman" panose="02020603050405020304" pitchFamily="18" charset="0"/>
                <a:cs typeface="Times New Roman" panose="02020603050405020304" pitchFamily="18" charset="0"/>
              </a:rPr>
              <a:t>When to use </a:t>
            </a:r>
            <a:r>
              <a:rPr lang="en-US" b="0" i="0" dirty="0" err="1">
                <a:effectLst/>
                <a:latin typeface="Times New Roman" panose="02020603050405020304" pitchFamily="18" charset="0"/>
                <a:cs typeface="Times New Roman" panose="02020603050405020304" pitchFamily="18" charset="0"/>
              </a:rPr>
              <a:t>Plotly</a:t>
            </a:r>
            <a:r>
              <a:rPr lang="en-US" b="0" i="0" dirty="0">
                <a:effectLst/>
                <a:latin typeface="Times New Roman" panose="02020603050405020304" pitchFamily="18" charset="0"/>
                <a:cs typeface="Times New Roman" panose="02020603050405020304" pitchFamily="18" charset="0"/>
              </a:rPr>
              <a:t>?</a:t>
            </a:r>
            <a:br>
              <a:rPr lang="en-US" b="0" i="0" dirty="0">
                <a:effectLst/>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You can use </a:t>
            </a:r>
            <a:r>
              <a:rPr lang="en-US" b="0" i="0" dirty="0" err="1">
                <a:effectLst/>
                <a:latin typeface="Times New Roman" panose="02020603050405020304" pitchFamily="18" charset="0"/>
                <a:cs typeface="Times New Roman" panose="02020603050405020304" pitchFamily="18" charset="0"/>
              </a:rPr>
              <a:t>Plotly</a:t>
            </a:r>
            <a:r>
              <a:rPr lang="en-US" b="0" i="0" dirty="0">
                <a:effectLst/>
                <a:latin typeface="Times New Roman" panose="02020603050405020304" pitchFamily="18" charset="0"/>
                <a:cs typeface="Times New Roman" panose="02020603050405020304" pitchFamily="18" charset="0"/>
              </a:rPr>
              <a:t> if you want to create and display figures, update figures, hover over text for details. </a:t>
            </a:r>
            <a:r>
              <a:rPr lang="en-US" b="0" i="0" dirty="0" err="1">
                <a:effectLst/>
                <a:latin typeface="Times New Roman" panose="02020603050405020304" pitchFamily="18" charset="0"/>
                <a:cs typeface="Times New Roman" panose="02020603050405020304" pitchFamily="18" charset="0"/>
              </a:rPr>
              <a:t>Plotly</a:t>
            </a:r>
            <a:r>
              <a:rPr lang="en-US" b="0" i="0" dirty="0">
                <a:effectLst/>
                <a:latin typeface="Times New Roman" panose="02020603050405020304" pitchFamily="18" charset="0"/>
                <a:cs typeface="Times New Roman" panose="02020603050405020304" pitchFamily="18" charset="0"/>
              </a:rPr>
              <a:t> also has an additional feature of sending data to cloud servers. That’s interesting</a:t>
            </a:r>
            <a:r>
              <a:rPr lang="en-US" b="0" i="0" dirty="0" smtClean="0">
                <a:effectLst/>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530081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1009"/>
            <a:ext cx="10515600" cy="5135954"/>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What can you do with </a:t>
            </a:r>
            <a:r>
              <a:rPr lang="en-US" dirty="0" err="1">
                <a:latin typeface="Times New Roman" panose="02020603050405020304" pitchFamily="18" charset="0"/>
                <a:cs typeface="Times New Roman" panose="02020603050405020304" pitchFamily="18" charset="0"/>
              </a:rPr>
              <a:t>Plotly</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Plotly</a:t>
            </a:r>
            <a:r>
              <a:rPr lang="en-US" dirty="0">
                <a:latin typeface="Times New Roman" panose="02020603050405020304" pitchFamily="18" charset="0"/>
                <a:cs typeface="Times New Roman" panose="02020603050405020304" pitchFamily="18" charset="0"/>
              </a:rPr>
              <a:t> graph library has a wide range of graphs that you can plot:</a:t>
            </a:r>
          </a:p>
          <a:p>
            <a:pPr>
              <a:buFont typeface="+mj-lt"/>
              <a:buAutoNum type="arabicPeriod"/>
            </a:pPr>
            <a:r>
              <a:rPr lang="en-US" b="1" i="1" dirty="0">
                <a:latin typeface="Times New Roman" panose="02020603050405020304" pitchFamily="18" charset="0"/>
                <a:cs typeface="Times New Roman" panose="02020603050405020304" pitchFamily="18" charset="0"/>
              </a:rPr>
              <a:t>Basic Charts:</a:t>
            </a:r>
            <a:r>
              <a:rPr lang="en-US" dirty="0">
                <a:latin typeface="Times New Roman" panose="02020603050405020304" pitchFamily="18" charset="0"/>
                <a:cs typeface="Times New Roman" panose="02020603050405020304" pitchFamily="18" charset="0"/>
              </a:rPr>
              <a:t> Line, Pie, Scatter, Bubble, Dot, Gantt, Sunburst, </a:t>
            </a:r>
            <a:r>
              <a:rPr lang="en-US" dirty="0" err="1">
                <a:latin typeface="Times New Roman" panose="02020603050405020304" pitchFamily="18" charset="0"/>
                <a:cs typeface="Times New Roman" panose="02020603050405020304" pitchFamily="18" charset="0"/>
              </a:rPr>
              <a:t>Treemap</a:t>
            </a:r>
            <a:r>
              <a:rPr lang="en-US" dirty="0">
                <a:latin typeface="Times New Roman" panose="02020603050405020304" pitchFamily="18" charset="0"/>
                <a:cs typeface="Times New Roman" panose="02020603050405020304" pitchFamily="18" charset="0"/>
              </a:rPr>
              <a:t>, Filled Area Charts</a:t>
            </a:r>
          </a:p>
          <a:p>
            <a:pPr>
              <a:buFont typeface="+mj-lt"/>
              <a:buAutoNum type="arabicPeriod"/>
            </a:pPr>
            <a:r>
              <a:rPr lang="en-US" b="1" i="1" dirty="0">
                <a:latin typeface="Times New Roman" panose="02020603050405020304" pitchFamily="18" charset="0"/>
                <a:cs typeface="Times New Roman" panose="02020603050405020304" pitchFamily="18" charset="0"/>
              </a:rPr>
              <a:t>Statistical and </a:t>
            </a:r>
            <a:r>
              <a:rPr lang="en-US" b="1" i="1" dirty="0" err="1">
                <a:latin typeface="Times New Roman" panose="02020603050405020304" pitchFamily="18" charset="0"/>
                <a:cs typeface="Times New Roman" panose="02020603050405020304" pitchFamily="18" charset="0"/>
              </a:rPr>
              <a:t>Seaborn</a:t>
            </a:r>
            <a:r>
              <a:rPr lang="en-US" b="1" i="1" dirty="0">
                <a:latin typeface="Times New Roman" panose="02020603050405020304" pitchFamily="18" charset="0"/>
                <a:cs typeface="Times New Roman" panose="02020603050405020304" pitchFamily="18" charset="0"/>
              </a:rPr>
              <a:t> Styles</a:t>
            </a:r>
            <a:r>
              <a:rPr lang="en-US" dirty="0">
                <a:latin typeface="Times New Roman" panose="02020603050405020304" pitchFamily="18" charset="0"/>
                <a:cs typeface="Times New Roman" panose="02020603050405020304" pitchFamily="18" charset="0"/>
              </a:rPr>
              <a:t>: Error, Box, Histograms, Facet and Trellis Plots, Tree plots, Violin Plots, Trend Lines</a:t>
            </a:r>
          </a:p>
          <a:p>
            <a:pPr>
              <a:buFont typeface="+mj-lt"/>
              <a:buAutoNum type="arabicPeriod"/>
            </a:pPr>
            <a:r>
              <a:rPr lang="en-US" b="1" i="1" dirty="0">
                <a:latin typeface="Times New Roman" panose="02020603050405020304" pitchFamily="18" charset="0"/>
                <a:cs typeface="Times New Roman" panose="02020603050405020304" pitchFamily="18" charset="0"/>
              </a:rPr>
              <a:t>Scientific charts:</a:t>
            </a:r>
            <a:r>
              <a:rPr lang="en-US" dirty="0">
                <a:latin typeface="Times New Roman" panose="02020603050405020304" pitchFamily="18" charset="0"/>
                <a:cs typeface="Times New Roman" panose="02020603050405020304" pitchFamily="18" charset="0"/>
              </a:rPr>
              <a:t> Contour, Ternary, Log, Quiver, Carpet, Radar, Heat maps </a:t>
            </a:r>
            <a:r>
              <a:rPr lang="en-US" dirty="0" err="1">
                <a:latin typeface="Times New Roman" panose="02020603050405020304" pitchFamily="18" charset="0"/>
                <a:cs typeface="Times New Roman" panose="02020603050405020304" pitchFamily="18" charset="0"/>
              </a:rPr>
              <a:t>Windrose</a:t>
            </a:r>
            <a:r>
              <a:rPr lang="en-US" dirty="0">
                <a:latin typeface="Times New Roman" panose="02020603050405020304" pitchFamily="18" charset="0"/>
                <a:cs typeface="Times New Roman" panose="02020603050405020304" pitchFamily="18" charset="0"/>
              </a:rPr>
              <a:t> and Polar Plots</a:t>
            </a:r>
          </a:p>
          <a:p>
            <a:pPr>
              <a:buFont typeface="+mj-lt"/>
              <a:buAutoNum type="arabicPeriod"/>
            </a:pPr>
            <a:r>
              <a:rPr lang="en-US" dirty="0">
                <a:latin typeface="Times New Roman" panose="02020603050405020304" pitchFamily="18" charset="0"/>
                <a:cs typeface="Times New Roman" panose="02020603050405020304" pitchFamily="18" charset="0"/>
              </a:rPr>
              <a:t>Financial Charts</a:t>
            </a:r>
          </a:p>
          <a:p>
            <a:pPr>
              <a:buFont typeface="+mj-lt"/>
              <a:buAutoNum type="arabicPeriod"/>
            </a:pPr>
            <a:r>
              <a:rPr lang="en-US" dirty="0">
                <a:latin typeface="Times New Roman" panose="02020603050405020304" pitchFamily="18" charset="0"/>
                <a:cs typeface="Times New Roman" panose="02020603050405020304" pitchFamily="18" charset="0"/>
              </a:rPr>
              <a:t>Maps</a:t>
            </a:r>
          </a:p>
          <a:p>
            <a:pPr>
              <a:buFont typeface="+mj-lt"/>
              <a:buAutoNum type="arabicPeriod"/>
            </a:pPr>
            <a:r>
              <a:rPr lang="en-US" dirty="0">
                <a:latin typeface="Times New Roman" panose="02020603050405020304" pitchFamily="18" charset="0"/>
                <a:cs typeface="Times New Roman" panose="02020603050405020304" pitchFamily="18" charset="0"/>
              </a:rPr>
              <a:t>Subplots</a:t>
            </a:r>
          </a:p>
          <a:p>
            <a:pPr>
              <a:buFont typeface="+mj-lt"/>
              <a:buAutoNum type="arabicPeriod"/>
            </a:pPr>
            <a:r>
              <a:rPr lang="en-US" dirty="0">
                <a:latin typeface="Times New Roman" panose="02020603050405020304" pitchFamily="18" charset="0"/>
                <a:cs typeface="Times New Roman" panose="02020603050405020304" pitchFamily="18" charset="0"/>
              </a:rPr>
              <a:t>Transforms</a:t>
            </a:r>
          </a:p>
          <a:p>
            <a:pPr>
              <a:buFont typeface="+mj-lt"/>
              <a:buAutoNum type="arabicPeriod"/>
            </a:pP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Widgets Interaction</a:t>
            </a:r>
          </a:p>
          <a:p>
            <a:endParaRPr lang="en-IN" dirty="0"/>
          </a:p>
        </p:txBody>
      </p:sp>
    </p:spTree>
    <p:extLst>
      <p:ext uri="{BB962C8B-B14F-4D97-AF65-F5344CB8AC3E}">
        <p14:creationId xmlns="" xmlns:p14="http://schemas.microsoft.com/office/powerpoint/2010/main" val="9200543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Matplotlib</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fontScale="85000" lnSpcReduction="20000"/>
          </a:bodyPr>
          <a:lstStyle/>
          <a:p>
            <a:r>
              <a:rPr lang="en-US" dirty="0" smtClean="0">
                <a:latin typeface="Times New Roman" pitchFamily="18" charset="0"/>
                <a:cs typeface="Times New Roman" pitchFamily="18" charset="0"/>
              </a:rPr>
              <a:t>Installation:</a:t>
            </a:r>
          </a:p>
          <a:p>
            <a:pPr>
              <a:buNone/>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pip install matplotlib</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Import:</a:t>
            </a:r>
          </a:p>
          <a:p>
            <a:pPr>
              <a:buNone/>
            </a:pPr>
            <a:r>
              <a:rPr lang="en-US" dirty="0" smtClean="0">
                <a:latin typeface="Times New Roman" pitchFamily="18" charset="0"/>
                <a:cs typeface="Times New Roman" pitchFamily="18" charset="0"/>
              </a:rPr>
              <a:t>   To import Matplotlib in Python, the most common and recommended way is to import its pyplot module and assign it the alias plt. This is done as follows:</a:t>
            </a:r>
          </a:p>
          <a:p>
            <a:pPr>
              <a:buNone/>
            </a:pPr>
            <a:r>
              <a:rPr lang="en-US" dirty="0" smtClean="0">
                <a:latin typeface="Times New Roman" pitchFamily="18" charset="0"/>
                <a:cs typeface="Times New Roman" pitchFamily="18" charset="0"/>
              </a:rPr>
              <a:t>        import matplotlib.pyplot as plt</a:t>
            </a:r>
          </a:p>
          <a:p>
            <a:pPr>
              <a:buNone/>
            </a:pP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Checking Matplotlib Version:</a:t>
            </a:r>
          </a:p>
          <a:p>
            <a:pPr>
              <a:buNone/>
            </a:pPr>
            <a:r>
              <a:rPr lang="en-US" dirty="0" smtClean="0">
                <a:latin typeface="Times New Roman" pitchFamily="18" charset="0"/>
                <a:cs typeface="Times New Roman" pitchFamily="18" charset="0"/>
              </a:rPr>
              <a:t>    The version string is stored under __version__ attribute.</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import matplotlib.pyplot as plt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print(</a:t>
            </a:r>
            <a:r>
              <a:rPr lang="en-US" dirty="0" err="1" smtClean="0">
                <a:latin typeface="Times New Roman" pitchFamily="18" charset="0"/>
                <a:cs typeface="Times New Roman" pitchFamily="18" charset="0"/>
              </a:rPr>
              <a:t>matplotlib.__version</a:t>
            </a:r>
            <a:r>
              <a:rPr lang="en-US" dirty="0" smtClean="0">
                <a:latin typeface="Times New Roman" pitchFamily="18" charset="0"/>
                <a:cs typeface="Times New Roman" pitchFamily="18" charset="0"/>
              </a:rPr>
              <a:t>__)</a:t>
            </a:r>
          </a:p>
          <a:p>
            <a:pPr>
              <a:buNone/>
            </a:pPr>
            <a:endParaRPr lang="en-US"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Simple Line Plot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fontScale="85000" lnSpcReduction="20000"/>
          </a:bodyPr>
          <a:lstStyle/>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import matplotlib.pyplot as plt</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Generate data</a:t>
            </a:r>
          </a:p>
          <a:p>
            <a:pPr>
              <a:buNone/>
            </a:pPr>
            <a:r>
              <a:rPr lang="en-US" dirty="0" smtClean="0">
                <a:latin typeface="Times New Roman" pitchFamily="18" charset="0"/>
                <a:cs typeface="Times New Roman" pitchFamily="18" charset="0"/>
              </a:rPr>
              <a:t>x = </a:t>
            </a:r>
            <a:r>
              <a:rPr lang="en-US" dirty="0" err="1" smtClean="0">
                <a:latin typeface="Times New Roman" pitchFamily="18" charset="0"/>
                <a:cs typeface="Times New Roman" pitchFamily="18" charset="0"/>
              </a:rPr>
              <a:t>np.linspace</a:t>
            </a:r>
            <a:r>
              <a:rPr lang="en-US" dirty="0" smtClean="0">
                <a:latin typeface="Times New Roman" pitchFamily="18" charset="0"/>
                <a:cs typeface="Times New Roman" pitchFamily="18" charset="0"/>
              </a:rPr>
              <a:t>(0, 10, 100)</a:t>
            </a:r>
          </a:p>
          <a:p>
            <a:pPr>
              <a:buNone/>
            </a:pPr>
            <a:r>
              <a:rPr lang="en-US" dirty="0" smtClean="0">
                <a:latin typeface="Times New Roman" pitchFamily="18" charset="0"/>
                <a:cs typeface="Times New Roman" pitchFamily="18" charset="0"/>
              </a:rPr>
              <a:t>y = np.sin(x)</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Plot</a:t>
            </a:r>
          </a:p>
          <a:p>
            <a:pPr>
              <a:buNone/>
            </a:pPr>
            <a:r>
              <a:rPr lang="en-US" dirty="0" err="1" smtClean="0">
                <a:latin typeface="Times New Roman" pitchFamily="18" charset="0"/>
                <a:cs typeface="Times New Roman" pitchFamily="18" charset="0"/>
              </a:rPr>
              <a:t>plt.plot</a:t>
            </a:r>
            <a:r>
              <a:rPr lang="en-US" dirty="0" smtClean="0">
                <a:latin typeface="Times New Roman" pitchFamily="18" charset="0"/>
                <a:cs typeface="Times New Roman" pitchFamily="18" charset="0"/>
              </a:rPr>
              <a:t>(x, y)</a:t>
            </a:r>
          </a:p>
          <a:p>
            <a:pPr>
              <a:buNone/>
            </a:pPr>
            <a:r>
              <a:rPr lang="en-US" dirty="0" err="1" smtClean="0">
                <a:latin typeface="Times New Roman" pitchFamily="18" charset="0"/>
                <a:cs typeface="Times New Roman" pitchFamily="18" charset="0"/>
              </a:rPr>
              <a:t>plt.xlabel</a:t>
            </a:r>
            <a:r>
              <a:rPr lang="en-US" dirty="0" smtClean="0">
                <a:latin typeface="Times New Roman" pitchFamily="18" charset="0"/>
                <a:cs typeface="Times New Roman" pitchFamily="18" charset="0"/>
              </a:rPr>
              <a:t>("x")</a:t>
            </a:r>
          </a:p>
          <a:p>
            <a:pPr>
              <a:buNone/>
            </a:pPr>
            <a:r>
              <a:rPr lang="en-US" dirty="0" err="1" smtClean="0">
                <a:latin typeface="Times New Roman" pitchFamily="18" charset="0"/>
                <a:cs typeface="Times New Roman" pitchFamily="18" charset="0"/>
              </a:rPr>
              <a:t>plt.ylabel</a:t>
            </a:r>
            <a:r>
              <a:rPr lang="en-US" dirty="0" smtClean="0">
                <a:latin typeface="Times New Roman" pitchFamily="18" charset="0"/>
                <a:cs typeface="Times New Roman" pitchFamily="18" charset="0"/>
              </a:rPr>
              <a:t>("sin(x)")</a:t>
            </a:r>
          </a:p>
          <a:p>
            <a:pPr>
              <a:buNone/>
            </a:pPr>
            <a:r>
              <a:rPr lang="en-US" dirty="0" err="1" smtClean="0">
                <a:latin typeface="Times New Roman" pitchFamily="18" charset="0"/>
                <a:cs typeface="Times New Roman" pitchFamily="18" charset="0"/>
              </a:rPr>
              <a:t>plt.title</a:t>
            </a:r>
            <a:r>
              <a:rPr lang="en-US" dirty="0" smtClean="0">
                <a:latin typeface="Times New Roman" pitchFamily="18" charset="0"/>
                <a:cs typeface="Times New Roman" pitchFamily="18" charset="0"/>
              </a:rPr>
              <a:t>("Simple Line Plot")</a:t>
            </a:r>
          </a:p>
          <a:p>
            <a:pPr>
              <a:buNone/>
            </a:pPr>
            <a:r>
              <a:rPr lang="en-US" dirty="0" err="1" smtClean="0">
                <a:latin typeface="Times New Roman" pitchFamily="18" charset="0"/>
                <a:cs typeface="Times New Roman" pitchFamily="18" charset="0"/>
              </a:rPr>
              <a:t>plt.grid</a:t>
            </a:r>
            <a:r>
              <a:rPr lang="en-US" dirty="0" smtClean="0">
                <a:latin typeface="Times New Roman" pitchFamily="18" charset="0"/>
                <a:cs typeface="Times New Roman" pitchFamily="18" charset="0"/>
              </a:rPr>
              <a:t>(True)</a:t>
            </a:r>
          </a:p>
          <a:p>
            <a:pPr>
              <a:buNone/>
            </a:pPr>
            <a:r>
              <a:rPr lang="en-US" dirty="0" err="1" smtClean="0">
                <a:latin typeface="Times New Roman" pitchFamily="18" charset="0"/>
                <a:cs typeface="Times New Roman" pitchFamily="18" charset="0"/>
              </a:rPr>
              <a:t>plt.show</a:t>
            </a:r>
            <a:r>
              <a:rPr lang="en-US" dirty="0" smtClean="0">
                <a:latin typeface="Times New Roman" pitchFamily="18" charset="0"/>
                <a:cs typeface="Times New Roman" pitchFamily="18" charset="0"/>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Simple Scatter Plot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fontScale="85000" lnSpcReduction="20000"/>
          </a:bodyPr>
          <a:lstStyle/>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import matplotlib.pyplot as plt</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Generate random scatter data</a:t>
            </a:r>
          </a:p>
          <a:p>
            <a:pPr>
              <a:buNone/>
            </a:pPr>
            <a:r>
              <a:rPr lang="en-US" dirty="0" smtClean="0">
                <a:latin typeface="Times New Roman" pitchFamily="18" charset="0"/>
                <a:cs typeface="Times New Roman" pitchFamily="18" charset="0"/>
              </a:rPr>
              <a:t>N = 200</a:t>
            </a:r>
          </a:p>
          <a:p>
            <a:pPr>
              <a:buNone/>
            </a:pPr>
            <a:r>
              <a:rPr lang="en-US" dirty="0" err="1" smtClean="0">
                <a:latin typeface="Times New Roman" pitchFamily="18" charset="0"/>
                <a:cs typeface="Times New Roman" pitchFamily="18" charset="0"/>
              </a:rPr>
              <a:t>x_sc</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np.random.randn</a:t>
            </a:r>
            <a:r>
              <a:rPr lang="en-US" dirty="0" smtClean="0">
                <a:latin typeface="Times New Roman" pitchFamily="18" charset="0"/>
                <a:cs typeface="Times New Roman" pitchFamily="18" charset="0"/>
              </a:rPr>
              <a:t>(N)</a:t>
            </a:r>
          </a:p>
          <a:p>
            <a:pPr>
              <a:buNone/>
            </a:pPr>
            <a:r>
              <a:rPr lang="en-US" dirty="0" err="1" smtClean="0">
                <a:latin typeface="Times New Roman" pitchFamily="18" charset="0"/>
                <a:cs typeface="Times New Roman" pitchFamily="18" charset="0"/>
              </a:rPr>
              <a:t>y_sc</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np.random.randn</a:t>
            </a:r>
            <a:r>
              <a:rPr lang="en-US" dirty="0" smtClean="0">
                <a:latin typeface="Times New Roman" pitchFamily="18" charset="0"/>
                <a:cs typeface="Times New Roman" pitchFamily="18" charset="0"/>
              </a:rPr>
              <a:t>(N)</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Plot</a:t>
            </a:r>
          </a:p>
          <a:p>
            <a:pPr>
              <a:buNone/>
            </a:pPr>
            <a:r>
              <a:rPr lang="en-US" dirty="0" err="1" smtClean="0">
                <a:latin typeface="Times New Roman" pitchFamily="18" charset="0"/>
                <a:cs typeface="Times New Roman" pitchFamily="18" charset="0"/>
              </a:rPr>
              <a:t>plt.scatter</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x_sc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y_sc</a:t>
            </a:r>
            <a:r>
              <a:rPr lang="en-US" dirty="0" smtClean="0">
                <a:latin typeface="Times New Roman" pitchFamily="18" charset="0"/>
                <a:cs typeface="Times New Roman" pitchFamily="18" charset="0"/>
              </a:rPr>
              <a:t>, alpha=0.5)</a:t>
            </a:r>
          </a:p>
          <a:p>
            <a:pPr>
              <a:buNone/>
            </a:pPr>
            <a:r>
              <a:rPr lang="en-US" dirty="0" err="1" smtClean="0">
                <a:latin typeface="Times New Roman" pitchFamily="18" charset="0"/>
                <a:cs typeface="Times New Roman" pitchFamily="18" charset="0"/>
              </a:rPr>
              <a:t>plt.xlabel</a:t>
            </a:r>
            <a:r>
              <a:rPr lang="en-US" dirty="0" smtClean="0">
                <a:latin typeface="Times New Roman" pitchFamily="18" charset="0"/>
                <a:cs typeface="Times New Roman" pitchFamily="18" charset="0"/>
              </a:rPr>
              <a:t>("X")</a:t>
            </a:r>
          </a:p>
          <a:p>
            <a:pPr>
              <a:buNone/>
            </a:pPr>
            <a:r>
              <a:rPr lang="en-US" dirty="0" err="1" smtClean="0">
                <a:latin typeface="Times New Roman" pitchFamily="18" charset="0"/>
                <a:cs typeface="Times New Roman" pitchFamily="18" charset="0"/>
              </a:rPr>
              <a:t>plt.ylabel</a:t>
            </a:r>
            <a:r>
              <a:rPr lang="en-US" dirty="0" smtClean="0">
                <a:latin typeface="Times New Roman" pitchFamily="18" charset="0"/>
                <a:cs typeface="Times New Roman" pitchFamily="18" charset="0"/>
              </a:rPr>
              <a:t>("Y")</a:t>
            </a:r>
          </a:p>
          <a:p>
            <a:pPr>
              <a:buNone/>
            </a:pPr>
            <a:r>
              <a:rPr lang="en-US" dirty="0" err="1" smtClean="0">
                <a:latin typeface="Times New Roman" pitchFamily="18" charset="0"/>
                <a:cs typeface="Times New Roman" pitchFamily="18" charset="0"/>
              </a:rPr>
              <a:t>plt.title</a:t>
            </a:r>
            <a:r>
              <a:rPr lang="en-US" dirty="0" smtClean="0">
                <a:latin typeface="Times New Roman" pitchFamily="18" charset="0"/>
                <a:cs typeface="Times New Roman" pitchFamily="18" charset="0"/>
              </a:rPr>
              <a:t>("Simple Scatter Plot")</a:t>
            </a:r>
          </a:p>
          <a:p>
            <a:pPr>
              <a:buNone/>
            </a:pPr>
            <a:r>
              <a:rPr lang="en-US" dirty="0" err="1" smtClean="0">
                <a:latin typeface="Times New Roman" pitchFamily="18" charset="0"/>
                <a:cs typeface="Times New Roman" pitchFamily="18" charset="0"/>
              </a:rPr>
              <a:t>plt.show</a:t>
            </a:r>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Histogram</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a:bodyPr>
          <a:lstStyle/>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import matplotlib.pyplot as plt</a:t>
            </a:r>
          </a:p>
          <a:p>
            <a:pPr>
              <a:buNone/>
            </a:pPr>
            <a:r>
              <a:rPr lang="en-US" dirty="0" smtClean="0">
                <a:latin typeface="Times New Roman" pitchFamily="18" charset="0"/>
                <a:cs typeface="Times New Roman" pitchFamily="18" charset="0"/>
              </a:rPr>
              <a:t>marks = [90,50,40,60,55,44,30,10,34,84]</a:t>
            </a:r>
          </a:p>
          <a:p>
            <a:pPr>
              <a:buNone/>
            </a:pPr>
            <a:r>
              <a:rPr lang="en-US" dirty="0" err="1" smtClean="0">
                <a:latin typeface="Times New Roman" pitchFamily="18" charset="0"/>
                <a:cs typeface="Times New Roman" pitchFamily="18" charset="0"/>
              </a:rPr>
              <a:t>grade_intervals</a:t>
            </a:r>
            <a:r>
              <a:rPr lang="en-US" dirty="0" smtClean="0">
                <a:latin typeface="Times New Roman" pitchFamily="18" charset="0"/>
                <a:cs typeface="Times New Roman" pitchFamily="18" charset="0"/>
              </a:rPr>
              <a:t> = [0,35,70,100]</a:t>
            </a:r>
          </a:p>
          <a:p>
            <a:pPr>
              <a:buNone/>
            </a:pPr>
            <a:r>
              <a:rPr lang="en-US" dirty="0" err="1" smtClean="0">
                <a:latin typeface="Times New Roman" pitchFamily="18" charset="0"/>
                <a:cs typeface="Times New Roman" pitchFamily="18" charset="0"/>
              </a:rPr>
              <a:t>plt.title</a:t>
            </a:r>
            <a:r>
              <a:rPr lang="en-US" dirty="0" smtClean="0">
                <a:latin typeface="Times New Roman" pitchFamily="18" charset="0"/>
                <a:cs typeface="Times New Roman" pitchFamily="18" charset="0"/>
              </a:rPr>
              <a:t>(“STUDENTS GRADE”)</a:t>
            </a:r>
          </a:p>
          <a:p>
            <a:pPr>
              <a:buNone/>
            </a:pPr>
            <a:r>
              <a:rPr lang="en-US" dirty="0" smtClean="0">
                <a:latin typeface="Times New Roman" pitchFamily="18" charset="0"/>
                <a:cs typeface="Times New Roman" pitchFamily="18" charset="0"/>
              </a:rPr>
              <a:t>plt.hist(</a:t>
            </a:r>
            <a:r>
              <a:rPr lang="en-US" dirty="0" err="1" smtClean="0">
                <a:latin typeface="Times New Roman" pitchFamily="18" charset="0"/>
                <a:cs typeface="Times New Roman" pitchFamily="18" charset="0"/>
              </a:rPr>
              <a:t>marks,grade_intervals,histtype</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stepfilled</a:t>
            </a:r>
            <a:r>
              <a:rPr lang="en-US" dirty="0" smtClean="0">
                <a:latin typeface="Times New Roman" pitchFamily="18" charset="0"/>
                <a:cs typeface="Times New Roman" pitchFamily="18" charset="0"/>
              </a:rPr>
              <a:t>”)</a:t>
            </a:r>
          </a:p>
          <a:p>
            <a:pPr>
              <a:buNone/>
            </a:pPr>
            <a:r>
              <a:rPr lang="en-US" dirty="0" err="1" smtClean="0">
                <a:latin typeface="Times New Roman" pitchFamily="18" charset="0"/>
                <a:cs typeface="Times New Roman" pitchFamily="18" charset="0"/>
              </a:rPr>
              <a:t>plt.xticks</a:t>
            </a:r>
            <a:r>
              <a:rPr lang="en-US" dirty="0" smtClean="0">
                <a:latin typeface="Times New Roman" pitchFamily="18" charset="0"/>
                <a:cs typeface="Times New Roman" pitchFamily="18" charset="0"/>
              </a:rPr>
              <a:t>([0,35,70,100])</a:t>
            </a:r>
          </a:p>
          <a:p>
            <a:pPr>
              <a:buNone/>
            </a:pPr>
            <a:r>
              <a:rPr lang="en-US" dirty="0" err="1" smtClean="0">
                <a:latin typeface="Times New Roman" pitchFamily="18" charset="0"/>
                <a:cs typeface="Times New Roman" pitchFamily="18" charset="0"/>
              </a:rPr>
              <a:t>plt.xlabel</a:t>
            </a:r>
            <a:r>
              <a:rPr lang="en-US" dirty="0" smtClean="0">
                <a:latin typeface="Times New Roman" pitchFamily="18" charset="0"/>
                <a:cs typeface="Times New Roman" pitchFamily="18" charset="0"/>
              </a:rPr>
              <a:t>(“Percentage”)</a:t>
            </a:r>
          </a:p>
          <a:p>
            <a:pPr>
              <a:buNone/>
            </a:pPr>
            <a:r>
              <a:rPr lang="en-US" dirty="0" err="1" smtClean="0">
                <a:latin typeface="Times New Roman" pitchFamily="18" charset="0"/>
                <a:cs typeface="Times New Roman" pitchFamily="18" charset="0"/>
              </a:rPr>
              <a:t>plt.ylabel</a:t>
            </a:r>
            <a:r>
              <a:rPr lang="en-US" dirty="0" smtClean="0">
                <a:latin typeface="Times New Roman" pitchFamily="18" charset="0"/>
                <a:cs typeface="Times New Roman" pitchFamily="18" charset="0"/>
              </a:rPr>
              <a:t>(“No. of Students”)</a:t>
            </a:r>
          </a:p>
          <a:p>
            <a:pPr>
              <a:buNone/>
            </a:pPr>
            <a:r>
              <a:rPr lang="en-US" dirty="0" err="1" smtClean="0">
                <a:latin typeface="Times New Roman" pitchFamily="18" charset="0"/>
                <a:cs typeface="Times New Roman" pitchFamily="18" charset="0"/>
              </a:rPr>
              <a:t>plt.show</a:t>
            </a:r>
            <a:r>
              <a:rPr lang="en-US" dirty="0" smtClean="0">
                <a:latin typeface="Times New Roman" pitchFamily="18" charset="0"/>
                <a:cs typeface="Times New Roman" pitchFamily="18" charset="0"/>
              </a:rPr>
              <a:t>()</a:t>
            </a:r>
          </a:p>
          <a:p>
            <a:pPr>
              <a:buNone/>
            </a:pPr>
            <a:endParaRPr lang="en-US" dirty="0" smtClean="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Histogram (Binning)</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a:bodyPr>
          <a:lstStyle/>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matplotlib.pyplot</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plt</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marks = [90,50,40,60,55,44,30,10,34,84]</a:t>
            </a:r>
          </a:p>
          <a:p>
            <a:pPr>
              <a:buNone/>
            </a:pPr>
            <a:r>
              <a:rPr lang="en-US" dirty="0" err="1" smtClean="0">
                <a:latin typeface="Times New Roman" pitchFamily="18" charset="0"/>
                <a:cs typeface="Times New Roman" pitchFamily="18" charset="0"/>
              </a:rPr>
              <a:t>plt.title</a:t>
            </a:r>
            <a:r>
              <a:rPr lang="en-US" dirty="0" smtClean="0">
                <a:latin typeface="Times New Roman" pitchFamily="18" charset="0"/>
                <a:cs typeface="Times New Roman" pitchFamily="18" charset="0"/>
              </a:rPr>
              <a:t>("STUDENTS GRADE")</a:t>
            </a:r>
          </a:p>
          <a:p>
            <a:pPr>
              <a:buNone/>
            </a:pPr>
            <a:r>
              <a:rPr lang="en-US" dirty="0" smtClean="0">
                <a:latin typeface="Times New Roman" pitchFamily="18" charset="0"/>
                <a:cs typeface="Times New Roman" pitchFamily="18" charset="0"/>
              </a:rPr>
              <a:t>plt.hist(</a:t>
            </a:r>
            <a:r>
              <a:rPr lang="en-US" dirty="0" err="1" smtClean="0">
                <a:latin typeface="Times New Roman" pitchFamily="18" charset="0"/>
                <a:cs typeface="Times New Roman" pitchFamily="18" charset="0"/>
              </a:rPr>
              <a:t>marks,bins</a:t>
            </a:r>
            <a:r>
              <a:rPr lang="en-US" dirty="0" smtClean="0">
                <a:latin typeface="Times New Roman" pitchFamily="18" charset="0"/>
                <a:cs typeface="Times New Roman" pitchFamily="18" charset="0"/>
              </a:rPr>
              <a:t>=10,histtype = "</a:t>
            </a:r>
            <a:r>
              <a:rPr lang="en-US" dirty="0" err="1" smtClean="0">
                <a:latin typeface="Times New Roman" pitchFamily="18" charset="0"/>
                <a:cs typeface="Times New Roman" pitchFamily="18" charset="0"/>
              </a:rPr>
              <a:t>stepfilled</a:t>
            </a:r>
            <a:r>
              <a:rPr lang="en-US" dirty="0" smtClean="0">
                <a:latin typeface="Times New Roman" pitchFamily="18" charset="0"/>
                <a:cs typeface="Times New Roman" pitchFamily="18" charset="0"/>
              </a:rPr>
              <a:t>")</a:t>
            </a:r>
          </a:p>
          <a:p>
            <a:pPr>
              <a:buNone/>
            </a:pPr>
            <a:r>
              <a:rPr lang="en-US" dirty="0" err="1" smtClean="0">
                <a:latin typeface="Times New Roman" pitchFamily="18" charset="0"/>
                <a:cs typeface="Times New Roman" pitchFamily="18" charset="0"/>
              </a:rPr>
              <a:t>plt.xlabel</a:t>
            </a:r>
            <a:r>
              <a:rPr lang="en-US" dirty="0" smtClean="0">
                <a:latin typeface="Times New Roman" pitchFamily="18" charset="0"/>
                <a:cs typeface="Times New Roman" pitchFamily="18" charset="0"/>
              </a:rPr>
              <a:t>("Percentage")</a:t>
            </a:r>
          </a:p>
          <a:p>
            <a:pPr>
              <a:buNone/>
            </a:pPr>
            <a:r>
              <a:rPr lang="en-US" dirty="0" err="1" smtClean="0">
                <a:latin typeface="Times New Roman" pitchFamily="18" charset="0"/>
                <a:cs typeface="Times New Roman" pitchFamily="18" charset="0"/>
              </a:rPr>
              <a:t>plt.ylabel</a:t>
            </a:r>
            <a:r>
              <a:rPr lang="en-US" dirty="0" smtClean="0">
                <a:latin typeface="Times New Roman" pitchFamily="18" charset="0"/>
                <a:cs typeface="Times New Roman" pitchFamily="18" charset="0"/>
              </a:rPr>
              <a:t>("No. of Students")</a:t>
            </a:r>
          </a:p>
          <a:p>
            <a:pPr>
              <a:buNone/>
            </a:pPr>
            <a:r>
              <a:rPr lang="en-US" dirty="0" err="1" smtClean="0">
                <a:latin typeface="Times New Roman" pitchFamily="18" charset="0"/>
                <a:cs typeface="Times New Roman" pitchFamily="18" charset="0"/>
              </a:rPr>
              <a:t>plt.show</a:t>
            </a:r>
            <a:r>
              <a:rPr lang="en-US" dirty="0" smtClean="0">
                <a:latin typeface="Times New Roman" pitchFamily="18" charset="0"/>
                <a:cs typeface="Times New Roman" pitchFamily="18" charset="0"/>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456" y="224852"/>
            <a:ext cx="10515600" cy="804108"/>
          </a:xfrm>
        </p:spPr>
        <p:txBody>
          <a:bodyPr/>
          <a:lstStyle/>
          <a:p>
            <a:pPr algn="ctr"/>
            <a:r>
              <a:rPr lang="en-US" dirty="0" smtClean="0">
                <a:solidFill>
                  <a:srgbClr val="FF0000"/>
                </a:solidFill>
                <a:latin typeface="Times New Roman" pitchFamily="18" charset="0"/>
                <a:cs typeface="Times New Roman" pitchFamily="18" charset="0"/>
              </a:rPr>
              <a:t>Histogram (Density)</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224852" y="944380"/>
            <a:ext cx="11128948" cy="5696263"/>
          </a:xfrm>
        </p:spPr>
        <p:txBody>
          <a:bodyPr>
            <a:normAutofit/>
          </a:bodyPr>
          <a:lstStyle/>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np</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matplotlib.pyplot</a:t>
            </a:r>
            <a:r>
              <a:rPr lang="en-US" dirty="0" smtClean="0">
                <a:latin typeface="Times New Roman" pitchFamily="18" charset="0"/>
                <a:cs typeface="Times New Roman" pitchFamily="18" charset="0"/>
              </a:rPr>
              <a:t> as </a:t>
            </a:r>
            <a:r>
              <a:rPr lang="en-US" dirty="0" err="1" smtClean="0">
                <a:latin typeface="Times New Roman" pitchFamily="18" charset="0"/>
                <a:cs typeface="Times New Roman" pitchFamily="18" charset="0"/>
              </a:rPr>
              <a:t>plt</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marks = [90,50,40,60,55,44,30,10,34,84]</a:t>
            </a:r>
          </a:p>
          <a:p>
            <a:pPr>
              <a:buNone/>
            </a:pPr>
            <a:r>
              <a:rPr lang="en-US" dirty="0" err="1" smtClean="0">
                <a:latin typeface="Times New Roman" pitchFamily="18" charset="0"/>
                <a:cs typeface="Times New Roman" pitchFamily="18" charset="0"/>
              </a:rPr>
              <a:t>plt.title</a:t>
            </a:r>
            <a:r>
              <a:rPr lang="en-US" dirty="0" smtClean="0">
                <a:latin typeface="Times New Roman" pitchFamily="18" charset="0"/>
                <a:cs typeface="Times New Roman" pitchFamily="18" charset="0"/>
              </a:rPr>
              <a:t>("STUDENTS GRADE")</a:t>
            </a:r>
          </a:p>
          <a:p>
            <a:pPr>
              <a:buNone/>
            </a:pPr>
            <a:r>
              <a:rPr lang="en-US" dirty="0" smtClean="0">
                <a:latin typeface="Times New Roman" pitchFamily="18" charset="0"/>
                <a:cs typeface="Times New Roman" pitchFamily="18" charset="0"/>
              </a:rPr>
              <a:t>plt.hist(</a:t>
            </a:r>
            <a:r>
              <a:rPr lang="en-US" dirty="0" err="1" smtClean="0">
                <a:latin typeface="Times New Roman" pitchFamily="18" charset="0"/>
                <a:cs typeface="Times New Roman" pitchFamily="18" charset="0"/>
              </a:rPr>
              <a:t>marks,bins</a:t>
            </a:r>
            <a:r>
              <a:rPr lang="en-US" dirty="0" smtClean="0">
                <a:latin typeface="Times New Roman" pitchFamily="18" charset="0"/>
                <a:cs typeface="Times New Roman" pitchFamily="18" charset="0"/>
              </a:rPr>
              <a:t>=10,density = True, </a:t>
            </a:r>
            <a:r>
              <a:rPr lang="en-US" dirty="0" err="1" smtClean="0">
                <a:latin typeface="Times New Roman" pitchFamily="18" charset="0"/>
                <a:cs typeface="Times New Roman" pitchFamily="18" charset="0"/>
              </a:rPr>
              <a:t>histtype</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stepfilled</a:t>
            </a:r>
            <a:r>
              <a:rPr lang="en-US" dirty="0" smtClean="0">
                <a:latin typeface="Times New Roman" pitchFamily="18" charset="0"/>
                <a:cs typeface="Times New Roman" pitchFamily="18" charset="0"/>
              </a:rPr>
              <a:t>")</a:t>
            </a:r>
          </a:p>
          <a:p>
            <a:pPr>
              <a:buNone/>
            </a:pPr>
            <a:r>
              <a:rPr lang="en-US" dirty="0" err="1" smtClean="0">
                <a:latin typeface="Times New Roman" pitchFamily="18" charset="0"/>
                <a:cs typeface="Times New Roman" pitchFamily="18" charset="0"/>
              </a:rPr>
              <a:t>plt.xlabel</a:t>
            </a:r>
            <a:r>
              <a:rPr lang="en-US" dirty="0" smtClean="0">
                <a:latin typeface="Times New Roman" pitchFamily="18" charset="0"/>
                <a:cs typeface="Times New Roman" pitchFamily="18" charset="0"/>
              </a:rPr>
              <a:t>("Percentage")</a:t>
            </a:r>
          </a:p>
          <a:p>
            <a:pPr>
              <a:buNone/>
            </a:pPr>
            <a:r>
              <a:rPr lang="en-US" dirty="0" err="1" smtClean="0">
                <a:latin typeface="Times New Roman" pitchFamily="18" charset="0"/>
                <a:cs typeface="Times New Roman" pitchFamily="18" charset="0"/>
              </a:rPr>
              <a:t>plt.ylabel</a:t>
            </a:r>
            <a:r>
              <a:rPr lang="en-US"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Density </a:t>
            </a:r>
            <a:r>
              <a:rPr lang="en-US" dirty="0" smtClean="0">
                <a:latin typeface="Times New Roman" pitchFamily="18" charset="0"/>
                <a:cs typeface="Times New Roman" pitchFamily="18" charset="0"/>
              </a:rPr>
              <a:t>of </a:t>
            </a:r>
            <a:r>
              <a:rPr lang="en-US" dirty="0" smtClean="0">
                <a:latin typeface="Times New Roman" pitchFamily="18" charset="0"/>
                <a:cs typeface="Times New Roman" pitchFamily="18" charset="0"/>
              </a:rPr>
              <a:t>Students")</a:t>
            </a:r>
          </a:p>
          <a:p>
            <a:pPr>
              <a:buNone/>
            </a:pPr>
            <a:r>
              <a:rPr lang="en-US" dirty="0" err="1" smtClean="0">
                <a:latin typeface="Times New Roman" pitchFamily="18" charset="0"/>
                <a:cs typeface="Times New Roman" pitchFamily="18" charset="0"/>
              </a:rPr>
              <a:t>plt.show</a:t>
            </a:r>
            <a:r>
              <a:rPr lang="en-US" dirty="0" smtClean="0">
                <a:latin typeface="Times New Roman" pitchFamily="18" charset="0"/>
                <a:cs typeface="Times New Roman" pitchFamily="18"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2913</TotalTime>
  <Words>3493</Words>
  <Application>Microsoft Office PowerPoint</Application>
  <PresentationFormat>Custom</PresentationFormat>
  <Paragraphs>521</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UNIT 4</vt:lpstr>
      <vt:lpstr>Slide 2</vt:lpstr>
      <vt:lpstr>Introduction to Numpy</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Introduction to Pandas</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Data Visualization  </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Matplotlib</vt:lpstr>
      <vt:lpstr>Simple Line Plot</vt:lpstr>
      <vt:lpstr>Simple Scatter Plot</vt:lpstr>
      <vt:lpstr>Histogram</vt:lpstr>
      <vt:lpstr>Histogram (Binning)</vt:lpstr>
      <vt:lpstr>Histogram (Density)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UNIT 4</dc:title>
  <dc:creator>Abdul Khalandar Shaik</dc:creator>
  <cp:lastModifiedBy>Admin</cp:lastModifiedBy>
  <cp:revision>38</cp:revision>
  <dcterms:created xsi:type="dcterms:W3CDTF">2025-10-09T04:45:42Z</dcterms:created>
  <dcterms:modified xsi:type="dcterms:W3CDTF">2025-11-19T08:16:38Z</dcterms:modified>
</cp:coreProperties>
</file>