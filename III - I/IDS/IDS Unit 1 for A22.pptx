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41.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metadata" ContentType="application/binary"/>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7" roundtripDataSignature="AMtx7mjHAfaT5/1bGslCySBySkoA3Q3zRQ=="/>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51"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99" name="Google Shape;99;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Example, imagine you are sitting around a table with three other people. The four of you have to make a decision based on some data. There are four opinions to consider. You would use data science to bring a fifth, sixth, and even seventh opinion to the table.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That's why data science won't replace the human brain, but complement it, work alongside it. Data science should not be thought of as an end-all solution to our data woes; it is merely an opinion, a very informed opinion, but an opinion nonetheless. It deserves a seat at the table.</a:t>
            </a:r>
            <a:endParaRPr/>
          </a:p>
        </p:txBody>
      </p:sp>
      <p:sp>
        <p:nvSpPr>
          <p:cNvPr id="106" name="Google Shape;106;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Consider that we are looking at data in relation to pricing used cars. One characteristic of a car being the year it was made and another might be the number of miles on that car. Once we clean our data (which we spend a great deal of time looking at in this book), the relationships between the data become more obvious, and the knowledge that was once buried deep in millions of rows of data simply pops out.</a:t>
            </a:r>
            <a:endParaRPr/>
          </a:p>
        </p:txBody>
      </p:sp>
      <p:sp>
        <p:nvSpPr>
          <p:cNvPr id="125" name="Google Shape;125;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Transcripts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 Not sure how to export this; are you?"</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"Where is the button that makes a new list?"</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"Wait, do you even know where the slider is?"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"If I can't figure this out today, it's a real problem..."</a:t>
            </a:r>
            <a:endParaRPr/>
          </a:p>
        </p:txBody>
      </p:sp>
      <p:sp>
        <p:nvSpPr>
          <p:cNvPr id="132" name="Google Shape;132;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Why should we understand data?</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Consider an example where we are looking at election results for a county. In the dataset of people, there is a "race" column that is denoted via an identifying number to save space. For example perhaps caucasian is denoted by 7 while Asian American is 2. Without understanding that these numbers are not actually ordered numbers like we think about them (where 7 is greater than 2 and therefore caucasian is "greater than" Asian American) we will make terrible mistakes in our analysis.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Discuss The same principle applies to data science. When given a dataset, it is tempting to jump right into exploring, applying statistical models, and researching the applications of machine learning in order to get results faster. However, if you don't understand the type of data that you are working with, then you might waste a lot of time applying models that are known to be ineffective with that specific type of data. When given a new dataset, I always recommend taking about an hour (usually less) to make the distinctions mentioned in the following sections.</a:t>
            </a:r>
            <a:endParaRPr/>
          </a:p>
        </p:txBody>
      </p:sp>
      <p:sp>
        <p:nvSpPr>
          <p:cNvPr id="145" name="Google Shape;145;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And just like that, we can convert a piece of text into structured/organized data ready for use in our models and exploratory analysis.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Topic is the only extracted feature we looked at that is not automatically derivable from the tweet. Looking at word count and tweet length in Python is easy; however, more advanced models (called topic models) are able to derive and predict topics of natural text as well.</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Being able to quickly recognize whether your data is structured or unstructured can save hours or even days of work in the future. Once you are able to discern the organization of the data presented to you, the next question is aimed at the individual characteristics of the dataset.</a:t>
            </a:r>
            <a:endParaRPr/>
          </a:p>
        </p:txBody>
      </p:sp>
      <p:sp>
        <p:nvSpPr>
          <p:cNvPr id="158" name="Google Shape;158;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 name="Google Shape;260;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 name="Google Shape;299;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8" name="Google Shape;318;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4" name="Google Shape;324;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5" name="Google Shape;325;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4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4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4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4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4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4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5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5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5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5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51"/>
          <p:cNvSpPr>
            <a:spLocks noGrp="1"/>
          </p:cNvSpPr>
          <p:nvPr>
            <p:ph type="pic" idx="2"/>
          </p:nvPr>
        </p:nvSpPr>
        <p:spPr>
          <a:xfrm>
            <a:off x="1792288" y="612775"/>
            <a:ext cx="5486400" cy="4114800"/>
          </a:xfrm>
          <a:prstGeom prst="rect">
            <a:avLst/>
          </a:prstGeom>
          <a:noFill/>
          <a:ln>
            <a:noFill/>
          </a:ln>
        </p:spPr>
      </p:sp>
      <p:sp>
        <p:nvSpPr>
          <p:cNvPr id="68" name="Google Shape;68;p5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5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5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5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5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685800" y="1524000"/>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800"/>
              <a:buFont typeface="Times New Roman"/>
              <a:buNone/>
            </a:pPr>
            <a:r>
              <a:rPr lang="en-US" sz="4800">
                <a:latin typeface="Times New Roman"/>
                <a:ea typeface="Times New Roman"/>
                <a:cs typeface="Times New Roman"/>
                <a:sym typeface="Times New Roman"/>
              </a:rPr>
              <a:t>Introduction to Data Science</a:t>
            </a:r>
            <a:endParaRPr sz="4800">
              <a:latin typeface="Times New Roman"/>
              <a:ea typeface="Times New Roman"/>
              <a:cs typeface="Times New Roman"/>
              <a:sym typeface="Times New Roman"/>
            </a:endParaRPr>
          </a:p>
        </p:txBody>
      </p:sp>
      <p:sp>
        <p:nvSpPr>
          <p:cNvPr id="89" name="Google Shape;89;p1"/>
          <p:cNvSpPr txBox="1">
            <a:spLocks noGrp="1"/>
          </p:cNvSpPr>
          <p:nvPr>
            <p:ph type="subTitle" idx="1"/>
          </p:nvPr>
        </p:nvSpPr>
        <p:spPr>
          <a:xfrm>
            <a:off x="1371600" y="3657600"/>
            <a:ext cx="6400800" cy="19812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FF0000"/>
              </a:buClr>
              <a:buSzPts val="4000"/>
              <a:buNone/>
            </a:pPr>
            <a:r>
              <a:rPr lang="en-US" sz="4000">
                <a:solidFill>
                  <a:srgbClr val="FF0000"/>
                </a:solidFill>
                <a:latin typeface="Times New Roman"/>
                <a:ea typeface="Times New Roman"/>
                <a:cs typeface="Times New Roman"/>
                <a:sym typeface="Times New Roman"/>
              </a:rPr>
              <a:t>Unit 1</a:t>
            </a:r>
            <a:endParaRPr/>
          </a:p>
          <a:p>
            <a:pPr marL="0" lvl="0" indent="0" algn="ctr" rtl="0">
              <a:spcBef>
                <a:spcPts val="400"/>
              </a:spcBef>
              <a:spcAft>
                <a:spcPts val="0"/>
              </a:spcAft>
              <a:buClr>
                <a:srgbClr val="888888"/>
              </a:buClr>
              <a:buSzPts val="2000"/>
              <a:buNone/>
            </a:pPr>
            <a:endParaRPr sz="2000" b="1"/>
          </a:p>
          <a:p>
            <a:pPr marL="0" lvl="0" indent="0" algn="ctr" rtl="0">
              <a:spcBef>
                <a:spcPts val="640"/>
              </a:spcBef>
              <a:spcAft>
                <a:spcPts val="0"/>
              </a:spcAft>
              <a:buClr>
                <a:srgbClr val="888888"/>
              </a:buClr>
              <a:buSzPts val="32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95" name="Google Shape;95;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b="1">
                <a:latin typeface="Times New Roman"/>
                <a:ea typeface="Times New Roman"/>
                <a:cs typeface="Times New Roman"/>
                <a:sym typeface="Times New Roman"/>
              </a:rPr>
              <a:t>Data science:</a:t>
            </a:r>
            <a:r>
              <a:rPr lang="en-US">
                <a:latin typeface="Times New Roman"/>
                <a:ea typeface="Times New Roman"/>
                <a:cs typeface="Times New Roman"/>
                <a:sym typeface="Times New Roman"/>
              </a:rPr>
              <a:t> Basic terminology - Example – </a:t>
            </a:r>
            <a:endParaRPr/>
          </a:p>
          <a:p>
            <a:pPr marL="0" lvl="0" indent="0" algn="l" rtl="0">
              <a:spcBef>
                <a:spcPts val="640"/>
              </a:spcBef>
              <a:spcAft>
                <a:spcPts val="0"/>
              </a:spcAft>
              <a:buClr>
                <a:schemeClr val="dk1"/>
              </a:buClr>
              <a:buSzPts val="3200"/>
              <a:buNone/>
            </a:pPr>
            <a:r>
              <a:rPr lang="en-US">
                <a:latin typeface="Times New Roman"/>
                <a:ea typeface="Times New Roman"/>
                <a:cs typeface="Times New Roman"/>
                <a:sym typeface="Times New Roman"/>
              </a:rPr>
              <a:t>Sigma Technologies -  </a:t>
            </a:r>
            <a:endParaRPr>
              <a:latin typeface="Times New Roman"/>
              <a:ea typeface="Times New Roman"/>
              <a:cs typeface="Times New Roman"/>
              <a:sym typeface="Times New Roman"/>
            </a:endParaRPr>
          </a:p>
          <a:p>
            <a:pPr marL="342900" lvl="0" indent="-342900" algn="l" rtl="0">
              <a:spcBef>
                <a:spcPts val="640"/>
              </a:spcBef>
              <a:spcAft>
                <a:spcPts val="0"/>
              </a:spcAft>
              <a:buClr>
                <a:schemeClr val="dk1"/>
              </a:buClr>
              <a:buSzPts val="3200"/>
              <a:buChar char="•"/>
            </a:pPr>
            <a:r>
              <a:rPr lang="en-US" b="1">
                <a:latin typeface="Times New Roman"/>
                <a:ea typeface="Times New Roman"/>
                <a:cs typeface="Times New Roman"/>
                <a:sym typeface="Times New Roman"/>
              </a:rPr>
              <a:t>Types of Data:</a:t>
            </a:r>
            <a:r>
              <a:rPr lang="en-US">
                <a:latin typeface="Times New Roman"/>
                <a:ea typeface="Times New Roman"/>
                <a:cs typeface="Times New Roman"/>
                <a:sym typeface="Times New Roman"/>
              </a:rPr>
              <a:t> Structured versus unstructured data - Quantitative versus qualitative data - The four levels of data – Nominal – Ordinal – Interval – Ratio</a:t>
            </a:r>
            <a:endParaRPr>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None/>
            </a:pPr>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Introduction</a:t>
            </a:r>
            <a:endParaRPr>
              <a:latin typeface="Times New Roman"/>
              <a:ea typeface="Times New Roman"/>
              <a:cs typeface="Times New Roman"/>
              <a:sym typeface="Times New Roman"/>
            </a:endParaRPr>
          </a:p>
        </p:txBody>
      </p:sp>
      <p:sp>
        <p:nvSpPr>
          <p:cNvPr id="102" name="Google Shape;102;p3"/>
          <p:cNvSpPr txBox="1">
            <a:spLocks noGrp="1"/>
          </p:cNvSpPr>
          <p:nvPr>
            <p:ph type="body" idx="1"/>
          </p:nvPr>
        </p:nvSpPr>
        <p:spPr>
          <a:xfrm>
            <a:off x="457200" y="1295400"/>
            <a:ext cx="8382000" cy="5105400"/>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just" rtl="0">
              <a:spcBef>
                <a:spcPts val="0"/>
              </a:spcBef>
              <a:spcAft>
                <a:spcPts val="0"/>
              </a:spcAft>
              <a:buClr>
                <a:schemeClr val="dk1"/>
              </a:buClr>
              <a:buSzPct val="100000"/>
              <a:buChar char="•"/>
            </a:pPr>
            <a:r>
              <a:rPr lang="en-US" u="sng">
                <a:latin typeface="Times New Roman"/>
                <a:ea typeface="Times New Roman"/>
                <a:cs typeface="Times New Roman"/>
                <a:sym typeface="Times New Roman"/>
              </a:rPr>
              <a:t>19th century:</a:t>
            </a:r>
            <a:r>
              <a:rPr lang="en-US">
                <a:latin typeface="Times New Roman"/>
                <a:ea typeface="Times New Roman"/>
                <a:cs typeface="Times New Roman"/>
                <a:sym typeface="Times New Roman"/>
              </a:rPr>
              <a:t> </a:t>
            </a:r>
            <a:r>
              <a:rPr lang="en-US" i="1">
                <a:latin typeface="Times New Roman"/>
                <a:ea typeface="Times New Roman"/>
                <a:cs typeface="Times New Roman"/>
                <a:sym typeface="Times New Roman"/>
              </a:rPr>
              <a:t>industrial age</a:t>
            </a:r>
            <a:r>
              <a:rPr lang="en-US">
                <a:latin typeface="Times New Roman"/>
                <a:ea typeface="Times New Roman"/>
                <a:cs typeface="Times New Roman"/>
                <a:sym typeface="Times New Roman"/>
              </a:rPr>
              <a:t>. Mankind was exploring its place in industry alongside giant mechanical inventions.</a:t>
            </a:r>
            <a:endParaRPr/>
          </a:p>
          <a:p>
            <a:pPr marL="342900" lvl="0" indent="-342900" algn="just" rtl="0">
              <a:spcBef>
                <a:spcPts val="592"/>
              </a:spcBef>
              <a:spcAft>
                <a:spcPts val="0"/>
              </a:spcAft>
              <a:buClr>
                <a:schemeClr val="dk1"/>
              </a:buClr>
              <a:buSzPct val="100000"/>
              <a:buChar char="•"/>
            </a:pPr>
            <a:r>
              <a:rPr lang="en-US" u="sng">
                <a:latin typeface="Times New Roman"/>
                <a:ea typeface="Times New Roman"/>
                <a:cs typeface="Times New Roman"/>
                <a:sym typeface="Times New Roman"/>
              </a:rPr>
              <a:t>20th century:</a:t>
            </a:r>
            <a:r>
              <a:rPr lang="en-US">
                <a:latin typeface="Times New Roman"/>
                <a:ea typeface="Times New Roman"/>
                <a:cs typeface="Times New Roman"/>
                <a:sym typeface="Times New Roman"/>
              </a:rPr>
              <a:t> industrial age was over and was replaced by </a:t>
            </a:r>
            <a:r>
              <a:rPr lang="en-US" i="1">
                <a:latin typeface="Times New Roman"/>
                <a:ea typeface="Times New Roman"/>
                <a:cs typeface="Times New Roman"/>
                <a:sym typeface="Times New Roman"/>
              </a:rPr>
              <a:t>information age</a:t>
            </a:r>
            <a:r>
              <a:rPr lang="en-US">
                <a:latin typeface="Times New Roman"/>
                <a:ea typeface="Times New Roman"/>
                <a:cs typeface="Times New Roman"/>
                <a:sym typeface="Times New Roman"/>
              </a:rPr>
              <a:t>. We started using machines to gather and store information (data) about ourselves and our environment for the purpose of understanding our universe.</a:t>
            </a:r>
            <a:endParaRPr/>
          </a:p>
          <a:p>
            <a:pPr marL="342900" lvl="0" indent="-342900" algn="just" rtl="0">
              <a:spcBef>
                <a:spcPts val="592"/>
              </a:spcBef>
              <a:spcAft>
                <a:spcPts val="0"/>
              </a:spcAft>
              <a:buClr>
                <a:schemeClr val="dk1"/>
              </a:buClr>
              <a:buSzPct val="100000"/>
              <a:buChar char="•"/>
            </a:pPr>
            <a:r>
              <a:rPr lang="en-US" u="sng">
                <a:latin typeface="Times New Roman"/>
                <a:ea typeface="Times New Roman"/>
                <a:cs typeface="Times New Roman"/>
                <a:sym typeface="Times New Roman"/>
              </a:rPr>
              <a:t>21st century:</a:t>
            </a:r>
            <a:r>
              <a:rPr lang="en-US">
                <a:latin typeface="Times New Roman"/>
                <a:ea typeface="Times New Roman"/>
                <a:cs typeface="Times New Roman"/>
                <a:sym typeface="Times New Roman"/>
              </a:rPr>
              <a:t> a problem - we have so much data and we keep making more. </a:t>
            </a:r>
            <a:r>
              <a:rPr lang="en-US">
                <a:solidFill>
                  <a:srgbClr val="FF0000"/>
                </a:solidFill>
                <a:latin typeface="Times New Roman"/>
                <a:ea typeface="Times New Roman"/>
                <a:cs typeface="Times New Roman"/>
                <a:sym typeface="Times New Roman"/>
              </a:rPr>
              <a:t>Data scientist </a:t>
            </a:r>
            <a:r>
              <a:rPr lang="en-US">
                <a:latin typeface="Times New Roman"/>
                <a:ea typeface="Times New Roman"/>
                <a:cs typeface="Times New Roman"/>
                <a:sym typeface="Times New Roman"/>
              </a:rPr>
              <a:t>- using data to make accurate predictions and simulations</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4"/>
          <p:cNvSpPr txBox="1">
            <a:spLocks noGrp="1"/>
          </p:cNvSpPr>
          <p:nvPr>
            <p:ph type="title"/>
          </p:nvPr>
        </p:nvSpPr>
        <p:spPr>
          <a:xfrm>
            <a:off x="457200" y="152400"/>
            <a:ext cx="8229600" cy="9445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What is data science?</a:t>
            </a:r>
            <a:endParaRPr>
              <a:latin typeface="Times New Roman"/>
              <a:ea typeface="Times New Roman"/>
              <a:cs typeface="Times New Roman"/>
              <a:sym typeface="Times New Roman"/>
            </a:endParaRPr>
          </a:p>
        </p:txBody>
      </p:sp>
      <p:sp>
        <p:nvSpPr>
          <p:cNvPr id="109" name="Google Shape;109;p4"/>
          <p:cNvSpPr txBox="1">
            <a:spLocks noGrp="1"/>
          </p:cNvSpPr>
          <p:nvPr>
            <p:ph type="body" idx="1"/>
          </p:nvPr>
        </p:nvSpPr>
        <p:spPr>
          <a:xfrm>
            <a:off x="457200" y="914400"/>
            <a:ext cx="8229600" cy="55626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FF0000"/>
              </a:buClr>
              <a:buSzPts val="2200"/>
              <a:buChar char="•"/>
            </a:pPr>
            <a:r>
              <a:rPr lang="en-US" sz="2200" b="1">
                <a:solidFill>
                  <a:srgbClr val="FF0000"/>
                </a:solidFill>
                <a:latin typeface="Times New Roman"/>
                <a:ea typeface="Times New Roman"/>
                <a:cs typeface="Times New Roman"/>
                <a:sym typeface="Times New Roman"/>
              </a:rPr>
              <a:t>Data</a:t>
            </a:r>
            <a:r>
              <a:rPr lang="en-US" sz="2200">
                <a:latin typeface="Times New Roman"/>
                <a:ea typeface="Times New Roman"/>
                <a:cs typeface="Times New Roman"/>
                <a:sym typeface="Times New Roman"/>
              </a:rPr>
              <a:t>: collection of information in either an </a:t>
            </a:r>
            <a:r>
              <a:rPr lang="en-US" sz="2200" i="1">
                <a:latin typeface="Times New Roman"/>
                <a:ea typeface="Times New Roman"/>
                <a:cs typeface="Times New Roman"/>
                <a:sym typeface="Times New Roman"/>
              </a:rPr>
              <a:t>organized </a:t>
            </a:r>
            <a:r>
              <a:rPr lang="en-US" sz="2200">
                <a:latin typeface="Times New Roman"/>
                <a:ea typeface="Times New Roman"/>
                <a:cs typeface="Times New Roman"/>
                <a:sym typeface="Times New Roman"/>
              </a:rPr>
              <a:t>or </a:t>
            </a:r>
            <a:r>
              <a:rPr lang="en-US" sz="2200" i="1">
                <a:latin typeface="Times New Roman"/>
                <a:ea typeface="Times New Roman"/>
                <a:cs typeface="Times New Roman"/>
                <a:sym typeface="Times New Roman"/>
              </a:rPr>
              <a:t>unorganized </a:t>
            </a:r>
            <a:r>
              <a:rPr lang="en-US" sz="2200">
                <a:latin typeface="Times New Roman"/>
                <a:ea typeface="Times New Roman"/>
                <a:cs typeface="Times New Roman"/>
                <a:sym typeface="Times New Roman"/>
              </a:rPr>
              <a:t>format</a:t>
            </a:r>
            <a:endParaRPr/>
          </a:p>
          <a:p>
            <a:pPr marL="742950" lvl="1" indent="-285750" algn="just" rtl="0">
              <a:spcBef>
                <a:spcPts val="440"/>
              </a:spcBef>
              <a:spcAft>
                <a:spcPts val="0"/>
              </a:spcAft>
              <a:buClr>
                <a:schemeClr val="dk1"/>
              </a:buClr>
              <a:buSzPts val="2200"/>
              <a:buChar char="–"/>
            </a:pPr>
            <a:r>
              <a:rPr lang="en-US" sz="2200" b="1">
                <a:latin typeface="Times New Roman"/>
                <a:ea typeface="Times New Roman"/>
                <a:cs typeface="Times New Roman"/>
                <a:sym typeface="Times New Roman"/>
              </a:rPr>
              <a:t>Organized data</a:t>
            </a:r>
            <a:r>
              <a:rPr lang="en-US" sz="2200">
                <a:latin typeface="Times New Roman"/>
                <a:ea typeface="Times New Roman"/>
                <a:cs typeface="Times New Roman"/>
                <a:sym typeface="Times New Roman"/>
              </a:rPr>
              <a:t>: This refers to data that is sorted into a row/column structure, where every row represents a single </a:t>
            </a:r>
            <a:r>
              <a:rPr lang="en-US" sz="2200" i="1">
                <a:latin typeface="Times New Roman"/>
                <a:ea typeface="Times New Roman"/>
                <a:cs typeface="Times New Roman"/>
                <a:sym typeface="Times New Roman"/>
              </a:rPr>
              <a:t>observation </a:t>
            </a:r>
            <a:r>
              <a:rPr lang="en-US" sz="2200">
                <a:latin typeface="Times New Roman"/>
                <a:ea typeface="Times New Roman"/>
                <a:cs typeface="Times New Roman"/>
                <a:sym typeface="Times New Roman"/>
              </a:rPr>
              <a:t>and the columns represent the </a:t>
            </a:r>
            <a:r>
              <a:rPr lang="en-US" sz="2200" i="1">
                <a:latin typeface="Times New Roman"/>
                <a:ea typeface="Times New Roman"/>
                <a:cs typeface="Times New Roman"/>
                <a:sym typeface="Times New Roman"/>
              </a:rPr>
              <a:t>characteristics </a:t>
            </a:r>
            <a:r>
              <a:rPr lang="en-US" sz="2200">
                <a:latin typeface="Times New Roman"/>
                <a:ea typeface="Times New Roman"/>
                <a:cs typeface="Times New Roman"/>
                <a:sym typeface="Times New Roman"/>
              </a:rPr>
              <a:t>of that observation.</a:t>
            </a:r>
            <a:endParaRPr/>
          </a:p>
          <a:p>
            <a:pPr marL="742950" lvl="1" indent="-285750" algn="just" rtl="0">
              <a:spcBef>
                <a:spcPts val="440"/>
              </a:spcBef>
              <a:spcAft>
                <a:spcPts val="0"/>
              </a:spcAft>
              <a:buClr>
                <a:schemeClr val="dk1"/>
              </a:buClr>
              <a:buSzPts val="2200"/>
              <a:buChar char="–"/>
            </a:pPr>
            <a:r>
              <a:rPr lang="en-US" sz="2200" b="1">
                <a:latin typeface="Times New Roman"/>
                <a:ea typeface="Times New Roman"/>
                <a:cs typeface="Times New Roman"/>
                <a:sym typeface="Times New Roman"/>
              </a:rPr>
              <a:t>Unorganized data</a:t>
            </a:r>
            <a:r>
              <a:rPr lang="en-US" sz="2200">
                <a:latin typeface="Times New Roman"/>
                <a:ea typeface="Times New Roman"/>
                <a:cs typeface="Times New Roman"/>
                <a:sym typeface="Times New Roman"/>
              </a:rPr>
              <a:t>: This is the type of data that is in the free form, usually text or raw audio/signals that must be parsed further to become organized.</a:t>
            </a:r>
            <a:endParaRPr/>
          </a:p>
          <a:p>
            <a:pPr marL="342900" lvl="0" indent="-342900" algn="just" rtl="0">
              <a:spcBef>
                <a:spcPts val="440"/>
              </a:spcBef>
              <a:spcAft>
                <a:spcPts val="0"/>
              </a:spcAft>
              <a:buClr>
                <a:srgbClr val="FF0000"/>
              </a:buClr>
              <a:buSzPts val="2200"/>
              <a:buChar char="•"/>
            </a:pPr>
            <a:r>
              <a:rPr lang="en-US" sz="2200" b="1">
                <a:solidFill>
                  <a:srgbClr val="FF0000"/>
                </a:solidFill>
                <a:latin typeface="Times New Roman"/>
                <a:ea typeface="Times New Roman"/>
                <a:cs typeface="Times New Roman"/>
                <a:sym typeface="Times New Roman"/>
              </a:rPr>
              <a:t>Data Science</a:t>
            </a:r>
            <a:r>
              <a:rPr lang="en-US" sz="2200">
                <a:latin typeface="Times New Roman"/>
                <a:ea typeface="Times New Roman"/>
                <a:cs typeface="Times New Roman"/>
                <a:sym typeface="Times New Roman"/>
              </a:rPr>
              <a:t>: is the art and science of acquiring knowledge through data. It is all about how we take data, use it to acquire knowledge, and then use that knowledge to do the following:</a:t>
            </a:r>
            <a:endParaRPr/>
          </a:p>
          <a:p>
            <a:pPr marL="914400" lvl="2" indent="0" algn="just" rtl="0">
              <a:spcBef>
                <a:spcPts val="440"/>
              </a:spcBef>
              <a:spcAft>
                <a:spcPts val="0"/>
              </a:spcAft>
              <a:buClr>
                <a:schemeClr val="dk1"/>
              </a:buClr>
              <a:buSzPts val="2200"/>
              <a:buNone/>
            </a:pPr>
            <a:r>
              <a:rPr lang="en-US" sz="2200">
                <a:latin typeface="Times New Roman"/>
                <a:ea typeface="Times New Roman"/>
                <a:cs typeface="Times New Roman"/>
                <a:sym typeface="Times New Roman"/>
              </a:rPr>
              <a:t>• Make decisions</a:t>
            </a:r>
            <a:endParaRPr/>
          </a:p>
          <a:p>
            <a:pPr marL="914400" lvl="2" indent="0" algn="just" rtl="0">
              <a:spcBef>
                <a:spcPts val="440"/>
              </a:spcBef>
              <a:spcAft>
                <a:spcPts val="0"/>
              </a:spcAft>
              <a:buClr>
                <a:schemeClr val="dk1"/>
              </a:buClr>
              <a:buSzPts val="2200"/>
              <a:buNone/>
            </a:pPr>
            <a:r>
              <a:rPr lang="en-US" sz="2200">
                <a:latin typeface="Times New Roman"/>
                <a:ea typeface="Times New Roman"/>
                <a:cs typeface="Times New Roman"/>
                <a:sym typeface="Times New Roman"/>
              </a:rPr>
              <a:t>• Predict the future</a:t>
            </a:r>
            <a:endParaRPr/>
          </a:p>
          <a:p>
            <a:pPr marL="914400" lvl="2" indent="0" algn="just" rtl="0">
              <a:spcBef>
                <a:spcPts val="440"/>
              </a:spcBef>
              <a:spcAft>
                <a:spcPts val="0"/>
              </a:spcAft>
              <a:buClr>
                <a:schemeClr val="dk1"/>
              </a:buClr>
              <a:buSzPts val="2200"/>
              <a:buNone/>
            </a:pPr>
            <a:r>
              <a:rPr lang="en-US" sz="2200">
                <a:latin typeface="Times New Roman"/>
                <a:ea typeface="Times New Roman"/>
                <a:cs typeface="Times New Roman"/>
                <a:sym typeface="Times New Roman"/>
              </a:rPr>
              <a:t>• Understand the past/present</a:t>
            </a:r>
            <a:endParaRPr/>
          </a:p>
          <a:p>
            <a:pPr marL="914400" lvl="2" indent="0" algn="just" rtl="0">
              <a:spcBef>
                <a:spcPts val="440"/>
              </a:spcBef>
              <a:spcAft>
                <a:spcPts val="0"/>
              </a:spcAft>
              <a:buClr>
                <a:schemeClr val="dk1"/>
              </a:buClr>
              <a:buSzPts val="2200"/>
              <a:buNone/>
            </a:pPr>
            <a:r>
              <a:rPr lang="en-US" sz="2200">
                <a:latin typeface="Times New Roman"/>
                <a:ea typeface="Times New Roman"/>
                <a:cs typeface="Times New Roman"/>
                <a:sym typeface="Times New Roman"/>
              </a:rPr>
              <a:t>• Create new industries/products</a:t>
            </a: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5"/>
          <p:cNvSpPr txBox="1">
            <a:spLocks noGrp="1"/>
          </p:cNvSpPr>
          <p:nvPr>
            <p:ph type="title"/>
          </p:nvPr>
        </p:nvSpPr>
        <p:spPr>
          <a:xfrm>
            <a:off x="457200" y="274638"/>
            <a:ext cx="8229600" cy="8683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Data Science</a:t>
            </a:r>
            <a:endParaRPr>
              <a:latin typeface="Times New Roman"/>
              <a:ea typeface="Times New Roman"/>
              <a:cs typeface="Times New Roman"/>
              <a:sym typeface="Times New Roman"/>
            </a:endParaRPr>
          </a:p>
        </p:txBody>
      </p:sp>
      <p:sp>
        <p:nvSpPr>
          <p:cNvPr id="115" name="Google Shape;115;p5"/>
          <p:cNvSpPr txBox="1">
            <a:spLocks noGrp="1"/>
          </p:cNvSpPr>
          <p:nvPr>
            <p:ph type="body" idx="1"/>
          </p:nvPr>
        </p:nvSpPr>
        <p:spPr>
          <a:xfrm>
            <a:off x="228600" y="1066800"/>
            <a:ext cx="87630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200"/>
              <a:buNone/>
            </a:pPr>
            <a:r>
              <a:rPr lang="en-US" sz="2200">
                <a:latin typeface="Times New Roman"/>
                <a:ea typeface="Times New Roman"/>
                <a:cs typeface="Times New Roman"/>
                <a:sym typeface="Times New Roman"/>
              </a:rPr>
              <a:t>Understanding data science begins with three basic areas:</a:t>
            </a:r>
            <a:endParaRPr/>
          </a:p>
          <a:p>
            <a:pPr marL="692150" lvl="0" indent="-176212" algn="l" rtl="0">
              <a:spcBef>
                <a:spcPts val="440"/>
              </a:spcBef>
              <a:spcAft>
                <a:spcPts val="0"/>
              </a:spcAft>
              <a:buClr>
                <a:schemeClr val="dk1"/>
              </a:buClr>
              <a:buSzPts val="2200"/>
              <a:buNone/>
            </a:pPr>
            <a:r>
              <a:rPr lang="en-US" sz="2200">
                <a:latin typeface="Times New Roman"/>
                <a:ea typeface="Times New Roman"/>
                <a:cs typeface="Times New Roman"/>
                <a:sym typeface="Times New Roman"/>
              </a:rPr>
              <a:t>	• </a:t>
            </a:r>
            <a:r>
              <a:rPr lang="en-US" sz="2200" b="1">
                <a:solidFill>
                  <a:srgbClr val="FF0000"/>
                </a:solidFill>
                <a:latin typeface="Times New Roman"/>
                <a:ea typeface="Times New Roman"/>
                <a:cs typeface="Times New Roman"/>
                <a:sym typeface="Times New Roman"/>
              </a:rPr>
              <a:t>Math/statistics</a:t>
            </a:r>
            <a:r>
              <a:rPr lang="en-US" sz="2200">
                <a:solidFill>
                  <a:srgbClr val="FF0000"/>
                </a:solidFill>
                <a:latin typeface="Times New Roman"/>
                <a:ea typeface="Times New Roman"/>
                <a:cs typeface="Times New Roman"/>
                <a:sym typeface="Times New Roman"/>
              </a:rPr>
              <a:t>:</a:t>
            </a:r>
            <a:r>
              <a:rPr lang="en-US" sz="2200">
                <a:latin typeface="Times New Roman"/>
                <a:ea typeface="Times New Roman"/>
                <a:cs typeface="Times New Roman"/>
                <a:sym typeface="Times New Roman"/>
              </a:rPr>
              <a:t> use of equations and formulas to perform analysis</a:t>
            </a:r>
            <a:endParaRPr/>
          </a:p>
          <a:p>
            <a:pPr marL="692150" lvl="0" indent="-176212" algn="l" rtl="0">
              <a:spcBef>
                <a:spcPts val="440"/>
              </a:spcBef>
              <a:spcAft>
                <a:spcPts val="0"/>
              </a:spcAft>
              <a:buClr>
                <a:schemeClr val="dk1"/>
              </a:buClr>
              <a:buSzPts val="2200"/>
              <a:buNone/>
            </a:pPr>
            <a:r>
              <a:rPr lang="en-US" sz="2200">
                <a:latin typeface="Times New Roman"/>
                <a:ea typeface="Times New Roman"/>
                <a:cs typeface="Times New Roman"/>
                <a:sym typeface="Times New Roman"/>
              </a:rPr>
              <a:t>	• </a:t>
            </a:r>
            <a:r>
              <a:rPr lang="en-US" sz="2200" b="1">
                <a:solidFill>
                  <a:srgbClr val="FF0000"/>
                </a:solidFill>
                <a:latin typeface="Times New Roman"/>
                <a:ea typeface="Times New Roman"/>
                <a:cs typeface="Times New Roman"/>
                <a:sym typeface="Times New Roman"/>
              </a:rPr>
              <a:t>Computer programming</a:t>
            </a:r>
            <a:r>
              <a:rPr lang="en-US" sz="2200">
                <a:latin typeface="Times New Roman"/>
                <a:ea typeface="Times New Roman"/>
                <a:cs typeface="Times New Roman"/>
                <a:sym typeface="Times New Roman"/>
              </a:rPr>
              <a:t>: ability to use code to create outcomes on the computer</a:t>
            </a:r>
            <a:endParaRPr sz="2200">
              <a:latin typeface="Times New Roman"/>
              <a:ea typeface="Times New Roman"/>
              <a:cs typeface="Times New Roman"/>
              <a:sym typeface="Times New Roman"/>
            </a:endParaRPr>
          </a:p>
          <a:p>
            <a:pPr marL="692150" lvl="0" indent="-176212" algn="l" rtl="0">
              <a:spcBef>
                <a:spcPts val="440"/>
              </a:spcBef>
              <a:spcAft>
                <a:spcPts val="0"/>
              </a:spcAft>
              <a:buClr>
                <a:schemeClr val="dk1"/>
              </a:buClr>
              <a:buSzPts val="2200"/>
              <a:buNone/>
            </a:pPr>
            <a:r>
              <a:rPr lang="en-US" sz="2200">
                <a:latin typeface="Times New Roman"/>
                <a:ea typeface="Times New Roman"/>
                <a:cs typeface="Times New Roman"/>
                <a:sym typeface="Times New Roman"/>
              </a:rPr>
              <a:t>	• </a:t>
            </a:r>
            <a:r>
              <a:rPr lang="en-US" sz="2200" b="1">
                <a:solidFill>
                  <a:srgbClr val="FF0000"/>
                </a:solidFill>
                <a:latin typeface="Times New Roman"/>
                <a:ea typeface="Times New Roman"/>
                <a:cs typeface="Times New Roman"/>
                <a:sym typeface="Times New Roman"/>
              </a:rPr>
              <a:t>Domain knowledge</a:t>
            </a:r>
            <a:r>
              <a:rPr lang="en-US" sz="2200">
                <a:latin typeface="Times New Roman"/>
                <a:ea typeface="Times New Roman"/>
                <a:cs typeface="Times New Roman"/>
                <a:sym typeface="Times New Roman"/>
              </a:rPr>
              <a:t>: This refers to understanding the problem domain (medicine, finance, social science, and so on)</a:t>
            </a:r>
            <a:endParaRPr/>
          </a:p>
          <a:p>
            <a:pPr marL="342900" lvl="0" indent="-34290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Having a </a:t>
            </a:r>
            <a:r>
              <a:rPr lang="en-US" sz="2200" b="1">
                <a:latin typeface="Times New Roman"/>
                <a:ea typeface="Times New Roman"/>
                <a:cs typeface="Times New Roman"/>
                <a:sym typeface="Times New Roman"/>
              </a:rPr>
              <a:t>Math &amp; Statistics Knowledge </a:t>
            </a:r>
            <a:r>
              <a:rPr lang="en-US" sz="2200">
                <a:latin typeface="Times New Roman"/>
                <a:ea typeface="Times New Roman"/>
                <a:cs typeface="Times New Roman"/>
                <a:sym typeface="Times New Roman"/>
              </a:rPr>
              <a:t>base allows you to theorize and evaluate algorithms and tweak the existing procedures to fit specific situations. </a:t>
            </a:r>
            <a:endParaRPr sz="2200">
              <a:latin typeface="Times New Roman"/>
              <a:ea typeface="Times New Roman"/>
              <a:cs typeface="Times New Roman"/>
              <a:sym typeface="Times New Roman"/>
            </a:endParaRPr>
          </a:p>
          <a:p>
            <a:pPr marL="342900" lvl="0" indent="-34290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Having </a:t>
            </a:r>
            <a:r>
              <a:rPr lang="en-US" sz="2200" b="1">
                <a:latin typeface="Times New Roman"/>
                <a:ea typeface="Times New Roman"/>
                <a:cs typeface="Times New Roman"/>
                <a:sym typeface="Times New Roman"/>
              </a:rPr>
              <a:t>Substantive Expertise </a:t>
            </a:r>
            <a:r>
              <a:rPr lang="en-US" sz="2200">
                <a:latin typeface="Times New Roman"/>
                <a:ea typeface="Times New Roman"/>
                <a:cs typeface="Times New Roman"/>
                <a:sym typeface="Times New Roman"/>
              </a:rPr>
              <a:t>(domain expertise) allows you to apply concepts and results in a meaningful and effective way.</a:t>
            </a:r>
            <a:endParaRPr/>
          </a:p>
          <a:p>
            <a:pPr marL="342900" lvl="0" indent="-34290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In order to gain knowledge from data, we must be able to utilize computer programming to access the data, understand the mathematics behind the models we derive, and above all, understand our analyses' place in the domain we are in.</a:t>
            </a:r>
            <a:endParaRPr sz="22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Venn Diagram of Data Science</a:t>
            </a:r>
            <a:endParaRPr>
              <a:latin typeface="Times New Roman"/>
              <a:ea typeface="Times New Roman"/>
              <a:cs typeface="Times New Roman"/>
              <a:sym typeface="Times New Roman"/>
            </a:endParaRPr>
          </a:p>
        </p:txBody>
      </p:sp>
      <p:pic>
        <p:nvPicPr>
          <p:cNvPr id="121" name="Google Shape;121;p6" descr="http://drewconway.com/zia/2013/3/26/the-data-science-venn-diagram"/>
          <p:cNvPicPr preferRelativeResize="0"/>
          <p:nvPr/>
        </p:nvPicPr>
        <p:blipFill rotWithShape="1">
          <a:blip r:embed="rId3">
            <a:alphaModFix/>
          </a:blip>
          <a:srcRect/>
          <a:stretch/>
        </p:blipFill>
        <p:spPr>
          <a:xfrm>
            <a:off x="2042160" y="1524000"/>
            <a:ext cx="5029200" cy="48006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Why Data Science?</a:t>
            </a:r>
            <a:endParaRPr>
              <a:latin typeface="Times New Roman"/>
              <a:ea typeface="Times New Roman"/>
              <a:cs typeface="Times New Roman"/>
              <a:sym typeface="Times New Roman"/>
            </a:endParaRPr>
          </a:p>
        </p:txBody>
      </p:sp>
      <p:sp>
        <p:nvSpPr>
          <p:cNvPr id="128" name="Google Shape;128;p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just" rtl="0">
              <a:spcBef>
                <a:spcPts val="0"/>
              </a:spcBef>
              <a:spcAft>
                <a:spcPts val="0"/>
              </a:spcAft>
              <a:buClr>
                <a:schemeClr val="dk1"/>
              </a:buClr>
              <a:buSzPct val="100000"/>
              <a:buChar char="•"/>
            </a:pPr>
            <a:r>
              <a:rPr lang="en-US">
                <a:latin typeface="Times New Roman"/>
                <a:ea typeface="Times New Roman"/>
                <a:cs typeface="Times New Roman"/>
                <a:sym typeface="Times New Roman"/>
              </a:rPr>
              <a:t>Data is collected in various forms and from different sources, and often comes in very unorganized. </a:t>
            </a:r>
            <a:endParaRPr/>
          </a:p>
          <a:p>
            <a:pPr marL="342900" lvl="0" indent="-342900" algn="just" rtl="0">
              <a:spcBef>
                <a:spcPts val="544"/>
              </a:spcBef>
              <a:spcAft>
                <a:spcPts val="0"/>
              </a:spcAft>
              <a:buClr>
                <a:schemeClr val="dk1"/>
              </a:buClr>
              <a:buSzPct val="100000"/>
              <a:buChar char="•"/>
            </a:pPr>
            <a:r>
              <a:rPr lang="en-US">
                <a:latin typeface="Times New Roman"/>
                <a:ea typeface="Times New Roman"/>
                <a:cs typeface="Times New Roman"/>
                <a:sym typeface="Times New Roman"/>
              </a:rPr>
              <a:t>The sheer volume of data makes it literally impossible for a human to parse it in a reasonable time. </a:t>
            </a:r>
            <a:endParaRPr>
              <a:latin typeface="Times New Roman"/>
              <a:ea typeface="Times New Roman"/>
              <a:cs typeface="Times New Roman"/>
              <a:sym typeface="Times New Roman"/>
            </a:endParaRPr>
          </a:p>
          <a:p>
            <a:pPr marL="342900" lvl="0" indent="-342900" algn="just" rtl="0">
              <a:spcBef>
                <a:spcPts val="544"/>
              </a:spcBef>
              <a:spcAft>
                <a:spcPts val="0"/>
              </a:spcAft>
              <a:buClr>
                <a:schemeClr val="dk1"/>
              </a:buClr>
              <a:buSzPct val="100000"/>
              <a:buChar char="•"/>
            </a:pPr>
            <a:r>
              <a:rPr lang="en-US">
                <a:latin typeface="Times New Roman"/>
                <a:ea typeface="Times New Roman"/>
                <a:cs typeface="Times New Roman"/>
                <a:sym typeface="Times New Roman"/>
              </a:rPr>
              <a:t>Data can be missing, incomplete, or just flat out wrong.</a:t>
            </a:r>
            <a:endParaRPr/>
          </a:p>
          <a:p>
            <a:pPr marL="342900" lvl="0" indent="-342900" algn="just" rtl="0">
              <a:spcBef>
                <a:spcPts val="544"/>
              </a:spcBef>
              <a:spcAft>
                <a:spcPts val="0"/>
              </a:spcAft>
              <a:buClr>
                <a:schemeClr val="dk1"/>
              </a:buClr>
              <a:buSzPct val="100000"/>
              <a:buChar char="•"/>
            </a:pPr>
            <a:r>
              <a:rPr lang="en-US">
                <a:latin typeface="Times New Roman"/>
                <a:ea typeface="Times New Roman"/>
                <a:cs typeface="Times New Roman"/>
                <a:sym typeface="Times New Roman"/>
              </a:rPr>
              <a:t>Often, we have data on very different scales and that makes it tough to compare it.</a:t>
            </a:r>
            <a:endParaRPr/>
          </a:p>
          <a:p>
            <a:pPr marL="342900" lvl="0" indent="-342900" algn="just" rtl="0">
              <a:spcBef>
                <a:spcPts val="544"/>
              </a:spcBef>
              <a:spcAft>
                <a:spcPts val="0"/>
              </a:spcAft>
              <a:buClr>
                <a:srgbClr val="FF0000"/>
              </a:buClr>
              <a:buSzPct val="100000"/>
              <a:buChar char="•"/>
            </a:pPr>
            <a:r>
              <a:rPr lang="en-US">
                <a:solidFill>
                  <a:srgbClr val="FF0000"/>
                </a:solidFill>
                <a:latin typeface="Times New Roman"/>
                <a:ea typeface="Times New Roman"/>
                <a:cs typeface="Times New Roman"/>
                <a:sym typeface="Times New Roman"/>
              </a:rPr>
              <a:t>One of the main goals of data science</a:t>
            </a:r>
            <a:r>
              <a:rPr lang="en-US">
                <a:latin typeface="Times New Roman"/>
                <a:ea typeface="Times New Roman"/>
                <a:cs typeface="Times New Roman"/>
                <a:sym typeface="Times New Roman"/>
              </a:rPr>
              <a:t>: to make explicit practices and procedures to discover and apply the relationships in the data.</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Example – Sigma Technologies</a:t>
            </a:r>
            <a:endParaRPr/>
          </a:p>
        </p:txBody>
      </p:sp>
      <p:sp>
        <p:nvSpPr>
          <p:cNvPr id="135" name="Google Shape;135;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200"/>
              <a:buChar char="•"/>
            </a:pPr>
            <a:r>
              <a:rPr lang="en-US" sz="2200">
                <a:latin typeface="Times New Roman"/>
                <a:ea typeface="Times New Roman"/>
                <a:cs typeface="Times New Roman"/>
                <a:sym typeface="Times New Roman"/>
              </a:rPr>
              <a:t>Ben Runkle, CEO, Sigma Technologies</a:t>
            </a:r>
            <a:endParaRPr/>
          </a:p>
          <a:p>
            <a:pPr marL="342900" lvl="0" indent="-342900" algn="just"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His chief data scientist, Dr. Jessie Hughan </a:t>
            </a:r>
            <a:endParaRPr/>
          </a:p>
          <a:p>
            <a:pPr marL="342900" lvl="0" indent="-342900" algn="just"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A huge problem -The company is consistently losing long-time customers. </a:t>
            </a:r>
            <a:endParaRPr/>
          </a:p>
          <a:p>
            <a:pPr marL="342900" lvl="0" indent="-342900" algn="just"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CEO does not know why they are leaving, but he feels he must do something fast. Data Scientist turns to the transcripts of recent customer service tickets</a:t>
            </a:r>
            <a:endParaRPr/>
          </a:p>
          <a:p>
            <a:pPr marL="342900" lvl="0" indent="-342900" algn="just"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CEO is convinced that in order to reduce his churn, he must create new products and features, and consolidate existing technologies.</a:t>
            </a:r>
            <a:endParaRPr/>
          </a:p>
          <a:p>
            <a:pPr marL="342900" lvl="0" indent="-342900" algn="just"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It is clear that customers were having problems with the existing UI/UX, and weren't upset due to a lack of features. Runkle and Hughan organized a mass UI/UX overhaul and their sales have never been better.</a:t>
            </a:r>
            <a:endParaRPr/>
          </a:p>
          <a:p>
            <a:pPr marL="742950" lvl="1" indent="-146050" algn="just" rtl="0">
              <a:spcBef>
                <a:spcPts val="440"/>
              </a:spcBef>
              <a:spcAft>
                <a:spcPts val="0"/>
              </a:spcAft>
              <a:buClr>
                <a:schemeClr val="dk1"/>
              </a:buClr>
              <a:buSzPts val="2200"/>
              <a:buNone/>
            </a:pPr>
            <a:endParaRPr sz="2200">
              <a:latin typeface="Times New Roman"/>
              <a:ea typeface="Times New Roman"/>
              <a:cs typeface="Times New Roman"/>
              <a:sym typeface="Times New Roman"/>
            </a:endParaRPr>
          </a:p>
          <a:p>
            <a:pPr marL="742950" lvl="1" indent="-146050" algn="just" rtl="0">
              <a:spcBef>
                <a:spcPts val="440"/>
              </a:spcBef>
              <a:spcAft>
                <a:spcPts val="0"/>
              </a:spcAft>
              <a:buClr>
                <a:schemeClr val="dk1"/>
              </a:buClr>
              <a:buSzPts val="2200"/>
              <a:buNone/>
            </a:pPr>
            <a:endParaRPr sz="22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ct val="100000"/>
              <a:buFont typeface="Calibri"/>
              <a:buNone/>
            </a:pPr>
            <a:r>
              <a:rPr lang="en-US"/>
              <a:t>Cont…</a:t>
            </a:r>
            <a:endParaRPr/>
          </a:p>
          <a:p>
            <a:pPr marL="0" lvl="0" indent="0" algn="ctr" rtl="0">
              <a:spcBef>
                <a:spcPts val="0"/>
              </a:spcBef>
              <a:spcAft>
                <a:spcPts val="0"/>
              </a:spcAft>
              <a:buClr>
                <a:schemeClr val="dk1"/>
              </a:buClr>
              <a:buSzPct val="100000"/>
              <a:buFont typeface="Calibri"/>
              <a:buNone/>
            </a:pPr>
            <a:endParaRPr/>
          </a:p>
        </p:txBody>
      </p:sp>
      <p:sp>
        <p:nvSpPr>
          <p:cNvPr id="141" name="Google Shape;141;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just" rtl="0">
              <a:spcBef>
                <a:spcPts val="0"/>
              </a:spcBef>
              <a:spcAft>
                <a:spcPts val="0"/>
              </a:spcAft>
              <a:buClr>
                <a:schemeClr val="dk1"/>
              </a:buClr>
              <a:buSzPct val="100000"/>
              <a:buChar char="•"/>
            </a:pPr>
            <a:r>
              <a:rPr lang="en-US">
                <a:latin typeface="Times New Roman"/>
                <a:ea typeface="Times New Roman"/>
                <a:cs typeface="Times New Roman"/>
                <a:sym typeface="Times New Roman"/>
              </a:rPr>
              <a:t>Today's common stick-to-your-gut CEO wants to make all decisions quickly and iterate over solutions until something works. </a:t>
            </a:r>
            <a:endParaRPr/>
          </a:p>
          <a:p>
            <a:pPr marL="342900" lvl="0" indent="-342900" algn="just" rtl="0">
              <a:spcBef>
                <a:spcPts val="496"/>
              </a:spcBef>
              <a:spcAft>
                <a:spcPts val="0"/>
              </a:spcAft>
              <a:buClr>
                <a:schemeClr val="dk1"/>
              </a:buClr>
              <a:buSzPct val="100000"/>
              <a:buChar char="•"/>
            </a:pPr>
            <a:r>
              <a:rPr lang="en-US">
                <a:latin typeface="Times New Roman"/>
                <a:ea typeface="Times New Roman"/>
                <a:cs typeface="Times New Roman"/>
                <a:sym typeface="Times New Roman"/>
              </a:rPr>
              <a:t>Dr. Haghun is much more analytical. She wants to solve the problem just as much as Runkle, but she turns to user-generated data instead of her gut feeling for answers.</a:t>
            </a:r>
            <a:endParaRPr/>
          </a:p>
          <a:p>
            <a:pPr marL="342900" lvl="0" indent="-342900" algn="just" rtl="0">
              <a:spcBef>
                <a:spcPts val="496"/>
              </a:spcBef>
              <a:spcAft>
                <a:spcPts val="0"/>
              </a:spcAft>
              <a:buClr>
                <a:schemeClr val="dk1"/>
              </a:buClr>
              <a:buSzPct val="100000"/>
              <a:buChar char="•"/>
            </a:pPr>
            <a:r>
              <a:rPr lang="en-US">
                <a:latin typeface="Times New Roman"/>
                <a:ea typeface="Times New Roman"/>
                <a:cs typeface="Times New Roman"/>
                <a:sym typeface="Times New Roman"/>
              </a:rPr>
              <a:t>Data science is about applying the skills of the analytical mind and using them as a driver would.</a:t>
            </a:r>
            <a:endParaRPr/>
          </a:p>
          <a:p>
            <a:pPr marL="342900" lvl="0" indent="-342900" algn="just" rtl="0">
              <a:spcBef>
                <a:spcPts val="496"/>
              </a:spcBef>
              <a:spcAft>
                <a:spcPts val="0"/>
              </a:spcAft>
              <a:buClr>
                <a:schemeClr val="dk1"/>
              </a:buClr>
              <a:buSzPct val="100000"/>
              <a:buChar char="•"/>
            </a:pPr>
            <a:r>
              <a:rPr lang="en-US">
                <a:latin typeface="Times New Roman"/>
                <a:ea typeface="Times New Roman"/>
                <a:cs typeface="Times New Roman"/>
                <a:sym typeface="Times New Roman"/>
              </a:rPr>
              <a:t>Hagun's way of thinking that dominates the ideas of data science—using data generated by the company as her source of information rather than just picking up a solution and going with it.</a:t>
            </a:r>
            <a:endParaRPr/>
          </a:p>
          <a:p>
            <a:pPr marL="342900" lvl="0" indent="-185420" algn="l" rtl="0">
              <a:spcBef>
                <a:spcPts val="496"/>
              </a:spcBef>
              <a:spcAft>
                <a:spcPts val="0"/>
              </a:spcAft>
              <a:buClr>
                <a:schemeClr val="dk1"/>
              </a:buClr>
              <a:buSzPct val="100000"/>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b="1"/>
              <a:t>Types of Data</a:t>
            </a:r>
            <a:br>
              <a:rPr lang="en-US" b="1"/>
            </a:br>
            <a:r>
              <a:rPr lang="en-US" b="1"/>
              <a:t>Structured versus unstructured data:</a:t>
            </a:r>
            <a:endParaRPr/>
          </a:p>
        </p:txBody>
      </p:sp>
      <p:sp>
        <p:nvSpPr>
          <p:cNvPr id="148" name="Google Shape;148;p10"/>
          <p:cNvSpPr txBox="1">
            <a:spLocks noGrp="1"/>
          </p:cNvSpPr>
          <p:nvPr>
            <p:ph type="body" idx="1"/>
          </p:nvPr>
        </p:nvSpPr>
        <p:spPr>
          <a:xfrm>
            <a:off x="457200" y="1447800"/>
            <a:ext cx="8229600" cy="5181600"/>
          </a:xfrm>
          <a:prstGeom prst="rect">
            <a:avLst/>
          </a:prstGeom>
          <a:noFill/>
          <a:ln>
            <a:noFill/>
          </a:ln>
        </p:spPr>
        <p:txBody>
          <a:bodyPr spcFirstLastPara="1" wrap="square" lIns="91425" tIns="45700" rIns="91425" bIns="45700" anchor="t" anchorCtr="0">
            <a:noAutofit/>
          </a:bodyPr>
          <a:lstStyle/>
          <a:p>
            <a:pPr marL="339725" lvl="1" indent="-280988" algn="just" rtl="0">
              <a:spcBef>
                <a:spcPts val="0"/>
              </a:spcBef>
              <a:spcAft>
                <a:spcPts val="0"/>
              </a:spcAft>
              <a:buClr>
                <a:srgbClr val="FF0000"/>
              </a:buClr>
              <a:buSzPts val="2200"/>
              <a:buChar char="–"/>
            </a:pPr>
            <a:r>
              <a:rPr lang="en-US" sz="2600" b="1" dirty="0">
                <a:solidFill>
                  <a:srgbClr val="FF0000"/>
                </a:solidFill>
                <a:latin typeface="Times New Roman"/>
                <a:ea typeface="Times New Roman"/>
                <a:cs typeface="Times New Roman"/>
                <a:sym typeface="Times New Roman"/>
              </a:rPr>
              <a:t>Structured (organized) data</a:t>
            </a:r>
            <a:r>
              <a:rPr lang="en-US" sz="2600" dirty="0">
                <a:latin typeface="Times New Roman"/>
                <a:ea typeface="Times New Roman"/>
                <a:cs typeface="Times New Roman"/>
                <a:sym typeface="Times New Roman"/>
              </a:rPr>
              <a:t>: This is data that can be thought of as observations and characteristics. It is usually organized using a table method (rows and columns).</a:t>
            </a:r>
            <a:endParaRPr sz="2600"/>
          </a:p>
          <a:p>
            <a:pPr marL="339725" lvl="1" indent="-280988" algn="just" rtl="0">
              <a:spcBef>
                <a:spcPts val="440"/>
              </a:spcBef>
              <a:spcAft>
                <a:spcPts val="0"/>
              </a:spcAft>
              <a:buClr>
                <a:srgbClr val="FF0000"/>
              </a:buClr>
              <a:buSzPts val="2200"/>
              <a:buChar char="–"/>
            </a:pPr>
            <a:r>
              <a:rPr lang="en-US" sz="2600" b="1" dirty="0">
                <a:solidFill>
                  <a:srgbClr val="FF0000"/>
                </a:solidFill>
                <a:latin typeface="Times New Roman"/>
                <a:ea typeface="Times New Roman"/>
                <a:cs typeface="Times New Roman"/>
                <a:sym typeface="Times New Roman"/>
              </a:rPr>
              <a:t>Unstructured (unorganized) data</a:t>
            </a:r>
            <a:r>
              <a:rPr lang="en-US" sz="2600" dirty="0">
                <a:latin typeface="Times New Roman"/>
                <a:ea typeface="Times New Roman"/>
                <a:cs typeface="Times New Roman"/>
                <a:sym typeface="Times New Roman"/>
              </a:rPr>
              <a:t>: This data exists as a free entity and does not follow any standard organization hierarchy.</a:t>
            </a:r>
            <a:endParaRPr sz="2600"/>
          </a:p>
          <a:p>
            <a:pPr marL="342900" lvl="1" indent="-342900" algn="just" rtl="0">
              <a:spcBef>
                <a:spcPts val="440"/>
              </a:spcBef>
              <a:spcAft>
                <a:spcPts val="0"/>
              </a:spcAft>
              <a:buClr>
                <a:schemeClr val="dk1"/>
              </a:buClr>
              <a:buSzPts val="2200"/>
              <a:buFont typeface="Arial"/>
              <a:buChar char="•"/>
            </a:pPr>
            <a:r>
              <a:rPr lang="en-US" sz="2600" dirty="0">
                <a:latin typeface="Times New Roman"/>
                <a:ea typeface="Times New Roman"/>
                <a:cs typeface="Times New Roman"/>
                <a:sym typeface="Times New Roman"/>
              </a:rPr>
              <a:t>Examples:</a:t>
            </a:r>
            <a:endParaRPr sz="2600"/>
          </a:p>
          <a:p>
            <a:pPr marL="742950" lvl="1" indent="-285750" algn="just" rtl="0">
              <a:spcBef>
                <a:spcPts val="440"/>
              </a:spcBef>
              <a:spcAft>
                <a:spcPts val="0"/>
              </a:spcAft>
              <a:buClr>
                <a:schemeClr val="dk1"/>
              </a:buClr>
              <a:buSzPts val="2200"/>
              <a:buChar char="–"/>
            </a:pPr>
            <a:r>
              <a:rPr lang="en-US" sz="2600" dirty="0">
                <a:latin typeface="Times New Roman"/>
                <a:ea typeface="Times New Roman"/>
                <a:cs typeface="Times New Roman"/>
                <a:sym typeface="Times New Roman"/>
              </a:rPr>
              <a:t>Most data that exists in text form, including server logs and </a:t>
            </a:r>
            <a:r>
              <a:rPr lang="en-US" sz="2600" dirty="0" smtClean="0">
                <a:latin typeface="Times New Roman"/>
                <a:ea typeface="Times New Roman"/>
                <a:cs typeface="Times New Roman"/>
                <a:sym typeface="Times New Roman"/>
              </a:rPr>
              <a:t>Face book </a:t>
            </a:r>
            <a:r>
              <a:rPr lang="en-US" sz="2600" dirty="0">
                <a:latin typeface="Times New Roman"/>
                <a:ea typeface="Times New Roman"/>
                <a:cs typeface="Times New Roman"/>
                <a:sym typeface="Times New Roman"/>
              </a:rPr>
              <a:t>posts, is </a:t>
            </a:r>
            <a:r>
              <a:rPr lang="en-US" sz="2600" i="1" dirty="0">
                <a:latin typeface="Times New Roman"/>
                <a:ea typeface="Times New Roman"/>
                <a:cs typeface="Times New Roman"/>
                <a:sym typeface="Times New Roman"/>
              </a:rPr>
              <a:t>unstructured</a:t>
            </a:r>
            <a:endParaRPr sz="2600"/>
          </a:p>
          <a:p>
            <a:pPr marL="742950" lvl="1" indent="-285750" algn="just" rtl="0">
              <a:spcBef>
                <a:spcPts val="440"/>
              </a:spcBef>
              <a:spcAft>
                <a:spcPts val="0"/>
              </a:spcAft>
              <a:buClr>
                <a:schemeClr val="dk1"/>
              </a:buClr>
              <a:buSzPts val="2200"/>
              <a:buChar char="–"/>
            </a:pPr>
            <a:r>
              <a:rPr lang="en-US" sz="2600" dirty="0">
                <a:latin typeface="Times New Roman"/>
                <a:ea typeface="Times New Roman"/>
                <a:cs typeface="Times New Roman"/>
                <a:sym typeface="Times New Roman"/>
              </a:rPr>
              <a:t>Scientific observations, as recorded by careful scientists, are kept in a very neat and organized (</a:t>
            </a:r>
            <a:r>
              <a:rPr lang="en-US" sz="2600" i="1" dirty="0">
                <a:latin typeface="Times New Roman"/>
                <a:ea typeface="Times New Roman"/>
                <a:cs typeface="Times New Roman"/>
                <a:sym typeface="Times New Roman"/>
              </a:rPr>
              <a:t>structured</a:t>
            </a:r>
            <a:r>
              <a:rPr lang="en-US" sz="2600" dirty="0">
                <a:latin typeface="Times New Roman"/>
                <a:ea typeface="Times New Roman"/>
                <a:cs typeface="Times New Roman"/>
                <a:sym typeface="Times New Roman"/>
              </a:rPr>
              <a:t>) format</a:t>
            </a:r>
            <a:endParaRPr sz="26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ct val="100000"/>
              <a:buFont typeface="Calibri"/>
              <a:buNone/>
            </a:pPr>
            <a:r>
              <a:rPr lang="en-US"/>
              <a:t>Cont…</a:t>
            </a:r>
            <a:endParaRPr/>
          </a:p>
          <a:p>
            <a:pPr marL="0" lvl="0" indent="0" algn="ctr" rtl="0">
              <a:spcBef>
                <a:spcPts val="0"/>
              </a:spcBef>
              <a:spcAft>
                <a:spcPts val="0"/>
              </a:spcAft>
              <a:buClr>
                <a:schemeClr val="dk1"/>
              </a:buClr>
              <a:buSzPct val="100000"/>
              <a:buFont typeface="Calibri"/>
              <a:buNone/>
            </a:pPr>
            <a:endParaRPr/>
          </a:p>
        </p:txBody>
      </p:sp>
      <p:sp>
        <p:nvSpPr>
          <p:cNvPr id="154" name="Google Shape;154;p11"/>
          <p:cNvSpPr txBox="1">
            <a:spLocks noGrp="1"/>
          </p:cNvSpPr>
          <p:nvPr>
            <p:ph type="body" idx="1"/>
          </p:nvPr>
        </p:nvSpPr>
        <p:spPr>
          <a:xfrm>
            <a:off x="457200" y="815926"/>
            <a:ext cx="8229600" cy="5310237"/>
          </a:xfrm>
          <a:prstGeom prst="rect">
            <a:avLst/>
          </a:prstGeom>
          <a:noFill/>
          <a:ln>
            <a:noFill/>
          </a:ln>
        </p:spPr>
        <p:txBody>
          <a:bodyPr spcFirstLastPara="1" wrap="square" lIns="91425" tIns="45700" rIns="91425" bIns="45700" anchor="t" anchorCtr="0">
            <a:normAutofit/>
          </a:bodyPr>
          <a:lstStyle/>
          <a:p>
            <a:pPr marL="742950" lvl="1" indent="-285750" algn="just" rtl="0">
              <a:spcBef>
                <a:spcPts val="0"/>
              </a:spcBef>
              <a:spcAft>
                <a:spcPts val="0"/>
              </a:spcAft>
              <a:buClr>
                <a:schemeClr val="dk1"/>
              </a:buClr>
              <a:buSzPts val="2200"/>
              <a:buChar char="–"/>
            </a:pPr>
            <a:r>
              <a:rPr lang="en-US" sz="2600" dirty="0">
                <a:latin typeface="Times New Roman"/>
                <a:ea typeface="Times New Roman"/>
                <a:cs typeface="Times New Roman"/>
                <a:sym typeface="Times New Roman"/>
              </a:rPr>
              <a:t>A genetic sequence of chemical nucleotides (for example, ACGTATTGCA) is </a:t>
            </a:r>
            <a:r>
              <a:rPr lang="en-US" sz="2600" i="1" dirty="0">
                <a:latin typeface="Times New Roman"/>
                <a:ea typeface="Times New Roman"/>
                <a:cs typeface="Times New Roman"/>
                <a:sym typeface="Times New Roman"/>
              </a:rPr>
              <a:t>unstructured </a:t>
            </a:r>
            <a:r>
              <a:rPr lang="en-US" sz="2600" dirty="0">
                <a:latin typeface="Times New Roman"/>
                <a:ea typeface="Times New Roman"/>
                <a:cs typeface="Times New Roman"/>
                <a:sym typeface="Times New Roman"/>
              </a:rPr>
              <a:t>even if the order of the nucleotides matters as we cannot form descriptors of the sequence using a row/column format without taking a further look</a:t>
            </a:r>
            <a:endParaRPr sz="2600"/>
          </a:p>
          <a:p>
            <a:pPr marL="342900" lvl="0" indent="-342900" algn="just" rtl="0">
              <a:spcBef>
                <a:spcPts val="440"/>
              </a:spcBef>
              <a:spcAft>
                <a:spcPts val="0"/>
              </a:spcAft>
              <a:buClr>
                <a:schemeClr val="dk1"/>
              </a:buClr>
              <a:buSzPts val="2200"/>
              <a:buChar char="•"/>
            </a:pPr>
            <a:r>
              <a:rPr lang="en-US" sz="2600" dirty="0">
                <a:latin typeface="Times New Roman"/>
                <a:ea typeface="Times New Roman"/>
                <a:cs typeface="Times New Roman"/>
                <a:sym typeface="Times New Roman"/>
              </a:rPr>
              <a:t>Structured data is generally thought of as being much easier to work with and analyze. Most statistical and machine learning models were built with structured data in mind and cannot work on the loose interpretation of unstructured data. So, with most of our data existing in this free-form format, we must turn to pre analysis techniques, called </a:t>
            </a:r>
            <a:r>
              <a:rPr lang="en-US" sz="2600" i="1" u="sng" dirty="0">
                <a:latin typeface="Times New Roman"/>
                <a:ea typeface="Times New Roman"/>
                <a:cs typeface="Times New Roman"/>
                <a:sym typeface="Times New Roman"/>
              </a:rPr>
              <a:t>preprocessing</a:t>
            </a:r>
            <a:r>
              <a:rPr lang="en-US" sz="2600" dirty="0">
                <a:latin typeface="Times New Roman"/>
                <a:ea typeface="Times New Roman"/>
                <a:cs typeface="Times New Roman"/>
                <a:sym typeface="Times New Roman"/>
              </a:rPr>
              <a:t>, in order to apply structure to at least a part of the data for further analysis</a:t>
            </a:r>
            <a:endParaRPr sz="2600"/>
          </a:p>
          <a:p>
            <a:pPr marL="342900" lvl="0" indent="-139700" algn="just" rtl="0">
              <a:spcBef>
                <a:spcPts val="640"/>
              </a:spcBef>
              <a:spcAft>
                <a:spcPts val="0"/>
              </a:spcAft>
              <a:buClr>
                <a:schemeClr val="dk1"/>
              </a:buClr>
              <a:buSzPts val="3200"/>
              <a:buNone/>
            </a:pPr>
            <a:endParaRPr sz="2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2"/>
          <p:cNvSpPr txBox="1">
            <a:spLocks noGrp="1"/>
          </p:cNvSpPr>
          <p:nvPr>
            <p:ph type="title"/>
          </p:nvPr>
        </p:nvSpPr>
        <p:spPr>
          <a:xfrm>
            <a:off x="458664" y="152400"/>
            <a:ext cx="8229600" cy="7921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Example for Preprocessing</a:t>
            </a:r>
            <a:endParaRPr>
              <a:latin typeface="Times New Roman"/>
              <a:ea typeface="Times New Roman"/>
              <a:cs typeface="Times New Roman"/>
              <a:sym typeface="Times New Roman"/>
            </a:endParaRPr>
          </a:p>
        </p:txBody>
      </p:sp>
      <p:sp>
        <p:nvSpPr>
          <p:cNvPr id="161" name="Google Shape;161;p12"/>
          <p:cNvSpPr txBox="1">
            <a:spLocks noGrp="1"/>
          </p:cNvSpPr>
          <p:nvPr>
            <p:ph type="body" idx="1"/>
          </p:nvPr>
        </p:nvSpPr>
        <p:spPr>
          <a:xfrm>
            <a:off x="446941" y="990601"/>
            <a:ext cx="8229600" cy="5538584"/>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400"/>
              <a:buChar char="•"/>
            </a:pPr>
            <a:r>
              <a:rPr lang="en-US" sz="2400" i="1" dirty="0">
                <a:latin typeface="Times New Roman" pitchFamily="18" charset="0"/>
                <a:cs typeface="Times New Roman" pitchFamily="18" charset="0"/>
              </a:rPr>
              <a:t>This Wednesday morn, are you early to rise? Then look East. The </a:t>
            </a:r>
            <a:r>
              <a:rPr lang="en-US" sz="2400" i="1" dirty="0">
                <a:latin typeface="Times New Roman" pitchFamily="18" charset="0"/>
                <a:ea typeface="Times New Roman"/>
                <a:cs typeface="Times New Roman" pitchFamily="18" charset="0"/>
                <a:sym typeface="Times New Roman"/>
              </a:rPr>
              <a:t>Crescent</a:t>
            </a:r>
            <a:r>
              <a:rPr lang="en-US" sz="2400" i="1" dirty="0">
                <a:latin typeface="Times New Roman" pitchFamily="18" charset="0"/>
                <a:cs typeface="Times New Roman" pitchFamily="18" charset="0"/>
              </a:rPr>
              <a:t> Moon joins Venus &amp; Saturn. Afloat in the dawn skies.</a:t>
            </a:r>
            <a:endParaRPr sz="2400">
              <a:latin typeface="Times New Roman" pitchFamily="18" charset="0"/>
              <a:cs typeface="Times New Roman" pitchFamily="18" charset="0"/>
            </a:endParaRPr>
          </a:p>
          <a:p>
            <a:pPr marL="342900" lvl="0" indent="-342900" algn="just" rtl="0">
              <a:spcBef>
                <a:spcPts val="480"/>
              </a:spcBef>
              <a:spcAft>
                <a:spcPts val="0"/>
              </a:spcAft>
              <a:buClr>
                <a:schemeClr val="dk1"/>
              </a:buClr>
              <a:buSzPts val="2400"/>
              <a:buChar char="•"/>
            </a:pPr>
            <a:r>
              <a:rPr lang="en-US" sz="2400" dirty="0">
                <a:latin typeface="Times New Roman" pitchFamily="18" charset="0"/>
                <a:cs typeface="Times New Roman" pitchFamily="18" charset="0"/>
              </a:rPr>
              <a:t>Pre-processing allows us to explore features that have been created from the existing features. For example, we can extract features such as word count and special characters from the mentioned tweet. Now, let's take a look at a few features that we can extract from text.</a:t>
            </a:r>
            <a:endParaRPr sz="2400">
              <a:latin typeface="Times New Roman" pitchFamily="18" charset="0"/>
              <a:cs typeface="Times New Roman" pitchFamily="18" charset="0"/>
            </a:endParaRPr>
          </a:p>
          <a:p>
            <a:pPr marL="342900" lvl="0" indent="-342900" algn="just" rtl="0">
              <a:spcBef>
                <a:spcPts val="480"/>
              </a:spcBef>
              <a:spcAft>
                <a:spcPts val="0"/>
              </a:spcAft>
              <a:buClr>
                <a:schemeClr val="dk1"/>
              </a:buClr>
              <a:buSzPts val="2400"/>
              <a:buChar char="•"/>
            </a:pPr>
            <a:r>
              <a:rPr lang="en-US" sz="2400" dirty="0">
                <a:latin typeface="Times New Roman" pitchFamily="18" charset="0"/>
                <a:cs typeface="Times New Roman" pitchFamily="18" charset="0"/>
              </a:rPr>
              <a:t>Word/phrase count</a:t>
            </a:r>
            <a:endParaRPr sz="2400">
              <a:latin typeface="Times New Roman" pitchFamily="18" charset="0"/>
              <a:cs typeface="Times New Roman" pitchFamily="18" charset="0"/>
            </a:endParaRPr>
          </a:p>
          <a:p>
            <a:pPr marL="342900" lvl="0" indent="-190500" algn="just" rtl="0">
              <a:spcBef>
                <a:spcPts val="480"/>
              </a:spcBef>
              <a:spcAft>
                <a:spcPts val="0"/>
              </a:spcAft>
              <a:buClr>
                <a:schemeClr val="dk1"/>
              </a:buClr>
              <a:buSzPts val="2400"/>
              <a:buNone/>
            </a:pPr>
            <a:endParaRPr sz="2400">
              <a:latin typeface="Times New Roman" pitchFamily="18" charset="0"/>
              <a:cs typeface="Times New Roman" pitchFamily="18" charset="0"/>
            </a:endParaRPr>
          </a:p>
          <a:p>
            <a:pPr marL="342900" lvl="0" indent="-342900" algn="just" rtl="0">
              <a:spcBef>
                <a:spcPts val="480"/>
              </a:spcBef>
              <a:spcAft>
                <a:spcPts val="0"/>
              </a:spcAft>
              <a:buClr>
                <a:schemeClr val="dk1"/>
              </a:buClr>
              <a:buSzPts val="2400"/>
              <a:buChar char="•"/>
            </a:pPr>
            <a:endParaRPr lang="en-US" sz="2400" dirty="0" smtClean="0">
              <a:latin typeface="Times New Roman" pitchFamily="18" charset="0"/>
              <a:cs typeface="Times New Roman" pitchFamily="18" charset="0"/>
            </a:endParaRPr>
          </a:p>
          <a:p>
            <a:pPr marL="342900" lvl="0" indent="-342900" algn="just" rtl="0">
              <a:spcBef>
                <a:spcPts val="480"/>
              </a:spcBef>
              <a:spcAft>
                <a:spcPts val="0"/>
              </a:spcAft>
              <a:buClr>
                <a:schemeClr val="dk1"/>
              </a:buClr>
              <a:buSzPts val="2400"/>
              <a:buChar char="•"/>
            </a:pPr>
            <a:r>
              <a:rPr lang="en-US" sz="2400" dirty="0" smtClean="0">
                <a:latin typeface="Times New Roman" pitchFamily="18" charset="0"/>
                <a:cs typeface="Times New Roman" pitchFamily="18" charset="0"/>
              </a:rPr>
              <a:t>Presence </a:t>
            </a:r>
            <a:r>
              <a:rPr lang="en-US" sz="2400" dirty="0">
                <a:latin typeface="Times New Roman" pitchFamily="18" charset="0"/>
                <a:cs typeface="Times New Roman" pitchFamily="18" charset="0"/>
              </a:rPr>
              <a:t>of certain special characters</a:t>
            </a:r>
            <a:endParaRPr sz="2400">
              <a:latin typeface="Times New Roman" pitchFamily="18" charset="0"/>
              <a:cs typeface="Times New Roman" pitchFamily="18" charset="0"/>
            </a:endParaRPr>
          </a:p>
          <a:p>
            <a:pPr marL="342900" lvl="0" indent="-190500" algn="just" rtl="0">
              <a:spcBef>
                <a:spcPts val="480"/>
              </a:spcBef>
              <a:spcAft>
                <a:spcPts val="0"/>
              </a:spcAft>
              <a:buClr>
                <a:schemeClr val="dk1"/>
              </a:buClr>
              <a:buSzPts val="2400"/>
              <a:buNone/>
            </a:pPr>
            <a:endParaRPr sz="2400">
              <a:latin typeface="Times New Roman" pitchFamily="18" charset="0"/>
              <a:cs typeface="Times New Roman" pitchFamily="18" charset="0"/>
            </a:endParaRPr>
          </a:p>
          <a:p>
            <a:pPr marL="342900" lvl="0" indent="-190500" algn="just" rtl="0">
              <a:spcBef>
                <a:spcPts val="480"/>
              </a:spcBef>
              <a:spcAft>
                <a:spcPts val="0"/>
              </a:spcAft>
              <a:buClr>
                <a:schemeClr val="dk1"/>
              </a:buClr>
              <a:buSzPts val="2400"/>
              <a:buNone/>
            </a:pPr>
            <a:endParaRPr sz="2400">
              <a:latin typeface="Times New Roman" pitchFamily="18" charset="0"/>
              <a:cs typeface="Times New Roman" pitchFamily="18" charset="0"/>
            </a:endParaRPr>
          </a:p>
          <a:p>
            <a:pPr marL="342900" lvl="0" indent="-190500" algn="just" rtl="0">
              <a:spcBef>
                <a:spcPts val="480"/>
              </a:spcBef>
              <a:spcAft>
                <a:spcPts val="0"/>
              </a:spcAft>
              <a:buClr>
                <a:schemeClr val="dk1"/>
              </a:buClr>
              <a:buSzPts val="2400"/>
              <a:buNone/>
            </a:pPr>
            <a:endParaRPr sz="2400">
              <a:latin typeface="Times New Roman" pitchFamily="18" charset="0"/>
              <a:cs typeface="Times New Roman" pitchFamily="18" charset="0"/>
            </a:endParaRPr>
          </a:p>
          <a:p>
            <a:pPr marL="342900" lvl="0" indent="-190500" algn="just" rtl="0">
              <a:spcBef>
                <a:spcPts val="480"/>
              </a:spcBef>
              <a:spcAft>
                <a:spcPts val="0"/>
              </a:spcAft>
              <a:buClr>
                <a:schemeClr val="dk1"/>
              </a:buClr>
              <a:buSzPts val="2400"/>
              <a:buNone/>
            </a:pPr>
            <a:endParaRPr sz="2400">
              <a:latin typeface="Times New Roman" pitchFamily="18" charset="0"/>
              <a:cs typeface="Times New Roman" pitchFamily="18" charset="0"/>
            </a:endParaRPr>
          </a:p>
          <a:p>
            <a:pPr marL="342900" lvl="0" indent="-190500" algn="just" rtl="0">
              <a:spcBef>
                <a:spcPts val="480"/>
              </a:spcBef>
              <a:spcAft>
                <a:spcPts val="0"/>
              </a:spcAft>
              <a:buClr>
                <a:schemeClr val="dk1"/>
              </a:buClr>
              <a:buSzPts val="2400"/>
              <a:buNone/>
            </a:pPr>
            <a:endParaRPr sz="2400">
              <a:latin typeface="Times New Roman" pitchFamily="18" charset="0"/>
              <a:cs typeface="Times New Roman" pitchFamily="18" charset="0"/>
            </a:endParaRPr>
          </a:p>
          <a:p>
            <a:pPr marL="342900" lvl="0" indent="-63500" algn="just" rtl="0">
              <a:spcBef>
                <a:spcPts val="880"/>
              </a:spcBef>
              <a:spcAft>
                <a:spcPts val="0"/>
              </a:spcAft>
              <a:buClr>
                <a:schemeClr val="dk1"/>
              </a:buClr>
              <a:buSzPts val="4400"/>
              <a:buNone/>
            </a:pPr>
            <a:endParaRPr sz="2400">
              <a:latin typeface="Times New Roman" pitchFamily="18" charset="0"/>
              <a:cs typeface="Times New Roman" pitchFamily="18" charset="0"/>
            </a:endParaRPr>
          </a:p>
        </p:txBody>
      </p:sp>
      <p:pic>
        <p:nvPicPr>
          <p:cNvPr id="162" name="Google Shape;162;p12"/>
          <p:cNvPicPr preferRelativeResize="0"/>
          <p:nvPr/>
        </p:nvPicPr>
        <p:blipFill rotWithShape="1">
          <a:blip r:embed="rId3">
            <a:alphaModFix/>
          </a:blip>
          <a:srcRect/>
          <a:stretch/>
        </p:blipFill>
        <p:spPr>
          <a:xfrm>
            <a:off x="815925" y="4458285"/>
            <a:ext cx="8101088" cy="985911"/>
          </a:xfrm>
          <a:prstGeom prst="rect">
            <a:avLst/>
          </a:prstGeom>
          <a:noFill/>
          <a:ln>
            <a:noFill/>
          </a:ln>
        </p:spPr>
      </p:pic>
      <p:pic>
        <p:nvPicPr>
          <p:cNvPr id="163" name="Google Shape;163;p12"/>
          <p:cNvPicPr preferRelativeResize="0"/>
          <p:nvPr/>
        </p:nvPicPr>
        <p:blipFill rotWithShape="1">
          <a:blip r:embed="rId4">
            <a:alphaModFix/>
          </a:blip>
          <a:srcRect/>
          <a:stretch/>
        </p:blipFill>
        <p:spPr>
          <a:xfrm>
            <a:off x="787791" y="5715000"/>
            <a:ext cx="8115155" cy="1143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3"/>
          <p:cNvSpPr txBox="1">
            <a:spLocks noGrp="1"/>
          </p:cNvSpPr>
          <p:nvPr>
            <p:ph type="body" idx="1"/>
          </p:nvPr>
        </p:nvSpPr>
        <p:spPr>
          <a:xfrm>
            <a:off x="457200" y="457200"/>
            <a:ext cx="8229600" cy="5668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800"/>
              <a:buChar char="•"/>
            </a:pPr>
            <a:r>
              <a:rPr lang="en-US" sz="2600" b="1" dirty="0"/>
              <a:t>Relative length of the tweet: </a:t>
            </a:r>
            <a:r>
              <a:rPr lang="en-US" sz="2600" dirty="0"/>
              <a:t>The average tweet, as discovered by analysts, is about 30 characters in length. So, we might impose a new characteristic, called </a:t>
            </a:r>
            <a:r>
              <a:rPr lang="en-US" sz="2600" b="1" dirty="0"/>
              <a:t>relative length</a:t>
            </a:r>
            <a:r>
              <a:rPr lang="en-US" sz="2600" dirty="0"/>
              <a:t>, (which is the length of the tweet divided by the average length), telling us the length of this tweet as compared to the average tweet. This tweet is actually 4.03 times longer than the average tweet, as shown:</a:t>
            </a:r>
            <a:endParaRPr sz="2600"/>
          </a:p>
          <a:p>
            <a:pPr marL="342900" lvl="0" indent="-342900" algn="just" rtl="0">
              <a:spcBef>
                <a:spcPts val="640"/>
              </a:spcBef>
              <a:spcAft>
                <a:spcPts val="0"/>
              </a:spcAft>
              <a:buClr>
                <a:schemeClr val="dk1"/>
              </a:buClr>
              <a:buSzPts val="3200"/>
              <a:buNone/>
            </a:pPr>
            <a:r>
              <a:rPr lang="en-US" sz="2600" dirty="0"/>
              <a:t> </a:t>
            </a:r>
            <a:r>
              <a:rPr lang="en-US" sz="2600" dirty="0" smtClean="0"/>
              <a:t>    Picking </a:t>
            </a:r>
            <a:r>
              <a:rPr lang="en-US" sz="2600" dirty="0"/>
              <a:t>out topics:</a:t>
            </a:r>
            <a:endParaRPr sz="2600"/>
          </a:p>
          <a:p>
            <a:pPr marL="342900" lvl="0" indent="-139700" algn="just" rtl="0">
              <a:spcBef>
                <a:spcPts val="640"/>
              </a:spcBef>
              <a:spcAft>
                <a:spcPts val="0"/>
              </a:spcAft>
              <a:buClr>
                <a:schemeClr val="dk1"/>
              </a:buClr>
              <a:buSzPts val="3200"/>
              <a:buNone/>
            </a:pPr>
            <a:endParaRPr sz="2600"/>
          </a:p>
        </p:txBody>
      </p:sp>
      <p:pic>
        <p:nvPicPr>
          <p:cNvPr id="169" name="Google Shape;169;p13"/>
          <p:cNvPicPr preferRelativeResize="0"/>
          <p:nvPr/>
        </p:nvPicPr>
        <p:blipFill rotWithShape="1">
          <a:blip r:embed="rId3">
            <a:alphaModFix/>
          </a:blip>
          <a:srcRect/>
          <a:stretch/>
        </p:blipFill>
        <p:spPr>
          <a:xfrm>
            <a:off x="4274234" y="3305908"/>
            <a:ext cx="1219200" cy="694944"/>
          </a:xfrm>
          <a:prstGeom prst="rect">
            <a:avLst/>
          </a:prstGeom>
          <a:noFill/>
          <a:ln>
            <a:noFill/>
          </a:ln>
        </p:spPr>
      </p:pic>
      <p:pic>
        <p:nvPicPr>
          <p:cNvPr id="170" name="Google Shape;170;p13"/>
          <p:cNvPicPr preferRelativeResize="0"/>
          <p:nvPr/>
        </p:nvPicPr>
        <p:blipFill rotWithShape="1">
          <a:blip r:embed="rId4">
            <a:alphaModFix/>
          </a:blip>
          <a:srcRect/>
          <a:stretch/>
        </p:blipFill>
        <p:spPr>
          <a:xfrm>
            <a:off x="0" y="4023360"/>
            <a:ext cx="9144000" cy="1216362"/>
          </a:xfrm>
          <a:prstGeom prst="rect">
            <a:avLst/>
          </a:prstGeom>
          <a:noFill/>
          <a:ln>
            <a:noFill/>
          </a:ln>
        </p:spPr>
      </p:pic>
      <p:pic>
        <p:nvPicPr>
          <p:cNvPr id="171" name="Google Shape;171;p13"/>
          <p:cNvPicPr preferRelativeResize="0"/>
          <p:nvPr/>
        </p:nvPicPr>
        <p:blipFill rotWithShape="1">
          <a:blip r:embed="rId5">
            <a:alphaModFix/>
          </a:blip>
          <a:srcRect/>
          <a:stretch/>
        </p:blipFill>
        <p:spPr>
          <a:xfrm>
            <a:off x="1" y="5275385"/>
            <a:ext cx="9144000" cy="13649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b="1"/>
              <a:t>Types of Data</a:t>
            </a:r>
            <a:br>
              <a:rPr lang="en-US" b="1"/>
            </a:br>
            <a:r>
              <a:rPr lang="en-US" b="1"/>
              <a:t>Quantitative versus qualitative data</a:t>
            </a:r>
            <a:r>
              <a:rPr lang="en-US"/>
              <a:t>:</a:t>
            </a:r>
            <a:endParaRPr/>
          </a:p>
        </p:txBody>
      </p:sp>
      <p:sp>
        <p:nvSpPr>
          <p:cNvPr id="178" name="Google Shape;178;p14"/>
          <p:cNvSpPr txBox="1">
            <a:spLocks noGrp="1"/>
          </p:cNvSpPr>
          <p:nvPr>
            <p:ph type="body" idx="1"/>
          </p:nvPr>
        </p:nvSpPr>
        <p:spPr>
          <a:xfrm>
            <a:off x="457200" y="1447800"/>
            <a:ext cx="8229600" cy="5181600"/>
          </a:xfrm>
          <a:prstGeom prst="rect">
            <a:avLst/>
          </a:prstGeom>
          <a:noFill/>
          <a:ln>
            <a:noFill/>
          </a:ln>
        </p:spPr>
        <p:txBody>
          <a:bodyPr spcFirstLastPara="1" wrap="square" lIns="91425" tIns="45700" rIns="91425" bIns="45700" anchor="t" anchorCtr="0">
            <a:noAutofit/>
          </a:bodyPr>
          <a:lstStyle/>
          <a:p>
            <a:pPr marL="339725" lvl="1" indent="-280988" algn="l" rtl="0">
              <a:spcBef>
                <a:spcPts val="0"/>
              </a:spcBef>
              <a:spcAft>
                <a:spcPts val="0"/>
              </a:spcAft>
              <a:buClr>
                <a:srgbClr val="FF0000"/>
              </a:buClr>
              <a:buSzPts val="2000"/>
              <a:buChar char="–"/>
            </a:pPr>
            <a:r>
              <a:rPr lang="en-US" sz="2000" b="1">
                <a:solidFill>
                  <a:srgbClr val="FF0000"/>
                </a:solidFill>
                <a:latin typeface="Times New Roman"/>
                <a:ea typeface="Times New Roman"/>
                <a:cs typeface="Times New Roman"/>
                <a:sym typeface="Times New Roman"/>
              </a:rPr>
              <a:t>Quantitative data</a:t>
            </a:r>
            <a:r>
              <a:rPr lang="en-US" sz="2000" b="1">
                <a:latin typeface="Times New Roman"/>
                <a:ea typeface="Times New Roman"/>
                <a:cs typeface="Times New Roman"/>
                <a:sym typeface="Times New Roman"/>
              </a:rPr>
              <a:t>: </a:t>
            </a:r>
            <a:r>
              <a:rPr lang="en-US" sz="2000">
                <a:latin typeface="Times New Roman"/>
                <a:ea typeface="Times New Roman"/>
                <a:cs typeface="Times New Roman"/>
                <a:sym typeface="Times New Roman"/>
              </a:rPr>
              <a:t>This data can be described using numbers, and basic mathematical procedures, including addition, are possible on the set.</a:t>
            </a:r>
            <a:endParaRPr/>
          </a:p>
          <a:p>
            <a:pPr marL="339725" lvl="1" indent="-280988" algn="l" rtl="0">
              <a:spcBef>
                <a:spcPts val="400"/>
              </a:spcBef>
              <a:spcAft>
                <a:spcPts val="0"/>
              </a:spcAft>
              <a:buClr>
                <a:srgbClr val="FF0000"/>
              </a:buClr>
              <a:buSzPts val="2000"/>
              <a:buChar char="–"/>
            </a:pPr>
            <a:r>
              <a:rPr lang="en-US" sz="2000" b="1">
                <a:solidFill>
                  <a:srgbClr val="FF0000"/>
                </a:solidFill>
                <a:latin typeface="Times New Roman"/>
                <a:ea typeface="Times New Roman"/>
                <a:cs typeface="Times New Roman"/>
                <a:sym typeface="Times New Roman"/>
              </a:rPr>
              <a:t>Qualitative data</a:t>
            </a:r>
            <a:r>
              <a:rPr lang="en-US" sz="2000" b="1">
                <a:latin typeface="Times New Roman"/>
                <a:ea typeface="Times New Roman"/>
                <a:cs typeface="Times New Roman"/>
                <a:sym typeface="Times New Roman"/>
              </a:rPr>
              <a:t>: </a:t>
            </a:r>
            <a:r>
              <a:rPr lang="en-US" sz="2000">
                <a:latin typeface="Times New Roman"/>
                <a:ea typeface="Times New Roman"/>
                <a:cs typeface="Times New Roman"/>
                <a:sym typeface="Times New Roman"/>
              </a:rPr>
              <a:t>This data cannot be described using numbers and basic mathematics. This data is generally thought of as being described using "natural" categories and language.</a:t>
            </a:r>
            <a:endParaRPr/>
          </a:p>
          <a:p>
            <a:pPr marL="342900" lvl="0" indent="-342900" algn="l" rtl="0">
              <a:spcBef>
                <a:spcPts val="360"/>
              </a:spcBef>
              <a:spcAft>
                <a:spcPts val="0"/>
              </a:spcAft>
              <a:buClr>
                <a:schemeClr val="dk1"/>
              </a:buClr>
              <a:buSzPts val="1800"/>
              <a:buChar char="•"/>
            </a:pPr>
            <a:r>
              <a:rPr lang="en-US" sz="1800">
                <a:latin typeface="Times New Roman"/>
                <a:ea typeface="Times New Roman"/>
                <a:cs typeface="Times New Roman"/>
                <a:sym typeface="Times New Roman"/>
              </a:rPr>
              <a:t>Example – coffee shop data - Say that we were processing observations of coffee shops in a major city using the following five descriptors (characteristics):</a:t>
            </a:r>
            <a:endParaRPr/>
          </a:p>
          <a:p>
            <a:pPr marL="1143000" lvl="2" indent="-228600" algn="l" rtl="0">
              <a:spcBef>
                <a:spcPts val="360"/>
              </a:spcBef>
              <a:spcAft>
                <a:spcPts val="0"/>
              </a:spcAft>
              <a:buClr>
                <a:schemeClr val="dk1"/>
              </a:buClr>
              <a:buSzPts val="1800"/>
              <a:buChar char="•"/>
            </a:pPr>
            <a:r>
              <a:rPr lang="en-US" sz="1800" b="1">
                <a:latin typeface="Times New Roman"/>
                <a:ea typeface="Times New Roman"/>
                <a:cs typeface="Times New Roman"/>
                <a:sym typeface="Times New Roman"/>
              </a:rPr>
              <a:t>Data: Coffee Shop</a:t>
            </a:r>
            <a:endParaRPr/>
          </a:p>
          <a:p>
            <a:pPr marL="1143000" lvl="2" indent="-228600" algn="l" rtl="0">
              <a:spcBef>
                <a:spcPts val="360"/>
              </a:spcBef>
              <a:spcAft>
                <a:spcPts val="0"/>
              </a:spcAft>
              <a:buClr>
                <a:schemeClr val="dk1"/>
              </a:buClr>
              <a:buSzPts val="1800"/>
              <a:buChar char="•"/>
            </a:pPr>
            <a:r>
              <a:rPr lang="en-US" sz="1800">
                <a:latin typeface="Times New Roman"/>
                <a:ea typeface="Times New Roman"/>
                <a:cs typeface="Times New Roman"/>
                <a:sym typeface="Times New Roman"/>
              </a:rPr>
              <a:t>Name of coffee shop</a:t>
            </a:r>
            <a:endParaRPr/>
          </a:p>
          <a:p>
            <a:pPr marL="1143000" lvl="2" indent="-228600" algn="l" rtl="0">
              <a:spcBef>
                <a:spcPts val="360"/>
              </a:spcBef>
              <a:spcAft>
                <a:spcPts val="0"/>
              </a:spcAft>
              <a:buClr>
                <a:schemeClr val="dk1"/>
              </a:buClr>
              <a:buSzPts val="1800"/>
              <a:buChar char="•"/>
            </a:pPr>
            <a:r>
              <a:rPr lang="en-US" sz="1800">
                <a:latin typeface="Times New Roman"/>
                <a:ea typeface="Times New Roman"/>
                <a:cs typeface="Times New Roman"/>
                <a:sym typeface="Times New Roman"/>
              </a:rPr>
              <a:t>Revenue (in thousands of dollars)</a:t>
            </a:r>
            <a:endParaRPr/>
          </a:p>
          <a:p>
            <a:pPr marL="1143000" lvl="2" indent="-228600" algn="l" rtl="0">
              <a:spcBef>
                <a:spcPts val="360"/>
              </a:spcBef>
              <a:spcAft>
                <a:spcPts val="0"/>
              </a:spcAft>
              <a:buClr>
                <a:schemeClr val="dk1"/>
              </a:buClr>
              <a:buSzPts val="1800"/>
              <a:buChar char="•"/>
            </a:pPr>
            <a:r>
              <a:rPr lang="en-US" sz="1800">
                <a:latin typeface="Times New Roman"/>
                <a:ea typeface="Times New Roman"/>
                <a:cs typeface="Times New Roman"/>
                <a:sym typeface="Times New Roman"/>
              </a:rPr>
              <a:t>Zip code</a:t>
            </a:r>
            <a:endParaRPr/>
          </a:p>
          <a:p>
            <a:pPr marL="1143000" lvl="2" indent="-228600" algn="l" rtl="0">
              <a:spcBef>
                <a:spcPts val="360"/>
              </a:spcBef>
              <a:spcAft>
                <a:spcPts val="0"/>
              </a:spcAft>
              <a:buClr>
                <a:schemeClr val="dk1"/>
              </a:buClr>
              <a:buSzPts val="1800"/>
              <a:buChar char="•"/>
            </a:pPr>
            <a:r>
              <a:rPr lang="en-US" sz="1800">
                <a:latin typeface="Times New Roman"/>
                <a:ea typeface="Times New Roman"/>
                <a:cs typeface="Times New Roman"/>
                <a:sym typeface="Times New Roman"/>
              </a:rPr>
              <a:t>Average monthly customers</a:t>
            </a:r>
            <a:endParaRPr/>
          </a:p>
          <a:p>
            <a:pPr marL="1143000" lvl="2" indent="-228600" algn="l" rtl="0">
              <a:spcBef>
                <a:spcPts val="360"/>
              </a:spcBef>
              <a:spcAft>
                <a:spcPts val="0"/>
              </a:spcAft>
              <a:buClr>
                <a:schemeClr val="dk1"/>
              </a:buClr>
              <a:buSzPts val="1800"/>
              <a:buChar char="•"/>
            </a:pPr>
            <a:r>
              <a:rPr lang="en-US" sz="1800">
                <a:latin typeface="Times New Roman"/>
                <a:ea typeface="Times New Roman"/>
                <a:cs typeface="Times New Roman"/>
                <a:sym typeface="Times New Roman"/>
              </a:rPr>
              <a:t>Country of coffee origin</a:t>
            </a:r>
            <a:endParaRPr/>
          </a:p>
          <a:p>
            <a:pPr marL="342900" lvl="0" indent="-342900" algn="l" rtl="0">
              <a:spcBef>
                <a:spcPts val="360"/>
              </a:spcBef>
              <a:spcAft>
                <a:spcPts val="0"/>
              </a:spcAft>
              <a:buClr>
                <a:schemeClr val="dk1"/>
              </a:buClr>
              <a:buSzPts val="1800"/>
              <a:buChar char="•"/>
            </a:pPr>
            <a:r>
              <a:rPr lang="en-US" sz="1800">
                <a:latin typeface="Times New Roman"/>
                <a:ea typeface="Times New Roman"/>
                <a:cs typeface="Times New Roman"/>
                <a:sym typeface="Times New Roman"/>
              </a:rPr>
              <a:t>Each of these characteristics can be classified as either quantitative or qualitative, and that simple distinction can change everything. Let's take a look at each one: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5"/>
          <p:cNvSpPr txBox="1">
            <a:spLocks noGrp="1"/>
          </p:cNvSpPr>
          <p:nvPr>
            <p:ph type="body" idx="1"/>
          </p:nvPr>
        </p:nvSpPr>
        <p:spPr>
          <a:xfrm>
            <a:off x="228600" y="533400"/>
            <a:ext cx="8534400" cy="5943600"/>
          </a:xfrm>
          <a:prstGeom prst="rect">
            <a:avLst/>
          </a:prstGeom>
          <a:noFill/>
          <a:ln>
            <a:noFill/>
          </a:ln>
        </p:spPr>
        <p:txBody>
          <a:bodyPr spcFirstLastPara="1" wrap="square" lIns="91425" tIns="45700" rIns="91425" bIns="45700" anchor="t" anchorCtr="0">
            <a:noAutofit/>
          </a:bodyPr>
          <a:lstStyle/>
          <a:p>
            <a:pPr marL="742950" lvl="1" indent="-285750" algn="just" rtl="0">
              <a:spcBef>
                <a:spcPts val="0"/>
              </a:spcBef>
              <a:spcAft>
                <a:spcPts val="0"/>
              </a:spcAft>
              <a:buClr>
                <a:schemeClr val="dk1"/>
              </a:buClr>
              <a:buSzPts val="2000"/>
              <a:buChar char="–"/>
            </a:pPr>
            <a:r>
              <a:rPr lang="en-US" sz="2000" b="1" u="sng" dirty="0">
                <a:latin typeface="Times New Roman"/>
                <a:ea typeface="Times New Roman"/>
                <a:cs typeface="Times New Roman"/>
                <a:sym typeface="Times New Roman"/>
              </a:rPr>
              <a:t>Name of coffee shop </a:t>
            </a:r>
            <a:r>
              <a:rPr lang="en-US" sz="2000" dirty="0">
                <a:latin typeface="Times New Roman"/>
                <a:ea typeface="Times New Roman"/>
                <a:cs typeface="Times New Roman"/>
                <a:sym typeface="Times New Roman"/>
              </a:rPr>
              <a:t>– Qualitative - The name of a coffee shop is not expressed as a number and we cannot perform math on the name of the shop.</a:t>
            </a:r>
            <a:endParaRPr/>
          </a:p>
          <a:p>
            <a:pPr marL="742950" lvl="1" indent="-285750" algn="just" rtl="0">
              <a:spcBef>
                <a:spcPts val="400"/>
              </a:spcBef>
              <a:spcAft>
                <a:spcPts val="0"/>
              </a:spcAft>
              <a:buClr>
                <a:schemeClr val="dk1"/>
              </a:buClr>
              <a:buSzPts val="2000"/>
              <a:buChar char="–"/>
            </a:pPr>
            <a:r>
              <a:rPr lang="en-US" sz="2000" b="1" u="sng" dirty="0">
                <a:latin typeface="Times New Roman"/>
                <a:ea typeface="Times New Roman"/>
                <a:cs typeface="Times New Roman"/>
                <a:sym typeface="Times New Roman"/>
              </a:rPr>
              <a:t>Revenue</a:t>
            </a:r>
            <a:r>
              <a:rPr lang="en-US" sz="2000" b="1" dirty="0">
                <a:latin typeface="Times New Roman"/>
                <a:ea typeface="Times New Roman"/>
                <a:cs typeface="Times New Roman"/>
                <a:sym typeface="Times New Roman"/>
              </a:rPr>
              <a:t> </a:t>
            </a:r>
            <a:r>
              <a:rPr lang="en-US" sz="2000" dirty="0">
                <a:latin typeface="Times New Roman"/>
                <a:ea typeface="Times New Roman"/>
                <a:cs typeface="Times New Roman"/>
                <a:sym typeface="Times New Roman"/>
              </a:rPr>
              <a:t>– Quantitative - How much money a cafe brings in can definitely be described using a number. Also, we can do basic operations such as adding up the revenue for 12 months to get a year's worth of revenue.</a:t>
            </a:r>
            <a:endParaRPr/>
          </a:p>
          <a:p>
            <a:pPr marL="742950" lvl="1" indent="-285750" algn="just" rtl="0">
              <a:spcBef>
                <a:spcPts val="400"/>
              </a:spcBef>
              <a:spcAft>
                <a:spcPts val="0"/>
              </a:spcAft>
              <a:buClr>
                <a:schemeClr val="dk1"/>
              </a:buClr>
              <a:buSzPts val="2000"/>
              <a:buChar char="–"/>
            </a:pPr>
            <a:r>
              <a:rPr lang="en-US" sz="2000" b="1" u="sng" dirty="0">
                <a:latin typeface="Times New Roman"/>
                <a:ea typeface="Times New Roman"/>
                <a:cs typeface="Times New Roman"/>
                <a:sym typeface="Times New Roman"/>
              </a:rPr>
              <a:t>Zip code </a:t>
            </a:r>
            <a:r>
              <a:rPr lang="en-US" sz="2000" dirty="0">
                <a:latin typeface="Times New Roman"/>
                <a:ea typeface="Times New Roman"/>
                <a:cs typeface="Times New Roman"/>
                <a:sym typeface="Times New Roman"/>
              </a:rPr>
              <a:t>– Qualitative - This one is tricky. A zip code is always represented using numbers, but what makes it qualitative is that it does not fit the second part of the definition of quantitative—we cannot perform basic mathematical operations on a zip code. If we add together two zip codes, it is a nonsensical measurement. We don't necessarily get a new zip code and we definitely don't get "double the zip code".</a:t>
            </a:r>
            <a:endParaRPr/>
          </a:p>
          <a:p>
            <a:pPr marL="742950" lvl="1" indent="-285750" algn="just" rtl="0">
              <a:spcBef>
                <a:spcPts val="400"/>
              </a:spcBef>
              <a:spcAft>
                <a:spcPts val="0"/>
              </a:spcAft>
              <a:buClr>
                <a:schemeClr val="dk1"/>
              </a:buClr>
              <a:buSzPts val="2000"/>
              <a:buChar char="–"/>
            </a:pPr>
            <a:r>
              <a:rPr lang="en-US" sz="2000" b="1" u="sng" dirty="0">
                <a:latin typeface="Times New Roman"/>
                <a:ea typeface="Times New Roman"/>
                <a:cs typeface="Times New Roman"/>
                <a:sym typeface="Times New Roman"/>
              </a:rPr>
              <a:t>Average monthly customers </a:t>
            </a:r>
            <a:r>
              <a:rPr lang="en-US" sz="2000" dirty="0">
                <a:latin typeface="Times New Roman"/>
                <a:ea typeface="Times New Roman"/>
                <a:cs typeface="Times New Roman"/>
                <a:sym typeface="Times New Roman"/>
              </a:rPr>
              <a:t>– Quantitative - Again, describing this factor using numbers and addition makes sense. Add up all of your monthly customers and you get your yearly customers. </a:t>
            </a:r>
            <a:endParaRPr/>
          </a:p>
          <a:p>
            <a:pPr marL="742950" lvl="1" indent="-285750" algn="just" rtl="0">
              <a:spcBef>
                <a:spcPts val="400"/>
              </a:spcBef>
              <a:spcAft>
                <a:spcPts val="0"/>
              </a:spcAft>
              <a:buClr>
                <a:schemeClr val="dk1"/>
              </a:buClr>
              <a:buSzPts val="2000"/>
              <a:buChar char="–"/>
            </a:pPr>
            <a:r>
              <a:rPr lang="en-US" sz="2000" b="1" u="sng" dirty="0">
                <a:latin typeface="Times New Roman"/>
                <a:ea typeface="Times New Roman"/>
                <a:cs typeface="Times New Roman"/>
                <a:sym typeface="Times New Roman"/>
              </a:rPr>
              <a:t>Country of coffee origin </a:t>
            </a:r>
            <a:r>
              <a:rPr lang="en-US" sz="2000" dirty="0">
                <a:latin typeface="Times New Roman"/>
                <a:ea typeface="Times New Roman"/>
                <a:cs typeface="Times New Roman"/>
                <a:sym typeface="Times New Roman"/>
              </a:rPr>
              <a:t>– Qualitative - We will assume this is a very small café with coffee from a single origin. This country is described using a name (Ethiopian, Colombian), and not numbers.</a:t>
            </a:r>
            <a:endParaRPr sz="20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6"/>
          <p:cNvSpPr txBox="1">
            <a:spLocks noGrp="1"/>
          </p:cNvSpPr>
          <p:nvPr>
            <p:ph type="body" idx="1"/>
          </p:nvPr>
        </p:nvSpPr>
        <p:spPr>
          <a:xfrm>
            <a:off x="228600" y="381000"/>
            <a:ext cx="8763000" cy="6324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400"/>
              <a:buNone/>
            </a:pPr>
            <a:r>
              <a:rPr lang="en-US" sz="2400">
                <a:latin typeface="Times New Roman"/>
                <a:ea typeface="Times New Roman"/>
                <a:cs typeface="Times New Roman"/>
                <a:sym typeface="Times New Roman"/>
              </a:rPr>
              <a:t>When trying to decide whether or not the data is qualitative or quantitative, ask yourself a few basic questions about the data characteristics:</a:t>
            </a:r>
            <a:endParaRPr/>
          </a:p>
          <a:p>
            <a:pPr marL="342900" lvl="0" indent="-342900" algn="l"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Can you describe it using numbers?</a:t>
            </a:r>
            <a:endParaRPr/>
          </a:p>
          <a:p>
            <a:pPr marL="0" lvl="0" indent="0" algn="l" rtl="0">
              <a:spcBef>
                <a:spcPts val="480"/>
              </a:spcBef>
              <a:spcAft>
                <a:spcPts val="0"/>
              </a:spcAft>
              <a:buClr>
                <a:schemeClr val="dk1"/>
              </a:buClr>
              <a:buSzPts val="2400"/>
              <a:buNone/>
            </a:pPr>
            <a:r>
              <a:rPr lang="en-US" sz="2400">
                <a:latin typeface="Times New Roman"/>
                <a:ea typeface="Times New Roman"/>
                <a:cs typeface="Times New Roman"/>
                <a:sym typeface="Times New Roman"/>
              </a:rPr>
              <a:t>	No? It is </a:t>
            </a:r>
            <a:r>
              <a:rPr lang="en-US" sz="2400" b="1">
                <a:latin typeface="Times New Roman"/>
                <a:ea typeface="Times New Roman"/>
                <a:cs typeface="Times New Roman"/>
                <a:sym typeface="Times New Roman"/>
              </a:rPr>
              <a:t>qualitative.</a:t>
            </a:r>
            <a:endParaRPr/>
          </a:p>
          <a:p>
            <a:pPr marL="0" lvl="0" indent="0" algn="l" rtl="0">
              <a:spcBef>
                <a:spcPts val="480"/>
              </a:spcBef>
              <a:spcAft>
                <a:spcPts val="0"/>
              </a:spcAft>
              <a:buClr>
                <a:schemeClr val="dk1"/>
              </a:buClr>
              <a:buSzPts val="2400"/>
              <a:buNone/>
            </a:pPr>
            <a:r>
              <a:rPr lang="en-US" sz="2400" b="1">
                <a:latin typeface="Times New Roman"/>
                <a:ea typeface="Times New Roman"/>
                <a:cs typeface="Times New Roman"/>
                <a:sym typeface="Times New Roman"/>
              </a:rPr>
              <a:t>	</a:t>
            </a:r>
            <a:r>
              <a:rPr lang="en-US" sz="2400">
                <a:latin typeface="Times New Roman"/>
                <a:ea typeface="Times New Roman"/>
                <a:cs typeface="Times New Roman"/>
                <a:sym typeface="Times New Roman"/>
              </a:rPr>
              <a:t>Yes? Move on to next question.</a:t>
            </a:r>
            <a:endParaRPr/>
          </a:p>
          <a:p>
            <a:pPr marL="342900" lvl="0" indent="-342900" algn="l"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Does it still makes sense after you add them together?</a:t>
            </a:r>
            <a:endParaRPr/>
          </a:p>
          <a:p>
            <a:pPr marL="0" lvl="0" indent="0" algn="l" rtl="0">
              <a:spcBef>
                <a:spcPts val="480"/>
              </a:spcBef>
              <a:spcAft>
                <a:spcPts val="0"/>
              </a:spcAft>
              <a:buClr>
                <a:schemeClr val="dk1"/>
              </a:buClr>
              <a:buSzPts val="2400"/>
              <a:buNone/>
            </a:pPr>
            <a:r>
              <a:rPr lang="en-US" sz="2400">
                <a:latin typeface="Times New Roman"/>
                <a:ea typeface="Times New Roman"/>
                <a:cs typeface="Times New Roman"/>
                <a:sym typeface="Times New Roman"/>
              </a:rPr>
              <a:t>	No? They are </a:t>
            </a:r>
            <a:r>
              <a:rPr lang="en-US" sz="2400" b="1">
                <a:latin typeface="Times New Roman"/>
                <a:ea typeface="Times New Roman"/>
                <a:cs typeface="Times New Roman"/>
                <a:sym typeface="Times New Roman"/>
              </a:rPr>
              <a:t>qualitative.</a:t>
            </a:r>
            <a:endParaRPr/>
          </a:p>
          <a:p>
            <a:pPr marL="0" lvl="0" indent="0" algn="l" rtl="0">
              <a:spcBef>
                <a:spcPts val="480"/>
              </a:spcBef>
              <a:spcAft>
                <a:spcPts val="0"/>
              </a:spcAft>
              <a:buClr>
                <a:schemeClr val="dk1"/>
              </a:buClr>
              <a:buSzPts val="2400"/>
              <a:buNone/>
            </a:pPr>
            <a:r>
              <a:rPr lang="en-US" sz="2400">
                <a:latin typeface="Times New Roman"/>
                <a:ea typeface="Times New Roman"/>
                <a:cs typeface="Times New Roman"/>
                <a:sym typeface="Times New Roman"/>
              </a:rPr>
              <a:t>	Yes? You probably have </a:t>
            </a:r>
            <a:r>
              <a:rPr lang="en-US" sz="2400" b="1">
                <a:latin typeface="Times New Roman"/>
                <a:ea typeface="Times New Roman"/>
                <a:cs typeface="Times New Roman"/>
                <a:sym typeface="Times New Roman"/>
              </a:rPr>
              <a:t>quantitative </a:t>
            </a:r>
            <a:r>
              <a:rPr lang="en-US" sz="2400">
                <a:latin typeface="Times New Roman"/>
                <a:ea typeface="Times New Roman"/>
                <a:cs typeface="Times New Roman"/>
                <a:sym typeface="Times New Roman"/>
              </a:rPr>
              <a:t>data.</a:t>
            </a:r>
            <a:endParaRPr/>
          </a:p>
          <a:p>
            <a:pPr marL="342900" lvl="0" indent="-342900" algn="l"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This method will help you classify most, if not all, data into one of these two categories.</a:t>
            </a:r>
            <a:endParaRPr sz="24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7"/>
          <p:cNvSpPr txBox="1">
            <a:spLocks noGrp="1"/>
          </p:cNvSpPr>
          <p:nvPr>
            <p:ph type="body" idx="1"/>
          </p:nvPr>
        </p:nvSpPr>
        <p:spPr>
          <a:xfrm>
            <a:off x="457200" y="762000"/>
            <a:ext cx="8229600" cy="5364163"/>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just" rtl="0">
              <a:spcBef>
                <a:spcPts val="0"/>
              </a:spcBef>
              <a:spcAft>
                <a:spcPts val="0"/>
              </a:spcAft>
              <a:buClr>
                <a:schemeClr val="dk1"/>
              </a:buClr>
              <a:buSzPct val="100000"/>
              <a:buChar char="•"/>
            </a:pPr>
            <a:r>
              <a:rPr lang="en-US" dirty="0">
                <a:latin typeface="Times New Roman"/>
                <a:ea typeface="Times New Roman"/>
                <a:cs typeface="Times New Roman"/>
                <a:sym typeface="Times New Roman"/>
              </a:rPr>
              <a:t>The difference between these two categories define the types of questions you may ask about each column. For a quantitative column, you may ask questions such as the following:</a:t>
            </a:r>
            <a:endParaRPr/>
          </a:p>
          <a:p>
            <a:pPr marL="0" lvl="0" indent="0" algn="just" rtl="0">
              <a:spcBef>
                <a:spcPts val="496"/>
              </a:spcBef>
              <a:spcAft>
                <a:spcPts val="0"/>
              </a:spcAft>
              <a:buClr>
                <a:schemeClr val="dk1"/>
              </a:buClr>
              <a:buSzPct val="100000"/>
              <a:buNone/>
            </a:pPr>
            <a:r>
              <a:rPr lang="en-US" dirty="0">
                <a:latin typeface="Times New Roman"/>
                <a:ea typeface="Times New Roman"/>
                <a:cs typeface="Times New Roman"/>
                <a:sym typeface="Times New Roman"/>
              </a:rPr>
              <a:t>	• What is the average value?</a:t>
            </a:r>
            <a:endParaRPr/>
          </a:p>
          <a:p>
            <a:pPr marL="0" lvl="0" indent="0" algn="just" rtl="0">
              <a:spcBef>
                <a:spcPts val="496"/>
              </a:spcBef>
              <a:spcAft>
                <a:spcPts val="0"/>
              </a:spcAft>
              <a:buClr>
                <a:schemeClr val="dk1"/>
              </a:buClr>
              <a:buSzPct val="100000"/>
              <a:buNone/>
            </a:pPr>
            <a:r>
              <a:rPr lang="en-US" dirty="0">
                <a:latin typeface="Times New Roman"/>
                <a:ea typeface="Times New Roman"/>
                <a:cs typeface="Times New Roman"/>
                <a:sym typeface="Times New Roman"/>
              </a:rPr>
              <a:t>	• Does this quantity increase or decrease over time (if time is a factor)?</a:t>
            </a:r>
            <a:endParaRPr/>
          </a:p>
          <a:p>
            <a:pPr marL="0" lvl="0" indent="0" algn="just" rtl="0">
              <a:spcBef>
                <a:spcPts val="496"/>
              </a:spcBef>
              <a:spcAft>
                <a:spcPts val="0"/>
              </a:spcAft>
              <a:buClr>
                <a:schemeClr val="dk1"/>
              </a:buClr>
              <a:buSzPct val="100000"/>
              <a:buNone/>
            </a:pPr>
            <a:r>
              <a:rPr lang="en-US" dirty="0">
                <a:latin typeface="Times New Roman"/>
                <a:ea typeface="Times New Roman"/>
                <a:cs typeface="Times New Roman"/>
                <a:sym typeface="Times New Roman"/>
              </a:rPr>
              <a:t>	• Is there a threshold that if this number grew above or be too low would signal trouble for the company?</a:t>
            </a:r>
            <a:endParaRPr/>
          </a:p>
          <a:p>
            <a:pPr marL="342900" lvl="0" indent="-342900" algn="just" rtl="0">
              <a:spcBef>
                <a:spcPts val="496"/>
              </a:spcBef>
              <a:spcAft>
                <a:spcPts val="0"/>
              </a:spcAft>
              <a:buClr>
                <a:schemeClr val="dk1"/>
              </a:buClr>
              <a:buSzPct val="100000"/>
              <a:buChar char="•"/>
            </a:pPr>
            <a:r>
              <a:rPr lang="en-US" dirty="0">
                <a:latin typeface="Times New Roman"/>
                <a:ea typeface="Times New Roman"/>
                <a:cs typeface="Times New Roman"/>
                <a:sym typeface="Times New Roman"/>
              </a:rPr>
              <a:t>For a qualitative column, none of the preceding questions can be answered; however, the following questions </a:t>
            </a:r>
            <a:r>
              <a:rPr lang="en-US" i="1" dirty="0">
                <a:latin typeface="Times New Roman"/>
                <a:ea typeface="Times New Roman"/>
                <a:cs typeface="Times New Roman"/>
                <a:sym typeface="Times New Roman"/>
              </a:rPr>
              <a:t>only </a:t>
            </a:r>
            <a:r>
              <a:rPr lang="en-US" dirty="0">
                <a:latin typeface="Times New Roman"/>
                <a:ea typeface="Times New Roman"/>
                <a:cs typeface="Times New Roman"/>
                <a:sym typeface="Times New Roman"/>
              </a:rPr>
              <a:t>apply to qualitative values:</a:t>
            </a:r>
            <a:endParaRPr/>
          </a:p>
          <a:p>
            <a:pPr marL="0" lvl="0" indent="0" algn="just" rtl="0">
              <a:spcBef>
                <a:spcPts val="496"/>
              </a:spcBef>
              <a:spcAft>
                <a:spcPts val="0"/>
              </a:spcAft>
              <a:buClr>
                <a:schemeClr val="dk1"/>
              </a:buClr>
              <a:buSzPct val="100000"/>
              <a:buNone/>
            </a:pPr>
            <a:r>
              <a:rPr lang="en-US" dirty="0">
                <a:latin typeface="Times New Roman"/>
                <a:ea typeface="Times New Roman"/>
                <a:cs typeface="Times New Roman"/>
                <a:sym typeface="Times New Roman"/>
              </a:rPr>
              <a:t>	• Which value occurs the most and the least?</a:t>
            </a:r>
            <a:endParaRPr/>
          </a:p>
          <a:p>
            <a:pPr marL="0" lvl="0" indent="0" algn="just" rtl="0">
              <a:spcBef>
                <a:spcPts val="496"/>
              </a:spcBef>
              <a:spcAft>
                <a:spcPts val="0"/>
              </a:spcAft>
              <a:buClr>
                <a:schemeClr val="dk1"/>
              </a:buClr>
              <a:buSzPct val="100000"/>
              <a:buNone/>
            </a:pPr>
            <a:r>
              <a:rPr lang="en-US" dirty="0">
                <a:latin typeface="Times New Roman"/>
                <a:ea typeface="Times New Roman"/>
                <a:cs typeface="Times New Roman"/>
                <a:sym typeface="Times New Roman"/>
              </a:rPr>
              <a:t>	• How many unique values are there?</a:t>
            </a:r>
            <a:endParaRPr/>
          </a:p>
          <a:p>
            <a:pPr marL="0" lvl="0" indent="0" algn="just" rtl="0">
              <a:spcBef>
                <a:spcPts val="496"/>
              </a:spcBef>
              <a:spcAft>
                <a:spcPts val="0"/>
              </a:spcAft>
              <a:buClr>
                <a:schemeClr val="dk1"/>
              </a:buClr>
              <a:buSzPct val="100000"/>
              <a:buNone/>
            </a:pPr>
            <a:r>
              <a:rPr lang="en-US" dirty="0">
                <a:latin typeface="Times New Roman"/>
                <a:ea typeface="Times New Roman"/>
                <a:cs typeface="Times New Roman"/>
                <a:sym typeface="Times New Roman"/>
              </a:rPr>
              <a:t>	• What are these unique values?</a:t>
            </a:r>
            <a:endParaRPr/>
          </a:p>
          <a:p>
            <a:pPr marL="342900" lvl="0" indent="-185420" algn="just" rtl="0">
              <a:spcBef>
                <a:spcPts val="496"/>
              </a:spcBef>
              <a:spcAft>
                <a:spcPts val="0"/>
              </a:spcAft>
              <a:buClr>
                <a:schemeClr val="dk1"/>
              </a:buClr>
              <a:buSzPct val="100000"/>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8"/>
          <p:cNvSpPr txBox="1">
            <a:spLocks noGrp="1"/>
          </p:cNvSpPr>
          <p:nvPr>
            <p:ph type="title"/>
          </p:nvPr>
        </p:nvSpPr>
        <p:spPr>
          <a:xfrm>
            <a:off x="457200" y="274638"/>
            <a:ext cx="8229600" cy="8683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Example</a:t>
            </a:r>
            <a:endParaRPr>
              <a:latin typeface="Times New Roman"/>
              <a:ea typeface="Times New Roman"/>
              <a:cs typeface="Times New Roman"/>
              <a:sym typeface="Times New Roman"/>
            </a:endParaRPr>
          </a:p>
        </p:txBody>
      </p:sp>
      <p:sp>
        <p:nvSpPr>
          <p:cNvPr id="199" name="Google Shape;199;p18"/>
          <p:cNvSpPr txBox="1">
            <a:spLocks noGrp="1"/>
          </p:cNvSpPr>
          <p:nvPr>
            <p:ph type="body" idx="1"/>
          </p:nvPr>
        </p:nvSpPr>
        <p:spPr>
          <a:xfrm>
            <a:off x="196948" y="1143000"/>
            <a:ext cx="8489852" cy="49831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Char char="•"/>
            </a:pPr>
            <a:r>
              <a:rPr lang="en-US" sz="2400" b="1" dirty="0">
                <a:latin typeface="Times New Roman"/>
                <a:ea typeface="Times New Roman"/>
                <a:cs typeface="Times New Roman"/>
                <a:sym typeface="Times New Roman"/>
              </a:rPr>
              <a:t>World alcohol consumption data: </a:t>
            </a:r>
            <a:r>
              <a:rPr lang="en-US" sz="2400" dirty="0">
                <a:latin typeface="Times New Roman"/>
                <a:ea typeface="Times New Roman"/>
                <a:cs typeface="Times New Roman"/>
                <a:sym typeface="Times New Roman"/>
              </a:rPr>
              <a:t>The World Health Organization released a dataset describing the average drinking habits of people in countries across the world</a:t>
            </a:r>
            <a:endParaRPr sz="2400">
              <a:latin typeface="Times New Roman"/>
              <a:ea typeface="Times New Roman"/>
              <a:cs typeface="Times New Roman"/>
              <a:sym typeface="Times New Roman"/>
            </a:endParaRPr>
          </a:p>
        </p:txBody>
      </p:sp>
      <p:pic>
        <p:nvPicPr>
          <p:cNvPr id="200" name="Google Shape;200;p18"/>
          <p:cNvPicPr preferRelativeResize="0"/>
          <p:nvPr/>
        </p:nvPicPr>
        <p:blipFill rotWithShape="1">
          <a:blip r:embed="rId3">
            <a:alphaModFix/>
          </a:blip>
          <a:srcRect/>
          <a:stretch/>
        </p:blipFill>
        <p:spPr>
          <a:xfrm>
            <a:off x="729175" y="2393853"/>
            <a:ext cx="7269353" cy="1733550"/>
          </a:xfrm>
          <a:prstGeom prst="rect">
            <a:avLst/>
          </a:prstGeom>
          <a:noFill/>
          <a:ln>
            <a:noFill/>
          </a:ln>
        </p:spPr>
      </p:pic>
      <p:pic>
        <p:nvPicPr>
          <p:cNvPr id="201" name="Google Shape;201;p18"/>
          <p:cNvPicPr preferRelativeResize="0"/>
          <p:nvPr/>
        </p:nvPicPr>
        <p:blipFill rotWithShape="1">
          <a:blip r:embed="rId4">
            <a:alphaModFix/>
          </a:blip>
          <a:srcRect/>
          <a:stretch/>
        </p:blipFill>
        <p:spPr>
          <a:xfrm>
            <a:off x="422031" y="3967089"/>
            <a:ext cx="8468751" cy="289091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9"/>
          <p:cNvSpPr txBox="1">
            <a:spLocks noGrp="1"/>
          </p:cNvSpPr>
          <p:nvPr>
            <p:ph type="body" idx="1"/>
          </p:nvPr>
        </p:nvSpPr>
        <p:spPr>
          <a:xfrm>
            <a:off x="304800" y="152400"/>
            <a:ext cx="8686800" cy="6258658"/>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000"/>
              <a:buChar char="•"/>
            </a:pPr>
            <a:r>
              <a:rPr lang="en-US" sz="2000">
                <a:latin typeface="Times New Roman"/>
                <a:ea typeface="Times New Roman"/>
                <a:cs typeface="Times New Roman"/>
                <a:sym typeface="Times New Roman"/>
              </a:rPr>
              <a:t>We have six different columns that we are working with in this example:</a:t>
            </a:r>
            <a:endParaRPr/>
          </a:p>
          <a:p>
            <a:pPr marL="742950" lvl="1" indent="-28575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country: Qualitative</a:t>
            </a:r>
            <a:endParaRPr/>
          </a:p>
          <a:p>
            <a:pPr marL="742950" lvl="1" indent="-28575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beer_servings: Quantitative</a:t>
            </a:r>
            <a:endParaRPr/>
          </a:p>
          <a:p>
            <a:pPr marL="742950" lvl="1" indent="-28575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spirit_servings: Quantitative</a:t>
            </a:r>
            <a:endParaRPr/>
          </a:p>
          <a:p>
            <a:pPr marL="742950" lvl="1" indent="-28575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wine_servings: Quantitative</a:t>
            </a:r>
            <a:endParaRPr/>
          </a:p>
          <a:p>
            <a:pPr marL="742950" lvl="1" indent="-28575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total_litres_of_pure_alcohol: Quantitative</a:t>
            </a:r>
            <a:endParaRPr/>
          </a:p>
          <a:p>
            <a:pPr marL="742950" lvl="1" indent="-28575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continent: Qualitative</a:t>
            </a:r>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Let's look at the </a:t>
            </a:r>
            <a:r>
              <a:rPr lang="en-US" sz="2000" b="1">
                <a:latin typeface="Times New Roman"/>
                <a:ea typeface="Times New Roman"/>
                <a:cs typeface="Times New Roman"/>
                <a:sym typeface="Times New Roman"/>
              </a:rPr>
              <a:t>qualitative column</a:t>
            </a:r>
            <a:r>
              <a:rPr lang="en-US" sz="2000">
                <a:latin typeface="Times New Roman"/>
                <a:ea typeface="Times New Roman"/>
                <a:cs typeface="Times New Roman"/>
                <a:sym typeface="Times New Roman"/>
              </a:rPr>
              <a:t> continent. We can use Pandas in order to get some basic summary statistics about this non-numerical characteristic. The describe() method first identifies whether the column is likely quantitative or qualitative and then gives basic information about the column as a whole. </a:t>
            </a:r>
            <a:endParaRPr sz="2000">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drinks['continent'].describe() </a:t>
            </a:r>
            <a:endParaRPr sz="2000">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&gt;&gt; count 193</a:t>
            </a:r>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&gt;&gt; unique 5 </a:t>
            </a:r>
            <a:endParaRPr sz="2000">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&gt;&gt; top AF </a:t>
            </a:r>
            <a:endParaRPr sz="2000">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&gt;&gt; freq 53 </a:t>
            </a:r>
            <a:endParaRPr sz="2000">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It reveals that the WHO has gathered data about five unique continents, the most frequent being AF (Africa), which occurred 53 times in the 193 observations. </a:t>
            </a:r>
            <a:endParaRPr sz="20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0"/>
          <p:cNvSpPr txBox="1">
            <a:spLocks noGrp="1"/>
          </p:cNvSpPr>
          <p:nvPr>
            <p:ph type="title"/>
          </p:nvPr>
        </p:nvSpPr>
        <p:spPr>
          <a:xfrm>
            <a:off x="457200" y="274638"/>
            <a:ext cx="8229600" cy="5668962"/>
          </a:xfrm>
          <a:prstGeom prst="rect">
            <a:avLst/>
          </a:prstGeom>
          <a:noFill/>
          <a:ln>
            <a:noFill/>
          </a:ln>
        </p:spPr>
        <p:txBody>
          <a:bodyPr spcFirstLastPara="1" wrap="square" lIns="91425" tIns="45700" rIns="91425" bIns="45700" anchor="ctr" anchorCtr="0">
            <a:noAutofit/>
          </a:bodyPr>
          <a:lstStyle/>
          <a:p>
            <a:pPr marL="571500" lvl="0" indent="-571500" algn="l" rtl="0">
              <a:spcBef>
                <a:spcPts val="0"/>
              </a:spcBef>
              <a:spcAft>
                <a:spcPts val="0"/>
              </a:spcAft>
              <a:buClr>
                <a:schemeClr val="dk1"/>
              </a:buClr>
              <a:buSzPts val="2800"/>
              <a:buFont typeface="Arial"/>
              <a:buChar char="•"/>
            </a:pPr>
            <a:r>
              <a:rPr lang="en-US" sz="2800">
                <a:latin typeface="Times New Roman"/>
                <a:ea typeface="Times New Roman"/>
                <a:cs typeface="Times New Roman"/>
                <a:sym typeface="Times New Roman"/>
              </a:rPr>
              <a:t>If we take a look at one of the quantitative columns and call the same method, we can see the difference in output, as shown: </a:t>
            </a:r>
            <a:br>
              <a:rPr lang="en-US" sz="2800">
                <a:latin typeface="Times New Roman"/>
                <a:ea typeface="Times New Roman"/>
                <a:cs typeface="Times New Roman"/>
                <a:sym typeface="Times New Roman"/>
              </a:rPr>
            </a:br>
            <a:r>
              <a:rPr lang="en-US" sz="2800">
                <a:latin typeface="Times New Roman"/>
                <a:ea typeface="Times New Roman"/>
                <a:cs typeface="Times New Roman"/>
                <a:sym typeface="Times New Roman"/>
              </a:rPr>
              <a:t/>
            </a:r>
            <a:br>
              <a:rPr lang="en-US" sz="2800">
                <a:latin typeface="Times New Roman"/>
                <a:ea typeface="Times New Roman"/>
                <a:cs typeface="Times New Roman"/>
                <a:sym typeface="Times New Roman"/>
              </a:rPr>
            </a:br>
            <a:r>
              <a:rPr lang="en-US" sz="2800">
                <a:latin typeface="Times New Roman"/>
                <a:ea typeface="Times New Roman"/>
                <a:cs typeface="Times New Roman"/>
                <a:sym typeface="Times New Roman"/>
              </a:rPr>
              <a:t>drinks['beer_servings'].describe() </a:t>
            </a:r>
            <a:br>
              <a:rPr lang="en-US" sz="2800">
                <a:latin typeface="Times New Roman"/>
                <a:ea typeface="Times New Roman"/>
                <a:cs typeface="Times New Roman"/>
                <a:sym typeface="Times New Roman"/>
              </a:rPr>
            </a:br>
            <a:r>
              <a:rPr lang="en-US" sz="2800">
                <a:latin typeface="Times New Roman"/>
                <a:ea typeface="Times New Roman"/>
                <a:cs typeface="Times New Roman"/>
                <a:sym typeface="Times New Roman"/>
              </a:rPr>
              <a:t>&gt;&gt; mean 106.160622 </a:t>
            </a:r>
            <a:br>
              <a:rPr lang="en-US" sz="2800">
                <a:latin typeface="Times New Roman"/>
                <a:ea typeface="Times New Roman"/>
                <a:cs typeface="Times New Roman"/>
                <a:sym typeface="Times New Roman"/>
              </a:rPr>
            </a:br>
            <a:r>
              <a:rPr lang="en-US" sz="2800">
                <a:latin typeface="Times New Roman"/>
                <a:ea typeface="Times New Roman"/>
                <a:cs typeface="Times New Roman"/>
                <a:sym typeface="Times New Roman"/>
              </a:rPr>
              <a:t>&gt;&gt; min 0.000000 </a:t>
            </a:r>
            <a:br>
              <a:rPr lang="en-US" sz="2800">
                <a:latin typeface="Times New Roman"/>
                <a:ea typeface="Times New Roman"/>
                <a:cs typeface="Times New Roman"/>
                <a:sym typeface="Times New Roman"/>
              </a:rPr>
            </a:br>
            <a:r>
              <a:rPr lang="en-US" sz="2800">
                <a:latin typeface="Times New Roman"/>
                <a:ea typeface="Times New Roman"/>
                <a:cs typeface="Times New Roman"/>
                <a:sym typeface="Times New Roman"/>
              </a:rPr>
              <a:t>&gt;&gt; max 376.000000 </a:t>
            </a:r>
            <a:br>
              <a:rPr lang="en-US" sz="2800">
                <a:latin typeface="Times New Roman"/>
                <a:ea typeface="Times New Roman"/>
                <a:cs typeface="Times New Roman"/>
                <a:sym typeface="Times New Roman"/>
              </a:rPr>
            </a:br>
            <a:r>
              <a:rPr lang="en-US" sz="2800">
                <a:latin typeface="Times New Roman"/>
                <a:ea typeface="Times New Roman"/>
                <a:cs typeface="Times New Roman"/>
                <a:sym typeface="Times New Roman"/>
              </a:rPr>
              <a:t/>
            </a:r>
            <a:br>
              <a:rPr lang="en-US" sz="2800">
                <a:latin typeface="Times New Roman"/>
                <a:ea typeface="Times New Roman"/>
                <a:cs typeface="Times New Roman"/>
                <a:sym typeface="Times New Roman"/>
              </a:rPr>
            </a:br>
            <a:r>
              <a:rPr lang="en-US" sz="2800">
                <a:latin typeface="Times New Roman"/>
                <a:ea typeface="Times New Roman"/>
                <a:cs typeface="Times New Roman"/>
                <a:sym typeface="Times New Roman"/>
              </a:rPr>
              <a:t>Now we can look at the mean (average) beer serving per-person per-country (106.2 servings) as well as the lowest beer serving, zero, and the highest beer serving recorded, 376 (that's more than a beer a day)</a:t>
            </a:r>
            <a:endParaRPr sz="280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457200" y="274638"/>
            <a:ext cx="8229600" cy="9445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Quantitative data</a:t>
            </a:r>
            <a:endParaRPr/>
          </a:p>
        </p:txBody>
      </p:sp>
      <p:sp>
        <p:nvSpPr>
          <p:cNvPr id="217" name="Google Shape;217;p21"/>
          <p:cNvSpPr txBox="1">
            <a:spLocks noGrp="1"/>
          </p:cNvSpPr>
          <p:nvPr>
            <p:ph type="body" idx="1"/>
          </p:nvPr>
        </p:nvSpPr>
        <p:spPr>
          <a:xfrm>
            <a:off x="304800" y="1219200"/>
            <a:ext cx="8534400" cy="5334000"/>
          </a:xfrm>
          <a:prstGeom prst="rect">
            <a:avLst/>
          </a:prstGeom>
          <a:noFill/>
          <a:ln>
            <a:noFill/>
          </a:ln>
        </p:spPr>
        <p:txBody>
          <a:bodyPr spcFirstLastPara="1" wrap="square" lIns="91425" tIns="45700" rIns="91425" bIns="45700" anchor="t" anchorCtr="0">
            <a:normAutofit lnSpcReduction="10000"/>
          </a:bodyPr>
          <a:lstStyle/>
          <a:p>
            <a:pPr marL="0" lvl="0" indent="0" algn="just" rtl="0">
              <a:spcBef>
                <a:spcPts val="0"/>
              </a:spcBef>
              <a:spcAft>
                <a:spcPts val="0"/>
              </a:spcAft>
              <a:buClr>
                <a:schemeClr val="dk1"/>
              </a:buClr>
              <a:buSzPts val="2400"/>
              <a:buNone/>
            </a:pPr>
            <a:r>
              <a:rPr lang="en-US" sz="2400">
                <a:latin typeface="Times New Roman"/>
                <a:ea typeface="Times New Roman"/>
                <a:cs typeface="Times New Roman"/>
                <a:sym typeface="Times New Roman"/>
              </a:rPr>
              <a:t>Quantitative data can be broken down, one step further, into </a:t>
            </a:r>
            <a:r>
              <a:rPr lang="en-US" sz="2400" i="1">
                <a:latin typeface="Times New Roman"/>
                <a:ea typeface="Times New Roman"/>
                <a:cs typeface="Times New Roman"/>
                <a:sym typeface="Times New Roman"/>
              </a:rPr>
              <a:t>discrete </a:t>
            </a:r>
            <a:r>
              <a:rPr lang="en-US" sz="2400">
                <a:latin typeface="Times New Roman"/>
                <a:ea typeface="Times New Roman"/>
                <a:cs typeface="Times New Roman"/>
                <a:sym typeface="Times New Roman"/>
              </a:rPr>
              <a:t>and </a:t>
            </a:r>
            <a:r>
              <a:rPr lang="en-US" sz="2400" i="1">
                <a:latin typeface="Times New Roman"/>
                <a:ea typeface="Times New Roman"/>
                <a:cs typeface="Times New Roman"/>
                <a:sym typeface="Times New Roman"/>
              </a:rPr>
              <a:t>continuous </a:t>
            </a:r>
            <a:r>
              <a:rPr lang="en-US" sz="2400">
                <a:latin typeface="Times New Roman"/>
                <a:ea typeface="Times New Roman"/>
                <a:cs typeface="Times New Roman"/>
                <a:sym typeface="Times New Roman"/>
              </a:rPr>
              <a:t>quantities. These can be defined as follows:</a:t>
            </a:r>
            <a:endParaRPr/>
          </a:p>
          <a:p>
            <a:pPr marL="339725" lvl="0" indent="0" algn="just" rtl="0">
              <a:spcBef>
                <a:spcPts val="480"/>
              </a:spcBef>
              <a:spcAft>
                <a:spcPts val="0"/>
              </a:spcAft>
              <a:buClr>
                <a:schemeClr val="dk1"/>
              </a:buClr>
              <a:buSzPts val="2400"/>
              <a:buNone/>
            </a:pPr>
            <a:r>
              <a:rPr lang="en-US" sz="2400">
                <a:latin typeface="Times New Roman"/>
                <a:ea typeface="Times New Roman"/>
                <a:cs typeface="Times New Roman"/>
                <a:sym typeface="Times New Roman"/>
              </a:rPr>
              <a:t>• </a:t>
            </a:r>
            <a:r>
              <a:rPr lang="en-US" sz="2400" b="1">
                <a:solidFill>
                  <a:srgbClr val="FF0000"/>
                </a:solidFill>
                <a:latin typeface="Times New Roman"/>
                <a:ea typeface="Times New Roman"/>
                <a:cs typeface="Times New Roman"/>
                <a:sym typeface="Times New Roman"/>
              </a:rPr>
              <a:t>Discrete data</a:t>
            </a:r>
            <a:r>
              <a:rPr lang="en-US" sz="2400">
                <a:latin typeface="Times New Roman"/>
                <a:ea typeface="Times New Roman"/>
                <a:cs typeface="Times New Roman"/>
                <a:sym typeface="Times New Roman"/>
              </a:rPr>
              <a:t>: This describes data that is counted. It can only take on certain values. Examples of discrete quantitative data include a dice roll, because it can only take on six values, and the number of customers in a café, because you can't have a </a:t>
            </a:r>
            <a:r>
              <a:rPr lang="en-US" sz="2400" i="1">
                <a:latin typeface="Times New Roman"/>
                <a:ea typeface="Times New Roman"/>
                <a:cs typeface="Times New Roman"/>
                <a:sym typeface="Times New Roman"/>
              </a:rPr>
              <a:t>real </a:t>
            </a:r>
            <a:r>
              <a:rPr lang="en-US" sz="2400">
                <a:latin typeface="Times New Roman"/>
                <a:ea typeface="Times New Roman"/>
                <a:cs typeface="Times New Roman"/>
                <a:sym typeface="Times New Roman"/>
              </a:rPr>
              <a:t>range of people.</a:t>
            </a:r>
            <a:endParaRPr/>
          </a:p>
          <a:p>
            <a:pPr marL="339725" lvl="0" indent="0" algn="just" rtl="0">
              <a:spcBef>
                <a:spcPts val="480"/>
              </a:spcBef>
              <a:spcAft>
                <a:spcPts val="0"/>
              </a:spcAft>
              <a:buClr>
                <a:schemeClr val="dk1"/>
              </a:buClr>
              <a:buSzPts val="2400"/>
              <a:buNone/>
            </a:pPr>
            <a:r>
              <a:rPr lang="en-US" sz="2400">
                <a:latin typeface="Times New Roman"/>
                <a:ea typeface="Times New Roman"/>
                <a:cs typeface="Times New Roman"/>
                <a:sym typeface="Times New Roman"/>
              </a:rPr>
              <a:t>• </a:t>
            </a:r>
            <a:r>
              <a:rPr lang="en-US" sz="2400" b="1">
                <a:solidFill>
                  <a:srgbClr val="FF0000"/>
                </a:solidFill>
                <a:latin typeface="Times New Roman"/>
                <a:ea typeface="Times New Roman"/>
                <a:cs typeface="Times New Roman"/>
                <a:sym typeface="Times New Roman"/>
              </a:rPr>
              <a:t>Continuous data</a:t>
            </a:r>
            <a:r>
              <a:rPr lang="en-US" sz="2400">
                <a:latin typeface="Times New Roman"/>
                <a:ea typeface="Times New Roman"/>
                <a:cs typeface="Times New Roman"/>
                <a:sym typeface="Times New Roman"/>
              </a:rPr>
              <a:t>: This describes data that is measured. It exists on an infinite range of values. A good example of continuous data would be a person's weight because it can be 150 pounds or 197.66 pounds (note the decimals). The height of a person or building is a continuous number because an infinite scale of decimals is possible. Other examples of continuous data would be time and temperature.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800"/>
              <a:buFont typeface="Times New Roman"/>
              <a:buNone/>
            </a:pPr>
            <a:r>
              <a:rPr lang="en-US" sz="4800" b="1">
                <a:latin typeface="Times New Roman"/>
                <a:ea typeface="Times New Roman"/>
                <a:cs typeface="Times New Roman"/>
                <a:sym typeface="Times New Roman"/>
              </a:rPr>
              <a:t>The FOUR levels of data</a:t>
            </a:r>
            <a:endParaRPr sz="4800">
              <a:latin typeface="Times New Roman"/>
              <a:ea typeface="Times New Roman"/>
              <a:cs typeface="Times New Roman"/>
              <a:sym typeface="Times New Roman"/>
            </a:endParaRPr>
          </a:p>
        </p:txBody>
      </p:sp>
      <p:sp>
        <p:nvSpPr>
          <p:cNvPr id="223" name="Google Shape;223;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latin typeface="Times New Roman"/>
                <a:ea typeface="Times New Roman"/>
                <a:cs typeface="Times New Roman"/>
                <a:sym typeface="Times New Roman"/>
              </a:rPr>
              <a:t>A specific characteristic (feature/column) of structured data can be broken down into one of four levels of data. The levels are:</a:t>
            </a:r>
            <a:endParaRPr/>
          </a:p>
          <a:p>
            <a:pPr marL="914400" lvl="2" indent="0" algn="l" rtl="0">
              <a:spcBef>
                <a:spcPts val="640"/>
              </a:spcBef>
              <a:spcAft>
                <a:spcPts val="0"/>
              </a:spcAft>
              <a:buClr>
                <a:schemeClr val="dk1"/>
              </a:buClr>
              <a:buSzPts val="3200"/>
              <a:buNone/>
            </a:pPr>
            <a:r>
              <a:rPr lang="en-US" sz="3200">
                <a:latin typeface="Times New Roman"/>
                <a:ea typeface="Times New Roman"/>
                <a:cs typeface="Times New Roman"/>
                <a:sym typeface="Times New Roman"/>
              </a:rPr>
              <a:t>• The nominal level</a:t>
            </a:r>
            <a:endParaRPr/>
          </a:p>
          <a:p>
            <a:pPr marL="914400" lvl="2" indent="0" algn="l" rtl="0">
              <a:spcBef>
                <a:spcPts val="640"/>
              </a:spcBef>
              <a:spcAft>
                <a:spcPts val="0"/>
              </a:spcAft>
              <a:buClr>
                <a:schemeClr val="dk1"/>
              </a:buClr>
              <a:buSzPts val="3200"/>
              <a:buNone/>
            </a:pPr>
            <a:r>
              <a:rPr lang="en-US" sz="3200">
                <a:latin typeface="Times New Roman"/>
                <a:ea typeface="Times New Roman"/>
                <a:cs typeface="Times New Roman"/>
                <a:sym typeface="Times New Roman"/>
              </a:rPr>
              <a:t>• The ordinal level</a:t>
            </a:r>
            <a:endParaRPr/>
          </a:p>
          <a:p>
            <a:pPr marL="914400" lvl="2" indent="0" algn="l" rtl="0">
              <a:spcBef>
                <a:spcPts val="640"/>
              </a:spcBef>
              <a:spcAft>
                <a:spcPts val="0"/>
              </a:spcAft>
              <a:buClr>
                <a:schemeClr val="dk1"/>
              </a:buClr>
              <a:buSzPts val="3200"/>
              <a:buNone/>
            </a:pPr>
            <a:r>
              <a:rPr lang="en-US" sz="3200">
                <a:latin typeface="Times New Roman"/>
                <a:ea typeface="Times New Roman"/>
                <a:cs typeface="Times New Roman"/>
                <a:sym typeface="Times New Roman"/>
              </a:rPr>
              <a:t>• The interval level</a:t>
            </a:r>
            <a:endParaRPr/>
          </a:p>
          <a:p>
            <a:pPr marL="914400" lvl="2" indent="0" algn="l" rtl="0">
              <a:spcBef>
                <a:spcPts val="640"/>
              </a:spcBef>
              <a:spcAft>
                <a:spcPts val="0"/>
              </a:spcAft>
              <a:buClr>
                <a:schemeClr val="dk1"/>
              </a:buClr>
              <a:buSzPts val="3200"/>
              <a:buNone/>
            </a:pPr>
            <a:r>
              <a:rPr lang="en-US" sz="3200">
                <a:latin typeface="Times New Roman"/>
                <a:ea typeface="Times New Roman"/>
                <a:cs typeface="Times New Roman"/>
                <a:sym typeface="Times New Roman"/>
              </a:rPr>
              <a:t>• The ratio level</a:t>
            </a:r>
            <a:endParaRPr/>
          </a:p>
          <a:p>
            <a:pPr marL="914400" lvl="2" indent="0" algn="l" rtl="0">
              <a:spcBef>
                <a:spcPts val="560"/>
              </a:spcBef>
              <a:spcAft>
                <a:spcPts val="0"/>
              </a:spcAft>
              <a:buClr>
                <a:schemeClr val="dk1"/>
              </a:buClr>
              <a:buSzPts val="2800"/>
              <a:buNone/>
            </a:pPr>
            <a:endParaRPr sz="280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2" indent="0" algn="ctr" rtl="0">
              <a:spcBef>
                <a:spcPts val="0"/>
              </a:spcBef>
              <a:spcAft>
                <a:spcPts val="0"/>
              </a:spcAft>
              <a:buNone/>
            </a:pPr>
            <a:r>
              <a:rPr lang="en-US" sz="4400" b="1">
                <a:latin typeface="Times New Roman"/>
                <a:ea typeface="Times New Roman"/>
                <a:cs typeface="Times New Roman"/>
                <a:sym typeface="Times New Roman"/>
              </a:rPr>
              <a:t>1. The Nominal Level</a:t>
            </a:r>
            <a:endParaRPr sz="4400" b="1">
              <a:latin typeface="Times New Roman"/>
              <a:ea typeface="Times New Roman"/>
              <a:cs typeface="Times New Roman"/>
              <a:sym typeface="Times New Roman"/>
            </a:endParaRPr>
          </a:p>
        </p:txBody>
      </p:sp>
      <p:sp>
        <p:nvSpPr>
          <p:cNvPr id="229" name="Google Shape;229;p23"/>
          <p:cNvSpPr txBox="1">
            <a:spLocks noGrp="1"/>
          </p:cNvSpPr>
          <p:nvPr>
            <p:ph type="body" idx="1"/>
          </p:nvPr>
        </p:nvSpPr>
        <p:spPr>
          <a:xfrm>
            <a:off x="457200" y="1371600"/>
            <a:ext cx="8229600" cy="4876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Char char="•"/>
            </a:pPr>
            <a:r>
              <a:rPr lang="en-US" sz="2400">
                <a:latin typeface="Times New Roman"/>
                <a:ea typeface="Times New Roman"/>
                <a:cs typeface="Times New Roman"/>
                <a:sym typeface="Times New Roman"/>
              </a:rPr>
              <a:t>Consists of data that is described purely by name or category</a:t>
            </a:r>
            <a:endParaRPr/>
          </a:p>
          <a:p>
            <a:pPr marL="342900" lvl="0" indent="-342900" algn="l"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Basic examples include gender, nationality, species, or yeast strain in a beer. They are not described by numbers and are therefore qualitative.</a:t>
            </a:r>
            <a:endParaRPr/>
          </a:p>
          <a:p>
            <a:pPr marL="342900" lvl="0" indent="-342900" algn="l"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We cannot perform mathematics on the nominal level of data except the basic </a:t>
            </a:r>
            <a:r>
              <a:rPr lang="en-US" sz="2400" i="1">
                <a:latin typeface="Times New Roman"/>
                <a:ea typeface="Times New Roman"/>
                <a:cs typeface="Times New Roman"/>
                <a:sym typeface="Times New Roman"/>
              </a:rPr>
              <a:t>equality </a:t>
            </a:r>
            <a:r>
              <a:rPr lang="en-US" sz="2400">
                <a:latin typeface="Times New Roman"/>
                <a:ea typeface="Times New Roman"/>
                <a:cs typeface="Times New Roman"/>
                <a:sym typeface="Times New Roman"/>
              </a:rPr>
              <a:t>and </a:t>
            </a:r>
            <a:r>
              <a:rPr lang="en-US" sz="2400" i="1">
                <a:latin typeface="Times New Roman"/>
                <a:ea typeface="Times New Roman"/>
                <a:cs typeface="Times New Roman"/>
                <a:sym typeface="Times New Roman"/>
              </a:rPr>
              <a:t>set membership </a:t>
            </a:r>
            <a:r>
              <a:rPr lang="en-US" sz="2400">
                <a:latin typeface="Times New Roman"/>
                <a:ea typeface="Times New Roman"/>
                <a:cs typeface="Times New Roman"/>
                <a:sym typeface="Times New Roman"/>
              </a:rPr>
              <a:t>functions, as shown in the following two examples:</a:t>
            </a:r>
            <a:endParaRPr/>
          </a:p>
          <a:p>
            <a:pPr marL="742950" lvl="1" indent="-285750" algn="l" rtl="0">
              <a:spcBef>
                <a:spcPts val="480"/>
              </a:spcBef>
              <a:spcAft>
                <a:spcPts val="0"/>
              </a:spcAft>
              <a:buClr>
                <a:schemeClr val="dk1"/>
              </a:buClr>
              <a:buSzPts val="2400"/>
              <a:buChar char="–"/>
            </a:pPr>
            <a:r>
              <a:rPr lang="en-US" sz="2400" i="1">
                <a:latin typeface="Times New Roman"/>
                <a:ea typeface="Times New Roman"/>
                <a:cs typeface="Times New Roman"/>
                <a:sym typeface="Times New Roman"/>
              </a:rPr>
              <a:t>Being a tech entrepreneur </a:t>
            </a:r>
            <a:r>
              <a:rPr lang="en-US" sz="2400">
                <a:latin typeface="Times New Roman"/>
                <a:ea typeface="Times New Roman"/>
                <a:cs typeface="Times New Roman"/>
                <a:sym typeface="Times New Roman"/>
              </a:rPr>
              <a:t>is the same as </a:t>
            </a:r>
            <a:r>
              <a:rPr lang="en-US" sz="2400" i="1">
                <a:latin typeface="Times New Roman"/>
                <a:ea typeface="Times New Roman"/>
                <a:cs typeface="Times New Roman"/>
                <a:sym typeface="Times New Roman"/>
              </a:rPr>
              <a:t>being in the tech industry</a:t>
            </a:r>
            <a:r>
              <a:rPr lang="en-US" sz="2400">
                <a:latin typeface="Times New Roman"/>
                <a:ea typeface="Times New Roman"/>
                <a:cs typeface="Times New Roman"/>
                <a:sym typeface="Times New Roman"/>
              </a:rPr>
              <a:t>, but not vice versa</a:t>
            </a:r>
            <a:endParaRPr/>
          </a:p>
          <a:p>
            <a:pPr marL="742950" lvl="1" indent="-285750" algn="l"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A figure described as a square falls under the description of being a rectangle, but not vice versa</a:t>
            </a:r>
            <a:endParaRPr sz="2400">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Cont…</a:t>
            </a:r>
            <a:endParaRPr/>
          </a:p>
        </p:txBody>
      </p:sp>
      <p:sp>
        <p:nvSpPr>
          <p:cNvPr id="235" name="Google Shape;235;p2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just" rtl="0">
              <a:spcBef>
                <a:spcPts val="0"/>
              </a:spcBef>
              <a:spcAft>
                <a:spcPts val="0"/>
              </a:spcAft>
              <a:buClr>
                <a:schemeClr val="dk1"/>
              </a:buClr>
              <a:buSzPct val="100000"/>
              <a:buChar char="•"/>
            </a:pPr>
            <a:r>
              <a:rPr lang="en-US">
                <a:latin typeface="Times New Roman"/>
                <a:ea typeface="Times New Roman"/>
                <a:cs typeface="Times New Roman"/>
                <a:sym typeface="Times New Roman"/>
              </a:rPr>
              <a:t>A </a:t>
            </a:r>
            <a:r>
              <a:rPr lang="en-US" b="1">
                <a:solidFill>
                  <a:srgbClr val="FF0000"/>
                </a:solidFill>
                <a:latin typeface="Times New Roman"/>
                <a:ea typeface="Times New Roman"/>
                <a:cs typeface="Times New Roman"/>
                <a:sym typeface="Times New Roman"/>
              </a:rPr>
              <a:t>measure of center </a:t>
            </a:r>
            <a:r>
              <a:rPr lang="en-US">
                <a:latin typeface="Times New Roman"/>
                <a:ea typeface="Times New Roman"/>
                <a:cs typeface="Times New Roman"/>
                <a:sym typeface="Times New Roman"/>
              </a:rPr>
              <a:t>is a number that describes what the data </a:t>
            </a:r>
            <a:r>
              <a:rPr lang="en-US" i="1">
                <a:latin typeface="Times New Roman"/>
                <a:ea typeface="Times New Roman"/>
                <a:cs typeface="Times New Roman"/>
                <a:sym typeface="Times New Roman"/>
              </a:rPr>
              <a:t>tends to</a:t>
            </a:r>
            <a:r>
              <a:rPr lang="en-US">
                <a:latin typeface="Times New Roman"/>
                <a:ea typeface="Times New Roman"/>
                <a:cs typeface="Times New Roman"/>
                <a:sym typeface="Times New Roman"/>
              </a:rPr>
              <a:t>. It is sometimes referred to as the </a:t>
            </a:r>
            <a:r>
              <a:rPr lang="en-US" i="1">
                <a:latin typeface="Times New Roman"/>
                <a:ea typeface="Times New Roman"/>
                <a:cs typeface="Times New Roman"/>
                <a:sym typeface="Times New Roman"/>
              </a:rPr>
              <a:t>balance point </a:t>
            </a:r>
            <a:r>
              <a:rPr lang="en-US">
                <a:latin typeface="Times New Roman"/>
                <a:ea typeface="Times New Roman"/>
                <a:cs typeface="Times New Roman"/>
                <a:sym typeface="Times New Roman"/>
              </a:rPr>
              <a:t>of the data. Common examples include the mean, median, and mode. In order to find the </a:t>
            </a:r>
            <a:r>
              <a:rPr lang="en-US" i="1">
                <a:latin typeface="Times New Roman"/>
                <a:ea typeface="Times New Roman"/>
                <a:cs typeface="Times New Roman"/>
                <a:sym typeface="Times New Roman"/>
              </a:rPr>
              <a:t>center </a:t>
            </a:r>
            <a:r>
              <a:rPr lang="en-US">
                <a:latin typeface="Times New Roman"/>
                <a:ea typeface="Times New Roman"/>
                <a:cs typeface="Times New Roman"/>
                <a:sym typeface="Times New Roman"/>
              </a:rPr>
              <a:t>of nominal data, we generally turn to the </a:t>
            </a:r>
            <a:r>
              <a:rPr lang="en-US" i="1">
                <a:latin typeface="Times New Roman"/>
                <a:ea typeface="Times New Roman"/>
                <a:cs typeface="Times New Roman"/>
                <a:sym typeface="Times New Roman"/>
              </a:rPr>
              <a:t>mode </a:t>
            </a:r>
            <a:r>
              <a:rPr lang="en-US">
                <a:latin typeface="Times New Roman"/>
                <a:ea typeface="Times New Roman"/>
                <a:cs typeface="Times New Roman"/>
                <a:sym typeface="Times New Roman"/>
              </a:rPr>
              <a:t>(the most common element) of the dataset. In WHO alcohol consumption data example the most common continent surveyed Africa is the center.</a:t>
            </a:r>
            <a:endParaRPr/>
          </a:p>
          <a:p>
            <a:pPr marL="342900" lvl="0" indent="-342900" algn="just" rtl="0">
              <a:spcBef>
                <a:spcPts val="544"/>
              </a:spcBef>
              <a:spcAft>
                <a:spcPts val="0"/>
              </a:spcAft>
              <a:buClr>
                <a:schemeClr val="dk1"/>
              </a:buClr>
              <a:buSzPct val="100000"/>
              <a:buChar char="•"/>
            </a:pPr>
            <a:r>
              <a:rPr lang="en-US">
                <a:latin typeface="Times New Roman"/>
                <a:ea typeface="Times New Roman"/>
                <a:cs typeface="Times New Roman"/>
                <a:sym typeface="Times New Roman"/>
              </a:rPr>
              <a:t>Data at the nominal level is mostly categorical in nature. With only the mode as a basic measure of center, we are unable to draw conclusions about an </a:t>
            </a:r>
            <a:r>
              <a:rPr lang="en-US" i="1">
                <a:latin typeface="Times New Roman"/>
                <a:ea typeface="Times New Roman"/>
                <a:cs typeface="Times New Roman"/>
                <a:sym typeface="Times New Roman"/>
              </a:rPr>
              <a:t>average </a:t>
            </a:r>
            <a:r>
              <a:rPr lang="en-US">
                <a:latin typeface="Times New Roman"/>
                <a:ea typeface="Times New Roman"/>
                <a:cs typeface="Times New Roman"/>
                <a:sym typeface="Times New Roman"/>
              </a:rPr>
              <a:t>observation.</a:t>
            </a:r>
            <a:endParaRPr>
              <a:latin typeface="Times New Roman"/>
              <a:ea typeface="Times New Roman"/>
              <a:cs typeface="Times New Roman"/>
              <a:sym typeface="Times New Roman"/>
            </a:endParaRPr>
          </a:p>
          <a:p>
            <a:pPr marL="342900" lvl="0" indent="-170180" algn="just" rtl="0">
              <a:spcBef>
                <a:spcPts val="544"/>
              </a:spcBef>
              <a:spcAft>
                <a:spcPts val="0"/>
              </a:spcAft>
              <a:buClr>
                <a:schemeClr val="dk1"/>
              </a:buClr>
              <a:buSzPct val="100000"/>
              <a:buNone/>
            </a:pPr>
            <a:endParaRPr>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5"/>
          <p:cNvSpPr txBox="1">
            <a:spLocks noGrp="1"/>
          </p:cNvSpPr>
          <p:nvPr>
            <p:ph type="title"/>
          </p:nvPr>
        </p:nvSpPr>
        <p:spPr>
          <a:xfrm>
            <a:off x="457200" y="274638"/>
            <a:ext cx="8229600" cy="8683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2. The Ordinal Level</a:t>
            </a:r>
            <a:endParaRPr>
              <a:latin typeface="Times New Roman"/>
              <a:ea typeface="Times New Roman"/>
              <a:cs typeface="Times New Roman"/>
              <a:sym typeface="Times New Roman"/>
            </a:endParaRPr>
          </a:p>
        </p:txBody>
      </p:sp>
      <p:sp>
        <p:nvSpPr>
          <p:cNvPr id="241" name="Google Shape;241;p25"/>
          <p:cNvSpPr txBox="1">
            <a:spLocks noGrp="1"/>
          </p:cNvSpPr>
          <p:nvPr>
            <p:ph type="body" idx="1"/>
          </p:nvPr>
        </p:nvSpPr>
        <p:spPr>
          <a:xfrm>
            <a:off x="457200" y="1066800"/>
            <a:ext cx="8229600" cy="54864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400"/>
              <a:buChar char="•"/>
            </a:pPr>
            <a:r>
              <a:rPr lang="en-US" sz="2400">
                <a:latin typeface="Times New Roman"/>
                <a:ea typeface="Times New Roman"/>
                <a:cs typeface="Times New Roman"/>
                <a:sym typeface="Times New Roman"/>
              </a:rPr>
              <a:t>Data in the </a:t>
            </a:r>
            <a:r>
              <a:rPr lang="en-US" sz="2400" b="1" i="1">
                <a:latin typeface="Times New Roman"/>
                <a:ea typeface="Times New Roman"/>
                <a:cs typeface="Times New Roman"/>
                <a:sym typeface="Times New Roman"/>
              </a:rPr>
              <a:t>ordinal </a:t>
            </a:r>
            <a:r>
              <a:rPr lang="en-US" sz="2400">
                <a:latin typeface="Times New Roman"/>
                <a:ea typeface="Times New Roman"/>
                <a:cs typeface="Times New Roman"/>
                <a:sym typeface="Times New Roman"/>
              </a:rPr>
              <a:t>level provides us with a rank order, or the means to place one observation before the other; however, it does not provide us with relative differences between observations, meaning that while we may order the observations from first to last, we cannot add or subtract them to get any real meaning.</a:t>
            </a:r>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Example: The </a:t>
            </a:r>
            <a:r>
              <a:rPr lang="en-US" sz="2400" i="1">
                <a:latin typeface="Times New Roman"/>
                <a:ea typeface="Times New Roman"/>
                <a:cs typeface="Times New Roman"/>
                <a:sym typeface="Times New Roman"/>
              </a:rPr>
              <a:t>Likert </a:t>
            </a:r>
            <a:r>
              <a:rPr lang="en-US" sz="2400">
                <a:latin typeface="Times New Roman"/>
                <a:ea typeface="Times New Roman"/>
                <a:cs typeface="Times New Roman"/>
                <a:sym typeface="Times New Roman"/>
              </a:rPr>
              <a:t>is among the most common ordinal level scales. Whenever you are given a survey asking you to rate your satisfaction on a scale from 1 to 10, you are providing data at the ordinal level. Your answer, which must fall between 1 and 10, can be ordered: eight is better than seven while three is worse than nine. However, differences between the numbers do not make much sense. The difference between a seven and a six might be different than the difference between a two and a one.</a:t>
            </a:r>
            <a:endParaRPr sz="2400">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6"/>
          <p:cNvSpPr txBox="1">
            <a:spLocks noGrp="1"/>
          </p:cNvSpPr>
          <p:nvPr>
            <p:ph type="body" idx="1"/>
          </p:nvPr>
        </p:nvSpPr>
        <p:spPr>
          <a:xfrm>
            <a:off x="457200" y="685800"/>
            <a:ext cx="8229600" cy="54403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200"/>
              <a:buChar char="•"/>
            </a:pPr>
            <a:r>
              <a:rPr lang="en-US" sz="2200" b="1" dirty="0">
                <a:latin typeface="Times New Roman"/>
                <a:ea typeface="Times New Roman"/>
                <a:cs typeface="Times New Roman"/>
                <a:sym typeface="Times New Roman"/>
              </a:rPr>
              <a:t>Mathematical operations allowed: </a:t>
            </a:r>
            <a:r>
              <a:rPr lang="en-US" sz="2200" dirty="0">
                <a:latin typeface="Times New Roman"/>
                <a:ea typeface="Times New Roman"/>
                <a:cs typeface="Times New Roman"/>
                <a:sym typeface="Times New Roman"/>
              </a:rPr>
              <a:t>We inherit all mathematics from the </a:t>
            </a:r>
            <a:r>
              <a:rPr lang="en-US" sz="2200" dirty="0" smtClean="0">
                <a:latin typeface="Times New Roman"/>
                <a:ea typeface="Times New Roman"/>
                <a:cs typeface="Times New Roman"/>
                <a:sym typeface="Times New Roman"/>
              </a:rPr>
              <a:t>nominal</a:t>
            </a:r>
            <a:r>
              <a:rPr lang="en-US" sz="2200" dirty="0" smtClean="0">
                <a:latin typeface="Times New Roman"/>
                <a:ea typeface="Times New Roman"/>
                <a:cs typeface="Times New Roman"/>
                <a:sym typeface="Times New Roman"/>
              </a:rPr>
              <a:t> </a:t>
            </a:r>
            <a:r>
              <a:rPr lang="en-US" sz="2200" dirty="0">
                <a:latin typeface="Times New Roman"/>
                <a:ea typeface="Times New Roman"/>
                <a:cs typeface="Times New Roman"/>
                <a:sym typeface="Times New Roman"/>
              </a:rPr>
              <a:t>level (equality and set membership) and we can also add the following to the list of operations allowed in the </a:t>
            </a:r>
            <a:r>
              <a:rPr lang="en-US" sz="2200" dirty="0" smtClean="0">
                <a:latin typeface="Times New Roman"/>
                <a:ea typeface="Times New Roman"/>
                <a:cs typeface="Times New Roman"/>
                <a:sym typeface="Times New Roman"/>
              </a:rPr>
              <a:t>ordinal</a:t>
            </a:r>
            <a:r>
              <a:rPr lang="en-US" sz="2200" dirty="0" smtClean="0">
                <a:latin typeface="Times New Roman"/>
                <a:ea typeface="Times New Roman"/>
                <a:cs typeface="Times New Roman"/>
                <a:sym typeface="Times New Roman"/>
              </a:rPr>
              <a:t> </a:t>
            </a:r>
            <a:r>
              <a:rPr lang="en-US" sz="2200" dirty="0">
                <a:latin typeface="Times New Roman"/>
                <a:ea typeface="Times New Roman"/>
                <a:cs typeface="Times New Roman"/>
                <a:sym typeface="Times New Roman"/>
              </a:rPr>
              <a:t>level:</a:t>
            </a:r>
            <a:endParaRPr/>
          </a:p>
          <a:p>
            <a:pPr marL="742950" lvl="1" indent="-285750" algn="just" rtl="0">
              <a:spcBef>
                <a:spcPts val="440"/>
              </a:spcBef>
              <a:spcAft>
                <a:spcPts val="0"/>
              </a:spcAft>
              <a:buClr>
                <a:schemeClr val="dk1"/>
              </a:buClr>
              <a:buSzPts val="2200"/>
              <a:buChar char="–"/>
            </a:pPr>
            <a:r>
              <a:rPr lang="en-US" sz="2200" dirty="0">
                <a:latin typeface="Times New Roman"/>
                <a:ea typeface="Times New Roman"/>
                <a:cs typeface="Times New Roman"/>
                <a:sym typeface="Times New Roman"/>
              </a:rPr>
              <a:t>Ordering</a:t>
            </a:r>
            <a:endParaRPr/>
          </a:p>
          <a:p>
            <a:pPr marL="742950" lvl="1" indent="-285750" algn="just" rtl="0">
              <a:spcBef>
                <a:spcPts val="440"/>
              </a:spcBef>
              <a:spcAft>
                <a:spcPts val="0"/>
              </a:spcAft>
              <a:buClr>
                <a:schemeClr val="dk1"/>
              </a:buClr>
              <a:buSzPts val="2200"/>
              <a:buChar char="–"/>
            </a:pPr>
            <a:r>
              <a:rPr lang="en-US" sz="2200" dirty="0">
                <a:latin typeface="Times New Roman"/>
                <a:ea typeface="Times New Roman"/>
                <a:cs typeface="Times New Roman"/>
                <a:sym typeface="Times New Roman"/>
              </a:rPr>
              <a:t>Comparison</a:t>
            </a:r>
            <a:endParaRPr/>
          </a:p>
          <a:p>
            <a:pPr marL="342900" lvl="0" indent="-342900" algn="just" rtl="0">
              <a:spcBef>
                <a:spcPts val="440"/>
              </a:spcBef>
              <a:spcAft>
                <a:spcPts val="0"/>
              </a:spcAft>
              <a:buClr>
                <a:srgbClr val="FF0000"/>
              </a:buClr>
              <a:buSzPts val="2200"/>
              <a:buChar char="•"/>
            </a:pPr>
            <a:r>
              <a:rPr lang="en-US" sz="2200" b="1" u="sng" dirty="0">
                <a:solidFill>
                  <a:srgbClr val="FF0000"/>
                </a:solidFill>
                <a:latin typeface="Times New Roman"/>
                <a:ea typeface="Times New Roman"/>
                <a:cs typeface="Times New Roman"/>
                <a:sym typeface="Times New Roman"/>
              </a:rPr>
              <a:t>Ordering</a:t>
            </a:r>
            <a:r>
              <a:rPr lang="en-US" sz="2200" dirty="0">
                <a:latin typeface="Times New Roman"/>
                <a:ea typeface="Times New Roman"/>
                <a:cs typeface="Times New Roman"/>
                <a:sym typeface="Times New Roman"/>
              </a:rPr>
              <a:t> refers to the natural order provided to us by the data.</a:t>
            </a:r>
            <a:endParaRPr/>
          </a:p>
          <a:p>
            <a:pPr marL="342900" lvl="0" indent="-342900" algn="just" rtl="0">
              <a:spcBef>
                <a:spcPts val="440"/>
              </a:spcBef>
              <a:spcAft>
                <a:spcPts val="0"/>
              </a:spcAft>
              <a:buClr>
                <a:schemeClr val="dk1"/>
              </a:buClr>
              <a:buSzPts val="2200"/>
              <a:buChar char="•"/>
            </a:pPr>
            <a:r>
              <a:rPr lang="en-US" sz="2200" b="1" dirty="0">
                <a:latin typeface="Times New Roman"/>
                <a:ea typeface="Times New Roman"/>
                <a:cs typeface="Times New Roman"/>
                <a:sym typeface="Times New Roman"/>
              </a:rPr>
              <a:t>As long as we are consistent in what defines the order, it does not matter what defines it. </a:t>
            </a:r>
            <a:endParaRPr sz="2200" b="1">
              <a:latin typeface="Times New Roman"/>
              <a:ea typeface="Times New Roman"/>
              <a:cs typeface="Times New Roman"/>
              <a:sym typeface="Times New Roman"/>
            </a:endParaRPr>
          </a:p>
          <a:p>
            <a:pPr marL="342900" lvl="0" indent="-342900" algn="just" rtl="0">
              <a:spcBef>
                <a:spcPts val="440"/>
              </a:spcBef>
              <a:spcAft>
                <a:spcPts val="0"/>
              </a:spcAft>
              <a:buClr>
                <a:schemeClr val="dk1"/>
              </a:buClr>
              <a:buSzPts val="2200"/>
              <a:buChar char="•"/>
            </a:pPr>
            <a:r>
              <a:rPr lang="en-US" sz="2200" b="1" dirty="0">
                <a:latin typeface="Times New Roman"/>
                <a:ea typeface="Times New Roman"/>
                <a:cs typeface="Times New Roman"/>
                <a:sym typeface="Times New Roman"/>
              </a:rPr>
              <a:t>Example: </a:t>
            </a:r>
            <a:r>
              <a:rPr lang="en-US" sz="2200" dirty="0">
                <a:latin typeface="Times New Roman"/>
                <a:ea typeface="Times New Roman"/>
                <a:cs typeface="Times New Roman"/>
                <a:sym typeface="Times New Roman"/>
              </a:rPr>
              <a:t>When speaking about the spectrum of visible light, we can refer to the names of colors—red, orange, yellow, green, blue, indigo, and violet. Naturally, as we move from left to right, the light is gaining energy and other properties. We may refer to this as a natural order. However, if needed, an artist may impose another order on the data, such as sorting the colors based on the cost of the material to make the said color</a:t>
            </a:r>
            <a:endParaRPr sz="2200" b="1">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7"/>
          <p:cNvSpPr txBox="1">
            <a:spLocks noGrp="1"/>
          </p:cNvSpPr>
          <p:nvPr>
            <p:ph type="body" idx="1"/>
          </p:nvPr>
        </p:nvSpPr>
        <p:spPr>
          <a:xfrm>
            <a:off x="457200" y="1295400"/>
            <a:ext cx="8229600" cy="48307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rgbClr val="FF0000"/>
              </a:buClr>
              <a:buSzPts val="2200"/>
              <a:buChar char="•"/>
            </a:pPr>
            <a:r>
              <a:rPr lang="en-US" sz="2200" b="1" u="sng" dirty="0">
                <a:solidFill>
                  <a:srgbClr val="FF0000"/>
                </a:solidFill>
                <a:latin typeface="Times New Roman"/>
                <a:ea typeface="Times New Roman"/>
                <a:cs typeface="Times New Roman"/>
                <a:sym typeface="Times New Roman"/>
              </a:rPr>
              <a:t>Comparisons</a:t>
            </a:r>
            <a:r>
              <a:rPr lang="en-US" sz="2200" u="sng" dirty="0">
                <a:latin typeface="Times New Roman"/>
                <a:ea typeface="Times New Roman"/>
                <a:cs typeface="Times New Roman"/>
                <a:sym typeface="Times New Roman"/>
              </a:rPr>
              <a:t> </a:t>
            </a:r>
            <a:r>
              <a:rPr lang="en-US" sz="2200" dirty="0">
                <a:latin typeface="Times New Roman"/>
                <a:ea typeface="Times New Roman"/>
                <a:cs typeface="Times New Roman"/>
                <a:sym typeface="Times New Roman"/>
              </a:rPr>
              <a:t>are another new operation allowed at this level. At the </a:t>
            </a:r>
            <a:r>
              <a:rPr lang="en-US" sz="2200" dirty="0" smtClean="0">
                <a:latin typeface="Times New Roman"/>
                <a:ea typeface="Times New Roman"/>
                <a:cs typeface="Times New Roman"/>
                <a:sym typeface="Times New Roman"/>
              </a:rPr>
              <a:t>nominal </a:t>
            </a:r>
            <a:r>
              <a:rPr lang="en-US" sz="2200" dirty="0">
                <a:latin typeface="Times New Roman"/>
                <a:ea typeface="Times New Roman"/>
                <a:cs typeface="Times New Roman"/>
                <a:sym typeface="Times New Roman"/>
              </a:rPr>
              <a:t>level, it would not make sense to say that one country was </a:t>
            </a:r>
            <a:r>
              <a:rPr lang="en-US" sz="2200" i="1" dirty="0">
                <a:latin typeface="Times New Roman"/>
                <a:ea typeface="Times New Roman"/>
                <a:cs typeface="Times New Roman"/>
                <a:sym typeface="Times New Roman"/>
              </a:rPr>
              <a:t>naturally </a:t>
            </a:r>
            <a:r>
              <a:rPr lang="en-US" sz="2200" dirty="0">
                <a:latin typeface="Times New Roman"/>
                <a:ea typeface="Times New Roman"/>
                <a:cs typeface="Times New Roman"/>
                <a:sym typeface="Times New Roman"/>
              </a:rPr>
              <a:t>better than another or that one part of speech is worse than another. At the ordinal level, we can make these comparisons. For example, we can talk about how putting a "7" on a survey is worse than putting a "10".</a:t>
            </a:r>
            <a:endParaRPr/>
          </a:p>
          <a:p>
            <a:pPr marL="342900" lvl="0" indent="-342900" algn="l" rtl="0">
              <a:spcBef>
                <a:spcPts val="440"/>
              </a:spcBef>
              <a:spcAft>
                <a:spcPts val="0"/>
              </a:spcAft>
              <a:buClr>
                <a:srgbClr val="FF0000"/>
              </a:buClr>
              <a:buSzPts val="2200"/>
              <a:buChar char="•"/>
            </a:pPr>
            <a:r>
              <a:rPr lang="en-US" sz="2200" b="1" dirty="0">
                <a:solidFill>
                  <a:srgbClr val="FF0000"/>
                </a:solidFill>
                <a:latin typeface="Times New Roman"/>
                <a:ea typeface="Times New Roman"/>
                <a:cs typeface="Times New Roman"/>
                <a:sym typeface="Times New Roman"/>
              </a:rPr>
              <a:t>Measures of center</a:t>
            </a:r>
            <a:r>
              <a:rPr lang="en-US" sz="2200" b="1" dirty="0">
                <a:latin typeface="Times New Roman"/>
                <a:ea typeface="Times New Roman"/>
                <a:cs typeface="Times New Roman"/>
                <a:sym typeface="Times New Roman"/>
              </a:rPr>
              <a:t>: </a:t>
            </a:r>
            <a:r>
              <a:rPr lang="en-US" sz="2200" dirty="0">
                <a:latin typeface="Times New Roman"/>
                <a:ea typeface="Times New Roman"/>
                <a:cs typeface="Times New Roman"/>
                <a:sym typeface="Times New Roman"/>
              </a:rPr>
              <a:t>the </a:t>
            </a:r>
            <a:r>
              <a:rPr lang="en-US" sz="2200" b="1" dirty="0">
                <a:solidFill>
                  <a:srgbClr val="FF0000"/>
                </a:solidFill>
                <a:latin typeface="Times New Roman"/>
                <a:ea typeface="Times New Roman"/>
                <a:cs typeface="Times New Roman"/>
                <a:sym typeface="Times New Roman"/>
              </a:rPr>
              <a:t>median</a:t>
            </a:r>
            <a:r>
              <a:rPr lang="en-US" sz="2200" b="1" dirty="0">
                <a:latin typeface="Times New Roman"/>
                <a:ea typeface="Times New Roman"/>
                <a:cs typeface="Times New Roman"/>
                <a:sym typeface="Times New Roman"/>
              </a:rPr>
              <a:t> </a:t>
            </a:r>
            <a:r>
              <a:rPr lang="en-US" sz="2200" dirty="0">
                <a:latin typeface="Times New Roman"/>
                <a:ea typeface="Times New Roman"/>
                <a:cs typeface="Times New Roman"/>
                <a:sym typeface="Times New Roman"/>
              </a:rPr>
              <a:t>is usually an appropriate way of defining the center of the data. The mean, however, would be impossible because division is not allowed at this level.</a:t>
            </a:r>
            <a:endParaRPr sz="2200">
              <a:latin typeface="Times New Roman"/>
              <a:ea typeface="Times New Roman"/>
              <a:cs typeface="Times New Roman"/>
              <a:sym typeface="Times New Roman"/>
            </a:endParaRPr>
          </a:p>
        </p:txBody>
      </p:sp>
      <p:sp>
        <p:nvSpPr>
          <p:cNvPr id="252" name="Google Shape;252;p27"/>
          <p:cNvSpPr txBox="1">
            <a:spLocks noGrp="1"/>
          </p:cNvSpPr>
          <p:nvPr>
            <p:ph type="title"/>
          </p:nvPr>
        </p:nvSpPr>
        <p:spPr>
          <a:xfrm>
            <a:off x="457200" y="274638"/>
            <a:ext cx="8229600" cy="7921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The ordinal level</a:t>
            </a:r>
            <a:endParaRPr>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8"/>
          <p:cNvSpPr txBox="1">
            <a:spLocks noGrp="1"/>
          </p:cNvSpPr>
          <p:nvPr>
            <p:ph type="body" idx="1"/>
          </p:nvPr>
        </p:nvSpPr>
        <p:spPr>
          <a:xfrm>
            <a:off x="457200" y="533400"/>
            <a:ext cx="8229600" cy="55927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Char char="•"/>
            </a:pPr>
            <a:r>
              <a:rPr lang="en-US" sz="2400">
                <a:latin typeface="Times New Roman"/>
                <a:ea typeface="Times New Roman"/>
                <a:cs typeface="Times New Roman"/>
                <a:sym typeface="Times New Roman"/>
              </a:rPr>
              <a:t>Example: Imagine you have conducted a survey among your employees asking "how happy are you to be working here on a scale from 1-5", and your results are as follows: 5, 4, 3, 4, 5, 3, 2, 5, 3, 2, 1, 4, 5, 3, 4, 4, 5, 4, 2, 1, 4, 5, 4, 3, 2, 4, 4, 5, 4, 3, 2, 1</a:t>
            </a:r>
            <a:endParaRPr/>
          </a:p>
          <a:p>
            <a:pPr marL="742950" lvl="1" indent="-285750" algn="l" rtl="0">
              <a:spcBef>
                <a:spcPts val="360"/>
              </a:spcBef>
              <a:spcAft>
                <a:spcPts val="0"/>
              </a:spcAft>
              <a:buClr>
                <a:schemeClr val="dk1"/>
              </a:buClr>
              <a:buSzPts val="1800"/>
              <a:buChar char="–"/>
            </a:pPr>
            <a:r>
              <a:rPr lang="en-US" sz="1800">
                <a:latin typeface="Times New Roman"/>
                <a:ea typeface="Times New Roman"/>
                <a:cs typeface="Times New Roman"/>
                <a:sym typeface="Times New Roman"/>
              </a:rPr>
              <a:t>import numpy</a:t>
            </a:r>
            <a:endParaRPr sz="1800">
              <a:latin typeface="Times New Roman"/>
              <a:ea typeface="Times New Roman"/>
              <a:cs typeface="Times New Roman"/>
              <a:sym typeface="Times New Roman"/>
            </a:endParaRPr>
          </a:p>
          <a:p>
            <a:pPr marL="742950" lvl="1" indent="-285750" algn="l" rtl="0">
              <a:spcBef>
                <a:spcPts val="360"/>
              </a:spcBef>
              <a:spcAft>
                <a:spcPts val="0"/>
              </a:spcAft>
              <a:buClr>
                <a:schemeClr val="dk1"/>
              </a:buClr>
              <a:buSzPts val="1800"/>
              <a:buChar char="–"/>
            </a:pPr>
            <a:r>
              <a:rPr lang="en-US" sz="1800">
                <a:latin typeface="Times New Roman"/>
                <a:ea typeface="Times New Roman"/>
                <a:cs typeface="Times New Roman"/>
                <a:sym typeface="Times New Roman"/>
              </a:rPr>
              <a:t>results = [5, 4, 3, 4, 5, 3, 2, 5, 3, 2, 1, 4, 5, 3, 4, 4, 5, 4, 2, 1, 4, 5, 4, 3, 2, 4, 4, 5, 4, 3, 2, 1]</a:t>
            </a:r>
            <a:endParaRPr/>
          </a:p>
          <a:p>
            <a:pPr marL="742950" lvl="1" indent="-285750" algn="l" rtl="0">
              <a:spcBef>
                <a:spcPts val="360"/>
              </a:spcBef>
              <a:spcAft>
                <a:spcPts val="0"/>
              </a:spcAft>
              <a:buClr>
                <a:schemeClr val="dk1"/>
              </a:buClr>
              <a:buSzPts val="1800"/>
              <a:buChar char="–"/>
            </a:pPr>
            <a:r>
              <a:rPr lang="en-US" sz="1800">
                <a:latin typeface="Times New Roman"/>
                <a:ea typeface="Times New Roman"/>
                <a:cs typeface="Times New Roman"/>
                <a:sym typeface="Times New Roman"/>
              </a:rPr>
              <a:t>sorted_results = sorted(results)</a:t>
            </a:r>
            <a:endParaRPr/>
          </a:p>
          <a:p>
            <a:pPr marL="742950" lvl="1" indent="-285750" algn="l" rtl="0">
              <a:spcBef>
                <a:spcPts val="360"/>
              </a:spcBef>
              <a:spcAft>
                <a:spcPts val="0"/>
              </a:spcAft>
              <a:buClr>
                <a:schemeClr val="dk1"/>
              </a:buClr>
              <a:buSzPts val="1800"/>
              <a:buChar char="–"/>
            </a:pPr>
            <a:r>
              <a:rPr lang="en-US" sz="1800">
                <a:latin typeface="Times New Roman"/>
                <a:ea typeface="Times New Roman"/>
                <a:cs typeface="Times New Roman"/>
                <a:sym typeface="Times New Roman"/>
              </a:rPr>
              <a:t>print sorted_results</a:t>
            </a:r>
            <a:endParaRPr sz="1800">
              <a:latin typeface="Times New Roman"/>
              <a:ea typeface="Times New Roman"/>
              <a:cs typeface="Times New Roman"/>
              <a:sym typeface="Times New Roman"/>
            </a:endParaRPr>
          </a:p>
          <a:p>
            <a:pPr marL="742950" lvl="1" indent="-285750" algn="l" rtl="0">
              <a:spcBef>
                <a:spcPts val="360"/>
              </a:spcBef>
              <a:spcAft>
                <a:spcPts val="0"/>
              </a:spcAft>
              <a:buClr>
                <a:schemeClr val="dk1"/>
              </a:buClr>
              <a:buSzPts val="1800"/>
              <a:buChar char="–"/>
            </a:pPr>
            <a:r>
              <a:rPr lang="en-US" sz="1800">
                <a:latin typeface="Times New Roman"/>
                <a:ea typeface="Times New Roman"/>
                <a:cs typeface="Times New Roman"/>
                <a:sym typeface="Times New Roman"/>
              </a:rPr>
              <a:t>[1, 1, 1, 2, 2, 2, 2, 2, 3, 3, 3, 3, 3, 3, 4, 4, 4, 4, 4, 4, 4, 4, 4,4, 4, 5, 5, 5, 5, 5, 5, 5]</a:t>
            </a:r>
            <a:endParaRPr/>
          </a:p>
          <a:p>
            <a:pPr marL="742950" lvl="1" indent="-285750" algn="l" rtl="0">
              <a:spcBef>
                <a:spcPts val="360"/>
              </a:spcBef>
              <a:spcAft>
                <a:spcPts val="0"/>
              </a:spcAft>
              <a:buClr>
                <a:schemeClr val="dk1"/>
              </a:buClr>
              <a:buSzPts val="1800"/>
              <a:buChar char="–"/>
            </a:pPr>
            <a:r>
              <a:rPr lang="en-US" sz="1800">
                <a:latin typeface="Times New Roman"/>
                <a:ea typeface="Times New Roman"/>
                <a:cs typeface="Times New Roman"/>
                <a:sym typeface="Times New Roman"/>
              </a:rPr>
              <a:t>print numpy.mean(results) # == 3.4375</a:t>
            </a:r>
            <a:endParaRPr/>
          </a:p>
          <a:p>
            <a:pPr marL="742950" lvl="1" indent="-285750" algn="l" rtl="0">
              <a:spcBef>
                <a:spcPts val="360"/>
              </a:spcBef>
              <a:spcAft>
                <a:spcPts val="0"/>
              </a:spcAft>
              <a:buClr>
                <a:schemeClr val="dk1"/>
              </a:buClr>
              <a:buSzPts val="1800"/>
              <a:buChar char="–"/>
            </a:pPr>
            <a:r>
              <a:rPr lang="en-US" sz="1800">
                <a:latin typeface="Times New Roman"/>
                <a:ea typeface="Times New Roman"/>
                <a:cs typeface="Times New Roman"/>
                <a:sym typeface="Times New Roman"/>
              </a:rPr>
              <a:t>print numpy.median(results) # == 4.0</a:t>
            </a:r>
            <a:endParaRPr/>
          </a:p>
          <a:p>
            <a:pPr marL="342900" lvl="0" indent="-342900" algn="l"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Turns out that the median is not only more sound, but makes the survey results look much better.</a:t>
            </a:r>
            <a:endParaRPr sz="2400">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3. The Interval Level</a:t>
            </a:r>
            <a:endParaRPr>
              <a:latin typeface="Times New Roman"/>
              <a:ea typeface="Times New Roman"/>
              <a:cs typeface="Times New Roman"/>
              <a:sym typeface="Times New Roman"/>
            </a:endParaRPr>
          </a:p>
        </p:txBody>
      </p:sp>
      <p:sp>
        <p:nvSpPr>
          <p:cNvPr id="263" name="Google Shape;263;p2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400"/>
              <a:buChar char="•"/>
            </a:pPr>
            <a:r>
              <a:rPr lang="en-US" sz="2400">
                <a:latin typeface="Times New Roman"/>
                <a:ea typeface="Times New Roman"/>
                <a:cs typeface="Times New Roman"/>
                <a:sym typeface="Times New Roman"/>
              </a:rPr>
              <a:t>Data that can be expressed through very quantifiable means, and where much more complicated mathematical formulas are allowed. The basic difference between the ordinal level and the interval level is, well, just that—difference.</a:t>
            </a:r>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Data at the interval level allows meaningful subtraction between data points.</a:t>
            </a:r>
            <a:endParaRPr/>
          </a:p>
          <a:p>
            <a:pPr marL="342900" lvl="0" indent="-342900" algn="just" rtl="0">
              <a:spcBef>
                <a:spcPts val="480"/>
              </a:spcBef>
              <a:spcAft>
                <a:spcPts val="0"/>
              </a:spcAft>
              <a:buClr>
                <a:schemeClr val="dk1"/>
              </a:buClr>
              <a:buSzPts val="2400"/>
              <a:buChar char="•"/>
            </a:pPr>
            <a:r>
              <a:rPr lang="en-US" sz="2400" u="sng">
                <a:latin typeface="Times New Roman"/>
                <a:ea typeface="Times New Roman"/>
                <a:cs typeface="Times New Roman"/>
                <a:sym typeface="Times New Roman"/>
              </a:rPr>
              <a:t>Example:</a:t>
            </a:r>
            <a:r>
              <a:rPr lang="en-US" sz="2400">
                <a:latin typeface="Times New Roman"/>
                <a:ea typeface="Times New Roman"/>
                <a:cs typeface="Times New Roman"/>
                <a:sym typeface="Times New Roman"/>
              </a:rPr>
              <a:t> Temperature is a great example of data at the interval level. If it is 100 degrees Fahrenheit in Texas and 80 degrees Fahrenheit in Istanbul, Turkey, then Texas is 20 degrees warmer than Istanbul.</a:t>
            </a:r>
            <a:endParaRPr sz="2400">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0"/>
          <p:cNvSpPr txBox="1">
            <a:spLocks noGrp="1"/>
          </p:cNvSpPr>
          <p:nvPr>
            <p:ph type="body" idx="1"/>
          </p:nvPr>
        </p:nvSpPr>
        <p:spPr>
          <a:xfrm>
            <a:off x="457200" y="990600"/>
            <a:ext cx="8229600" cy="51355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400"/>
              <a:buChar char="•"/>
            </a:pPr>
            <a:r>
              <a:rPr lang="en-US" sz="2400">
                <a:latin typeface="Times New Roman"/>
                <a:ea typeface="Times New Roman"/>
                <a:cs typeface="Times New Roman"/>
                <a:sym typeface="Times New Roman"/>
              </a:rPr>
              <a:t>The operations allowed on the lower levels (ordering, comparisons, and so on), along with two other notable operations:</a:t>
            </a:r>
            <a:endParaRPr/>
          </a:p>
          <a:p>
            <a:pPr marL="742950" lvl="1" indent="-28575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Addition</a:t>
            </a:r>
            <a:endParaRPr/>
          </a:p>
          <a:p>
            <a:pPr marL="742950" lvl="1" indent="-28575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Subtraction</a:t>
            </a:r>
            <a:endParaRPr/>
          </a:p>
          <a:p>
            <a:pPr marL="342900" lvl="0" indent="-342900" algn="just" rtl="0">
              <a:spcBef>
                <a:spcPts val="480"/>
              </a:spcBef>
              <a:spcAft>
                <a:spcPts val="0"/>
              </a:spcAft>
              <a:buClr>
                <a:srgbClr val="FF0000"/>
              </a:buClr>
              <a:buSzPts val="2400"/>
              <a:buChar char="•"/>
            </a:pPr>
            <a:r>
              <a:rPr lang="en-US" sz="2400" b="1">
                <a:solidFill>
                  <a:srgbClr val="FF0000"/>
                </a:solidFill>
                <a:latin typeface="Times New Roman"/>
                <a:ea typeface="Times New Roman"/>
                <a:cs typeface="Times New Roman"/>
                <a:sym typeface="Times New Roman"/>
              </a:rPr>
              <a:t>Measures of center</a:t>
            </a:r>
            <a:r>
              <a:rPr lang="en-US" sz="2400">
                <a:latin typeface="Times New Roman"/>
                <a:ea typeface="Times New Roman"/>
                <a:cs typeface="Times New Roman"/>
                <a:sym typeface="Times New Roman"/>
              </a:rPr>
              <a:t>: At this level, we can use the median and mode to describe this data; however, usually the most accurate description of the center of data would be the </a:t>
            </a:r>
            <a:r>
              <a:rPr lang="en-US" sz="2400" b="1">
                <a:solidFill>
                  <a:srgbClr val="FF0000"/>
                </a:solidFill>
                <a:latin typeface="Times New Roman"/>
                <a:ea typeface="Times New Roman"/>
                <a:cs typeface="Times New Roman"/>
                <a:sym typeface="Times New Roman"/>
              </a:rPr>
              <a:t>arithmetic mean</a:t>
            </a:r>
            <a:r>
              <a:rPr lang="en-US" sz="2400">
                <a:latin typeface="Times New Roman"/>
                <a:ea typeface="Times New Roman"/>
                <a:cs typeface="Times New Roman"/>
                <a:sym typeface="Times New Roman"/>
              </a:rPr>
              <a:t>, more commonly referred to as, simply, "the mean". </a:t>
            </a:r>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Only at the interval level and above that the arithmetic mean makes sense.</a:t>
            </a:r>
            <a:endParaRPr/>
          </a:p>
          <a:p>
            <a:pPr marL="342900" lvl="0" indent="-203200" algn="l" rtl="0">
              <a:spcBef>
                <a:spcPts val="440"/>
              </a:spcBef>
              <a:spcAft>
                <a:spcPts val="0"/>
              </a:spcAft>
              <a:buClr>
                <a:schemeClr val="dk1"/>
              </a:buClr>
              <a:buSzPts val="2200"/>
              <a:buNone/>
            </a:pPr>
            <a:endParaRPr sz="2200">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1"/>
          <p:cNvSpPr txBox="1">
            <a:spLocks noGrp="1"/>
          </p:cNvSpPr>
          <p:nvPr>
            <p:ph type="body" idx="1"/>
          </p:nvPr>
        </p:nvSpPr>
        <p:spPr>
          <a:xfrm>
            <a:off x="457200" y="1371600"/>
            <a:ext cx="8229600" cy="51054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FF0000"/>
              </a:buClr>
              <a:buSzPts val="2000"/>
              <a:buChar char="•"/>
            </a:pPr>
            <a:r>
              <a:rPr lang="en-US" sz="2000">
                <a:solidFill>
                  <a:srgbClr val="FF0000"/>
                </a:solidFill>
                <a:latin typeface="Times New Roman"/>
                <a:ea typeface="Times New Roman"/>
                <a:cs typeface="Times New Roman"/>
                <a:sym typeface="Times New Roman"/>
              </a:rPr>
              <a:t>Example</a:t>
            </a:r>
            <a:r>
              <a:rPr lang="en-US" sz="2000">
                <a:latin typeface="Times New Roman"/>
                <a:ea typeface="Times New Roman"/>
                <a:cs typeface="Times New Roman"/>
                <a:sym typeface="Times New Roman"/>
              </a:rPr>
              <a:t>: Suppose we look at the temperature of a fridge containing a pharmaceutical company's new vaccine. We measure the temperature every hour with the following data points (in Fahrenheit): 31, 32, 32, 31, 28, 29, 31, 38, 32, 31, 30, 29, 30, 31, 26</a:t>
            </a:r>
            <a:endParaRPr sz="2000">
              <a:latin typeface="Times New Roman"/>
              <a:ea typeface="Times New Roman"/>
              <a:cs typeface="Times New Roman"/>
              <a:sym typeface="Times New Roman"/>
            </a:endParaRPr>
          </a:p>
          <a:p>
            <a:pPr marL="742950" lvl="1" indent="-285750" algn="just"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import numpy</a:t>
            </a:r>
            <a:endParaRPr sz="2000">
              <a:latin typeface="Times New Roman"/>
              <a:ea typeface="Times New Roman"/>
              <a:cs typeface="Times New Roman"/>
              <a:sym typeface="Times New Roman"/>
            </a:endParaRPr>
          </a:p>
          <a:p>
            <a:pPr marL="742950" lvl="1" indent="-285750" algn="just"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temps = [31, 32, 32, 31, 28, 29, 31, 38, 32, 31, 30, 29, 30, 31, 26]</a:t>
            </a:r>
            <a:endParaRPr/>
          </a:p>
          <a:p>
            <a:pPr marL="742950" lvl="1" indent="-285750" algn="just"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print numpy.mean(temps) # == 30.73</a:t>
            </a:r>
            <a:endParaRPr/>
          </a:p>
          <a:p>
            <a:pPr marL="742950" lvl="1" indent="-285750" algn="just"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print numpy.median(temps) # == 31.0</a:t>
            </a:r>
            <a:endParaRPr/>
          </a:p>
          <a:p>
            <a:pPr marL="342900" lvl="0" indent="-342900" algn="just"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the mean and median are quite close to each other and both are around 31 degrees.</a:t>
            </a:r>
            <a:endParaRPr/>
          </a:p>
          <a:p>
            <a:pPr marL="342900" lvl="0" indent="-342900" algn="just"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The question, </a:t>
            </a:r>
            <a:r>
              <a:rPr lang="en-US" sz="2000" i="1">
                <a:latin typeface="Times New Roman"/>
                <a:ea typeface="Times New Roman"/>
                <a:cs typeface="Times New Roman"/>
                <a:sym typeface="Times New Roman"/>
              </a:rPr>
              <a:t>on average, how cold is the fridge?, </a:t>
            </a:r>
            <a:r>
              <a:rPr lang="en-US" sz="2000">
                <a:latin typeface="Times New Roman"/>
                <a:ea typeface="Times New Roman"/>
                <a:cs typeface="Times New Roman"/>
                <a:sym typeface="Times New Roman"/>
              </a:rPr>
              <a:t>about 31, however the vaccine comes with a warning:</a:t>
            </a:r>
            <a:endParaRPr/>
          </a:p>
          <a:p>
            <a:pPr marL="742950" lvl="1" indent="-285750" algn="just" rtl="0">
              <a:spcBef>
                <a:spcPts val="400"/>
              </a:spcBef>
              <a:spcAft>
                <a:spcPts val="0"/>
              </a:spcAft>
              <a:buClr>
                <a:schemeClr val="dk1"/>
              </a:buClr>
              <a:buSzPts val="2000"/>
              <a:buChar char="–"/>
            </a:pPr>
            <a:r>
              <a:rPr lang="en-US" sz="2000" i="1">
                <a:latin typeface="Times New Roman"/>
                <a:ea typeface="Times New Roman"/>
                <a:cs typeface="Times New Roman"/>
                <a:sym typeface="Times New Roman"/>
              </a:rPr>
              <a:t>Do not keep this vaccine at a temperature under 29 degrees</a:t>
            </a:r>
            <a:endParaRPr/>
          </a:p>
          <a:p>
            <a:pPr marL="342900" lvl="0" indent="-215900" algn="just" rtl="0">
              <a:spcBef>
                <a:spcPts val="400"/>
              </a:spcBef>
              <a:spcAft>
                <a:spcPts val="0"/>
              </a:spcAft>
              <a:buClr>
                <a:schemeClr val="dk1"/>
              </a:buClr>
              <a:buSzPts val="2000"/>
              <a:buNone/>
            </a:pPr>
            <a:endParaRPr sz="2000">
              <a:latin typeface="Times New Roman"/>
              <a:ea typeface="Times New Roman"/>
              <a:cs typeface="Times New Roman"/>
              <a:sym typeface="Times New Roman"/>
            </a:endParaRPr>
          </a:p>
        </p:txBody>
      </p:sp>
      <p:sp>
        <p:nvSpPr>
          <p:cNvPr id="274" name="Google Shape;274;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The interval level</a:t>
            </a:r>
            <a:endParaRPr>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280" name="Google Shape;280;p3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just" rtl="0">
              <a:spcBef>
                <a:spcPts val="0"/>
              </a:spcBef>
              <a:spcAft>
                <a:spcPts val="0"/>
              </a:spcAft>
              <a:buClr>
                <a:srgbClr val="FF0000"/>
              </a:buClr>
              <a:buSzPct val="100000"/>
              <a:buChar char="•"/>
            </a:pPr>
            <a:r>
              <a:rPr lang="en-US" b="1">
                <a:solidFill>
                  <a:srgbClr val="FF0000"/>
                </a:solidFill>
              </a:rPr>
              <a:t>Measures of variation</a:t>
            </a:r>
            <a:r>
              <a:rPr lang="en-US"/>
              <a:t>: in data science, it is also very important to mention how "spread out" the data is. The measures that describe this phenomenon are called </a:t>
            </a:r>
            <a:r>
              <a:rPr lang="en-US" b="1"/>
              <a:t>measures of variation</a:t>
            </a:r>
            <a:r>
              <a:rPr lang="en-US"/>
              <a:t>. </a:t>
            </a:r>
            <a:endParaRPr/>
          </a:p>
          <a:p>
            <a:pPr marL="342900" lvl="0" indent="-342900" algn="just" rtl="0">
              <a:spcBef>
                <a:spcPts val="592"/>
              </a:spcBef>
              <a:spcAft>
                <a:spcPts val="0"/>
              </a:spcAft>
              <a:buClr>
                <a:schemeClr val="dk1"/>
              </a:buClr>
              <a:buSzPct val="100000"/>
              <a:buChar char="•"/>
            </a:pPr>
            <a:r>
              <a:rPr lang="en-US"/>
              <a:t>A measure of variation (like the standard deviation) is a number that attempts to describe how spread out the data is. Along with a measure of center, a measure of variation can almost entirely describe a dataset with only two numbers.</a:t>
            </a:r>
            <a:endParaRPr/>
          </a:p>
          <a:p>
            <a:pPr marL="342900" lvl="0" indent="-154940" algn="just" rtl="0">
              <a:spcBef>
                <a:spcPts val="592"/>
              </a:spcBef>
              <a:spcAft>
                <a:spcPts val="0"/>
              </a:spcAft>
              <a:buClr>
                <a:schemeClr val="dk1"/>
              </a:buClr>
              <a:buSzPct val="100000"/>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3"/>
          <p:cNvSpPr txBox="1">
            <a:spLocks noGrp="1"/>
          </p:cNvSpPr>
          <p:nvPr>
            <p:ph type="body" idx="1"/>
          </p:nvPr>
        </p:nvSpPr>
        <p:spPr>
          <a:xfrm>
            <a:off x="457200" y="457200"/>
            <a:ext cx="8229600" cy="56689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FF0000"/>
              </a:buClr>
              <a:buSzPts val="2800"/>
              <a:buChar char="•"/>
            </a:pPr>
            <a:r>
              <a:rPr lang="en-US" sz="2800" b="1">
                <a:solidFill>
                  <a:srgbClr val="FF0000"/>
                </a:solidFill>
                <a:latin typeface="Times New Roman"/>
                <a:ea typeface="Times New Roman"/>
                <a:cs typeface="Times New Roman"/>
                <a:sym typeface="Times New Roman"/>
              </a:rPr>
              <a:t>Standard deviation: </a:t>
            </a:r>
            <a:r>
              <a:rPr lang="en-US" sz="2800">
                <a:latin typeface="Times New Roman"/>
                <a:ea typeface="Times New Roman"/>
                <a:cs typeface="Times New Roman"/>
                <a:sym typeface="Times New Roman"/>
              </a:rPr>
              <a:t>SD is the most common measure of variation of data at the interval level and beyond. The standard deviation can be thought of as the "average distance a data point is at from the mean”</a:t>
            </a:r>
            <a:endParaRPr/>
          </a:p>
          <a:p>
            <a:pPr marL="342900" lvl="0" indent="-342900" algn="just" rtl="0">
              <a:spcBef>
                <a:spcPts val="560"/>
              </a:spcBef>
              <a:spcAft>
                <a:spcPts val="0"/>
              </a:spcAft>
              <a:buClr>
                <a:schemeClr val="dk1"/>
              </a:buClr>
              <a:buSzPts val="2800"/>
              <a:buChar char="•"/>
            </a:pPr>
            <a:r>
              <a:rPr lang="en-US" sz="2800">
                <a:latin typeface="Times New Roman"/>
                <a:ea typeface="Times New Roman"/>
                <a:cs typeface="Times New Roman"/>
                <a:sym typeface="Times New Roman"/>
              </a:rPr>
              <a:t>The formula for standard deviation can be broken down into the following steps:</a:t>
            </a:r>
            <a:endParaRPr/>
          </a:p>
          <a:p>
            <a:pPr marL="742950" lvl="1" indent="-285750" algn="just" rtl="0">
              <a:spcBef>
                <a:spcPts val="560"/>
              </a:spcBef>
              <a:spcAft>
                <a:spcPts val="0"/>
              </a:spcAft>
              <a:buClr>
                <a:schemeClr val="dk1"/>
              </a:buClr>
              <a:buSzPts val="2800"/>
              <a:buChar char="–"/>
            </a:pPr>
            <a:r>
              <a:rPr lang="en-US">
                <a:latin typeface="Times New Roman"/>
                <a:ea typeface="Times New Roman"/>
                <a:cs typeface="Times New Roman"/>
                <a:sym typeface="Times New Roman"/>
              </a:rPr>
              <a:t>1. Find the mean of the data.</a:t>
            </a:r>
            <a:endParaRPr/>
          </a:p>
          <a:p>
            <a:pPr marL="742950" lvl="1" indent="-285750" algn="just" rtl="0">
              <a:spcBef>
                <a:spcPts val="560"/>
              </a:spcBef>
              <a:spcAft>
                <a:spcPts val="0"/>
              </a:spcAft>
              <a:buClr>
                <a:schemeClr val="dk1"/>
              </a:buClr>
              <a:buSzPts val="2800"/>
              <a:buChar char="–"/>
            </a:pPr>
            <a:r>
              <a:rPr lang="en-US">
                <a:latin typeface="Times New Roman"/>
                <a:ea typeface="Times New Roman"/>
                <a:cs typeface="Times New Roman"/>
                <a:sym typeface="Times New Roman"/>
              </a:rPr>
              <a:t>2. For each number in the dataset, subtract it from the mean and then square it.</a:t>
            </a:r>
            <a:endParaRPr/>
          </a:p>
          <a:p>
            <a:pPr marL="742950" lvl="1" indent="-285750" algn="just" rtl="0">
              <a:spcBef>
                <a:spcPts val="560"/>
              </a:spcBef>
              <a:spcAft>
                <a:spcPts val="0"/>
              </a:spcAft>
              <a:buClr>
                <a:schemeClr val="dk1"/>
              </a:buClr>
              <a:buSzPts val="2800"/>
              <a:buChar char="–"/>
            </a:pPr>
            <a:r>
              <a:rPr lang="en-US">
                <a:latin typeface="Times New Roman"/>
                <a:ea typeface="Times New Roman"/>
                <a:cs typeface="Times New Roman"/>
                <a:sym typeface="Times New Roman"/>
              </a:rPr>
              <a:t>3. Find the average of each square difference.</a:t>
            </a:r>
            <a:endParaRPr/>
          </a:p>
          <a:p>
            <a:pPr marL="742950" lvl="1" indent="-285750" algn="just" rtl="0">
              <a:spcBef>
                <a:spcPts val="560"/>
              </a:spcBef>
              <a:spcAft>
                <a:spcPts val="0"/>
              </a:spcAft>
              <a:buClr>
                <a:schemeClr val="dk1"/>
              </a:buClr>
              <a:buSzPts val="2800"/>
              <a:buChar char="–"/>
            </a:pPr>
            <a:r>
              <a:rPr lang="en-US">
                <a:latin typeface="Times New Roman"/>
                <a:ea typeface="Times New Roman"/>
                <a:cs typeface="Times New Roman"/>
                <a:sym typeface="Times New Roman"/>
              </a:rPr>
              <a:t>4. Take the square root of the number obtained in step three. This is the standard deviation.</a:t>
            </a:r>
            <a:endParaRPr>
              <a:solidFill>
                <a:srgbClr val="FF0000"/>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4"/>
          <p:cNvSpPr txBox="1">
            <a:spLocks noGrp="1"/>
          </p:cNvSpPr>
          <p:nvPr>
            <p:ph type="title"/>
          </p:nvPr>
        </p:nvSpPr>
        <p:spPr>
          <a:xfrm>
            <a:off x="457200" y="-762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The interval level</a:t>
            </a:r>
            <a:endParaRPr/>
          </a:p>
        </p:txBody>
      </p:sp>
      <p:sp>
        <p:nvSpPr>
          <p:cNvPr id="291" name="Google Shape;291;p34"/>
          <p:cNvSpPr txBox="1">
            <a:spLocks noGrp="1"/>
          </p:cNvSpPr>
          <p:nvPr>
            <p:ph type="body" idx="1"/>
          </p:nvPr>
        </p:nvSpPr>
        <p:spPr>
          <a:xfrm>
            <a:off x="457200" y="1066800"/>
            <a:ext cx="8229600" cy="5257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Char char="•"/>
            </a:pPr>
            <a:r>
              <a:rPr lang="en-US" sz="2400">
                <a:latin typeface="Times New Roman"/>
                <a:ea typeface="Times New Roman"/>
                <a:cs typeface="Times New Roman"/>
                <a:sym typeface="Times New Roman"/>
              </a:rPr>
              <a:t>For example, look back at the temperature dataset. Let's find the standard deviation  of the dataset using Python:</a:t>
            </a:r>
            <a:endParaRPr/>
          </a:p>
          <a:p>
            <a:pPr marL="742950" lvl="1" indent="-285750" algn="l"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import numpy</a:t>
            </a:r>
            <a:endParaRPr sz="2400">
              <a:latin typeface="Times New Roman"/>
              <a:ea typeface="Times New Roman"/>
              <a:cs typeface="Times New Roman"/>
              <a:sym typeface="Times New Roman"/>
            </a:endParaRPr>
          </a:p>
          <a:p>
            <a:pPr marL="742950" lvl="1" indent="-285750" algn="l"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temps = [31, 32, 32, 31, 28, 29, 31, 38, 32, 31, 30, 29, 30, 31, 26]</a:t>
            </a:r>
            <a:endParaRPr/>
          </a:p>
          <a:p>
            <a:pPr marL="742950" lvl="1" indent="-285750" algn="l"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mean = numpy.mean(temps) # == 30.73</a:t>
            </a:r>
            <a:endParaRPr/>
          </a:p>
          <a:p>
            <a:pPr marL="742950" lvl="1" indent="-285750" algn="l"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squared_differences = []</a:t>
            </a:r>
            <a:endParaRPr/>
          </a:p>
          <a:p>
            <a:pPr marL="457200" lvl="1" indent="0" algn="l" rtl="0">
              <a:spcBef>
                <a:spcPts val="480"/>
              </a:spcBef>
              <a:spcAft>
                <a:spcPts val="0"/>
              </a:spcAft>
              <a:buClr>
                <a:schemeClr val="dk1"/>
              </a:buClr>
              <a:buSzPts val="2400"/>
              <a:buNone/>
            </a:pPr>
            <a:r>
              <a:rPr lang="en-US" sz="2400">
                <a:latin typeface="Times New Roman"/>
                <a:ea typeface="Times New Roman"/>
                <a:cs typeface="Times New Roman"/>
                <a:sym typeface="Times New Roman"/>
              </a:rPr>
              <a:t>	# empty list o squared differences</a:t>
            </a:r>
            <a:endParaRPr/>
          </a:p>
          <a:p>
            <a:pPr marL="742950" lvl="1" indent="-285750" algn="l"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for temperature in temps:</a:t>
            </a:r>
            <a:endParaRPr/>
          </a:p>
          <a:p>
            <a:pPr marL="742950" lvl="1" indent="-285750" algn="l"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difference = temperature - mean</a:t>
            </a:r>
            <a:endParaRPr/>
          </a:p>
          <a:p>
            <a:pPr marL="457200" lvl="1" indent="0" algn="l" rtl="0">
              <a:spcBef>
                <a:spcPts val="480"/>
              </a:spcBef>
              <a:spcAft>
                <a:spcPts val="0"/>
              </a:spcAft>
              <a:buClr>
                <a:schemeClr val="dk1"/>
              </a:buClr>
              <a:buSzPts val="2400"/>
              <a:buNone/>
            </a:pPr>
            <a:r>
              <a:rPr lang="en-US" sz="2400">
                <a:latin typeface="Times New Roman"/>
                <a:ea typeface="Times New Roman"/>
                <a:cs typeface="Times New Roman"/>
                <a:sym typeface="Times New Roman"/>
              </a:rPr>
              <a:t>	# how far is the point from the mean</a:t>
            </a:r>
            <a:endParaRPr sz="2400">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5"/>
          <p:cNvSpPr txBox="1">
            <a:spLocks noGrp="1"/>
          </p:cNvSpPr>
          <p:nvPr>
            <p:ph type="body" idx="1"/>
          </p:nvPr>
        </p:nvSpPr>
        <p:spPr>
          <a:xfrm>
            <a:off x="457200" y="838200"/>
            <a:ext cx="8229600" cy="5287963"/>
          </a:xfrm>
          <a:prstGeom prst="rect">
            <a:avLst/>
          </a:prstGeom>
          <a:noFill/>
          <a:ln>
            <a:noFill/>
          </a:ln>
        </p:spPr>
        <p:txBody>
          <a:bodyPr spcFirstLastPara="1" wrap="square" lIns="91425" tIns="45700" rIns="91425" bIns="45700" anchor="t" anchorCtr="0">
            <a:noAutofit/>
          </a:bodyPr>
          <a:lstStyle/>
          <a:p>
            <a:pPr marL="742950" lvl="1" indent="-285750" algn="just" rtl="0">
              <a:spcBef>
                <a:spcPts val="0"/>
              </a:spcBef>
              <a:spcAft>
                <a:spcPts val="0"/>
              </a:spcAft>
              <a:buClr>
                <a:schemeClr val="dk1"/>
              </a:buClr>
              <a:buSzPts val="2000"/>
              <a:buChar char="–"/>
            </a:pPr>
            <a:r>
              <a:rPr lang="en-US" sz="2000"/>
              <a:t>squared_difference = difference**2</a:t>
            </a:r>
            <a:endParaRPr/>
          </a:p>
          <a:p>
            <a:pPr marL="457200" lvl="1" indent="0" algn="just" rtl="0">
              <a:spcBef>
                <a:spcPts val="400"/>
              </a:spcBef>
              <a:spcAft>
                <a:spcPts val="0"/>
              </a:spcAft>
              <a:buClr>
                <a:schemeClr val="dk1"/>
              </a:buClr>
              <a:buSzPts val="2000"/>
              <a:buNone/>
            </a:pPr>
            <a:r>
              <a:rPr lang="en-US" sz="2000"/>
              <a:t>	# square the difference</a:t>
            </a:r>
            <a:endParaRPr/>
          </a:p>
          <a:p>
            <a:pPr marL="742950" lvl="1" indent="-285750" algn="just" rtl="0">
              <a:spcBef>
                <a:spcPts val="400"/>
              </a:spcBef>
              <a:spcAft>
                <a:spcPts val="0"/>
              </a:spcAft>
              <a:buClr>
                <a:schemeClr val="dk1"/>
              </a:buClr>
              <a:buSzPts val="2000"/>
              <a:buChar char="–"/>
            </a:pPr>
            <a:r>
              <a:rPr lang="en-US" sz="2000"/>
              <a:t>squared_differences.append(squared_difference)</a:t>
            </a:r>
            <a:endParaRPr/>
          </a:p>
          <a:p>
            <a:pPr marL="457200" lvl="1" indent="0" algn="just" rtl="0">
              <a:spcBef>
                <a:spcPts val="400"/>
              </a:spcBef>
              <a:spcAft>
                <a:spcPts val="0"/>
              </a:spcAft>
              <a:buClr>
                <a:schemeClr val="dk1"/>
              </a:buClr>
              <a:buSzPts val="2000"/>
              <a:buNone/>
            </a:pPr>
            <a:r>
              <a:rPr lang="en-US" sz="2000"/>
              <a:t>	# add it to our list</a:t>
            </a:r>
            <a:endParaRPr/>
          </a:p>
          <a:p>
            <a:pPr marL="742950" lvl="1" indent="-285750" algn="just" rtl="0">
              <a:spcBef>
                <a:spcPts val="400"/>
              </a:spcBef>
              <a:spcAft>
                <a:spcPts val="0"/>
              </a:spcAft>
              <a:buClr>
                <a:schemeClr val="dk1"/>
              </a:buClr>
              <a:buSzPts val="2000"/>
              <a:buChar char="–"/>
            </a:pPr>
            <a:r>
              <a:rPr lang="en-US" sz="2000"/>
              <a:t>average_squared_difference = numpy.mean(squared_differences)</a:t>
            </a:r>
            <a:endParaRPr/>
          </a:p>
          <a:p>
            <a:pPr marL="457200" lvl="1" indent="0" algn="just" rtl="0">
              <a:spcBef>
                <a:spcPts val="400"/>
              </a:spcBef>
              <a:spcAft>
                <a:spcPts val="0"/>
              </a:spcAft>
              <a:buClr>
                <a:schemeClr val="dk1"/>
              </a:buClr>
              <a:buSzPts val="2000"/>
              <a:buNone/>
            </a:pPr>
            <a:r>
              <a:rPr lang="en-US" sz="2000"/>
              <a:t>	# This number is also called the "Variance"</a:t>
            </a:r>
            <a:endParaRPr/>
          </a:p>
          <a:p>
            <a:pPr marL="742950" lvl="1" indent="-285750" algn="just" rtl="0">
              <a:spcBef>
                <a:spcPts val="400"/>
              </a:spcBef>
              <a:spcAft>
                <a:spcPts val="0"/>
              </a:spcAft>
              <a:buClr>
                <a:schemeClr val="dk1"/>
              </a:buClr>
              <a:buSzPts val="2000"/>
              <a:buChar char="–"/>
            </a:pPr>
            <a:r>
              <a:rPr lang="en-US" sz="2000"/>
              <a:t>standard_deviation = numpy.sqrt(average_squared_difference)</a:t>
            </a:r>
            <a:endParaRPr/>
          </a:p>
          <a:p>
            <a:pPr marL="457200" lvl="1" indent="0" algn="just" rtl="0">
              <a:spcBef>
                <a:spcPts val="400"/>
              </a:spcBef>
              <a:spcAft>
                <a:spcPts val="0"/>
              </a:spcAft>
              <a:buClr>
                <a:schemeClr val="dk1"/>
              </a:buClr>
              <a:buSzPts val="2000"/>
              <a:buNone/>
            </a:pPr>
            <a:r>
              <a:rPr lang="en-US" sz="2000"/>
              <a:t>	# We did it!</a:t>
            </a:r>
            <a:endParaRPr/>
          </a:p>
          <a:p>
            <a:pPr marL="742950" lvl="1" indent="-285750" algn="just" rtl="0">
              <a:spcBef>
                <a:spcPts val="400"/>
              </a:spcBef>
              <a:spcAft>
                <a:spcPts val="0"/>
              </a:spcAft>
              <a:buClr>
                <a:schemeClr val="dk1"/>
              </a:buClr>
              <a:buSzPts val="2000"/>
              <a:buChar char="–"/>
            </a:pPr>
            <a:r>
              <a:rPr lang="en-US" sz="2000"/>
              <a:t>print standard_deviation # == 2.5157</a:t>
            </a:r>
            <a:endParaRPr/>
          </a:p>
          <a:p>
            <a:pPr marL="342900" lvl="0" indent="-342900" algn="just" rtl="0">
              <a:spcBef>
                <a:spcPts val="400"/>
              </a:spcBef>
              <a:spcAft>
                <a:spcPts val="0"/>
              </a:spcAft>
              <a:buClr>
                <a:schemeClr val="dk1"/>
              </a:buClr>
              <a:buSzPts val="2000"/>
              <a:buChar char="•"/>
            </a:pPr>
            <a:r>
              <a:rPr lang="en-US" sz="2000"/>
              <a:t>All of this code led to us find out that the standard deviation of the dataset is around 2.5, meaning that "on average", a data point is 2.5 degrees off from the average temperature of around 31 degrees, meaning that the temperature could likely dip below 29 degrees again in the near future.</a:t>
            </a:r>
            <a:endParaRPr sz="20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4. The Ratio Level</a:t>
            </a:r>
            <a:endParaRPr>
              <a:latin typeface="Times New Roman"/>
              <a:ea typeface="Times New Roman"/>
              <a:cs typeface="Times New Roman"/>
              <a:sym typeface="Times New Roman"/>
            </a:endParaRPr>
          </a:p>
        </p:txBody>
      </p:sp>
      <p:sp>
        <p:nvSpPr>
          <p:cNvPr id="302" name="Google Shape;302;p3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400"/>
              <a:buChar char="•"/>
            </a:pPr>
            <a:r>
              <a:rPr lang="en-US" sz="2400"/>
              <a:t>After moving through three different levels with differing levels of allowed mathematical operations, the ratio level proves to be the strongest of the four.</a:t>
            </a:r>
            <a:endParaRPr/>
          </a:p>
          <a:p>
            <a:pPr marL="342900" lvl="0" indent="-342900" algn="just" rtl="0">
              <a:spcBef>
                <a:spcPts val="480"/>
              </a:spcBef>
              <a:spcAft>
                <a:spcPts val="0"/>
              </a:spcAft>
              <a:buClr>
                <a:schemeClr val="dk1"/>
              </a:buClr>
              <a:buSzPts val="2400"/>
              <a:buChar char="•"/>
            </a:pPr>
            <a:r>
              <a:rPr lang="en-US" sz="2400"/>
              <a:t>Not only can we define order and difference, the ratio level allows us to </a:t>
            </a:r>
            <a:r>
              <a:rPr lang="en-US" sz="2400" i="1"/>
              <a:t>multiply and divide </a:t>
            </a:r>
            <a:r>
              <a:rPr lang="en-US" sz="2400"/>
              <a:t>as well</a:t>
            </a:r>
            <a:endParaRPr/>
          </a:p>
          <a:p>
            <a:pPr marL="342900" lvl="0" indent="-342900" algn="just" rtl="0">
              <a:spcBef>
                <a:spcPts val="480"/>
              </a:spcBef>
              <a:spcAft>
                <a:spcPts val="0"/>
              </a:spcAft>
              <a:buClr>
                <a:schemeClr val="dk1"/>
              </a:buClr>
              <a:buSzPts val="2400"/>
              <a:buChar char="•"/>
            </a:pPr>
            <a:r>
              <a:rPr lang="en-US" sz="2400" b="1"/>
              <a:t>Example1: </a:t>
            </a:r>
            <a:r>
              <a:rPr lang="en-US" sz="2400"/>
              <a:t>While Fahrenheit and Celsius are stuck in the interval level, the Kelvin scale of temperature boasts a natural zero. A measurement zero Kelvin literally means the absence of heat. It is a non-arbitrary starting zero. We can actually scientifically say that 200 Kelvin is twice as much heat as 100 Kelvin.</a:t>
            </a:r>
            <a:endParaRPr sz="2400" b="1"/>
          </a:p>
          <a:p>
            <a:pPr marL="342900" lvl="0" indent="-190500" algn="just" rtl="0">
              <a:spcBef>
                <a:spcPts val="480"/>
              </a:spcBef>
              <a:spcAft>
                <a:spcPts val="0"/>
              </a:spcAft>
              <a:buClr>
                <a:schemeClr val="dk1"/>
              </a:buClr>
              <a:buSzPts val="2400"/>
              <a:buNone/>
            </a:pPr>
            <a:endParaRPr sz="2400" b="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308" name="Google Shape;308;p3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b="1"/>
          </a:p>
          <a:p>
            <a:pPr marL="342900" lvl="0" indent="-139700" algn="l" rtl="0">
              <a:spcBef>
                <a:spcPts val="640"/>
              </a:spcBef>
              <a:spcAft>
                <a:spcPts val="0"/>
              </a:spcAft>
              <a:buClr>
                <a:schemeClr val="dk1"/>
              </a:buClr>
              <a:buSzPts val="3200"/>
              <a:buNone/>
            </a:pPr>
            <a:endParaRPr b="1"/>
          </a:p>
          <a:p>
            <a:pPr marL="342900" lvl="0" indent="-139700" algn="l" rtl="0">
              <a:spcBef>
                <a:spcPts val="640"/>
              </a:spcBef>
              <a:spcAft>
                <a:spcPts val="0"/>
              </a:spcAft>
              <a:buClr>
                <a:schemeClr val="dk1"/>
              </a:buClr>
              <a:buSzPts val="3200"/>
              <a:buNone/>
            </a:pPr>
            <a:endParaRPr b="1"/>
          </a:p>
          <a:p>
            <a:pPr marL="342900" lvl="0" indent="-342900" algn="l" rtl="0">
              <a:spcBef>
                <a:spcPts val="640"/>
              </a:spcBef>
              <a:spcAft>
                <a:spcPts val="0"/>
              </a:spcAft>
              <a:buClr>
                <a:schemeClr val="dk1"/>
              </a:buClr>
              <a:buSzPts val="3200"/>
              <a:buChar char="•"/>
            </a:pPr>
            <a:r>
              <a:rPr lang="en-US" b="1"/>
              <a:t>Example2: </a:t>
            </a:r>
            <a:r>
              <a:rPr lang="en-US"/>
              <a:t>Money in the bank is at the ratio level. You can have "no money in the bank" and it makes sense that $200,000 is "twice as much as" $100,000.</a:t>
            </a:r>
            <a:endParaRPr/>
          </a:p>
          <a:p>
            <a:pPr marL="342900" lvl="0" indent="-139700" algn="l" rtl="0">
              <a:spcBef>
                <a:spcPts val="640"/>
              </a:spcBef>
              <a:spcAft>
                <a:spcPts val="0"/>
              </a:spcAft>
              <a:buClr>
                <a:schemeClr val="dk1"/>
              </a:buClr>
              <a:buSzPts val="3200"/>
              <a:buNone/>
            </a:pPr>
            <a:endParaRPr/>
          </a:p>
        </p:txBody>
      </p:sp>
      <p:pic>
        <p:nvPicPr>
          <p:cNvPr id="309" name="Google Shape;309;p37"/>
          <p:cNvPicPr preferRelativeResize="0"/>
          <p:nvPr/>
        </p:nvPicPr>
        <p:blipFill rotWithShape="1">
          <a:blip r:embed="rId3">
            <a:alphaModFix/>
          </a:blip>
          <a:srcRect/>
          <a:stretch/>
        </p:blipFill>
        <p:spPr>
          <a:xfrm>
            <a:off x="1143000" y="1600200"/>
            <a:ext cx="7299322" cy="14478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38"/>
          <p:cNvSpPr txBox="1">
            <a:spLocks noGrp="1"/>
          </p:cNvSpPr>
          <p:nvPr>
            <p:ph type="body" idx="1"/>
          </p:nvPr>
        </p:nvSpPr>
        <p:spPr>
          <a:xfrm>
            <a:off x="457200" y="1143000"/>
            <a:ext cx="8229600" cy="47545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Char char="•"/>
            </a:pPr>
            <a:r>
              <a:rPr lang="en-US" sz="2400" b="1"/>
              <a:t>Measures of center: </a:t>
            </a:r>
            <a:r>
              <a:rPr lang="en-US" sz="2400"/>
              <a:t>a new </a:t>
            </a:r>
            <a:r>
              <a:rPr lang="en-US" sz="2400" i="1"/>
              <a:t>type</a:t>
            </a:r>
            <a:r>
              <a:rPr lang="en-US" sz="2400"/>
              <a:t> of mean called the </a:t>
            </a:r>
            <a:r>
              <a:rPr lang="en-US" sz="2400" b="1"/>
              <a:t>geometric mean</a:t>
            </a:r>
            <a:r>
              <a:rPr lang="en-US" sz="2400"/>
              <a:t>.</a:t>
            </a:r>
            <a:r>
              <a:rPr lang="en-US" sz="2400" b="1"/>
              <a:t> </a:t>
            </a:r>
            <a:r>
              <a:rPr lang="en-US" sz="2400"/>
              <a:t>It is the square root of the product of all the values.</a:t>
            </a:r>
            <a:endParaRPr/>
          </a:p>
          <a:p>
            <a:pPr marL="342900" lvl="0" indent="-342900" algn="l" rtl="0">
              <a:spcBef>
                <a:spcPts val="480"/>
              </a:spcBef>
              <a:spcAft>
                <a:spcPts val="0"/>
              </a:spcAft>
              <a:buClr>
                <a:schemeClr val="dk1"/>
              </a:buClr>
              <a:buSzPts val="2400"/>
              <a:buChar char="•"/>
            </a:pPr>
            <a:r>
              <a:rPr lang="en-US" sz="2400"/>
              <a:t>Example, in our fridge temperature data, we can calculate the geometric mean.</a:t>
            </a:r>
            <a:endParaRPr sz="2400"/>
          </a:p>
          <a:p>
            <a:pPr marL="742950" lvl="1" indent="-285750" algn="l" rtl="0">
              <a:spcBef>
                <a:spcPts val="480"/>
              </a:spcBef>
              <a:spcAft>
                <a:spcPts val="0"/>
              </a:spcAft>
              <a:buClr>
                <a:schemeClr val="dk1"/>
              </a:buClr>
              <a:buSzPts val="2400"/>
              <a:buChar char="–"/>
            </a:pPr>
            <a:r>
              <a:rPr lang="en-US" sz="2400"/>
              <a:t>import numpy</a:t>
            </a:r>
            <a:endParaRPr sz="2400"/>
          </a:p>
          <a:p>
            <a:pPr marL="742950" lvl="1" indent="-285750" algn="l" rtl="0">
              <a:spcBef>
                <a:spcPts val="480"/>
              </a:spcBef>
              <a:spcAft>
                <a:spcPts val="0"/>
              </a:spcAft>
              <a:buClr>
                <a:schemeClr val="dk1"/>
              </a:buClr>
              <a:buSzPts val="2400"/>
              <a:buChar char="–"/>
            </a:pPr>
            <a:r>
              <a:rPr lang="en-US" sz="2400"/>
              <a:t>temps = [31, 32, 32, 31, 28, 29, 31, 38, 32, 31, 30, 29, 30, 31, 26]</a:t>
            </a:r>
            <a:endParaRPr/>
          </a:p>
          <a:p>
            <a:pPr marL="742950" lvl="1" indent="-285750" algn="l" rtl="0">
              <a:spcBef>
                <a:spcPts val="480"/>
              </a:spcBef>
              <a:spcAft>
                <a:spcPts val="0"/>
              </a:spcAft>
              <a:buClr>
                <a:schemeClr val="dk1"/>
              </a:buClr>
              <a:buSzPts val="2400"/>
              <a:buChar char="–"/>
            </a:pPr>
            <a:r>
              <a:rPr lang="en-US" sz="2400"/>
              <a:t>num_items = len(temps)</a:t>
            </a:r>
            <a:endParaRPr/>
          </a:p>
          <a:p>
            <a:pPr marL="742950" lvl="1" indent="-285750" algn="l" rtl="0">
              <a:spcBef>
                <a:spcPts val="480"/>
              </a:spcBef>
              <a:spcAft>
                <a:spcPts val="0"/>
              </a:spcAft>
              <a:buClr>
                <a:schemeClr val="dk1"/>
              </a:buClr>
              <a:buSzPts val="2400"/>
              <a:buChar char="–"/>
            </a:pPr>
            <a:r>
              <a:rPr lang="en-US" sz="2400"/>
              <a:t>product = 1.</a:t>
            </a:r>
            <a:endParaRPr/>
          </a:p>
          <a:p>
            <a:pPr marL="742950" lvl="1" indent="-285750" algn="l" rtl="0">
              <a:spcBef>
                <a:spcPts val="480"/>
              </a:spcBef>
              <a:spcAft>
                <a:spcPts val="0"/>
              </a:spcAft>
              <a:buClr>
                <a:schemeClr val="dk1"/>
              </a:buClr>
              <a:buSzPts val="2400"/>
              <a:buChar char="–"/>
            </a:pPr>
            <a:r>
              <a:rPr lang="en-US" sz="2400"/>
              <a:t>for temperature in temps:</a:t>
            </a:r>
            <a:endParaRPr/>
          </a:p>
          <a:p>
            <a:pPr marL="742950" lvl="1" indent="-285750" algn="l" rtl="0">
              <a:spcBef>
                <a:spcPts val="480"/>
              </a:spcBef>
              <a:spcAft>
                <a:spcPts val="0"/>
              </a:spcAft>
              <a:buClr>
                <a:schemeClr val="dk1"/>
              </a:buClr>
              <a:buSzPts val="2400"/>
              <a:buChar char="–"/>
            </a:pPr>
            <a:r>
              <a:rPr lang="en-US" sz="2400"/>
              <a:t>product *= temperature</a:t>
            </a:r>
            <a:endParaRPr/>
          </a:p>
          <a:p>
            <a:pPr marL="742950" lvl="1" indent="-285750" algn="l" rtl="0">
              <a:spcBef>
                <a:spcPts val="480"/>
              </a:spcBef>
              <a:spcAft>
                <a:spcPts val="0"/>
              </a:spcAft>
              <a:buClr>
                <a:schemeClr val="dk1"/>
              </a:buClr>
              <a:buSzPts val="2400"/>
              <a:buChar char="–"/>
            </a:pPr>
            <a:r>
              <a:rPr lang="en-US" sz="2400"/>
              <a:t>geometric_mean = product**(1./num_items)</a:t>
            </a:r>
            <a:endParaRPr/>
          </a:p>
          <a:p>
            <a:pPr marL="742950" lvl="1" indent="-285750" algn="l" rtl="0">
              <a:spcBef>
                <a:spcPts val="480"/>
              </a:spcBef>
              <a:spcAft>
                <a:spcPts val="0"/>
              </a:spcAft>
              <a:buClr>
                <a:schemeClr val="dk1"/>
              </a:buClr>
              <a:buSzPts val="2400"/>
              <a:buChar char="–"/>
            </a:pPr>
            <a:r>
              <a:rPr lang="en-US" sz="2400"/>
              <a:t>print geometric_mean  # == 30.634</a:t>
            </a:r>
            <a:endParaRPr sz="2400"/>
          </a:p>
        </p:txBody>
      </p:sp>
      <p:sp>
        <p:nvSpPr>
          <p:cNvPr id="315" name="Google Shape;315;p38"/>
          <p:cNvSpPr txBox="1">
            <a:spLocks noGrp="1"/>
          </p:cNvSpPr>
          <p:nvPr>
            <p:ph type="title"/>
          </p:nvPr>
        </p:nvSpPr>
        <p:spPr>
          <a:xfrm>
            <a:off x="457200" y="274638"/>
            <a:ext cx="8229600" cy="8683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The ratio level</a:t>
            </a:r>
            <a:endParaRPr>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39"/>
          <p:cNvSpPr txBox="1">
            <a:spLocks noGrp="1"/>
          </p:cNvSpPr>
          <p:nvPr>
            <p:ph type="body" idx="1"/>
          </p:nvPr>
        </p:nvSpPr>
        <p:spPr>
          <a:xfrm>
            <a:off x="533400" y="638491"/>
            <a:ext cx="8229600" cy="53641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Data at the ratio level is usually non-negative. many data scientists prefer the interval level to the ratio level. The reason for this restrictive property is because if we allowed negative values, the ratio might not always make sense.</a:t>
            </a:r>
            <a:endParaRPr/>
          </a:p>
          <a:p>
            <a:pPr marL="342900" lvl="0" indent="-342900" algn="l" rtl="0">
              <a:spcBef>
                <a:spcPts val="640"/>
              </a:spcBef>
              <a:spcAft>
                <a:spcPts val="0"/>
              </a:spcAft>
              <a:buClr>
                <a:schemeClr val="dk1"/>
              </a:buClr>
              <a:buSzPts val="3200"/>
              <a:buChar char="•"/>
            </a:pPr>
            <a:r>
              <a:rPr lang="en-US"/>
              <a:t>Consider that we allowed debt to occur in our money in the bank example. If we had a balance of $50,000, the following ratio would not really make sense at all:</a:t>
            </a:r>
            <a:endParaRPr/>
          </a:p>
          <a:p>
            <a:pPr marL="342900" lvl="0" indent="-139700" algn="l" rtl="0">
              <a:spcBef>
                <a:spcPts val="640"/>
              </a:spcBef>
              <a:spcAft>
                <a:spcPts val="0"/>
              </a:spcAft>
              <a:buClr>
                <a:schemeClr val="dk1"/>
              </a:buClr>
              <a:buSzPts val="3200"/>
              <a:buNone/>
            </a:pPr>
            <a:endParaRPr/>
          </a:p>
        </p:txBody>
      </p:sp>
      <p:pic>
        <p:nvPicPr>
          <p:cNvPr id="321" name="Google Shape;321;p39"/>
          <p:cNvPicPr preferRelativeResize="0"/>
          <p:nvPr/>
        </p:nvPicPr>
        <p:blipFill rotWithShape="1">
          <a:blip r:embed="rId3">
            <a:alphaModFix/>
          </a:blip>
          <a:srcRect/>
          <a:stretch/>
        </p:blipFill>
        <p:spPr>
          <a:xfrm>
            <a:off x="5715000" y="5083492"/>
            <a:ext cx="2465668" cy="124110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Recap</a:t>
            </a:r>
            <a:endParaRPr>
              <a:latin typeface="Times New Roman"/>
              <a:ea typeface="Times New Roman"/>
              <a:cs typeface="Times New Roman"/>
              <a:sym typeface="Times New Roman"/>
            </a:endParaRPr>
          </a:p>
        </p:txBody>
      </p:sp>
      <p:sp>
        <p:nvSpPr>
          <p:cNvPr id="328" name="Google Shape;328;p40"/>
          <p:cNvSpPr txBox="1">
            <a:spLocks noGrp="1"/>
          </p:cNvSpPr>
          <p:nvPr>
            <p:ph type="body" idx="1"/>
          </p:nvPr>
        </p:nvSpPr>
        <p:spPr>
          <a:xfrm>
            <a:off x="457200" y="14478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200"/>
              <a:buChar char="•"/>
            </a:pPr>
            <a:r>
              <a:rPr lang="en-US" sz="2200">
                <a:latin typeface="Times New Roman"/>
                <a:ea typeface="Times New Roman"/>
                <a:cs typeface="Times New Roman"/>
                <a:sym typeface="Times New Roman"/>
              </a:rPr>
              <a:t>At the nominal level, we deal with data usually described using vocabulary (but sometimes with numbers), with no order, and little use of mathematics.</a:t>
            </a:r>
            <a:endParaRPr/>
          </a:p>
          <a:p>
            <a:pPr marL="342900" lvl="0" indent="-34290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At the ordinal level, we have data that can be described with numbers and also have a "natural" order, allowing us to put one in front of the other.</a:t>
            </a:r>
            <a:endParaRPr/>
          </a:p>
          <a:p>
            <a:pPr marL="342900" lvl="0" indent="-34290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try to classify the following example as either ordinal or nominal.</a:t>
            </a:r>
            <a:endParaRPr/>
          </a:p>
          <a:p>
            <a:pPr marL="742950" lvl="1" indent="-28575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The origin of the beans in your cup of coffee</a:t>
            </a:r>
            <a:endParaRPr/>
          </a:p>
          <a:p>
            <a:pPr marL="742950" lvl="1" indent="-28575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The place someone receives after completing a foot race</a:t>
            </a:r>
            <a:endParaRPr/>
          </a:p>
          <a:p>
            <a:pPr marL="742950" lvl="1" indent="-28575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The metal used to make the medal that they receive after placing in the said race</a:t>
            </a:r>
            <a:endParaRPr/>
          </a:p>
          <a:p>
            <a:pPr marL="742950" lvl="1" indent="-28575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The telephone number of a client</a:t>
            </a:r>
            <a:endParaRPr/>
          </a:p>
          <a:p>
            <a:pPr marL="742950" lvl="1" indent="-28575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How many cups of coffee you drink in a day</a:t>
            </a:r>
            <a:endParaRPr sz="2200">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1"/>
          <p:cNvSpPr txBox="1">
            <a:spLocks noGrp="1"/>
          </p:cNvSpPr>
          <p:nvPr>
            <p:ph type="body" idx="1"/>
          </p:nvPr>
        </p:nvSpPr>
        <p:spPr>
          <a:xfrm>
            <a:off x="457200" y="1066800"/>
            <a:ext cx="8229600" cy="5059363"/>
          </a:xfrm>
          <a:prstGeom prst="rect">
            <a:avLst/>
          </a:prstGeom>
          <a:noFill/>
          <a:ln>
            <a:noFill/>
          </a:ln>
        </p:spPr>
        <p:txBody>
          <a:bodyPr spcFirstLastPara="1" wrap="square" lIns="91425" tIns="45700" rIns="91425" bIns="45700" anchor="t" anchorCtr="0">
            <a:noAutofit/>
          </a:bodyPr>
          <a:lstStyle/>
          <a:p>
            <a:pPr marL="342900" lvl="1" indent="-342900" algn="l" rtl="0">
              <a:spcBef>
                <a:spcPts val="0"/>
              </a:spcBef>
              <a:spcAft>
                <a:spcPts val="0"/>
              </a:spcAft>
              <a:buClr>
                <a:schemeClr val="dk1"/>
              </a:buClr>
              <a:buSzPts val="2200"/>
              <a:buFont typeface="Arial"/>
              <a:buChar char="•"/>
            </a:pPr>
            <a:r>
              <a:rPr lang="en-US" sz="2200">
                <a:latin typeface="Times New Roman"/>
                <a:ea typeface="Times New Roman"/>
                <a:cs typeface="Times New Roman"/>
                <a:sym typeface="Times New Roman"/>
              </a:rPr>
              <a:t>Data is in the eye of the beholder</a:t>
            </a:r>
            <a:endParaRPr/>
          </a:p>
          <a:p>
            <a:pPr marL="342900" lvl="0" indent="-34290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Whenever you are faced with a new dataset, the first three questions you should ask about it are the following:</a:t>
            </a:r>
            <a:endParaRPr/>
          </a:p>
          <a:p>
            <a:pPr marL="742950" lvl="1" indent="-28575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Is the data organized or unorganized?</a:t>
            </a:r>
            <a:endParaRPr/>
          </a:p>
          <a:p>
            <a:pPr marL="457200" lvl="1" indent="0" algn="l" rtl="0">
              <a:spcBef>
                <a:spcPts val="440"/>
              </a:spcBef>
              <a:spcAft>
                <a:spcPts val="0"/>
              </a:spcAft>
              <a:buClr>
                <a:schemeClr val="dk1"/>
              </a:buClr>
              <a:buSzPts val="2200"/>
              <a:buNone/>
            </a:pPr>
            <a:r>
              <a:rPr lang="en-US" sz="2200">
                <a:latin typeface="Times New Roman"/>
                <a:ea typeface="Times New Roman"/>
                <a:cs typeface="Times New Roman"/>
                <a:sym typeface="Times New Roman"/>
              </a:rPr>
              <a:t>	For example, does our data exist in a nice, clean row/column structure?</a:t>
            </a:r>
            <a:endParaRPr/>
          </a:p>
          <a:p>
            <a:pPr marL="742950" lvl="1" indent="-28575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Is each column quantitative or qualitative?</a:t>
            </a:r>
            <a:endParaRPr/>
          </a:p>
          <a:p>
            <a:pPr marL="914400" lvl="2" indent="0" algn="l" rtl="0">
              <a:spcBef>
                <a:spcPts val="440"/>
              </a:spcBef>
              <a:spcAft>
                <a:spcPts val="0"/>
              </a:spcAft>
              <a:buClr>
                <a:schemeClr val="dk1"/>
              </a:buClr>
              <a:buSzPts val="2200"/>
              <a:buNone/>
            </a:pPr>
            <a:r>
              <a:rPr lang="en-US" sz="2200">
                <a:latin typeface="Times New Roman"/>
                <a:ea typeface="Times New Roman"/>
                <a:cs typeface="Times New Roman"/>
                <a:sym typeface="Times New Roman"/>
              </a:rPr>
              <a:t>For example, are the values numbers, strings, or do they represent quantities?</a:t>
            </a:r>
            <a:endParaRPr/>
          </a:p>
          <a:p>
            <a:pPr marL="742950" lvl="1" indent="-28575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At what level of data is each column?</a:t>
            </a:r>
            <a:endParaRPr/>
          </a:p>
          <a:p>
            <a:pPr marL="914400" lvl="2" indent="0" algn="l" rtl="0">
              <a:spcBef>
                <a:spcPts val="440"/>
              </a:spcBef>
              <a:spcAft>
                <a:spcPts val="0"/>
              </a:spcAft>
              <a:buClr>
                <a:schemeClr val="dk1"/>
              </a:buClr>
              <a:buSzPts val="2200"/>
              <a:buNone/>
            </a:pPr>
            <a:r>
              <a:rPr lang="en-US" sz="2200">
                <a:latin typeface="Times New Roman"/>
                <a:ea typeface="Times New Roman"/>
                <a:cs typeface="Times New Roman"/>
                <a:sym typeface="Times New Roman"/>
              </a:rPr>
              <a:t>For example, are the values at the nominal, ordinal, interval, or ratio level?</a:t>
            </a:r>
            <a:endParaRPr/>
          </a:p>
          <a:p>
            <a:pPr marL="342900" lvl="0" indent="-203200" algn="l" rtl="0">
              <a:spcBef>
                <a:spcPts val="440"/>
              </a:spcBef>
              <a:spcAft>
                <a:spcPts val="0"/>
              </a:spcAft>
              <a:buClr>
                <a:schemeClr val="dk1"/>
              </a:buClr>
              <a:buSzPts val="2200"/>
              <a:buNone/>
            </a:pPr>
            <a:endParaRPr sz="22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4464</Words>
  <PresentationFormat>On-screen Show (4:3)</PresentationFormat>
  <Paragraphs>262</Paragraphs>
  <Slides>41</Slides>
  <Notes>41</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Office Theme</vt:lpstr>
      <vt:lpstr>Introduction to Data Science</vt:lpstr>
      <vt:lpstr>Slide 2</vt:lpstr>
      <vt:lpstr>Introduction</vt:lpstr>
      <vt:lpstr>What is data science?</vt:lpstr>
      <vt:lpstr>Data Science</vt:lpstr>
      <vt:lpstr>Venn Diagram of Data Science</vt:lpstr>
      <vt:lpstr>Why Data Science?</vt:lpstr>
      <vt:lpstr>Example – Sigma Technologies</vt:lpstr>
      <vt:lpstr>Cont… </vt:lpstr>
      <vt:lpstr>Types of Data Structured versus unstructured data:</vt:lpstr>
      <vt:lpstr>Cont… </vt:lpstr>
      <vt:lpstr>Example for Preprocessing</vt:lpstr>
      <vt:lpstr>Slide 13</vt:lpstr>
      <vt:lpstr>Types of Data Quantitative versus qualitative data:</vt:lpstr>
      <vt:lpstr>Slide 15</vt:lpstr>
      <vt:lpstr>Slide 16</vt:lpstr>
      <vt:lpstr>Slide 17</vt:lpstr>
      <vt:lpstr>Example</vt:lpstr>
      <vt:lpstr>Slide 19</vt:lpstr>
      <vt:lpstr>If we take a look at one of the quantitative columns and call the same method, we can see the difference in output, as shown:   drinks['beer_servings'].describe()  &gt;&gt; mean 106.160622  &gt;&gt; min 0.000000  &gt;&gt; max 376.000000   Now we can look at the mean (average) beer serving per-person per-country (106.2 servings) as well as the lowest beer serving, zero, and the highest beer serving recorded, 376 (that's more than a beer a day)</vt:lpstr>
      <vt:lpstr>Quantitative data</vt:lpstr>
      <vt:lpstr>The FOUR levels of data</vt:lpstr>
      <vt:lpstr>1. The Nominal Level</vt:lpstr>
      <vt:lpstr>Cont…</vt:lpstr>
      <vt:lpstr>2. The Ordinal Level</vt:lpstr>
      <vt:lpstr>Slide 26</vt:lpstr>
      <vt:lpstr>The ordinal level</vt:lpstr>
      <vt:lpstr>Slide 28</vt:lpstr>
      <vt:lpstr>3. The Interval Level</vt:lpstr>
      <vt:lpstr>Slide 30</vt:lpstr>
      <vt:lpstr>The interval level</vt:lpstr>
      <vt:lpstr>Slide 32</vt:lpstr>
      <vt:lpstr>Slide 33</vt:lpstr>
      <vt:lpstr>The interval level</vt:lpstr>
      <vt:lpstr>Slide 35</vt:lpstr>
      <vt:lpstr>4. The Ratio Level</vt:lpstr>
      <vt:lpstr>Slide 37</vt:lpstr>
      <vt:lpstr>The ratio level</vt:lpstr>
      <vt:lpstr>Slide 39</vt:lpstr>
      <vt:lpstr>Recap</vt:lpstr>
      <vt:lpstr>Slide 41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Science</dc:title>
  <dc:creator>Dr B Malathi</dc:creator>
  <cp:lastModifiedBy>Admin</cp:lastModifiedBy>
  <cp:revision>4</cp:revision>
  <dcterms:created xsi:type="dcterms:W3CDTF">2006-08-16T00:00:00Z</dcterms:created>
  <dcterms:modified xsi:type="dcterms:W3CDTF">2025-08-02T03:28:48Z</dcterms:modified>
</cp:coreProperties>
</file>