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4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4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4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4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4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4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4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4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5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5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4" name="Google Shape;14;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0" name="Google Shape;20;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26" name="Google Shape;26;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5"/>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2" name="Google Shape;32;p5"/>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3" name="Google Shape;33;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6"/>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39" name="Google Shape;39;p6"/>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0" name="Google Shape;40;p6"/>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1" name="Google Shape;41;p6"/>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2" name="Google Shape;42;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5.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6.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9.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4.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3"/>
          <p:cNvSpPr txBox="1"/>
          <p:nvPr>
            <p:ph type="ctrTitle"/>
          </p:nvPr>
        </p:nvSpPr>
        <p:spPr>
          <a:xfrm>
            <a:off x="762000" y="1371600"/>
            <a:ext cx="7772400" cy="10668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Times New Roman"/>
              <a:buNone/>
            </a:pPr>
            <a:r>
              <a:rPr b="1" lang="en-US">
                <a:latin typeface="Times New Roman"/>
                <a:ea typeface="Times New Roman"/>
                <a:cs typeface="Times New Roman"/>
                <a:sym typeface="Times New Roman"/>
              </a:rPr>
              <a:t>Unit 3</a:t>
            </a:r>
            <a:endParaRPr b="1">
              <a:latin typeface="Times New Roman"/>
              <a:ea typeface="Times New Roman"/>
              <a:cs typeface="Times New Roman"/>
              <a:sym typeface="Times New Roman"/>
            </a:endParaRPr>
          </a:p>
        </p:txBody>
      </p:sp>
      <p:sp>
        <p:nvSpPr>
          <p:cNvPr id="85" name="Google Shape;85;p13"/>
          <p:cNvSpPr txBox="1"/>
          <p:nvPr>
            <p:ph idx="1" type="subTitle"/>
          </p:nvPr>
        </p:nvSpPr>
        <p:spPr>
          <a:xfrm>
            <a:off x="762000" y="3429000"/>
            <a:ext cx="7696200" cy="12954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rgbClr val="FF0000"/>
              </a:buClr>
              <a:buSzPts val="4800"/>
              <a:buNone/>
            </a:pPr>
            <a:r>
              <a:rPr b="1" lang="en-US" sz="4800">
                <a:solidFill>
                  <a:srgbClr val="FF0000"/>
                </a:solidFill>
                <a:latin typeface="Times New Roman"/>
                <a:ea typeface="Times New Roman"/>
                <a:cs typeface="Times New Roman"/>
                <a:sym typeface="Times New Roman"/>
              </a:rPr>
              <a:t>Advanced Statistics</a:t>
            </a:r>
            <a:endParaRPr b="1" sz="4800">
              <a:solidFill>
                <a:srgbClr val="FF0000"/>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Times New Roman"/>
              <a:buNone/>
            </a:pPr>
            <a:r>
              <a:rPr lang="en-US">
                <a:latin typeface="Times New Roman"/>
                <a:ea typeface="Times New Roman"/>
                <a:cs typeface="Times New Roman"/>
                <a:sym typeface="Times New Roman"/>
              </a:rPr>
              <a:t>Topics</a:t>
            </a:r>
            <a:endParaRPr>
              <a:latin typeface="Times New Roman"/>
              <a:ea typeface="Times New Roman"/>
              <a:cs typeface="Times New Roman"/>
              <a:sym typeface="Times New Roman"/>
            </a:endParaRPr>
          </a:p>
        </p:txBody>
      </p:sp>
      <p:sp>
        <p:nvSpPr>
          <p:cNvPr id="91" name="Google Shape;91;p1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US" sz="2400">
                <a:latin typeface="Times New Roman"/>
                <a:ea typeface="Times New Roman"/>
                <a:cs typeface="Times New Roman"/>
                <a:sym typeface="Times New Roman"/>
              </a:rPr>
              <a:t>Point estimates </a:t>
            </a:r>
            <a:endParaRPr/>
          </a:p>
          <a:p>
            <a:pPr indent="-342900" lvl="0" marL="342900" rtl="0" algn="l">
              <a:spcBef>
                <a:spcPts val="480"/>
              </a:spcBef>
              <a:spcAft>
                <a:spcPts val="0"/>
              </a:spcAft>
              <a:buClr>
                <a:schemeClr val="dk1"/>
              </a:buClr>
              <a:buSzPts val="2400"/>
              <a:buChar char="•"/>
            </a:pPr>
            <a:r>
              <a:rPr lang="en-US" sz="2400">
                <a:latin typeface="Times New Roman"/>
                <a:ea typeface="Times New Roman"/>
                <a:cs typeface="Times New Roman"/>
                <a:sym typeface="Times New Roman"/>
              </a:rPr>
              <a:t>Sampling distributions </a:t>
            </a:r>
            <a:endParaRPr/>
          </a:p>
          <a:p>
            <a:pPr indent="-342900" lvl="0" marL="342900" rtl="0" algn="l">
              <a:spcBef>
                <a:spcPts val="480"/>
              </a:spcBef>
              <a:spcAft>
                <a:spcPts val="0"/>
              </a:spcAft>
              <a:buClr>
                <a:schemeClr val="dk1"/>
              </a:buClr>
              <a:buSzPts val="2400"/>
              <a:buChar char="•"/>
            </a:pPr>
            <a:r>
              <a:rPr lang="en-US" sz="2400">
                <a:latin typeface="Times New Roman"/>
                <a:ea typeface="Times New Roman"/>
                <a:cs typeface="Times New Roman"/>
                <a:sym typeface="Times New Roman"/>
              </a:rPr>
              <a:t>Confidence intervals </a:t>
            </a:r>
            <a:endParaRPr/>
          </a:p>
          <a:p>
            <a:pPr indent="-342900" lvl="0" marL="342900" rtl="0" algn="l">
              <a:spcBef>
                <a:spcPts val="480"/>
              </a:spcBef>
              <a:spcAft>
                <a:spcPts val="0"/>
              </a:spcAft>
              <a:buClr>
                <a:schemeClr val="dk1"/>
              </a:buClr>
              <a:buSzPts val="2400"/>
              <a:buChar char="•"/>
            </a:pPr>
            <a:r>
              <a:rPr lang="en-US" sz="2400">
                <a:latin typeface="Times New Roman"/>
                <a:ea typeface="Times New Roman"/>
                <a:cs typeface="Times New Roman"/>
                <a:sym typeface="Times New Roman"/>
              </a:rPr>
              <a:t>Hypothesis tests </a:t>
            </a:r>
            <a:endParaRPr/>
          </a:p>
          <a:p>
            <a:pPr indent="-342900" lvl="1" marL="800100" rtl="0" algn="l">
              <a:spcBef>
                <a:spcPts val="400"/>
              </a:spcBef>
              <a:spcAft>
                <a:spcPts val="0"/>
              </a:spcAft>
              <a:buClr>
                <a:schemeClr val="dk1"/>
              </a:buClr>
              <a:buSzPts val="2000"/>
              <a:buFont typeface="Noto Sans Symbols"/>
              <a:buChar char="✔"/>
            </a:pPr>
            <a:r>
              <a:rPr lang="en-US" sz="2000">
                <a:latin typeface="Times New Roman"/>
                <a:ea typeface="Times New Roman"/>
                <a:cs typeface="Times New Roman"/>
                <a:sym typeface="Times New Roman"/>
              </a:rPr>
              <a:t>	Conducting a hypothesis test </a:t>
            </a:r>
            <a:endParaRPr/>
          </a:p>
          <a:p>
            <a:pPr indent="-457200" lvl="1" marL="914400" rtl="0" algn="l">
              <a:spcBef>
                <a:spcPts val="400"/>
              </a:spcBef>
              <a:spcAft>
                <a:spcPts val="0"/>
              </a:spcAft>
              <a:buClr>
                <a:schemeClr val="dk1"/>
              </a:buClr>
              <a:buSzPts val="2000"/>
              <a:buFont typeface="Noto Sans Symbols"/>
              <a:buChar char="✔"/>
            </a:pPr>
            <a:r>
              <a:rPr lang="en-US" sz="2000">
                <a:latin typeface="Times New Roman"/>
                <a:ea typeface="Times New Roman"/>
                <a:cs typeface="Times New Roman"/>
                <a:sym typeface="Times New Roman"/>
              </a:rPr>
              <a:t>One sample t-tests – Example, Assumptions </a:t>
            </a:r>
            <a:endParaRPr/>
          </a:p>
          <a:p>
            <a:pPr indent="-457200" lvl="1" marL="914400" rtl="0" algn="l">
              <a:spcBef>
                <a:spcPts val="400"/>
              </a:spcBef>
              <a:spcAft>
                <a:spcPts val="0"/>
              </a:spcAft>
              <a:buClr>
                <a:schemeClr val="dk1"/>
              </a:buClr>
              <a:buSzPts val="2000"/>
              <a:buFont typeface="Noto Sans Symbols"/>
              <a:buChar char="✔"/>
            </a:pPr>
            <a:r>
              <a:rPr lang="en-US" sz="2000">
                <a:latin typeface="Times New Roman"/>
                <a:ea typeface="Times New Roman"/>
                <a:cs typeface="Times New Roman"/>
                <a:sym typeface="Times New Roman"/>
              </a:rPr>
              <a:t>Type I and type II errors </a:t>
            </a:r>
            <a:endParaRPr/>
          </a:p>
          <a:p>
            <a:pPr indent="-457200" lvl="1" marL="914400" rtl="0" algn="l">
              <a:spcBef>
                <a:spcPts val="400"/>
              </a:spcBef>
              <a:spcAft>
                <a:spcPts val="0"/>
              </a:spcAft>
              <a:buClr>
                <a:schemeClr val="dk1"/>
              </a:buClr>
              <a:buSzPts val="2000"/>
              <a:buFont typeface="Noto Sans Symbols"/>
              <a:buChar char="✔"/>
            </a:pPr>
            <a:r>
              <a:rPr lang="en-US" sz="2000">
                <a:latin typeface="Times New Roman"/>
                <a:ea typeface="Times New Roman"/>
                <a:cs typeface="Times New Roman"/>
                <a:sym typeface="Times New Roman"/>
              </a:rPr>
              <a:t>Hypothesis test for categorical variables - Chi-square goodness of fit test - Chi-square test for association/independence</a:t>
            </a:r>
            <a:endParaRPr b="1" sz="2000">
              <a:latin typeface="Times New Roman"/>
              <a:ea typeface="Times New Roman"/>
              <a:cs typeface="Times New Roman"/>
              <a:sym typeface="Times New Roman"/>
            </a:endParaRPr>
          </a:p>
          <a:p>
            <a:pPr indent="-139700" lvl="0" marL="342900" rtl="0" algn="l">
              <a:spcBef>
                <a:spcPts val="640"/>
              </a:spcBef>
              <a:spcAft>
                <a:spcPts val="0"/>
              </a:spcAft>
              <a:buClr>
                <a:schemeClr val="dk1"/>
              </a:buClr>
              <a:buSzPts val="3200"/>
              <a:buNone/>
            </a:pPr>
            <a:r>
              <a:t/>
            </a:r>
            <a:endParaRPr>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Times New Roman"/>
              <a:buNone/>
            </a:pPr>
            <a:r>
              <a:rPr b="1" lang="en-US">
                <a:latin typeface="Times New Roman"/>
                <a:ea typeface="Times New Roman"/>
                <a:cs typeface="Times New Roman"/>
                <a:sym typeface="Times New Roman"/>
              </a:rPr>
              <a:t>Point Estimates</a:t>
            </a:r>
            <a:endParaRPr>
              <a:latin typeface="Times New Roman"/>
              <a:ea typeface="Times New Roman"/>
              <a:cs typeface="Times New Roman"/>
              <a:sym typeface="Times New Roman"/>
            </a:endParaRPr>
          </a:p>
        </p:txBody>
      </p:sp>
      <p:sp>
        <p:nvSpPr>
          <p:cNvPr id="97" name="Google Shape;97;p1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0000" lnSpcReduction="20000"/>
          </a:bodyPr>
          <a:lstStyle/>
          <a:p>
            <a:pPr indent="-342900" lvl="0" marL="342900" rtl="0" algn="just">
              <a:spcBef>
                <a:spcPts val="0"/>
              </a:spcBef>
              <a:spcAft>
                <a:spcPts val="0"/>
              </a:spcAft>
              <a:buClr>
                <a:schemeClr val="dk1"/>
              </a:buClr>
              <a:buSzPct val="100000"/>
              <a:buChar char="•"/>
            </a:pPr>
            <a:r>
              <a:rPr lang="en-US">
                <a:latin typeface="Times New Roman"/>
                <a:ea typeface="Times New Roman"/>
                <a:cs typeface="Times New Roman"/>
                <a:sym typeface="Times New Roman"/>
              </a:rPr>
              <a:t>It was difficult to obtain a population parameter; so, we had to use sample data to calculate a statistic that was an estimate of a parameter. When we make these estimates, we call them point estimates.</a:t>
            </a:r>
            <a:endParaRPr/>
          </a:p>
          <a:p>
            <a:pPr indent="-342900" lvl="0" marL="342900" rtl="0" algn="just">
              <a:spcBef>
                <a:spcPts val="448"/>
              </a:spcBef>
              <a:spcAft>
                <a:spcPts val="0"/>
              </a:spcAft>
              <a:buClr>
                <a:schemeClr val="dk1"/>
              </a:buClr>
              <a:buSzPct val="100000"/>
              <a:buChar char="•"/>
            </a:pPr>
            <a:r>
              <a:rPr lang="en-US">
                <a:latin typeface="Times New Roman"/>
                <a:ea typeface="Times New Roman"/>
                <a:cs typeface="Times New Roman"/>
                <a:sym typeface="Times New Roman"/>
              </a:rPr>
              <a:t>A </a:t>
            </a:r>
            <a:r>
              <a:rPr b="1" lang="en-US">
                <a:solidFill>
                  <a:srgbClr val="FF0000"/>
                </a:solidFill>
                <a:latin typeface="Times New Roman"/>
                <a:ea typeface="Times New Roman"/>
                <a:cs typeface="Times New Roman"/>
                <a:sym typeface="Times New Roman"/>
              </a:rPr>
              <a:t>point estimate </a:t>
            </a:r>
            <a:r>
              <a:rPr lang="en-US">
                <a:latin typeface="Times New Roman"/>
                <a:ea typeface="Times New Roman"/>
                <a:cs typeface="Times New Roman"/>
                <a:sym typeface="Times New Roman"/>
              </a:rPr>
              <a:t>is an estimate of a population parameter based on sample data.</a:t>
            </a:r>
            <a:endParaRPr/>
          </a:p>
          <a:p>
            <a:pPr indent="-342900" lvl="0" marL="342900" rtl="0" algn="just">
              <a:spcBef>
                <a:spcPts val="448"/>
              </a:spcBef>
              <a:spcAft>
                <a:spcPts val="0"/>
              </a:spcAft>
              <a:buClr>
                <a:schemeClr val="dk1"/>
              </a:buClr>
              <a:buSzPct val="100000"/>
              <a:buChar char="•"/>
            </a:pPr>
            <a:r>
              <a:rPr lang="en-US">
                <a:latin typeface="Times New Roman"/>
                <a:ea typeface="Times New Roman"/>
                <a:cs typeface="Times New Roman"/>
                <a:sym typeface="Times New Roman"/>
              </a:rPr>
              <a:t>We use point estimates to estimate population means, variances, and other statistics.</a:t>
            </a:r>
            <a:endParaRPr/>
          </a:p>
          <a:p>
            <a:pPr indent="-342900" lvl="0" marL="342900" rtl="0" algn="just">
              <a:spcBef>
                <a:spcPts val="448"/>
              </a:spcBef>
              <a:spcAft>
                <a:spcPts val="0"/>
              </a:spcAft>
              <a:buClr>
                <a:schemeClr val="dk1"/>
              </a:buClr>
              <a:buSzPct val="100000"/>
              <a:buChar char="•"/>
            </a:pPr>
            <a:r>
              <a:rPr lang="en-US">
                <a:latin typeface="Times New Roman"/>
                <a:ea typeface="Times New Roman"/>
                <a:cs typeface="Times New Roman"/>
                <a:sym typeface="Times New Roman"/>
              </a:rPr>
              <a:t>To obtain these estimates, we simply apply the function that we wish to measure for our population to a sample of the data. </a:t>
            </a:r>
            <a:endParaRPr>
              <a:latin typeface="Times New Roman"/>
              <a:ea typeface="Times New Roman"/>
              <a:cs typeface="Times New Roman"/>
              <a:sym typeface="Times New Roman"/>
            </a:endParaRPr>
          </a:p>
          <a:p>
            <a:pPr indent="-342900" lvl="0" marL="342900" rtl="0" algn="just">
              <a:spcBef>
                <a:spcPts val="448"/>
              </a:spcBef>
              <a:spcAft>
                <a:spcPts val="0"/>
              </a:spcAft>
              <a:buClr>
                <a:schemeClr val="dk1"/>
              </a:buClr>
              <a:buSzPct val="100000"/>
              <a:buChar char="•"/>
            </a:pPr>
            <a:r>
              <a:rPr lang="en-US">
                <a:latin typeface="Times New Roman"/>
                <a:ea typeface="Times New Roman"/>
                <a:cs typeface="Times New Roman"/>
                <a:sym typeface="Times New Roman"/>
              </a:rPr>
              <a:t>For example, suppose there is a company of 9,000 employees and we are interested in ascertaining the average length of breaks taken by employees in a single day. As we probably cannot ask every single person, we will take a sample of the 9,000 people and take a mean of the sample. This sample mean will be our point estimate.</a:t>
            </a:r>
            <a:endParaRPr>
              <a:latin typeface="Times New Roman"/>
              <a:ea typeface="Times New Roman"/>
              <a:cs typeface="Times New Roman"/>
              <a:sym typeface="Times New Roman"/>
            </a:endParaRPr>
          </a:p>
          <a:p>
            <a:pPr indent="-200660" lvl="0" marL="342900" rtl="0" algn="just">
              <a:spcBef>
                <a:spcPts val="448"/>
              </a:spcBef>
              <a:spcAft>
                <a:spcPts val="0"/>
              </a:spcAft>
              <a:buClr>
                <a:schemeClr val="dk1"/>
              </a:buClr>
              <a:buSzPct val="100000"/>
              <a:buNone/>
            </a:pPr>
            <a:r>
              <a:t/>
            </a:r>
            <a:endParaRPr>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6"/>
          <p:cNvSpPr txBox="1"/>
          <p:nvPr>
            <p:ph idx="1" type="body"/>
          </p:nvPr>
        </p:nvSpPr>
        <p:spPr>
          <a:xfrm>
            <a:off x="457200" y="304800"/>
            <a:ext cx="8229600" cy="5821363"/>
          </a:xfrm>
          <a:prstGeom prst="rect">
            <a:avLst/>
          </a:prstGeom>
          <a:noFill/>
          <a:ln>
            <a:noFill/>
          </a:ln>
        </p:spPr>
        <p:txBody>
          <a:bodyPr anchorCtr="0" anchor="t" bIns="45700" lIns="91425" spcFirstLastPara="1" rIns="91425" wrap="square" tIns="45700">
            <a:normAutofit lnSpcReduction="10000"/>
          </a:bodyPr>
          <a:lstStyle/>
          <a:p>
            <a:pPr indent="-342900" lvl="0" marL="342900" rtl="0" algn="just">
              <a:spcBef>
                <a:spcPts val="0"/>
              </a:spcBef>
              <a:spcAft>
                <a:spcPts val="0"/>
              </a:spcAft>
              <a:buClr>
                <a:schemeClr val="dk1"/>
              </a:buClr>
              <a:buSzPts val="3200"/>
              <a:buChar char="•"/>
            </a:pPr>
            <a:r>
              <a:rPr lang="en-US">
                <a:latin typeface="Times New Roman"/>
                <a:ea typeface="Times New Roman"/>
                <a:cs typeface="Times New Roman"/>
                <a:sym typeface="Times New Roman"/>
              </a:rPr>
              <a:t>The following code is broken into three parts:</a:t>
            </a:r>
            <a:endParaRPr/>
          </a:p>
          <a:p>
            <a:pPr indent="-285750" lvl="1" marL="742950" rtl="0" algn="just">
              <a:spcBef>
                <a:spcPts val="560"/>
              </a:spcBef>
              <a:spcAft>
                <a:spcPts val="0"/>
              </a:spcAft>
              <a:buClr>
                <a:schemeClr val="dk1"/>
              </a:buClr>
              <a:buSzPts val="2800"/>
              <a:buChar char="–"/>
            </a:pPr>
            <a:r>
              <a:rPr lang="en-US">
                <a:latin typeface="Times New Roman"/>
                <a:ea typeface="Times New Roman"/>
                <a:cs typeface="Times New Roman"/>
                <a:sym typeface="Times New Roman"/>
              </a:rPr>
              <a:t>	We will use the probability distribution, known as the Poisson distribution, to randomly generate 9,000 answers to the question: for how many minutes in a day do you usually take breaks? This will represent our "population". The </a:t>
            </a:r>
            <a:r>
              <a:rPr b="1" lang="en-US">
                <a:latin typeface="Times New Roman"/>
                <a:ea typeface="Times New Roman"/>
                <a:cs typeface="Times New Roman"/>
                <a:sym typeface="Times New Roman"/>
              </a:rPr>
              <a:t>Poisson random variable </a:t>
            </a:r>
            <a:r>
              <a:rPr lang="en-US">
                <a:latin typeface="Times New Roman"/>
                <a:ea typeface="Times New Roman"/>
                <a:cs typeface="Times New Roman"/>
                <a:sym typeface="Times New Roman"/>
              </a:rPr>
              <a:t>is used when we know the average value of an event and wish to model a distribution around it.</a:t>
            </a:r>
            <a:endParaRPr>
              <a:latin typeface="Times New Roman"/>
              <a:ea typeface="Times New Roman"/>
              <a:cs typeface="Times New Roman"/>
              <a:sym typeface="Times New Roman"/>
            </a:endParaRPr>
          </a:p>
          <a:p>
            <a:pPr indent="-285750" lvl="1" marL="742950" rtl="0" algn="just">
              <a:spcBef>
                <a:spcPts val="560"/>
              </a:spcBef>
              <a:spcAft>
                <a:spcPts val="0"/>
              </a:spcAft>
              <a:buClr>
                <a:schemeClr val="dk1"/>
              </a:buClr>
              <a:buSzPts val="2800"/>
              <a:buChar char="–"/>
            </a:pPr>
            <a:r>
              <a:rPr lang="en-US">
                <a:latin typeface="Times New Roman"/>
                <a:ea typeface="Times New Roman"/>
                <a:cs typeface="Times New Roman"/>
                <a:sym typeface="Times New Roman"/>
              </a:rPr>
              <a:t>We will take a sample of 100 employees (using the Python random sample method) and find a point estimate of a mean (called a sample mean).</a:t>
            </a:r>
            <a:endParaRPr/>
          </a:p>
          <a:p>
            <a:pPr indent="-285750" lvl="1" marL="742950" rtl="0" algn="just">
              <a:spcBef>
                <a:spcPts val="560"/>
              </a:spcBef>
              <a:spcAft>
                <a:spcPts val="0"/>
              </a:spcAft>
              <a:buClr>
                <a:schemeClr val="dk1"/>
              </a:buClr>
              <a:buSzPts val="2800"/>
              <a:buChar char="–"/>
            </a:pPr>
            <a:r>
              <a:rPr lang="en-US">
                <a:latin typeface="Times New Roman"/>
                <a:ea typeface="Times New Roman"/>
                <a:cs typeface="Times New Roman"/>
                <a:sym typeface="Times New Roman"/>
              </a:rPr>
              <a:t>Compare our sample mean (the mean of the sample of 100 employees) to our population mean.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7"/>
          <p:cNvSpPr txBox="1"/>
          <p:nvPr>
            <p:ph idx="1" type="body"/>
          </p:nvPr>
        </p:nvSpPr>
        <p:spPr>
          <a:xfrm>
            <a:off x="457200" y="228600"/>
            <a:ext cx="8229600" cy="6411456"/>
          </a:xfrm>
          <a:prstGeom prst="rect">
            <a:avLst/>
          </a:prstGeom>
          <a:noFill/>
          <a:ln>
            <a:noFill/>
          </a:ln>
        </p:spPr>
        <p:txBody>
          <a:bodyPr anchorCtr="0" anchor="t" bIns="45700" lIns="91425" spcFirstLastPara="1" rIns="91425" wrap="square" tIns="45700">
            <a:normAutofit/>
          </a:bodyPr>
          <a:lstStyle/>
          <a:p>
            <a:pPr indent="0" lvl="2" marL="800100" rtl="0" algn="l">
              <a:spcBef>
                <a:spcPts val="0"/>
              </a:spcBef>
              <a:spcAft>
                <a:spcPts val="0"/>
              </a:spcAft>
              <a:buClr>
                <a:schemeClr val="dk1"/>
              </a:buClr>
              <a:buSzPts val="2400"/>
              <a:buNone/>
            </a:pPr>
            <a:r>
              <a:rPr lang="en-US">
                <a:latin typeface="Times New Roman"/>
                <a:ea typeface="Times New Roman"/>
                <a:cs typeface="Times New Roman"/>
                <a:sym typeface="Times New Roman"/>
              </a:rPr>
              <a:t>np.random.seed(1234)</a:t>
            </a:r>
            <a:endParaRPr/>
          </a:p>
          <a:p>
            <a:pPr indent="0" lvl="2" marL="800100" rtl="0" algn="l">
              <a:spcBef>
                <a:spcPts val="480"/>
              </a:spcBef>
              <a:spcAft>
                <a:spcPts val="0"/>
              </a:spcAft>
              <a:buClr>
                <a:schemeClr val="dk1"/>
              </a:buClr>
              <a:buSzPts val="2400"/>
              <a:buNone/>
            </a:pPr>
            <a:r>
              <a:rPr lang="en-US">
                <a:latin typeface="Times New Roman"/>
                <a:ea typeface="Times New Roman"/>
                <a:cs typeface="Times New Roman"/>
                <a:sym typeface="Times New Roman"/>
              </a:rPr>
              <a:t>long_breaks = stats.poisson.rvs(loc=10, mu=60, size=3000)</a:t>
            </a:r>
            <a:endParaRPr/>
          </a:p>
          <a:p>
            <a:pPr indent="0" lvl="2" marL="800100" rtl="0" algn="just">
              <a:spcBef>
                <a:spcPts val="480"/>
              </a:spcBef>
              <a:spcAft>
                <a:spcPts val="0"/>
              </a:spcAft>
              <a:buClr>
                <a:schemeClr val="dk1"/>
              </a:buClr>
              <a:buSzPts val="2400"/>
              <a:buNone/>
            </a:pPr>
            <a:r>
              <a:rPr lang="en-US">
                <a:latin typeface="Times New Roman"/>
                <a:ea typeface="Times New Roman"/>
                <a:cs typeface="Times New Roman"/>
                <a:sym typeface="Times New Roman"/>
              </a:rPr>
              <a:t># represents 3000 people who take about a 60 minute break</a:t>
            </a:r>
            <a:endParaRPr/>
          </a:p>
          <a:p>
            <a:pPr indent="-342900" lvl="0" marL="342900" rtl="0" algn="just">
              <a:spcBef>
                <a:spcPts val="480"/>
              </a:spcBef>
              <a:spcAft>
                <a:spcPts val="0"/>
              </a:spcAft>
              <a:buClr>
                <a:schemeClr val="dk1"/>
              </a:buClr>
              <a:buSzPts val="2400"/>
              <a:buChar char="•"/>
            </a:pPr>
            <a:r>
              <a:rPr lang="en-US" sz="2400">
                <a:latin typeface="Times New Roman"/>
                <a:ea typeface="Times New Roman"/>
                <a:cs typeface="Times New Roman"/>
                <a:sym typeface="Times New Roman"/>
              </a:rPr>
              <a:t>The long_breaks variable represents 3000 answers to the question: </a:t>
            </a:r>
            <a:r>
              <a:rPr i="1" lang="en-US" sz="2400">
                <a:latin typeface="Times New Roman"/>
                <a:ea typeface="Times New Roman"/>
                <a:cs typeface="Times New Roman"/>
                <a:sym typeface="Times New Roman"/>
              </a:rPr>
              <a:t>how many minutes on an average do you take breaks for?</a:t>
            </a:r>
            <a:r>
              <a:rPr lang="en-US" sz="2400">
                <a:latin typeface="Times New Roman"/>
                <a:ea typeface="Times New Roman"/>
                <a:cs typeface="Times New Roman"/>
                <a:sym typeface="Times New Roman"/>
              </a:rPr>
              <a:t>, and these answers will be on the longer side. Let's see a visualization of this distribution, shown as follows:</a:t>
            </a:r>
            <a:endParaRPr/>
          </a:p>
          <a:p>
            <a:pPr indent="-342900" lvl="0" marL="342900" rtl="0" algn="just">
              <a:spcBef>
                <a:spcPts val="480"/>
              </a:spcBef>
              <a:spcAft>
                <a:spcPts val="0"/>
              </a:spcAft>
              <a:buClr>
                <a:schemeClr val="dk1"/>
              </a:buClr>
              <a:buSzPts val="2400"/>
              <a:buChar char="•"/>
            </a:pPr>
            <a:r>
              <a:rPr lang="en-US" sz="2400">
                <a:latin typeface="Times New Roman"/>
                <a:ea typeface="Times New Roman"/>
                <a:cs typeface="Times New Roman"/>
                <a:sym typeface="Times New Roman"/>
              </a:rPr>
              <a:t>pd.Series(long_breaks).hist()</a:t>
            </a:r>
            <a:endParaRPr/>
          </a:p>
        </p:txBody>
      </p:sp>
      <p:pic>
        <p:nvPicPr>
          <p:cNvPr id="108" name="Google Shape;108;p17"/>
          <p:cNvPicPr preferRelativeResize="0"/>
          <p:nvPr/>
        </p:nvPicPr>
        <p:blipFill rotWithShape="1">
          <a:blip r:embed="rId3">
            <a:alphaModFix/>
          </a:blip>
          <a:srcRect b="0" l="0" r="0" t="0"/>
          <a:stretch/>
        </p:blipFill>
        <p:spPr>
          <a:xfrm>
            <a:off x="4456858" y="3505200"/>
            <a:ext cx="4651758" cy="3124200"/>
          </a:xfrm>
          <a:prstGeom prst="rect">
            <a:avLst/>
          </a:prstGeom>
          <a:noFill/>
          <a:ln>
            <a:noFill/>
          </a:ln>
        </p:spPr>
      </p:pic>
      <p:sp>
        <p:nvSpPr>
          <p:cNvPr id="109" name="Google Shape;109;p17"/>
          <p:cNvSpPr/>
          <p:nvPr/>
        </p:nvSpPr>
        <p:spPr>
          <a:xfrm>
            <a:off x="457200" y="3962400"/>
            <a:ext cx="3838876" cy="2677656"/>
          </a:xfrm>
          <a:prstGeom prst="rect">
            <a:avLst/>
          </a:prstGeom>
          <a:noFill/>
          <a:ln>
            <a:noFill/>
          </a:ln>
        </p:spPr>
        <p:txBody>
          <a:bodyPr anchorCtr="0" anchor="t" bIns="45700" lIns="91425" spcFirstLastPara="1" rIns="91425" wrap="square" tIns="45700">
            <a:noAutofit/>
          </a:bodyPr>
          <a:lstStyle/>
          <a:p>
            <a:pPr indent="-342900" lvl="0" marL="342900" marR="0" rtl="0" algn="just">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We see that our average of 60 minutes is to the left of the distribution. Also, because we only sampled 3000 people, our bins are at their highest around </a:t>
            </a:r>
            <a:r>
              <a:rPr b="1" i="0" lang="en-US" sz="2400" u="none" cap="none" strike="noStrike">
                <a:solidFill>
                  <a:schemeClr val="dk1"/>
                </a:solidFill>
                <a:latin typeface="Times New Roman"/>
                <a:ea typeface="Times New Roman"/>
                <a:cs typeface="Times New Roman"/>
                <a:sym typeface="Times New Roman"/>
              </a:rPr>
              <a:t>700</a:t>
            </a:r>
            <a:r>
              <a:rPr b="0" i="0" lang="en-US" sz="2400" u="none" cap="none" strike="noStrike">
                <a:solidFill>
                  <a:schemeClr val="dk1"/>
                </a:solidFill>
                <a:latin typeface="Times New Roman"/>
                <a:ea typeface="Times New Roman"/>
                <a:cs typeface="Times New Roman"/>
                <a:sym typeface="Times New Roman"/>
              </a:rPr>
              <a:t>-</a:t>
            </a:r>
            <a:r>
              <a:rPr b="1" i="0" lang="en-US" sz="2400" u="none" cap="none" strike="noStrike">
                <a:solidFill>
                  <a:schemeClr val="dk1"/>
                </a:solidFill>
                <a:latin typeface="Times New Roman"/>
                <a:ea typeface="Times New Roman"/>
                <a:cs typeface="Times New Roman"/>
                <a:sym typeface="Times New Roman"/>
              </a:rPr>
              <a:t>800 </a:t>
            </a:r>
            <a:r>
              <a:rPr b="0" i="0" lang="en-US" sz="2400" u="none" cap="none" strike="noStrike">
                <a:solidFill>
                  <a:schemeClr val="dk1"/>
                </a:solidFill>
                <a:latin typeface="Times New Roman"/>
                <a:ea typeface="Times New Roman"/>
                <a:cs typeface="Times New Roman"/>
                <a:sym typeface="Times New Roman"/>
              </a:rPr>
              <a:t>people.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8"/>
          <p:cNvSpPr txBox="1"/>
          <p:nvPr>
            <p:ph idx="1" type="body"/>
          </p:nvPr>
        </p:nvSpPr>
        <p:spPr>
          <a:xfrm>
            <a:off x="457200" y="152400"/>
            <a:ext cx="8229600" cy="59737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US" sz="2400">
                <a:latin typeface="Times New Roman"/>
                <a:ea typeface="Times New Roman"/>
                <a:cs typeface="Times New Roman"/>
                <a:sym typeface="Times New Roman"/>
              </a:rPr>
              <a:t>Now, let's model 6000 people who take, on an average, about 15 minutes' worth of breaks. Let's again use the Poisson distribution to simulate 6000 people, as shown:</a:t>
            </a:r>
            <a:endParaRPr/>
          </a:p>
          <a:p>
            <a:pPr indent="0" lvl="1" marL="400050" rtl="0" algn="l">
              <a:spcBef>
                <a:spcPts val="480"/>
              </a:spcBef>
              <a:spcAft>
                <a:spcPts val="0"/>
              </a:spcAft>
              <a:buClr>
                <a:schemeClr val="dk1"/>
              </a:buClr>
              <a:buSzPts val="2400"/>
              <a:buNone/>
            </a:pPr>
            <a:r>
              <a:rPr lang="en-US" sz="2400">
                <a:latin typeface="Times New Roman"/>
                <a:ea typeface="Times New Roman"/>
                <a:cs typeface="Times New Roman"/>
                <a:sym typeface="Times New Roman"/>
              </a:rPr>
              <a:t>short_breaks = stats.poisson.rvs(loc=10, mu=15, size=6000)</a:t>
            </a:r>
            <a:endParaRPr/>
          </a:p>
          <a:p>
            <a:pPr indent="0" lvl="1" marL="400050" rtl="0" algn="l">
              <a:spcBef>
                <a:spcPts val="480"/>
              </a:spcBef>
              <a:spcAft>
                <a:spcPts val="0"/>
              </a:spcAft>
              <a:buClr>
                <a:schemeClr val="dk1"/>
              </a:buClr>
              <a:buSzPts val="2400"/>
              <a:buNone/>
            </a:pPr>
            <a:r>
              <a:rPr lang="en-US" sz="2400">
                <a:latin typeface="Times New Roman"/>
                <a:ea typeface="Times New Roman"/>
                <a:cs typeface="Times New Roman"/>
                <a:sym typeface="Times New Roman"/>
              </a:rPr>
              <a:t># represents 6000 people who take about a 15 minute break</a:t>
            </a:r>
            <a:endParaRPr/>
          </a:p>
          <a:p>
            <a:pPr indent="0" lvl="1" marL="400050" rtl="0" algn="l">
              <a:spcBef>
                <a:spcPts val="480"/>
              </a:spcBef>
              <a:spcAft>
                <a:spcPts val="0"/>
              </a:spcAft>
              <a:buClr>
                <a:schemeClr val="dk1"/>
              </a:buClr>
              <a:buSzPts val="2400"/>
              <a:buNone/>
            </a:pPr>
            <a:r>
              <a:rPr lang="en-US" sz="2400">
                <a:latin typeface="Times New Roman"/>
                <a:ea typeface="Times New Roman"/>
                <a:cs typeface="Times New Roman"/>
                <a:sym typeface="Times New Roman"/>
              </a:rPr>
              <a:t>pd.Series(short_breaks).hist()</a:t>
            </a:r>
            <a:endParaRPr/>
          </a:p>
        </p:txBody>
      </p:sp>
      <p:pic>
        <p:nvPicPr>
          <p:cNvPr id="115" name="Google Shape;115;p18"/>
          <p:cNvPicPr preferRelativeResize="0"/>
          <p:nvPr/>
        </p:nvPicPr>
        <p:blipFill rotWithShape="1">
          <a:blip r:embed="rId3">
            <a:alphaModFix/>
          </a:blip>
          <a:srcRect b="0" l="0" r="0" t="0"/>
          <a:stretch/>
        </p:blipFill>
        <p:spPr>
          <a:xfrm>
            <a:off x="4648200" y="2667000"/>
            <a:ext cx="4425826" cy="2939115"/>
          </a:xfrm>
          <a:prstGeom prst="rect">
            <a:avLst/>
          </a:prstGeom>
          <a:noFill/>
          <a:ln>
            <a:noFill/>
          </a:ln>
        </p:spPr>
      </p:pic>
      <p:sp>
        <p:nvSpPr>
          <p:cNvPr id="116" name="Google Shape;116;p18"/>
          <p:cNvSpPr/>
          <p:nvPr/>
        </p:nvSpPr>
        <p:spPr>
          <a:xfrm>
            <a:off x="381000" y="3124200"/>
            <a:ext cx="4267200" cy="3277820"/>
          </a:xfrm>
          <a:prstGeom prst="rect">
            <a:avLst/>
          </a:prstGeom>
          <a:noFill/>
          <a:ln>
            <a:noFill/>
          </a:ln>
        </p:spPr>
        <p:txBody>
          <a:bodyPr anchorCtr="0" anchor="t" bIns="45700" lIns="91425" spcFirstLastPara="1" rIns="91425" wrap="square" tIns="45700">
            <a:noAutofit/>
          </a:bodyPr>
          <a:lstStyle/>
          <a:p>
            <a:pPr indent="-285750" lvl="0" marL="285750" marR="0" rtl="0" algn="just">
              <a:spcBef>
                <a:spcPts val="0"/>
              </a:spcBef>
              <a:spcAft>
                <a:spcPts val="0"/>
              </a:spcAft>
              <a:buClr>
                <a:schemeClr val="dk1"/>
              </a:buClr>
              <a:buSzPts val="2300"/>
              <a:buFont typeface="Arial"/>
              <a:buChar char="•"/>
            </a:pPr>
            <a:r>
              <a:rPr b="0" i="0" lang="en-US" sz="2300" u="none" cap="none" strike="noStrike">
                <a:solidFill>
                  <a:schemeClr val="dk1"/>
                </a:solidFill>
                <a:latin typeface="Times New Roman"/>
                <a:ea typeface="Times New Roman"/>
                <a:cs typeface="Times New Roman"/>
                <a:sym typeface="Times New Roman"/>
              </a:rPr>
              <a:t>So, we have a distribution for the people who take longer breaks and a distribution for the people who take shorter breaks. Again, note how our average break length of 15 minutes falls to the left-hand side of the distribution, and note that the tallest bar is about </a:t>
            </a:r>
            <a:r>
              <a:rPr b="1" i="0" lang="en-US" sz="2300" u="none" cap="none" strike="noStrike">
                <a:solidFill>
                  <a:schemeClr val="dk1"/>
                </a:solidFill>
                <a:latin typeface="Times New Roman"/>
                <a:ea typeface="Times New Roman"/>
                <a:cs typeface="Times New Roman"/>
                <a:sym typeface="Times New Roman"/>
              </a:rPr>
              <a:t>1600 </a:t>
            </a:r>
            <a:r>
              <a:rPr b="0" i="0" lang="en-US" sz="2300" u="none" cap="none" strike="noStrike">
                <a:solidFill>
                  <a:schemeClr val="dk1"/>
                </a:solidFill>
                <a:latin typeface="Times New Roman"/>
                <a:ea typeface="Times New Roman"/>
                <a:cs typeface="Times New Roman"/>
                <a:sym typeface="Times New Roman"/>
              </a:rPr>
              <a:t>people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9"/>
          <p:cNvSpPr txBox="1"/>
          <p:nvPr>
            <p:ph idx="1" type="body"/>
          </p:nvPr>
        </p:nvSpPr>
        <p:spPr>
          <a:xfrm>
            <a:off x="381000" y="228600"/>
            <a:ext cx="8458200" cy="5897563"/>
          </a:xfrm>
          <a:prstGeom prst="rect">
            <a:avLst/>
          </a:prstGeom>
          <a:noFill/>
          <a:ln>
            <a:noFill/>
          </a:ln>
        </p:spPr>
        <p:txBody>
          <a:bodyPr anchorCtr="0" anchor="t" bIns="45700" lIns="91425" spcFirstLastPara="1" rIns="91425" wrap="square" tIns="45700">
            <a:normAutofit/>
          </a:bodyPr>
          <a:lstStyle/>
          <a:p>
            <a:pPr indent="0" lvl="1" marL="400050" rtl="0" algn="l">
              <a:spcBef>
                <a:spcPts val="0"/>
              </a:spcBef>
              <a:spcAft>
                <a:spcPts val="0"/>
              </a:spcAft>
              <a:buClr>
                <a:schemeClr val="dk1"/>
              </a:buClr>
              <a:buSzPts val="2400"/>
              <a:buNone/>
            </a:pPr>
            <a:r>
              <a:rPr lang="en-US" sz="2400">
                <a:latin typeface="Times New Roman"/>
                <a:ea typeface="Times New Roman"/>
                <a:cs typeface="Times New Roman"/>
                <a:sym typeface="Times New Roman"/>
              </a:rPr>
              <a:t>breaks = np.concatenate((long_breaks, short_breaks))</a:t>
            </a:r>
            <a:endParaRPr/>
          </a:p>
          <a:p>
            <a:pPr indent="0" lvl="1" marL="400050" rtl="0" algn="l">
              <a:spcBef>
                <a:spcPts val="480"/>
              </a:spcBef>
              <a:spcAft>
                <a:spcPts val="0"/>
              </a:spcAft>
              <a:buClr>
                <a:schemeClr val="dk1"/>
              </a:buClr>
              <a:buSzPts val="2400"/>
              <a:buNone/>
            </a:pPr>
            <a:r>
              <a:rPr lang="en-US" sz="2400">
                <a:latin typeface="Times New Roman"/>
                <a:ea typeface="Times New Roman"/>
                <a:cs typeface="Times New Roman"/>
                <a:sym typeface="Times New Roman"/>
              </a:rPr>
              <a:t># put the two arrays together to get our "population" of 9000 people</a:t>
            </a:r>
            <a:endParaRPr/>
          </a:p>
          <a:p>
            <a:pPr indent="-342900" lvl="0" marL="342900" rtl="0" algn="just">
              <a:spcBef>
                <a:spcPts val="560"/>
              </a:spcBef>
              <a:spcAft>
                <a:spcPts val="0"/>
              </a:spcAft>
              <a:buClr>
                <a:schemeClr val="dk1"/>
              </a:buClr>
              <a:buSzPts val="2800"/>
              <a:buChar char="•"/>
            </a:pPr>
            <a:r>
              <a:rPr lang="en-US" sz="2800">
                <a:latin typeface="Times New Roman"/>
                <a:ea typeface="Times New Roman"/>
                <a:cs typeface="Times New Roman"/>
                <a:sym typeface="Times New Roman"/>
              </a:rPr>
              <a:t>The breaks variable is the amalgamation of all the 9000 employees, both long and short break takers. Let's see the entire distribution of people in a single visualization:</a:t>
            </a:r>
            <a:endParaRPr/>
          </a:p>
          <a:p>
            <a:pPr indent="0" lvl="1" marL="400050" rtl="0" algn="l">
              <a:spcBef>
                <a:spcPts val="480"/>
              </a:spcBef>
              <a:spcAft>
                <a:spcPts val="0"/>
              </a:spcAft>
              <a:buClr>
                <a:schemeClr val="dk1"/>
              </a:buClr>
              <a:buSzPts val="2400"/>
              <a:buNone/>
            </a:pPr>
            <a:r>
              <a:rPr lang="en-US" sz="2400"/>
              <a:t>pd.Series(breaks).hist()</a:t>
            </a:r>
            <a:endParaRPr/>
          </a:p>
        </p:txBody>
      </p:sp>
      <p:pic>
        <p:nvPicPr>
          <p:cNvPr id="122" name="Google Shape;122;p19"/>
          <p:cNvPicPr preferRelativeResize="0"/>
          <p:nvPr/>
        </p:nvPicPr>
        <p:blipFill rotWithShape="1">
          <a:blip r:embed="rId3">
            <a:alphaModFix/>
          </a:blip>
          <a:srcRect b="0" l="0" r="0" t="0"/>
          <a:stretch/>
        </p:blipFill>
        <p:spPr>
          <a:xfrm>
            <a:off x="4460630" y="3733800"/>
            <a:ext cx="4479322" cy="2950945"/>
          </a:xfrm>
          <a:prstGeom prst="rect">
            <a:avLst/>
          </a:prstGeom>
          <a:noFill/>
          <a:ln>
            <a:noFill/>
          </a:ln>
        </p:spPr>
      </p:pic>
      <p:sp>
        <p:nvSpPr>
          <p:cNvPr id="123" name="Google Shape;123;p19"/>
          <p:cNvSpPr/>
          <p:nvPr/>
        </p:nvSpPr>
        <p:spPr>
          <a:xfrm>
            <a:off x="381000" y="3807804"/>
            <a:ext cx="3962400" cy="3046988"/>
          </a:xfrm>
          <a:prstGeom prst="rect">
            <a:avLst/>
          </a:prstGeom>
          <a:noFill/>
          <a:ln>
            <a:noFill/>
          </a:ln>
        </p:spPr>
        <p:txBody>
          <a:bodyPr anchorCtr="0" anchor="t" bIns="45700" lIns="91425" spcFirstLastPara="1" rIns="91425" wrap="square" tIns="45700">
            <a:noAutofit/>
          </a:bodyPr>
          <a:lstStyle/>
          <a:p>
            <a:pPr indent="-342900" lvl="0" marL="342900" marR="0" rtl="0" algn="just">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We see how we have two humps. On the left, we have our larger hump of people who take about a 15 minute break, and on the right, we have a smaller hump of people who take longer breaks.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0"/>
          <p:cNvSpPr txBox="1"/>
          <p:nvPr>
            <p:ph idx="1" type="body"/>
          </p:nvPr>
        </p:nvSpPr>
        <p:spPr>
          <a:xfrm>
            <a:off x="457200" y="228600"/>
            <a:ext cx="8229600" cy="5897563"/>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just">
              <a:spcBef>
                <a:spcPts val="0"/>
              </a:spcBef>
              <a:spcAft>
                <a:spcPts val="0"/>
              </a:spcAft>
              <a:buClr>
                <a:schemeClr val="dk1"/>
              </a:buClr>
              <a:buSzPct val="100000"/>
              <a:buChar char="•"/>
            </a:pPr>
            <a:r>
              <a:rPr lang="en-US">
                <a:latin typeface="Times New Roman"/>
                <a:ea typeface="Times New Roman"/>
                <a:cs typeface="Times New Roman"/>
                <a:sym typeface="Times New Roman"/>
              </a:rPr>
              <a:t>We can find the total average break length by running the following code:</a:t>
            </a:r>
            <a:endParaRPr/>
          </a:p>
          <a:p>
            <a:pPr indent="0" lvl="1" marL="400050" rtl="0" algn="just">
              <a:spcBef>
                <a:spcPts val="518"/>
              </a:spcBef>
              <a:spcAft>
                <a:spcPts val="0"/>
              </a:spcAft>
              <a:buClr>
                <a:schemeClr val="dk1"/>
              </a:buClr>
              <a:buSzPct val="100000"/>
              <a:buNone/>
            </a:pPr>
            <a:r>
              <a:rPr lang="en-US">
                <a:latin typeface="Times New Roman"/>
                <a:ea typeface="Times New Roman"/>
                <a:cs typeface="Times New Roman"/>
                <a:sym typeface="Times New Roman"/>
              </a:rPr>
              <a:t>breaks.mean()</a:t>
            </a:r>
            <a:endParaRPr/>
          </a:p>
          <a:p>
            <a:pPr indent="0" lvl="1" marL="400050" rtl="0" algn="just">
              <a:spcBef>
                <a:spcPts val="518"/>
              </a:spcBef>
              <a:spcAft>
                <a:spcPts val="0"/>
              </a:spcAft>
              <a:buClr>
                <a:schemeClr val="dk1"/>
              </a:buClr>
              <a:buSzPct val="100000"/>
              <a:buNone/>
            </a:pPr>
            <a:r>
              <a:rPr lang="en-US">
                <a:latin typeface="Times New Roman"/>
                <a:ea typeface="Times New Roman"/>
                <a:cs typeface="Times New Roman"/>
                <a:sym typeface="Times New Roman"/>
              </a:rPr>
              <a:t># 39.99 minutes is our parameter.</a:t>
            </a:r>
            <a:endParaRPr/>
          </a:p>
          <a:p>
            <a:pPr indent="-342900" lvl="0" marL="342900" rtl="0" algn="just">
              <a:spcBef>
                <a:spcPts val="592"/>
              </a:spcBef>
              <a:spcAft>
                <a:spcPts val="0"/>
              </a:spcAft>
              <a:buClr>
                <a:schemeClr val="dk1"/>
              </a:buClr>
              <a:buSzPct val="100000"/>
              <a:buChar char="•"/>
            </a:pPr>
            <a:r>
              <a:rPr lang="en-US">
                <a:latin typeface="Times New Roman"/>
                <a:ea typeface="Times New Roman"/>
                <a:cs typeface="Times New Roman"/>
                <a:sym typeface="Times New Roman"/>
              </a:rPr>
              <a:t>Our average company break length is about 40 minutes. Remember that our population is the entire company's employee size of 9,000 people, and </a:t>
            </a:r>
            <a:r>
              <a:rPr i="1" lang="en-US">
                <a:latin typeface="Times New Roman"/>
                <a:ea typeface="Times New Roman"/>
                <a:cs typeface="Times New Roman"/>
                <a:sym typeface="Times New Roman"/>
              </a:rPr>
              <a:t>our parameter is 40 minutes</a:t>
            </a:r>
            <a:r>
              <a:rPr lang="en-US">
                <a:latin typeface="Times New Roman"/>
                <a:ea typeface="Times New Roman"/>
                <a:cs typeface="Times New Roman"/>
                <a:sym typeface="Times New Roman"/>
              </a:rPr>
              <a:t>. </a:t>
            </a:r>
            <a:endParaRPr>
              <a:latin typeface="Times New Roman"/>
              <a:ea typeface="Times New Roman"/>
              <a:cs typeface="Times New Roman"/>
              <a:sym typeface="Times New Roman"/>
            </a:endParaRPr>
          </a:p>
          <a:p>
            <a:pPr indent="-342900" lvl="0" marL="342900" rtl="0" algn="just">
              <a:spcBef>
                <a:spcPts val="592"/>
              </a:spcBef>
              <a:spcAft>
                <a:spcPts val="0"/>
              </a:spcAft>
              <a:buClr>
                <a:schemeClr val="dk1"/>
              </a:buClr>
              <a:buSzPct val="100000"/>
              <a:buChar char="•"/>
            </a:pPr>
            <a:r>
              <a:rPr lang="en-US">
                <a:latin typeface="Times New Roman"/>
                <a:ea typeface="Times New Roman"/>
                <a:cs typeface="Times New Roman"/>
                <a:sym typeface="Times New Roman"/>
              </a:rPr>
              <a:t>In the real world, our goal would be to estimate the population parameter because we would not have the resources to ask every single employee in a survey their average break length for many reasons. Instead, we will use a point estimate.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1"/>
          <p:cNvSpPr txBox="1"/>
          <p:nvPr>
            <p:ph idx="1" type="body"/>
          </p:nvPr>
        </p:nvSpPr>
        <p:spPr>
          <a:xfrm>
            <a:off x="304800" y="228600"/>
            <a:ext cx="8610600" cy="64008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2200"/>
              <a:buChar char="•"/>
            </a:pPr>
            <a:r>
              <a:rPr lang="en-US" sz="2200">
                <a:latin typeface="Times New Roman"/>
                <a:ea typeface="Times New Roman"/>
                <a:cs typeface="Times New Roman"/>
                <a:sym typeface="Times New Roman"/>
              </a:rPr>
              <a:t>So, to make our point, we want to simulate a world where we ask 100 random people about the length of their breaks. To do this, let's take a random sample of 100 employees out of the 9,000 employees we simulated, as shown:</a:t>
            </a:r>
            <a:endParaRPr/>
          </a:p>
          <a:p>
            <a:pPr indent="0" lvl="1" marL="457200" rtl="0" algn="just">
              <a:spcBef>
                <a:spcPts val="440"/>
              </a:spcBef>
              <a:spcAft>
                <a:spcPts val="0"/>
              </a:spcAft>
              <a:buClr>
                <a:schemeClr val="dk1"/>
              </a:buClr>
              <a:buSzPts val="2200"/>
              <a:buNone/>
            </a:pPr>
            <a:r>
              <a:rPr lang="en-US" sz="2200">
                <a:latin typeface="Times New Roman"/>
                <a:ea typeface="Times New Roman"/>
                <a:cs typeface="Times New Roman"/>
                <a:sym typeface="Times New Roman"/>
              </a:rPr>
              <a:t>sample_breaks = np.random.choice(a = breaks, size=100)</a:t>
            </a:r>
            <a:endParaRPr/>
          </a:p>
          <a:p>
            <a:pPr indent="0" lvl="1" marL="457200" rtl="0" algn="just">
              <a:spcBef>
                <a:spcPts val="440"/>
              </a:spcBef>
              <a:spcAft>
                <a:spcPts val="0"/>
              </a:spcAft>
              <a:buClr>
                <a:schemeClr val="dk1"/>
              </a:buClr>
              <a:buSzPts val="2200"/>
              <a:buNone/>
            </a:pPr>
            <a:r>
              <a:rPr lang="en-US" sz="2200">
                <a:latin typeface="Times New Roman"/>
                <a:ea typeface="Times New Roman"/>
                <a:cs typeface="Times New Roman"/>
                <a:sym typeface="Times New Roman"/>
              </a:rPr>
              <a:t># taking a sample of 100 employees</a:t>
            </a:r>
            <a:endParaRPr/>
          </a:p>
          <a:p>
            <a:pPr indent="-342900" lvl="0" marL="342900" rtl="0" algn="just">
              <a:spcBef>
                <a:spcPts val="440"/>
              </a:spcBef>
              <a:spcAft>
                <a:spcPts val="0"/>
              </a:spcAft>
              <a:buClr>
                <a:schemeClr val="dk1"/>
              </a:buClr>
              <a:buSzPts val="2200"/>
              <a:buChar char="•"/>
            </a:pPr>
            <a:r>
              <a:rPr lang="en-US" sz="2200">
                <a:latin typeface="Times New Roman"/>
                <a:ea typeface="Times New Roman"/>
                <a:cs typeface="Times New Roman"/>
                <a:sym typeface="Times New Roman"/>
              </a:rPr>
              <a:t>Now, let's take the mean of the sample and subtract it from the population mean and see how far off we were:</a:t>
            </a:r>
            <a:endParaRPr sz="2200">
              <a:latin typeface="Times New Roman"/>
              <a:ea typeface="Times New Roman"/>
              <a:cs typeface="Times New Roman"/>
              <a:sym typeface="Times New Roman"/>
            </a:endParaRPr>
          </a:p>
          <a:p>
            <a:pPr indent="0" lvl="1" marL="457200" rtl="0" algn="just">
              <a:spcBef>
                <a:spcPts val="440"/>
              </a:spcBef>
              <a:spcAft>
                <a:spcPts val="0"/>
              </a:spcAft>
              <a:buClr>
                <a:schemeClr val="dk1"/>
              </a:buClr>
              <a:buSzPts val="2200"/>
              <a:buNone/>
            </a:pPr>
            <a:r>
              <a:rPr lang="en-US" sz="2200">
                <a:latin typeface="Times New Roman"/>
                <a:ea typeface="Times New Roman"/>
                <a:cs typeface="Times New Roman"/>
                <a:sym typeface="Times New Roman"/>
              </a:rPr>
              <a:t>breaks.mean() - sample_breaks.mean()</a:t>
            </a:r>
            <a:endParaRPr/>
          </a:p>
          <a:p>
            <a:pPr indent="0" lvl="1" marL="457200" rtl="0" algn="just">
              <a:spcBef>
                <a:spcPts val="440"/>
              </a:spcBef>
              <a:spcAft>
                <a:spcPts val="0"/>
              </a:spcAft>
              <a:buClr>
                <a:schemeClr val="dk1"/>
              </a:buClr>
              <a:buSzPts val="2200"/>
              <a:buNone/>
            </a:pPr>
            <a:r>
              <a:rPr lang="en-US" sz="2200">
                <a:latin typeface="Times New Roman"/>
                <a:ea typeface="Times New Roman"/>
                <a:cs typeface="Times New Roman"/>
                <a:sym typeface="Times New Roman"/>
              </a:rPr>
              <a:t># difference between means is 4.09 minutes, not bad!</a:t>
            </a:r>
            <a:endParaRPr/>
          </a:p>
          <a:p>
            <a:pPr indent="-342900" lvl="0" marL="342900" rtl="0" algn="just">
              <a:spcBef>
                <a:spcPts val="440"/>
              </a:spcBef>
              <a:spcAft>
                <a:spcPts val="0"/>
              </a:spcAft>
              <a:buClr>
                <a:schemeClr val="dk1"/>
              </a:buClr>
              <a:buSzPts val="2200"/>
              <a:buChar char="•"/>
            </a:pPr>
            <a:r>
              <a:rPr lang="en-US" sz="2200">
                <a:latin typeface="Times New Roman"/>
                <a:ea typeface="Times New Roman"/>
                <a:cs typeface="Times New Roman"/>
                <a:sym typeface="Times New Roman"/>
              </a:rPr>
              <a:t>This is extremely interesting, because with only about 1% of our population (100 out of 9,000), we were able to get within 4 minutes of our population parameter and get a very accurate estimate of our population mean. Not bad!</a:t>
            </a:r>
            <a:endParaRPr/>
          </a:p>
          <a:p>
            <a:pPr indent="-342900" lvl="0" marL="342900" rtl="0" algn="just">
              <a:spcBef>
                <a:spcPts val="440"/>
              </a:spcBef>
              <a:spcAft>
                <a:spcPts val="0"/>
              </a:spcAft>
              <a:buClr>
                <a:schemeClr val="dk1"/>
              </a:buClr>
              <a:buSzPts val="2200"/>
              <a:buChar char="•"/>
            </a:pPr>
            <a:r>
              <a:rPr lang="en-US" sz="2200">
                <a:latin typeface="Times New Roman"/>
                <a:ea typeface="Times New Roman"/>
                <a:cs typeface="Times New Roman"/>
                <a:sym typeface="Times New Roman"/>
              </a:rPr>
              <a:t>Here, we calculated a point estimate for the mean, but we can also do this for proportion parameters. By proportion, I am referring to a ratio of two quantitative values.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2"/>
          <p:cNvSpPr txBox="1"/>
          <p:nvPr>
            <p:ph idx="1" type="body"/>
          </p:nvPr>
        </p:nvSpPr>
        <p:spPr>
          <a:xfrm>
            <a:off x="457200" y="152400"/>
            <a:ext cx="8229600" cy="5973763"/>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3200"/>
              <a:buChar char="•"/>
            </a:pPr>
            <a:r>
              <a:rPr lang="en-US">
                <a:latin typeface="Times New Roman"/>
                <a:ea typeface="Times New Roman"/>
                <a:cs typeface="Times New Roman"/>
                <a:sym typeface="Times New Roman"/>
              </a:rPr>
              <a:t>Let's suppose that in a company of 10,000 people, our employees are 20% white, 10% black, 10% Hispanic, 30% Asian, and 30% identify as other. We will take a sample of 1,000 employees and see if their race proportions are similar.</a:t>
            </a:r>
            <a:endParaRPr/>
          </a:p>
          <a:p>
            <a:pPr indent="-114300" lvl="0" marL="342900" rtl="0" algn="just">
              <a:spcBef>
                <a:spcPts val="720"/>
              </a:spcBef>
              <a:spcAft>
                <a:spcPts val="0"/>
              </a:spcAft>
              <a:buClr>
                <a:schemeClr val="dk1"/>
              </a:buClr>
              <a:buSzPts val="3600"/>
              <a:buNone/>
            </a:pPr>
            <a:r>
              <a:t/>
            </a:r>
            <a:endParaRPr sz="3600">
              <a:latin typeface="Times New Roman"/>
              <a:ea typeface="Times New Roman"/>
              <a:cs typeface="Times New Roman"/>
              <a:sym typeface="Times New Roman"/>
            </a:endParaRPr>
          </a:p>
          <a:p>
            <a:pPr indent="-165100" lvl="0" marL="342900" rtl="0" algn="just">
              <a:spcBef>
                <a:spcPts val="560"/>
              </a:spcBef>
              <a:spcAft>
                <a:spcPts val="0"/>
              </a:spcAft>
              <a:buClr>
                <a:schemeClr val="dk1"/>
              </a:buClr>
              <a:buSzPts val="2800"/>
              <a:buNone/>
            </a:pPr>
            <a:r>
              <a:t/>
            </a:r>
            <a:endParaRPr sz="2800">
              <a:latin typeface="Times New Roman"/>
              <a:ea typeface="Times New Roman"/>
              <a:cs typeface="Times New Roman"/>
              <a:sym typeface="Times New Roman"/>
            </a:endParaRPr>
          </a:p>
          <a:p>
            <a:pPr indent="-342900" lvl="0" marL="342900" rtl="0" algn="just">
              <a:spcBef>
                <a:spcPts val="560"/>
              </a:spcBef>
              <a:spcAft>
                <a:spcPts val="0"/>
              </a:spcAft>
              <a:buClr>
                <a:schemeClr val="dk1"/>
              </a:buClr>
              <a:buSzPts val="2800"/>
              <a:buChar char="•"/>
            </a:pPr>
            <a:r>
              <a:rPr lang="en-US" sz="2800">
                <a:latin typeface="Times New Roman"/>
                <a:ea typeface="Times New Roman"/>
                <a:cs typeface="Times New Roman"/>
                <a:sym typeface="Times New Roman"/>
              </a:rPr>
              <a:t>employee_races represents our employee population. For example, in our company of 10,000 people, 2,000 people are white (20%) and 3,000 people are Asian (30%).</a:t>
            </a:r>
            <a:endParaRPr/>
          </a:p>
        </p:txBody>
      </p:sp>
      <p:pic>
        <p:nvPicPr>
          <p:cNvPr id="139" name="Google Shape;139;p22"/>
          <p:cNvPicPr preferRelativeResize="0"/>
          <p:nvPr/>
        </p:nvPicPr>
        <p:blipFill rotWithShape="1">
          <a:blip r:embed="rId3">
            <a:alphaModFix/>
          </a:blip>
          <a:srcRect b="0" l="0" r="0" t="0"/>
          <a:stretch/>
        </p:blipFill>
        <p:spPr>
          <a:xfrm>
            <a:off x="533400" y="3243006"/>
            <a:ext cx="8382000" cy="105312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3"/>
          <p:cNvSpPr txBox="1"/>
          <p:nvPr>
            <p:ph idx="1" type="body"/>
          </p:nvPr>
        </p:nvSpPr>
        <p:spPr>
          <a:xfrm>
            <a:off x="457200" y="304800"/>
            <a:ext cx="8229600" cy="6324600"/>
          </a:xfrm>
          <a:prstGeom prst="rect">
            <a:avLst/>
          </a:prstGeom>
          <a:noFill/>
          <a:ln>
            <a:noFill/>
          </a:ln>
        </p:spPr>
        <p:txBody>
          <a:bodyPr anchorCtr="0" anchor="t" bIns="45700" lIns="91425" spcFirstLastPara="1" rIns="91425" wrap="square" tIns="45700">
            <a:normAutofit fontScale="62500" lnSpcReduction="20000"/>
          </a:bodyPr>
          <a:lstStyle/>
          <a:p>
            <a:pPr indent="-342900" lvl="0" marL="342900" rtl="0" algn="just">
              <a:spcBef>
                <a:spcPts val="0"/>
              </a:spcBef>
              <a:spcAft>
                <a:spcPts val="0"/>
              </a:spcAft>
              <a:buClr>
                <a:schemeClr val="dk1"/>
              </a:buClr>
              <a:buSzPct val="100000"/>
              <a:buChar char="•"/>
            </a:pPr>
            <a:r>
              <a:rPr lang="en-US">
                <a:latin typeface="Times New Roman"/>
                <a:ea typeface="Times New Roman"/>
                <a:cs typeface="Times New Roman"/>
                <a:sym typeface="Times New Roman"/>
              </a:rPr>
              <a:t>Let's take a random sample of 1,000 people, as shown:</a:t>
            </a:r>
            <a:endParaRPr/>
          </a:p>
          <a:p>
            <a:pPr indent="0" lvl="1" marL="457200" rtl="0" algn="just">
              <a:spcBef>
                <a:spcPts val="475"/>
              </a:spcBef>
              <a:spcAft>
                <a:spcPts val="0"/>
              </a:spcAft>
              <a:buClr>
                <a:schemeClr val="dk1"/>
              </a:buClr>
              <a:buSzPct val="100000"/>
              <a:buNone/>
            </a:pPr>
            <a:r>
              <a:rPr lang="en-US" sz="3800">
                <a:latin typeface="Times New Roman"/>
                <a:ea typeface="Times New Roman"/>
                <a:cs typeface="Times New Roman"/>
                <a:sym typeface="Times New Roman"/>
              </a:rPr>
              <a:t>demo_sample = random.sample(employee_races, 1000) </a:t>
            </a:r>
            <a:endParaRPr sz="3800">
              <a:latin typeface="Times New Roman"/>
              <a:ea typeface="Times New Roman"/>
              <a:cs typeface="Times New Roman"/>
              <a:sym typeface="Times New Roman"/>
            </a:endParaRPr>
          </a:p>
          <a:p>
            <a:pPr indent="0" lvl="1" marL="457200" rtl="0" algn="just">
              <a:spcBef>
                <a:spcPts val="475"/>
              </a:spcBef>
              <a:spcAft>
                <a:spcPts val="0"/>
              </a:spcAft>
              <a:buClr>
                <a:schemeClr val="dk1"/>
              </a:buClr>
              <a:buSzPct val="100000"/>
              <a:buNone/>
            </a:pPr>
            <a:r>
              <a:rPr lang="en-US" sz="3800">
                <a:latin typeface="Times New Roman"/>
                <a:ea typeface="Times New Roman"/>
                <a:cs typeface="Times New Roman"/>
                <a:sym typeface="Times New Roman"/>
              </a:rPr>
              <a:t># Sample 1000 values</a:t>
            </a:r>
            <a:endParaRPr sz="3800">
              <a:latin typeface="Times New Roman"/>
              <a:ea typeface="Times New Roman"/>
              <a:cs typeface="Times New Roman"/>
              <a:sym typeface="Times New Roman"/>
            </a:endParaRPr>
          </a:p>
          <a:p>
            <a:pPr indent="0" lvl="1" marL="457200" rtl="0" algn="just">
              <a:spcBef>
                <a:spcPts val="475"/>
              </a:spcBef>
              <a:spcAft>
                <a:spcPts val="0"/>
              </a:spcAft>
              <a:buClr>
                <a:schemeClr val="dk1"/>
              </a:buClr>
              <a:buSzPct val="100000"/>
              <a:buNone/>
            </a:pPr>
            <a:r>
              <a:rPr lang="en-US" sz="3800">
                <a:latin typeface="Times New Roman"/>
                <a:ea typeface="Times New Roman"/>
                <a:cs typeface="Times New Roman"/>
                <a:sym typeface="Times New Roman"/>
              </a:rPr>
              <a:t>for race in set(demo_sample):</a:t>
            </a:r>
            <a:endParaRPr/>
          </a:p>
          <a:p>
            <a:pPr indent="0" lvl="1" marL="457200" rtl="0" algn="just">
              <a:spcBef>
                <a:spcPts val="475"/>
              </a:spcBef>
              <a:spcAft>
                <a:spcPts val="0"/>
              </a:spcAft>
              <a:buClr>
                <a:schemeClr val="dk1"/>
              </a:buClr>
              <a:buSzPct val="100000"/>
              <a:buNone/>
            </a:pPr>
            <a:r>
              <a:rPr lang="en-US" sz="3800">
                <a:latin typeface="Times New Roman"/>
                <a:ea typeface="Times New Roman"/>
                <a:cs typeface="Times New Roman"/>
                <a:sym typeface="Times New Roman"/>
              </a:rPr>
              <a:t>	print( race + " proportion estimate:" )</a:t>
            </a:r>
            <a:endParaRPr/>
          </a:p>
          <a:p>
            <a:pPr indent="0" lvl="1" marL="457200" rtl="0" algn="just">
              <a:spcBef>
                <a:spcPts val="475"/>
              </a:spcBef>
              <a:spcAft>
                <a:spcPts val="0"/>
              </a:spcAft>
              <a:buClr>
                <a:schemeClr val="dk1"/>
              </a:buClr>
              <a:buSzPct val="100000"/>
              <a:buNone/>
            </a:pPr>
            <a:r>
              <a:rPr lang="en-US" sz="3800">
                <a:latin typeface="Times New Roman"/>
                <a:ea typeface="Times New Roman"/>
                <a:cs typeface="Times New Roman"/>
                <a:sym typeface="Times New Roman"/>
              </a:rPr>
              <a:t>	print( demo_sample.count(race)/1000. )</a:t>
            </a:r>
            <a:endParaRPr/>
          </a:p>
          <a:p>
            <a:pPr indent="-342900" lvl="0" marL="342900" rtl="0" algn="just">
              <a:spcBef>
                <a:spcPts val="400"/>
              </a:spcBef>
              <a:spcAft>
                <a:spcPts val="0"/>
              </a:spcAft>
              <a:buClr>
                <a:schemeClr val="dk1"/>
              </a:buClr>
              <a:buSzPct val="100000"/>
              <a:buChar char="•"/>
            </a:pPr>
            <a:r>
              <a:rPr lang="en-US">
                <a:latin typeface="Times New Roman"/>
                <a:ea typeface="Times New Roman"/>
                <a:cs typeface="Times New Roman"/>
                <a:sym typeface="Times New Roman"/>
              </a:rPr>
              <a:t>The output obtained would be as follows:</a:t>
            </a:r>
            <a:endParaRPr/>
          </a:p>
          <a:p>
            <a:pPr indent="0" lvl="1" marL="457200" rtl="0" algn="just">
              <a:spcBef>
                <a:spcPts val="350"/>
              </a:spcBef>
              <a:spcAft>
                <a:spcPts val="0"/>
              </a:spcAft>
              <a:buClr>
                <a:schemeClr val="dk1"/>
              </a:buClr>
              <a:buSzPct val="100000"/>
              <a:buNone/>
            </a:pPr>
            <a:r>
              <a:rPr lang="en-US">
                <a:latin typeface="Times New Roman"/>
                <a:ea typeface="Times New Roman"/>
                <a:cs typeface="Times New Roman"/>
                <a:sym typeface="Times New Roman"/>
              </a:rPr>
              <a:t>hispanic proportion estimate:</a:t>
            </a:r>
            <a:endParaRPr/>
          </a:p>
          <a:p>
            <a:pPr indent="0" lvl="1" marL="457200" rtl="0" algn="just">
              <a:spcBef>
                <a:spcPts val="350"/>
              </a:spcBef>
              <a:spcAft>
                <a:spcPts val="0"/>
              </a:spcAft>
              <a:buClr>
                <a:schemeClr val="dk1"/>
              </a:buClr>
              <a:buSzPct val="100000"/>
              <a:buNone/>
            </a:pPr>
            <a:r>
              <a:rPr lang="en-US">
                <a:latin typeface="Times New Roman"/>
                <a:ea typeface="Times New Roman"/>
                <a:cs typeface="Times New Roman"/>
                <a:sym typeface="Times New Roman"/>
              </a:rPr>
              <a:t>0.103</a:t>
            </a:r>
            <a:endParaRPr/>
          </a:p>
          <a:p>
            <a:pPr indent="0" lvl="1" marL="457200" rtl="0" algn="just">
              <a:spcBef>
                <a:spcPts val="350"/>
              </a:spcBef>
              <a:spcAft>
                <a:spcPts val="0"/>
              </a:spcAft>
              <a:buClr>
                <a:schemeClr val="dk1"/>
              </a:buClr>
              <a:buSzPct val="100000"/>
              <a:buNone/>
            </a:pPr>
            <a:r>
              <a:rPr lang="en-US">
                <a:latin typeface="Times New Roman"/>
                <a:ea typeface="Times New Roman"/>
                <a:cs typeface="Times New Roman"/>
                <a:sym typeface="Times New Roman"/>
              </a:rPr>
              <a:t>white proportion estimate:</a:t>
            </a:r>
            <a:endParaRPr/>
          </a:p>
          <a:p>
            <a:pPr indent="0" lvl="1" marL="457200" rtl="0" algn="just">
              <a:spcBef>
                <a:spcPts val="350"/>
              </a:spcBef>
              <a:spcAft>
                <a:spcPts val="0"/>
              </a:spcAft>
              <a:buClr>
                <a:schemeClr val="dk1"/>
              </a:buClr>
              <a:buSzPct val="100000"/>
              <a:buNone/>
            </a:pPr>
            <a:r>
              <a:rPr lang="en-US">
                <a:latin typeface="Times New Roman"/>
                <a:ea typeface="Times New Roman"/>
                <a:cs typeface="Times New Roman"/>
                <a:sym typeface="Times New Roman"/>
              </a:rPr>
              <a:t>0.192</a:t>
            </a:r>
            <a:endParaRPr/>
          </a:p>
          <a:p>
            <a:pPr indent="0" lvl="1" marL="457200" rtl="0" algn="just">
              <a:spcBef>
                <a:spcPts val="350"/>
              </a:spcBef>
              <a:spcAft>
                <a:spcPts val="0"/>
              </a:spcAft>
              <a:buClr>
                <a:schemeClr val="dk1"/>
              </a:buClr>
              <a:buSzPct val="100000"/>
              <a:buNone/>
            </a:pPr>
            <a:r>
              <a:rPr lang="en-US">
                <a:latin typeface="Times New Roman"/>
                <a:ea typeface="Times New Roman"/>
                <a:cs typeface="Times New Roman"/>
                <a:sym typeface="Times New Roman"/>
              </a:rPr>
              <a:t>other proportion estimate:</a:t>
            </a:r>
            <a:endParaRPr/>
          </a:p>
          <a:p>
            <a:pPr indent="0" lvl="1" marL="457200" rtl="0" algn="just">
              <a:spcBef>
                <a:spcPts val="350"/>
              </a:spcBef>
              <a:spcAft>
                <a:spcPts val="0"/>
              </a:spcAft>
              <a:buClr>
                <a:schemeClr val="dk1"/>
              </a:buClr>
              <a:buSzPct val="100000"/>
              <a:buNone/>
            </a:pPr>
            <a:r>
              <a:rPr lang="en-US">
                <a:latin typeface="Times New Roman"/>
                <a:ea typeface="Times New Roman"/>
                <a:cs typeface="Times New Roman"/>
                <a:sym typeface="Times New Roman"/>
              </a:rPr>
              <a:t>0.288</a:t>
            </a:r>
            <a:endParaRPr/>
          </a:p>
          <a:p>
            <a:pPr indent="0" lvl="1" marL="457200" rtl="0" algn="just">
              <a:spcBef>
                <a:spcPts val="350"/>
              </a:spcBef>
              <a:spcAft>
                <a:spcPts val="0"/>
              </a:spcAft>
              <a:buClr>
                <a:schemeClr val="dk1"/>
              </a:buClr>
              <a:buSzPct val="100000"/>
              <a:buNone/>
            </a:pPr>
            <a:r>
              <a:rPr lang="en-US">
                <a:latin typeface="Times New Roman"/>
                <a:ea typeface="Times New Roman"/>
                <a:cs typeface="Times New Roman"/>
                <a:sym typeface="Times New Roman"/>
              </a:rPr>
              <a:t>black proportion estimate:</a:t>
            </a:r>
            <a:endParaRPr/>
          </a:p>
          <a:p>
            <a:pPr indent="0" lvl="1" marL="457200" rtl="0" algn="just">
              <a:spcBef>
                <a:spcPts val="350"/>
              </a:spcBef>
              <a:spcAft>
                <a:spcPts val="0"/>
              </a:spcAft>
              <a:buClr>
                <a:schemeClr val="dk1"/>
              </a:buClr>
              <a:buSzPct val="100000"/>
              <a:buNone/>
            </a:pPr>
            <a:r>
              <a:rPr lang="en-US">
                <a:latin typeface="Times New Roman"/>
                <a:ea typeface="Times New Roman"/>
                <a:cs typeface="Times New Roman"/>
                <a:sym typeface="Times New Roman"/>
              </a:rPr>
              <a:t>0.1</a:t>
            </a:r>
            <a:endParaRPr/>
          </a:p>
          <a:p>
            <a:pPr indent="0" lvl="1" marL="457200" rtl="0" algn="just">
              <a:spcBef>
                <a:spcPts val="350"/>
              </a:spcBef>
              <a:spcAft>
                <a:spcPts val="0"/>
              </a:spcAft>
              <a:buClr>
                <a:schemeClr val="dk1"/>
              </a:buClr>
              <a:buSzPct val="100000"/>
              <a:buNone/>
            </a:pPr>
            <a:r>
              <a:rPr lang="en-US">
                <a:latin typeface="Times New Roman"/>
                <a:ea typeface="Times New Roman"/>
                <a:cs typeface="Times New Roman"/>
                <a:sym typeface="Times New Roman"/>
              </a:rPr>
              <a:t>asian proportion estimate:</a:t>
            </a:r>
            <a:endParaRPr/>
          </a:p>
          <a:p>
            <a:pPr indent="0" lvl="1" marL="457200" rtl="0" algn="just">
              <a:spcBef>
                <a:spcPts val="350"/>
              </a:spcBef>
              <a:spcAft>
                <a:spcPts val="0"/>
              </a:spcAft>
              <a:buClr>
                <a:schemeClr val="dk1"/>
              </a:buClr>
              <a:buSzPct val="100000"/>
              <a:buNone/>
            </a:pPr>
            <a:r>
              <a:rPr lang="en-US">
                <a:latin typeface="Times New Roman"/>
                <a:ea typeface="Times New Roman"/>
                <a:cs typeface="Times New Roman"/>
                <a:sym typeface="Times New Roman"/>
              </a:rPr>
              <a:t>0.317</a:t>
            </a:r>
            <a:endParaRPr/>
          </a:p>
          <a:p>
            <a:pPr indent="-342900" lvl="0" marL="342900" rtl="0" algn="just">
              <a:spcBef>
                <a:spcPts val="400"/>
              </a:spcBef>
              <a:spcAft>
                <a:spcPts val="0"/>
              </a:spcAft>
              <a:buClr>
                <a:schemeClr val="dk1"/>
              </a:buClr>
              <a:buSzPct val="100000"/>
              <a:buChar char="•"/>
            </a:pPr>
            <a:r>
              <a:rPr lang="en-US">
                <a:latin typeface="Times New Roman"/>
                <a:ea typeface="Times New Roman"/>
                <a:cs typeface="Times New Roman"/>
                <a:sym typeface="Times New Roman"/>
              </a:rPr>
              <a:t>We can see that the race proportion estimates are very close to the underlying population's proportions. For example, we got 10.3% for Hispanic in our sample and the population proportion for Hispanic was 10%.</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4"/>
          <p:cNvSpPr txBox="1"/>
          <p:nvPr>
            <p:ph type="title"/>
          </p:nvPr>
        </p:nvSpPr>
        <p:spPr>
          <a:xfrm>
            <a:off x="457200" y="228600"/>
            <a:ext cx="8229600" cy="838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Times New Roman"/>
              <a:buNone/>
            </a:pPr>
            <a:r>
              <a:rPr b="1" lang="en-US">
                <a:latin typeface="Times New Roman"/>
                <a:ea typeface="Times New Roman"/>
                <a:cs typeface="Times New Roman"/>
                <a:sym typeface="Times New Roman"/>
              </a:rPr>
              <a:t>Sampling Distributions</a:t>
            </a:r>
            <a:endParaRPr>
              <a:latin typeface="Times New Roman"/>
              <a:ea typeface="Times New Roman"/>
              <a:cs typeface="Times New Roman"/>
              <a:sym typeface="Times New Roman"/>
            </a:endParaRPr>
          </a:p>
        </p:txBody>
      </p:sp>
      <p:sp>
        <p:nvSpPr>
          <p:cNvPr id="150" name="Google Shape;150;p24"/>
          <p:cNvSpPr txBox="1"/>
          <p:nvPr>
            <p:ph idx="1" type="body"/>
          </p:nvPr>
        </p:nvSpPr>
        <p:spPr>
          <a:xfrm>
            <a:off x="457200" y="1097280"/>
            <a:ext cx="8229600" cy="5028883"/>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2000"/>
              <a:buChar char="•"/>
            </a:pPr>
            <a:r>
              <a:rPr lang="en-US" sz="2000">
                <a:latin typeface="Times New Roman"/>
                <a:ea typeface="Times New Roman"/>
                <a:cs typeface="Times New Roman"/>
                <a:sym typeface="Times New Roman"/>
              </a:rPr>
              <a:t>Many statistical tests rely on data that follows a normal pattern, and for the most part, a lot of real-world data is not normal (surprised?).</a:t>
            </a:r>
            <a:endParaRPr/>
          </a:p>
          <a:p>
            <a:pPr indent="-342900" lvl="0" marL="342900" rtl="0" algn="just">
              <a:spcBef>
                <a:spcPts val="400"/>
              </a:spcBef>
              <a:spcAft>
                <a:spcPts val="0"/>
              </a:spcAft>
              <a:buClr>
                <a:schemeClr val="dk1"/>
              </a:buClr>
              <a:buSzPts val="2000"/>
              <a:buChar char="•"/>
            </a:pPr>
            <a:r>
              <a:rPr lang="en-US" sz="2000">
                <a:latin typeface="Times New Roman"/>
                <a:ea typeface="Times New Roman"/>
                <a:cs typeface="Times New Roman"/>
                <a:sym typeface="Times New Roman"/>
              </a:rPr>
              <a:t>Take our employee break data for example, you might think I was just being fancy creating data using the Poisson distribution, but I had a reason for this—I specifically wanted non-normal data, as shown:</a:t>
            </a:r>
            <a:endParaRPr/>
          </a:p>
          <a:p>
            <a:pPr indent="0" lvl="0" marL="0" rtl="0" algn="just">
              <a:spcBef>
                <a:spcPts val="480"/>
              </a:spcBef>
              <a:spcAft>
                <a:spcPts val="0"/>
              </a:spcAft>
              <a:buClr>
                <a:schemeClr val="dk1"/>
              </a:buClr>
              <a:buSzPts val="2400"/>
              <a:buNone/>
            </a:pPr>
            <a:r>
              <a:rPr lang="en-US" sz="2400">
                <a:latin typeface="Times New Roman"/>
                <a:ea typeface="Times New Roman"/>
                <a:cs typeface="Times New Roman"/>
                <a:sym typeface="Times New Roman"/>
              </a:rPr>
              <a:t>	pd.DataFrame(breaks).hist(bins=50,range=(5,100))</a:t>
            </a:r>
            <a:endParaRPr/>
          </a:p>
        </p:txBody>
      </p:sp>
      <p:pic>
        <p:nvPicPr>
          <p:cNvPr id="151" name="Google Shape;151;p24"/>
          <p:cNvPicPr preferRelativeResize="0"/>
          <p:nvPr/>
        </p:nvPicPr>
        <p:blipFill rotWithShape="1">
          <a:blip r:embed="rId3">
            <a:alphaModFix/>
          </a:blip>
          <a:srcRect b="0" l="0" r="0" t="0"/>
          <a:stretch/>
        </p:blipFill>
        <p:spPr>
          <a:xfrm>
            <a:off x="1981200" y="3248025"/>
            <a:ext cx="5406633" cy="34575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5"/>
          <p:cNvSpPr txBox="1"/>
          <p:nvPr>
            <p:ph idx="1" type="body"/>
          </p:nvPr>
        </p:nvSpPr>
        <p:spPr>
          <a:xfrm>
            <a:off x="304800" y="228600"/>
            <a:ext cx="8382000" cy="5821363"/>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2200"/>
              <a:buChar char="•"/>
            </a:pPr>
            <a:r>
              <a:rPr lang="en-US" sz="2200">
                <a:latin typeface="Times New Roman"/>
                <a:ea typeface="Times New Roman"/>
                <a:cs typeface="Times New Roman"/>
                <a:sym typeface="Times New Roman"/>
              </a:rPr>
              <a:t>As you can see, our data is definitely not following a normal distribution, it appears to be </a:t>
            </a:r>
            <a:r>
              <a:rPr b="1" lang="en-US" sz="2200">
                <a:latin typeface="Times New Roman"/>
                <a:ea typeface="Times New Roman"/>
                <a:cs typeface="Times New Roman"/>
                <a:sym typeface="Times New Roman"/>
              </a:rPr>
              <a:t>bi-modal</a:t>
            </a:r>
            <a:r>
              <a:rPr lang="en-US" sz="2200">
                <a:latin typeface="Times New Roman"/>
                <a:ea typeface="Times New Roman"/>
                <a:cs typeface="Times New Roman"/>
                <a:sym typeface="Times New Roman"/>
              </a:rPr>
              <a:t>, which means that there are two peaks of break times, at around </a:t>
            </a:r>
            <a:r>
              <a:rPr b="1" lang="en-US" sz="2200">
                <a:latin typeface="Times New Roman"/>
                <a:ea typeface="Times New Roman"/>
                <a:cs typeface="Times New Roman"/>
                <a:sym typeface="Times New Roman"/>
              </a:rPr>
              <a:t>25 </a:t>
            </a:r>
            <a:r>
              <a:rPr lang="en-US" sz="2200">
                <a:latin typeface="Times New Roman"/>
                <a:ea typeface="Times New Roman"/>
                <a:cs typeface="Times New Roman"/>
                <a:sym typeface="Times New Roman"/>
              </a:rPr>
              <a:t>and </a:t>
            </a:r>
            <a:r>
              <a:rPr b="1" lang="en-US" sz="2200">
                <a:latin typeface="Times New Roman"/>
                <a:ea typeface="Times New Roman"/>
                <a:cs typeface="Times New Roman"/>
                <a:sym typeface="Times New Roman"/>
              </a:rPr>
              <a:t>70 </a:t>
            </a:r>
            <a:r>
              <a:rPr lang="en-US" sz="2200">
                <a:latin typeface="Times New Roman"/>
                <a:ea typeface="Times New Roman"/>
                <a:cs typeface="Times New Roman"/>
                <a:sym typeface="Times New Roman"/>
              </a:rPr>
              <a:t>minutes. As our data is not normal, many of the most popular statistics tests may not apply, however, if we follow the given procedure, we can create normal data! </a:t>
            </a:r>
            <a:endParaRPr sz="2200">
              <a:latin typeface="Times New Roman"/>
              <a:ea typeface="Times New Roman"/>
              <a:cs typeface="Times New Roman"/>
              <a:sym typeface="Times New Roman"/>
            </a:endParaRPr>
          </a:p>
          <a:p>
            <a:pPr indent="-342900" lvl="0" marL="342900" rtl="0" algn="just">
              <a:spcBef>
                <a:spcPts val="440"/>
              </a:spcBef>
              <a:spcAft>
                <a:spcPts val="0"/>
              </a:spcAft>
              <a:buClr>
                <a:schemeClr val="dk1"/>
              </a:buClr>
              <a:buSzPts val="2200"/>
              <a:buChar char="•"/>
            </a:pPr>
            <a:r>
              <a:rPr lang="en-US" sz="2200">
                <a:latin typeface="Times New Roman"/>
                <a:ea typeface="Times New Roman"/>
                <a:cs typeface="Times New Roman"/>
                <a:sym typeface="Times New Roman"/>
              </a:rPr>
              <a:t>First off, we will need to utilize what is known as a </a:t>
            </a:r>
            <a:r>
              <a:rPr b="1" lang="en-US" sz="2200">
                <a:latin typeface="Times New Roman"/>
                <a:ea typeface="Times New Roman"/>
                <a:cs typeface="Times New Roman"/>
                <a:sym typeface="Times New Roman"/>
              </a:rPr>
              <a:t>sampling distribution</a:t>
            </a:r>
            <a:r>
              <a:rPr lang="en-US" sz="2200">
                <a:latin typeface="Times New Roman"/>
                <a:ea typeface="Times New Roman"/>
                <a:cs typeface="Times New Roman"/>
                <a:sym typeface="Times New Roman"/>
              </a:rPr>
              <a:t>, which is a distribution of point estimates of several samples of the same size. Our procedure for creating a sampling distribution will be the following:</a:t>
            </a:r>
            <a:endParaRPr/>
          </a:p>
          <a:p>
            <a:pPr indent="0" lvl="1" marL="400050" rtl="0" algn="just">
              <a:spcBef>
                <a:spcPts val="440"/>
              </a:spcBef>
              <a:spcAft>
                <a:spcPts val="0"/>
              </a:spcAft>
              <a:buClr>
                <a:schemeClr val="dk1"/>
              </a:buClr>
              <a:buSzPts val="2200"/>
              <a:buNone/>
            </a:pPr>
            <a:r>
              <a:rPr lang="en-US" sz="2200">
                <a:latin typeface="Times New Roman"/>
                <a:ea typeface="Times New Roman"/>
                <a:cs typeface="Times New Roman"/>
                <a:sym typeface="Times New Roman"/>
              </a:rPr>
              <a:t>1. Take 500 different samples of the break times of size 100 each.</a:t>
            </a:r>
            <a:endParaRPr/>
          </a:p>
          <a:p>
            <a:pPr indent="0" lvl="1" marL="400050" rtl="0" algn="just">
              <a:spcBef>
                <a:spcPts val="440"/>
              </a:spcBef>
              <a:spcAft>
                <a:spcPts val="0"/>
              </a:spcAft>
              <a:buClr>
                <a:schemeClr val="dk1"/>
              </a:buClr>
              <a:buSzPts val="2200"/>
              <a:buNone/>
            </a:pPr>
            <a:r>
              <a:rPr lang="en-US" sz="2200">
                <a:latin typeface="Times New Roman"/>
                <a:ea typeface="Times New Roman"/>
                <a:cs typeface="Times New Roman"/>
                <a:sym typeface="Times New Roman"/>
              </a:rPr>
              <a:t>2. Take a histogram of these 500 different point estimates (revealing their distribution).</a:t>
            </a:r>
            <a:endParaRPr/>
          </a:p>
          <a:p>
            <a:pPr indent="-342900" lvl="0" marL="342900" rtl="0" algn="just">
              <a:spcBef>
                <a:spcPts val="440"/>
              </a:spcBef>
              <a:spcAft>
                <a:spcPts val="0"/>
              </a:spcAft>
              <a:buClr>
                <a:schemeClr val="dk1"/>
              </a:buClr>
              <a:buSzPts val="2200"/>
              <a:buChar char="•"/>
            </a:pPr>
            <a:r>
              <a:rPr lang="en-US" sz="2200">
                <a:latin typeface="Times New Roman"/>
                <a:ea typeface="Times New Roman"/>
                <a:cs typeface="Times New Roman"/>
                <a:sym typeface="Times New Roman"/>
              </a:rPr>
              <a:t>The number of elements in the sample (100) was arbitrary, but large enough to be a representative sample of the population. The number of samples I took (500) was also arbitrary, but large enough to ensure that our data would converge to a normal distribution:</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6"/>
          <p:cNvSpPr txBox="1"/>
          <p:nvPr>
            <p:ph idx="1" type="body"/>
          </p:nvPr>
        </p:nvSpPr>
        <p:spPr>
          <a:xfrm>
            <a:off x="457200" y="228600"/>
            <a:ext cx="8229600" cy="58975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200"/>
              <a:buNone/>
            </a:pPr>
            <a:r>
              <a:rPr lang="en-US" sz="2200">
                <a:latin typeface="Times New Roman"/>
                <a:ea typeface="Times New Roman"/>
                <a:cs typeface="Times New Roman"/>
                <a:sym typeface="Times New Roman"/>
              </a:rPr>
              <a:t>point_estimates = []</a:t>
            </a:r>
            <a:endParaRPr/>
          </a:p>
          <a:p>
            <a:pPr indent="0" lvl="0" marL="0" rtl="0" algn="l">
              <a:spcBef>
                <a:spcPts val="440"/>
              </a:spcBef>
              <a:spcAft>
                <a:spcPts val="0"/>
              </a:spcAft>
              <a:buClr>
                <a:schemeClr val="dk1"/>
              </a:buClr>
              <a:buSzPts val="2200"/>
              <a:buNone/>
            </a:pPr>
            <a:r>
              <a:rPr lang="en-US" sz="2200">
                <a:latin typeface="Times New Roman"/>
                <a:ea typeface="Times New Roman"/>
                <a:cs typeface="Times New Roman"/>
                <a:sym typeface="Times New Roman"/>
              </a:rPr>
              <a:t>for x in range(500): # Generate 500 samples</a:t>
            </a:r>
            <a:endParaRPr/>
          </a:p>
          <a:p>
            <a:pPr indent="0" lvl="0" marL="0" rtl="0" algn="l">
              <a:spcBef>
                <a:spcPts val="440"/>
              </a:spcBef>
              <a:spcAft>
                <a:spcPts val="0"/>
              </a:spcAft>
              <a:buClr>
                <a:schemeClr val="dk1"/>
              </a:buClr>
              <a:buSzPts val="2200"/>
              <a:buNone/>
            </a:pPr>
            <a:r>
              <a:rPr lang="en-US" sz="2200">
                <a:latin typeface="Times New Roman"/>
                <a:ea typeface="Times New Roman"/>
                <a:cs typeface="Times New Roman"/>
                <a:sym typeface="Times New Roman"/>
              </a:rPr>
              <a:t>	sample = np.random.choice(a= breaks, size=100)</a:t>
            </a:r>
            <a:endParaRPr/>
          </a:p>
          <a:p>
            <a:pPr indent="0" lvl="0" marL="0" rtl="0" algn="l">
              <a:spcBef>
                <a:spcPts val="440"/>
              </a:spcBef>
              <a:spcAft>
                <a:spcPts val="0"/>
              </a:spcAft>
              <a:buClr>
                <a:schemeClr val="dk1"/>
              </a:buClr>
              <a:buSzPts val="2200"/>
              <a:buNone/>
            </a:pPr>
            <a:r>
              <a:rPr lang="en-US" sz="2200">
                <a:latin typeface="Times New Roman"/>
                <a:ea typeface="Times New Roman"/>
                <a:cs typeface="Times New Roman"/>
                <a:sym typeface="Times New Roman"/>
              </a:rPr>
              <a:t>#take a sample of 100 points</a:t>
            </a:r>
            <a:endParaRPr/>
          </a:p>
          <a:p>
            <a:pPr indent="0" lvl="0" marL="0" rtl="0" algn="l">
              <a:spcBef>
                <a:spcPts val="440"/>
              </a:spcBef>
              <a:spcAft>
                <a:spcPts val="0"/>
              </a:spcAft>
              <a:buClr>
                <a:schemeClr val="dk1"/>
              </a:buClr>
              <a:buSzPts val="2200"/>
              <a:buNone/>
            </a:pPr>
            <a:r>
              <a:rPr lang="en-US" sz="2200">
                <a:latin typeface="Times New Roman"/>
                <a:ea typeface="Times New Roman"/>
                <a:cs typeface="Times New Roman"/>
                <a:sym typeface="Times New Roman"/>
              </a:rPr>
              <a:t>point_estimates.append( sample.mean() )</a:t>
            </a:r>
            <a:endParaRPr/>
          </a:p>
          <a:p>
            <a:pPr indent="0" lvl="0" marL="0" rtl="0" algn="l">
              <a:spcBef>
                <a:spcPts val="440"/>
              </a:spcBef>
              <a:spcAft>
                <a:spcPts val="0"/>
              </a:spcAft>
              <a:buClr>
                <a:schemeClr val="dk1"/>
              </a:buClr>
              <a:buSzPts val="2200"/>
              <a:buNone/>
            </a:pPr>
            <a:r>
              <a:rPr lang="en-US" sz="2200">
                <a:latin typeface="Times New Roman"/>
                <a:ea typeface="Times New Roman"/>
                <a:cs typeface="Times New Roman"/>
                <a:sym typeface="Times New Roman"/>
              </a:rPr>
              <a:t># add the sample mean to our list of point estimates</a:t>
            </a:r>
            <a:endParaRPr/>
          </a:p>
          <a:p>
            <a:pPr indent="0" lvl="0" marL="0" rtl="0" algn="l">
              <a:spcBef>
                <a:spcPts val="440"/>
              </a:spcBef>
              <a:spcAft>
                <a:spcPts val="0"/>
              </a:spcAft>
              <a:buClr>
                <a:schemeClr val="dk1"/>
              </a:buClr>
              <a:buSzPts val="2200"/>
              <a:buNone/>
            </a:pPr>
            <a:r>
              <a:rPr lang="en-US" sz="2200">
                <a:latin typeface="Times New Roman"/>
                <a:ea typeface="Times New Roman"/>
                <a:cs typeface="Times New Roman"/>
                <a:sym typeface="Times New Roman"/>
              </a:rPr>
              <a:t>pd.DataFrame(point_estimates).hist()</a:t>
            </a:r>
            <a:endParaRPr/>
          </a:p>
          <a:p>
            <a:pPr indent="0" lvl="0" marL="0" rtl="0" algn="l">
              <a:spcBef>
                <a:spcPts val="440"/>
              </a:spcBef>
              <a:spcAft>
                <a:spcPts val="0"/>
              </a:spcAft>
              <a:buClr>
                <a:schemeClr val="dk1"/>
              </a:buClr>
              <a:buSzPts val="2200"/>
              <a:buNone/>
            </a:pPr>
            <a:r>
              <a:rPr lang="en-US" sz="2200">
                <a:latin typeface="Times New Roman"/>
                <a:ea typeface="Times New Roman"/>
                <a:cs typeface="Times New Roman"/>
                <a:sym typeface="Times New Roman"/>
              </a:rPr>
              <a:t># look at the distribution of our sample means</a:t>
            </a:r>
            <a:endParaRPr/>
          </a:p>
        </p:txBody>
      </p:sp>
      <p:pic>
        <p:nvPicPr>
          <p:cNvPr id="162" name="Google Shape;162;p26"/>
          <p:cNvPicPr preferRelativeResize="0"/>
          <p:nvPr/>
        </p:nvPicPr>
        <p:blipFill rotWithShape="1">
          <a:blip r:embed="rId3">
            <a:alphaModFix/>
          </a:blip>
          <a:srcRect b="0" l="0" r="0" t="0"/>
          <a:stretch/>
        </p:blipFill>
        <p:spPr>
          <a:xfrm>
            <a:off x="1828800" y="3417166"/>
            <a:ext cx="4991100" cy="344083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7"/>
          <p:cNvSpPr txBox="1"/>
          <p:nvPr>
            <p:ph idx="1" type="body"/>
          </p:nvPr>
        </p:nvSpPr>
        <p:spPr>
          <a:xfrm>
            <a:off x="457200" y="304800"/>
            <a:ext cx="8229600" cy="62484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2000"/>
              <a:buChar char="•"/>
            </a:pPr>
            <a:r>
              <a:rPr lang="en-US" sz="2000">
                <a:latin typeface="Times New Roman"/>
                <a:ea typeface="Times New Roman"/>
                <a:cs typeface="Times New Roman"/>
                <a:sym typeface="Times New Roman"/>
              </a:rPr>
              <a:t>Behold! The sampling distribution of the sample mean appears to be normal even though we took data from an underlying bimodal population distribution. </a:t>
            </a:r>
            <a:endParaRPr sz="2000">
              <a:latin typeface="Times New Roman"/>
              <a:ea typeface="Times New Roman"/>
              <a:cs typeface="Times New Roman"/>
              <a:sym typeface="Times New Roman"/>
            </a:endParaRPr>
          </a:p>
          <a:p>
            <a:pPr indent="-342900" lvl="0" marL="342900" rtl="0" algn="just">
              <a:spcBef>
                <a:spcPts val="400"/>
              </a:spcBef>
              <a:spcAft>
                <a:spcPts val="0"/>
              </a:spcAft>
              <a:buClr>
                <a:schemeClr val="dk1"/>
              </a:buClr>
              <a:buSzPts val="2000"/>
              <a:buChar char="•"/>
            </a:pPr>
            <a:r>
              <a:rPr lang="en-US" sz="2000">
                <a:latin typeface="Times New Roman"/>
                <a:ea typeface="Times New Roman"/>
                <a:cs typeface="Times New Roman"/>
                <a:sym typeface="Times New Roman"/>
              </a:rPr>
              <a:t>It is important to note that the bars in this histogram represent the average break length of 500 samples of employees, where each sample has 100 people in it. In other words, a sampling distribution is a distribution of several point estimates.</a:t>
            </a:r>
            <a:endParaRPr/>
          </a:p>
          <a:p>
            <a:pPr indent="-342900" lvl="0" marL="342900" rtl="0" algn="just">
              <a:spcBef>
                <a:spcPts val="400"/>
              </a:spcBef>
              <a:spcAft>
                <a:spcPts val="0"/>
              </a:spcAft>
              <a:buClr>
                <a:schemeClr val="dk1"/>
              </a:buClr>
              <a:buSzPts val="2000"/>
              <a:buChar char="•"/>
            </a:pPr>
            <a:r>
              <a:rPr lang="en-US" sz="2000">
                <a:latin typeface="Times New Roman"/>
                <a:ea typeface="Times New Roman"/>
                <a:cs typeface="Times New Roman"/>
                <a:sym typeface="Times New Roman"/>
              </a:rPr>
              <a:t>Our data converged to a normal distribution because of something called the </a:t>
            </a:r>
            <a:r>
              <a:rPr b="1" lang="en-US" sz="2000">
                <a:latin typeface="Times New Roman"/>
                <a:ea typeface="Times New Roman"/>
                <a:cs typeface="Times New Roman"/>
                <a:sym typeface="Times New Roman"/>
              </a:rPr>
              <a:t>central limit theorem</a:t>
            </a:r>
            <a:r>
              <a:rPr lang="en-US" sz="2000">
                <a:latin typeface="Times New Roman"/>
                <a:ea typeface="Times New Roman"/>
                <a:cs typeface="Times New Roman"/>
                <a:sym typeface="Times New Roman"/>
              </a:rPr>
              <a:t>, which states that the sampling distribution (the distribution of point estimates) will approach a normal distribution as we increase the number of samples taken.</a:t>
            </a:r>
            <a:endParaRPr/>
          </a:p>
          <a:p>
            <a:pPr indent="-342900" lvl="0" marL="342900" rtl="0" algn="just">
              <a:spcBef>
                <a:spcPts val="400"/>
              </a:spcBef>
              <a:spcAft>
                <a:spcPts val="0"/>
              </a:spcAft>
              <a:buClr>
                <a:schemeClr val="dk1"/>
              </a:buClr>
              <a:buSzPts val="2000"/>
              <a:buChar char="•"/>
            </a:pPr>
            <a:r>
              <a:rPr lang="en-US" sz="2000">
                <a:latin typeface="Times New Roman"/>
                <a:ea typeface="Times New Roman"/>
                <a:cs typeface="Times New Roman"/>
                <a:sym typeface="Times New Roman"/>
              </a:rPr>
              <a:t>What's more, as we take more and more samples, the mean of the sampling distribution will approach the true population mean, as shown:</a:t>
            </a:r>
            <a:endParaRPr/>
          </a:p>
          <a:p>
            <a:pPr indent="0" lvl="2" marL="800100" rtl="0" algn="just">
              <a:spcBef>
                <a:spcPts val="400"/>
              </a:spcBef>
              <a:spcAft>
                <a:spcPts val="0"/>
              </a:spcAft>
              <a:buClr>
                <a:schemeClr val="dk1"/>
              </a:buClr>
              <a:buSzPts val="2000"/>
              <a:buNone/>
            </a:pPr>
            <a:r>
              <a:rPr lang="en-US" sz="2000">
                <a:latin typeface="Times New Roman"/>
                <a:ea typeface="Times New Roman"/>
                <a:cs typeface="Times New Roman"/>
                <a:sym typeface="Times New Roman"/>
              </a:rPr>
              <a:t>breaks.mean() - np.array(point_estimates).mean()</a:t>
            </a:r>
            <a:endParaRPr/>
          </a:p>
          <a:p>
            <a:pPr indent="0" lvl="2" marL="800100" rtl="0" algn="just">
              <a:spcBef>
                <a:spcPts val="400"/>
              </a:spcBef>
              <a:spcAft>
                <a:spcPts val="0"/>
              </a:spcAft>
              <a:buClr>
                <a:schemeClr val="dk1"/>
              </a:buClr>
              <a:buSzPts val="2000"/>
              <a:buNone/>
            </a:pPr>
            <a:r>
              <a:rPr lang="en-US" sz="2000">
                <a:latin typeface="Times New Roman"/>
                <a:ea typeface="Times New Roman"/>
                <a:cs typeface="Times New Roman"/>
                <a:sym typeface="Times New Roman"/>
              </a:rPr>
              <a:t># .047 minutes difference</a:t>
            </a:r>
            <a:endParaRPr/>
          </a:p>
          <a:p>
            <a:pPr indent="-342900" lvl="0" marL="342900" rtl="0" algn="just">
              <a:spcBef>
                <a:spcPts val="400"/>
              </a:spcBef>
              <a:spcAft>
                <a:spcPts val="0"/>
              </a:spcAft>
              <a:buClr>
                <a:schemeClr val="dk1"/>
              </a:buClr>
              <a:buSzPts val="2000"/>
              <a:buChar char="•"/>
            </a:pPr>
            <a:r>
              <a:rPr lang="en-US" sz="2000">
                <a:latin typeface="Times New Roman"/>
                <a:ea typeface="Times New Roman"/>
                <a:cs typeface="Times New Roman"/>
                <a:sym typeface="Times New Roman"/>
              </a:rPr>
              <a:t>This is actually a very exciting result because it means that we can get even closer than a single point estimate by taking multiple point estimates and utilizing the central limit theorem!</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Times New Roman"/>
              <a:buNone/>
            </a:pPr>
            <a:r>
              <a:rPr b="1" lang="en-US">
                <a:latin typeface="Times New Roman"/>
                <a:ea typeface="Times New Roman"/>
                <a:cs typeface="Times New Roman"/>
                <a:sym typeface="Times New Roman"/>
              </a:rPr>
              <a:t>Confidence Intervalso</a:t>
            </a:r>
            <a:endParaRPr>
              <a:latin typeface="Times New Roman"/>
              <a:ea typeface="Times New Roman"/>
              <a:cs typeface="Times New Roman"/>
              <a:sym typeface="Times New Roman"/>
            </a:endParaRPr>
          </a:p>
        </p:txBody>
      </p:sp>
      <p:sp>
        <p:nvSpPr>
          <p:cNvPr id="173" name="Google Shape;173;p28"/>
          <p:cNvSpPr txBox="1"/>
          <p:nvPr>
            <p:ph idx="1" type="body"/>
          </p:nvPr>
        </p:nvSpPr>
        <p:spPr>
          <a:xfrm>
            <a:off x="3502519" y="-3840446"/>
            <a:ext cx="6063300" cy="41151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2200"/>
              <a:buAutoNum type="arabicPeriod"/>
            </a:pPr>
            <a:r>
              <a:rPr lang="en-US" sz="2200">
                <a:latin typeface="Times New Roman"/>
                <a:ea typeface="Times New Roman"/>
                <a:cs typeface="Times New Roman"/>
                <a:sym typeface="Times New Roman"/>
              </a:rPr>
              <a:t>While point estimates are okay estimates of a population parameter and sampling distributions are even better, there are the following two main issues with these approaches:</a:t>
            </a:r>
            <a:endParaRPr/>
          </a:p>
          <a:p>
            <a:pPr indent="-457200" lvl="1" marL="857250" rtl="0" algn="just">
              <a:spcBef>
                <a:spcPts val="440"/>
              </a:spcBef>
              <a:spcAft>
                <a:spcPts val="0"/>
              </a:spcAft>
              <a:buClr>
                <a:schemeClr val="dk1"/>
              </a:buClr>
              <a:buSzPts val="2200"/>
              <a:buFont typeface="Noto Sans Symbols"/>
              <a:buChar char="✔"/>
            </a:pPr>
            <a:r>
              <a:rPr lang="en-US" sz="2200">
                <a:latin typeface="Times New Roman"/>
                <a:ea typeface="Times New Roman"/>
                <a:cs typeface="Times New Roman"/>
                <a:sym typeface="Times New Roman"/>
              </a:rPr>
              <a:t>Single point estimates are very prone to error (due to sampling bias among other things)</a:t>
            </a:r>
            <a:endParaRPr/>
          </a:p>
          <a:p>
            <a:pPr indent="-368300" lvl="0" marL="342900" rtl="0" algn="just">
              <a:spcBef>
                <a:spcPts val="440"/>
              </a:spcBef>
              <a:spcAft>
                <a:spcPts val="0"/>
              </a:spcAft>
              <a:buClr>
                <a:schemeClr val="dk1"/>
              </a:buClr>
              <a:buSzPts val="2200"/>
              <a:buFont typeface="Noto Sans Symbols"/>
              <a:buAutoNum type="arabicPeriod"/>
            </a:pPr>
            <a:r>
              <a:rPr lang="en-US" sz="2200">
                <a:latin typeface="Times New Roman"/>
                <a:ea typeface="Times New Roman"/>
                <a:cs typeface="Times New Roman"/>
                <a:sym typeface="Times New Roman"/>
              </a:rPr>
              <a:t>Taking multiple samples of a certain size for sampling distributions might not be feasible, and may sometimes be even more infeasible than actually finding the population parameter</a:t>
            </a:r>
            <a:endParaRPr/>
          </a:p>
          <a:p>
            <a:pPr indent="-311150" lvl="1" marL="742950" rtl="0" algn="just">
              <a:spcBef>
                <a:spcPts val="440"/>
              </a:spcBef>
              <a:spcAft>
                <a:spcPts val="0"/>
              </a:spcAft>
              <a:buClr>
                <a:schemeClr val="dk1"/>
              </a:buClr>
              <a:buSzPts val="2200"/>
              <a:buChar char="✔"/>
            </a:pPr>
            <a:r>
              <a:rPr lang="en-US" sz="2200">
                <a:latin typeface="Times New Roman"/>
                <a:ea typeface="Times New Roman"/>
                <a:cs typeface="Times New Roman"/>
                <a:sym typeface="Times New Roman"/>
              </a:rPr>
              <a:t>For these reasons and more, we may </a:t>
            </a:r>
            <a:r>
              <a:rPr lang="en-US" sz="2200">
                <a:latin typeface="Times New Roman"/>
                <a:ea typeface="Times New Roman"/>
                <a:cs typeface="Times New Roman"/>
                <a:sym typeface="Times New Roman"/>
              </a:rPr>
              <a:t>TURNP0 of</a:t>
            </a:r>
            <a:r>
              <a:rPr lang="en-US" sz="2200">
                <a:latin typeface="Times New Roman"/>
                <a:ea typeface="Times New Roman"/>
                <a:cs typeface="Times New Roman"/>
                <a:sym typeface="Times New Roman"/>
              </a:rPr>
              <a:t> to a concept, known as confidence interval, to find statistics.</a:t>
            </a:r>
            <a:endParaRPr/>
          </a:p>
          <a:p>
            <a:pPr indent="-342900" lvl="0" marL="342900" rtl="0" algn="just">
              <a:spcBef>
                <a:spcPts val="440"/>
              </a:spcBef>
              <a:spcAft>
                <a:spcPts val="0"/>
              </a:spcAft>
              <a:buClr>
                <a:schemeClr val="dk1"/>
              </a:buClr>
              <a:buSzPts val="2200"/>
              <a:buAutoNum type="arabicPeriod"/>
            </a:pPr>
            <a:r>
              <a:rPr lang="en-US" sz="2200">
                <a:latin typeface="Times New Roman"/>
                <a:ea typeface="Times New Roman"/>
                <a:cs typeface="Times New Roman"/>
                <a:sym typeface="Times New Roman"/>
              </a:rPr>
              <a:t>A </a:t>
            </a:r>
            <a:r>
              <a:rPr b="1" lang="en-US" sz="2200">
                <a:latin typeface="Times New Roman"/>
                <a:ea typeface="Times New Roman"/>
                <a:cs typeface="Times New Roman"/>
                <a:sym typeface="Times New Roman"/>
              </a:rPr>
              <a:t>confidence interval </a:t>
            </a:r>
            <a:r>
              <a:rPr lang="en-US" sz="2200">
                <a:latin typeface="Times New Roman"/>
                <a:ea typeface="Times New Roman"/>
                <a:cs typeface="Times New Roman"/>
                <a:sym typeface="Times New Roman"/>
              </a:rPr>
              <a:t>is a range of values based on a point estimate that contains the true population parameter at some confidence level.</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9"/>
          <p:cNvSpPr txBox="1"/>
          <p:nvPr>
            <p:ph idx="1" type="body"/>
          </p:nvPr>
        </p:nvSpPr>
        <p:spPr>
          <a:xfrm>
            <a:off x="228600" y="304800"/>
            <a:ext cx="8686800" cy="64008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1800"/>
              <a:buChar char="•"/>
            </a:pPr>
            <a:r>
              <a:rPr b="1" lang="en-US" sz="1800">
                <a:latin typeface="Times New Roman"/>
                <a:ea typeface="Times New Roman"/>
                <a:cs typeface="Times New Roman"/>
                <a:sym typeface="Times New Roman"/>
              </a:rPr>
              <a:t>Confidence </a:t>
            </a:r>
            <a:r>
              <a:rPr lang="en-US" sz="1800">
                <a:latin typeface="Times New Roman"/>
                <a:ea typeface="Times New Roman"/>
                <a:cs typeface="Times New Roman"/>
                <a:sym typeface="Times New Roman"/>
              </a:rPr>
              <a:t>is an important concept in advanced statistics. Its meaning is sometimes misconstrued. </a:t>
            </a:r>
            <a:endParaRPr sz="1800">
              <a:latin typeface="Times New Roman"/>
              <a:ea typeface="Times New Roman"/>
              <a:cs typeface="Times New Roman"/>
              <a:sym typeface="Times New Roman"/>
            </a:endParaRPr>
          </a:p>
          <a:p>
            <a:pPr indent="-342900" lvl="0" marL="342900" rtl="0" algn="just">
              <a:spcBef>
                <a:spcPts val="360"/>
              </a:spcBef>
              <a:spcAft>
                <a:spcPts val="0"/>
              </a:spcAft>
              <a:buClr>
                <a:schemeClr val="dk1"/>
              </a:buClr>
              <a:buSzPts val="1800"/>
              <a:buChar char="•"/>
            </a:pPr>
            <a:r>
              <a:rPr lang="en-US" sz="1800">
                <a:latin typeface="Times New Roman"/>
                <a:ea typeface="Times New Roman"/>
                <a:cs typeface="Times New Roman"/>
                <a:sym typeface="Times New Roman"/>
              </a:rPr>
              <a:t>Informally, a confidence level does </a:t>
            </a:r>
            <a:r>
              <a:rPr i="1" lang="en-US" sz="1800">
                <a:latin typeface="Times New Roman"/>
                <a:ea typeface="Times New Roman"/>
                <a:cs typeface="Times New Roman"/>
                <a:sym typeface="Times New Roman"/>
              </a:rPr>
              <a:t>not </a:t>
            </a:r>
            <a:r>
              <a:rPr lang="en-US" sz="1800">
                <a:latin typeface="Times New Roman"/>
                <a:ea typeface="Times New Roman"/>
                <a:cs typeface="Times New Roman"/>
                <a:sym typeface="Times New Roman"/>
              </a:rPr>
              <a:t>represent a "probability of being correct"; instead, it represents the frequency that the obtained answer will be accurate. For example, if you want to have a 95% chance of capturing the true population parameter using only a single point estimate, we would have to set our confidence level to 95%.</a:t>
            </a:r>
            <a:endParaRPr/>
          </a:p>
          <a:p>
            <a:pPr indent="-342900" lvl="0" marL="342900" rtl="0" algn="just">
              <a:spcBef>
                <a:spcPts val="360"/>
              </a:spcBef>
              <a:spcAft>
                <a:spcPts val="0"/>
              </a:spcAft>
              <a:buClr>
                <a:schemeClr val="dk1"/>
              </a:buClr>
              <a:buSzPts val="1800"/>
              <a:buChar char="•"/>
            </a:pPr>
            <a:r>
              <a:rPr lang="en-US" sz="1800">
                <a:latin typeface="Times New Roman"/>
                <a:ea typeface="Times New Roman"/>
                <a:cs typeface="Times New Roman"/>
                <a:sym typeface="Times New Roman"/>
              </a:rPr>
              <a:t>Calculating a confidence interval involves finding a point estimate, and then, incorporating a margin of error to create a range. The </a:t>
            </a:r>
            <a:r>
              <a:rPr b="1" lang="en-US" sz="1800">
                <a:latin typeface="Times New Roman"/>
                <a:ea typeface="Times New Roman"/>
                <a:cs typeface="Times New Roman"/>
                <a:sym typeface="Times New Roman"/>
              </a:rPr>
              <a:t>margin of error </a:t>
            </a:r>
            <a:r>
              <a:rPr lang="en-US" sz="1800">
                <a:latin typeface="Times New Roman"/>
                <a:ea typeface="Times New Roman"/>
                <a:cs typeface="Times New Roman"/>
                <a:sym typeface="Times New Roman"/>
              </a:rPr>
              <a:t>is a value that represents our certainty that our point estimate is accurate and is based on our desired confidence level, the variance of the data, and how big your sample is.</a:t>
            </a:r>
            <a:endParaRPr/>
          </a:p>
          <a:p>
            <a:pPr indent="-342900" lvl="0" marL="342900" rtl="0" algn="just">
              <a:spcBef>
                <a:spcPts val="360"/>
              </a:spcBef>
              <a:spcAft>
                <a:spcPts val="0"/>
              </a:spcAft>
              <a:buClr>
                <a:schemeClr val="dk1"/>
              </a:buClr>
              <a:buSzPts val="1800"/>
              <a:buChar char="•"/>
            </a:pPr>
            <a:r>
              <a:rPr lang="en-US" sz="1800">
                <a:latin typeface="Times New Roman"/>
                <a:ea typeface="Times New Roman"/>
                <a:cs typeface="Times New Roman"/>
                <a:sym typeface="Times New Roman"/>
              </a:rPr>
              <a:t>There are many ways to calculate confidence intervals; for the purpose of brevity and simplicity, we will look at a single way of taking the confidence interval of a population mean. For this confidence interval, we need the following:</a:t>
            </a:r>
            <a:endParaRPr/>
          </a:p>
          <a:p>
            <a:pPr indent="0" lvl="1" marL="400050" rtl="0" algn="just">
              <a:spcBef>
                <a:spcPts val="360"/>
              </a:spcBef>
              <a:spcAft>
                <a:spcPts val="0"/>
              </a:spcAft>
              <a:buClr>
                <a:schemeClr val="dk1"/>
              </a:buClr>
              <a:buSzPts val="1800"/>
              <a:buNone/>
            </a:pPr>
            <a:r>
              <a:rPr lang="en-US" sz="1800">
                <a:latin typeface="Times New Roman"/>
                <a:ea typeface="Times New Roman"/>
                <a:cs typeface="Times New Roman"/>
                <a:sym typeface="Times New Roman"/>
              </a:rPr>
              <a:t>• A point estimate. For this, we will take our sample mean of break lengths from our previous example.</a:t>
            </a:r>
            <a:endParaRPr/>
          </a:p>
          <a:p>
            <a:pPr indent="0" lvl="1" marL="400050" rtl="0" algn="just">
              <a:spcBef>
                <a:spcPts val="360"/>
              </a:spcBef>
              <a:spcAft>
                <a:spcPts val="0"/>
              </a:spcAft>
              <a:buClr>
                <a:schemeClr val="dk1"/>
              </a:buClr>
              <a:buSzPts val="1800"/>
              <a:buNone/>
            </a:pPr>
            <a:r>
              <a:rPr lang="en-US" sz="1800">
                <a:latin typeface="Times New Roman"/>
                <a:ea typeface="Times New Roman"/>
                <a:cs typeface="Times New Roman"/>
                <a:sym typeface="Times New Roman"/>
              </a:rPr>
              <a:t>• An estimate of the population standard deviation, which represents the variance in the data.</a:t>
            </a:r>
            <a:endParaRPr/>
          </a:p>
          <a:p>
            <a:pPr indent="-114300" lvl="1" marL="857250" rtl="0" algn="just">
              <a:spcBef>
                <a:spcPts val="360"/>
              </a:spcBef>
              <a:spcAft>
                <a:spcPts val="0"/>
              </a:spcAft>
              <a:buClr>
                <a:schemeClr val="dk1"/>
              </a:buClr>
              <a:buSzPts val="1800"/>
              <a:buChar char="–"/>
            </a:pPr>
            <a:r>
              <a:rPr lang="en-US" sz="1800">
                <a:latin typeface="Times New Roman"/>
                <a:ea typeface="Times New Roman"/>
                <a:cs typeface="Times New Roman"/>
                <a:sym typeface="Times New Roman"/>
              </a:rPr>
              <a:t> This is calculated by taking the sample standard deviation (the standard deviation of the sample data) and dividing that number by the square root of the population size.</a:t>
            </a:r>
            <a:endParaRPr/>
          </a:p>
          <a:p>
            <a:pPr indent="0" lvl="1" marL="400050" rtl="0" algn="just">
              <a:spcBef>
                <a:spcPts val="360"/>
              </a:spcBef>
              <a:spcAft>
                <a:spcPts val="0"/>
              </a:spcAft>
              <a:buClr>
                <a:schemeClr val="dk1"/>
              </a:buClr>
              <a:buSzPts val="1800"/>
              <a:buNone/>
            </a:pPr>
            <a:r>
              <a:rPr lang="en-US" sz="1800">
                <a:latin typeface="Times New Roman"/>
                <a:ea typeface="Times New Roman"/>
                <a:cs typeface="Times New Roman"/>
                <a:sym typeface="Times New Roman"/>
              </a:rPr>
              <a:t>• The degrees of freedom (which is the -1 sample size).</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30"/>
          <p:cNvSpPr txBox="1"/>
          <p:nvPr>
            <p:ph idx="1" type="body"/>
          </p:nvPr>
        </p:nvSpPr>
        <p:spPr>
          <a:xfrm>
            <a:off x="304800" y="228600"/>
            <a:ext cx="8610600" cy="6400800"/>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just">
              <a:spcBef>
                <a:spcPts val="0"/>
              </a:spcBef>
              <a:spcAft>
                <a:spcPts val="0"/>
              </a:spcAft>
              <a:buClr>
                <a:schemeClr val="dk1"/>
              </a:buClr>
              <a:buSzPct val="100000"/>
              <a:buChar char="•"/>
            </a:pPr>
            <a:r>
              <a:rPr lang="en-US" sz="2200">
                <a:latin typeface="Times New Roman"/>
                <a:ea typeface="Times New Roman"/>
                <a:cs typeface="Times New Roman"/>
                <a:sym typeface="Times New Roman"/>
              </a:rPr>
              <a:t>Obtaining these numbers might seem arbitrary but, trust me, there is a reason for all of them. However, again for simplicity, I will use prebuilt Python modules, as shown, to calculate our confidence interval and, then, demonstrate its value:</a:t>
            </a:r>
            <a:endParaRPr/>
          </a:p>
          <a:p>
            <a:pPr indent="0" lvl="1" marL="400050" rtl="0" algn="just">
              <a:spcBef>
                <a:spcPts val="407"/>
              </a:spcBef>
              <a:spcAft>
                <a:spcPts val="0"/>
              </a:spcAft>
              <a:buClr>
                <a:schemeClr val="dk1"/>
              </a:buClr>
              <a:buSzPct val="100000"/>
              <a:buNone/>
            </a:pPr>
            <a:r>
              <a:t/>
            </a:r>
            <a:endParaRPr sz="2200">
              <a:latin typeface="Times New Roman"/>
              <a:ea typeface="Times New Roman"/>
              <a:cs typeface="Times New Roman"/>
              <a:sym typeface="Times New Roman"/>
            </a:endParaRPr>
          </a:p>
          <a:p>
            <a:pPr indent="0" lvl="1" marL="400050" rtl="0" algn="just">
              <a:spcBef>
                <a:spcPts val="407"/>
              </a:spcBef>
              <a:spcAft>
                <a:spcPts val="0"/>
              </a:spcAft>
              <a:buClr>
                <a:schemeClr val="dk1"/>
              </a:buClr>
              <a:buSzPct val="100000"/>
              <a:buNone/>
            </a:pPr>
            <a:r>
              <a:rPr lang="en-US" sz="2200">
                <a:latin typeface="Times New Roman"/>
                <a:ea typeface="Times New Roman"/>
                <a:cs typeface="Times New Roman"/>
                <a:sym typeface="Times New Roman"/>
              </a:rPr>
              <a:t>sample_size = 100</a:t>
            </a:r>
            <a:endParaRPr/>
          </a:p>
          <a:p>
            <a:pPr indent="0" lvl="1" marL="400050" rtl="0" algn="just">
              <a:spcBef>
                <a:spcPts val="407"/>
              </a:spcBef>
              <a:spcAft>
                <a:spcPts val="0"/>
              </a:spcAft>
              <a:buClr>
                <a:schemeClr val="dk1"/>
              </a:buClr>
              <a:buSzPct val="100000"/>
              <a:buNone/>
            </a:pPr>
            <a:r>
              <a:rPr lang="en-US" sz="2200">
                <a:latin typeface="Times New Roman"/>
                <a:ea typeface="Times New Roman"/>
                <a:cs typeface="Times New Roman"/>
                <a:sym typeface="Times New Roman"/>
              </a:rPr>
              <a:t># the size of the sample we wish to take</a:t>
            </a:r>
            <a:endParaRPr/>
          </a:p>
          <a:p>
            <a:pPr indent="0" lvl="1" marL="400050" rtl="0" algn="just">
              <a:spcBef>
                <a:spcPts val="407"/>
              </a:spcBef>
              <a:spcAft>
                <a:spcPts val="0"/>
              </a:spcAft>
              <a:buClr>
                <a:schemeClr val="dk1"/>
              </a:buClr>
              <a:buSzPct val="100000"/>
              <a:buNone/>
            </a:pPr>
            <a:r>
              <a:rPr lang="en-US" sz="2200">
                <a:latin typeface="Times New Roman"/>
                <a:ea typeface="Times New Roman"/>
                <a:cs typeface="Times New Roman"/>
                <a:sym typeface="Times New Roman"/>
              </a:rPr>
              <a:t>sample = np.random.choice(a= breaks, size = sample_size)</a:t>
            </a:r>
            <a:endParaRPr/>
          </a:p>
          <a:p>
            <a:pPr indent="0" lvl="1" marL="400050" rtl="0" algn="just">
              <a:spcBef>
                <a:spcPts val="407"/>
              </a:spcBef>
              <a:spcAft>
                <a:spcPts val="0"/>
              </a:spcAft>
              <a:buClr>
                <a:schemeClr val="dk1"/>
              </a:buClr>
              <a:buSzPct val="100000"/>
              <a:buNone/>
            </a:pPr>
            <a:r>
              <a:rPr lang="en-US" sz="2200">
                <a:latin typeface="Times New Roman"/>
                <a:ea typeface="Times New Roman"/>
                <a:cs typeface="Times New Roman"/>
                <a:sym typeface="Times New Roman"/>
              </a:rPr>
              <a:t># a sample of sample_size taken from the 9,000 breaks population from before</a:t>
            </a:r>
            <a:endParaRPr sz="2200">
              <a:latin typeface="Times New Roman"/>
              <a:ea typeface="Times New Roman"/>
              <a:cs typeface="Times New Roman"/>
              <a:sym typeface="Times New Roman"/>
            </a:endParaRPr>
          </a:p>
          <a:p>
            <a:pPr indent="0" lvl="1" marL="400050" rtl="0" algn="just">
              <a:spcBef>
                <a:spcPts val="407"/>
              </a:spcBef>
              <a:spcAft>
                <a:spcPts val="0"/>
              </a:spcAft>
              <a:buClr>
                <a:schemeClr val="dk1"/>
              </a:buClr>
              <a:buSzPct val="100000"/>
              <a:buNone/>
            </a:pPr>
            <a:r>
              <a:rPr lang="en-US" sz="2200">
                <a:latin typeface="Times New Roman"/>
                <a:ea typeface="Times New Roman"/>
                <a:cs typeface="Times New Roman"/>
                <a:sym typeface="Times New Roman"/>
              </a:rPr>
              <a:t>sample_mean = sample.mean()</a:t>
            </a:r>
            <a:endParaRPr/>
          </a:p>
          <a:p>
            <a:pPr indent="0" lvl="1" marL="400050" rtl="0" algn="just">
              <a:spcBef>
                <a:spcPts val="407"/>
              </a:spcBef>
              <a:spcAft>
                <a:spcPts val="0"/>
              </a:spcAft>
              <a:buClr>
                <a:schemeClr val="dk1"/>
              </a:buClr>
              <a:buSzPct val="100000"/>
              <a:buNone/>
            </a:pPr>
            <a:r>
              <a:rPr lang="en-US" sz="2200">
                <a:latin typeface="Times New Roman"/>
                <a:ea typeface="Times New Roman"/>
                <a:cs typeface="Times New Roman"/>
                <a:sym typeface="Times New Roman"/>
              </a:rPr>
              <a:t># the sample mean of the break lengths sample</a:t>
            </a:r>
            <a:endParaRPr/>
          </a:p>
          <a:p>
            <a:pPr indent="0" lvl="1" marL="400050" rtl="0" algn="just">
              <a:spcBef>
                <a:spcPts val="407"/>
              </a:spcBef>
              <a:spcAft>
                <a:spcPts val="0"/>
              </a:spcAft>
              <a:buClr>
                <a:schemeClr val="dk1"/>
              </a:buClr>
              <a:buSzPct val="100000"/>
              <a:buNone/>
            </a:pPr>
            <a:r>
              <a:rPr lang="en-US" sz="2200">
                <a:latin typeface="Times New Roman"/>
                <a:ea typeface="Times New Roman"/>
                <a:cs typeface="Times New Roman"/>
                <a:sym typeface="Times New Roman"/>
              </a:rPr>
              <a:t>sample_stdev = sample.std()</a:t>
            </a:r>
            <a:endParaRPr/>
          </a:p>
          <a:p>
            <a:pPr indent="0" lvl="1" marL="400050" rtl="0" algn="just">
              <a:spcBef>
                <a:spcPts val="407"/>
              </a:spcBef>
              <a:spcAft>
                <a:spcPts val="0"/>
              </a:spcAft>
              <a:buClr>
                <a:schemeClr val="dk1"/>
              </a:buClr>
              <a:buSzPct val="100000"/>
              <a:buNone/>
            </a:pPr>
            <a:r>
              <a:rPr lang="en-US" sz="2200">
                <a:latin typeface="Times New Roman"/>
                <a:ea typeface="Times New Roman"/>
                <a:cs typeface="Times New Roman"/>
                <a:sym typeface="Times New Roman"/>
              </a:rPr>
              <a:t># sample standard deviation</a:t>
            </a:r>
            <a:endParaRPr/>
          </a:p>
          <a:p>
            <a:pPr indent="0" lvl="1" marL="400050" rtl="0" algn="just">
              <a:spcBef>
                <a:spcPts val="407"/>
              </a:spcBef>
              <a:spcAft>
                <a:spcPts val="0"/>
              </a:spcAft>
              <a:buClr>
                <a:schemeClr val="dk1"/>
              </a:buClr>
              <a:buSzPct val="100000"/>
              <a:buNone/>
            </a:pPr>
            <a:r>
              <a:rPr lang="en-US" sz="2200">
                <a:latin typeface="Times New Roman"/>
                <a:ea typeface="Times New Roman"/>
                <a:cs typeface="Times New Roman"/>
                <a:sym typeface="Times New Roman"/>
              </a:rPr>
              <a:t>sigma = sample_stdev/math.sqrt(sample_size)</a:t>
            </a:r>
            <a:endParaRPr/>
          </a:p>
          <a:p>
            <a:pPr indent="0" lvl="1" marL="400050" rtl="0" algn="just">
              <a:spcBef>
                <a:spcPts val="407"/>
              </a:spcBef>
              <a:spcAft>
                <a:spcPts val="0"/>
              </a:spcAft>
              <a:buClr>
                <a:schemeClr val="dk1"/>
              </a:buClr>
              <a:buSzPct val="100000"/>
              <a:buNone/>
            </a:pPr>
            <a:r>
              <a:rPr lang="en-US" sz="2200">
                <a:latin typeface="Times New Roman"/>
                <a:ea typeface="Times New Roman"/>
                <a:cs typeface="Times New Roman"/>
                <a:sym typeface="Times New Roman"/>
              </a:rPr>
              <a:t># population standard deviation estimate</a:t>
            </a:r>
            <a:endParaRPr/>
          </a:p>
          <a:p>
            <a:pPr indent="0" lvl="1" marL="400050" rtl="0" algn="just">
              <a:spcBef>
                <a:spcPts val="407"/>
              </a:spcBef>
              <a:spcAft>
                <a:spcPts val="0"/>
              </a:spcAft>
              <a:buClr>
                <a:schemeClr val="dk1"/>
              </a:buClr>
              <a:buSzPct val="100000"/>
              <a:buNone/>
            </a:pPr>
            <a:r>
              <a:rPr lang="en-US" sz="2200">
                <a:latin typeface="Times New Roman"/>
                <a:ea typeface="Times New Roman"/>
                <a:cs typeface="Times New Roman"/>
                <a:sym typeface="Times New Roman"/>
              </a:rPr>
              <a:t>stats.t.interval(alpha = 0.95, # Confidence level 95%</a:t>
            </a:r>
            <a:endParaRPr/>
          </a:p>
          <a:p>
            <a:pPr indent="0" lvl="1" marL="400050" rtl="0" algn="just">
              <a:spcBef>
                <a:spcPts val="407"/>
              </a:spcBef>
              <a:spcAft>
                <a:spcPts val="0"/>
              </a:spcAft>
              <a:buClr>
                <a:schemeClr val="dk1"/>
              </a:buClr>
              <a:buSzPct val="100000"/>
              <a:buNone/>
            </a:pPr>
            <a:r>
              <a:rPr lang="en-US" sz="2200">
                <a:latin typeface="Times New Roman"/>
                <a:ea typeface="Times New Roman"/>
                <a:cs typeface="Times New Roman"/>
                <a:sym typeface="Times New Roman"/>
              </a:rPr>
              <a:t>df= sample_size - 1, # Degrees of freedom</a:t>
            </a:r>
            <a:endParaRPr/>
          </a:p>
          <a:p>
            <a:pPr indent="0" lvl="1" marL="400050" rtl="0" algn="just">
              <a:spcBef>
                <a:spcPts val="407"/>
              </a:spcBef>
              <a:spcAft>
                <a:spcPts val="0"/>
              </a:spcAft>
              <a:buClr>
                <a:schemeClr val="dk1"/>
              </a:buClr>
              <a:buSzPct val="100000"/>
              <a:buNone/>
            </a:pPr>
            <a:r>
              <a:rPr lang="en-US" sz="2200">
                <a:latin typeface="Times New Roman"/>
                <a:ea typeface="Times New Roman"/>
                <a:cs typeface="Times New Roman"/>
                <a:sym typeface="Times New Roman"/>
              </a:rPr>
              <a:t>loc = sample_mean, # Sample mean</a:t>
            </a:r>
            <a:endParaRPr/>
          </a:p>
          <a:p>
            <a:pPr indent="0" lvl="1" marL="400050" rtl="0" algn="just">
              <a:spcBef>
                <a:spcPts val="407"/>
              </a:spcBef>
              <a:spcAft>
                <a:spcPts val="0"/>
              </a:spcAft>
              <a:buClr>
                <a:schemeClr val="dk1"/>
              </a:buClr>
              <a:buSzPct val="100000"/>
              <a:buNone/>
            </a:pPr>
            <a:r>
              <a:rPr lang="en-US" sz="2200">
                <a:latin typeface="Times New Roman"/>
                <a:ea typeface="Times New Roman"/>
                <a:cs typeface="Times New Roman"/>
                <a:sym typeface="Times New Roman"/>
              </a:rPr>
              <a:t>scale = sigma) # Standard deviation</a:t>
            </a:r>
            <a:endParaRPr/>
          </a:p>
          <a:p>
            <a:pPr indent="0" lvl="1" marL="400050" rtl="0" algn="just">
              <a:spcBef>
                <a:spcPts val="407"/>
              </a:spcBef>
              <a:spcAft>
                <a:spcPts val="0"/>
              </a:spcAft>
              <a:buClr>
                <a:schemeClr val="dk1"/>
              </a:buClr>
              <a:buSzPct val="100000"/>
              <a:buNone/>
            </a:pPr>
            <a:r>
              <a:rPr lang="en-US" sz="2200">
                <a:latin typeface="Times New Roman"/>
                <a:ea typeface="Times New Roman"/>
                <a:cs typeface="Times New Roman"/>
                <a:sym typeface="Times New Roman"/>
              </a:rPr>
              <a:t># (36.36, 45.44)</a:t>
            </a:r>
            <a:endParaRPr sz="2200">
              <a:latin typeface="Times New Roman"/>
              <a:ea typeface="Times New Roman"/>
              <a:cs typeface="Times New Roman"/>
              <a:sym typeface="Times New Roman"/>
            </a:endParaRPr>
          </a:p>
          <a:p>
            <a:pPr indent="-213677" lvl="0" marL="342900" rtl="0" algn="just">
              <a:spcBef>
                <a:spcPts val="407"/>
              </a:spcBef>
              <a:spcAft>
                <a:spcPts val="0"/>
              </a:spcAft>
              <a:buClr>
                <a:schemeClr val="dk1"/>
              </a:buClr>
              <a:buSzPct val="100000"/>
              <a:buNone/>
            </a:pPr>
            <a:r>
              <a:t/>
            </a:r>
            <a:endParaRPr sz="2200">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1"/>
          <p:cNvSpPr txBox="1"/>
          <p:nvPr>
            <p:ph idx="1" type="body"/>
          </p:nvPr>
        </p:nvSpPr>
        <p:spPr>
          <a:xfrm>
            <a:off x="457200" y="381000"/>
            <a:ext cx="8229600" cy="6096000"/>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2400"/>
              <a:buChar char="•"/>
            </a:pPr>
            <a:r>
              <a:rPr lang="en-US" sz="2400">
                <a:latin typeface="Times New Roman"/>
                <a:ea typeface="Times New Roman"/>
                <a:cs typeface="Times New Roman"/>
                <a:sym typeface="Times New Roman"/>
              </a:rPr>
              <a:t>To reiterate, this range of values (from 36.36 to 45.44) represents a confidence interval for the average break time with a 95% confidence.</a:t>
            </a:r>
            <a:endParaRPr/>
          </a:p>
          <a:p>
            <a:pPr indent="-342900" lvl="0" marL="342900" rtl="0" algn="just">
              <a:spcBef>
                <a:spcPts val="480"/>
              </a:spcBef>
              <a:spcAft>
                <a:spcPts val="0"/>
              </a:spcAft>
              <a:buClr>
                <a:schemeClr val="dk1"/>
              </a:buClr>
              <a:buSzPts val="2400"/>
              <a:buChar char="•"/>
            </a:pPr>
            <a:r>
              <a:rPr lang="en-US" sz="2400">
                <a:latin typeface="Times New Roman"/>
                <a:ea typeface="Times New Roman"/>
                <a:cs typeface="Times New Roman"/>
                <a:sym typeface="Times New Roman"/>
              </a:rPr>
              <a:t>We already know that our population parameter is 39,99, and note that the interval includes the population mean of 39.99.</a:t>
            </a:r>
            <a:endParaRPr/>
          </a:p>
          <a:p>
            <a:pPr indent="-342900" lvl="0" marL="342900" rtl="0" algn="just">
              <a:spcBef>
                <a:spcPts val="480"/>
              </a:spcBef>
              <a:spcAft>
                <a:spcPts val="0"/>
              </a:spcAft>
              <a:buClr>
                <a:schemeClr val="dk1"/>
              </a:buClr>
              <a:buSzPts val="2400"/>
              <a:buChar char="•"/>
            </a:pPr>
            <a:r>
              <a:rPr lang="en-US" sz="2400">
                <a:latin typeface="Times New Roman"/>
                <a:ea typeface="Times New Roman"/>
                <a:cs typeface="Times New Roman"/>
                <a:sym typeface="Times New Roman"/>
              </a:rPr>
              <a:t>I mentioned earlier that the confidence level was not a percentage of accuracy of our interval but the percent chance that the interval would even contain the population parameter at all.</a:t>
            </a:r>
            <a:endParaRPr/>
          </a:p>
          <a:p>
            <a:pPr indent="-342900" lvl="0" marL="342900" rtl="0" algn="just">
              <a:spcBef>
                <a:spcPts val="480"/>
              </a:spcBef>
              <a:spcAft>
                <a:spcPts val="0"/>
              </a:spcAft>
              <a:buClr>
                <a:schemeClr val="dk1"/>
              </a:buClr>
              <a:buSzPts val="2400"/>
              <a:buChar char="•"/>
            </a:pPr>
            <a:r>
              <a:rPr lang="en-US" sz="2400">
                <a:latin typeface="Times New Roman"/>
                <a:ea typeface="Times New Roman"/>
                <a:cs typeface="Times New Roman"/>
                <a:sym typeface="Times New Roman"/>
              </a:rPr>
              <a:t>To better understand the confidence level, let's take 10,000 confidence intervals and see how often our population mean falls in the interval. First, let's make a function, as illustrated, that makes a single confidence interval from our breaks data:</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2"/>
          <p:cNvSpPr txBox="1"/>
          <p:nvPr>
            <p:ph idx="1" type="body"/>
          </p:nvPr>
        </p:nvSpPr>
        <p:spPr>
          <a:xfrm>
            <a:off x="457200" y="457200"/>
            <a:ext cx="8229600" cy="5668963"/>
          </a:xfrm>
          <a:prstGeom prst="rect">
            <a:avLst/>
          </a:prstGeom>
          <a:noFill/>
          <a:ln>
            <a:noFill/>
          </a:ln>
        </p:spPr>
        <p:txBody>
          <a:bodyPr anchorCtr="0" anchor="t" bIns="45700" lIns="91425" spcFirstLastPara="1" rIns="91425" wrap="square" tIns="45700">
            <a:normAutofit fontScale="85000" lnSpcReduction="20000"/>
          </a:bodyPr>
          <a:lstStyle/>
          <a:p>
            <a:pPr indent="0" lvl="0" marL="0" rtl="0" algn="l">
              <a:spcBef>
                <a:spcPts val="0"/>
              </a:spcBef>
              <a:spcAft>
                <a:spcPts val="0"/>
              </a:spcAft>
              <a:buClr>
                <a:schemeClr val="dk1"/>
              </a:buClr>
              <a:buSzPct val="100000"/>
              <a:buNone/>
            </a:pPr>
            <a:r>
              <a:rPr lang="en-US">
                <a:latin typeface="Times New Roman"/>
                <a:ea typeface="Times New Roman"/>
                <a:cs typeface="Times New Roman"/>
                <a:sym typeface="Times New Roman"/>
              </a:rPr>
              <a:t># function to make confidence interval</a:t>
            </a:r>
            <a:endParaRPr/>
          </a:p>
          <a:p>
            <a:pPr indent="0" lvl="0" marL="0" rtl="0" algn="l">
              <a:spcBef>
                <a:spcPts val="544"/>
              </a:spcBef>
              <a:spcAft>
                <a:spcPts val="0"/>
              </a:spcAft>
              <a:buClr>
                <a:schemeClr val="dk1"/>
              </a:buClr>
              <a:buSzPct val="100000"/>
              <a:buNone/>
            </a:pPr>
            <a:r>
              <a:rPr lang="en-US">
                <a:latin typeface="Times New Roman"/>
                <a:ea typeface="Times New Roman"/>
                <a:cs typeface="Times New Roman"/>
                <a:sym typeface="Times New Roman"/>
              </a:rPr>
              <a:t>def makeConfidenceInterval():</a:t>
            </a:r>
            <a:endParaRPr/>
          </a:p>
          <a:p>
            <a:pPr indent="0" lvl="0" marL="0" rtl="0" algn="l">
              <a:spcBef>
                <a:spcPts val="544"/>
              </a:spcBef>
              <a:spcAft>
                <a:spcPts val="0"/>
              </a:spcAft>
              <a:buClr>
                <a:schemeClr val="dk1"/>
              </a:buClr>
              <a:buSzPct val="100000"/>
              <a:buNone/>
            </a:pPr>
            <a:r>
              <a:rPr lang="en-US">
                <a:latin typeface="Times New Roman"/>
                <a:ea typeface="Times New Roman"/>
                <a:cs typeface="Times New Roman"/>
                <a:sym typeface="Times New Roman"/>
              </a:rPr>
              <a:t>sample_size = 100</a:t>
            </a:r>
            <a:endParaRPr/>
          </a:p>
          <a:p>
            <a:pPr indent="0" lvl="0" marL="0" rtl="0" algn="l">
              <a:spcBef>
                <a:spcPts val="544"/>
              </a:spcBef>
              <a:spcAft>
                <a:spcPts val="0"/>
              </a:spcAft>
              <a:buClr>
                <a:schemeClr val="dk1"/>
              </a:buClr>
              <a:buSzPct val="100000"/>
              <a:buNone/>
            </a:pPr>
            <a:r>
              <a:rPr lang="en-US">
                <a:latin typeface="Times New Roman"/>
                <a:ea typeface="Times New Roman"/>
                <a:cs typeface="Times New Roman"/>
                <a:sym typeface="Times New Roman"/>
              </a:rPr>
              <a:t>sample = np.random.choice(a= breaks, size = sample_size)</a:t>
            </a:r>
            <a:endParaRPr/>
          </a:p>
          <a:p>
            <a:pPr indent="0" lvl="0" marL="0" rtl="0" algn="l">
              <a:spcBef>
                <a:spcPts val="544"/>
              </a:spcBef>
              <a:spcAft>
                <a:spcPts val="0"/>
              </a:spcAft>
              <a:buClr>
                <a:schemeClr val="dk1"/>
              </a:buClr>
              <a:buSzPct val="100000"/>
              <a:buNone/>
            </a:pPr>
            <a:r>
              <a:rPr lang="en-US">
                <a:latin typeface="Times New Roman"/>
                <a:ea typeface="Times New Roman"/>
                <a:cs typeface="Times New Roman"/>
                <a:sym typeface="Times New Roman"/>
              </a:rPr>
              <a:t>sample_mean = sample.mean()</a:t>
            </a:r>
            <a:endParaRPr/>
          </a:p>
          <a:p>
            <a:pPr indent="0" lvl="0" marL="0" rtl="0" algn="l">
              <a:spcBef>
                <a:spcPts val="544"/>
              </a:spcBef>
              <a:spcAft>
                <a:spcPts val="0"/>
              </a:spcAft>
              <a:buClr>
                <a:schemeClr val="dk1"/>
              </a:buClr>
              <a:buSzPct val="100000"/>
              <a:buNone/>
            </a:pPr>
            <a:r>
              <a:rPr lang="en-US">
                <a:latin typeface="Times New Roman"/>
                <a:ea typeface="Times New Roman"/>
                <a:cs typeface="Times New Roman"/>
                <a:sym typeface="Times New Roman"/>
              </a:rPr>
              <a:t># sample mean</a:t>
            </a:r>
            <a:endParaRPr/>
          </a:p>
          <a:p>
            <a:pPr indent="0" lvl="0" marL="0" rtl="0" algn="l">
              <a:spcBef>
                <a:spcPts val="544"/>
              </a:spcBef>
              <a:spcAft>
                <a:spcPts val="0"/>
              </a:spcAft>
              <a:buClr>
                <a:schemeClr val="dk1"/>
              </a:buClr>
              <a:buSzPct val="100000"/>
              <a:buNone/>
            </a:pPr>
            <a:r>
              <a:rPr lang="en-US">
                <a:latin typeface="Times New Roman"/>
                <a:ea typeface="Times New Roman"/>
                <a:cs typeface="Times New Roman"/>
                <a:sym typeface="Times New Roman"/>
              </a:rPr>
              <a:t>sample_stdev = sample.std()</a:t>
            </a:r>
            <a:endParaRPr/>
          </a:p>
          <a:p>
            <a:pPr indent="0" lvl="0" marL="0" rtl="0" algn="l">
              <a:spcBef>
                <a:spcPts val="544"/>
              </a:spcBef>
              <a:spcAft>
                <a:spcPts val="0"/>
              </a:spcAft>
              <a:buClr>
                <a:schemeClr val="dk1"/>
              </a:buClr>
              <a:buSzPct val="100000"/>
              <a:buNone/>
            </a:pPr>
            <a:r>
              <a:rPr lang="en-US">
                <a:latin typeface="Times New Roman"/>
                <a:ea typeface="Times New Roman"/>
                <a:cs typeface="Times New Roman"/>
                <a:sym typeface="Times New Roman"/>
              </a:rPr>
              <a:t># sample standard deviation</a:t>
            </a:r>
            <a:endParaRPr/>
          </a:p>
          <a:p>
            <a:pPr indent="0" lvl="0" marL="0" rtl="0" algn="l">
              <a:spcBef>
                <a:spcPts val="544"/>
              </a:spcBef>
              <a:spcAft>
                <a:spcPts val="0"/>
              </a:spcAft>
              <a:buClr>
                <a:schemeClr val="dk1"/>
              </a:buClr>
              <a:buSzPct val="100000"/>
              <a:buNone/>
            </a:pPr>
            <a:r>
              <a:rPr lang="en-US">
                <a:latin typeface="Times New Roman"/>
                <a:ea typeface="Times New Roman"/>
                <a:cs typeface="Times New Roman"/>
                <a:sym typeface="Times New Roman"/>
              </a:rPr>
              <a:t>sigma = sample_stdev/math.sqrt(sample_size)</a:t>
            </a:r>
            <a:endParaRPr/>
          </a:p>
          <a:p>
            <a:pPr indent="0" lvl="0" marL="0" rtl="0" algn="l">
              <a:spcBef>
                <a:spcPts val="544"/>
              </a:spcBef>
              <a:spcAft>
                <a:spcPts val="0"/>
              </a:spcAft>
              <a:buClr>
                <a:schemeClr val="dk1"/>
              </a:buClr>
              <a:buSzPct val="100000"/>
              <a:buNone/>
            </a:pPr>
            <a:r>
              <a:rPr lang="en-US">
                <a:latin typeface="Times New Roman"/>
                <a:ea typeface="Times New Roman"/>
                <a:cs typeface="Times New Roman"/>
                <a:sym typeface="Times New Roman"/>
              </a:rPr>
              <a:t># population Standard deviation estimate</a:t>
            </a:r>
            <a:endParaRPr/>
          </a:p>
          <a:p>
            <a:pPr indent="0" lvl="0" marL="0" rtl="0" algn="l">
              <a:spcBef>
                <a:spcPts val="544"/>
              </a:spcBef>
              <a:spcAft>
                <a:spcPts val="0"/>
              </a:spcAft>
              <a:buClr>
                <a:schemeClr val="dk1"/>
              </a:buClr>
              <a:buSzPct val="100000"/>
              <a:buNone/>
            </a:pPr>
            <a:r>
              <a:rPr lang="en-US">
                <a:latin typeface="Times New Roman"/>
                <a:ea typeface="Times New Roman"/>
                <a:cs typeface="Times New Roman"/>
                <a:sym typeface="Times New Roman"/>
              </a:rPr>
              <a:t>return stats.t.interval(alpha = 0.95, df= sample_size - 1, loc = sample_mean, scale = sigma)</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3"/>
          <p:cNvSpPr txBox="1"/>
          <p:nvPr>
            <p:ph idx="1" type="body"/>
          </p:nvPr>
        </p:nvSpPr>
        <p:spPr>
          <a:xfrm>
            <a:off x="457200" y="228600"/>
            <a:ext cx="8229600" cy="64770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1800"/>
              <a:buChar char="•"/>
            </a:pPr>
            <a:r>
              <a:rPr lang="en-US" sz="1800">
                <a:latin typeface="Times New Roman"/>
                <a:ea typeface="Times New Roman"/>
                <a:cs typeface="Times New Roman"/>
                <a:sym typeface="Times New Roman"/>
              </a:rPr>
              <a:t>Now that we have a function that will create a single confidence interval, let's create a procedure that will test the probability that a single confidence interval will contain the true population parameter, 39.99:</a:t>
            </a:r>
            <a:endParaRPr/>
          </a:p>
          <a:p>
            <a:pPr indent="0" lvl="1" marL="400050" rtl="0" algn="l">
              <a:spcBef>
                <a:spcPts val="400"/>
              </a:spcBef>
              <a:spcAft>
                <a:spcPts val="0"/>
              </a:spcAft>
              <a:buClr>
                <a:schemeClr val="dk1"/>
              </a:buClr>
              <a:buSzPts val="2000"/>
              <a:buNone/>
            </a:pPr>
            <a:r>
              <a:rPr lang="en-US" sz="2000">
                <a:latin typeface="Times New Roman"/>
                <a:ea typeface="Times New Roman"/>
                <a:cs typeface="Times New Roman"/>
                <a:sym typeface="Times New Roman"/>
              </a:rPr>
              <a:t>1. </a:t>
            </a:r>
            <a:r>
              <a:rPr lang="en-US" sz="1800">
                <a:latin typeface="Times New Roman"/>
                <a:ea typeface="Times New Roman"/>
                <a:cs typeface="Times New Roman"/>
                <a:sym typeface="Times New Roman"/>
              </a:rPr>
              <a:t>Take 10,000 confidence intervals of the sample mean.</a:t>
            </a:r>
            <a:endParaRPr/>
          </a:p>
          <a:p>
            <a:pPr indent="0" lvl="1" marL="40005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2. Count the number of times that the population parameter falls into our confidence intervals.</a:t>
            </a:r>
            <a:endParaRPr sz="1800">
              <a:latin typeface="Times New Roman"/>
              <a:ea typeface="Times New Roman"/>
              <a:cs typeface="Times New Roman"/>
              <a:sym typeface="Times New Roman"/>
            </a:endParaRPr>
          </a:p>
          <a:p>
            <a:pPr indent="0" lvl="1" marL="40005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3. Output the ratio of the number of times the parameter fell into the interval by 10,000:</a:t>
            </a:r>
            <a:endParaRPr/>
          </a:p>
          <a:p>
            <a:pPr indent="0" lvl="2" marL="857250" rtl="0" algn="l">
              <a:spcBef>
                <a:spcPts val="400"/>
              </a:spcBef>
              <a:spcAft>
                <a:spcPts val="0"/>
              </a:spcAft>
              <a:buClr>
                <a:schemeClr val="dk1"/>
              </a:buClr>
              <a:buSzPts val="2000"/>
              <a:buNone/>
            </a:pPr>
            <a:r>
              <a:rPr lang="en-US" sz="2000">
                <a:latin typeface="Times New Roman"/>
                <a:ea typeface="Times New Roman"/>
                <a:cs typeface="Times New Roman"/>
                <a:sym typeface="Times New Roman"/>
              </a:rPr>
              <a:t>times_in_interval = 0.</a:t>
            </a:r>
            <a:endParaRPr/>
          </a:p>
          <a:p>
            <a:pPr indent="0" lvl="2" marL="857250" rtl="0" algn="l">
              <a:spcBef>
                <a:spcPts val="400"/>
              </a:spcBef>
              <a:spcAft>
                <a:spcPts val="0"/>
              </a:spcAft>
              <a:buClr>
                <a:schemeClr val="dk1"/>
              </a:buClr>
              <a:buSzPts val="2000"/>
              <a:buNone/>
            </a:pPr>
            <a:r>
              <a:rPr lang="en-US" sz="2000">
                <a:latin typeface="Times New Roman"/>
                <a:ea typeface="Times New Roman"/>
                <a:cs typeface="Times New Roman"/>
                <a:sym typeface="Times New Roman"/>
              </a:rPr>
              <a:t>for i in range(10000):</a:t>
            </a:r>
            <a:endParaRPr/>
          </a:p>
          <a:p>
            <a:pPr indent="0" lvl="2" marL="857250" rtl="0" algn="l">
              <a:spcBef>
                <a:spcPts val="400"/>
              </a:spcBef>
              <a:spcAft>
                <a:spcPts val="0"/>
              </a:spcAft>
              <a:buClr>
                <a:schemeClr val="dk1"/>
              </a:buClr>
              <a:buSzPts val="2000"/>
              <a:buNone/>
            </a:pPr>
            <a:r>
              <a:rPr lang="en-US" sz="2000">
                <a:latin typeface="Times New Roman"/>
                <a:ea typeface="Times New Roman"/>
                <a:cs typeface="Times New Roman"/>
                <a:sym typeface="Times New Roman"/>
              </a:rPr>
              <a:t>interval = makeConfidenceInterval()</a:t>
            </a:r>
            <a:endParaRPr/>
          </a:p>
          <a:p>
            <a:pPr indent="0" lvl="2" marL="857250" rtl="0" algn="l">
              <a:spcBef>
                <a:spcPts val="400"/>
              </a:spcBef>
              <a:spcAft>
                <a:spcPts val="0"/>
              </a:spcAft>
              <a:buClr>
                <a:schemeClr val="dk1"/>
              </a:buClr>
              <a:buSzPts val="2000"/>
              <a:buNone/>
            </a:pPr>
            <a:r>
              <a:rPr lang="en-US" sz="2000">
                <a:latin typeface="Times New Roman"/>
                <a:ea typeface="Times New Roman"/>
                <a:cs typeface="Times New Roman"/>
                <a:sym typeface="Times New Roman"/>
              </a:rPr>
              <a:t>if 39.99 &gt;= interval[0] and 39.99 &lt;= interval[1]:</a:t>
            </a:r>
            <a:endParaRPr/>
          </a:p>
          <a:p>
            <a:pPr indent="0" lvl="2" marL="857250" rtl="0" algn="l">
              <a:spcBef>
                <a:spcPts val="400"/>
              </a:spcBef>
              <a:spcAft>
                <a:spcPts val="0"/>
              </a:spcAft>
              <a:buClr>
                <a:schemeClr val="dk1"/>
              </a:buClr>
              <a:buSzPts val="2000"/>
              <a:buNone/>
            </a:pPr>
            <a:r>
              <a:rPr lang="en-US" sz="2000">
                <a:latin typeface="Times New Roman"/>
                <a:ea typeface="Times New Roman"/>
                <a:cs typeface="Times New Roman"/>
                <a:sym typeface="Times New Roman"/>
              </a:rPr>
              <a:t># if 39.99 falls in the interval</a:t>
            </a:r>
            <a:endParaRPr/>
          </a:p>
          <a:p>
            <a:pPr indent="0" lvl="2" marL="857250" rtl="0" algn="l">
              <a:spcBef>
                <a:spcPts val="400"/>
              </a:spcBef>
              <a:spcAft>
                <a:spcPts val="0"/>
              </a:spcAft>
              <a:buClr>
                <a:schemeClr val="dk1"/>
              </a:buClr>
              <a:buSzPts val="2000"/>
              <a:buNone/>
            </a:pPr>
            <a:r>
              <a:rPr lang="en-US" sz="2000">
                <a:latin typeface="Times New Roman"/>
                <a:ea typeface="Times New Roman"/>
                <a:cs typeface="Times New Roman"/>
                <a:sym typeface="Times New Roman"/>
              </a:rPr>
              <a:t>times_in_interval += 1</a:t>
            </a:r>
            <a:endParaRPr/>
          </a:p>
          <a:p>
            <a:pPr indent="0" lvl="2" marL="857250" rtl="0" algn="l">
              <a:spcBef>
                <a:spcPts val="400"/>
              </a:spcBef>
              <a:spcAft>
                <a:spcPts val="0"/>
              </a:spcAft>
              <a:buClr>
                <a:schemeClr val="dk1"/>
              </a:buClr>
              <a:buSzPts val="2000"/>
              <a:buNone/>
            </a:pPr>
            <a:r>
              <a:rPr lang="en-US" sz="2000">
                <a:latin typeface="Times New Roman"/>
                <a:ea typeface="Times New Roman"/>
                <a:cs typeface="Times New Roman"/>
                <a:sym typeface="Times New Roman"/>
              </a:rPr>
              <a:t>print times_in_interval / 10000</a:t>
            </a:r>
            <a:endParaRPr/>
          </a:p>
          <a:p>
            <a:pPr indent="0" lvl="2" marL="857250" rtl="0" algn="l">
              <a:spcBef>
                <a:spcPts val="400"/>
              </a:spcBef>
              <a:spcAft>
                <a:spcPts val="0"/>
              </a:spcAft>
              <a:buClr>
                <a:schemeClr val="dk1"/>
              </a:buClr>
              <a:buSzPts val="2000"/>
              <a:buNone/>
            </a:pPr>
            <a:r>
              <a:rPr lang="en-US" sz="2000">
                <a:latin typeface="Times New Roman"/>
                <a:ea typeface="Times New Roman"/>
                <a:cs typeface="Times New Roman"/>
                <a:sym typeface="Times New Roman"/>
              </a:rPr>
              <a:t># 0.9455</a:t>
            </a:r>
            <a:endParaRPr/>
          </a:p>
          <a:p>
            <a:pPr indent="-342900" lvl="0" marL="342900" rtl="0" algn="l">
              <a:spcBef>
                <a:spcPts val="360"/>
              </a:spcBef>
              <a:spcAft>
                <a:spcPts val="0"/>
              </a:spcAft>
              <a:buClr>
                <a:schemeClr val="dk1"/>
              </a:buClr>
              <a:buSzPts val="1800"/>
              <a:buChar char="•"/>
            </a:pPr>
            <a:r>
              <a:rPr lang="en-US" sz="1800">
                <a:latin typeface="Times New Roman"/>
                <a:ea typeface="Times New Roman"/>
                <a:cs typeface="Times New Roman"/>
                <a:sym typeface="Times New Roman"/>
              </a:rPr>
              <a:t>Success! We see that about 95% of our confidence intervals contained our actual population mean. Estimating population parameters through point estimates and confidence intervals is a relatively simple and powerful form of statistical inference.</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4"/>
          <p:cNvSpPr txBox="1"/>
          <p:nvPr>
            <p:ph idx="1" type="body"/>
          </p:nvPr>
        </p:nvSpPr>
        <p:spPr>
          <a:xfrm>
            <a:off x="457200" y="228600"/>
            <a:ext cx="8229600" cy="6400800"/>
          </a:xfrm>
          <a:prstGeom prst="rect">
            <a:avLst/>
          </a:prstGeom>
          <a:noFill/>
          <a:ln>
            <a:noFill/>
          </a:ln>
        </p:spPr>
        <p:txBody>
          <a:bodyPr anchorCtr="0" anchor="t" bIns="45700" lIns="91425" spcFirstLastPara="1" rIns="91425" wrap="square" tIns="45700">
            <a:normAutofit fontScale="70000" lnSpcReduction="20000"/>
          </a:bodyPr>
          <a:lstStyle/>
          <a:p>
            <a:pPr indent="-342900" lvl="0" marL="342900" rtl="0" algn="just">
              <a:spcBef>
                <a:spcPts val="0"/>
              </a:spcBef>
              <a:spcAft>
                <a:spcPts val="0"/>
              </a:spcAft>
              <a:buClr>
                <a:schemeClr val="dk1"/>
              </a:buClr>
              <a:buSzPct val="100000"/>
              <a:buChar char="•"/>
            </a:pPr>
            <a:r>
              <a:rPr lang="en-US">
                <a:latin typeface="Times New Roman"/>
                <a:ea typeface="Times New Roman"/>
                <a:cs typeface="Times New Roman"/>
                <a:sym typeface="Times New Roman"/>
              </a:rPr>
              <a:t>Let's also take a quick look at how the size of confidence intervals changes as we change our confidence level. Let's calculate confidence intervals for multiple confidence levels and look at how large the intervals are by looking at the difference between the two numbers. Our hypothesis will be that as we make our confidence level larger, we will likely see larger confidence intervals to be surer that we catch the true population parameter:</a:t>
            </a:r>
            <a:endParaRPr/>
          </a:p>
          <a:p>
            <a:pPr indent="0" lvl="2" marL="800100" rtl="0" algn="just">
              <a:spcBef>
                <a:spcPts val="336"/>
              </a:spcBef>
              <a:spcAft>
                <a:spcPts val="0"/>
              </a:spcAft>
              <a:buClr>
                <a:schemeClr val="dk1"/>
              </a:buClr>
              <a:buSzPct val="100000"/>
              <a:buNone/>
            </a:pPr>
            <a:r>
              <a:rPr lang="en-US">
                <a:latin typeface="Times New Roman"/>
                <a:ea typeface="Times New Roman"/>
                <a:cs typeface="Times New Roman"/>
                <a:sym typeface="Times New Roman"/>
              </a:rPr>
              <a:t>for confidence in (.5, .8, .85, .9, .95, .99):</a:t>
            </a:r>
            <a:endParaRPr/>
          </a:p>
          <a:p>
            <a:pPr indent="0" lvl="2" marL="800100" rtl="0" algn="just">
              <a:spcBef>
                <a:spcPts val="336"/>
              </a:spcBef>
              <a:spcAft>
                <a:spcPts val="0"/>
              </a:spcAft>
              <a:buClr>
                <a:schemeClr val="dk1"/>
              </a:buClr>
              <a:buSzPct val="100000"/>
              <a:buNone/>
            </a:pPr>
            <a:r>
              <a:rPr lang="en-US">
                <a:latin typeface="Times New Roman"/>
                <a:ea typeface="Times New Roman"/>
                <a:cs typeface="Times New Roman"/>
                <a:sym typeface="Times New Roman"/>
              </a:rPr>
              <a:t>		confidence_interval = stats.t.interval(alpha = confidence, 			df=sample_size – 1, loc = sample_mean, scale = sigma)</a:t>
            </a:r>
            <a:endParaRPr/>
          </a:p>
          <a:p>
            <a:pPr indent="0" lvl="2" marL="800100" rtl="0" algn="just">
              <a:spcBef>
                <a:spcPts val="336"/>
              </a:spcBef>
              <a:spcAft>
                <a:spcPts val="0"/>
              </a:spcAft>
              <a:buClr>
                <a:schemeClr val="dk1"/>
              </a:buClr>
              <a:buSzPct val="100000"/>
              <a:buNone/>
            </a:pPr>
            <a:r>
              <a:rPr lang="en-US">
                <a:latin typeface="Times New Roman"/>
                <a:ea typeface="Times New Roman"/>
                <a:cs typeface="Times New Roman"/>
                <a:sym typeface="Times New Roman"/>
              </a:rPr>
              <a:t>		length_of_interval = round(confidence_interval[1] - 				confidence_interval[0], 2)</a:t>
            </a:r>
            <a:endParaRPr/>
          </a:p>
          <a:p>
            <a:pPr indent="0" lvl="2" marL="800100" rtl="0" algn="just">
              <a:spcBef>
                <a:spcPts val="336"/>
              </a:spcBef>
              <a:spcAft>
                <a:spcPts val="0"/>
              </a:spcAft>
              <a:buClr>
                <a:schemeClr val="dk1"/>
              </a:buClr>
              <a:buSzPct val="100000"/>
              <a:buNone/>
            </a:pPr>
            <a:r>
              <a:rPr lang="en-US">
                <a:latin typeface="Times New Roman"/>
                <a:ea typeface="Times New Roman"/>
                <a:cs typeface="Times New Roman"/>
                <a:sym typeface="Times New Roman"/>
              </a:rPr>
              <a:t># the length of the confidence interval</a:t>
            </a:r>
            <a:endParaRPr/>
          </a:p>
          <a:p>
            <a:pPr indent="0" lvl="2" marL="800100" rtl="0" algn="just">
              <a:spcBef>
                <a:spcPts val="336"/>
              </a:spcBef>
              <a:spcAft>
                <a:spcPts val="0"/>
              </a:spcAft>
              <a:buClr>
                <a:schemeClr val="dk1"/>
              </a:buClr>
              <a:buSzPct val="100000"/>
              <a:buNone/>
            </a:pPr>
            <a:r>
              <a:rPr lang="en-US">
                <a:latin typeface="Times New Roman"/>
                <a:ea typeface="Times New Roman"/>
                <a:cs typeface="Times New Roman"/>
                <a:sym typeface="Times New Roman"/>
              </a:rPr>
              <a:t>		print "confidence {0} has a interval of size {1}".</a:t>
            </a:r>
            <a:endParaRPr/>
          </a:p>
          <a:p>
            <a:pPr indent="0" lvl="2" marL="800100" rtl="0" algn="just">
              <a:spcBef>
                <a:spcPts val="336"/>
              </a:spcBef>
              <a:spcAft>
                <a:spcPts val="0"/>
              </a:spcAft>
              <a:buClr>
                <a:schemeClr val="dk1"/>
              </a:buClr>
              <a:buSzPct val="100000"/>
              <a:buNone/>
            </a:pPr>
            <a:r>
              <a:rPr lang="en-US">
                <a:latin typeface="Times New Roman"/>
                <a:ea typeface="Times New Roman"/>
                <a:cs typeface="Times New Roman"/>
                <a:sym typeface="Times New Roman"/>
              </a:rPr>
              <a:t>format(confidence, length_of_interval)</a:t>
            </a:r>
            <a:endParaRPr/>
          </a:p>
          <a:p>
            <a:pPr indent="0" lvl="2" marL="800100" rtl="0" algn="just">
              <a:spcBef>
                <a:spcPts val="336"/>
              </a:spcBef>
              <a:spcAft>
                <a:spcPts val="0"/>
              </a:spcAft>
              <a:buClr>
                <a:schemeClr val="dk1"/>
              </a:buClr>
              <a:buSzPct val="100000"/>
              <a:buNone/>
            </a:pPr>
            <a:r>
              <a:rPr lang="en-US">
                <a:latin typeface="Times New Roman"/>
                <a:ea typeface="Times New Roman"/>
                <a:cs typeface="Times New Roman"/>
                <a:sym typeface="Times New Roman"/>
              </a:rPr>
              <a:t>	</a:t>
            </a:r>
            <a:endParaRPr/>
          </a:p>
          <a:p>
            <a:pPr indent="0" lvl="2" marL="800100" rtl="0" algn="just">
              <a:spcBef>
                <a:spcPts val="336"/>
              </a:spcBef>
              <a:spcAft>
                <a:spcPts val="0"/>
              </a:spcAft>
              <a:buClr>
                <a:schemeClr val="dk1"/>
              </a:buClr>
              <a:buSzPct val="100000"/>
              <a:buNone/>
            </a:pPr>
            <a:r>
              <a:rPr b="1" lang="en-US">
                <a:latin typeface="Times New Roman"/>
                <a:ea typeface="Times New Roman"/>
                <a:cs typeface="Times New Roman"/>
                <a:sym typeface="Times New Roman"/>
              </a:rPr>
              <a:t>confidence 0.5 has an interval of size 2.56</a:t>
            </a:r>
            <a:endParaRPr/>
          </a:p>
          <a:p>
            <a:pPr indent="0" lvl="2" marL="800100" rtl="0" algn="just">
              <a:spcBef>
                <a:spcPts val="336"/>
              </a:spcBef>
              <a:spcAft>
                <a:spcPts val="0"/>
              </a:spcAft>
              <a:buClr>
                <a:schemeClr val="dk1"/>
              </a:buClr>
              <a:buSzPct val="100000"/>
              <a:buNone/>
            </a:pPr>
            <a:r>
              <a:rPr b="1" lang="en-US">
                <a:latin typeface="Times New Roman"/>
                <a:ea typeface="Times New Roman"/>
                <a:cs typeface="Times New Roman"/>
                <a:sym typeface="Times New Roman"/>
              </a:rPr>
              <a:t>confidence 0.8 has an interval of size 4.88</a:t>
            </a:r>
            <a:endParaRPr/>
          </a:p>
          <a:p>
            <a:pPr indent="0" lvl="2" marL="800100" rtl="0" algn="just">
              <a:spcBef>
                <a:spcPts val="336"/>
              </a:spcBef>
              <a:spcAft>
                <a:spcPts val="0"/>
              </a:spcAft>
              <a:buClr>
                <a:schemeClr val="dk1"/>
              </a:buClr>
              <a:buSzPct val="100000"/>
              <a:buNone/>
            </a:pPr>
            <a:r>
              <a:rPr b="1" lang="en-US">
                <a:latin typeface="Times New Roman"/>
                <a:ea typeface="Times New Roman"/>
                <a:cs typeface="Times New Roman"/>
                <a:sym typeface="Times New Roman"/>
              </a:rPr>
              <a:t>confidence 0.85 has an interval of size 5.49</a:t>
            </a:r>
            <a:endParaRPr/>
          </a:p>
          <a:p>
            <a:pPr indent="0" lvl="2" marL="800100" rtl="0" algn="just">
              <a:spcBef>
                <a:spcPts val="336"/>
              </a:spcBef>
              <a:spcAft>
                <a:spcPts val="0"/>
              </a:spcAft>
              <a:buClr>
                <a:schemeClr val="dk1"/>
              </a:buClr>
              <a:buSzPct val="100000"/>
              <a:buNone/>
            </a:pPr>
            <a:r>
              <a:rPr b="1" lang="en-US">
                <a:latin typeface="Times New Roman"/>
                <a:ea typeface="Times New Roman"/>
                <a:cs typeface="Times New Roman"/>
                <a:sym typeface="Times New Roman"/>
              </a:rPr>
              <a:t>confidence 0.9 has an interval of size 6.29</a:t>
            </a:r>
            <a:endParaRPr/>
          </a:p>
          <a:p>
            <a:pPr indent="0" lvl="2" marL="800100" rtl="0" algn="just">
              <a:spcBef>
                <a:spcPts val="336"/>
              </a:spcBef>
              <a:spcAft>
                <a:spcPts val="0"/>
              </a:spcAft>
              <a:buClr>
                <a:schemeClr val="dk1"/>
              </a:buClr>
              <a:buSzPct val="100000"/>
              <a:buNone/>
            </a:pPr>
            <a:r>
              <a:rPr b="1" lang="en-US">
                <a:latin typeface="Times New Roman"/>
                <a:ea typeface="Times New Roman"/>
                <a:cs typeface="Times New Roman"/>
                <a:sym typeface="Times New Roman"/>
              </a:rPr>
              <a:t>confidence 0.95 has an interval of size 7.51</a:t>
            </a:r>
            <a:endParaRPr/>
          </a:p>
          <a:p>
            <a:pPr indent="0" lvl="2" marL="800100" rtl="0" algn="just">
              <a:spcBef>
                <a:spcPts val="336"/>
              </a:spcBef>
              <a:spcAft>
                <a:spcPts val="0"/>
              </a:spcAft>
              <a:buClr>
                <a:schemeClr val="dk1"/>
              </a:buClr>
              <a:buSzPct val="100000"/>
              <a:buNone/>
            </a:pPr>
            <a:r>
              <a:rPr b="1" lang="en-US">
                <a:latin typeface="Times New Roman"/>
                <a:ea typeface="Times New Roman"/>
                <a:cs typeface="Times New Roman"/>
                <a:sym typeface="Times New Roman"/>
              </a:rPr>
              <a:t>confidence 0.99 has an interval of size 9.94</a:t>
            </a:r>
            <a:endParaRPr/>
          </a:p>
          <a:p>
            <a:pPr indent="-342900" lvl="0" marL="342900" rtl="0" algn="just">
              <a:spcBef>
                <a:spcPts val="448"/>
              </a:spcBef>
              <a:spcAft>
                <a:spcPts val="0"/>
              </a:spcAft>
              <a:buClr>
                <a:schemeClr val="dk1"/>
              </a:buClr>
              <a:buSzPct val="100000"/>
              <a:buChar char="•"/>
            </a:pPr>
            <a:r>
              <a:rPr lang="en-US">
                <a:latin typeface="Times New Roman"/>
                <a:ea typeface="Times New Roman"/>
                <a:cs typeface="Times New Roman"/>
                <a:sym typeface="Times New Roman"/>
              </a:rPr>
              <a:t>We can see that as we wish to be "more confident" in our interval, our interval expands in order to compensate.</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Times New Roman"/>
              <a:buNone/>
            </a:pPr>
            <a:r>
              <a:rPr b="1" lang="en-US">
                <a:latin typeface="Times New Roman"/>
                <a:ea typeface="Times New Roman"/>
                <a:cs typeface="Times New Roman"/>
                <a:sym typeface="Times New Roman"/>
              </a:rPr>
              <a:t>Hypothesis Tests</a:t>
            </a:r>
            <a:endParaRPr>
              <a:latin typeface="Times New Roman"/>
              <a:ea typeface="Times New Roman"/>
              <a:cs typeface="Times New Roman"/>
              <a:sym typeface="Times New Roman"/>
            </a:endParaRPr>
          </a:p>
        </p:txBody>
      </p:sp>
      <p:sp>
        <p:nvSpPr>
          <p:cNvPr id="209" name="Google Shape;209;p35"/>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rmAutofit fontScale="70000" lnSpcReduction="20000"/>
          </a:bodyPr>
          <a:lstStyle/>
          <a:p>
            <a:pPr indent="-342900" lvl="0" marL="342900" rtl="0" algn="just">
              <a:spcBef>
                <a:spcPts val="0"/>
              </a:spcBef>
              <a:spcAft>
                <a:spcPts val="0"/>
              </a:spcAft>
              <a:buClr>
                <a:schemeClr val="dk1"/>
              </a:buClr>
              <a:buSzPct val="100000"/>
              <a:buChar char="•"/>
            </a:pPr>
            <a:r>
              <a:rPr lang="en-US">
                <a:latin typeface="Times New Roman"/>
                <a:ea typeface="Times New Roman"/>
                <a:cs typeface="Times New Roman"/>
                <a:sym typeface="Times New Roman"/>
              </a:rPr>
              <a:t>Hypothesis tests are one of the most widely used tests in statistics. They come in many forms; however, all of them have the same basic purpose.</a:t>
            </a:r>
            <a:endParaRPr/>
          </a:p>
          <a:p>
            <a:pPr indent="-342900" lvl="0" marL="342900" rtl="0" algn="just">
              <a:spcBef>
                <a:spcPts val="448"/>
              </a:spcBef>
              <a:spcAft>
                <a:spcPts val="0"/>
              </a:spcAft>
              <a:buClr>
                <a:schemeClr val="dk1"/>
              </a:buClr>
              <a:buSzPct val="100000"/>
              <a:buChar char="•"/>
            </a:pPr>
            <a:r>
              <a:rPr lang="en-US">
                <a:latin typeface="Times New Roman"/>
                <a:ea typeface="Times New Roman"/>
                <a:cs typeface="Times New Roman"/>
                <a:sym typeface="Times New Roman"/>
              </a:rPr>
              <a:t>A </a:t>
            </a:r>
            <a:r>
              <a:rPr b="1" lang="en-US">
                <a:latin typeface="Times New Roman"/>
                <a:ea typeface="Times New Roman"/>
                <a:cs typeface="Times New Roman"/>
                <a:sym typeface="Times New Roman"/>
              </a:rPr>
              <a:t>hypothesis test </a:t>
            </a:r>
            <a:r>
              <a:rPr lang="en-US">
                <a:latin typeface="Times New Roman"/>
                <a:ea typeface="Times New Roman"/>
                <a:cs typeface="Times New Roman"/>
                <a:sym typeface="Times New Roman"/>
              </a:rPr>
              <a:t>is a statistical test that is used to ascertain whether we are allowed to assume that a certain condition is true for the entire population, given a data sample. Basically, a hypothesis test is a test for a certain hypothesis that we have about an entire population. The result of the test then tells us whether we should believe the hypothesis or reject it for an alternative one.</a:t>
            </a:r>
            <a:endParaRPr/>
          </a:p>
          <a:p>
            <a:pPr indent="-342900" lvl="0" marL="342900" rtl="0" algn="just">
              <a:spcBef>
                <a:spcPts val="448"/>
              </a:spcBef>
              <a:spcAft>
                <a:spcPts val="0"/>
              </a:spcAft>
              <a:buClr>
                <a:schemeClr val="dk1"/>
              </a:buClr>
              <a:buSzPct val="100000"/>
              <a:buChar char="•"/>
            </a:pPr>
            <a:r>
              <a:rPr lang="en-US">
                <a:latin typeface="Times New Roman"/>
                <a:ea typeface="Times New Roman"/>
                <a:cs typeface="Times New Roman"/>
                <a:sym typeface="Times New Roman"/>
              </a:rPr>
              <a:t>You can think of the hypothesis tests' framework to determine whether the observed sample data deviates from what was to be expected from the population itself. Now this sounds like a difficult task but, luckily, Python comes to the rescue and includes built-in libraries to conduct these tests easily.</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6"/>
          <p:cNvSpPr txBox="1"/>
          <p:nvPr>
            <p:ph idx="1" type="body"/>
          </p:nvPr>
        </p:nvSpPr>
        <p:spPr>
          <a:xfrm>
            <a:off x="457200" y="228600"/>
            <a:ext cx="8229600" cy="64008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2100"/>
              <a:buChar char="•"/>
            </a:pPr>
            <a:r>
              <a:rPr lang="en-US" sz="2100">
                <a:latin typeface="Times New Roman"/>
                <a:ea typeface="Times New Roman"/>
                <a:cs typeface="Times New Roman"/>
                <a:sym typeface="Times New Roman"/>
              </a:rPr>
              <a:t>A hypothesis test generally looks at two opposing hypotheses about a population. We call them the </a:t>
            </a:r>
            <a:r>
              <a:rPr b="1" lang="en-US" sz="2100">
                <a:latin typeface="Times New Roman"/>
                <a:ea typeface="Times New Roman"/>
                <a:cs typeface="Times New Roman"/>
                <a:sym typeface="Times New Roman"/>
              </a:rPr>
              <a:t>null hypothesis </a:t>
            </a:r>
            <a:r>
              <a:rPr lang="en-US" sz="2100">
                <a:latin typeface="Times New Roman"/>
                <a:ea typeface="Times New Roman"/>
                <a:cs typeface="Times New Roman"/>
                <a:sym typeface="Times New Roman"/>
              </a:rPr>
              <a:t>and the </a:t>
            </a:r>
            <a:r>
              <a:rPr b="1" lang="en-US" sz="2100">
                <a:latin typeface="Times New Roman"/>
                <a:ea typeface="Times New Roman"/>
                <a:cs typeface="Times New Roman"/>
                <a:sym typeface="Times New Roman"/>
              </a:rPr>
              <a:t>alternative hypothesis</a:t>
            </a:r>
            <a:r>
              <a:rPr lang="en-US" sz="2100">
                <a:latin typeface="Times New Roman"/>
                <a:ea typeface="Times New Roman"/>
                <a:cs typeface="Times New Roman"/>
                <a:sym typeface="Times New Roman"/>
              </a:rPr>
              <a:t>. The null hypothesis is the statement being tested and is the </a:t>
            </a:r>
            <a:r>
              <a:rPr i="1" lang="en-US" sz="2100">
                <a:latin typeface="Times New Roman"/>
                <a:ea typeface="Times New Roman"/>
                <a:cs typeface="Times New Roman"/>
                <a:sym typeface="Times New Roman"/>
              </a:rPr>
              <a:t>default correct </a:t>
            </a:r>
            <a:r>
              <a:rPr lang="en-US" sz="2100">
                <a:latin typeface="Times New Roman"/>
                <a:ea typeface="Times New Roman"/>
                <a:cs typeface="Times New Roman"/>
                <a:sym typeface="Times New Roman"/>
              </a:rPr>
              <a:t>answer; it is our starting point and our original hypothesis. The alternative hypothesis is the statement that opposes the null hypothesis. Our test will tell us which hypothesis we should trust and which we should reject.</a:t>
            </a:r>
            <a:endParaRPr/>
          </a:p>
          <a:p>
            <a:pPr indent="-342900" lvl="0" marL="342900" rtl="0" algn="just">
              <a:spcBef>
                <a:spcPts val="420"/>
              </a:spcBef>
              <a:spcAft>
                <a:spcPts val="0"/>
              </a:spcAft>
              <a:buClr>
                <a:schemeClr val="dk1"/>
              </a:buClr>
              <a:buSzPts val="2100"/>
              <a:buChar char="•"/>
            </a:pPr>
            <a:r>
              <a:rPr lang="en-US" sz="2100">
                <a:latin typeface="Times New Roman"/>
                <a:ea typeface="Times New Roman"/>
                <a:cs typeface="Times New Roman"/>
                <a:sym typeface="Times New Roman"/>
              </a:rPr>
              <a:t>Based on sample data from a population, a hypothesis test determines whether or not to </a:t>
            </a:r>
            <a:r>
              <a:rPr i="1" lang="en-US" sz="2100">
                <a:latin typeface="Times New Roman"/>
                <a:ea typeface="Times New Roman"/>
                <a:cs typeface="Times New Roman"/>
                <a:sym typeface="Times New Roman"/>
              </a:rPr>
              <a:t>reject </a:t>
            </a:r>
            <a:r>
              <a:rPr lang="en-US" sz="2100">
                <a:latin typeface="Times New Roman"/>
                <a:ea typeface="Times New Roman"/>
                <a:cs typeface="Times New Roman"/>
                <a:sym typeface="Times New Roman"/>
              </a:rPr>
              <a:t>the null hypothesis. We usually use a </a:t>
            </a:r>
            <a:r>
              <a:rPr b="1" lang="en-US" sz="2100">
                <a:latin typeface="Times New Roman"/>
                <a:ea typeface="Times New Roman"/>
                <a:cs typeface="Times New Roman"/>
                <a:sym typeface="Times New Roman"/>
              </a:rPr>
              <a:t>p-value </a:t>
            </a:r>
            <a:r>
              <a:rPr lang="en-US" sz="2100">
                <a:latin typeface="Times New Roman"/>
                <a:ea typeface="Times New Roman"/>
                <a:cs typeface="Times New Roman"/>
                <a:sym typeface="Times New Roman"/>
              </a:rPr>
              <a:t>(which is based on our significance level) to make this conclusion.</a:t>
            </a:r>
            <a:endParaRPr/>
          </a:p>
          <a:p>
            <a:pPr indent="-342900" lvl="0" marL="342900" rtl="0" algn="just">
              <a:spcBef>
                <a:spcPts val="420"/>
              </a:spcBef>
              <a:spcAft>
                <a:spcPts val="0"/>
              </a:spcAft>
              <a:buClr>
                <a:schemeClr val="dk1"/>
              </a:buClr>
              <a:buSzPts val="2100"/>
              <a:buChar char="•"/>
            </a:pPr>
            <a:r>
              <a:rPr lang="en-US" sz="2100">
                <a:latin typeface="Times New Roman"/>
                <a:ea typeface="Times New Roman"/>
                <a:cs typeface="Times New Roman"/>
                <a:sym typeface="Times New Roman"/>
              </a:rPr>
              <a:t>The following are some examples of questions you can answer with a hypothesis test:</a:t>
            </a:r>
            <a:endParaRPr/>
          </a:p>
          <a:p>
            <a:pPr indent="-457200" lvl="1" marL="857250" rtl="0" algn="just">
              <a:spcBef>
                <a:spcPts val="420"/>
              </a:spcBef>
              <a:spcAft>
                <a:spcPts val="0"/>
              </a:spcAft>
              <a:buClr>
                <a:schemeClr val="dk1"/>
              </a:buClr>
              <a:buSzPts val="2100"/>
              <a:buFont typeface="Noto Sans Symbols"/>
              <a:buChar char="⮚"/>
            </a:pPr>
            <a:r>
              <a:rPr lang="en-US" sz="2100">
                <a:latin typeface="Times New Roman"/>
                <a:ea typeface="Times New Roman"/>
                <a:cs typeface="Times New Roman"/>
                <a:sym typeface="Times New Roman"/>
              </a:rPr>
              <a:t>Does the mean break time of employees differ from 40 minutes?</a:t>
            </a:r>
            <a:endParaRPr/>
          </a:p>
          <a:p>
            <a:pPr indent="-457200" lvl="1" marL="857250" rtl="0" algn="just">
              <a:spcBef>
                <a:spcPts val="420"/>
              </a:spcBef>
              <a:spcAft>
                <a:spcPts val="0"/>
              </a:spcAft>
              <a:buClr>
                <a:schemeClr val="dk1"/>
              </a:buClr>
              <a:buSzPts val="2100"/>
              <a:buFont typeface="Noto Sans Symbols"/>
              <a:buChar char="⮚"/>
            </a:pPr>
            <a:r>
              <a:rPr lang="en-US" sz="2100">
                <a:latin typeface="Times New Roman"/>
                <a:ea typeface="Times New Roman"/>
                <a:cs typeface="Times New Roman"/>
                <a:sym typeface="Times New Roman"/>
              </a:rPr>
              <a:t>Is there a difference between people who interacted with website A and people who interacted with website B (A/B testing)? </a:t>
            </a:r>
            <a:endParaRPr/>
          </a:p>
          <a:p>
            <a:pPr indent="-457200" lvl="1" marL="857250" rtl="0" algn="just">
              <a:spcBef>
                <a:spcPts val="420"/>
              </a:spcBef>
              <a:spcAft>
                <a:spcPts val="0"/>
              </a:spcAft>
              <a:buClr>
                <a:schemeClr val="dk1"/>
              </a:buClr>
              <a:buSzPts val="2100"/>
              <a:buFont typeface="Noto Sans Symbols"/>
              <a:buChar char="⮚"/>
            </a:pPr>
            <a:r>
              <a:rPr lang="en-US" sz="2100">
                <a:latin typeface="Times New Roman"/>
                <a:ea typeface="Times New Roman"/>
                <a:cs typeface="Times New Roman"/>
                <a:sym typeface="Times New Roman"/>
              </a:rPr>
              <a:t>Does a sample of coffee beans vary significantly in taste from the entire population of beans?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3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Times New Roman"/>
              <a:buNone/>
            </a:pPr>
            <a:r>
              <a:rPr b="1" lang="en-US">
                <a:latin typeface="Times New Roman"/>
                <a:ea typeface="Times New Roman"/>
                <a:cs typeface="Times New Roman"/>
                <a:sym typeface="Times New Roman"/>
              </a:rPr>
              <a:t>Conducting a Hypothesis Test</a:t>
            </a:r>
            <a:endParaRPr>
              <a:latin typeface="Times New Roman"/>
              <a:ea typeface="Times New Roman"/>
              <a:cs typeface="Times New Roman"/>
              <a:sym typeface="Times New Roman"/>
            </a:endParaRPr>
          </a:p>
        </p:txBody>
      </p:sp>
      <p:sp>
        <p:nvSpPr>
          <p:cNvPr id="220" name="Google Shape;220;p3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0000" lnSpcReduction="20000"/>
          </a:bodyPr>
          <a:lstStyle/>
          <a:p>
            <a:pPr indent="-342900" lvl="0" marL="342900" rtl="0" algn="just">
              <a:spcBef>
                <a:spcPts val="0"/>
              </a:spcBef>
              <a:spcAft>
                <a:spcPts val="0"/>
              </a:spcAft>
              <a:buClr>
                <a:schemeClr val="dk1"/>
              </a:buClr>
              <a:buSzPct val="100000"/>
              <a:buChar char="•"/>
            </a:pPr>
            <a:r>
              <a:rPr lang="en-US">
                <a:latin typeface="Times New Roman"/>
                <a:ea typeface="Times New Roman"/>
                <a:cs typeface="Times New Roman"/>
                <a:sym typeface="Times New Roman"/>
              </a:rPr>
              <a:t>There are multiple types of hypothesis tests out there, and among them are dozens of different procedures and metrics. Nonetheless, there are five basic steps that most hypothesis tests follow, which are as follows:</a:t>
            </a:r>
            <a:endParaRPr/>
          </a:p>
          <a:p>
            <a:pPr indent="0" lvl="1" marL="400050" rtl="0" algn="just">
              <a:spcBef>
                <a:spcPts val="392"/>
              </a:spcBef>
              <a:spcAft>
                <a:spcPts val="0"/>
              </a:spcAft>
              <a:buClr>
                <a:schemeClr val="dk1"/>
              </a:buClr>
              <a:buSzPct val="100000"/>
              <a:buNone/>
            </a:pPr>
            <a:r>
              <a:rPr lang="en-US">
                <a:latin typeface="Times New Roman"/>
                <a:ea typeface="Times New Roman"/>
                <a:cs typeface="Times New Roman"/>
                <a:sym typeface="Times New Roman"/>
              </a:rPr>
              <a:t>1. Specify the hypotheses:</a:t>
            </a:r>
            <a:endParaRPr/>
          </a:p>
          <a:p>
            <a:pPr indent="-124459" lvl="1" marL="857250" rtl="0" algn="just">
              <a:spcBef>
                <a:spcPts val="392"/>
              </a:spcBef>
              <a:spcAft>
                <a:spcPts val="0"/>
              </a:spcAft>
              <a:buClr>
                <a:schemeClr val="dk1"/>
              </a:buClr>
              <a:buSzPct val="100000"/>
              <a:buFont typeface="Noto Sans Symbols"/>
              <a:buChar char="⮚"/>
            </a:pPr>
            <a:r>
              <a:rPr lang="en-US">
                <a:latin typeface="Times New Roman"/>
                <a:ea typeface="Times New Roman"/>
                <a:cs typeface="Times New Roman"/>
                <a:sym typeface="Times New Roman"/>
              </a:rPr>
              <a:t> Here, we formulate our two hypotheses: the null and the alternative</a:t>
            </a:r>
            <a:endParaRPr/>
          </a:p>
          <a:p>
            <a:pPr indent="-124459" lvl="1" marL="857250" rtl="0" algn="just">
              <a:spcBef>
                <a:spcPts val="392"/>
              </a:spcBef>
              <a:spcAft>
                <a:spcPts val="0"/>
              </a:spcAft>
              <a:buClr>
                <a:schemeClr val="dk1"/>
              </a:buClr>
              <a:buSzPct val="100000"/>
              <a:buFont typeface="Noto Sans Symbols"/>
              <a:buChar char="⮚"/>
            </a:pPr>
            <a:r>
              <a:rPr lang="en-US">
                <a:latin typeface="Times New Roman"/>
                <a:ea typeface="Times New Roman"/>
                <a:cs typeface="Times New Roman"/>
                <a:sym typeface="Times New Roman"/>
              </a:rPr>
              <a:t>We usually use the notation of </a:t>
            </a:r>
            <a:r>
              <a:rPr i="1" lang="en-US">
                <a:latin typeface="Times New Roman"/>
                <a:ea typeface="Times New Roman"/>
                <a:cs typeface="Times New Roman"/>
                <a:sym typeface="Times New Roman"/>
              </a:rPr>
              <a:t>H</a:t>
            </a:r>
            <a:r>
              <a:rPr baseline="-25000" i="1" lang="en-US">
                <a:latin typeface="Times New Roman"/>
                <a:ea typeface="Times New Roman"/>
                <a:cs typeface="Times New Roman"/>
                <a:sym typeface="Times New Roman"/>
              </a:rPr>
              <a:t>0</a:t>
            </a:r>
            <a:r>
              <a:rPr i="1" lang="en-US">
                <a:latin typeface="Times New Roman"/>
                <a:ea typeface="Times New Roman"/>
                <a:cs typeface="Times New Roman"/>
                <a:sym typeface="Times New Roman"/>
              </a:rPr>
              <a:t> </a:t>
            </a:r>
            <a:r>
              <a:rPr lang="en-US">
                <a:latin typeface="Times New Roman"/>
                <a:ea typeface="Times New Roman"/>
                <a:cs typeface="Times New Roman"/>
                <a:sym typeface="Times New Roman"/>
              </a:rPr>
              <a:t>to represent the null hypothesis and </a:t>
            </a:r>
            <a:r>
              <a:rPr i="1" lang="en-US">
                <a:latin typeface="Times New Roman"/>
                <a:ea typeface="Times New Roman"/>
                <a:cs typeface="Times New Roman"/>
                <a:sym typeface="Times New Roman"/>
              </a:rPr>
              <a:t>H</a:t>
            </a:r>
            <a:r>
              <a:rPr baseline="-25000" i="1" lang="en-US">
                <a:latin typeface="Times New Roman"/>
                <a:ea typeface="Times New Roman"/>
                <a:cs typeface="Times New Roman"/>
                <a:sym typeface="Times New Roman"/>
              </a:rPr>
              <a:t>a</a:t>
            </a:r>
            <a:r>
              <a:rPr i="1" lang="en-US">
                <a:latin typeface="Times New Roman"/>
                <a:ea typeface="Times New Roman"/>
                <a:cs typeface="Times New Roman"/>
                <a:sym typeface="Times New Roman"/>
              </a:rPr>
              <a:t> </a:t>
            </a:r>
            <a:r>
              <a:rPr lang="en-US">
                <a:latin typeface="Times New Roman"/>
                <a:ea typeface="Times New Roman"/>
                <a:cs typeface="Times New Roman"/>
                <a:sym typeface="Times New Roman"/>
              </a:rPr>
              <a:t>to represent our alternative hypothesis</a:t>
            </a:r>
            <a:endParaRPr/>
          </a:p>
          <a:p>
            <a:pPr indent="0" lvl="1" marL="400050" rtl="0" algn="just">
              <a:spcBef>
                <a:spcPts val="392"/>
              </a:spcBef>
              <a:spcAft>
                <a:spcPts val="0"/>
              </a:spcAft>
              <a:buClr>
                <a:schemeClr val="dk1"/>
              </a:buClr>
              <a:buSzPct val="100000"/>
              <a:buNone/>
            </a:pPr>
            <a:r>
              <a:rPr lang="en-US">
                <a:latin typeface="Times New Roman"/>
                <a:ea typeface="Times New Roman"/>
                <a:cs typeface="Times New Roman"/>
                <a:sym typeface="Times New Roman"/>
              </a:rPr>
              <a:t>2. Determine the sample size for the test sample:</a:t>
            </a:r>
            <a:endParaRPr/>
          </a:p>
          <a:p>
            <a:pPr indent="-124459" lvl="1" marL="857250" rtl="0" algn="just">
              <a:spcBef>
                <a:spcPts val="392"/>
              </a:spcBef>
              <a:spcAft>
                <a:spcPts val="0"/>
              </a:spcAft>
              <a:buClr>
                <a:schemeClr val="dk1"/>
              </a:buClr>
              <a:buSzPct val="100000"/>
              <a:buFont typeface="Noto Sans Symbols"/>
              <a:buChar char="⮚"/>
            </a:pPr>
            <a:r>
              <a:rPr lang="en-US">
                <a:latin typeface="Times New Roman"/>
                <a:ea typeface="Times New Roman"/>
                <a:cs typeface="Times New Roman"/>
                <a:sym typeface="Times New Roman"/>
              </a:rPr>
              <a:t>This calculation depends on the chosen test. Usually, we have to determine a proper sample size in order to utilize theorems, such as the central limit theorem, and assume the normality of data.</a:t>
            </a:r>
            <a:endParaRPr/>
          </a:p>
          <a:p>
            <a:pPr indent="0" lvl="1" marL="400050" rtl="0" algn="just">
              <a:spcBef>
                <a:spcPts val="392"/>
              </a:spcBef>
              <a:spcAft>
                <a:spcPts val="0"/>
              </a:spcAft>
              <a:buClr>
                <a:schemeClr val="dk1"/>
              </a:buClr>
              <a:buSzPct val="100000"/>
              <a:buNone/>
            </a:pPr>
            <a:r>
              <a:rPr lang="en-US">
                <a:latin typeface="Times New Roman"/>
                <a:ea typeface="Times New Roman"/>
                <a:cs typeface="Times New Roman"/>
                <a:sym typeface="Times New Roman"/>
              </a:rPr>
              <a:t>3. Choose a significance level (usually called alpha or α):</a:t>
            </a:r>
            <a:endParaRPr/>
          </a:p>
          <a:p>
            <a:pPr indent="-124459" lvl="1" marL="857250" rtl="0" algn="just">
              <a:spcBef>
                <a:spcPts val="392"/>
              </a:spcBef>
              <a:spcAft>
                <a:spcPts val="0"/>
              </a:spcAft>
              <a:buClr>
                <a:schemeClr val="dk1"/>
              </a:buClr>
              <a:buSzPct val="100000"/>
              <a:buFont typeface="Noto Sans Symbols"/>
              <a:buChar char="⮚"/>
            </a:pPr>
            <a:r>
              <a:rPr lang="en-US">
                <a:latin typeface="Times New Roman"/>
                <a:ea typeface="Times New Roman"/>
                <a:cs typeface="Times New Roman"/>
                <a:sym typeface="Times New Roman"/>
              </a:rPr>
              <a:t>A significance level of 0.05 is common</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8"/>
          <p:cNvSpPr txBox="1"/>
          <p:nvPr>
            <p:ph idx="1" type="body"/>
          </p:nvPr>
        </p:nvSpPr>
        <p:spPr>
          <a:xfrm>
            <a:off x="457200" y="304800"/>
            <a:ext cx="8229600" cy="5821363"/>
          </a:xfrm>
          <a:prstGeom prst="rect">
            <a:avLst/>
          </a:prstGeom>
          <a:noFill/>
          <a:ln>
            <a:noFill/>
          </a:ln>
        </p:spPr>
        <p:txBody>
          <a:bodyPr anchorCtr="0" anchor="t" bIns="45700" lIns="91425" spcFirstLastPara="1" rIns="91425" wrap="square" tIns="45700">
            <a:normAutofit fontScale="92500" lnSpcReduction="10000"/>
          </a:bodyPr>
          <a:lstStyle/>
          <a:p>
            <a:pPr indent="0" lvl="0" marL="0" rtl="0" algn="l">
              <a:spcBef>
                <a:spcPts val="0"/>
              </a:spcBef>
              <a:spcAft>
                <a:spcPts val="0"/>
              </a:spcAft>
              <a:buClr>
                <a:schemeClr val="dk1"/>
              </a:buClr>
              <a:buSzPct val="100000"/>
              <a:buNone/>
            </a:pPr>
            <a:r>
              <a:rPr lang="en-US"/>
              <a:t>4. Collect the data:</a:t>
            </a:r>
            <a:endParaRPr/>
          </a:p>
          <a:p>
            <a:pPr indent="-285750" lvl="1" marL="742950" rtl="0" algn="l">
              <a:spcBef>
                <a:spcPts val="518"/>
              </a:spcBef>
              <a:spcAft>
                <a:spcPts val="0"/>
              </a:spcAft>
              <a:buClr>
                <a:schemeClr val="dk1"/>
              </a:buClr>
              <a:buSzPct val="100000"/>
              <a:buFont typeface="Noto Sans Symbols"/>
              <a:buChar char="⮚"/>
            </a:pPr>
            <a:r>
              <a:rPr lang="en-US"/>
              <a:t> They collect a sample of data to conduct the test</a:t>
            </a:r>
            <a:endParaRPr/>
          </a:p>
          <a:p>
            <a:pPr indent="0" lvl="0" marL="0" rtl="0" algn="l">
              <a:spcBef>
                <a:spcPts val="592"/>
              </a:spcBef>
              <a:spcAft>
                <a:spcPts val="0"/>
              </a:spcAft>
              <a:buClr>
                <a:schemeClr val="dk1"/>
              </a:buClr>
              <a:buSzPct val="100000"/>
              <a:buNone/>
            </a:pPr>
            <a:r>
              <a:rPr lang="en-US"/>
              <a:t>5. Decide whether to reject or fail to reject the null hypothesis:</a:t>
            </a:r>
            <a:endParaRPr/>
          </a:p>
          <a:p>
            <a:pPr indent="-285750" lvl="1" marL="742950" rtl="0" algn="l">
              <a:spcBef>
                <a:spcPts val="518"/>
              </a:spcBef>
              <a:spcAft>
                <a:spcPts val="0"/>
              </a:spcAft>
              <a:buClr>
                <a:schemeClr val="dk1"/>
              </a:buClr>
              <a:buSzPct val="100000"/>
              <a:buFont typeface="Noto Sans Symbols"/>
              <a:buChar char="⮚"/>
            </a:pPr>
            <a:r>
              <a:rPr lang="en-US"/>
              <a:t>This step changes slightly based on the type of test being used. The final result will either yield in rejecting the null hypothesis in favor of the alternative or failing to reject the null hypothesis.</a:t>
            </a:r>
            <a:endParaRPr/>
          </a:p>
          <a:p>
            <a:pPr indent="0" lvl="0" marL="0" rtl="0" algn="l">
              <a:spcBef>
                <a:spcPts val="592"/>
              </a:spcBef>
              <a:spcAft>
                <a:spcPts val="0"/>
              </a:spcAft>
              <a:buClr>
                <a:schemeClr val="dk1"/>
              </a:buClr>
              <a:buSzPct val="100000"/>
              <a:buNone/>
            </a:pPr>
            <a:r>
              <a:rPr lang="en-US"/>
              <a:t>In this chapter, we will look at the following three types of hypothesis tests:</a:t>
            </a:r>
            <a:endParaRPr/>
          </a:p>
          <a:p>
            <a:pPr indent="0" lvl="0" marL="0" rtl="0" algn="l">
              <a:spcBef>
                <a:spcPts val="592"/>
              </a:spcBef>
              <a:spcAft>
                <a:spcPts val="0"/>
              </a:spcAft>
              <a:buClr>
                <a:schemeClr val="dk1"/>
              </a:buClr>
              <a:buSzPct val="100000"/>
              <a:buNone/>
            </a:pPr>
            <a:r>
              <a:rPr lang="en-US"/>
              <a:t>• One-sample t-tests</a:t>
            </a:r>
            <a:endParaRPr/>
          </a:p>
          <a:p>
            <a:pPr indent="0" lvl="0" marL="0" rtl="0" algn="l">
              <a:spcBef>
                <a:spcPts val="592"/>
              </a:spcBef>
              <a:spcAft>
                <a:spcPts val="0"/>
              </a:spcAft>
              <a:buClr>
                <a:schemeClr val="dk1"/>
              </a:buClr>
              <a:buSzPct val="100000"/>
              <a:buNone/>
            </a:pPr>
            <a:r>
              <a:rPr lang="en-US"/>
              <a:t>• Chi-square goodness of fit</a:t>
            </a:r>
            <a:endParaRPr/>
          </a:p>
          <a:p>
            <a:pPr indent="0" lvl="0" marL="0" rtl="0" algn="l">
              <a:spcBef>
                <a:spcPts val="592"/>
              </a:spcBef>
              <a:spcAft>
                <a:spcPts val="0"/>
              </a:spcAft>
              <a:buClr>
                <a:schemeClr val="dk1"/>
              </a:buClr>
              <a:buSzPct val="100000"/>
              <a:buNone/>
            </a:pPr>
            <a:r>
              <a:rPr lang="en-US"/>
              <a:t>• Chi-square test for association/independence</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just">
              <a:spcBef>
                <a:spcPts val="0"/>
              </a:spcBef>
              <a:spcAft>
                <a:spcPts val="0"/>
              </a:spcAft>
              <a:buClr>
                <a:schemeClr val="dk1"/>
              </a:buClr>
              <a:buSzPct val="100000"/>
              <a:buChar char="•"/>
            </a:pPr>
            <a:r>
              <a:rPr lang="en-US">
                <a:latin typeface="Times New Roman"/>
                <a:ea typeface="Times New Roman"/>
                <a:cs typeface="Times New Roman"/>
                <a:sym typeface="Times New Roman"/>
              </a:rPr>
              <a:t>There are many more tests. However, these three are a great combination of distinct, simple, and powerful tests. </a:t>
            </a:r>
            <a:endParaRPr>
              <a:latin typeface="Times New Roman"/>
              <a:ea typeface="Times New Roman"/>
              <a:cs typeface="Times New Roman"/>
              <a:sym typeface="Times New Roman"/>
            </a:endParaRPr>
          </a:p>
          <a:p>
            <a:pPr indent="-342900" lvl="0" marL="342900" rtl="0" algn="just">
              <a:spcBef>
                <a:spcPts val="592"/>
              </a:spcBef>
              <a:spcAft>
                <a:spcPts val="0"/>
              </a:spcAft>
              <a:buClr>
                <a:schemeClr val="dk1"/>
              </a:buClr>
              <a:buSzPct val="100000"/>
              <a:buChar char="•"/>
            </a:pPr>
            <a:r>
              <a:rPr lang="en-US">
                <a:latin typeface="Times New Roman"/>
                <a:ea typeface="Times New Roman"/>
                <a:cs typeface="Times New Roman"/>
                <a:sym typeface="Times New Roman"/>
              </a:rPr>
              <a:t>One of the biggest things to consider when choosing which test we should implement is the type of data we are working with, specifically, are we dealing with continuous or categorical data. In order to truly see the effects of a hypothesis, I suggest we dive right into an example. </a:t>
            </a:r>
            <a:endParaRPr>
              <a:latin typeface="Times New Roman"/>
              <a:ea typeface="Times New Roman"/>
              <a:cs typeface="Times New Roman"/>
              <a:sym typeface="Times New Roman"/>
            </a:endParaRPr>
          </a:p>
          <a:p>
            <a:pPr indent="-342900" lvl="0" marL="342900" rtl="0" algn="just">
              <a:spcBef>
                <a:spcPts val="592"/>
              </a:spcBef>
              <a:spcAft>
                <a:spcPts val="0"/>
              </a:spcAft>
              <a:buClr>
                <a:schemeClr val="dk1"/>
              </a:buClr>
              <a:buSzPct val="100000"/>
              <a:buChar char="•"/>
            </a:pPr>
            <a:r>
              <a:rPr lang="en-US">
                <a:latin typeface="Times New Roman"/>
                <a:ea typeface="Times New Roman"/>
                <a:cs typeface="Times New Roman"/>
                <a:sym typeface="Times New Roman"/>
              </a:rPr>
              <a:t>First, let's look at the use of a t-tests to deal with continuous data.</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40"/>
          <p:cNvSpPr txBox="1"/>
          <p:nvPr>
            <p:ph type="title"/>
          </p:nvPr>
        </p:nvSpPr>
        <p:spPr>
          <a:xfrm>
            <a:off x="457200" y="35293"/>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Times New Roman"/>
              <a:buNone/>
            </a:pPr>
            <a:r>
              <a:rPr b="1" lang="en-US">
                <a:latin typeface="Times New Roman"/>
                <a:ea typeface="Times New Roman"/>
                <a:cs typeface="Times New Roman"/>
                <a:sym typeface="Times New Roman"/>
              </a:rPr>
              <a:t>One Sample t-tests</a:t>
            </a:r>
            <a:endParaRPr>
              <a:latin typeface="Times New Roman"/>
              <a:ea typeface="Times New Roman"/>
              <a:cs typeface="Times New Roman"/>
              <a:sym typeface="Times New Roman"/>
            </a:endParaRPr>
          </a:p>
        </p:txBody>
      </p:sp>
      <p:sp>
        <p:nvSpPr>
          <p:cNvPr id="236" name="Google Shape;236;p40"/>
          <p:cNvSpPr txBox="1"/>
          <p:nvPr>
            <p:ph idx="1" type="body"/>
          </p:nvPr>
        </p:nvSpPr>
        <p:spPr>
          <a:xfrm>
            <a:off x="457200" y="1066800"/>
            <a:ext cx="8229600" cy="5059363"/>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2000"/>
              <a:buChar char="•"/>
            </a:pPr>
            <a:r>
              <a:rPr lang="en-US" sz="2000">
                <a:latin typeface="Times New Roman"/>
                <a:ea typeface="Times New Roman"/>
                <a:cs typeface="Times New Roman"/>
                <a:sym typeface="Times New Roman"/>
              </a:rPr>
              <a:t>The </a:t>
            </a:r>
            <a:r>
              <a:rPr b="1" lang="en-US" sz="2000">
                <a:latin typeface="Times New Roman"/>
                <a:ea typeface="Times New Roman"/>
                <a:cs typeface="Times New Roman"/>
                <a:sym typeface="Times New Roman"/>
              </a:rPr>
              <a:t>one sample t-test </a:t>
            </a:r>
            <a:r>
              <a:rPr lang="en-US" sz="2000">
                <a:latin typeface="Times New Roman"/>
                <a:ea typeface="Times New Roman"/>
                <a:cs typeface="Times New Roman"/>
                <a:sym typeface="Times New Roman"/>
              </a:rPr>
              <a:t>is a statistical test used to determine whether a quantitative (numerical) data sample differs </a:t>
            </a:r>
            <a:r>
              <a:rPr i="1" lang="en-US" sz="2000">
                <a:latin typeface="Times New Roman"/>
                <a:ea typeface="Times New Roman"/>
                <a:cs typeface="Times New Roman"/>
                <a:sym typeface="Times New Roman"/>
              </a:rPr>
              <a:t>significantly </a:t>
            </a:r>
            <a:r>
              <a:rPr lang="en-US" sz="2000">
                <a:latin typeface="Times New Roman"/>
                <a:ea typeface="Times New Roman"/>
                <a:cs typeface="Times New Roman"/>
                <a:sym typeface="Times New Roman"/>
              </a:rPr>
              <a:t>from another dataset (the population or another sample). Suppose, in our previous employee break time example, we look, specifically, at the engineering department's break times, as shown:</a:t>
            </a:r>
            <a:endParaRPr/>
          </a:p>
          <a:p>
            <a:pPr indent="0" lvl="2" marL="800100" rtl="0" algn="just">
              <a:spcBef>
                <a:spcPts val="400"/>
              </a:spcBef>
              <a:spcAft>
                <a:spcPts val="0"/>
              </a:spcAft>
              <a:buClr>
                <a:schemeClr val="dk1"/>
              </a:buClr>
              <a:buSzPts val="2000"/>
              <a:buNone/>
            </a:pPr>
            <a:r>
              <a:rPr lang="en-US" sz="2000">
                <a:latin typeface="Times New Roman"/>
                <a:ea typeface="Times New Roman"/>
                <a:cs typeface="Times New Roman"/>
                <a:sym typeface="Times New Roman"/>
              </a:rPr>
              <a:t>long_breaks_in_engineering = stats.poisson.rvs(loc=10, mu=55,</a:t>
            </a:r>
            <a:endParaRPr/>
          </a:p>
          <a:p>
            <a:pPr indent="0" lvl="2" marL="800100" rtl="0" algn="just">
              <a:spcBef>
                <a:spcPts val="400"/>
              </a:spcBef>
              <a:spcAft>
                <a:spcPts val="0"/>
              </a:spcAft>
              <a:buClr>
                <a:schemeClr val="dk1"/>
              </a:buClr>
              <a:buSzPts val="2000"/>
              <a:buNone/>
            </a:pPr>
            <a:r>
              <a:rPr lang="en-US" sz="2000">
                <a:latin typeface="Times New Roman"/>
                <a:ea typeface="Times New Roman"/>
                <a:cs typeface="Times New Roman"/>
                <a:sym typeface="Times New Roman"/>
              </a:rPr>
              <a:t>size=100)</a:t>
            </a:r>
            <a:endParaRPr/>
          </a:p>
          <a:p>
            <a:pPr indent="0" lvl="2" marL="800100" rtl="0" algn="just">
              <a:spcBef>
                <a:spcPts val="400"/>
              </a:spcBef>
              <a:spcAft>
                <a:spcPts val="0"/>
              </a:spcAft>
              <a:buClr>
                <a:schemeClr val="dk1"/>
              </a:buClr>
              <a:buSzPts val="2000"/>
              <a:buNone/>
            </a:pPr>
            <a:r>
              <a:rPr lang="en-US" sz="2000">
                <a:latin typeface="Times New Roman"/>
                <a:ea typeface="Times New Roman"/>
                <a:cs typeface="Times New Roman"/>
                <a:sym typeface="Times New Roman"/>
              </a:rPr>
              <a:t>short_breaks_in_engineering = stats.poisson.rvs(loc=10, mu=15,</a:t>
            </a:r>
            <a:endParaRPr/>
          </a:p>
          <a:p>
            <a:pPr indent="0" lvl="2" marL="800100" rtl="0" algn="just">
              <a:spcBef>
                <a:spcPts val="400"/>
              </a:spcBef>
              <a:spcAft>
                <a:spcPts val="0"/>
              </a:spcAft>
              <a:buClr>
                <a:schemeClr val="dk1"/>
              </a:buClr>
              <a:buSzPts val="2000"/>
              <a:buNone/>
            </a:pPr>
            <a:r>
              <a:rPr lang="en-US" sz="2000">
                <a:latin typeface="Times New Roman"/>
                <a:ea typeface="Times New Roman"/>
                <a:cs typeface="Times New Roman"/>
                <a:sym typeface="Times New Roman"/>
              </a:rPr>
              <a:t>size=300)</a:t>
            </a:r>
            <a:endParaRPr/>
          </a:p>
          <a:p>
            <a:pPr indent="0" lvl="2" marL="800100" rtl="0" algn="just">
              <a:spcBef>
                <a:spcPts val="400"/>
              </a:spcBef>
              <a:spcAft>
                <a:spcPts val="0"/>
              </a:spcAft>
              <a:buClr>
                <a:schemeClr val="dk1"/>
              </a:buClr>
              <a:buSzPts val="2000"/>
              <a:buNone/>
            </a:pPr>
            <a:r>
              <a:rPr lang="en-US" sz="2000">
                <a:latin typeface="Times New Roman"/>
                <a:ea typeface="Times New Roman"/>
                <a:cs typeface="Times New Roman"/>
                <a:sym typeface="Times New Roman"/>
              </a:rPr>
              <a:t>engineering_breaks = np.concatenate((long_breaks_in_engineering,</a:t>
            </a:r>
            <a:endParaRPr/>
          </a:p>
          <a:p>
            <a:pPr indent="0" lvl="2" marL="800100" rtl="0" algn="just">
              <a:spcBef>
                <a:spcPts val="400"/>
              </a:spcBef>
              <a:spcAft>
                <a:spcPts val="0"/>
              </a:spcAft>
              <a:buClr>
                <a:schemeClr val="dk1"/>
              </a:buClr>
              <a:buSzPts val="2000"/>
              <a:buNone/>
            </a:pPr>
            <a:r>
              <a:rPr lang="en-US" sz="2000">
                <a:latin typeface="Times New Roman"/>
                <a:ea typeface="Times New Roman"/>
                <a:cs typeface="Times New Roman"/>
                <a:sym typeface="Times New Roman"/>
              </a:rPr>
              <a:t>short_breaks_in_engineering))</a:t>
            </a:r>
            <a:endParaRPr/>
          </a:p>
          <a:p>
            <a:pPr indent="0" lvl="2" marL="800100" rtl="0" algn="just">
              <a:spcBef>
                <a:spcPts val="400"/>
              </a:spcBef>
              <a:spcAft>
                <a:spcPts val="0"/>
              </a:spcAft>
              <a:buClr>
                <a:schemeClr val="dk1"/>
              </a:buClr>
              <a:buSzPts val="2000"/>
              <a:buNone/>
            </a:pPr>
            <a:r>
              <a:rPr lang="en-US" sz="2000">
                <a:latin typeface="Times New Roman"/>
                <a:ea typeface="Times New Roman"/>
                <a:cs typeface="Times New Roman"/>
                <a:sym typeface="Times New Roman"/>
              </a:rPr>
              <a:t>print breaks.mean()</a:t>
            </a:r>
            <a:endParaRPr/>
          </a:p>
          <a:p>
            <a:pPr indent="0" lvl="2" marL="800100" rtl="0" algn="just">
              <a:spcBef>
                <a:spcPts val="400"/>
              </a:spcBef>
              <a:spcAft>
                <a:spcPts val="0"/>
              </a:spcAft>
              <a:buClr>
                <a:schemeClr val="dk1"/>
              </a:buClr>
              <a:buSzPts val="2000"/>
              <a:buNone/>
            </a:pPr>
            <a:r>
              <a:rPr lang="en-US" sz="2000">
                <a:latin typeface="Times New Roman"/>
                <a:ea typeface="Times New Roman"/>
                <a:cs typeface="Times New Roman"/>
                <a:sym typeface="Times New Roman"/>
              </a:rPr>
              <a:t># 39.99</a:t>
            </a:r>
            <a:endParaRPr/>
          </a:p>
          <a:p>
            <a:pPr indent="0" lvl="2" marL="800100" rtl="0" algn="just">
              <a:spcBef>
                <a:spcPts val="400"/>
              </a:spcBef>
              <a:spcAft>
                <a:spcPts val="0"/>
              </a:spcAft>
              <a:buClr>
                <a:schemeClr val="dk1"/>
              </a:buClr>
              <a:buSzPts val="2000"/>
              <a:buNone/>
            </a:pPr>
            <a:r>
              <a:rPr lang="en-US" sz="2000">
                <a:latin typeface="Times New Roman"/>
                <a:ea typeface="Times New Roman"/>
                <a:cs typeface="Times New Roman"/>
                <a:sym typeface="Times New Roman"/>
              </a:rPr>
              <a:t>print engineering_breaks.mean()</a:t>
            </a:r>
            <a:endParaRPr/>
          </a:p>
          <a:p>
            <a:pPr indent="0" lvl="2" marL="800100" rtl="0" algn="just">
              <a:spcBef>
                <a:spcPts val="400"/>
              </a:spcBef>
              <a:spcAft>
                <a:spcPts val="0"/>
              </a:spcAft>
              <a:buClr>
                <a:schemeClr val="dk1"/>
              </a:buClr>
              <a:buSzPts val="2000"/>
              <a:buNone/>
            </a:pPr>
            <a:r>
              <a:rPr lang="en-US" sz="2000">
                <a:latin typeface="Times New Roman"/>
                <a:ea typeface="Times New Roman"/>
                <a:cs typeface="Times New Roman"/>
                <a:sym typeface="Times New Roman"/>
              </a:rPr>
              <a:t># 34.825</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41"/>
          <p:cNvSpPr txBox="1"/>
          <p:nvPr>
            <p:ph idx="1" type="body"/>
          </p:nvPr>
        </p:nvSpPr>
        <p:spPr>
          <a:xfrm>
            <a:off x="457200" y="457200"/>
            <a:ext cx="8458200" cy="60198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2100"/>
              <a:buChar char="•"/>
            </a:pPr>
            <a:r>
              <a:rPr lang="en-US" sz="2100">
                <a:latin typeface="Times New Roman"/>
                <a:ea typeface="Times New Roman"/>
                <a:cs typeface="Times New Roman"/>
                <a:sym typeface="Times New Roman"/>
              </a:rPr>
              <a:t>Note that I took the same approach as making the original break times, but with the following two differences:</a:t>
            </a:r>
            <a:endParaRPr/>
          </a:p>
          <a:p>
            <a:pPr indent="-174625" lvl="1" marL="857250" rtl="0" algn="just">
              <a:spcBef>
                <a:spcPts val="420"/>
              </a:spcBef>
              <a:spcAft>
                <a:spcPts val="0"/>
              </a:spcAft>
              <a:buClr>
                <a:schemeClr val="dk1"/>
              </a:buClr>
              <a:buSzPts val="2100"/>
              <a:buFont typeface="Noto Sans Symbols"/>
              <a:buChar char="⮚"/>
            </a:pPr>
            <a:r>
              <a:rPr lang="en-US" sz="2100">
                <a:latin typeface="Times New Roman"/>
                <a:ea typeface="Times New Roman"/>
                <a:cs typeface="Times New Roman"/>
                <a:sym typeface="Times New Roman"/>
              </a:rPr>
              <a:t>I took a smaller sample from the Poisson distribution (to simulate that we took a sample of 400 people from the engineering department)</a:t>
            </a:r>
            <a:endParaRPr/>
          </a:p>
          <a:p>
            <a:pPr indent="-174625" lvl="1" marL="857250" rtl="0" algn="just">
              <a:spcBef>
                <a:spcPts val="420"/>
              </a:spcBef>
              <a:spcAft>
                <a:spcPts val="0"/>
              </a:spcAft>
              <a:buClr>
                <a:schemeClr val="dk1"/>
              </a:buClr>
              <a:buSzPts val="2100"/>
              <a:buFont typeface="Noto Sans Symbols"/>
              <a:buChar char="⮚"/>
            </a:pPr>
            <a:r>
              <a:rPr lang="en-US" sz="2100">
                <a:latin typeface="Times New Roman"/>
                <a:ea typeface="Times New Roman"/>
                <a:cs typeface="Times New Roman"/>
                <a:sym typeface="Times New Roman"/>
              </a:rPr>
              <a:t>Instead of using a </a:t>
            </a:r>
            <a:r>
              <a:rPr i="1" lang="en-US" sz="2100">
                <a:latin typeface="Times New Roman"/>
                <a:ea typeface="Times New Roman"/>
                <a:cs typeface="Times New Roman"/>
                <a:sym typeface="Times New Roman"/>
              </a:rPr>
              <a:t>mu</a:t>
            </a:r>
            <a:r>
              <a:rPr lang="en-US" sz="2100">
                <a:latin typeface="Times New Roman"/>
                <a:ea typeface="Times New Roman"/>
                <a:cs typeface="Times New Roman"/>
                <a:sym typeface="Times New Roman"/>
              </a:rPr>
              <a:t> of 60 as before, I used 55 to simulate the fact that the engineering department's break behavior isn't exactly the same as the company's behavior as a whole</a:t>
            </a:r>
            <a:endParaRPr/>
          </a:p>
          <a:p>
            <a:pPr indent="-342900" lvl="0" marL="342900" rtl="0" algn="just">
              <a:spcBef>
                <a:spcPts val="420"/>
              </a:spcBef>
              <a:spcAft>
                <a:spcPts val="0"/>
              </a:spcAft>
              <a:buClr>
                <a:schemeClr val="dk1"/>
              </a:buClr>
              <a:buSzPts val="2100"/>
              <a:buChar char="•"/>
            </a:pPr>
            <a:r>
              <a:rPr lang="en-US" sz="2100">
                <a:latin typeface="Times New Roman"/>
                <a:ea typeface="Times New Roman"/>
                <a:cs typeface="Times New Roman"/>
                <a:sym typeface="Times New Roman"/>
              </a:rPr>
              <a:t>It is easy to see that there seems to be a difference (of over 5 minutes) between the engineering department and the company as a whole. </a:t>
            </a:r>
            <a:endParaRPr sz="2100">
              <a:latin typeface="Times New Roman"/>
              <a:ea typeface="Times New Roman"/>
              <a:cs typeface="Times New Roman"/>
              <a:sym typeface="Times New Roman"/>
            </a:endParaRPr>
          </a:p>
          <a:p>
            <a:pPr indent="-342900" lvl="0" marL="342900" rtl="0" algn="just">
              <a:spcBef>
                <a:spcPts val="420"/>
              </a:spcBef>
              <a:spcAft>
                <a:spcPts val="0"/>
              </a:spcAft>
              <a:buClr>
                <a:schemeClr val="dk1"/>
              </a:buClr>
              <a:buSzPts val="2100"/>
              <a:buChar char="•"/>
            </a:pPr>
            <a:r>
              <a:rPr lang="en-US" sz="2100">
                <a:latin typeface="Times New Roman"/>
                <a:ea typeface="Times New Roman"/>
                <a:cs typeface="Times New Roman"/>
                <a:sym typeface="Times New Roman"/>
              </a:rPr>
              <a:t>We usually don't have the entire population and the population parameters at our disposal, but I have them simulated in order to see the example work. </a:t>
            </a:r>
            <a:endParaRPr sz="2100">
              <a:latin typeface="Times New Roman"/>
              <a:ea typeface="Times New Roman"/>
              <a:cs typeface="Times New Roman"/>
              <a:sym typeface="Times New Roman"/>
            </a:endParaRPr>
          </a:p>
          <a:p>
            <a:pPr indent="-342900" lvl="0" marL="342900" rtl="0" algn="just">
              <a:spcBef>
                <a:spcPts val="420"/>
              </a:spcBef>
              <a:spcAft>
                <a:spcPts val="0"/>
              </a:spcAft>
              <a:buClr>
                <a:schemeClr val="dk1"/>
              </a:buClr>
              <a:buSzPts val="2100"/>
              <a:buChar char="•"/>
            </a:pPr>
            <a:r>
              <a:rPr lang="en-US" sz="2100">
                <a:latin typeface="Times New Roman"/>
                <a:ea typeface="Times New Roman"/>
                <a:cs typeface="Times New Roman"/>
                <a:sym typeface="Times New Roman"/>
              </a:rPr>
              <a:t>So, even though we (the omniscient readers) can see a difference, we will assume that we know nothing of these population parameters and, instead, rely on a statistical test in order to ascertain these differences.</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4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Times New Roman"/>
              <a:buNone/>
            </a:pPr>
            <a:r>
              <a:rPr b="1" lang="en-US">
                <a:latin typeface="Times New Roman"/>
                <a:ea typeface="Times New Roman"/>
                <a:cs typeface="Times New Roman"/>
                <a:sym typeface="Times New Roman"/>
              </a:rPr>
              <a:t>Example of a one sample t-tests</a:t>
            </a:r>
            <a:endParaRPr>
              <a:latin typeface="Times New Roman"/>
              <a:ea typeface="Times New Roman"/>
              <a:cs typeface="Times New Roman"/>
              <a:sym typeface="Times New Roman"/>
            </a:endParaRPr>
          </a:p>
        </p:txBody>
      </p:sp>
      <p:sp>
        <p:nvSpPr>
          <p:cNvPr id="247" name="Google Shape;247;p4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a:bodyPr>
          <a:lstStyle/>
          <a:p>
            <a:pPr indent="-342900" lvl="0" marL="342900" rtl="0" algn="just">
              <a:spcBef>
                <a:spcPts val="0"/>
              </a:spcBef>
              <a:spcAft>
                <a:spcPts val="0"/>
              </a:spcAft>
              <a:buClr>
                <a:schemeClr val="dk1"/>
              </a:buClr>
              <a:buSzPct val="100000"/>
              <a:buChar char="•"/>
            </a:pPr>
            <a:r>
              <a:rPr lang="en-US">
                <a:latin typeface="Times New Roman"/>
                <a:ea typeface="Times New Roman"/>
                <a:cs typeface="Times New Roman"/>
                <a:sym typeface="Times New Roman"/>
              </a:rPr>
              <a:t>Our objective here is to ascertain </a:t>
            </a:r>
            <a:r>
              <a:rPr i="1" lang="en-US">
                <a:latin typeface="Times New Roman"/>
                <a:ea typeface="Times New Roman"/>
                <a:cs typeface="Times New Roman"/>
                <a:sym typeface="Times New Roman"/>
              </a:rPr>
              <a:t>whether there is a difference between the overall population's (company employees) break times and break times of employees in the engineering department</a:t>
            </a:r>
            <a:r>
              <a:rPr lang="en-US">
                <a:latin typeface="Times New Roman"/>
                <a:ea typeface="Times New Roman"/>
                <a:cs typeface="Times New Roman"/>
                <a:sym typeface="Times New Roman"/>
              </a:rPr>
              <a:t>.</a:t>
            </a:r>
            <a:endParaRPr/>
          </a:p>
          <a:p>
            <a:pPr indent="-342900" lvl="0" marL="342900" rtl="0" algn="just">
              <a:spcBef>
                <a:spcPts val="592"/>
              </a:spcBef>
              <a:spcAft>
                <a:spcPts val="0"/>
              </a:spcAft>
              <a:buClr>
                <a:schemeClr val="dk1"/>
              </a:buClr>
              <a:buSzPct val="100000"/>
              <a:buChar char="•"/>
            </a:pPr>
            <a:r>
              <a:rPr lang="en-US">
                <a:latin typeface="Times New Roman"/>
                <a:ea typeface="Times New Roman"/>
                <a:cs typeface="Times New Roman"/>
                <a:sym typeface="Times New Roman"/>
              </a:rPr>
              <a:t>Let us now conduct a t-test at a 95% confidence level in order to find a difference (or not!). Technically speaking, this test will tell us if the sample comes from the same distribution as the population.</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43"/>
          <p:cNvSpPr txBox="1"/>
          <p:nvPr>
            <p:ph type="title"/>
          </p:nvPr>
        </p:nvSpPr>
        <p:spPr>
          <a:xfrm>
            <a:off x="457200" y="274638"/>
            <a:ext cx="8229600" cy="8683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Times New Roman"/>
              <a:buNone/>
            </a:pPr>
            <a:r>
              <a:rPr b="1" lang="en-US" sz="3600">
                <a:latin typeface="Times New Roman"/>
                <a:ea typeface="Times New Roman"/>
                <a:cs typeface="Times New Roman"/>
                <a:sym typeface="Times New Roman"/>
              </a:rPr>
              <a:t>Assumptions of the one sample t-tests</a:t>
            </a:r>
            <a:endParaRPr sz="3600">
              <a:latin typeface="Times New Roman"/>
              <a:ea typeface="Times New Roman"/>
              <a:cs typeface="Times New Roman"/>
              <a:sym typeface="Times New Roman"/>
            </a:endParaRPr>
          </a:p>
        </p:txBody>
      </p:sp>
      <p:sp>
        <p:nvSpPr>
          <p:cNvPr id="253" name="Google Shape;253;p43"/>
          <p:cNvSpPr txBox="1"/>
          <p:nvPr>
            <p:ph idx="1" type="body"/>
          </p:nvPr>
        </p:nvSpPr>
        <p:spPr>
          <a:xfrm>
            <a:off x="304800" y="1219200"/>
            <a:ext cx="8458200" cy="5334000"/>
          </a:xfrm>
          <a:prstGeom prst="rect">
            <a:avLst/>
          </a:prstGeom>
          <a:noFill/>
          <a:ln>
            <a:noFill/>
          </a:ln>
        </p:spPr>
        <p:txBody>
          <a:bodyPr anchorCtr="0" anchor="t" bIns="45700" lIns="91425" spcFirstLastPara="1" rIns="91425" wrap="square" tIns="45700">
            <a:normAutofit fontScale="70000" lnSpcReduction="20000"/>
          </a:bodyPr>
          <a:lstStyle/>
          <a:p>
            <a:pPr indent="-342900" lvl="0" marL="342900" rtl="0" algn="just">
              <a:spcBef>
                <a:spcPts val="0"/>
              </a:spcBef>
              <a:spcAft>
                <a:spcPts val="0"/>
              </a:spcAft>
              <a:buClr>
                <a:schemeClr val="dk1"/>
              </a:buClr>
              <a:buSzPct val="100000"/>
              <a:buChar char="•"/>
            </a:pPr>
            <a:r>
              <a:rPr lang="en-US">
                <a:latin typeface="Times New Roman"/>
                <a:ea typeface="Times New Roman"/>
                <a:cs typeface="Times New Roman"/>
                <a:sym typeface="Times New Roman"/>
              </a:rPr>
              <a:t>Before diving into the five steps, we must first acknowledge that t-tests must satisfy the following two conditions to work properly:</a:t>
            </a:r>
            <a:endParaRPr/>
          </a:p>
          <a:p>
            <a:pPr indent="-342900" lvl="2" marL="1143000" rtl="0" algn="just">
              <a:spcBef>
                <a:spcPts val="336"/>
              </a:spcBef>
              <a:spcAft>
                <a:spcPts val="0"/>
              </a:spcAft>
              <a:buClr>
                <a:schemeClr val="dk1"/>
              </a:buClr>
              <a:buSzPct val="100000"/>
              <a:buFont typeface="Noto Sans Symbols"/>
              <a:buChar char="⮚"/>
            </a:pPr>
            <a:r>
              <a:rPr lang="en-US">
                <a:latin typeface="Times New Roman"/>
                <a:ea typeface="Times New Roman"/>
                <a:cs typeface="Times New Roman"/>
                <a:sym typeface="Times New Roman"/>
              </a:rPr>
              <a:t>The population distribution should be normal, or the sample should be </a:t>
            </a:r>
            <a:r>
              <a:rPr i="1" lang="en-US">
                <a:latin typeface="Times New Roman"/>
                <a:ea typeface="Times New Roman"/>
                <a:cs typeface="Times New Roman"/>
                <a:sym typeface="Times New Roman"/>
              </a:rPr>
              <a:t>large </a:t>
            </a:r>
            <a:r>
              <a:rPr lang="en-US">
                <a:latin typeface="Times New Roman"/>
                <a:ea typeface="Times New Roman"/>
                <a:cs typeface="Times New Roman"/>
                <a:sym typeface="Times New Roman"/>
              </a:rPr>
              <a:t>(</a:t>
            </a:r>
            <a:r>
              <a:rPr i="1" lang="en-US">
                <a:latin typeface="Times New Roman"/>
                <a:ea typeface="Times New Roman"/>
                <a:cs typeface="Times New Roman"/>
                <a:sym typeface="Times New Roman"/>
              </a:rPr>
              <a:t>n ≥ 30</a:t>
            </a:r>
            <a:r>
              <a:rPr lang="en-US">
                <a:latin typeface="Times New Roman"/>
                <a:ea typeface="Times New Roman"/>
                <a:cs typeface="Times New Roman"/>
                <a:sym typeface="Times New Roman"/>
              </a:rPr>
              <a:t>).</a:t>
            </a:r>
            <a:endParaRPr/>
          </a:p>
          <a:p>
            <a:pPr indent="-342900" lvl="2" marL="1143000" rtl="0" algn="just">
              <a:spcBef>
                <a:spcPts val="336"/>
              </a:spcBef>
              <a:spcAft>
                <a:spcPts val="0"/>
              </a:spcAft>
              <a:buClr>
                <a:schemeClr val="dk1"/>
              </a:buClr>
              <a:buSzPct val="100000"/>
              <a:buFont typeface="Noto Sans Symbols"/>
              <a:buChar char="⮚"/>
            </a:pPr>
            <a:r>
              <a:rPr lang="en-US">
                <a:latin typeface="Times New Roman"/>
                <a:ea typeface="Times New Roman"/>
                <a:cs typeface="Times New Roman"/>
                <a:sym typeface="Times New Roman"/>
              </a:rPr>
              <a:t>In order to make the assumption that the sample is independently randomly sampled, it is sufficient to enforce that the population size should be at least 10 times larger than the sample size </a:t>
            </a:r>
            <a:r>
              <a:rPr i="1" lang="en-US">
                <a:latin typeface="Times New Roman"/>
                <a:ea typeface="Times New Roman"/>
                <a:cs typeface="Times New Roman"/>
                <a:sym typeface="Times New Roman"/>
              </a:rPr>
              <a:t>(10n &lt; N)</a:t>
            </a:r>
            <a:r>
              <a:rPr lang="en-US">
                <a:latin typeface="Times New Roman"/>
                <a:ea typeface="Times New Roman"/>
                <a:cs typeface="Times New Roman"/>
                <a:sym typeface="Times New Roman"/>
              </a:rPr>
              <a:t>.</a:t>
            </a:r>
            <a:endParaRPr/>
          </a:p>
          <a:p>
            <a:pPr indent="-342900" lvl="0" marL="342900" rtl="0" algn="just">
              <a:spcBef>
                <a:spcPts val="448"/>
              </a:spcBef>
              <a:spcAft>
                <a:spcPts val="0"/>
              </a:spcAft>
              <a:buClr>
                <a:schemeClr val="dk1"/>
              </a:buClr>
              <a:buSzPct val="100000"/>
              <a:buChar char="•"/>
            </a:pPr>
            <a:r>
              <a:rPr lang="en-US">
                <a:latin typeface="Times New Roman"/>
                <a:ea typeface="Times New Roman"/>
                <a:cs typeface="Times New Roman"/>
                <a:sym typeface="Times New Roman"/>
              </a:rPr>
              <a:t>Note that our test requires that either the underlying data be normal (which we know is not true for us), or that the sample size be at least 30 points large. </a:t>
            </a:r>
            <a:endParaRPr>
              <a:latin typeface="Times New Roman"/>
              <a:ea typeface="Times New Roman"/>
              <a:cs typeface="Times New Roman"/>
              <a:sym typeface="Times New Roman"/>
            </a:endParaRPr>
          </a:p>
          <a:p>
            <a:pPr indent="-342900" lvl="0" marL="342900" rtl="0" algn="just">
              <a:spcBef>
                <a:spcPts val="448"/>
              </a:spcBef>
              <a:spcAft>
                <a:spcPts val="0"/>
              </a:spcAft>
              <a:buClr>
                <a:schemeClr val="dk1"/>
              </a:buClr>
              <a:buSzPct val="100000"/>
              <a:buChar char="•"/>
            </a:pPr>
            <a:r>
              <a:rPr lang="en-US">
                <a:latin typeface="Times New Roman"/>
                <a:ea typeface="Times New Roman"/>
                <a:cs typeface="Times New Roman"/>
                <a:sym typeface="Times New Roman"/>
              </a:rPr>
              <a:t>For the t-test, this condition is sufficient to assume normality. This test also requires independence, which is satisfied by taking a sufficiently </a:t>
            </a:r>
            <a:r>
              <a:rPr i="1" lang="en-US">
                <a:latin typeface="Times New Roman"/>
                <a:ea typeface="Times New Roman"/>
                <a:cs typeface="Times New Roman"/>
                <a:sym typeface="Times New Roman"/>
              </a:rPr>
              <a:t>small </a:t>
            </a:r>
            <a:r>
              <a:rPr lang="en-US">
                <a:latin typeface="Times New Roman"/>
                <a:ea typeface="Times New Roman"/>
                <a:cs typeface="Times New Roman"/>
                <a:sym typeface="Times New Roman"/>
              </a:rPr>
              <a:t>sample. Sounds weird, right? </a:t>
            </a:r>
            <a:endParaRPr>
              <a:latin typeface="Times New Roman"/>
              <a:ea typeface="Times New Roman"/>
              <a:cs typeface="Times New Roman"/>
              <a:sym typeface="Times New Roman"/>
            </a:endParaRPr>
          </a:p>
          <a:p>
            <a:pPr indent="-342900" lvl="0" marL="342900" rtl="0" algn="just">
              <a:spcBef>
                <a:spcPts val="448"/>
              </a:spcBef>
              <a:spcAft>
                <a:spcPts val="0"/>
              </a:spcAft>
              <a:buClr>
                <a:schemeClr val="dk1"/>
              </a:buClr>
              <a:buSzPct val="100000"/>
              <a:buChar char="•"/>
            </a:pPr>
            <a:r>
              <a:rPr lang="en-US">
                <a:latin typeface="Times New Roman"/>
                <a:ea typeface="Times New Roman"/>
                <a:cs typeface="Times New Roman"/>
                <a:sym typeface="Times New Roman"/>
              </a:rPr>
              <a:t>The basic idea is that our sample must be large enough to assume normality (through conclusions similar to the central limit theorem) but small enough as to be </a:t>
            </a:r>
            <a:r>
              <a:rPr i="1" lang="en-US">
                <a:latin typeface="Times New Roman"/>
                <a:ea typeface="Times New Roman"/>
                <a:cs typeface="Times New Roman"/>
                <a:sym typeface="Times New Roman"/>
              </a:rPr>
              <a:t>independent </a:t>
            </a:r>
            <a:r>
              <a:rPr lang="en-US">
                <a:latin typeface="Times New Roman"/>
                <a:ea typeface="Times New Roman"/>
                <a:cs typeface="Times New Roman"/>
                <a:sym typeface="Times New Roman"/>
              </a:rPr>
              <a:t>from the population.</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44"/>
          <p:cNvSpPr txBox="1"/>
          <p:nvPr>
            <p:ph idx="1" type="body"/>
          </p:nvPr>
        </p:nvSpPr>
        <p:spPr>
          <a:xfrm>
            <a:off x="457200" y="304800"/>
            <a:ext cx="8229600" cy="64008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000"/>
              <a:buChar char="•"/>
            </a:pPr>
            <a:r>
              <a:rPr lang="en-US" sz="2000"/>
              <a:t>Now, let's follow our five steps:</a:t>
            </a:r>
            <a:endParaRPr/>
          </a:p>
          <a:p>
            <a:pPr indent="-347663" lvl="1" marL="404813" rtl="0" algn="l">
              <a:spcBef>
                <a:spcPts val="400"/>
              </a:spcBef>
              <a:spcAft>
                <a:spcPts val="0"/>
              </a:spcAft>
              <a:buClr>
                <a:schemeClr val="dk1"/>
              </a:buClr>
              <a:buSzPts val="2000"/>
              <a:buFont typeface="Calibri"/>
              <a:buAutoNum type="arabicPeriod"/>
            </a:pPr>
            <a:r>
              <a:rPr lang="en-US" sz="2000"/>
              <a:t>Specify the hypotheses.</a:t>
            </a:r>
            <a:endParaRPr/>
          </a:p>
          <a:p>
            <a:pPr indent="0" lvl="1" marL="400050" rtl="0" algn="l">
              <a:spcBef>
                <a:spcPts val="400"/>
              </a:spcBef>
              <a:spcAft>
                <a:spcPts val="0"/>
              </a:spcAft>
              <a:buClr>
                <a:schemeClr val="dk1"/>
              </a:buClr>
              <a:buSzPts val="2000"/>
              <a:buNone/>
            </a:pPr>
            <a:r>
              <a:rPr lang="en-US" sz="2000"/>
              <a:t>We will let </a:t>
            </a:r>
            <a:r>
              <a:rPr i="1" lang="en-US" sz="2000"/>
              <a:t>H</a:t>
            </a:r>
            <a:r>
              <a:rPr baseline="-25000" i="1" lang="en-US" sz="2000"/>
              <a:t>0</a:t>
            </a:r>
            <a:r>
              <a:rPr i="1" lang="en-US" sz="2000"/>
              <a:t> = the engineering department takes breaks the same as the company as a whole</a:t>
            </a:r>
            <a:endParaRPr/>
          </a:p>
          <a:p>
            <a:pPr indent="0" lvl="1" marL="400050" rtl="0" algn="l">
              <a:spcBef>
                <a:spcPts val="400"/>
              </a:spcBef>
              <a:spcAft>
                <a:spcPts val="0"/>
              </a:spcAft>
              <a:buClr>
                <a:schemeClr val="dk1"/>
              </a:buClr>
              <a:buSzPts val="2000"/>
              <a:buNone/>
            </a:pPr>
            <a:r>
              <a:rPr lang="en-US" sz="2000"/>
              <a:t>If we let this be the company average, we may write:</a:t>
            </a:r>
            <a:endParaRPr/>
          </a:p>
          <a:p>
            <a:pPr indent="0" lvl="1" marL="400050" rtl="0" algn="ctr">
              <a:spcBef>
                <a:spcPts val="400"/>
              </a:spcBef>
              <a:spcAft>
                <a:spcPts val="0"/>
              </a:spcAft>
              <a:buClr>
                <a:srgbClr val="FF0000"/>
              </a:buClr>
              <a:buSzPts val="2000"/>
              <a:buNone/>
            </a:pPr>
            <a:r>
              <a:rPr b="1" i="1" lang="en-US" sz="2000">
                <a:solidFill>
                  <a:srgbClr val="FF0000"/>
                </a:solidFill>
              </a:rPr>
              <a:t>H</a:t>
            </a:r>
            <a:r>
              <a:rPr b="1" baseline="-25000" i="1" lang="en-US" sz="2000">
                <a:solidFill>
                  <a:srgbClr val="FF0000"/>
                </a:solidFill>
              </a:rPr>
              <a:t>0</a:t>
            </a:r>
            <a:r>
              <a:rPr b="1" i="1" lang="en-US" sz="2000">
                <a:solidFill>
                  <a:srgbClr val="FF0000"/>
                </a:solidFill>
              </a:rPr>
              <a:t>:</a:t>
            </a:r>
            <a:endParaRPr/>
          </a:p>
          <a:p>
            <a:pPr indent="0" lvl="1" marL="400050" rtl="0" algn="l">
              <a:spcBef>
                <a:spcPts val="400"/>
              </a:spcBef>
              <a:spcAft>
                <a:spcPts val="0"/>
              </a:spcAft>
              <a:buClr>
                <a:schemeClr val="dk1"/>
              </a:buClr>
              <a:buSzPts val="2000"/>
              <a:buNone/>
            </a:pPr>
            <a:r>
              <a:rPr lang="en-US" sz="2000"/>
              <a:t>Note how this is our </a:t>
            </a:r>
            <a:r>
              <a:rPr i="1" lang="en-US" sz="2000"/>
              <a:t>null</a:t>
            </a:r>
            <a:r>
              <a:rPr lang="en-US" sz="2000"/>
              <a:t>, or </a:t>
            </a:r>
            <a:r>
              <a:rPr i="1" lang="en-US" sz="2000"/>
              <a:t>default</a:t>
            </a:r>
            <a:r>
              <a:rPr lang="en-US" sz="2000"/>
              <a:t>, hypothesis. It is what we would assume, given no data. What we would like to show is the </a:t>
            </a:r>
            <a:r>
              <a:rPr b="1" lang="en-US" sz="2000"/>
              <a:t>alternative hypothesis</a:t>
            </a:r>
            <a:r>
              <a:rPr lang="en-US" sz="2000"/>
              <a:t>.</a:t>
            </a:r>
            <a:endParaRPr/>
          </a:p>
          <a:p>
            <a:pPr indent="0" lvl="0" marL="0" rtl="0" algn="l">
              <a:spcBef>
                <a:spcPts val="400"/>
              </a:spcBef>
              <a:spcAft>
                <a:spcPts val="0"/>
              </a:spcAft>
              <a:buClr>
                <a:schemeClr val="dk1"/>
              </a:buClr>
              <a:buSzPts val="2000"/>
              <a:buNone/>
            </a:pPr>
            <a:r>
              <a:rPr lang="en-US" sz="2000"/>
              <a:t>	</a:t>
            </a:r>
            <a:endParaRPr/>
          </a:p>
          <a:p>
            <a:pPr indent="0" lvl="1" marL="400050" rtl="0" algn="l">
              <a:spcBef>
                <a:spcPts val="400"/>
              </a:spcBef>
              <a:spcAft>
                <a:spcPts val="0"/>
              </a:spcAft>
              <a:buClr>
                <a:schemeClr val="dk1"/>
              </a:buClr>
              <a:buSzPts val="2000"/>
              <a:buNone/>
            </a:pPr>
            <a:r>
              <a:rPr lang="en-US" sz="2000"/>
              <a:t>Now that we actually have some options for our alternative, we could either say that the engineering mean (let's call it that) is lower than the company average, higher than the company average, or just flat out different (higher or lower) than the company average:</a:t>
            </a:r>
            <a:endParaRPr/>
          </a:p>
          <a:p>
            <a:pPr indent="-231775" lvl="0" marL="914400" rtl="0" algn="l">
              <a:spcBef>
                <a:spcPts val="400"/>
              </a:spcBef>
              <a:spcAft>
                <a:spcPts val="0"/>
              </a:spcAft>
              <a:buClr>
                <a:schemeClr val="dk1"/>
              </a:buClr>
              <a:buSzPts val="2000"/>
              <a:buFont typeface="Noto Sans Symbols"/>
              <a:buChar char="⮚"/>
            </a:pPr>
            <a:r>
              <a:rPr lang="en-US" sz="2000"/>
              <a:t> If we wish to answer the question, </a:t>
            </a:r>
            <a:r>
              <a:rPr i="1" lang="en-US" sz="2000"/>
              <a:t>is the sample mean different from the company average</a:t>
            </a:r>
            <a:r>
              <a:rPr lang="en-US" sz="2000"/>
              <a:t>, then this is called a </a:t>
            </a:r>
            <a:r>
              <a:rPr b="1" lang="en-US" sz="2000"/>
              <a:t>two-tailed test </a:t>
            </a:r>
            <a:r>
              <a:rPr lang="en-US" sz="2000"/>
              <a:t>and our alternative hypothesis would be as follows:</a:t>
            </a:r>
            <a:endParaRPr/>
          </a:p>
          <a:p>
            <a:pPr indent="0" lvl="1" marL="400050" rtl="0" algn="ctr">
              <a:spcBef>
                <a:spcPts val="400"/>
              </a:spcBef>
              <a:spcAft>
                <a:spcPts val="0"/>
              </a:spcAft>
              <a:buClr>
                <a:srgbClr val="FF0000"/>
              </a:buClr>
              <a:buSzPts val="2000"/>
              <a:buNone/>
            </a:pPr>
            <a:r>
              <a:rPr b="1" i="1" lang="en-US" sz="2000">
                <a:solidFill>
                  <a:srgbClr val="FF0000"/>
                </a:solidFill>
              </a:rPr>
              <a:t>H</a:t>
            </a:r>
            <a:r>
              <a:rPr b="1" baseline="-25000" i="1" lang="en-US" sz="2000">
                <a:solidFill>
                  <a:srgbClr val="FF0000"/>
                </a:solidFill>
              </a:rPr>
              <a:t>a</a:t>
            </a:r>
            <a:r>
              <a:rPr b="1" i="1" lang="en-US" sz="2000">
                <a:solidFill>
                  <a:srgbClr val="FF0000"/>
                </a:solidFill>
              </a:rPr>
              <a:t>:</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45"/>
          <p:cNvSpPr txBox="1"/>
          <p:nvPr>
            <p:ph idx="1" type="body"/>
          </p:nvPr>
        </p:nvSpPr>
        <p:spPr>
          <a:xfrm>
            <a:off x="457200" y="304800"/>
            <a:ext cx="8229600" cy="5821363"/>
          </a:xfrm>
          <a:prstGeom prst="rect">
            <a:avLst/>
          </a:prstGeom>
          <a:noFill/>
          <a:ln>
            <a:noFill/>
          </a:ln>
        </p:spPr>
        <p:txBody>
          <a:bodyPr anchorCtr="0" anchor="t" bIns="45700" lIns="91425" spcFirstLastPara="1" rIns="91425" wrap="square" tIns="45700">
            <a:noAutofit/>
          </a:bodyPr>
          <a:lstStyle/>
          <a:p>
            <a:pPr indent="-152400" lvl="0" marL="682625" rtl="0" algn="just">
              <a:spcBef>
                <a:spcPts val="0"/>
              </a:spcBef>
              <a:spcAft>
                <a:spcPts val="0"/>
              </a:spcAft>
              <a:buClr>
                <a:schemeClr val="dk1"/>
              </a:buClr>
              <a:buSzPts val="2400"/>
              <a:buFont typeface="Noto Sans Symbols"/>
              <a:buChar char="⮚"/>
            </a:pPr>
            <a:r>
              <a:rPr lang="en-US" sz="2400">
                <a:latin typeface="Times New Roman"/>
                <a:ea typeface="Times New Roman"/>
                <a:cs typeface="Times New Roman"/>
                <a:sym typeface="Times New Roman"/>
              </a:rPr>
              <a:t> If we want to answer </a:t>
            </a:r>
            <a:r>
              <a:rPr i="1" lang="en-US" sz="2400">
                <a:latin typeface="Times New Roman"/>
                <a:ea typeface="Times New Roman"/>
                <a:cs typeface="Times New Roman"/>
                <a:sym typeface="Times New Roman"/>
              </a:rPr>
              <a:t>either is the sample mean lower than the company average or is the sample mean higher than the company average</a:t>
            </a:r>
            <a:r>
              <a:rPr lang="en-US" sz="2400">
                <a:latin typeface="Times New Roman"/>
                <a:ea typeface="Times New Roman"/>
                <a:cs typeface="Times New Roman"/>
                <a:sym typeface="Times New Roman"/>
              </a:rPr>
              <a:t>, then we are dealing with a </a:t>
            </a:r>
            <a:r>
              <a:rPr b="1" lang="en-US" sz="2400">
                <a:latin typeface="Times New Roman"/>
                <a:ea typeface="Times New Roman"/>
                <a:cs typeface="Times New Roman"/>
                <a:sym typeface="Times New Roman"/>
              </a:rPr>
              <a:t>one-tailed test </a:t>
            </a:r>
            <a:r>
              <a:rPr lang="en-US" sz="2400">
                <a:latin typeface="Times New Roman"/>
                <a:ea typeface="Times New Roman"/>
                <a:cs typeface="Times New Roman"/>
                <a:sym typeface="Times New Roman"/>
              </a:rPr>
              <a:t>and our alternative hypothesis would be one or the other of the following hypotheses:</a:t>
            </a:r>
            <a:endParaRPr/>
          </a:p>
          <a:p>
            <a:pPr indent="0" lvl="2" marL="800100" rtl="0" algn="just">
              <a:spcBef>
                <a:spcPts val="480"/>
              </a:spcBef>
              <a:spcAft>
                <a:spcPts val="0"/>
              </a:spcAft>
              <a:buClr>
                <a:srgbClr val="FF0000"/>
              </a:buClr>
              <a:buSzPts val="2400"/>
              <a:buNone/>
            </a:pPr>
            <a:r>
              <a:rPr b="1" i="1" lang="en-US">
                <a:solidFill>
                  <a:srgbClr val="FF0000"/>
                </a:solidFill>
                <a:latin typeface="Times New Roman"/>
                <a:ea typeface="Times New Roman"/>
                <a:cs typeface="Times New Roman"/>
                <a:sym typeface="Times New Roman"/>
              </a:rPr>
              <a:t>Ha:(engineering takes longer breaks)</a:t>
            </a:r>
            <a:endParaRPr/>
          </a:p>
          <a:p>
            <a:pPr indent="0" lvl="2" marL="800100" rtl="0" algn="just">
              <a:spcBef>
                <a:spcPts val="480"/>
              </a:spcBef>
              <a:spcAft>
                <a:spcPts val="0"/>
              </a:spcAft>
              <a:buClr>
                <a:srgbClr val="FF0000"/>
              </a:buClr>
              <a:buSzPts val="2400"/>
              <a:buNone/>
            </a:pPr>
            <a:r>
              <a:rPr b="1" i="1" lang="en-US">
                <a:solidFill>
                  <a:srgbClr val="FF0000"/>
                </a:solidFill>
                <a:latin typeface="Times New Roman"/>
                <a:ea typeface="Times New Roman"/>
                <a:cs typeface="Times New Roman"/>
                <a:sym typeface="Times New Roman"/>
              </a:rPr>
              <a:t>Ha:(engineering takes shorter breaks)</a:t>
            </a:r>
            <a:endParaRPr b="1">
              <a:solidFill>
                <a:srgbClr val="FF0000"/>
              </a:solidFill>
              <a:latin typeface="Times New Roman"/>
              <a:ea typeface="Times New Roman"/>
              <a:cs typeface="Times New Roman"/>
              <a:sym typeface="Times New Roman"/>
            </a:endParaRPr>
          </a:p>
          <a:p>
            <a:pPr indent="-342900" lvl="0" marL="342900" rtl="0" algn="just">
              <a:spcBef>
                <a:spcPts val="480"/>
              </a:spcBef>
              <a:spcAft>
                <a:spcPts val="0"/>
              </a:spcAft>
              <a:buClr>
                <a:schemeClr val="dk1"/>
              </a:buClr>
              <a:buSzPts val="2400"/>
              <a:buChar char="•"/>
            </a:pPr>
            <a:r>
              <a:rPr lang="en-US" sz="2400">
                <a:latin typeface="Times New Roman"/>
                <a:ea typeface="Times New Roman"/>
                <a:cs typeface="Times New Roman"/>
                <a:sym typeface="Times New Roman"/>
              </a:rPr>
              <a:t>The difference between one and two tails is the difference of dividing a number later on by 2 or not. The process remains completely unchanged for both. For this example, let's choose the two-tailed test. So, we are testing for whether or not this sample of the engineering department's average break times is different from the company average.</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46"/>
          <p:cNvSpPr txBox="1"/>
          <p:nvPr>
            <p:ph idx="1" type="body"/>
          </p:nvPr>
        </p:nvSpPr>
        <p:spPr>
          <a:xfrm>
            <a:off x="457200" y="304800"/>
            <a:ext cx="8229600" cy="5821363"/>
          </a:xfrm>
          <a:prstGeom prst="rect">
            <a:avLst/>
          </a:prstGeom>
          <a:noFill/>
          <a:ln>
            <a:noFill/>
          </a:ln>
        </p:spPr>
        <p:txBody>
          <a:bodyPr anchorCtr="0" anchor="t" bIns="45700" lIns="91425" spcFirstLastPara="1" rIns="91425" wrap="square" tIns="45700">
            <a:normAutofit fontScale="85000" lnSpcReduction="10000"/>
          </a:bodyPr>
          <a:lstStyle/>
          <a:p>
            <a:pPr indent="0" lvl="0" marL="0" rtl="0" algn="just">
              <a:spcBef>
                <a:spcPts val="0"/>
              </a:spcBef>
              <a:spcAft>
                <a:spcPts val="0"/>
              </a:spcAft>
              <a:buClr>
                <a:schemeClr val="dk1"/>
              </a:buClr>
              <a:buSzPct val="100000"/>
              <a:buNone/>
            </a:pPr>
            <a:r>
              <a:rPr lang="en-US">
                <a:latin typeface="Times New Roman"/>
                <a:ea typeface="Times New Roman"/>
                <a:cs typeface="Times New Roman"/>
                <a:sym typeface="Times New Roman"/>
              </a:rPr>
              <a:t>2. Determine the sample size for the test sample.</a:t>
            </a:r>
            <a:endParaRPr/>
          </a:p>
          <a:p>
            <a:pPr indent="0" lvl="0" marL="0" rtl="0" algn="just">
              <a:spcBef>
                <a:spcPts val="544"/>
              </a:spcBef>
              <a:spcAft>
                <a:spcPts val="0"/>
              </a:spcAft>
              <a:buClr>
                <a:schemeClr val="dk1"/>
              </a:buClr>
              <a:buSzPct val="100000"/>
              <a:buNone/>
            </a:pPr>
            <a:r>
              <a:rPr lang="en-US">
                <a:latin typeface="Times New Roman"/>
                <a:ea typeface="Times New Roman"/>
                <a:cs typeface="Times New Roman"/>
                <a:sym typeface="Times New Roman"/>
              </a:rPr>
              <a:t>	As mentioned earlier, most tests (including this one) make the assumption that either the underlying data is normal or that our sample is in the right range.</a:t>
            </a:r>
            <a:endParaRPr/>
          </a:p>
          <a:p>
            <a:pPr indent="-285750" lvl="1" marL="742950" rtl="0" algn="just">
              <a:spcBef>
                <a:spcPts val="476"/>
              </a:spcBef>
              <a:spcAft>
                <a:spcPts val="0"/>
              </a:spcAft>
              <a:buClr>
                <a:schemeClr val="dk1"/>
              </a:buClr>
              <a:buSzPct val="100000"/>
              <a:buFont typeface="Noto Sans Symbols"/>
              <a:buChar char="⮚"/>
            </a:pPr>
            <a:r>
              <a:rPr lang="en-US">
                <a:latin typeface="Times New Roman"/>
                <a:ea typeface="Times New Roman"/>
                <a:cs typeface="Times New Roman"/>
                <a:sym typeface="Times New Roman"/>
              </a:rPr>
              <a:t>The sample is at least 30 points (it is 400)</a:t>
            </a:r>
            <a:endParaRPr/>
          </a:p>
          <a:p>
            <a:pPr indent="-285750" lvl="1" marL="742950" rtl="0" algn="just">
              <a:spcBef>
                <a:spcPts val="476"/>
              </a:spcBef>
              <a:spcAft>
                <a:spcPts val="0"/>
              </a:spcAft>
              <a:buClr>
                <a:schemeClr val="dk1"/>
              </a:buClr>
              <a:buSzPct val="100000"/>
              <a:buFont typeface="Noto Sans Symbols"/>
              <a:buChar char="⮚"/>
            </a:pPr>
            <a:r>
              <a:rPr lang="en-US">
                <a:latin typeface="Times New Roman"/>
                <a:ea typeface="Times New Roman"/>
                <a:cs typeface="Times New Roman"/>
                <a:sym typeface="Times New Roman"/>
              </a:rPr>
              <a:t>The sample is less than 10% of the population (which would be 900 people)</a:t>
            </a:r>
            <a:endParaRPr/>
          </a:p>
          <a:p>
            <a:pPr indent="0" lvl="0" marL="0" rtl="0" algn="just">
              <a:spcBef>
                <a:spcPts val="544"/>
              </a:spcBef>
              <a:spcAft>
                <a:spcPts val="0"/>
              </a:spcAft>
              <a:buClr>
                <a:schemeClr val="dk1"/>
              </a:buClr>
              <a:buSzPct val="100000"/>
              <a:buNone/>
            </a:pPr>
            <a:r>
              <a:rPr lang="en-US">
                <a:latin typeface="Times New Roman"/>
                <a:ea typeface="Times New Roman"/>
                <a:cs typeface="Times New Roman"/>
                <a:sym typeface="Times New Roman"/>
              </a:rPr>
              <a:t>3. Choose a significance level (usually called alpha or α).</a:t>
            </a:r>
            <a:endParaRPr/>
          </a:p>
          <a:p>
            <a:pPr indent="0" lvl="0" marL="0" rtl="0" algn="just">
              <a:spcBef>
                <a:spcPts val="544"/>
              </a:spcBef>
              <a:spcAft>
                <a:spcPts val="0"/>
              </a:spcAft>
              <a:buClr>
                <a:schemeClr val="dk1"/>
              </a:buClr>
              <a:buSzPct val="100000"/>
              <a:buNone/>
            </a:pPr>
            <a:r>
              <a:rPr lang="en-US">
                <a:latin typeface="Times New Roman"/>
                <a:ea typeface="Times New Roman"/>
                <a:cs typeface="Times New Roman"/>
                <a:sym typeface="Times New Roman"/>
              </a:rPr>
              <a:t>	We will choose a 95% significance level, which means that our alpha would actually be </a:t>
            </a:r>
            <a:r>
              <a:rPr i="1" lang="en-US">
                <a:latin typeface="Times New Roman"/>
                <a:ea typeface="Times New Roman"/>
                <a:cs typeface="Times New Roman"/>
                <a:sym typeface="Times New Roman"/>
              </a:rPr>
              <a:t>1 - .95 = .05</a:t>
            </a:r>
            <a:endParaRPr/>
          </a:p>
          <a:p>
            <a:pPr indent="0" lvl="0" marL="0" rtl="0" algn="just">
              <a:spcBef>
                <a:spcPts val="544"/>
              </a:spcBef>
              <a:spcAft>
                <a:spcPts val="0"/>
              </a:spcAft>
              <a:buClr>
                <a:schemeClr val="dk1"/>
              </a:buClr>
              <a:buSzPct val="100000"/>
              <a:buNone/>
            </a:pPr>
            <a:r>
              <a:rPr lang="en-US">
                <a:latin typeface="Times New Roman"/>
                <a:ea typeface="Times New Roman"/>
                <a:cs typeface="Times New Roman"/>
                <a:sym typeface="Times New Roman"/>
              </a:rPr>
              <a:t>4. Collect the data.</a:t>
            </a:r>
            <a:endParaRPr/>
          </a:p>
          <a:p>
            <a:pPr indent="0" lvl="0" marL="0" rtl="0" algn="just">
              <a:spcBef>
                <a:spcPts val="544"/>
              </a:spcBef>
              <a:spcAft>
                <a:spcPts val="0"/>
              </a:spcAft>
              <a:buClr>
                <a:schemeClr val="dk1"/>
              </a:buClr>
              <a:buSzPct val="100000"/>
              <a:buNone/>
            </a:pPr>
            <a:r>
              <a:rPr lang="en-US">
                <a:latin typeface="Times New Roman"/>
                <a:ea typeface="Times New Roman"/>
                <a:cs typeface="Times New Roman"/>
                <a:sym typeface="Times New Roman"/>
              </a:rPr>
              <a:t>	Done! This was generated through the two Poisson distributions</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47"/>
          <p:cNvSpPr txBox="1"/>
          <p:nvPr>
            <p:ph idx="1" type="body"/>
          </p:nvPr>
        </p:nvSpPr>
        <p:spPr>
          <a:xfrm>
            <a:off x="457200" y="228600"/>
            <a:ext cx="8229600" cy="5897563"/>
          </a:xfrm>
          <a:prstGeom prst="rect">
            <a:avLst/>
          </a:prstGeom>
          <a:noFill/>
          <a:ln>
            <a:noFill/>
          </a:ln>
        </p:spPr>
        <p:txBody>
          <a:bodyPr anchorCtr="0" anchor="t" bIns="45700" lIns="91425" spcFirstLastPara="1" rIns="91425" wrap="square" tIns="45700">
            <a:normAutofit fontScale="85000" lnSpcReduction="10000"/>
          </a:bodyPr>
          <a:lstStyle/>
          <a:p>
            <a:pPr indent="0" lvl="0" marL="0" rtl="0" algn="just">
              <a:spcBef>
                <a:spcPts val="0"/>
              </a:spcBef>
              <a:spcAft>
                <a:spcPts val="0"/>
              </a:spcAft>
              <a:buClr>
                <a:schemeClr val="dk1"/>
              </a:buClr>
              <a:buSzPct val="100000"/>
              <a:buNone/>
            </a:pPr>
            <a:r>
              <a:rPr lang="en-US">
                <a:latin typeface="Times New Roman"/>
                <a:ea typeface="Times New Roman"/>
                <a:cs typeface="Times New Roman"/>
                <a:sym typeface="Times New Roman"/>
              </a:rPr>
              <a:t>5. Decide whether to reject or fail to reject the null hypothesis.</a:t>
            </a:r>
            <a:endParaRPr/>
          </a:p>
          <a:p>
            <a:pPr indent="0" lvl="0" marL="0" rtl="0" algn="just">
              <a:spcBef>
                <a:spcPts val="544"/>
              </a:spcBef>
              <a:spcAft>
                <a:spcPts val="0"/>
              </a:spcAft>
              <a:buClr>
                <a:schemeClr val="dk1"/>
              </a:buClr>
              <a:buSzPct val="100000"/>
              <a:buNone/>
            </a:pPr>
            <a:r>
              <a:rPr lang="en-US">
                <a:latin typeface="Times New Roman"/>
                <a:ea typeface="Times New Roman"/>
                <a:cs typeface="Times New Roman"/>
                <a:sym typeface="Times New Roman"/>
              </a:rPr>
              <a:t>	As mentioned before, this step varies based on the test used. For a one sample t-test, we must calculate two numbers: the test statistic and our p value. Luckily, we can do this in one line in Python.</a:t>
            </a:r>
            <a:endParaRPr/>
          </a:p>
          <a:p>
            <a:pPr indent="-342900" lvl="0" marL="342900" rtl="0" algn="just">
              <a:spcBef>
                <a:spcPts val="544"/>
              </a:spcBef>
              <a:spcAft>
                <a:spcPts val="0"/>
              </a:spcAft>
              <a:buClr>
                <a:schemeClr val="dk1"/>
              </a:buClr>
              <a:buSzPct val="100000"/>
              <a:buChar char="•"/>
            </a:pPr>
            <a:r>
              <a:rPr lang="en-US">
                <a:latin typeface="Times New Roman"/>
                <a:ea typeface="Times New Roman"/>
                <a:cs typeface="Times New Roman"/>
                <a:sym typeface="Times New Roman"/>
              </a:rPr>
              <a:t>A test statistic is a value that is derived from sample data during a type of hypothesis test. They are used to determine whether or not to reject the null hypothesis.</a:t>
            </a:r>
            <a:endParaRPr/>
          </a:p>
          <a:p>
            <a:pPr indent="-342900" lvl="0" marL="342900" rtl="0" algn="just">
              <a:spcBef>
                <a:spcPts val="544"/>
              </a:spcBef>
              <a:spcAft>
                <a:spcPts val="0"/>
              </a:spcAft>
              <a:buClr>
                <a:schemeClr val="dk1"/>
              </a:buClr>
              <a:buSzPct val="100000"/>
              <a:buChar char="•"/>
            </a:pPr>
            <a:r>
              <a:rPr lang="en-US">
                <a:latin typeface="Times New Roman"/>
                <a:ea typeface="Times New Roman"/>
                <a:cs typeface="Times New Roman"/>
                <a:sym typeface="Times New Roman"/>
              </a:rPr>
              <a:t>The test statistic is used to compare the observed data with what is expected under the null hypothesis. The test statistic is used in conjunction with the p-value.</a:t>
            </a:r>
            <a:endParaRPr/>
          </a:p>
          <a:p>
            <a:pPr indent="-342900" lvl="0" marL="342900" rtl="0" algn="just">
              <a:spcBef>
                <a:spcPts val="544"/>
              </a:spcBef>
              <a:spcAft>
                <a:spcPts val="0"/>
              </a:spcAft>
              <a:buClr>
                <a:schemeClr val="dk1"/>
              </a:buClr>
              <a:buSzPct val="100000"/>
              <a:buChar char="•"/>
            </a:pPr>
            <a:r>
              <a:rPr lang="en-US">
                <a:latin typeface="Times New Roman"/>
                <a:ea typeface="Times New Roman"/>
                <a:cs typeface="Times New Roman"/>
                <a:sym typeface="Times New Roman"/>
              </a:rPr>
              <a:t>The p-value is the probability that the observed data occurred this way by chance.</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48"/>
          <p:cNvSpPr txBox="1"/>
          <p:nvPr>
            <p:ph idx="1" type="body"/>
          </p:nvPr>
        </p:nvSpPr>
        <p:spPr>
          <a:xfrm>
            <a:off x="457200" y="304800"/>
            <a:ext cx="8229600" cy="5821363"/>
          </a:xfrm>
          <a:prstGeom prst="rect">
            <a:avLst/>
          </a:prstGeom>
          <a:noFill/>
          <a:ln>
            <a:noFill/>
          </a:ln>
        </p:spPr>
        <p:txBody>
          <a:bodyPr anchorCtr="0" anchor="t" bIns="45700" lIns="91425" spcFirstLastPara="1" rIns="91425" wrap="square" tIns="45700">
            <a:normAutofit fontScale="85000" lnSpcReduction="20000"/>
          </a:bodyPr>
          <a:lstStyle/>
          <a:p>
            <a:pPr indent="-342900" lvl="0" marL="342900" rtl="0" algn="just">
              <a:spcBef>
                <a:spcPts val="0"/>
              </a:spcBef>
              <a:spcAft>
                <a:spcPts val="0"/>
              </a:spcAft>
              <a:buClr>
                <a:schemeClr val="dk1"/>
              </a:buClr>
              <a:buSzPct val="100000"/>
              <a:buChar char="•"/>
            </a:pPr>
            <a:r>
              <a:rPr lang="en-US">
                <a:latin typeface="Times New Roman"/>
                <a:ea typeface="Times New Roman"/>
                <a:cs typeface="Times New Roman"/>
                <a:sym typeface="Times New Roman"/>
              </a:rPr>
              <a:t>When the data is showing very strong evidence against the null hypothesis, the test statistic becomes large (either positive or negative) and the p-value usually becomes very small, which means that our test is showing powerful results and what is happening is, probably, not happening by chance.</a:t>
            </a:r>
            <a:endParaRPr/>
          </a:p>
          <a:p>
            <a:pPr indent="-342900" lvl="0" marL="342900" rtl="0" algn="just">
              <a:spcBef>
                <a:spcPts val="544"/>
              </a:spcBef>
              <a:spcAft>
                <a:spcPts val="0"/>
              </a:spcAft>
              <a:buClr>
                <a:schemeClr val="dk1"/>
              </a:buClr>
              <a:buSzPct val="100000"/>
              <a:buChar char="•"/>
            </a:pPr>
            <a:r>
              <a:rPr lang="en-US">
                <a:latin typeface="Times New Roman"/>
                <a:ea typeface="Times New Roman"/>
                <a:cs typeface="Times New Roman"/>
                <a:sym typeface="Times New Roman"/>
              </a:rPr>
              <a:t>In the case of a t-test, a </a:t>
            </a:r>
            <a:r>
              <a:rPr i="1" lang="en-US">
                <a:latin typeface="Times New Roman"/>
                <a:ea typeface="Times New Roman"/>
                <a:cs typeface="Times New Roman"/>
                <a:sym typeface="Times New Roman"/>
              </a:rPr>
              <a:t>t value </a:t>
            </a:r>
            <a:r>
              <a:rPr lang="en-US">
                <a:latin typeface="Times New Roman"/>
                <a:ea typeface="Times New Roman"/>
                <a:cs typeface="Times New Roman"/>
                <a:sym typeface="Times New Roman"/>
              </a:rPr>
              <a:t>is our test statistic, as shown:</a:t>
            </a:r>
            <a:endParaRPr/>
          </a:p>
          <a:p>
            <a:pPr indent="0" lvl="1" marL="400050" rtl="0" algn="just">
              <a:spcBef>
                <a:spcPts val="476"/>
              </a:spcBef>
              <a:spcAft>
                <a:spcPts val="0"/>
              </a:spcAft>
              <a:buClr>
                <a:schemeClr val="dk1"/>
              </a:buClr>
              <a:buSzPct val="100000"/>
              <a:buNone/>
            </a:pPr>
            <a:r>
              <a:rPr lang="en-US">
                <a:latin typeface="Times New Roman"/>
                <a:ea typeface="Times New Roman"/>
                <a:cs typeface="Times New Roman"/>
                <a:sym typeface="Times New Roman"/>
              </a:rPr>
              <a:t>t_statistic, p_value = stats.ttest_1samp(a= engineering_breaks,</a:t>
            </a:r>
            <a:endParaRPr/>
          </a:p>
          <a:p>
            <a:pPr indent="0" lvl="1" marL="400050" rtl="0" algn="just">
              <a:spcBef>
                <a:spcPts val="476"/>
              </a:spcBef>
              <a:spcAft>
                <a:spcPts val="0"/>
              </a:spcAft>
              <a:buClr>
                <a:schemeClr val="dk1"/>
              </a:buClr>
              <a:buSzPct val="100000"/>
              <a:buNone/>
            </a:pPr>
            <a:r>
              <a:rPr lang="en-US">
                <a:latin typeface="Times New Roman"/>
                <a:ea typeface="Times New Roman"/>
                <a:cs typeface="Times New Roman"/>
                <a:sym typeface="Times New Roman"/>
              </a:rPr>
              <a:t>popmean= breaks.mean())</a:t>
            </a:r>
            <a:endParaRPr/>
          </a:p>
          <a:p>
            <a:pPr indent="-342900" lvl="0" marL="342900" rtl="0" algn="just">
              <a:spcBef>
                <a:spcPts val="544"/>
              </a:spcBef>
              <a:spcAft>
                <a:spcPts val="0"/>
              </a:spcAft>
              <a:buClr>
                <a:schemeClr val="dk1"/>
              </a:buClr>
              <a:buSzPct val="100000"/>
              <a:buChar char="•"/>
            </a:pPr>
            <a:r>
              <a:rPr lang="en-US">
                <a:latin typeface="Times New Roman"/>
                <a:ea typeface="Times New Roman"/>
                <a:cs typeface="Times New Roman"/>
                <a:sym typeface="Times New Roman"/>
              </a:rPr>
              <a:t>We input the engineering_breaks variable (which holds 400 break times) and the population mean, and we obtain the following numbers:</a:t>
            </a:r>
            <a:endParaRPr/>
          </a:p>
          <a:p>
            <a:pPr indent="0" lvl="1" marL="400050" rtl="0" algn="just">
              <a:spcBef>
                <a:spcPts val="476"/>
              </a:spcBef>
              <a:spcAft>
                <a:spcPts val="0"/>
              </a:spcAft>
              <a:buClr>
                <a:schemeClr val="dk1"/>
              </a:buClr>
              <a:buSzPct val="100000"/>
              <a:buNone/>
            </a:pPr>
            <a:r>
              <a:rPr lang="en-US">
                <a:latin typeface="Times New Roman"/>
                <a:ea typeface="Times New Roman"/>
                <a:cs typeface="Times New Roman"/>
                <a:sym typeface="Times New Roman"/>
              </a:rPr>
              <a:t>t_statistic == -5.742</a:t>
            </a:r>
            <a:endParaRPr/>
          </a:p>
          <a:p>
            <a:pPr indent="0" lvl="1" marL="400050" rtl="0" algn="just">
              <a:spcBef>
                <a:spcPts val="476"/>
              </a:spcBef>
              <a:spcAft>
                <a:spcPts val="0"/>
              </a:spcAft>
              <a:buClr>
                <a:schemeClr val="dk1"/>
              </a:buClr>
              <a:buSzPct val="100000"/>
              <a:buNone/>
            </a:pPr>
            <a:r>
              <a:rPr lang="en-US">
                <a:latin typeface="Times New Roman"/>
                <a:ea typeface="Times New Roman"/>
                <a:cs typeface="Times New Roman"/>
                <a:sym typeface="Times New Roman"/>
              </a:rPr>
              <a:t>p_value == .00000018</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9"/>
          <p:cNvSpPr txBox="1"/>
          <p:nvPr>
            <p:ph idx="1" type="body"/>
          </p:nvPr>
        </p:nvSpPr>
        <p:spPr>
          <a:xfrm>
            <a:off x="457200" y="228600"/>
            <a:ext cx="8229600" cy="6324600"/>
          </a:xfrm>
          <a:prstGeom prst="rect">
            <a:avLst/>
          </a:prstGeom>
          <a:noFill/>
          <a:ln>
            <a:noFill/>
          </a:ln>
        </p:spPr>
        <p:txBody>
          <a:bodyPr anchorCtr="0" anchor="t" bIns="45700" lIns="91425" spcFirstLastPara="1" rIns="91425" wrap="square" tIns="45700">
            <a:normAutofit fontScale="85000" lnSpcReduction="20000"/>
          </a:bodyPr>
          <a:lstStyle/>
          <a:p>
            <a:pPr indent="-342900" lvl="0" marL="342900" rtl="0" algn="just">
              <a:spcBef>
                <a:spcPts val="0"/>
              </a:spcBef>
              <a:spcAft>
                <a:spcPts val="0"/>
              </a:spcAft>
              <a:buClr>
                <a:schemeClr val="dk1"/>
              </a:buClr>
              <a:buSzPct val="100000"/>
              <a:buChar char="•"/>
            </a:pPr>
            <a:r>
              <a:rPr lang="en-US">
                <a:latin typeface="Times New Roman"/>
                <a:ea typeface="Times New Roman"/>
                <a:cs typeface="Times New Roman"/>
                <a:sym typeface="Times New Roman"/>
              </a:rPr>
              <a:t>The test result shows that the </a:t>
            </a:r>
            <a:r>
              <a:rPr i="1" lang="en-US">
                <a:latin typeface="Times New Roman"/>
                <a:ea typeface="Times New Roman"/>
                <a:cs typeface="Times New Roman"/>
                <a:sym typeface="Times New Roman"/>
              </a:rPr>
              <a:t>t value </a:t>
            </a:r>
            <a:r>
              <a:rPr lang="en-US">
                <a:latin typeface="Times New Roman"/>
                <a:ea typeface="Times New Roman"/>
                <a:cs typeface="Times New Roman"/>
                <a:sym typeface="Times New Roman"/>
              </a:rPr>
              <a:t>is -5.742. This is a standardized metric that reveals the deviation of the sample mean from the null hypothesis. </a:t>
            </a:r>
            <a:endParaRPr>
              <a:latin typeface="Times New Roman"/>
              <a:ea typeface="Times New Roman"/>
              <a:cs typeface="Times New Roman"/>
              <a:sym typeface="Times New Roman"/>
            </a:endParaRPr>
          </a:p>
          <a:p>
            <a:pPr indent="-342900" lvl="0" marL="342900" rtl="0" algn="just">
              <a:spcBef>
                <a:spcPts val="544"/>
              </a:spcBef>
              <a:spcAft>
                <a:spcPts val="0"/>
              </a:spcAft>
              <a:buClr>
                <a:schemeClr val="dk1"/>
              </a:buClr>
              <a:buSzPct val="100000"/>
              <a:buChar char="•"/>
            </a:pPr>
            <a:r>
              <a:rPr lang="en-US">
                <a:latin typeface="Times New Roman"/>
                <a:ea typeface="Times New Roman"/>
                <a:cs typeface="Times New Roman"/>
                <a:sym typeface="Times New Roman"/>
              </a:rPr>
              <a:t>The p value is what gives us our final answer. Our p-value is telling us how often our result would appear by chance. </a:t>
            </a:r>
            <a:endParaRPr>
              <a:latin typeface="Times New Roman"/>
              <a:ea typeface="Times New Roman"/>
              <a:cs typeface="Times New Roman"/>
              <a:sym typeface="Times New Roman"/>
            </a:endParaRPr>
          </a:p>
          <a:p>
            <a:pPr indent="-342900" lvl="0" marL="342900" rtl="0" algn="just">
              <a:spcBef>
                <a:spcPts val="544"/>
              </a:spcBef>
              <a:spcAft>
                <a:spcPts val="0"/>
              </a:spcAft>
              <a:buClr>
                <a:schemeClr val="dk1"/>
              </a:buClr>
              <a:buSzPct val="100000"/>
              <a:buChar char="•"/>
            </a:pPr>
            <a:r>
              <a:rPr lang="en-US">
                <a:latin typeface="Times New Roman"/>
                <a:ea typeface="Times New Roman"/>
                <a:cs typeface="Times New Roman"/>
                <a:sym typeface="Times New Roman"/>
              </a:rPr>
              <a:t>So, for example, if our p-value was .06, then that would mean we should expect to observe this data by chance about 6% of the time. </a:t>
            </a:r>
            <a:endParaRPr>
              <a:latin typeface="Times New Roman"/>
              <a:ea typeface="Times New Roman"/>
              <a:cs typeface="Times New Roman"/>
              <a:sym typeface="Times New Roman"/>
            </a:endParaRPr>
          </a:p>
          <a:p>
            <a:pPr indent="-342900" lvl="0" marL="342900" rtl="0" algn="just">
              <a:spcBef>
                <a:spcPts val="544"/>
              </a:spcBef>
              <a:spcAft>
                <a:spcPts val="0"/>
              </a:spcAft>
              <a:buClr>
                <a:schemeClr val="dk1"/>
              </a:buClr>
              <a:buSzPct val="100000"/>
              <a:buChar char="•"/>
            </a:pPr>
            <a:r>
              <a:rPr lang="en-US">
                <a:latin typeface="Times New Roman"/>
                <a:ea typeface="Times New Roman"/>
                <a:cs typeface="Times New Roman"/>
                <a:sym typeface="Times New Roman"/>
              </a:rPr>
              <a:t>This means that about 6% of samples would yield results like this.</a:t>
            </a:r>
            <a:endParaRPr/>
          </a:p>
          <a:p>
            <a:pPr indent="-342900" lvl="0" marL="342900" rtl="0" algn="just">
              <a:spcBef>
                <a:spcPts val="544"/>
              </a:spcBef>
              <a:spcAft>
                <a:spcPts val="0"/>
              </a:spcAft>
              <a:buClr>
                <a:schemeClr val="dk1"/>
              </a:buClr>
              <a:buSzPct val="100000"/>
              <a:buChar char="•"/>
            </a:pPr>
            <a:r>
              <a:rPr lang="en-US">
                <a:latin typeface="Times New Roman"/>
                <a:ea typeface="Times New Roman"/>
                <a:cs typeface="Times New Roman"/>
                <a:sym typeface="Times New Roman"/>
              </a:rPr>
              <a:t>We are interested in how our p-value compares to our significance level:</a:t>
            </a:r>
            <a:endParaRPr/>
          </a:p>
          <a:p>
            <a:pPr indent="-457200" lvl="1" marL="857250" rtl="0" algn="just">
              <a:spcBef>
                <a:spcPts val="476"/>
              </a:spcBef>
              <a:spcAft>
                <a:spcPts val="0"/>
              </a:spcAft>
              <a:buClr>
                <a:schemeClr val="dk1"/>
              </a:buClr>
              <a:buSzPct val="100000"/>
              <a:buFont typeface="Noto Sans Symbols"/>
              <a:buChar char="⮚"/>
            </a:pPr>
            <a:r>
              <a:rPr lang="en-US">
                <a:latin typeface="Times New Roman"/>
                <a:ea typeface="Times New Roman"/>
                <a:cs typeface="Times New Roman"/>
                <a:sym typeface="Times New Roman"/>
              </a:rPr>
              <a:t>If the p-value is </a:t>
            </a:r>
            <a:r>
              <a:rPr i="1" lang="en-US">
                <a:latin typeface="Times New Roman"/>
                <a:ea typeface="Times New Roman"/>
                <a:cs typeface="Times New Roman"/>
                <a:sym typeface="Times New Roman"/>
              </a:rPr>
              <a:t>less than </a:t>
            </a:r>
            <a:r>
              <a:rPr lang="en-US">
                <a:latin typeface="Times New Roman"/>
                <a:ea typeface="Times New Roman"/>
                <a:cs typeface="Times New Roman"/>
                <a:sym typeface="Times New Roman"/>
              </a:rPr>
              <a:t>the significance level, then we can </a:t>
            </a:r>
            <a:r>
              <a:rPr i="1" lang="en-US">
                <a:latin typeface="Times New Roman"/>
                <a:ea typeface="Times New Roman"/>
                <a:cs typeface="Times New Roman"/>
                <a:sym typeface="Times New Roman"/>
              </a:rPr>
              <a:t>reject </a:t>
            </a:r>
            <a:r>
              <a:rPr lang="en-US">
                <a:latin typeface="Times New Roman"/>
                <a:ea typeface="Times New Roman"/>
                <a:cs typeface="Times New Roman"/>
                <a:sym typeface="Times New Roman"/>
              </a:rPr>
              <a:t>the null hypothesis</a:t>
            </a:r>
            <a:endParaRPr>
              <a:latin typeface="Times New Roman"/>
              <a:ea typeface="Times New Roman"/>
              <a:cs typeface="Times New Roman"/>
              <a:sym typeface="Times New Roman"/>
            </a:endParaRPr>
          </a:p>
          <a:p>
            <a:pPr indent="-457200" lvl="1" marL="857250" rtl="0" algn="just">
              <a:spcBef>
                <a:spcPts val="476"/>
              </a:spcBef>
              <a:spcAft>
                <a:spcPts val="0"/>
              </a:spcAft>
              <a:buClr>
                <a:schemeClr val="dk1"/>
              </a:buClr>
              <a:buSzPct val="100000"/>
              <a:buFont typeface="Noto Sans Symbols"/>
              <a:buChar char="⮚"/>
            </a:pPr>
            <a:r>
              <a:rPr lang="en-US">
                <a:latin typeface="Times New Roman"/>
                <a:ea typeface="Times New Roman"/>
                <a:cs typeface="Times New Roman"/>
                <a:sym typeface="Times New Roman"/>
              </a:rPr>
              <a:t>If the p-value is </a:t>
            </a:r>
            <a:r>
              <a:rPr i="1" lang="en-US">
                <a:latin typeface="Times New Roman"/>
                <a:ea typeface="Times New Roman"/>
                <a:cs typeface="Times New Roman"/>
                <a:sym typeface="Times New Roman"/>
              </a:rPr>
              <a:t>greater than </a:t>
            </a:r>
            <a:r>
              <a:rPr lang="en-US">
                <a:latin typeface="Times New Roman"/>
                <a:ea typeface="Times New Roman"/>
                <a:cs typeface="Times New Roman"/>
                <a:sym typeface="Times New Roman"/>
              </a:rPr>
              <a:t>the significance level, then we </a:t>
            </a:r>
            <a:r>
              <a:rPr i="1" lang="en-US">
                <a:latin typeface="Times New Roman"/>
                <a:ea typeface="Times New Roman"/>
                <a:cs typeface="Times New Roman"/>
                <a:sym typeface="Times New Roman"/>
              </a:rPr>
              <a:t>failed to reject </a:t>
            </a:r>
            <a:r>
              <a:rPr lang="en-US">
                <a:latin typeface="Times New Roman"/>
                <a:ea typeface="Times New Roman"/>
                <a:cs typeface="Times New Roman"/>
                <a:sym typeface="Times New Roman"/>
              </a:rPr>
              <a:t>the null hypothesis</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50"/>
          <p:cNvSpPr txBox="1"/>
          <p:nvPr>
            <p:ph idx="1" type="body"/>
          </p:nvPr>
        </p:nvSpPr>
        <p:spPr>
          <a:xfrm>
            <a:off x="457200" y="685800"/>
            <a:ext cx="8229600" cy="5440363"/>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just">
              <a:spcBef>
                <a:spcPts val="0"/>
              </a:spcBef>
              <a:spcAft>
                <a:spcPts val="0"/>
              </a:spcAft>
              <a:buClr>
                <a:schemeClr val="dk1"/>
              </a:buClr>
              <a:buSzPct val="100000"/>
              <a:buChar char="•"/>
            </a:pPr>
            <a:r>
              <a:rPr lang="en-US">
                <a:latin typeface="Times New Roman"/>
                <a:ea typeface="Times New Roman"/>
                <a:cs typeface="Times New Roman"/>
                <a:sym typeface="Times New Roman"/>
              </a:rPr>
              <a:t>Our p value is way lower than .05 (our chosen significance level), which means that we may reject our null hypothesis in favor for the alternative. This means that the engineering department seems to take different break lengths than the company as a whole!</a:t>
            </a:r>
            <a:endParaRPr/>
          </a:p>
          <a:p>
            <a:pPr indent="-342900" lvl="0" marL="342900" rtl="0" algn="just">
              <a:spcBef>
                <a:spcPts val="592"/>
              </a:spcBef>
              <a:spcAft>
                <a:spcPts val="0"/>
              </a:spcAft>
              <a:buClr>
                <a:schemeClr val="dk1"/>
              </a:buClr>
              <a:buSzPct val="100000"/>
              <a:buChar char="•"/>
            </a:pPr>
            <a:r>
              <a:rPr lang="en-US">
                <a:latin typeface="Times New Roman"/>
                <a:ea typeface="Times New Roman"/>
                <a:cs typeface="Times New Roman"/>
                <a:sym typeface="Times New Roman"/>
              </a:rPr>
              <a:t>There are many other types of t-tests, including one-tailed tests (mentioned before) and paired tests as well as two sample t-tests (both not mentioned yet). </a:t>
            </a:r>
            <a:endParaRPr>
              <a:latin typeface="Times New Roman"/>
              <a:ea typeface="Times New Roman"/>
              <a:cs typeface="Times New Roman"/>
              <a:sym typeface="Times New Roman"/>
            </a:endParaRPr>
          </a:p>
          <a:p>
            <a:pPr indent="-342900" lvl="0" marL="342900" rtl="0" algn="just">
              <a:spcBef>
                <a:spcPts val="592"/>
              </a:spcBef>
              <a:spcAft>
                <a:spcPts val="0"/>
              </a:spcAft>
              <a:buClr>
                <a:schemeClr val="dk1"/>
              </a:buClr>
              <a:buSzPct val="100000"/>
              <a:buChar char="•"/>
            </a:pPr>
            <a:r>
              <a:rPr lang="en-US">
                <a:latin typeface="Times New Roman"/>
                <a:ea typeface="Times New Roman"/>
                <a:cs typeface="Times New Roman"/>
                <a:sym typeface="Times New Roman"/>
              </a:rPr>
              <a:t>These procedures can be readily found in statistics literature; however, we should look at something very important—what happens when we get it wrong</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5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Times New Roman"/>
              <a:buNone/>
            </a:pPr>
            <a:r>
              <a:rPr b="1" lang="en-US">
                <a:latin typeface="Times New Roman"/>
                <a:ea typeface="Times New Roman"/>
                <a:cs typeface="Times New Roman"/>
                <a:sym typeface="Times New Roman"/>
              </a:rPr>
              <a:t>Type I and Type II errors</a:t>
            </a:r>
            <a:endParaRPr>
              <a:latin typeface="Times New Roman"/>
              <a:ea typeface="Times New Roman"/>
              <a:cs typeface="Times New Roman"/>
              <a:sym typeface="Times New Roman"/>
            </a:endParaRPr>
          </a:p>
        </p:txBody>
      </p:sp>
      <p:sp>
        <p:nvSpPr>
          <p:cNvPr id="294" name="Google Shape;294;p5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85000" lnSpcReduction="20000"/>
          </a:bodyPr>
          <a:lstStyle/>
          <a:p>
            <a:pPr indent="-342900" lvl="0" marL="342900" rtl="0" algn="just">
              <a:spcBef>
                <a:spcPts val="0"/>
              </a:spcBef>
              <a:spcAft>
                <a:spcPts val="0"/>
              </a:spcAft>
              <a:buClr>
                <a:schemeClr val="dk1"/>
              </a:buClr>
              <a:buSzPct val="100000"/>
              <a:buChar char="•"/>
            </a:pPr>
            <a:r>
              <a:rPr lang="en-US">
                <a:latin typeface="Times New Roman"/>
                <a:ea typeface="Times New Roman"/>
                <a:cs typeface="Times New Roman"/>
                <a:sym typeface="Times New Roman"/>
              </a:rPr>
              <a:t>A type I error occurs if we reject the null hypothesis when it is actually true. This is also known as a </a:t>
            </a:r>
            <a:r>
              <a:rPr b="1" lang="en-US">
                <a:latin typeface="Times New Roman"/>
                <a:ea typeface="Times New Roman"/>
                <a:cs typeface="Times New Roman"/>
                <a:sym typeface="Times New Roman"/>
              </a:rPr>
              <a:t>false positive</a:t>
            </a:r>
            <a:r>
              <a:rPr lang="en-US">
                <a:latin typeface="Times New Roman"/>
                <a:ea typeface="Times New Roman"/>
                <a:cs typeface="Times New Roman"/>
                <a:sym typeface="Times New Roman"/>
              </a:rPr>
              <a:t>. The type I error rate is equal to the significance level α, which means that if we set a higher confidence level, for example, a significance level of 99%, our α is .01, and therefore our false positive rate is 1%.</a:t>
            </a:r>
            <a:endParaRPr/>
          </a:p>
          <a:p>
            <a:pPr indent="-342900" lvl="0" marL="342900" rtl="0" algn="just">
              <a:spcBef>
                <a:spcPts val="544"/>
              </a:spcBef>
              <a:spcAft>
                <a:spcPts val="0"/>
              </a:spcAft>
              <a:buClr>
                <a:schemeClr val="dk1"/>
              </a:buClr>
              <a:buSzPct val="100000"/>
              <a:buChar char="•"/>
            </a:pPr>
            <a:r>
              <a:rPr lang="en-US">
                <a:latin typeface="Times New Roman"/>
                <a:ea typeface="Times New Roman"/>
                <a:cs typeface="Times New Roman"/>
                <a:sym typeface="Times New Roman"/>
              </a:rPr>
              <a:t>A type II error occurs if we fail to reject the null hypothesis when it is actually false. This is also known as a </a:t>
            </a:r>
            <a:r>
              <a:rPr b="1" lang="en-US">
                <a:latin typeface="Times New Roman"/>
                <a:ea typeface="Times New Roman"/>
                <a:cs typeface="Times New Roman"/>
                <a:sym typeface="Times New Roman"/>
              </a:rPr>
              <a:t>false negative</a:t>
            </a:r>
            <a:r>
              <a:rPr lang="en-US">
                <a:latin typeface="Times New Roman"/>
                <a:ea typeface="Times New Roman"/>
                <a:cs typeface="Times New Roman"/>
                <a:sym typeface="Times New Roman"/>
              </a:rPr>
              <a:t>. The higher we set our confidence level, the more likely we are to actually see a type II error.</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5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Times New Roman"/>
              <a:buNone/>
            </a:pPr>
            <a:r>
              <a:rPr b="1" lang="en-US">
                <a:latin typeface="Times New Roman"/>
                <a:ea typeface="Times New Roman"/>
                <a:cs typeface="Times New Roman"/>
                <a:sym typeface="Times New Roman"/>
              </a:rPr>
              <a:t>Hypothesis test for categorical variables</a:t>
            </a:r>
            <a:endParaRPr>
              <a:latin typeface="Times New Roman"/>
              <a:ea typeface="Times New Roman"/>
              <a:cs typeface="Times New Roman"/>
              <a:sym typeface="Times New Roman"/>
            </a:endParaRPr>
          </a:p>
        </p:txBody>
      </p:sp>
      <p:sp>
        <p:nvSpPr>
          <p:cNvPr id="300" name="Google Shape;300;p5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85000" lnSpcReduction="10000"/>
          </a:bodyPr>
          <a:lstStyle/>
          <a:p>
            <a:pPr indent="-342900" lvl="0" marL="342900" rtl="0" algn="just">
              <a:spcBef>
                <a:spcPts val="0"/>
              </a:spcBef>
              <a:spcAft>
                <a:spcPts val="0"/>
              </a:spcAft>
              <a:buClr>
                <a:schemeClr val="dk1"/>
              </a:buClr>
              <a:buSzPct val="100000"/>
              <a:buChar char="•"/>
            </a:pPr>
            <a:r>
              <a:rPr lang="en-US">
                <a:latin typeface="Times New Roman"/>
                <a:ea typeface="Times New Roman"/>
                <a:cs typeface="Times New Roman"/>
                <a:sym typeface="Times New Roman"/>
              </a:rPr>
              <a:t>T-tests (among other tests) are hypothesis tests that work to compare and contrast quantitative variables and underlying population distributions. In this section, we will explore two new tests, both of which serve to explore qualitative data. They both are a form of test called chi-square tests. These two tests will perform the following two tasks for us:</a:t>
            </a:r>
            <a:endParaRPr/>
          </a:p>
          <a:p>
            <a:pPr indent="-457200" lvl="1" marL="857250" rtl="0" algn="just">
              <a:spcBef>
                <a:spcPts val="476"/>
              </a:spcBef>
              <a:spcAft>
                <a:spcPts val="0"/>
              </a:spcAft>
              <a:buClr>
                <a:schemeClr val="dk1"/>
              </a:buClr>
              <a:buSzPct val="100000"/>
              <a:buFont typeface="Noto Sans Symbols"/>
              <a:buChar char="⮚"/>
            </a:pPr>
            <a:r>
              <a:rPr lang="en-US">
                <a:latin typeface="Times New Roman"/>
                <a:ea typeface="Times New Roman"/>
                <a:cs typeface="Times New Roman"/>
                <a:sym typeface="Times New Roman"/>
              </a:rPr>
              <a:t>Determine whether a sample of categorical variables is taken from a specific population (similar to the t-test)</a:t>
            </a:r>
            <a:endParaRPr/>
          </a:p>
          <a:p>
            <a:pPr indent="-457200" lvl="1" marL="857250" rtl="0" algn="just">
              <a:spcBef>
                <a:spcPts val="476"/>
              </a:spcBef>
              <a:spcAft>
                <a:spcPts val="0"/>
              </a:spcAft>
              <a:buClr>
                <a:schemeClr val="dk1"/>
              </a:buClr>
              <a:buSzPct val="100000"/>
              <a:buFont typeface="Noto Sans Symbols"/>
              <a:buChar char="⮚"/>
            </a:pPr>
            <a:r>
              <a:rPr lang="en-US">
                <a:latin typeface="Times New Roman"/>
                <a:ea typeface="Times New Roman"/>
                <a:cs typeface="Times New Roman"/>
                <a:sym typeface="Times New Roman"/>
              </a:rPr>
              <a:t>Determine whether two variables affect each other and are associated to each other.</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53"/>
          <p:cNvSpPr txBox="1"/>
          <p:nvPr>
            <p:ph type="title"/>
          </p:nvPr>
        </p:nvSpPr>
        <p:spPr>
          <a:xfrm>
            <a:off x="457200" y="152400"/>
            <a:ext cx="8229600" cy="9445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Times New Roman"/>
              <a:buNone/>
            </a:pPr>
            <a:r>
              <a:rPr b="1" lang="en-US">
                <a:latin typeface="Times New Roman"/>
                <a:ea typeface="Times New Roman"/>
                <a:cs typeface="Times New Roman"/>
                <a:sym typeface="Times New Roman"/>
              </a:rPr>
              <a:t>Chi-Square Goodness of fit test</a:t>
            </a:r>
            <a:endParaRPr>
              <a:latin typeface="Times New Roman"/>
              <a:ea typeface="Times New Roman"/>
              <a:cs typeface="Times New Roman"/>
              <a:sym typeface="Times New Roman"/>
            </a:endParaRPr>
          </a:p>
        </p:txBody>
      </p:sp>
      <p:sp>
        <p:nvSpPr>
          <p:cNvPr id="306" name="Google Shape;306;p53"/>
          <p:cNvSpPr txBox="1"/>
          <p:nvPr>
            <p:ph idx="1" type="body"/>
          </p:nvPr>
        </p:nvSpPr>
        <p:spPr>
          <a:xfrm>
            <a:off x="457200" y="990600"/>
            <a:ext cx="8229600" cy="55626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1900"/>
              <a:buChar char="•"/>
            </a:pPr>
            <a:r>
              <a:rPr lang="en-US" sz="1900">
                <a:latin typeface="Times New Roman"/>
                <a:ea typeface="Times New Roman"/>
                <a:cs typeface="Times New Roman"/>
                <a:sym typeface="Times New Roman"/>
              </a:rPr>
              <a:t>The one-sample t-test was used to check whether a sample mean differed from the population mean. The chi-square goodness of fit test is very similar to the one sample t-test in that it tests whether the distribution of the sample data matches an expected distribution, while the big difference is that it is testing for categorical variables.</a:t>
            </a:r>
            <a:endParaRPr/>
          </a:p>
          <a:p>
            <a:pPr indent="-342900" lvl="0" marL="342900" rtl="0" algn="just">
              <a:spcBef>
                <a:spcPts val="380"/>
              </a:spcBef>
              <a:spcAft>
                <a:spcPts val="0"/>
              </a:spcAft>
              <a:buClr>
                <a:schemeClr val="dk1"/>
              </a:buClr>
              <a:buSzPts val="1900"/>
              <a:buChar char="•"/>
            </a:pPr>
            <a:r>
              <a:rPr lang="en-US" sz="1900">
                <a:latin typeface="Times New Roman"/>
                <a:ea typeface="Times New Roman"/>
                <a:cs typeface="Times New Roman"/>
                <a:sym typeface="Times New Roman"/>
              </a:rPr>
              <a:t>For example, a chi-square goodness of fit test would be used to see if the race demographics of your company match that of the entire city of the U.S. population. It can also be used to see if users of your website show similar characteristics to average Internet users.</a:t>
            </a:r>
            <a:endParaRPr/>
          </a:p>
          <a:p>
            <a:pPr indent="-342900" lvl="0" marL="342900" rtl="0" algn="just">
              <a:spcBef>
                <a:spcPts val="380"/>
              </a:spcBef>
              <a:spcAft>
                <a:spcPts val="0"/>
              </a:spcAft>
              <a:buClr>
                <a:schemeClr val="dk1"/>
              </a:buClr>
              <a:buSzPts val="1900"/>
              <a:buChar char="•"/>
            </a:pPr>
            <a:r>
              <a:rPr lang="en-US" sz="1900">
                <a:latin typeface="Times New Roman"/>
                <a:ea typeface="Times New Roman"/>
                <a:cs typeface="Times New Roman"/>
                <a:sym typeface="Times New Roman"/>
              </a:rPr>
              <a:t>As we are working with categorical data, we have to be careful because categories like "male", "female," or "other" don't have any mathematical meaning. Therefore, we must consider counts of the variables rather than the actual variables themselves.</a:t>
            </a:r>
            <a:endParaRPr/>
          </a:p>
          <a:p>
            <a:pPr indent="-342900" lvl="0" marL="342900" rtl="0" algn="just">
              <a:spcBef>
                <a:spcPts val="380"/>
              </a:spcBef>
              <a:spcAft>
                <a:spcPts val="0"/>
              </a:spcAft>
              <a:buClr>
                <a:schemeClr val="dk1"/>
              </a:buClr>
              <a:buSzPts val="1900"/>
              <a:buChar char="•"/>
            </a:pPr>
            <a:r>
              <a:rPr lang="en-US" sz="1900">
                <a:latin typeface="Times New Roman"/>
                <a:ea typeface="Times New Roman"/>
                <a:cs typeface="Times New Roman"/>
                <a:sym typeface="Times New Roman"/>
              </a:rPr>
              <a:t>In general, we use the chi-square goodness of fit test in the following cases:</a:t>
            </a:r>
            <a:endParaRPr/>
          </a:p>
          <a:p>
            <a:pPr indent="-457200" lvl="1" marL="857250" rtl="0" algn="just">
              <a:spcBef>
                <a:spcPts val="380"/>
              </a:spcBef>
              <a:spcAft>
                <a:spcPts val="0"/>
              </a:spcAft>
              <a:buClr>
                <a:schemeClr val="dk1"/>
              </a:buClr>
              <a:buSzPts val="1900"/>
              <a:buFont typeface="Noto Sans Symbols"/>
              <a:buChar char="⮚"/>
            </a:pPr>
            <a:r>
              <a:rPr lang="en-US" sz="1900">
                <a:latin typeface="Times New Roman"/>
                <a:ea typeface="Times New Roman"/>
                <a:cs typeface="Times New Roman"/>
                <a:sym typeface="Times New Roman"/>
              </a:rPr>
              <a:t>We want to analyze one categorical variable from one population</a:t>
            </a:r>
            <a:endParaRPr/>
          </a:p>
          <a:p>
            <a:pPr indent="-457200" lvl="1" marL="857250" rtl="0" algn="just">
              <a:spcBef>
                <a:spcPts val="380"/>
              </a:spcBef>
              <a:spcAft>
                <a:spcPts val="0"/>
              </a:spcAft>
              <a:buClr>
                <a:schemeClr val="dk1"/>
              </a:buClr>
              <a:buSzPts val="1900"/>
              <a:buFont typeface="Noto Sans Symbols"/>
              <a:buChar char="⮚"/>
            </a:pPr>
            <a:r>
              <a:rPr lang="en-US" sz="1900">
                <a:latin typeface="Times New Roman"/>
                <a:ea typeface="Times New Roman"/>
                <a:cs typeface="Times New Roman"/>
                <a:sym typeface="Times New Roman"/>
              </a:rPr>
              <a:t>We want to determine if a variable fits a specified or expected distribution</a:t>
            </a:r>
            <a:endParaRPr/>
          </a:p>
          <a:p>
            <a:pPr indent="-342900" lvl="0" marL="342900" rtl="0" algn="just">
              <a:spcBef>
                <a:spcPts val="380"/>
              </a:spcBef>
              <a:spcAft>
                <a:spcPts val="0"/>
              </a:spcAft>
              <a:buClr>
                <a:schemeClr val="dk1"/>
              </a:buClr>
              <a:buSzPts val="1900"/>
              <a:buChar char="•"/>
            </a:pPr>
            <a:r>
              <a:rPr lang="en-US" sz="1900">
                <a:latin typeface="Times New Roman"/>
                <a:ea typeface="Times New Roman"/>
                <a:cs typeface="Times New Roman"/>
                <a:sym typeface="Times New Roman"/>
              </a:rPr>
              <a:t>In a chi-square test, we compare what is observed to what we expect.</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5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Times New Roman"/>
              <a:buNone/>
            </a:pPr>
            <a:r>
              <a:rPr b="1" lang="en-US">
                <a:latin typeface="Times New Roman"/>
                <a:ea typeface="Times New Roman"/>
                <a:cs typeface="Times New Roman"/>
                <a:sym typeface="Times New Roman"/>
              </a:rPr>
              <a:t>Assumptions of the Chi-Square Goodness of fit test</a:t>
            </a:r>
            <a:endParaRPr>
              <a:latin typeface="Times New Roman"/>
              <a:ea typeface="Times New Roman"/>
              <a:cs typeface="Times New Roman"/>
              <a:sym typeface="Times New Roman"/>
            </a:endParaRPr>
          </a:p>
        </p:txBody>
      </p:sp>
      <p:sp>
        <p:nvSpPr>
          <p:cNvPr id="312" name="Google Shape;312;p5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just">
              <a:spcBef>
                <a:spcPts val="0"/>
              </a:spcBef>
              <a:spcAft>
                <a:spcPts val="0"/>
              </a:spcAft>
              <a:buClr>
                <a:schemeClr val="dk1"/>
              </a:buClr>
              <a:buSzPct val="100000"/>
              <a:buChar char="•"/>
            </a:pPr>
            <a:r>
              <a:rPr lang="en-US">
                <a:latin typeface="Times New Roman"/>
                <a:ea typeface="Times New Roman"/>
                <a:cs typeface="Times New Roman"/>
                <a:sym typeface="Times New Roman"/>
              </a:rPr>
              <a:t>There are two usual assumptions of this test, as follows:</a:t>
            </a:r>
            <a:endParaRPr/>
          </a:p>
          <a:p>
            <a:pPr indent="-457200" lvl="1" marL="857250" rtl="0" algn="just">
              <a:spcBef>
                <a:spcPts val="518"/>
              </a:spcBef>
              <a:spcAft>
                <a:spcPts val="0"/>
              </a:spcAft>
              <a:buClr>
                <a:schemeClr val="dk1"/>
              </a:buClr>
              <a:buSzPct val="100000"/>
              <a:buFont typeface="Noto Sans Symbols"/>
              <a:buChar char="⮚"/>
            </a:pPr>
            <a:r>
              <a:rPr lang="en-US">
                <a:latin typeface="Times New Roman"/>
                <a:ea typeface="Times New Roman"/>
                <a:cs typeface="Times New Roman"/>
                <a:sym typeface="Times New Roman"/>
              </a:rPr>
              <a:t>All the expected counts are at least 5</a:t>
            </a:r>
            <a:endParaRPr/>
          </a:p>
          <a:p>
            <a:pPr indent="-457200" lvl="1" marL="857250" rtl="0" algn="just">
              <a:spcBef>
                <a:spcPts val="518"/>
              </a:spcBef>
              <a:spcAft>
                <a:spcPts val="0"/>
              </a:spcAft>
              <a:buClr>
                <a:schemeClr val="dk1"/>
              </a:buClr>
              <a:buSzPct val="100000"/>
              <a:buFont typeface="Noto Sans Symbols"/>
              <a:buChar char="⮚"/>
            </a:pPr>
            <a:r>
              <a:rPr lang="en-US">
                <a:latin typeface="Times New Roman"/>
                <a:ea typeface="Times New Roman"/>
                <a:cs typeface="Times New Roman"/>
                <a:sym typeface="Times New Roman"/>
              </a:rPr>
              <a:t>Individual observations are independent and the population should be at least 10 times as large as the sample, (</a:t>
            </a:r>
            <a:r>
              <a:rPr i="1" lang="en-US">
                <a:latin typeface="Times New Roman"/>
                <a:ea typeface="Times New Roman"/>
                <a:cs typeface="Times New Roman"/>
                <a:sym typeface="Times New Roman"/>
              </a:rPr>
              <a:t>10n &lt; N</a:t>
            </a:r>
            <a:r>
              <a:rPr lang="en-US">
                <a:latin typeface="Times New Roman"/>
                <a:ea typeface="Times New Roman"/>
                <a:cs typeface="Times New Roman"/>
                <a:sym typeface="Times New Roman"/>
              </a:rPr>
              <a:t>)</a:t>
            </a:r>
            <a:endParaRPr/>
          </a:p>
          <a:p>
            <a:pPr indent="-342900" lvl="0" marL="342900" rtl="0" algn="just">
              <a:spcBef>
                <a:spcPts val="592"/>
              </a:spcBef>
              <a:spcAft>
                <a:spcPts val="0"/>
              </a:spcAft>
              <a:buClr>
                <a:schemeClr val="dk1"/>
              </a:buClr>
              <a:buSzPct val="100000"/>
              <a:buChar char="•"/>
            </a:pPr>
            <a:r>
              <a:rPr lang="en-US">
                <a:latin typeface="Times New Roman"/>
                <a:ea typeface="Times New Roman"/>
                <a:cs typeface="Times New Roman"/>
                <a:sym typeface="Times New Roman"/>
              </a:rPr>
              <a:t>The second assumption should look familiar to the t-test; however, the first assumption should look foreign. Expected counts are something we haven't talked about yet but are about to!</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55"/>
          <p:cNvSpPr txBox="1"/>
          <p:nvPr>
            <p:ph idx="1" type="body"/>
          </p:nvPr>
        </p:nvSpPr>
        <p:spPr>
          <a:xfrm>
            <a:off x="457200" y="228600"/>
            <a:ext cx="8229600" cy="5897563"/>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2000"/>
              <a:buChar char="•"/>
            </a:pPr>
            <a:r>
              <a:rPr lang="en-US" sz="2000">
                <a:latin typeface="Times New Roman"/>
                <a:ea typeface="Times New Roman"/>
                <a:cs typeface="Times New Roman"/>
                <a:sym typeface="Times New Roman"/>
              </a:rPr>
              <a:t>When formulating our null and alternative hypotheses for this test, we consider a default distribution of categorical variables. For example, if we have a die and we are testing whether or not the outcomes are coming from a fair die, our hypothesis might look as follows:</a:t>
            </a:r>
            <a:endParaRPr/>
          </a:p>
          <a:p>
            <a:pPr indent="0" lvl="0" marL="0" rtl="0" algn="just">
              <a:spcBef>
                <a:spcPts val="400"/>
              </a:spcBef>
              <a:spcAft>
                <a:spcPts val="0"/>
              </a:spcAft>
              <a:buClr>
                <a:srgbClr val="FF0000"/>
              </a:buClr>
              <a:buSzPts val="2000"/>
              <a:buNone/>
            </a:pPr>
            <a:r>
              <a:rPr i="1" lang="en-US" sz="2000">
                <a:solidFill>
                  <a:srgbClr val="FF0000"/>
                </a:solidFill>
                <a:latin typeface="Times New Roman"/>
                <a:ea typeface="Times New Roman"/>
                <a:cs typeface="Times New Roman"/>
                <a:sym typeface="Times New Roman"/>
              </a:rPr>
              <a:t>H</a:t>
            </a:r>
            <a:r>
              <a:rPr baseline="-25000" i="1" lang="en-US" sz="2000">
                <a:solidFill>
                  <a:srgbClr val="FF0000"/>
                </a:solidFill>
                <a:latin typeface="Times New Roman"/>
                <a:ea typeface="Times New Roman"/>
                <a:cs typeface="Times New Roman"/>
                <a:sym typeface="Times New Roman"/>
              </a:rPr>
              <a:t>0</a:t>
            </a:r>
            <a:r>
              <a:rPr i="1" lang="en-US" sz="2000">
                <a:solidFill>
                  <a:srgbClr val="FF0000"/>
                </a:solidFill>
                <a:latin typeface="Times New Roman"/>
                <a:ea typeface="Times New Roman"/>
                <a:cs typeface="Times New Roman"/>
                <a:sym typeface="Times New Roman"/>
              </a:rPr>
              <a:t>: The specified distribution of the categorical variable is correct.</a:t>
            </a:r>
            <a:endParaRPr/>
          </a:p>
          <a:p>
            <a:pPr indent="0" lvl="0" marL="0" rtl="0" algn="just">
              <a:spcBef>
                <a:spcPts val="400"/>
              </a:spcBef>
              <a:spcAft>
                <a:spcPts val="0"/>
              </a:spcAft>
              <a:buClr>
                <a:srgbClr val="FF0000"/>
              </a:buClr>
              <a:buSzPts val="2000"/>
              <a:buNone/>
            </a:pPr>
            <a:r>
              <a:rPr i="1" lang="en-US" sz="2000">
                <a:solidFill>
                  <a:srgbClr val="FF0000"/>
                </a:solidFill>
                <a:latin typeface="Times New Roman"/>
                <a:ea typeface="Times New Roman"/>
                <a:cs typeface="Times New Roman"/>
                <a:sym typeface="Times New Roman"/>
              </a:rPr>
              <a:t>p1 = 1/6, p2 = 1/6, p3 = 1/6, p4 = 1/6, p5 = 1/6, p6 = 1/6</a:t>
            </a:r>
            <a:endParaRPr sz="2000">
              <a:solidFill>
                <a:srgbClr val="FF0000"/>
              </a:solidFill>
              <a:latin typeface="Times New Roman"/>
              <a:ea typeface="Times New Roman"/>
              <a:cs typeface="Times New Roman"/>
              <a:sym typeface="Times New Roman"/>
            </a:endParaRPr>
          </a:p>
          <a:p>
            <a:pPr indent="0" lvl="0" marL="0" rtl="0" algn="just">
              <a:spcBef>
                <a:spcPts val="400"/>
              </a:spcBef>
              <a:spcAft>
                <a:spcPts val="0"/>
              </a:spcAft>
              <a:buClr>
                <a:schemeClr val="dk1"/>
              </a:buClr>
              <a:buSzPts val="2000"/>
              <a:buNone/>
            </a:pPr>
            <a:r>
              <a:t/>
            </a:r>
            <a:endParaRPr i="1" sz="2000">
              <a:solidFill>
                <a:srgbClr val="FF0000"/>
              </a:solidFill>
              <a:latin typeface="Times New Roman"/>
              <a:ea typeface="Times New Roman"/>
              <a:cs typeface="Times New Roman"/>
              <a:sym typeface="Times New Roman"/>
            </a:endParaRPr>
          </a:p>
          <a:p>
            <a:pPr indent="-342900" lvl="0" marL="342900" rtl="0" algn="just">
              <a:spcBef>
                <a:spcPts val="400"/>
              </a:spcBef>
              <a:spcAft>
                <a:spcPts val="0"/>
              </a:spcAft>
              <a:buClr>
                <a:schemeClr val="dk1"/>
              </a:buClr>
              <a:buSzPts val="2000"/>
              <a:buChar char="•"/>
            </a:pPr>
            <a:r>
              <a:rPr lang="en-US" sz="2000">
                <a:latin typeface="Times New Roman"/>
                <a:ea typeface="Times New Roman"/>
                <a:cs typeface="Times New Roman"/>
                <a:sym typeface="Times New Roman"/>
              </a:rPr>
              <a:t>Our alternative hypothesis is quite simple, as shown:</a:t>
            </a:r>
            <a:endParaRPr/>
          </a:p>
          <a:p>
            <a:pPr indent="-342900" lvl="0" marL="342900" rtl="0" algn="just">
              <a:spcBef>
                <a:spcPts val="400"/>
              </a:spcBef>
              <a:spcAft>
                <a:spcPts val="0"/>
              </a:spcAft>
              <a:buClr>
                <a:schemeClr val="dk1"/>
              </a:buClr>
              <a:buSzPts val="2000"/>
              <a:buChar char="•"/>
            </a:pPr>
            <a:r>
              <a:rPr i="1" lang="en-US" sz="2000">
                <a:latin typeface="Times New Roman"/>
                <a:ea typeface="Times New Roman"/>
                <a:cs typeface="Times New Roman"/>
                <a:sym typeface="Times New Roman"/>
              </a:rPr>
              <a:t>H</a:t>
            </a:r>
            <a:r>
              <a:rPr baseline="-25000" i="1" lang="en-US" sz="2000">
                <a:latin typeface="Times New Roman"/>
                <a:ea typeface="Times New Roman"/>
                <a:cs typeface="Times New Roman"/>
                <a:sym typeface="Times New Roman"/>
              </a:rPr>
              <a:t>a</a:t>
            </a:r>
            <a:r>
              <a:rPr i="1" lang="en-US" sz="2000">
                <a:latin typeface="Times New Roman"/>
                <a:ea typeface="Times New Roman"/>
                <a:cs typeface="Times New Roman"/>
                <a:sym typeface="Times New Roman"/>
              </a:rPr>
              <a:t> </a:t>
            </a:r>
            <a:r>
              <a:rPr lang="en-US" sz="2000">
                <a:latin typeface="Times New Roman"/>
                <a:ea typeface="Times New Roman"/>
                <a:cs typeface="Times New Roman"/>
                <a:sym typeface="Times New Roman"/>
              </a:rPr>
              <a:t>: The specified distribution of the categorical variable is not correct. At least one of the </a:t>
            </a:r>
            <a:r>
              <a:rPr i="1" lang="en-US" sz="2000">
                <a:latin typeface="Times New Roman"/>
                <a:ea typeface="Times New Roman"/>
                <a:cs typeface="Times New Roman"/>
                <a:sym typeface="Times New Roman"/>
              </a:rPr>
              <a:t>pi </a:t>
            </a:r>
            <a:r>
              <a:rPr lang="en-US" sz="2000">
                <a:latin typeface="Times New Roman"/>
                <a:ea typeface="Times New Roman"/>
                <a:cs typeface="Times New Roman"/>
                <a:sym typeface="Times New Roman"/>
              </a:rPr>
              <a:t>values is not correct.</a:t>
            </a:r>
            <a:endParaRPr/>
          </a:p>
          <a:p>
            <a:pPr indent="-342900" lvl="0" marL="342900" rtl="0" algn="just">
              <a:spcBef>
                <a:spcPts val="400"/>
              </a:spcBef>
              <a:spcAft>
                <a:spcPts val="0"/>
              </a:spcAft>
              <a:buClr>
                <a:schemeClr val="dk1"/>
              </a:buClr>
              <a:buSzPts val="2000"/>
              <a:buChar char="•"/>
            </a:pPr>
            <a:r>
              <a:rPr lang="en-US" sz="2000">
                <a:latin typeface="Times New Roman"/>
                <a:ea typeface="Times New Roman"/>
                <a:cs typeface="Times New Roman"/>
                <a:sym typeface="Times New Roman"/>
              </a:rPr>
              <a:t>In the t-test, we used our test statistic (the t value) to find our p-value. In a chi-square test, our test statistic is, well, chi-square.</a:t>
            </a:r>
            <a:endParaRPr/>
          </a:p>
          <a:p>
            <a:pPr indent="0" lvl="1" marL="400050" rtl="0" algn="just">
              <a:spcBef>
                <a:spcPts val="400"/>
              </a:spcBef>
              <a:spcAft>
                <a:spcPts val="0"/>
              </a:spcAft>
              <a:buClr>
                <a:srgbClr val="FF0000"/>
              </a:buClr>
              <a:buSzPts val="2000"/>
              <a:buNone/>
            </a:pPr>
            <a:r>
              <a:rPr i="1" lang="en-US" sz="2000">
                <a:solidFill>
                  <a:srgbClr val="FF0000"/>
                </a:solidFill>
                <a:latin typeface="Times New Roman"/>
                <a:ea typeface="Times New Roman"/>
                <a:cs typeface="Times New Roman"/>
                <a:sym typeface="Times New Roman"/>
              </a:rPr>
              <a:t>Test Statistic: χ2 = over k categories</a:t>
            </a:r>
            <a:endParaRPr/>
          </a:p>
          <a:p>
            <a:pPr indent="0" lvl="1" marL="400050" rtl="0" algn="just">
              <a:spcBef>
                <a:spcPts val="400"/>
              </a:spcBef>
              <a:spcAft>
                <a:spcPts val="0"/>
              </a:spcAft>
              <a:buClr>
                <a:srgbClr val="FF0000"/>
              </a:buClr>
              <a:buSzPts val="2000"/>
              <a:buNone/>
            </a:pPr>
            <a:r>
              <a:rPr i="1" lang="en-US" sz="2000">
                <a:solidFill>
                  <a:srgbClr val="FF0000"/>
                </a:solidFill>
                <a:latin typeface="Times New Roman"/>
                <a:ea typeface="Times New Roman"/>
                <a:cs typeface="Times New Roman"/>
                <a:sym typeface="Times New Roman"/>
              </a:rPr>
              <a:t>Degrees of Freedom = k − 1</a:t>
            </a:r>
            <a:endParaRPr/>
          </a:p>
          <a:p>
            <a:pPr indent="-342900" lvl="0" marL="342900" rtl="0" algn="just">
              <a:spcBef>
                <a:spcPts val="400"/>
              </a:spcBef>
              <a:spcAft>
                <a:spcPts val="0"/>
              </a:spcAft>
              <a:buClr>
                <a:schemeClr val="dk1"/>
              </a:buClr>
              <a:buSzPts val="2000"/>
              <a:buChar char="•"/>
            </a:pPr>
            <a:r>
              <a:rPr lang="en-US" sz="2000">
                <a:latin typeface="Times New Roman"/>
                <a:ea typeface="Times New Roman"/>
                <a:cs typeface="Times New Roman"/>
                <a:sym typeface="Times New Roman"/>
              </a:rPr>
              <a:t>A critical value is when we use </a:t>
            </a:r>
            <a:r>
              <a:rPr i="1" lang="en-US" sz="2000">
                <a:latin typeface="Times New Roman"/>
                <a:ea typeface="Times New Roman"/>
                <a:cs typeface="Times New Roman"/>
                <a:sym typeface="Times New Roman"/>
              </a:rPr>
              <a:t>χ2 </a:t>
            </a:r>
            <a:r>
              <a:rPr lang="en-US" sz="2000">
                <a:latin typeface="Times New Roman"/>
                <a:ea typeface="Times New Roman"/>
                <a:cs typeface="Times New Roman"/>
                <a:sym typeface="Times New Roman"/>
              </a:rPr>
              <a:t>as well as our degrees of freedom and our significance level, and then reject the null hypothesis if the p-value is below our significance level (the same as before).</a:t>
            </a:r>
            <a:endParaRPr/>
          </a:p>
          <a:p>
            <a:pPr indent="-342900" lvl="0" marL="342900" rtl="0" algn="just">
              <a:spcBef>
                <a:spcPts val="400"/>
              </a:spcBef>
              <a:spcAft>
                <a:spcPts val="0"/>
              </a:spcAft>
              <a:buClr>
                <a:schemeClr val="dk1"/>
              </a:buClr>
              <a:buSzPts val="2000"/>
              <a:buChar char="•"/>
            </a:pPr>
            <a:r>
              <a:rPr lang="en-US" sz="2000">
                <a:latin typeface="Times New Roman"/>
                <a:ea typeface="Times New Roman"/>
                <a:cs typeface="Times New Roman"/>
                <a:sym typeface="Times New Roman"/>
              </a:rPr>
              <a:t>Let's see an example to understand further.</a:t>
            </a:r>
            <a:r>
              <a:rPr i="1" lang="en-US" sz="2000">
                <a:solidFill>
                  <a:srgbClr val="FF0000"/>
                </a:solidFill>
                <a:latin typeface="Times New Roman"/>
                <a:ea typeface="Times New Roman"/>
                <a:cs typeface="Times New Roman"/>
                <a:sym typeface="Times New Roman"/>
              </a:rPr>
              <a:t> </a:t>
            </a:r>
            <a:endParaRPr sz="2000">
              <a:solidFill>
                <a:srgbClr val="FF0000"/>
              </a:solidFill>
              <a:latin typeface="Times New Roman"/>
              <a:ea typeface="Times New Roman"/>
              <a:cs typeface="Times New Roman"/>
              <a:sym typeface="Times New Roman"/>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5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Times New Roman"/>
              <a:buNone/>
            </a:pPr>
            <a:r>
              <a:rPr b="1" lang="en-US">
                <a:latin typeface="Times New Roman"/>
                <a:ea typeface="Times New Roman"/>
                <a:cs typeface="Times New Roman"/>
                <a:sym typeface="Times New Roman"/>
              </a:rPr>
              <a:t>Example of a Chi-Square test for Goodness of fit</a:t>
            </a:r>
            <a:endParaRPr>
              <a:latin typeface="Times New Roman"/>
              <a:ea typeface="Times New Roman"/>
              <a:cs typeface="Times New Roman"/>
              <a:sym typeface="Times New Roman"/>
            </a:endParaRPr>
          </a:p>
        </p:txBody>
      </p:sp>
      <p:sp>
        <p:nvSpPr>
          <p:cNvPr id="323" name="Google Shape;323;p5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US" sz="2400">
                <a:latin typeface="Times New Roman"/>
                <a:ea typeface="Times New Roman"/>
                <a:cs typeface="Times New Roman"/>
                <a:sym typeface="Times New Roman"/>
              </a:rPr>
              <a:t>The CDC categorizes adult BMIs into four classes: Under/Normal, Over weight, Obesity, and Extreme Obesity. A 2009 survey showed the distribution for adults in the U.S. to be 31.2%, 33.1%, 29.4%, and 6.3% respectively. A total of 500 adults are randomly sampled and their BMI categories are recorded. Is there evidence to suggest that BMI trends have changed since 2009? Test at the 0.05 significance level.</a:t>
            </a:r>
            <a:endParaRPr/>
          </a:p>
        </p:txBody>
      </p:sp>
      <p:pic>
        <p:nvPicPr>
          <p:cNvPr id="324" name="Google Shape;324;p56"/>
          <p:cNvPicPr preferRelativeResize="0"/>
          <p:nvPr/>
        </p:nvPicPr>
        <p:blipFill rotWithShape="1">
          <a:blip r:embed="rId3">
            <a:alphaModFix/>
          </a:blip>
          <a:srcRect b="0" l="0" r="0" t="0"/>
          <a:stretch/>
        </p:blipFill>
        <p:spPr>
          <a:xfrm>
            <a:off x="228599" y="4649688"/>
            <a:ext cx="8610601" cy="1190366"/>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57"/>
          <p:cNvSpPr txBox="1"/>
          <p:nvPr>
            <p:ph idx="1" type="body"/>
          </p:nvPr>
        </p:nvSpPr>
        <p:spPr>
          <a:xfrm>
            <a:off x="457200" y="304800"/>
            <a:ext cx="8229600" cy="64008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2200"/>
              <a:buChar char="•"/>
            </a:pPr>
            <a:r>
              <a:rPr lang="en-US" sz="2200">
                <a:latin typeface="Times New Roman"/>
                <a:ea typeface="Times New Roman"/>
                <a:cs typeface="Times New Roman"/>
                <a:sym typeface="Times New Roman"/>
              </a:rPr>
              <a:t>First, let's calculate our expected values. In a sample of 500, we </a:t>
            </a:r>
            <a:r>
              <a:rPr i="1" lang="en-US" sz="2200">
                <a:latin typeface="Times New Roman"/>
                <a:ea typeface="Times New Roman"/>
                <a:cs typeface="Times New Roman"/>
                <a:sym typeface="Times New Roman"/>
              </a:rPr>
              <a:t>expect </a:t>
            </a:r>
            <a:r>
              <a:rPr lang="en-US" sz="2200">
                <a:latin typeface="Times New Roman"/>
                <a:ea typeface="Times New Roman"/>
                <a:cs typeface="Times New Roman"/>
                <a:sym typeface="Times New Roman"/>
              </a:rPr>
              <a:t>156 to be Under/Normal (that's 31.2% of 500), and we fill in the remaining boxes in the same way.</a:t>
            </a:r>
            <a:endParaRPr sz="2200">
              <a:latin typeface="Times New Roman"/>
              <a:ea typeface="Times New Roman"/>
              <a:cs typeface="Times New Roman"/>
              <a:sym typeface="Times New Roman"/>
            </a:endParaRPr>
          </a:p>
          <a:p>
            <a:pPr indent="-203200" lvl="0" marL="342900" rtl="0" algn="just">
              <a:spcBef>
                <a:spcPts val="440"/>
              </a:spcBef>
              <a:spcAft>
                <a:spcPts val="0"/>
              </a:spcAft>
              <a:buClr>
                <a:schemeClr val="dk1"/>
              </a:buClr>
              <a:buSzPts val="2200"/>
              <a:buNone/>
            </a:pPr>
            <a:r>
              <a:t/>
            </a:r>
            <a:endParaRPr sz="2200">
              <a:latin typeface="Times New Roman"/>
              <a:ea typeface="Times New Roman"/>
              <a:cs typeface="Times New Roman"/>
              <a:sym typeface="Times New Roman"/>
            </a:endParaRPr>
          </a:p>
          <a:p>
            <a:pPr indent="-203200" lvl="0" marL="342900" rtl="0" algn="just">
              <a:spcBef>
                <a:spcPts val="440"/>
              </a:spcBef>
              <a:spcAft>
                <a:spcPts val="0"/>
              </a:spcAft>
              <a:buClr>
                <a:schemeClr val="dk1"/>
              </a:buClr>
              <a:buSzPts val="2200"/>
              <a:buNone/>
            </a:pPr>
            <a:r>
              <a:t/>
            </a:r>
            <a:endParaRPr sz="2200">
              <a:latin typeface="Times New Roman"/>
              <a:ea typeface="Times New Roman"/>
              <a:cs typeface="Times New Roman"/>
              <a:sym typeface="Times New Roman"/>
            </a:endParaRPr>
          </a:p>
          <a:p>
            <a:pPr indent="-203200" lvl="0" marL="342900" rtl="0" algn="just">
              <a:spcBef>
                <a:spcPts val="440"/>
              </a:spcBef>
              <a:spcAft>
                <a:spcPts val="0"/>
              </a:spcAft>
              <a:buClr>
                <a:schemeClr val="dk1"/>
              </a:buClr>
              <a:buSzPts val="2200"/>
              <a:buNone/>
            </a:pPr>
            <a:r>
              <a:t/>
            </a:r>
            <a:endParaRPr sz="2200">
              <a:latin typeface="Times New Roman"/>
              <a:ea typeface="Times New Roman"/>
              <a:cs typeface="Times New Roman"/>
              <a:sym typeface="Times New Roman"/>
            </a:endParaRPr>
          </a:p>
          <a:p>
            <a:pPr indent="-203200" lvl="0" marL="342900" rtl="0" algn="just">
              <a:spcBef>
                <a:spcPts val="440"/>
              </a:spcBef>
              <a:spcAft>
                <a:spcPts val="0"/>
              </a:spcAft>
              <a:buClr>
                <a:schemeClr val="dk1"/>
              </a:buClr>
              <a:buSzPts val="2200"/>
              <a:buNone/>
            </a:pPr>
            <a:r>
              <a:t/>
            </a:r>
            <a:endParaRPr sz="2200">
              <a:latin typeface="Times New Roman"/>
              <a:ea typeface="Times New Roman"/>
              <a:cs typeface="Times New Roman"/>
              <a:sym typeface="Times New Roman"/>
            </a:endParaRPr>
          </a:p>
          <a:p>
            <a:pPr indent="-342900" lvl="0" marL="342900" rtl="0" algn="just">
              <a:spcBef>
                <a:spcPts val="440"/>
              </a:spcBef>
              <a:spcAft>
                <a:spcPts val="0"/>
              </a:spcAft>
              <a:buClr>
                <a:schemeClr val="dk1"/>
              </a:buClr>
              <a:buSzPts val="2200"/>
              <a:buChar char="•"/>
            </a:pPr>
            <a:r>
              <a:rPr lang="en-US" sz="2200">
                <a:latin typeface="Times New Roman"/>
                <a:ea typeface="Times New Roman"/>
                <a:cs typeface="Times New Roman"/>
                <a:sym typeface="Times New Roman"/>
              </a:rPr>
              <a:t>First, check the conditions:</a:t>
            </a:r>
            <a:endParaRPr/>
          </a:p>
          <a:p>
            <a:pPr indent="-457200" lvl="1" marL="857250" rtl="0" algn="just">
              <a:spcBef>
                <a:spcPts val="440"/>
              </a:spcBef>
              <a:spcAft>
                <a:spcPts val="0"/>
              </a:spcAft>
              <a:buClr>
                <a:schemeClr val="dk1"/>
              </a:buClr>
              <a:buSzPts val="2200"/>
              <a:buFont typeface="Noto Sans Symbols"/>
              <a:buChar char="⮚"/>
            </a:pPr>
            <a:r>
              <a:rPr lang="en-US" sz="2200">
                <a:latin typeface="Times New Roman"/>
                <a:ea typeface="Times New Roman"/>
                <a:cs typeface="Times New Roman"/>
                <a:sym typeface="Times New Roman"/>
              </a:rPr>
              <a:t>All of the expected counts are greater than 5</a:t>
            </a:r>
            <a:endParaRPr/>
          </a:p>
          <a:p>
            <a:pPr indent="-457200" lvl="1" marL="857250" rtl="0" algn="just">
              <a:spcBef>
                <a:spcPts val="440"/>
              </a:spcBef>
              <a:spcAft>
                <a:spcPts val="0"/>
              </a:spcAft>
              <a:buClr>
                <a:schemeClr val="dk1"/>
              </a:buClr>
              <a:buSzPts val="2200"/>
              <a:buFont typeface="Noto Sans Symbols"/>
              <a:buChar char="⮚"/>
            </a:pPr>
            <a:r>
              <a:rPr lang="en-US" sz="2200">
                <a:latin typeface="Times New Roman"/>
                <a:ea typeface="Times New Roman"/>
                <a:cs typeface="Times New Roman"/>
                <a:sym typeface="Times New Roman"/>
              </a:rPr>
              <a:t>Each observation is independent and our population is very large (much more than 10 times of 500 people)</a:t>
            </a:r>
            <a:endParaRPr/>
          </a:p>
          <a:p>
            <a:pPr indent="-342900" lvl="0" marL="342900" rtl="0" algn="just">
              <a:spcBef>
                <a:spcPts val="440"/>
              </a:spcBef>
              <a:spcAft>
                <a:spcPts val="0"/>
              </a:spcAft>
              <a:buClr>
                <a:schemeClr val="dk1"/>
              </a:buClr>
              <a:buSzPts val="2200"/>
              <a:buChar char="•"/>
            </a:pPr>
            <a:r>
              <a:rPr lang="en-US" sz="2200">
                <a:latin typeface="Times New Roman"/>
                <a:ea typeface="Times New Roman"/>
                <a:cs typeface="Times New Roman"/>
                <a:sym typeface="Times New Roman"/>
              </a:rPr>
              <a:t>Next, carry out a goodness of fit test. We will set our null and alternative hypotheses:</a:t>
            </a:r>
            <a:endParaRPr/>
          </a:p>
          <a:p>
            <a:pPr indent="-457200" lvl="1" marL="857250" rtl="0" algn="just">
              <a:spcBef>
                <a:spcPts val="440"/>
              </a:spcBef>
              <a:spcAft>
                <a:spcPts val="0"/>
              </a:spcAft>
              <a:buClr>
                <a:schemeClr val="dk1"/>
              </a:buClr>
              <a:buSzPts val="2200"/>
              <a:buFont typeface="Noto Sans Symbols"/>
              <a:buChar char="⮚"/>
            </a:pPr>
            <a:r>
              <a:rPr i="1" lang="en-US" sz="2200">
                <a:latin typeface="Times New Roman"/>
                <a:ea typeface="Times New Roman"/>
                <a:cs typeface="Times New Roman"/>
                <a:sym typeface="Times New Roman"/>
              </a:rPr>
              <a:t>H</a:t>
            </a:r>
            <a:r>
              <a:rPr b="1" lang="en-US" sz="2200">
                <a:latin typeface="Times New Roman"/>
                <a:ea typeface="Times New Roman"/>
                <a:cs typeface="Times New Roman"/>
                <a:sym typeface="Times New Roman"/>
              </a:rPr>
              <a:t>0 </a:t>
            </a:r>
            <a:r>
              <a:rPr lang="en-US" sz="2200">
                <a:latin typeface="Times New Roman"/>
                <a:ea typeface="Times New Roman"/>
                <a:cs typeface="Times New Roman"/>
                <a:sym typeface="Times New Roman"/>
              </a:rPr>
              <a:t>: The 2009 BMI distribution is still correct.</a:t>
            </a:r>
            <a:endParaRPr/>
          </a:p>
          <a:p>
            <a:pPr indent="-457200" lvl="1" marL="857250" rtl="0" algn="just">
              <a:spcBef>
                <a:spcPts val="440"/>
              </a:spcBef>
              <a:spcAft>
                <a:spcPts val="0"/>
              </a:spcAft>
              <a:buClr>
                <a:schemeClr val="dk1"/>
              </a:buClr>
              <a:buSzPts val="2200"/>
              <a:buFont typeface="Noto Sans Symbols"/>
              <a:buChar char="⮚"/>
            </a:pPr>
            <a:r>
              <a:rPr i="1" lang="en-US" sz="2200">
                <a:latin typeface="Times New Roman"/>
                <a:ea typeface="Times New Roman"/>
                <a:cs typeface="Times New Roman"/>
                <a:sym typeface="Times New Roman"/>
              </a:rPr>
              <a:t>Ha </a:t>
            </a:r>
            <a:r>
              <a:rPr lang="en-US" sz="2200">
                <a:latin typeface="Times New Roman"/>
                <a:ea typeface="Times New Roman"/>
                <a:cs typeface="Times New Roman"/>
                <a:sym typeface="Times New Roman"/>
              </a:rPr>
              <a:t>: The 2009 BMI distribution is no longer correct (at least one of the proportions is different now). We can calculate our test statistic by hand:</a:t>
            </a:r>
            <a:endParaRPr/>
          </a:p>
        </p:txBody>
      </p:sp>
      <p:pic>
        <p:nvPicPr>
          <p:cNvPr id="330" name="Google Shape;330;p57"/>
          <p:cNvPicPr preferRelativeResize="0"/>
          <p:nvPr/>
        </p:nvPicPr>
        <p:blipFill rotWithShape="1">
          <a:blip r:embed="rId3">
            <a:alphaModFix/>
          </a:blip>
          <a:srcRect b="0" l="0" r="0" t="0"/>
          <a:stretch/>
        </p:blipFill>
        <p:spPr>
          <a:xfrm>
            <a:off x="228600" y="1600200"/>
            <a:ext cx="8610600" cy="1329325"/>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5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336" name="Google Shape;336;p58"/>
          <p:cNvSpPr txBox="1"/>
          <p:nvPr>
            <p:ph idx="1" type="body"/>
          </p:nvPr>
        </p:nvSpPr>
        <p:spPr>
          <a:xfrm>
            <a:off x="457200" y="1905000"/>
            <a:ext cx="8229600" cy="45720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300"/>
              <a:buChar char="•"/>
            </a:pPr>
            <a:r>
              <a:rPr lang="en-US" sz="2300">
                <a:latin typeface="Times New Roman"/>
                <a:ea typeface="Times New Roman"/>
                <a:cs typeface="Times New Roman"/>
                <a:sym typeface="Times New Roman"/>
              </a:rPr>
              <a:t>Alternatively, we can use our handy dandy Python skills, as shown:</a:t>
            </a:r>
            <a:endParaRPr/>
          </a:p>
          <a:p>
            <a:pPr indent="0" lvl="1" marL="400050" rtl="0" algn="l">
              <a:spcBef>
                <a:spcPts val="460"/>
              </a:spcBef>
              <a:spcAft>
                <a:spcPts val="0"/>
              </a:spcAft>
              <a:buClr>
                <a:schemeClr val="dk1"/>
              </a:buClr>
              <a:buSzPts val="2300"/>
              <a:buNone/>
            </a:pPr>
            <a:r>
              <a:rPr lang="en-US" sz="2300">
                <a:latin typeface="Times New Roman"/>
                <a:ea typeface="Times New Roman"/>
                <a:cs typeface="Times New Roman"/>
                <a:sym typeface="Times New Roman"/>
              </a:rPr>
              <a:t>observed = [102, 178, 186, 34]</a:t>
            </a:r>
            <a:endParaRPr/>
          </a:p>
          <a:p>
            <a:pPr indent="0" lvl="1" marL="400050" rtl="0" algn="l">
              <a:spcBef>
                <a:spcPts val="460"/>
              </a:spcBef>
              <a:spcAft>
                <a:spcPts val="0"/>
              </a:spcAft>
              <a:buClr>
                <a:schemeClr val="dk1"/>
              </a:buClr>
              <a:buSzPts val="2300"/>
              <a:buNone/>
            </a:pPr>
            <a:r>
              <a:rPr lang="en-US" sz="2300">
                <a:latin typeface="Times New Roman"/>
                <a:ea typeface="Times New Roman"/>
                <a:cs typeface="Times New Roman"/>
                <a:sym typeface="Times New Roman"/>
              </a:rPr>
              <a:t>expected = [156, 165.5, 147, 31.5]</a:t>
            </a:r>
            <a:endParaRPr/>
          </a:p>
          <a:p>
            <a:pPr indent="0" lvl="1" marL="400050" rtl="0" algn="l">
              <a:spcBef>
                <a:spcPts val="460"/>
              </a:spcBef>
              <a:spcAft>
                <a:spcPts val="0"/>
              </a:spcAft>
              <a:buClr>
                <a:schemeClr val="dk1"/>
              </a:buClr>
              <a:buSzPts val="2300"/>
              <a:buNone/>
            </a:pPr>
            <a:r>
              <a:rPr lang="en-US" sz="2300">
                <a:latin typeface="Times New Roman"/>
                <a:ea typeface="Times New Roman"/>
                <a:cs typeface="Times New Roman"/>
                <a:sym typeface="Times New Roman"/>
              </a:rPr>
              <a:t>chi_squared, p_value = stats.chisquare(f_obs= observed, f_exp=</a:t>
            </a:r>
            <a:endParaRPr/>
          </a:p>
          <a:p>
            <a:pPr indent="0" lvl="1" marL="400050" rtl="0" algn="l">
              <a:spcBef>
                <a:spcPts val="460"/>
              </a:spcBef>
              <a:spcAft>
                <a:spcPts val="0"/>
              </a:spcAft>
              <a:buClr>
                <a:schemeClr val="dk1"/>
              </a:buClr>
              <a:buSzPts val="2300"/>
              <a:buNone/>
            </a:pPr>
            <a:r>
              <a:rPr lang="en-US" sz="2300">
                <a:latin typeface="Times New Roman"/>
                <a:ea typeface="Times New Roman"/>
                <a:cs typeface="Times New Roman"/>
                <a:sym typeface="Times New Roman"/>
              </a:rPr>
              <a:t>expected)</a:t>
            </a:r>
            <a:endParaRPr/>
          </a:p>
          <a:p>
            <a:pPr indent="0" lvl="1" marL="400050" rtl="0" algn="l">
              <a:spcBef>
                <a:spcPts val="460"/>
              </a:spcBef>
              <a:spcAft>
                <a:spcPts val="0"/>
              </a:spcAft>
              <a:buClr>
                <a:schemeClr val="dk1"/>
              </a:buClr>
              <a:buSzPts val="2300"/>
              <a:buNone/>
            </a:pPr>
            <a:r>
              <a:rPr lang="en-US" sz="2300">
                <a:latin typeface="Times New Roman"/>
                <a:ea typeface="Times New Roman"/>
                <a:cs typeface="Times New Roman"/>
                <a:sym typeface="Times New Roman"/>
              </a:rPr>
              <a:t>chi_squared, p_value</a:t>
            </a:r>
            <a:endParaRPr sz="2300">
              <a:latin typeface="Times New Roman"/>
              <a:ea typeface="Times New Roman"/>
              <a:cs typeface="Times New Roman"/>
              <a:sym typeface="Times New Roman"/>
            </a:endParaRPr>
          </a:p>
          <a:p>
            <a:pPr indent="0" lvl="1" marL="400050" rtl="0" algn="l">
              <a:spcBef>
                <a:spcPts val="460"/>
              </a:spcBef>
              <a:spcAft>
                <a:spcPts val="0"/>
              </a:spcAft>
              <a:buClr>
                <a:schemeClr val="dk1"/>
              </a:buClr>
              <a:buSzPts val="2300"/>
              <a:buNone/>
            </a:pPr>
            <a:r>
              <a:rPr b="1" lang="en-US" sz="2300">
                <a:latin typeface="Times New Roman"/>
                <a:ea typeface="Times New Roman"/>
                <a:cs typeface="Times New Roman"/>
                <a:sym typeface="Times New Roman"/>
              </a:rPr>
              <a:t>#(30.1817679275599, 1.26374310311106e-06)</a:t>
            </a:r>
            <a:endParaRPr/>
          </a:p>
          <a:p>
            <a:pPr indent="-342900" lvl="0" marL="342900" rtl="0" algn="l">
              <a:spcBef>
                <a:spcPts val="460"/>
              </a:spcBef>
              <a:spcAft>
                <a:spcPts val="0"/>
              </a:spcAft>
              <a:buClr>
                <a:schemeClr val="dk1"/>
              </a:buClr>
              <a:buSzPts val="2300"/>
              <a:buChar char="•"/>
            </a:pPr>
            <a:r>
              <a:rPr lang="en-US" sz="2300">
                <a:latin typeface="Times New Roman"/>
                <a:ea typeface="Times New Roman"/>
                <a:cs typeface="Times New Roman"/>
                <a:sym typeface="Times New Roman"/>
              </a:rPr>
              <a:t>Our p-value is lower than .05; therefore, we may reject the null hypothesis in favor of the fact that the BMI trends today are different from what they were in 2009.</a:t>
            </a:r>
            <a:endParaRPr/>
          </a:p>
        </p:txBody>
      </p:sp>
      <p:pic>
        <p:nvPicPr>
          <p:cNvPr id="337" name="Google Shape;337;p58"/>
          <p:cNvPicPr preferRelativeResize="0"/>
          <p:nvPr/>
        </p:nvPicPr>
        <p:blipFill rotWithShape="1">
          <a:blip r:embed="rId3">
            <a:alphaModFix/>
          </a:blip>
          <a:srcRect b="0" l="0" r="0" t="0"/>
          <a:stretch/>
        </p:blipFill>
        <p:spPr>
          <a:xfrm>
            <a:off x="331839" y="270387"/>
            <a:ext cx="8382000" cy="1484137"/>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5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Times New Roman"/>
              <a:buNone/>
            </a:pPr>
            <a:r>
              <a:rPr b="1" lang="en-US">
                <a:latin typeface="Times New Roman"/>
                <a:ea typeface="Times New Roman"/>
                <a:cs typeface="Times New Roman"/>
                <a:sym typeface="Times New Roman"/>
              </a:rPr>
              <a:t>Chi-Square test for Association/Independence</a:t>
            </a:r>
            <a:endParaRPr>
              <a:latin typeface="Times New Roman"/>
              <a:ea typeface="Times New Roman"/>
              <a:cs typeface="Times New Roman"/>
              <a:sym typeface="Times New Roman"/>
            </a:endParaRPr>
          </a:p>
        </p:txBody>
      </p:sp>
      <p:sp>
        <p:nvSpPr>
          <p:cNvPr id="343" name="Google Shape;343;p5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2300"/>
              <a:buChar char="•"/>
            </a:pPr>
            <a:r>
              <a:rPr lang="en-US" sz="2300">
                <a:latin typeface="Times New Roman"/>
                <a:ea typeface="Times New Roman"/>
                <a:cs typeface="Times New Roman"/>
                <a:sym typeface="Times New Roman"/>
              </a:rPr>
              <a:t>Independence as a concept in probability is when knowing the value of one variable tells you nothing about the value of another. For example, we might expect that the country and the month you were born in are independent. </a:t>
            </a:r>
            <a:endParaRPr sz="2300">
              <a:latin typeface="Times New Roman"/>
              <a:ea typeface="Times New Roman"/>
              <a:cs typeface="Times New Roman"/>
              <a:sym typeface="Times New Roman"/>
            </a:endParaRPr>
          </a:p>
          <a:p>
            <a:pPr indent="-342900" lvl="0" marL="342900" rtl="0" algn="just">
              <a:spcBef>
                <a:spcPts val="460"/>
              </a:spcBef>
              <a:spcAft>
                <a:spcPts val="0"/>
              </a:spcAft>
              <a:buClr>
                <a:schemeClr val="dk1"/>
              </a:buClr>
              <a:buSzPts val="2300"/>
              <a:buChar char="•"/>
            </a:pPr>
            <a:r>
              <a:rPr lang="en-US" sz="2300">
                <a:latin typeface="Times New Roman"/>
                <a:ea typeface="Times New Roman"/>
                <a:cs typeface="Times New Roman"/>
                <a:sym typeface="Times New Roman"/>
              </a:rPr>
              <a:t>However, knowing which type of phone you use might indicate your creativity levels. Those variables might not be independent.</a:t>
            </a:r>
            <a:endParaRPr/>
          </a:p>
          <a:p>
            <a:pPr indent="-342900" lvl="0" marL="342900" rtl="0" algn="just">
              <a:spcBef>
                <a:spcPts val="460"/>
              </a:spcBef>
              <a:spcAft>
                <a:spcPts val="0"/>
              </a:spcAft>
              <a:buClr>
                <a:schemeClr val="dk1"/>
              </a:buClr>
              <a:buSzPts val="2300"/>
              <a:buChar char="•"/>
            </a:pPr>
            <a:r>
              <a:rPr lang="en-US" sz="2300">
                <a:latin typeface="Times New Roman"/>
                <a:ea typeface="Times New Roman"/>
                <a:cs typeface="Times New Roman"/>
                <a:sym typeface="Times New Roman"/>
              </a:rPr>
              <a:t>The chi-square test for association/independence helps us ascertain whether two categorical variables are independent of one another. The test for independence is commonly used to determine whether variables like education levels or tax brackets vary based on demographic factors, such as gender, race, and religion. </a:t>
            </a:r>
            <a:endParaRPr sz="2300">
              <a:latin typeface="Times New Roman"/>
              <a:ea typeface="Times New Roman"/>
              <a:cs typeface="Times New Roman"/>
              <a:sym typeface="Times New Roman"/>
            </a:endParaRPr>
          </a:p>
          <a:p>
            <a:pPr indent="-342900" lvl="0" marL="342900" rtl="0" algn="just">
              <a:spcBef>
                <a:spcPts val="460"/>
              </a:spcBef>
              <a:spcAft>
                <a:spcPts val="0"/>
              </a:spcAft>
              <a:buClr>
                <a:schemeClr val="dk1"/>
              </a:buClr>
              <a:buSzPts val="2300"/>
              <a:buChar char="•"/>
            </a:pPr>
            <a:r>
              <a:rPr lang="en-US" sz="2300">
                <a:latin typeface="Times New Roman"/>
                <a:ea typeface="Times New Roman"/>
                <a:cs typeface="Times New Roman"/>
                <a:sym typeface="Times New Roman"/>
              </a:rPr>
              <a:t>Let's look back at an example posed in the preceding chapter, the A/B split test.</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60"/>
          <p:cNvSpPr txBox="1"/>
          <p:nvPr>
            <p:ph idx="1" type="body"/>
          </p:nvPr>
        </p:nvSpPr>
        <p:spPr>
          <a:xfrm>
            <a:off x="457200" y="304800"/>
            <a:ext cx="8229600" cy="62484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2400"/>
              <a:buChar char="•"/>
            </a:pPr>
            <a:r>
              <a:rPr lang="en-US" sz="2400">
                <a:latin typeface="Times New Roman"/>
                <a:ea typeface="Times New Roman"/>
                <a:cs typeface="Times New Roman"/>
                <a:sym typeface="Times New Roman"/>
              </a:rPr>
              <a:t>Recall that we ran a test and exposed half of our users to a certain landing page (Website A), exposed the other half to a different landing page (Website B), and then, measured the sign up rates for both sites. We obtained the following results:</a:t>
            </a:r>
            <a:endParaRPr/>
          </a:p>
          <a:p>
            <a:pPr indent="-190500" lvl="0" marL="342900" rtl="0" algn="just">
              <a:spcBef>
                <a:spcPts val="480"/>
              </a:spcBef>
              <a:spcAft>
                <a:spcPts val="0"/>
              </a:spcAft>
              <a:buClr>
                <a:schemeClr val="dk1"/>
              </a:buClr>
              <a:buSzPts val="2400"/>
              <a:buNone/>
            </a:pPr>
            <a:r>
              <a:t/>
            </a:r>
            <a:endParaRPr sz="2400">
              <a:latin typeface="Times New Roman"/>
              <a:ea typeface="Times New Roman"/>
              <a:cs typeface="Times New Roman"/>
              <a:sym typeface="Times New Roman"/>
            </a:endParaRPr>
          </a:p>
          <a:p>
            <a:pPr indent="-190500" lvl="0" marL="342900" rtl="0" algn="just">
              <a:spcBef>
                <a:spcPts val="480"/>
              </a:spcBef>
              <a:spcAft>
                <a:spcPts val="0"/>
              </a:spcAft>
              <a:buClr>
                <a:schemeClr val="dk1"/>
              </a:buClr>
              <a:buSzPts val="2400"/>
              <a:buNone/>
            </a:pPr>
            <a:r>
              <a:t/>
            </a:r>
            <a:endParaRPr sz="2400">
              <a:latin typeface="Times New Roman"/>
              <a:ea typeface="Times New Roman"/>
              <a:cs typeface="Times New Roman"/>
              <a:sym typeface="Times New Roman"/>
            </a:endParaRPr>
          </a:p>
          <a:p>
            <a:pPr indent="-190500" lvl="0" marL="342900" rtl="0" algn="just">
              <a:spcBef>
                <a:spcPts val="480"/>
              </a:spcBef>
              <a:spcAft>
                <a:spcPts val="0"/>
              </a:spcAft>
              <a:buClr>
                <a:schemeClr val="dk1"/>
              </a:buClr>
              <a:buSzPts val="2400"/>
              <a:buNone/>
            </a:pPr>
            <a:r>
              <a:t/>
            </a:r>
            <a:endParaRPr sz="2400">
              <a:latin typeface="Times New Roman"/>
              <a:ea typeface="Times New Roman"/>
              <a:cs typeface="Times New Roman"/>
              <a:sym typeface="Times New Roman"/>
            </a:endParaRPr>
          </a:p>
          <a:p>
            <a:pPr indent="-190500" lvl="0" marL="342900" rtl="0" algn="just">
              <a:spcBef>
                <a:spcPts val="480"/>
              </a:spcBef>
              <a:spcAft>
                <a:spcPts val="0"/>
              </a:spcAft>
              <a:buClr>
                <a:schemeClr val="dk1"/>
              </a:buClr>
              <a:buSzPts val="2400"/>
              <a:buNone/>
            </a:pPr>
            <a:r>
              <a:t/>
            </a:r>
            <a:endParaRPr sz="2400">
              <a:latin typeface="Times New Roman"/>
              <a:ea typeface="Times New Roman"/>
              <a:cs typeface="Times New Roman"/>
              <a:sym typeface="Times New Roman"/>
            </a:endParaRPr>
          </a:p>
          <a:p>
            <a:pPr indent="-190500" lvl="0" marL="342900" rtl="0" algn="just">
              <a:spcBef>
                <a:spcPts val="480"/>
              </a:spcBef>
              <a:spcAft>
                <a:spcPts val="0"/>
              </a:spcAft>
              <a:buClr>
                <a:schemeClr val="dk1"/>
              </a:buClr>
              <a:buSzPts val="2400"/>
              <a:buNone/>
            </a:pPr>
            <a:r>
              <a:t/>
            </a:r>
            <a:endParaRPr sz="2400">
              <a:latin typeface="Times New Roman"/>
              <a:ea typeface="Times New Roman"/>
              <a:cs typeface="Times New Roman"/>
              <a:sym typeface="Times New Roman"/>
            </a:endParaRPr>
          </a:p>
          <a:p>
            <a:pPr indent="-190500" lvl="0" marL="342900" rtl="0" algn="just">
              <a:spcBef>
                <a:spcPts val="480"/>
              </a:spcBef>
              <a:spcAft>
                <a:spcPts val="0"/>
              </a:spcAft>
              <a:buClr>
                <a:schemeClr val="dk1"/>
              </a:buClr>
              <a:buSzPts val="2400"/>
              <a:buNone/>
            </a:pPr>
            <a:r>
              <a:t/>
            </a:r>
            <a:endParaRPr sz="2400">
              <a:latin typeface="Times New Roman"/>
              <a:ea typeface="Times New Roman"/>
              <a:cs typeface="Times New Roman"/>
              <a:sym typeface="Times New Roman"/>
            </a:endParaRPr>
          </a:p>
          <a:p>
            <a:pPr indent="-342900" lvl="0" marL="342900" rtl="0" algn="just">
              <a:spcBef>
                <a:spcPts val="480"/>
              </a:spcBef>
              <a:spcAft>
                <a:spcPts val="0"/>
              </a:spcAft>
              <a:buClr>
                <a:schemeClr val="dk1"/>
              </a:buClr>
              <a:buSzPts val="2400"/>
              <a:buChar char="•"/>
            </a:pPr>
            <a:r>
              <a:rPr lang="en-US" sz="2400">
                <a:latin typeface="Times New Roman"/>
                <a:ea typeface="Times New Roman"/>
                <a:cs typeface="Times New Roman"/>
                <a:sym typeface="Times New Roman"/>
              </a:rPr>
              <a:t>We calculated website conversions but what we really want to know is whether there is a difference between the two variables: </a:t>
            </a:r>
            <a:r>
              <a:rPr i="1" lang="en-US" sz="2400">
                <a:latin typeface="Times New Roman"/>
                <a:ea typeface="Times New Roman"/>
                <a:cs typeface="Times New Roman"/>
                <a:sym typeface="Times New Roman"/>
              </a:rPr>
              <a:t>which website was the user exposed to? </a:t>
            </a:r>
            <a:r>
              <a:rPr lang="en-US" sz="2400">
                <a:latin typeface="Times New Roman"/>
                <a:ea typeface="Times New Roman"/>
                <a:cs typeface="Times New Roman"/>
                <a:sym typeface="Times New Roman"/>
              </a:rPr>
              <a:t>and </a:t>
            </a:r>
            <a:r>
              <a:rPr i="1" lang="en-US" sz="2400">
                <a:latin typeface="Times New Roman"/>
                <a:ea typeface="Times New Roman"/>
                <a:cs typeface="Times New Roman"/>
                <a:sym typeface="Times New Roman"/>
              </a:rPr>
              <a:t>did the user sign up?</a:t>
            </a:r>
            <a:r>
              <a:rPr lang="en-US" sz="2400">
                <a:latin typeface="Times New Roman"/>
                <a:ea typeface="Times New Roman"/>
                <a:cs typeface="Times New Roman"/>
                <a:sym typeface="Times New Roman"/>
              </a:rPr>
              <a:t>. For this, we will use our chi-square test.</a:t>
            </a:r>
            <a:endParaRPr/>
          </a:p>
        </p:txBody>
      </p:sp>
      <p:pic>
        <p:nvPicPr>
          <p:cNvPr id="349" name="Google Shape;349;p60"/>
          <p:cNvPicPr preferRelativeResize="0"/>
          <p:nvPr/>
        </p:nvPicPr>
        <p:blipFill rotWithShape="1">
          <a:blip r:embed="rId3">
            <a:alphaModFix/>
          </a:blip>
          <a:srcRect b="0" l="0" r="0" t="0"/>
          <a:stretch/>
        </p:blipFill>
        <p:spPr>
          <a:xfrm>
            <a:off x="976488" y="2209800"/>
            <a:ext cx="7142869" cy="2119313"/>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6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Times New Roman"/>
              <a:buNone/>
            </a:pPr>
            <a:r>
              <a:rPr b="1" lang="en-US">
                <a:latin typeface="Times New Roman"/>
                <a:ea typeface="Times New Roman"/>
                <a:cs typeface="Times New Roman"/>
                <a:sym typeface="Times New Roman"/>
              </a:rPr>
              <a:t>Assumptions of the Chi-Square Independence test</a:t>
            </a:r>
            <a:endParaRPr>
              <a:latin typeface="Times New Roman"/>
              <a:ea typeface="Times New Roman"/>
              <a:cs typeface="Times New Roman"/>
              <a:sym typeface="Times New Roman"/>
            </a:endParaRPr>
          </a:p>
        </p:txBody>
      </p:sp>
      <p:sp>
        <p:nvSpPr>
          <p:cNvPr id="355" name="Google Shape;355;p6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100"/>
              <a:buChar char="•"/>
            </a:pPr>
            <a:r>
              <a:rPr lang="en-US" sz="2100">
                <a:latin typeface="Times New Roman"/>
                <a:ea typeface="Times New Roman"/>
                <a:cs typeface="Times New Roman"/>
                <a:sym typeface="Times New Roman"/>
              </a:rPr>
              <a:t>There are the following two assumptions of this test:</a:t>
            </a:r>
            <a:endParaRPr/>
          </a:p>
          <a:p>
            <a:pPr indent="-457200" lvl="1" marL="857250" rtl="0" algn="l">
              <a:spcBef>
                <a:spcPts val="420"/>
              </a:spcBef>
              <a:spcAft>
                <a:spcPts val="0"/>
              </a:spcAft>
              <a:buClr>
                <a:schemeClr val="dk1"/>
              </a:buClr>
              <a:buSzPts val="2100"/>
              <a:buFont typeface="Noto Sans Symbols"/>
              <a:buChar char="⮚"/>
            </a:pPr>
            <a:r>
              <a:rPr lang="en-US" sz="2100">
                <a:latin typeface="Times New Roman"/>
                <a:ea typeface="Times New Roman"/>
                <a:cs typeface="Times New Roman"/>
                <a:sym typeface="Times New Roman"/>
              </a:rPr>
              <a:t>All expected counts are at least 5</a:t>
            </a:r>
            <a:endParaRPr/>
          </a:p>
          <a:p>
            <a:pPr indent="-457200" lvl="1" marL="857250" rtl="0" algn="l">
              <a:spcBef>
                <a:spcPts val="420"/>
              </a:spcBef>
              <a:spcAft>
                <a:spcPts val="0"/>
              </a:spcAft>
              <a:buClr>
                <a:schemeClr val="dk1"/>
              </a:buClr>
              <a:buSzPts val="2100"/>
              <a:buFont typeface="Noto Sans Symbols"/>
              <a:buChar char="⮚"/>
            </a:pPr>
            <a:r>
              <a:rPr lang="en-US" sz="2100">
                <a:latin typeface="Times New Roman"/>
                <a:ea typeface="Times New Roman"/>
                <a:cs typeface="Times New Roman"/>
                <a:sym typeface="Times New Roman"/>
              </a:rPr>
              <a:t>Individual observations are independent and the population should be at least 10 times as large as the sample, (</a:t>
            </a:r>
            <a:r>
              <a:rPr i="1" lang="en-US" sz="2100">
                <a:latin typeface="Times New Roman"/>
                <a:ea typeface="Times New Roman"/>
                <a:cs typeface="Times New Roman"/>
                <a:sym typeface="Times New Roman"/>
              </a:rPr>
              <a:t>10n &lt; N</a:t>
            </a:r>
            <a:r>
              <a:rPr lang="en-US" sz="2100">
                <a:latin typeface="Times New Roman"/>
                <a:ea typeface="Times New Roman"/>
                <a:cs typeface="Times New Roman"/>
                <a:sym typeface="Times New Roman"/>
              </a:rPr>
              <a:t>)</a:t>
            </a:r>
            <a:endParaRPr/>
          </a:p>
          <a:p>
            <a:pPr indent="-342900" lvl="0" marL="342900" rtl="0" algn="l">
              <a:spcBef>
                <a:spcPts val="420"/>
              </a:spcBef>
              <a:spcAft>
                <a:spcPts val="0"/>
              </a:spcAft>
              <a:buClr>
                <a:schemeClr val="dk1"/>
              </a:buClr>
              <a:buSzPts val="2100"/>
              <a:buChar char="•"/>
            </a:pPr>
            <a:r>
              <a:rPr lang="en-US" sz="2100">
                <a:latin typeface="Times New Roman"/>
                <a:ea typeface="Times New Roman"/>
                <a:cs typeface="Times New Roman"/>
                <a:sym typeface="Times New Roman"/>
              </a:rPr>
              <a:t>Note that they are exactly the same as the last chi-square test.</a:t>
            </a:r>
            <a:endParaRPr/>
          </a:p>
          <a:p>
            <a:pPr indent="-342900" lvl="0" marL="342900" rtl="0" algn="l">
              <a:spcBef>
                <a:spcPts val="420"/>
              </a:spcBef>
              <a:spcAft>
                <a:spcPts val="0"/>
              </a:spcAft>
              <a:buClr>
                <a:schemeClr val="dk1"/>
              </a:buClr>
              <a:buSzPts val="2100"/>
              <a:buChar char="•"/>
            </a:pPr>
            <a:r>
              <a:rPr lang="en-US" sz="2100">
                <a:latin typeface="Times New Roman"/>
                <a:ea typeface="Times New Roman"/>
                <a:cs typeface="Times New Roman"/>
                <a:sym typeface="Times New Roman"/>
              </a:rPr>
              <a:t>Let's set up our hypotheses:</a:t>
            </a:r>
            <a:endParaRPr/>
          </a:p>
          <a:p>
            <a:pPr indent="-457200" lvl="1" marL="857250" rtl="0" algn="l">
              <a:spcBef>
                <a:spcPts val="420"/>
              </a:spcBef>
              <a:spcAft>
                <a:spcPts val="0"/>
              </a:spcAft>
              <a:buClr>
                <a:schemeClr val="dk1"/>
              </a:buClr>
              <a:buSzPts val="2100"/>
              <a:buFont typeface="Noto Sans Symbols"/>
              <a:buChar char="⮚"/>
            </a:pPr>
            <a:r>
              <a:rPr i="1" lang="en-US" sz="2100">
                <a:latin typeface="Times New Roman"/>
                <a:ea typeface="Times New Roman"/>
                <a:cs typeface="Times New Roman"/>
                <a:sym typeface="Times New Roman"/>
              </a:rPr>
              <a:t>H</a:t>
            </a:r>
            <a:r>
              <a:rPr baseline="-25000" i="1" lang="en-US" sz="2100">
                <a:latin typeface="Times New Roman"/>
                <a:ea typeface="Times New Roman"/>
                <a:cs typeface="Times New Roman"/>
                <a:sym typeface="Times New Roman"/>
              </a:rPr>
              <a:t>0</a:t>
            </a:r>
            <a:r>
              <a:rPr i="1" lang="en-US" sz="2100">
                <a:latin typeface="Times New Roman"/>
                <a:ea typeface="Times New Roman"/>
                <a:cs typeface="Times New Roman"/>
                <a:sym typeface="Times New Roman"/>
              </a:rPr>
              <a:t> </a:t>
            </a:r>
            <a:r>
              <a:rPr lang="en-US" sz="2100">
                <a:latin typeface="Times New Roman"/>
                <a:ea typeface="Times New Roman"/>
                <a:cs typeface="Times New Roman"/>
                <a:sym typeface="Times New Roman"/>
              </a:rPr>
              <a:t>: There is no association between two categorical variables in the population of interest</a:t>
            </a:r>
            <a:endParaRPr/>
          </a:p>
          <a:p>
            <a:pPr indent="-457200" lvl="1" marL="857250" rtl="0" algn="l">
              <a:spcBef>
                <a:spcPts val="420"/>
              </a:spcBef>
              <a:spcAft>
                <a:spcPts val="0"/>
              </a:spcAft>
              <a:buClr>
                <a:schemeClr val="dk1"/>
              </a:buClr>
              <a:buSzPts val="2100"/>
              <a:buFont typeface="Noto Sans Symbols"/>
              <a:buChar char="⮚"/>
            </a:pPr>
            <a:r>
              <a:rPr i="1" lang="en-US" sz="2100">
                <a:latin typeface="Times New Roman"/>
                <a:ea typeface="Times New Roman"/>
                <a:cs typeface="Times New Roman"/>
                <a:sym typeface="Times New Roman"/>
              </a:rPr>
              <a:t>H</a:t>
            </a:r>
            <a:r>
              <a:rPr baseline="-25000" i="1" lang="en-US" sz="2100">
                <a:latin typeface="Times New Roman"/>
                <a:ea typeface="Times New Roman"/>
                <a:cs typeface="Times New Roman"/>
                <a:sym typeface="Times New Roman"/>
              </a:rPr>
              <a:t>0</a:t>
            </a:r>
            <a:r>
              <a:rPr i="1" lang="en-US" sz="2100">
                <a:latin typeface="Times New Roman"/>
                <a:ea typeface="Times New Roman"/>
                <a:cs typeface="Times New Roman"/>
                <a:sym typeface="Times New Roman"/>
              </a:rPr>
              <a:t> </a:t>
            </a:r>
            <a:r>
              <a:rPr lang="en-US" sz="2100">
                <a:latin typeface="Times New Roman"/>
                <a:ea typeface="Times New Roman"/>
                <a:cs typeface="Times New Roman"/>
                <a:sym typeface="Times New Roman"/>
              </a:rPr>
              <a:t>: Two categorical variables are independent in the population of interest</a:t>
            </a:r>
            <a:endParaRPr/>
          </a:p>
          <a:p>
            <a:pPr indent="-457200" lvl="1" marL="857250" rtl="0" algn="l">
              <a:spcBef>
                <a:spcPts val="420"/>
              </a:spcBef>
              <a:spcAft>
                <a:spcPts val="0"/>
              </a:spcAft>
              <a:buClr>
                <a:schemeClr val="dk1"/>
              </a:buClr>
              <a:buSzPts val="2100"/>
              <a:buFont typeface="Noto Sans Symbols"/>
              <a:buChar char="⮚"/>
            </a:pPr>
            <a:r>
              <a:rPr i="1" lang="en-US" sz="2100">
                <a:latin typeface="Times New Roman"/>
                <a:ea typeface="Times New Roman"/>
                <a:cs typeface="Times New Roman"/>
                <a:sym typeface="Times New Roman"/>
              </a:rPr>
              <a:t>H</a:t>
            </a:r>
            <a:r>
              <a:rPr baseline="-25000" i="1" lang="en-US" sz="2100">
                <a:latin typeface="Times New Roman"/>
                <a:ea typeface="Times New Roman"/>
                <a:cs typeface="Times New Roman"/>
                <a:sym typeface="Times New Roman"/>
              </a:rPr>
              <a:t>a</a:t>
            </a:r>
            <a:r>
              <a:rPr i="1" lang="en-US" sz="2100">
                <a:latin typeface="Times New Roman"/>
                <a:ea typeface="Times New Roman"/>
                <a:cs typeface="Times New Roman"/>
                <a:sym typeface="Times New Roman"/>
              </a:rPr>
              <a:t> </a:t>
            </a:r>
            <a:r>
              <a:rPr lang="en-US" sz="2100">
                <a:latin typeface="Times New Roman"/>
                <a:ea typeface="Times New Roman"/>
                <a:cs typeface="Times New Roman"/>
                <a:sym typeface="Times New Roman"/>
              </a:rPr>
              <a:t>: There is an association between two categorical variables in the population of interest</a:t>
            </a:r>
            <a:endParaRPr/>
          </a:p>
          <a:p>
            <a:pPr indent="-457200" lvl="1" marL="857250" rtl="0" algn="l">
              <a:spcBef>
                <a:spcPts val="420"/>
              </a:spcBef>
              <a:spcAft>
                <a:spcPts val="0"/>
              </a:spcAft>
              <a:buClr>
                <a:schemeClr val="dk1"/>
              </a:buClr>
              <a:buSzPts val="2100"/>
              <a:buFont typeface="Noto Sans Symbols"/>
              <a:buChar char="⮚"/>
            </a:pPr>
            <a:r>
              <a:rPr i="1" lang="en-US" sz="2100">
                <a:latin typeface="Times New Roman"/>
                <a:ea typeface="Times New Roman"/>
                <a:cs typeface="Times New Roman"/>
                <a:sym typeface="Times New Roman"/>
              </a:rPr>
              <a:t>H</a:t>
            </a:r>
            <a:r>
              <a:rPr baseline="-25000" i="1" lang="en-US" sz="2100">
                <a:latin typeface="Times New Roman"/>
                <a:ea typeface="Times New Roman"/>
                <a:cs typeface="Times New Roman"/>
                <a:sym typeface="Times New Roman"/>
              </a:rPr>
              <a:t>a</a:t>
            </a:r>
            <a:r>
              <a:rPr i="1" lang="en-US" sz="2100">
                <a:latin typeface="Times New Roman"/>
                <a:ea typeface="Times New Roman"/>
                <a:cs typeface="Times New Roman"/>
                <a:sym typeface="Times New Roman"/>
              </a:rPr>
              <a:t> </a:t>
            </a:r>
            <a:r>
              <a:rPr lang="en-US" sz="2100">
                <a:latin typeface="Times New Roman"/>
                <a:ea typeface="Times New Roman"/>
                <a:cs typeface="Times New Roman"/>
                <a:sym typeface="Times New Roman"/>
              </a:rPr>
              <a:t>: Two categorical variables are not independent in the population of interest</a:t>
            </a:r>
            <a:endParaRPr sz="2100">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62"/>
          <p:cNvSpPr txBox="1"/>
          <p:nvPr>
            <p:ph idx="1" type="body"/>
          </p:nvPr>
        </p:nvSpPr>
        <p:spPr>
          <a:xfrm>
            <a:off x="457200" y="304800"/>
            <a:ext cx="8229600" cy="5821363"/>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2400"/>
              <a:buChar char="•"/>
            </a:pPr>
            <a:r>
              <a:rPr lang="en-US" sz="2400">
                <a:latin typeface="Times New Roman"/>
                <a:ea typeface="Times New Roman"/>
                <a:cs typeface="Times New Roman"/>
                <a:sym typeface="Times New Roman"/>
              </a:rPr>
              <a:t>You might notice that we are missing something important here. Where are the expected counts? Earlier, we had a prior distribution to compare our observed results to but now we do not. For this reason, we will have to create some. We can use the following formula to calculate the expected values for each value. In each cell of the table, we can use:</a:t>
            </a:r>
            <a:endParaRPr/>
          </a:p>
        </p:txBody>
      </p:sp>
      <p:pic>
        <p:nvPicPr>
          <p:cNvPr id="361" name="Google Shape;361;p62"/>
          <p:cNvPicPr preferRelativeResize="0"/>
          <p:nvPr/>
        </p:nvPicPr>
        <p:blipFill rotWithShape="1">
          <a:blip r:embed="rId3">
            <a:alphaModFix/>
          </a:blip>
          <a:srcRect b="0" l="0" r="0" t="0"/>
          <a:stretch/>
        </p:blipFill>
        <p:spPr>
          <a:xfrm>
            <a:off x="228600" y="3048000"/>
            <a:ext cx="8463280" cy="243840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63"/>
          <p:cNvSpPr txBox="1"/>
          <p:nvPr>
            <p:ph idx="1" type="body"/>
          </p:nvPr>
        </p:nvSpPr>
        <p:spPr>
          <a:xfrm>
            <a:off x="457200" y="228600"/>
            <a:ext cx="8229600" cy="6248400"/>
          </a:xfrm>
          <a:prstGeom prst="rect">
            <a:avLst/>
          </a:prstGeom>
          <a:noFill/>
          <a:ln>
            <a:noFill/>
          </a:ln>
        </p:spPr>
        <p:txBody>
          <a:bodyPr anchorCtr="0" anchor="t" bIns="45700" lIns="91425" spcFirstLastPara="1" rIns="91425" wrap="square" tIns="45700">
            <a:normAutofit fontScale="85000" lnSpcReduction="20000"/>
          </a:bodyPr>
          <a:lstStyle/>
          <a:p>
            <a:pPr indent="-342900" lvl="0" marL="342900" rtl="0" algn="just">
              <a:spcBef>
                <a:spcPts val="0"/>
              </a:spcBef>
              <a:spcAft>
                <a:spcPts val="0"/>
              </a:spcAft>
              <a:buClr>
                <a:schemeClr val="dk1"/>
              </a:buClr>
              <a:buSzPct val="100000"/>
              <a:buChar char="•"/>
            </a:pPr>
            <a:r>
              <a:rPr lang="en-US">
                <a:latin typeface="Times New Roman"/>
                <a:ea typeface="Times New Roman"/>
                <a:cs typeface="Times New Roman"/>
                <a:sym typeface="Times New Roman"/>
              </a:rPr>
              <a:t>Here, </a:t>
            </a:r>
            <a:r>
              <a:rPr i="1" lang="en-US">
                <a:latin typeface="Times New Roman"/>
                <a:ea typeface="Times New Roman"/>
                <a:cs typeface="Times New Roman"/>
                <a:sym typeface="Times New Roman"/>
              </a:rPr>
              <a:t>r </a:t>
            </a:r>
            <a:r>
              <a:rPr lang="en-US">
                <a:latin typeface="Times New Roman"/>
                <a:ea typeface="Times New Roman"/>
                <a:cs typeface="Times New Roman"/>
                <a:sym typeface="Times New Roman"/>
              </a:rPr>
              <a:t>is the number of rows and </a:t>
            </a:r>
            <a:r>
              <a:rPr i="1" lang="en-US">
                <a:latin typeface="Times New Roman"/>
                <a:ea typeface="Times New Roman"/>
                <a:cs typeface="Times New Roman"/>
                <a:sym typeface="Times New Roman"/>
              </a:rPr>
              <a:t>c </a:t>
            </a:r>
            <a:r>
              <a:rPr lang="en-US">
                <a:latin typeface="Times New Roman"/>
                <a:ea typeface="Times New Roman"/>
                <a:cs typeface="Times New Roman"/>
                <a:sym typeface="Times New Roman"/>
              </a:rPr>
              <a:t>is the number of columns. Of course, as before, when we calculate our p-value, we will reject the null if that p-value is less than the significance level. Let's use some built-in Python methods, as shown, in order to quickly get our results:</a:t>
            </a:r>
            <a:endParaRPr/>
          </a:p>
          <a:p>
            <a:pPr indent="0" lvl="2" marL="800100" rtl="0" algn="just">
              <a:spcBef>
                <a:spcPts val="408"/>
              </a:spcBef>
              <a:spcAft>
                <a:spcPts val="0"/>
              </a:spcAft>
              <a:buClr>
                <a:schemeClr val="dk1"/>
              </a:buClr>
              <a:buSzPct val="100000"/>
              <a:buNone/>
            </a:pPr>
            <a:r>
              <a:rPr lang="en-US">
                <a:latin typeface="Times New Roman"/>
                <a:ea typeface="Times New Roman"/>
                <a:cs typeface="Times New Roman"/>
                <a:sym typeface="Times New Roman"/>
              </a:rPr>
              <a:t>observed = np.array([[134, 54],[110, 48]])</a:t>
            </a:r>
            <a:endParaRPr/>
          </a:p>
          <a:p>
            <a:pPr indent="0" lvl="2" marL="800100" rtl="0" algn="just">
              <a:spcBef>
                <a:spcPts val="408"/>
              </a:spcBef>
              <a:spcAft>
                <a:spcPts val="0"/>
              </a:spcAft>
              <a:buClr>
                <a:schemeClr val="dk1"/>
              </a:buClr>
              <a:buSzPct val="100000"/>
              <a:buNone/>
            </a:pPr>
            <a:r>
              <a:rPr lang="en-US">
                <a:latin typeface="Times New Roman"/>
                <a:ea typeface="Times New Roman"/>
                <a:cs typeface="Times New Roman"/>
                <a:sym typeface="Times New Roman"/>
              </a:rPr>
              <a:t># built a 2x2 matrix as seen in the table above</a:t>
            </a:r>
            <a:endParaRPr/>
          </a:p>
          <a:p>
            <a:pPr indent="0" lvl="2" marL="800100" rtl="0" algn="just">
              <a:spcBef>
                <a:spcPts val="408"/>
              </a:spcBef>
              <a:spcAft>
                <a:spcPts val="0"/>
              </a:spcAft>
              <a:buClr>
                <a:schemeClr val="dk1"/>
              </a:buClr>
              <a:buSzPct val="100000"/>
              <a:buNone/>
            </a:pPr>
            <a:r>
              <a:rPr lang="en-US">
                <a:latin typeface="Times New Roman"/>
                <a:ea typeface="Times New Roman"/>
                <a:cs typeface="Times New Roman"/>
                <a:sym typeface="Times New Roman"/>
              </a:rPr>
              <a:t>chi_squared, p_value, degrees_of_freedom, matrix = stats.chi2_contingency(observed= observed)</a:t>
            </a:r>
            <a:endParaRPr/>
          </a:p>
          <a:p>
            <a:pPr indent="0" lvl="2" marL="800100" rtl="0" algn="just">
              <a:spcBef>
                <a:spcPts val="408"/>
              </a:spcBef>
              <a:spcAft>
                <a:spcPts val="0"/>
              </a:spcAft>
              <a:buClr>
                <a:schemeClr val="dk1"/>
              </a:buClr>
              <a:buSzPct val="100000"/>
              <a:buNone/>
            </a:pPr>
            <a:r>
              <a:rPr lang="en-US">
                <a:latin typeface="Times New Roman"/>
                <a:ea typeface="Times New Roman"/>
                <a:cs typeface="Times New Roman"/>
                <a:sym typeface="Times New Roman"/>
              </a:rPr>
              <a:t>chi_squared, p_value</a:t>
            </a:r>
            <a:endParaRPr>
              <a:latin typeface="Times New Roman"/>
              <a:ea typeface="Times New Roman"/>
              <a:cs typeface="Times New Roman"/>
              <a:sym typeface="Times New Roman"/>
            </a:endParaRPr>
          </a:p>
          <a:p>
            <a:pPr indent="0" lvl="2" marL="800100" rtl="0" algn="just">
              <a:spcBef>
                <a:spcPts val="408"/>
              </a:spcBef>
              <a:spcAft>
                <a:spcPts val="0"/>
              </a:spcAft>
              <a:buClr>
                <a:schemeClr val="dk1"/>
              </a:buClr>
              <a:buSzPct val="100000"/>
              <a:buNone/>
            </a:pPr>
            <a:r>
              <a:rPr lang="en-US">
                <a:latin typeface="Times New Roman"/>
                <a:ea typeface="Times New Roman"/>
                <a:cs typeface="Times New Roman"/>
                <a:sym typeface="Times New Roman"/>
              </a:rPr>
              <a:t># (0.04762692369491045, 0.82724528704422262)</a:t>
            </a:r>
            <a:endParaRPr/>
          </a:p>
          <a:p>
            <a:pPr indent="-170180" lvl="0" marL="342900" rtl="0" algn="just">
              <a:spcBef>
                <a:spcPts val="544"/>
              </a:spcBef>
              <a:spcAft>
                <a:spcPts val="0"/>
              </a:spcAft>
              <a:buClr>
                <a:schemeClr val="dk1"/>
              </a:buClr>
              <a:buSzPct val="100000"/>
              <a:buNone/>
            </a:pPr>
            <a:r>
              <a:t/>
            </a:r>
            <a:endParaRPr>
              <a:latin typeface="Times New Roman"/>
              <a:ea typeface="Times New Roman"/>
              <a:cs typeface="Times New Roman"/>
              <a:sym typeface="Times New Roman"/>
            </a:endParaRPr>
          </a:p>
          <a:p>
            <a:pPr indent="-342900" lvl="0" marL="342900" rtl="0" algn="just">
              <a:spcBef>
                <a:spcPts val="544"/>
              </a:spcBef>
              <a:spcAft>
                <a:spcPts val="0"/>
              </a:spcAft>
              <a:buClr>
                <a:schemeClr val="dk1"/>
              </a:buClr>
              <a:buSzPct val="100000"/>
              <a:buChar char="•"/>
            </a:pPr>
            <a:r>
              <a:rPr lang="en-US">
                <a:latin typeface="Times New Roman"/>
                <a:ea typeface="Times New Roman"/>
                <a:cs typeface="Times New Roman"/>
                <a:sym typeface="Times New Roman"/>
              </a:rPr>
              <a:t>We can see that our p-value is quite large; therefore, we </a:t>
            </a:r>
            <a:r>
              <a:rPr i="1" lang="en-US">
                <a:latin typeface="Times New Roman"/>
                <a:ea typeface="Times New Roman"/>
                <a:cs typeface="Times New Roman"/>
                <a:sym typeface="Times New Roman"/>
              </a:rPr>
              <a:t>fail </a:t>
            </a:r>
            <a:r>
              <a:rPr lang="en-US">
                <a:latin typeface="Times New Roman"/>
                <a:ea typeface="Times New Roman"/>
                <a:cs typeface="Times New Roman"/>
                <a:sym typeface="Times New Roman"/>
              </a:rPr>
              <a:t>to reject our null hypothesis and we cannot say for sure that seeing a particular website has any effect on a user's sign up. There is no association between these variables.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