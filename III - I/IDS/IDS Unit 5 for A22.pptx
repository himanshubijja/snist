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304" r:id="rId10"/>
    <p:sldId id="264" r:id="rId11"/>
    <p:sldId id="265" r:id="rId12"/>
    <p:sldId id="266" r:id="rId13"/>
    <p:sldId id="267" r:id="rId14"/>
    <p:sldId id="268" r:id="rId15"/>
    <p:sldId id="271" r:id="rId16"/>
    <p:sldId id="269"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2" r:id="rId38"/>
    <p:sldId id="293" r:id="rId39"/>
    <p:sldId id="295" r:id="rId40"/>
    <p:sldId id="296" r:id="rId41"/>
    <p:sldId id="297" r:id="rId42"/>
    <p:sldId id="298" r:id="rId43"/>
    <p:sldId id="299" r:id="rId44"/>
    <p:sldId id="300" r:id="rId45"/>
    <p:sldId id="301" r:id="rId46"/>
    <p:sldId id="302" r:id="rId47"/>
    <p:sldId id="303" r:id="rId48"/>
    <p:sldId id="305" r:id="rId49"/>
    <p:sldId id="306" r:id="rId50"/>
    <p:sldId id="307" r:id="rId51"/>
    <p:sldId id="308" r:id="rId52"/>
    <p:sldId id="321" r:id="rId53"/>
    <p:sldId id="309" r:id="rId54"/>
    <p:sldId id="310" r:id="rId55"/>
    <p:sldId id="311" r:id="rId56"/>
    <p:sldId id="312" r:id="rId57"/>
    <p:sldId id="313" r:id="rId58"/>
    <p:sldId id="314" r:id="rId59"/>
    <p:sldId id="315" r:id="rId60"/>
    <p:sldId id="316" r:id="rId61"/>
    <p:sldId id="317" r:id="rId62"/>
    <p:sldId id="318"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85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EB984-B7A4-40E9-98EF-9E0D7FA7D339}" type="datetimeFigureOut">
              <a:rPr lang="en-IN" smtClean="0"/>
              <a:t>10-11-2024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C4FEB-712D-468B-B6FE-7FF00C2A248A}" type="slidenum">
              <a:rPr lang="en-IN" smtClean="0"/>
              <a:t>‹#›</a:t>
            </a:fld>
            <a:endParaRPr lang="en-IN"/>
          </a:p>
        </p:txBody>
      </p:sp>
    </p:spTree>
    <p:extLst>
      <p:ext uri="{BB962C8B-B14F-4D97-AF65-F5344CB8AC3E}">
        <p14:creationId xmlns:p14="http://schemas.microsoft.com/office/powerpoint/2010/main" val="509781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DC4FEB-712D-468B-B6FE-7FF00C2A248A}" type="slidenum">
              <a:rPr lang="en-IN" smtClean="0"/>
              <a:t>3</a:t>
            </a:fld>
            <a:endParaRPr lang="en-IN"/>
          </a:p>
        </p:txBody>
      </p:sp>
    </p:spTree>
    <p:extLst>
      <p:ext uri="{BB962C8B-B14F-4D97-AF65-F5344CB8AC3E}">
        <p14:creationId xmlns:p14="http://schemas.microsoft.com/office/powerpoint/2010/main" val="2466684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0C8364-58CE-1865-D1D3-840D5DACE8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0C6215F-E243-1D0B-9C18-91B6C850F5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819FF934-70D8-7C26-0AE7-CA98819770CE}"/>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69B8E62B-3F6E-193D-09CD-F167E4CE8A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769559E-A4E8-F301-0EBF-835FC9722CB2}"/>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213660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63A27C-862C-7A45-5CA0-368DEBD898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25D2721-FE00-2863-3042-3F6B71A925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A857A73-3BEA-7A4D-4107-D30BC07FAF4B}"/>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6B7D332F-7E05-FC81-2B05-7A176F276E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271282A-D045-B681-C03A-E3F3767956EC}"/>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414629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E8EA23-0FBB-4E8F-A40D-7A8D17B2B3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A2E3B7D-A0C4-A5C5-B20D-B34AFE6F23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B5B010C-2F24-FAF2-907C-8AAB6F3E399D}"/>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039F28D0-E935-CEDC-37CE-CE48ED090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2540761-D68E-8B7D-A02F-BB0A439AE373}"/>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26888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B90F79-C6A1-28AD-3AC1-2FDC4528FC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56EA1EB-B28A-094A-8291-4AEAB74998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EF7F728-9FB4-95AA-76AE-6390A790A7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61C9677-9496-6D18-2FFA-492F5877D7B1}"/>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6" name="Footer Placeholder 5">
            <a:extLst>
              <a:ext uri="{FF2B5EF4-FFF2-40B4-BE49-F238E27FC236}">
                <a16:creationId xmlns="" xmlns:a16="http://schemas.microsoft.com/office/drawing/2014/main" id="{F26C6F40-1471-0965-348A-CFD8F69813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32B1CEDC-3F18-3B90-8A40-F4C25EE53E83}"/>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3941648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97D47-511E-E42F-B4AB-D1ECABDC63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78A7FBF-FC89-8B70-E876-C67E0A057A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A0D8184-86F6-26E9-0BB2-A06DB04C12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DAE7F37A-9CA3-9CD2-6822-808ADD2126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556D5E4-CB37-8946-2D49-6BC1FB8723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B640286-31CE-45A0-1031-96B2C15ECE40}"/>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8" name="Footer Placeholder 7">
            <a:extLst>
              <a:ext uri="{FF2B5EF4-FFF2-40B4-BE49-F238E27FC236}">
                <a16:creationId xmlns="" xmlns:a16="http://schemas.microsoft.com/office/drawing/2014/main" id="{F2214A16-FE0C-DA00-2106-146DB0D85C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9BD77AC7-56D0-3831-0CD7-6E376521915B}"/>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345359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C32CFA-1CC2-FE5E-E9E8-6A7188CE51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1B2AACBE-72D7-57EC-4460-084B47FCCAC8}"/>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4" name="Footer Placeholder 3">
            <a:extLst>
              <a:ext uri="{FF2B5EF4-FFF2-40B4-BE49-F238E27FC236}">
                <a16:creationId xmlns="" xmlns:a16="http://schemas.microsoft.com/office/drawing/2014/main" id="{95D53CE9-81D4-ED1F-30ED-92A2ED0F3F1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376E7363-A707-974D-B33E-2C8D837F2320}"/>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428969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2FC5FB2-0FC8-E619-8500-92610B694E32}"/>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3" name="Footer Placeholder 2">
            <a:extLst>
              <a:ext uri="{FF2B5EF4-FFF2-40B4-BE49-F238E27FC236}">
                <a16:creationId xmlns="" xmlns:a16="http://schemas.microsoft.com/office/drawing/2014/main" id="{F8934D23-1598-A846-294E-5AB7A09D57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9A9FF51-5979-374F-3DF5-41E65875B8B2}"/>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2649810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5BB2D2-A362-91E6-285E-2DF654FBFC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3065C62-BABD-4E3F-15EE-F9FDDBF81E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F84067CE-0FD9-6E18-B8FC-AEDFA57108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A75308B-BBAA-4B36-E938-E3B2F140BED1}"/>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6" name="Footer Placeholder 5">
            <a:extLst>
              <a:ext uri="{FF2B5EF4-FFF2-40B4-BE49-F238E27FC236}">
                <a16:creationId xmlns="" xmlns:a16="http://schemas.microsoft.com/office/drawing/2014/main" id="{60BD7354-A512-A579-A9BB-D5F74493E8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9BBCF8B-B32D-187B-61B3-A048EC511DB9}"/>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4077246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FA92E8-529E-17E1-FBF5-A438A40D1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7F78ED0C-2A6D-6C1D-0B0F-B2FA829A6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35A27B89-526A-1F99-F0D7-A129D14880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DC61C66-995C-2A39-54C7-6DC49775ADA7}"/>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6" name="Footer Placeholder 5">
            <a:extLst>
              <a:ext uri="{FF2B5EF4-FFF2-40B4-BE49-F238E27FC236}">
                <a16:creationId xmlns="" xmlns:a16="http://schemas.microsoft.com/office/drawing/2014/main" id="{87386152-81C9-FB95-DBA4-148A7D6AB3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4CBC10C-0269-A5DF-9EF1-2DE9DAF82ADB}"/>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3855560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34BCB8-AB8E-13E3-5F1D-4195C1EDBC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2B96BE6-9589-D805-FDAA-1DD8931254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45B0D73-FB5D-D523-073C-390C0B79E2CE}"/>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F3058E34-9890-B411-5D1C-6D6C3C8B1B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5DE991E-4CDE-59A0-A9AA-8B65499E0033}"/>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2112346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1534C04-A7F5-31EC-77B0-32C09D35FD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C415C9E-2669-1609-2193-5430DF516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451EF62-BEE1-F3B6-DE91-C1AA218DEE08}"/>
              </a:ext>
            </a:extLst>
          </p:cNvPr>
          <p:cNvSpPr>
            <a:spLocks noGrp="1"/>
          </p:cNvSpPr>
          <p:nvPr>
            <p:ph type="dt" sz="half" idx="10"/>
          </p:nvPr>
        </p:nvSpPr>
        <p:spPr/>
        <p:txBody>
          <a:body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EE2C9DBC-4B1F-A6AF-F61C-ED057FDD28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52F9E24-AA6D-1713-2D9E-6AF976506726}"/>
              </a:ext>
            </a:extLst>
          </p:cNvPr>
          <p:cNvSpPr>
            <a:spLocks noGrp="1"/>
          </p:cNvSpPr>
          <p:nvPr>
            <p:ph type="sldNum" sz="quarter" idx="12"/>
          </p:nvPr>
        </p:nvSpPr>
        <p:spPr/>
        <p:txBody>
          <a:bodyPr/>
          <a:lstStyle/>
          <a:p>
            <a:fld id="{63A31022-B631-4225-9CC1-8C482F452EF3}" type="slidenum">
              <a:rPr lang="en-IN" smtClean="0"/>
              <a:t>‹#›</a:t>
            </a:fld>
            <a:endParaRPr lang="en-IN"/>
          </a:p>
        </p:txBody>
      </p:sp>
    </p:spTree>
    <p:extLst>
      <p:ext uri="{BB962C8B-B14F-4D97-AF65-F5344CB8AC3E}">
        <p14:creationId xmlns:p14="http://schemas.microsoft.com/office/powerpoint/2010/main" val="155537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AABFAF3-CC47-FD6A-B823-2D07E1E3BA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BB959B4-B13E-8766-3AF7-99394DD121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C5ACB54-978C-BCBB-682F-3D62126C4E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77EB80-89CB-46F5-9277-A33B17BB80EC}" type="datetimeFigureOut">
              <a:rPr lang="en-IN" smtClean="0"/>
              <a:t>10-11-2024</a:t>
            </a:fld>
            <a:endParaRPr lang="en-IN"/>
          </a:p>
        </p:txBody>
      </p:sp>
      <p:sp>
        <p:nvSpPr>
          <p:cNvPr id="5" name="Footer Placeholder 4">
            <a:extLst>
              <a:ext uri="{FF2B5EF4-FFF2-40B4-BE49-F238E27FC236}">
                <a16:creationId xmlns="" xmlns:a16="http://schemas.microsoft.com/office/drawing/2014/main" id="{7BAD8901-343C-A5C6-0053-F999D8B7CB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73050AB7-5C0C-285D-7ED8-C072072ED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A31022-B631-4225-9CC1-8C482F452EF3}" type="slidenum">
              <a:rPr lang="en-IN" smtClean="0"/>
              <a:t>‹#›</a:t>
            </a:fld>
            <a:endParaRPr lang="en-IN"/>
          </a:p>
        </p:txBody>
      </p:sp>
    </p:spTree>
    <p:extLst>
      <p:ext uri="{BB962C8B-B14F-4D97-AF65-F5344CB8AC3E}">
        <p14:creationId xmlns:p14="http://schemas.microsoft.com/office/powerpoint/2010/main" val="3972603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B1CCAE-AF27-6F4F-2ECD-84AA65A3668D}"/>
              </a:ext>
            </a:extLst>
          </p:cNvPr>
          <p:cNvSpPr>
            <a:spLocks noGrp="1"/>
          </p:cNvSpPr>
          <p:nvPr>
            <p:ph type="ctr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Unit 5</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92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157775-227F-37DD-8862-730CBA9336B2}"/>
              </a:ext>
            </a:extLst>
          </p:cNvPr>
          <p:cNvSpPr>
            <a:spLocks noGrp="1"/>
          </p:cNvSpPr>
          <p:nvPr>
            <p:ph type="title"/>
          </p:nvPr>
        </p:nvSpPr>
        <p:spPr/>
        <p:txBody>
          <a:bodyPr>
            <a:normAutofit/>
          </a:bodyPr>
          <a:lstStyle/>
          <a:p>
            <a:pPr algn="ctr"/>
            <a:r>
              <a:rPr lang="en-US" sz="4800" dirty="0" smtClean="0">
                <a:latin typeface="Times New Roman" panose="02020603050405020304" pitchFamily="18" charset="0"/>
                <a:cs typeface="Times New Roman" panose="02020603050405020304" pitchFamily="18" charset="0"/>
              </a:rPr>
              <a:t>Topics</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77780FCA-65DC-9382-6DC9-BF795A724D56}"/>
              </a:ext>
            </a:extLst>
          </p:cNvPr>
          <p:cNvSpPr>
            <a:spLocks noGrp="1"/>
          </p:cNvSpPr>
          <p:nvPr>
            <p:ph idx="1"/>
          </p:nvPr>
        </p:nvSpPr>
        <p:spPr/>
        <p:txBody>
          <a:bodyPr/>
          <a:lstStyle/>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bias variance </a:t>
            </a:r>
            <a:r>
              <a:rPr lang="en-IN" sz="2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tradeoff</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Error due to bias, Error due to variance, </a:t>
            </a:r>
          </a:p>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Two extreme cases of bias/variance </a:t>
            </a:r>
            <a:r>
              <a:rPr lang="en-IN" sz="2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tradeoff</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Underfitting, Overfitting, </a:t>
            </a:r>
          </a:p>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How bias/variance play into error functions, </a:t>
            </a:r>
          </a:p>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 folds cross-validation, </a:t>
            </a:r>
          </a:p>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Grid searching, </a:t>
            </a:r>
          </a:p>
          <a:p>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Visualizing training error versus cross-validation error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90778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5695E4-A989-4087-E171-848DA669B6A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The </a:t>
            </a:r>
            <a:r>
              <a:rPr lang="en-IN" b="1" dirty="0" smtClean="0">
                <a:latin typeface="Times New Roman" panose="02020603050405020304" pitchFamily="18" charset="0"/>
                <a:cs typeface="Times New Roman" panose="02020603050405020304" pitchFamily="18" charset="0"/>
              </a:rPr>
              <a:t>Bias </a:t>
            </a:r>
            <a:r>
              <a:rPr lang="en-IN" b="1" dirty="0">
                <a:latin typeface="Times New Roman" panose="02020603050405020304" pitchFamily="18" charset="0"/>
                <a:cs typeface="Times New Roman" panose="02020603050405020304" pitchFamily="18" charset="0"/>
              </a:rPr>
              <a:t>V</a:t>
            </a:r>
            <a:r>
              <a:rPr lang="en-IN" b="1" dirty="0" smtClean="0">
                <a:latin typeface="Times New Roman" panose="02020603050405020304" pitchFamily="18" charset="0"/>
                <a:cs typeface="Times New Roman" panose="02020603050405020304" pitchFamily="18" charset="0"/>
              </a:rPr>
              <a:t>ariance </a:t>
            </a:r>
            <a:r>
              <a:rPr lang="en-IN" b="1" dirty="0" err="1">
                <a:latin typeface="Times New Roman" panose="02020603050405020304" pitchFamily="18" charset="0"/>
                <a:cs typeface="Times New Roman" panose="02020603050405020304" pitchFamily="18" charset="0"/>
              </a:rPr>
              <a:t>T</a:t>
            </a:r>
            <a:r>
              <a:rPr lang="en-IN" b="1" dirty="0" err="1" smtClean="0">
                <a:latin typeface="Times New Roman" panose="02020603050405020304" pitchFamily="18" charset="0"/>
                <a:cs typeface="Times New Roman" panose="02020603050405020304" pitchFamily="18" charset="0"/>
              </a:rPr>
              <a:t>radeoff</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Error due to bias</a:t>
            </a:r>
          </a:p>
        </p:txBody>
      </p:sp>
      <p:sp>
        <p:nvSpPr>
          <p:cNvPr id="3" name="Content Placeholder 2">
            <a:extLst>
              <a:ext uri="{FF2B5EF4-FFF2-40B4-BE49-F238E27FC236}">
                <a16:creationId xmlns="" xmlns:a16="http://schemas.microsoft.com/office/drawing/2014/main" id="{CB8C490F-AF62-996D-086C-47658F548585}"/>
              </a:ext>
            </a:extLst>
          </p:cNvPr>
          <p:cNvSpPr>
            <a:spLocks noGrp="1"/>
          </p:cNvSpPr>
          <p:nvPr>
            <p:ph idx="1"/>
          </p:nvPr>
        </p:nvSpPr>
        <p:spPr>
          <a:xfrm>
            <a:off x="457201" y="1565564"/>
            <a:ext cx="11360726" cy="5098472"/>
          </a:xfrm>
        </p:spPr>
        <p:txBody>
          <a:bodyPr>
            <a:noAutofit/>
          </a:bodyPr>
          <a:lstStyle/>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When speaking of errors due to Bias, we are speaking of the difference between </a:t>
            </a:r>
            <a:r>
              <a:rPr lang="en-US" sz="2000" dirty="0" smtClean="0">
                <a:latin typeface="Times New Roman" panose="02020603050405020304" pitchFamily="18" charset="0"/>
                <a:cs typeface="Times New Roman" panose="02020603050405020304" pitchFamily="18" charset="0"/>
              </a:rPr>
              <a:t>the expected </a:t>
            </a:r>
            <a:r>
              <a:rPr lang="en-US" sz="2000" dirty="0">
                <a:latin typeface="Times New Roman" panose="02020603050405020304" pitchFamily="18" charset="0"/>
                <a:cs typeface="Times New Roman" panose="02020603050405020304" pitchFamily="18" charset="0"/>
              </a:rPr>
              <a:t>prediction of our model and the actual (correct) value, which we are </a:t>
            </a:r>
            <a:r>
              <a:rPr lang="en-US" sz="2000" dirty="0" smtClean="0">
                <a:latin typeface="Times New Roman" panose="02020603050405020304" pitchFamily="18" charset="0"/>
                <a:cs typeface="Times New Roman" panose="02020603050405020304" pitchFamily="18" charset="0"/>
              </a:rPr>
              <a:t>trying to </a:t>
            </a:r>
            <a:r>
              <a:rPr lang="en-US" sz="2000" dirty="0">
                <a:latin typeface="Times New Roman" panose="02020603050405020304" pitchFamily="18" charset="0"/>
                <a:cs typeface="Times New Roman" panose="02020603050405020304" pitchFamily="18" charset="0"/>
              </a:rPr>
              <a:t>predict. </a:t>
            </a:r>
            <a:endParaRPr lang="en-US" sz="2000" dirty="0" smtClean="0">
              <a:latin typeface="Times New Roman" panose="02020603050405020304" pitchFamily="18" charset="0"/>
              <a:cs typeface="Times New Roman" panose="02020603050405020304" pitchFamily="18" charset="0"/>
            </a:endParaRPr>
          </a:p>
          <a:p>
            <a:pPr algn="just">
              <a:lnSpc>
                <a:spcPct val="110000"/>
              </a:lnSpc>
              <a:spcBef>
                <a:spcPts val="0"/>
              </a:spcBef>
            </a:pPr>
            <a:r>
              <a:rPr lang="en-US" sz="2000" dirty="0" smtClean="0">
                <a:latin typeface="Times New Roman" panose="02020603050405020304" pitchFamily="18" charset="0"/>
                <a:cs typeface="Times New Roman" panose="02020603050405020304" pitchFamily="18" charset="0"/>
              </a:rPr>
              <a:t>Bias</a:t>
            </a:r>
            <a:r>
              <a:rPr lang="en-US" sz="2000" dirty="0">
                <a:latin typeface="Times New Roman" panose="02020603050405020304" pitchFamily="18" charset="0"/>
                <a:cs typeface="Times New Roman" panose="02020603050405020304" pitchFamily="18" charset="0"/>
              </a:rPr>
              <a:t>, in effect, measures how far, in general, our model's predictions </a:t>
            </a:r>
            <a:r>
              <a:rPr lang="en-US" sz="2000" dirty="0" smtClean="0">
                <a:latin typeface="Times New Roman" panose="02020603050405020304" pitchFamily="18" charset="0"/>
                <a:cs typeface="Times New Roman" panose="02020603050405020304" pitchFamily="18" charset="0"/>
              </a:rPr>
              <a:t>are from </a:t>
            </a:r>
            <a:r>
              <a:rPr lang="en-US" sz="2000" dirty="0">
                <a:latin typeface="Times New Roman" panose="02020603050405020304" pitchFamily="18" charset="0"/>
                <a:cs typeface="Times New Roman" panose="02020603050405020304" pitchFamily="18" charset="0"/>
              </a:rPr>
              <a:t>the correct value.</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Think about </a:t>
            </a:r>
            <a:r>
              <a:rPr lang="en-US" sz="2000" u="sng" dirty="0">
                <a:latin typeface="Times New Roman" panose="02020603050405020304" pitchFamily="18" charset="0"/>
                <a:cs typeface="Times New Roman" panose="02020603050405020304" pitchFamily="18" charset="0"/>
              </a:rPr>
              <a:t>bias as simply being the difference between a predicted value and </a:t>
            </a:r>
            <a:r>
              <a:rPr lang="en-US" sz="2000" u="sng" dirty="0" smtClean="0">
                <a:latin typeface="Times New Roman" panose="02020603050405020304" pitchFamily="18" charset="0"/>
                <a:cs typeface="Times New Roman" panose="02020603050405020304" pitchFamily="18" charset="0"/>
              </a:rPr>
              <a:t>the actual </a:t>
            </a:r>
            <a:r>
              <a:rPr lang="en-US" sz="2000" u="sng"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just">
              <a:lnSpc>
                <a:spcPct val="110000"/>
              </a:lnSpc>
              <a:spcBef>
                <a:spcPts val="0"/>
              </a:spcBef>
            </a:pPr>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example, consider that our model, represented as F(x), predicts </a:t>
            </a:r>
            <a:r>
              <a:rPr lang="en-US" sz="2000" dirty="0" smtClean="0">
                <a:latin typeface="Times New Roman" panose="02020603050405020304" pitchFamily="18" charset="0"/>
                <a:cs typeface="Times New Roman" panose="02020603050405020304" pitchFamily="18" charset="0"/>
              </a:rPr>
              <a:t>the value </a:t>
            </a:r>
            <a:r>
              <a:rPr lang="en-US" sz="2000" dirty="0">
                <a:latin typeface="Times New Roman" panose="02020603050405020304" pitchFamily="18" charset="0"/>
                <a:cs typeface="Times New Roman" panose="02020603050405020304" pitchFamily="18" charset="0"/>
              </a:rPr>
              <a:t>of 29 as follows:</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F(29) = 88</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Here, the value of 29 should have been predicted at 79, then:</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Bias(29) = 88-79 = 9</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If a machine learning model tends to be very accurate in its prediction (regression </a:t>
            </a:r>
            <a:r>
              <a:rPr lang="en-US" sz="2000" dirty="0" smtClean="0">
                <a:latin typeface="Times New Roman" panose="02020603050405020304" pitchFamily="18" charset="0"/>
                <a:cs typeface="Times New Roman" panose="02020603050405020304" pitchFamily="18" charset="0"/>
              </a:rPr>
              <a:t>or classification</a:t>
            </a:r>
            <a:r>
              <a:rPr lang="en-US" sz="2000" dirty="0">
                <a:latin typeface="Times New Roman" panose="02020603050405020304" pitchFamily="18" charset="0"/>
                <a:cs typeface="Times New Roman" panose="02020603050405020304" pitchFamily="18" charset="0"/>
              </a:rPr>
              <a:t>), then it is considered a low Bias model, whereas if the model is </a:t>
            </a:r>
            <a:r>
              <a:rPr lang="en-US" sz="2000" dirty="0" smtClean="0">
                <a:latin typeface="Times New Roman" panose="02020603050405020304" pitchFamily="18" charset="0"/>
                <a:cs typeface="Times New Roman" panose="02020603050405020304" pitchFamily="18" charset="0"/>
              </a:rPr>
              <a:t>more often </a:t>
            </a:r>
            <a:r>
              <a:rPr lang="en-US" sz="2000" dirty="0">
                <a:latin typeface="Times New Roman" panose="02020603050405020304" pitchFamily="18" charset="0"/>
                <a:cs typeface="Times New Roman" panose="02020603050405020304" pitchFamily="18" charset="0"/>
              </a:rPr>
              <a:t>than not wrong, it is considered to be a high bias model.</a:t>
            </a:r>
          </a:p>
          <a:p>
            <a:pPr algn="just">
              <a:lnSpc>
                <a:spcPct val="110000"/>
              </a:lnSpc>
              <a:spcBef>
                <a:spcPts val="0"/>
              </a:spcBef>
            </a:pPr>
            <a:r>
              <a:rPr lang="en-US" sz="2000" dirty="0">
                <a:latin typeface="Times New Roman" panose="02020603050405020304" pitchFamily="18" charset="0"/>
                <a:cs typeface="Times New Roman" panose="02020603050405020304" pitchFamily="18" charset="0"/>
              </a:rPr>
              <a:t>Bias is a measure to judge models on the basis of accuracy or just how correct </a:t>
            </a:r>
            <a:r>
              <a:rPr lang="en-US" sz="2000" dirty="0" smtClean="0">
                <a:latin typeface="Times New Roman" panose="02020603050405020304" pitchFamily="18" charset="0"/>
                <a:cs typeface="Times New Roman" panose="02020603050405020304" pitchFamily="18" charset="0"/>
              </a:rPr>
              <a:t>the model </a:t>
            </a:r>
            <a:r>
              <a:rPr lang="en-US" sz="2000" dirty="0">
                <a:latin typeface="Times New Roman" panose="02020603050405020304" pitchFamily="18" charset="0"/>
                <a:cs typeface="Times New Roman" panose="02020603050405020304" pitchFamily="18" charset="0"/>
              </a:rPr>
              <a:t>is on an average.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4532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1DC316-BC60-4EBD-7372-1EE51ECEAC8D}"/>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Error due to variance</a:t>
            </a:r>
          </a:p>
        </p:txBody>
      </p:sp>
      <p:sp>
        <p:nvSpPr>
          <p:cNvPr id="3" name="Content Placeholder 2">
            <a:extLst>
              <a:ext uri="{FF2B5EF4-FFF2-40B4-BE49-F238E27FC236}">
                <a16:creationId xmlns="" xmlns:a16="http://schemas.microsoft.com/office/drawing/2014/main" id="{F1FF9CE3-FEF6-624E-C38C-0E11F0704F45}"/>
              </a:ext>
            </a:extLst>
          </p:cNvPr>
          <p:cNvSpPr>
            <a:spLocks noGrp="1"/>
          </p:cNvSpPr>
          <p:nvPr>
            <p:ph idx="1"/>
          </p:nvPr>
        </p:nvSpPr>
        <p:spPr>
          <a:xfrm>
            <a:off x="838200" y="1330036"/>
            <a:ext cx="10855036" cy="5223163"/>
          </a:xfrm>
        </p:spPr>
        <p:txBody>
          <a:bodyPr>
            <a:normAutofit fontScale="92500" lnSpcReduction="10000"/>
          </a:bodyPr>
          <a:lstStyle/>
          <a:p>
            <a:pPr algn="just">
              <a:spcBef>
                <a:spcPts val="0"/>
              </a:spcBef>
            </a:pPr>
            <a:r>
              <a:rPr lang="en-US" dirty="0">
                <a:latin typeface="Times New Roman" panose="02020603050405020304" pitchFamily="18" charset="0"/>
                <a:cs typeface="Times New Roman" panose="02020603050405020304" pitchFamily="18" charset="0"/>
              </a:rPr>
              <a:t>An error due to variance is dependent on the variability of a model prediction </a:t>
            </a:r>
            <a:r>
              <a:rPr lang="en-US" dirty="0" smtClean="0">
                <a:latin typeface="Times New Roman" panose="02020603050405020304" pitchFamily="18" charset="0"/>
                <a:cs typeface="Times New Roman" panose="02020603050405020304" pitchFamily="18" charset="0"/>
              </a:rPr>
              <a:t>for a </a:t>
            </a:r>
            <a:r>
              <a:rPr lang="en-US" dirty="0">
                <a:latin typeface="Times New Roman" panose="02020603050405020304" pitchFamily="18" charset="0"/>
                <a:cs typeface="Times New Roman" panose="02020603050405020304" pitchFamily="18" charset="0"/>
              </a:rPr>
              <a:t>given data point. </a:t>
            </a:r>
            <a:endParaRPr lang="en-US" dirty="0" smtClean="0">
              <a:latin typeface="Times New Roman" panose="02020603050405020304" pitchFamily="18" charset="0"/>
              <a:cs typeface="Times New Roman" panose="02020603050405020304" pitchFamily="18" charset="0"/>
            </a:endParaRPr>
          </a:p>
          <a:p>
            <a:pPr algn="just">
              <a:spcBef>
                <a:spcPts val="0"/>
              </a:spcBef>
            </a:pPr>
            <a:r>
              <a:rPr lang="en-US" dirty="0" smtClean="0">
                <a:latin typeface="Times New Roman" panose="02020603050405020304" pitchFamily="18" charset="0"/>
                <a:cs typeface="Times New Roman" panose="02020603050405020304" pitchFamily="18" charset="0"/>
              </a:rPr>
              <a:t>Imagine </a:t>
            </a:r>
            <a:r>
              <a:rPr lang="en-US" dirty="0">
                <a:latin typeface="Times New Roman" panose="02020603050405020304" pitchFamily="18" charset="0"/>
                <a:cs typeface="Times New Roman" panose="02020603050405020304" pitchFamily="18" charset="0"/>
              </a:rPr>
              <a:t>that you repeat the machine learning model </a:t>
            </a:r>
            <a:r>
              <a:rPr lang="en-US" dirty="0" smtClean="0">
                <a:latin typeface="Times New Roman" panose="02020603050405020304" pitchFamily="18" charset="0"/>
                <a:cs typeface="Times New Roman" panose="02020603050405020304" pitchFamily="18" charset="0"/>
              </a:rPr>
              <a:t>building process </a:t>
            </a:r>
            <a:r>
              <a:rPr lang="en-US" dirty="0">
                <a:latin typeface="Times New Roman" panose="02020603050405020304" pitchFamily="18" charset="0"/>
                <a:cs typeface="Times New Roman" panose="02020603050405020304" pitchFamily="18" charset="0"/>
              </a:rPr>
              <a:t>over and over. The variance is measured by looking at how much </a:t>
            </a:r>
            <a:r>
              <a:rPr lang="en-US" dirty="0" smtClean="0">
                <a:latin typeface="Times New Roman" panose="02020603050405020304" pitchFamily="18" charset="0"/>
                <a:cs typeface="Times New Roman" panose="02020603050405020304" pitchFamily="18" charset="0"/>
              </a:rPr>
              <a:t>the predictions </a:t>
            </a:r>
            <a:r>
              <a:rPr lang="en-US" dirty="0">
                <a:latin typeface="Times New Roman" panose="02020603050405020304" pitchFamily="18" charset="0"/>
                <a:cs typeface="Times New Roman" panose="02020603050405020304" pitchFamily="18" charset="0"/>
              </a:rPr>
              <a:t>for a fixed point vary between different end results.</a:t>
            </a:r>
          </a:p>
          <a:p>
            <a:pPr algn="just">
              <a:spcBef>
                <a:spcPts val="0"/>
              </a:spcBef>
            </a:pPr>
            <a:r>
              <a:rPr lang="en-US" dirty="0">
                <a:latin typeface="Times New Roman" panose="02020603050405020304" pitchFamily="18" charset="0"/>
                <a:cs typeface="Times New Roman" panose="02020603050405020304" pitchFamily="18" charset="0"/>
              </a:rPr>
              <a:t>To imagine variance in your head, think about a population of data points. If </a:t>
            </a:r>
            <a:r>
              <a:rPr lang="en-US" dirty="0" smtClean="0">
                <a:latin typeface="Times New Roman" panose="02020603050405020304" pitchFamily="18" charset="0"/>
                <a:cs typeface="Times New Roman" panose="02020603050405020304" pitchFamily="18" charset="0"/>
              </a:rPr>
              <a:t>you were </a:t>
            </a:r>
            <a:r>
              <a:rPr lang="en-US" dirty="0">
                <a:latin typeface="Times New Roman" panose="02020603050405020304" pitchFamily="18" charset="0"/>
                <a:cs typeface="Times New Roman" panose="02020603050405020304" pitchFamily="18" charset="0"/>
              </a:rPr>
              <a:t>to take randomized samples over and over, how drastically would </a:t>
            </a:r>
            <a:r>
              <a:rPr lang="en-US" dirty="0" smtClean="0">
                <a:latin typeface="Times New Roman" panose="02020603050405020304" pitchFamily="18" charset="0"/>
                <a:cs typeface="Times New Roman" panose="02020603050405020304" pitchFamily="18" charset="0"/>
              </a:rPr>
              <a:t>your machine </a:t>
            </a:r>
            <a:r>
              <a:rPr lang="en-US" dirty="0">
                <a:latin typeface="Times New Roman" panose="02020603050405020304" pitchFamily="18" charset="0"/>
                <a:cs typeface="Times New Roman" panose="02020603050405020304" pitchFamily="18" charset="0"/>
              </a:rPr>
              <a:t>learning model change or fit differently each time. </a:t>
            </a:r>
            <a:endParaRPr lang="en-US" dirty="0" smtClean="0">
              <a:latin typeface="Times New Roman" panose="02020603050405020304" pitchFamily="18" charset="0"/>
              <a:cs typeface="Times New Roman" panose="02020603050405020304" pitchFamily="18" charset="0"/>
            </a:endParaRPr>
          </a:p>
          <a:p>
            <a:pPr algn="just">
              <a:spcBef>
                <a:spcPts val="0"/>
              </a:spcBef>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model does </a:t>
            </a:r>
            <a:r>
              <a:rPr lang="en-US" dirty="0" smtClean="0">
                <a:latin typeface="Times New Roman" panose="02020603050405020304" pitchFamily="18" charset="0"/>
                <a:cs typeface="Times New Roman" panose="02020603050405020304" pitchFamily="18" charset="0"/>
              </a:rPr>
              <a:t>not change </a:t>
            </a:r>
            <a:r>
              <a:rPr lang="en-US" dirty="0">
                <a:latin typeface="Times New Roman" panose="02020603050405020304" pitchFamily="18" charset="0"/>
                <a:cs typeface="Times New Roman" panose="02020603050405020304" pitchFamily="18" charset="0"/>
              </a:rPr>
              <a:t>much between samples, the model would be considered a low </a:t>
            </a:r>
            <a:r>
              <a:rPr lang="en-US" dirty="0" smtClean="0">
                <a:latin typeface="Times New Roman" panose="02020603050405020304" pitchFamily="18" charset="0"/>
                <a:cs typeface="Times New Roman" panose="02020603050405020304" pitchFamily="18" charset="0"/>
              </a:rPr>
              <a:t>variance model</a:t>
            </a:r>
            <a:r>
              <a:rPr lang="en-US" dirty="0">
                <a:latin typeface="Times New Roman" panose="02020603050405020304" pitchFamily="18" charset="0"/>
                <a:cs typeface="Times New Roman" panose="02020603050405020304" pitchFamily="18" charset="0"/>
              </a:rPr>
              <a:t>. If your model changes drastically between samples, then that model </a:t>
            </a:r>
            <a:r>
              <a:rPr lang="en-US" dirty="0" smtClean="0">
                <a:latin typeface="Times New Roman" panose="02020603050405020304" pitchFamily="18" charset="0"/>
                <a:cs typeface="Times New Roman" panose="02020603050405020304" pitchFamily="18" charset="0"/>
              </a:rPr>
              <a:t>would be </a:t>
            </a:r>
            <a:r>
              <a:rPr lang="en-US" dirty="0">
                <a:latin typeface="Times New Roman" panose="02020603050405020304" pitchFamily="18" charset="0"/>
                <a:cs typeface="Times New Roman" panose="02020603050405020304" pitchFamily="18" charset="0"/>
              </a:rPr>
              <a:t>considered a high variance model.</a:t>
            </a:r>
          </a:p>
          <a:p>
            <a:pPr algn="just">
              <a:spcBef>
                <a:spcPts val="0"/>
              </a:spcBef>
            </a:pPr>
            <a:r>
              <a:rPr lang="en-US" dirty="0">
                <a:latin typeface="Times New Roman" panose="02020603050405020304" pitchFamily="18" charset="0"/>
                <a:cs typeface="Times New Roman" panose="02020603050405020304" pitchFamily="18" charset="0"/>
              </a:rPr>
              <a:t>Variance is a great measure to judge our model on the basis of generalizability.</a:t>
            </a:r>
          </a:p>
          <a:p>
            <a:pPr algn="just">
              <a:spcBef>
                <a:spcPts val="0"/>
              </a:spcBef>
            </a:pPr>
            <a:r>
              <a:rPr lang="en-US" dirty="0">
                <a:latin typeface="Times New Roman" panose="02020603050405020304" pitchFamily="18" charset="0"/>
                <a:cs typeface="Times New Roman" panose="02020603050405020304" pitchFamily="18" charset="0"/>
              </a:rPr>
              <a:t>If our model has a low variance, we can expect it to behave in a certain way </a:t>
            </a:r>
            <a:r>
              <a:rPr lang="en-US" dirty="0" smtClean="0">
                <a:latin typeface="Times New Roman" panose="02020603050405020304" pitchFamily="18" charset="0"/>
                <a:cs typeface="Times New Roman" panose="02020603050405020304" pitchFamily="18" charset="0"/>
              </a:rPr>
              <a:t>when set </a:t>
            </a:r>
            <a:r>
              <a:rPr lang="en-US" dirty="0">
                <a:latin typeface="Times New Roman" panose="02020603050405020304" pitchFamily="18" charset="0"/>
                <a:cs typeface="Times New Roman" panose="02020603050405020304" pitchFamily="18" charset="0"/>
              </a:rPr>
              <a:t>into the wild and predict values without human supervision.</a:t>
            </a:r>
          </a:p>
          <a:p>
            <a:pPr algn="just">
              <a:spcBef>
                <a:spcPts val="0"/>
              </a:spcBef>
            </a:pPr>
            <a:r>
              <a:rPr lang="en-US" dirty="0">
                <a:latin typeface="Times New Roman" panose="02020603050405020304" pitchFamily="18" charset="0"/>
                <a:cs typeface="Times New Roman" panose="02020603050405020304" pitchFamily="18" charset="0"/>
              </a:rPr>
              <a:t>Our goal is to optimize both bias and variance. Ideally, we are looking for the </a:t>
            </a:r>
            <a:r>
              <a:rPr lang="en-US" dirty="0" smtClean="0">
                <a:latin typeface="Times New Roman" panose="02020603050405020304" pitchFamily="18" charset="0"/>
                <a:cs typeface="Times New Roman" panose="02020603050405020304" pitchFamily="18" charset="0"/>
              </a:rPr>
              <a:t>lowest possible </a:t>
            </a:r>
            <a:r>
              <a:rPr lang="en-US" dirty="0">
                <a:latin typeface="Times New Roman" panose="02020603050405020304" pitchFamily="18" charset="0"/>
                <a:cs typeface="Times New Roman" panose="02020603050405020304" pitchFamily="18" charset="0"/>
              </a:rPr>
              <a:t>variance and bias.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039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E36DEA-F932-5276-2CE7-50F1C9A1B01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Example – comparing body and brain weight of mammals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14E340E-46FD-137D-FEAE-EEEC923E6E75}"/>
              </a:ext>
            </a:extLst>
          </p:cNvPr>
          <p:cNvSpPr>
            <a:spLocks noGrp="1"/>
          </p:cNvSpPr>
          <p:nvPr>
            <p:ph idx="1"/>
          </p:nvPr>
        </p:nvSpPr>
        <p:spPr>
          <a:xfrm>
            <a:off x="838199" y="1825625"/>
            <a:ext cx="10965874" cy="4755284"/>
          </a:xfrm>
        </p:spPr>
        <p:txBody>
          <a:bodyPr>
            <a:normAutofit fontScale="62500" lnSpcReduction="20000"/>
          </a:bodyPr>
          <a:lstStyle/>
          <a:p>
            <a:pPr algn="just"/>
            <a:r>
              <a:rPr lang="en-US" dirty="0">
                <a:latin typeface="Times New Roman" panose="02020603050405020304" pitchFamily="18" charset="0"/>
                <a:cs typeface="Times New Roman" panose="02020603050405020304" pitchFamily="18" charset="0"/>
              </a:rPr>
              <a:t>Imagine that we are considering a relationship between the brain weight of mammals and their corresponding body weights.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hypothesis might read that there is a positive correlation between the two (as one goes up, so does the other).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But </a:t>
            </a:r>
            <a:r>
              <a:rPr lang="en-US" dirty="0">
                <a:latin typeface="Times New Roman" panose="02020603050405020304" pitchFamily="18" charset="0"/>
                <a:cs typeface="Times New Roman" panose="02020603050405020304" pitchFamily="18" charset="0"/>
              </a:rPr>
              <a:t>how strong is this relationship? Is it even linear? Perhaps, as the brain weight increases, there is a logarithmic or quadratic increase in body weight.</a:t>
            </a:r>
          </a:p>
          <a:p>
            <a:pPr algn="just"/>
            <a:r>
              <a:rPr lang="en-US" dirty="0">
                <a:latin typeface="Century Gothic" panose="020B0502020202020204" pitchFamily="34" charset="0"/>
              </a:rPr>
              <a:t># # Exploring the Bias-Variance Tradeoff </a:t>
            </a:r>
            <a:endParaRPr lang="en-US" dirty="0" smtClean="0">
              <a:latin typeface="Century Gothic" panose="020B0502020202020204" pitchFamily="34" charset="0"/>
            </a:endParaRPr>
          </a:p>
          <a:p>
            <a:pPr algn="just"/>
            <a:r>
              <a:rPr lang="en-US" dirty="0" smtClean="0">
                <a:latin typeface="Century Gothic" panose="020B0502020202020204" pitchFamily="34" charset="0"/>
              </a:rPr>
              <a:t>import </a:t>
            </a:r>
            <a:r>
              <a:rPr lang="en-US" dirty="0">
                <a:latin typeface="Century Gothic" panose="020B0502020202020204" pitchFamily="34" charset="0"/>
              </a:rPr>
              <a:t>pandas as </a:t>
            </a:r>
            <a:r>
              <a:rPr lang="en-US" dirty="0" err="1">
                <a:latin typeface="Century Gothic" panose="020B0502020202020204" pitchFamily="34" charset="0"/>
              </a:rPr>
              <a:t>pd</a:t>
            </a:r>
            <a:r>
              <a:rPr lang="en-US" dirty="0">
                <a:latin typeface="Century Gothic" panose="020B0502020202020204" pitchFamily="34" charset="0"/>
              </a:rPr>
              <a:t> </a:t>
            </a:r>
            <a:endParaRPr lang="en-US" dirty="0" smtClean="0">
              <a:latin typeface="Century Gothic" panose="020B0502020202020204" pitchFamily="34" charset="0"/>
            </a:endParaRPr>
          </a:p>
          <a:p>
            <a:pPr algn="just"/>
            <a:r>
              <a:rPr lang="en-US" dirty="0" smtClean="0">
                <a:latin typeface="Century Gothic" panose="020B0502020202020204" pitchFamily="34" charset="0"/>
              </a:rPr>
              <a:t>import </a:t>
            </a:r>
            <a:r>
              <a:rPr lang="en-US" dirty="0" err="1">
                <a:latin typeface="Century Gothic" panose="020B0502020202020204" pitchFamily="34" charset="0"/>
              </a:rPr>
              <a:t>numpy</a:t>
            </a:r>
            <a:r>
              <a:rPr lang="en-US" dirty="0">
                <a:latin typeface="Century Gothic" panose="020B0502020202020204" pitchFamily="34" charset="0"/>
              </a:rPr>
              <a:t> as np </a:t>
            </a:r>
            <a:endParaRPr lang="en-US" dirty="0" smtClean="0">
              <a:latin typeface="Century Gothic" panose="020B0502020202020204" pitchFamily="34" charset="0"/>
            </a:endParaRPr>
          </a:p>
          <a:p>
            <a:pPr algn="just"/>
            <a:r>
              <a:rPr lang="en-US" dirty="0" smtClean="0">
                <a:latin typeface="Century Gothic" panose="020B0502020202020204" pitchFamily="34" charset="0"/>
              </a:rPr>
              <a:t>import </a:t>
            </a:r>
            <a:r>
              <a:rPr lang="en-US" dirty="0">
                <a:latin typeface="Century Gothic" panose="020B0502020202020204" pitchFamily="34" charset="0"/>
              </a:rPr>
              <a:t>seaborn as </a:t>
            </a:r>
            <a:r>
              <a:rPr lang="en-US" dirty="0" err="1">
                <a:latin typeface="Century Gothic" panose="020B0502020202020204" pitchFamily="34" charset="0"/>
              </a:rPr>
              <a:t>sns</a:t>
            </a:r>
            <a:r>
              <a:rPr lang="en-US" dirty="0">
                <a:latin typeface="Century Gothic" panose="020B0502020202020204" pitchFamily="34" charset="0"/>
              </a:rPr>
              <a:t> </a:t>
            </a:r>
            <a:endParaRPr lang="en-US" dirty="0" smtClean="0">
              <a:latin typeface="Century Gothic" panose="020B0502020202020204" pitchFamily="34" charset="0"/>
            </a:endParaRPr>
          </a:p>
          <a:p>
            <a:pPr algn="just"/>
            <a:r>
              <a:rPr lang="en-US" dirty="0" smtClean="0">
                <a:latin typeface="Century Gothic" panose="020B0502020202020204" pitchFamily="34" charset="0"/>
              </a:rPr>
              <a:t>%</a:t>
            </a:r>
            <a:r>
              <a:rPr lang="en-US" dirty="0">
                <a:latin typeface="Century Gothic" panose="020B0502020202020204" pitchFamily="34" charset="0"/>
              </a:rPr>
              <a:t>matplotlib inline </a:t>
            </a:r>
            <a:endParaRPr lang="en-US" dirty="0" smtClean="0">
              <a:latin typeface="Century Gothic" panose="020B0502020202020204" pitchFamily="34" charset="0"/>
            </a:endParaRPr>
          </a:p>
          <a:p>
            <a:pPr algn="just"/>
            <a:r>
              <a:rPr lang="en-US" dirty="0" smtClean="0">
                <a:latin typeface="Century Gothic" panose="020B0502020202020204" pitchFamily="34" charset="0"/>
              </a:rPr>
              <a:t>I </a:t>
            </a:r>
            <a:r>
              <a:rPr lang="en-US" dirty="0">
                <a:latin typeface="Century Gothic" panose="020B0502020202020204" pitchFamily="34" charset="0"/>
              </a:rPr>
              <a:t>will be using a module, called seaborn, to visualize data points as a scatter plot and also to graph linear (and higher polynomial) regression models: </a:t>
            </a:r>
            <a:endParaRPr lang="en-US" dirty="0" smtClean="0">
              <a:latin typeface="Century Gothic" panose="020B0502020202020204" pitchFamily="34" charset="0"/>
            </a:endParaRPr>
          </a:p>
          <a:p>
            <a:pPr algn="just"/>
            <a:r>
              <a:rPr lang="en-US" dirty="0" smtClean="0">
                <a:latin typeface="Century Gothic" panose="020B0502020202020204" pitchFamily="34" charset="0"/>
              </a:rPr>
              <a:t># Brain </a:t>
            </a:r>
            <a:r>
              <a:rPr lang="en-US" dirty="0">
                <a:latin typeface="Century Gothic" panose="020B0502020202020204" pitchFamily="34" charset="0"/>
              </a:rPr>
              <a:t>and body weight </a:t>
            </a:r>
            <a:endParaRPr lang="en-US" dirty="0" smtClean="0">
              <a:latin typeface="Century Gothic" panose="020B0502020202020204" pitchFamily="34" charset="0"/>
            </a:endParaRPr>
          </a:p>
          <a:p>
            <a:pPr algn="just"/>
            <a:r>
              <a:rPr lang="en-US" dirty="0" smtClean="0">
                <a:latin typeface="Century Gothic" panose="020B0502020202020204" pitchFamily="34" charset="0"/>
              </a:rPr>
              <a:t># This </a:t>
            </a:r>
            <a:r>
              <a:rPr lang="en-US" dirty="0">
                <a:latin typeface="Century Gothic" panose="020B0502020202020204" pitchFamily="34" charset="0"/>
              </a:rPr>
              <a:t>is a [dataset]) of the average weight of the body and the brain for 62 mammal species. Let's read it into pandas and take a quick look:</a:t>
            </a:r>
            <a:endParaRPr lang="en-IN" dirty="0">
              <a:latin typeface="Century Gothic" panose="020B0502020202020204" pitchFamily="34" charset="0"/>
            </a:endParaRPr>
          </a:p>
        </p:txBody>
      </p:sp>
    </p:spTree>
    <p:extLst>
      <p:ext uri="{BB962C8B-B14F-4D97-AF65-F5344CB8AC3E}">
        <p14:creationId xmlns:p14="http://schemas.microsoft.com/office/powerpoint/2010/main" val="1863795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4E525F6-8C98-3625-2DB4-A11D62959702}"/>
              </a:ext>
            </a:extLst>
          </p:cNvPr>
          <p:cNvSpPr>
            <a:spLocks noGrp="1"/>
          </p:cNvSpPr>
          <p:nvPr>
            <p:ph idx="1"/>
          </p:nvPr>
        </p:nvSpPr>
        <p:spPr>
          <a:xfrm>
            <a:off x="404733" y="479684"/>
            <a:ext cx="11392525" cy="6130977"/>
          </a:xfrm>
        </p:spPr>
        <p:txBody>
          <a:bodyPr>
            <a:normAutofit fontScale="70000" lnSpcReduction="20000"/>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latin typeface="Times New Roman" panose="02020603050405020304" pitchFamily="18" charset="0"/>
                <a:cs typeface="Times New Roman" panose="02020603050405020304" pitchFamily="18" charset="0"/>
              </a:rPr>
              <a:t>We are going to take a small subset of the samples to exacerbate the visual representations of bias and variance, as follows: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Century Gothic" panose="020B0502020202020204" pitchFamily="34" charset="0"/>
              </a:rPr>
              <a:t># </a:t>
            </a:r>
            <a:r>
              <a:rPr lang="en-US" dirty="0">
                <a:latin typeface="Century Gothic" panose="020B0502020202020204" pitchFamily="34" charset="0"/>
              </a:rPr>
              <a:t>We're going to focus on a smaller subset in which the body weight is less than 200: </a:t>
            </a:r>
            <a:endParaRPr lang="en-US" dirty="0" smtClean="0">
              <a:latin typeface="Century Gothic" panose="020B0502020202020204" pitchFamily="34" charset="0"/>
            </a:endParaRPr>
          </a:p>
          <a:p>
            <a:pPr algn="just"/>
            <a:r>
              <a:rPr lang="en-US" dirty="0" err="1" smtClean="0">
                <a:latin typeface="Century Gothic" panose="020B0502020202020204" pitchFamily="34" charset="0"/>
              </a:rPr>
              <a:t>df</a:t>
            </a:r>
            <a:r>
              <a:rPr lang="en-US" dirty="0" smtClean="0">
                <a:latin typeface="Century Gothic" panose="020B0502020202020204" pitchFamily="34" charset="0"/>
              </a:rPr>
              <a:t> </a:t>
            </a:r>
            <a:r>
              <a:rPr lang="en-US" dirty="0">
                <a:latin typeface="Century Gothic" panose="020B0502020202020204" pitchFamily="34" charset="0"/>
              </a:rPr>
              <a:t>= </a:t>
            </a:r>
            <a:r>
              <a:rPr lang="en-US" dirty="0" err="1">
                <a:latin typeface="Century Gothic" panose="020B0502020202020204" pitchFamily="34" charset="0"/>
              </a:rPr>
              <a:t>df</a:t>
            </a:r>
            <a:r>
              <a:rPr lang="en-US" dirty="0">
                <a:latin typeface="Century Gothic" panose="020B0502020202020204" pitchFamily="34" charset="0"/>
              </a:rPr>
              <a:t>[</a:t>
            </a:r>
            <a:r>
              <a:rPr lang="en-US" dirty="0" err="1">
                <a:latin typeface="Century Gothic" panose="020B0502020202020204" pitchFamily="34" charset="0"/>
              </a:rPr>
              <a:t>df.body</a:t>
            </a:r>
            <a:r>
              <a:rPr lang="en-US" dirty="0">
                <a:latin typeface="Century Gothic" panose="020B0502020202020204" pitchFamily="34" charset="0"/>
              </a:rPr>
              <a:t> &lt; 200] </a:t>
            </a:r>
            <a:endParaRPr lang="en-US" dirty="0" smtClean="0">
              <a:latin typeface="Century Gothic" panose="020B0502020202020204" pitchFamily="34" charset="0"/>
            </a:endParaRPr>
          </a:p>
          <a:p>
            <a:pPr algn="just"/>
            <a:r>
              <a:rPr lang="en-US" dirty="0" err="1" smtClean="0">
                <a:latin typeface="Century Gothic" panose="020B0502020202020204" pitchFamily="34" charset="0"/>
              </a:rPr>
              <a:t>df.shape</a:t>
            </a:r>
            <a:r>
              <a:rPr lang="en-US" dirty="0" smtClean="0">
                <a:latin typeface="Century Gothic" panose="020B0502020202020204" pitchFamily="34" charset="0"/>
              </a:rPr>
              <a:t> </a:t>
            </a:r>
            <a:r>
              <a:rPr lang="en-US" dirty="0">
                <a:latin typeface="Century Gothic" panose="020B0502020202020204" pitchFamily="34" charset="0"/>
              </a:rPr>
              <a:t>(51, 2) </a:t>
            </a:r>
            <a:endParaRPr lang="en-US" dirty="0" smtClean="0">
              <a:latin typeface="Century Gothic" panose="020B0502020202020204" pitchFamily="34" charset="0"/>
            </a:endParaRPr>
          </a:p>
          <a:p>
            <a:pPr algn="just"/>
            <a:r>
              <a:rPr lang="en-US" dirty="0" smtClean="0">
                <a:latin typeface="Times New Roman" panose="02020603050405020304" pitchFamily="18" charset="0"/>
                <a:cs typeface="Times New Roman" panose="02020603050405020304" pitchFamily="18" charset="0"/>
              </a:rPr>
              <a:t>We're </a:t>
            </a:r>
            <a:r>
              <a:rPr lang="en-US" dirty="0">
                <a:latin typeface="Times New Roman" panose="02020603050405020304" pitchFamily="18" charset="0"/>
                <a:cs typeface="Times New Roman" panose="02020603050405020304" pitchFamily="18" charset="0"/>
              </a:rPr>
              <a:t>actually going to pretend that there are only 51 mammal species in existence. In other words, we are pretending that this is the entire dataset of brain and body weights for every known mammal species.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Century Gothic" panose="020B0502020202020204" pitchFamily="34" charset="0"/>
              </a:rPr>
              <a:t># </a:t>
            </a:r>
            <a:r>
              <a:rPr lang="en-US" dirty="0">
                <a:latin typeface="Century Gothic" panose="020B0502020202020204" pitchFamily="34" charset="0"/>
              </a:rPr>
              <a:t>Let's create a scatterplot </a:t>
            </a:r>
            <a:endParaRPr lang="en-US" dirty="0" smtClean="0">
              <a:latin typeface="Century Gothic" panose="020B0502020202020204" pitchFamily="34" charset="0"/>
            </a:endParaRPr>
          </a:p>
          <a:p>
            <a:pPr algn="just"/>
            <a:r>
              <a:rPr lang="en-US" dirty="0" err="1" smtClean="0">
                <a:latin typeface="Century Gothic" panose="020B0502020202020204" pitchFamily="34" charset="0"/>
              </a:rPr>
              <a:t>sns.lmplot</a:t>
            </a:r>
            <a:r>
              <a:rPr lang="en-US" dirty="0" smtClean="0">
                <a:latin typeface="Century Gothic" panose="020B0502020202020204" pitchFamily="34" charset="0"/>
              </a:rPr>
              <a:t>(x</a:t>
            </a:r>
            <a:r>
              <a:rPr lang="en-US" dirty="0">
                <a:latin typeface="Century Gothic" panose="020B0502020202020204" pitchFamily="34" charset="0"/>
              </a:rPr>
              <a:t>='body', y='brain', data=</a:t>
            </a:r>
            <a:r>
              <a:rPr lang="en-US" dirty="0" err="1">
                <a:latin typeface="Century Gothic" panose="020B0502020202020204" pitchFamily="34" charset="0"/>
              </a:rPr>
              <a:t>df</a:t>
            </a:r>
            <a:r>
              <a:rPr lang="en-US" dirty="0">
                <a:latin typeface="Century Gothic" panose="020B0502020202020204" pitchFamily="34" charset="0"/>
              </a:rPr>
              <a:t>, ci=None, </a:t>
            </a:r>
            <a:r>
              <a:rPr lang="en-US" dirty="0" err="1">
                <a:latin typeface="Century Gothic" panose="020B0502020202020204" pitchFamily="34" charset="0"/>
              </a:rPr>
              <a:t>fit_reg</a:t>
            </a:r>
            <a:r>
              <a:rPr lang="en-US" dirty="0">
                <a:latin typeface="Century Gothic" panose="020B0502020202020204" pitchFamily="34" charset="0"/>
              </a:rPr>
              <a:t>=False) </a:t>
            </a:r>
            <a:endParaRPr lang="en-US" dirty="0" smtClean="0">
              <a:latin typeface="Century Gothic" panose="020B0502020202020204" pitchFamily="34" charset="0"/>
            </a:endParaRPr>
          </a:p>
          <a:p>
            <a:pPr algn="just"/>
            <a:r>
              <a:rPr lang="en-US" dirty="0" err="1" smtClean="0">
                <a:latin typeface="Century Gothic" panose="020B0502020202020204" pitchFamily="34" charset="0"/>
              </a:rPr>
              <a:t>sns.plt.xlim</a:t>
            </a:r>
            <a:r>
              <a:rPr lang="en-US" dirty="0">
                <a:latin typeface="Century Gothic" panose="020B0502020202020204" pitchFamily="34" charset="0"/>
              </a:rPr>
              <a:t>(-10, 200) </a:t>
            </a:r>
            <a:endParaRPr lang="en-US" dirty="0" smtClean="0">
              <a:latin typeface="Century Gothic" panose="020B0502020202020204" pitchFamily="34" charset="0"/>
            </a:endParaRPr>
          </a:p>
          <a:p>
            <a:pPr algn="just"/>
            <a:r>
              <a:rPr lang="en-US" dirty="0" err="1" smtClean="0">
                <a:latin typeface="Century Gothic" panose="020B0502020202020204" pitchFamily="34" charset="0"/>
              </a:rPr>
              <a:t>sns.plt.ylim</a:t>
            </a:r>
            <a:r>
              <a:rPr lang="en-US" dirty="0">
                <a:latin typeface="Century Gothic" panose="020B0502020202020204" pitchFamily="34" charset="0"/>
              </a:rPr>
              <a:t>(-10, 250)</a:t>
            </a:r>
          </a:p>
          <a:p>
            <a:pPr algn="just"/>
            <a:endParaRPr lang="en-US" dirty="0"/>
          </a:p>
          <a:p>
            <a:pPr algn="just"/>
            <a:endParaRPr lang="en-IN" dirty="0"/>
          </a:p>
        </p:txBody>
      </p:sp>
      <p:pic>
        <p:nvPicPr>
          <p:cNvPr id="5" name="Picture 4">
            <a:extLst>
              <a:ext uri="{FF2B5EF4-FFF2-40B4-BE49-F238E27FC236}">
                <a16:creationId xmlns="" xmlns:a16="http://schemas.microsoft.com/office/drawing/2014/main" id="{B809AD24-385B-E207-4827-D6CE6F9E9B08}"/>
              </a:ext>
            </a:extLst>
          </p:cNvPr>
          <p:cNvPicPr>
            <a:picLocks noChangeAspect="1"/>
          </p:cNvPicPr>
          <p:nvPr/>
        </p:nvPicPr>
        <p:blipFill>
          <a:blip r:embed="rId2"/>
          <a:stretch>
            <a:fillRect/>
          </a:stretch>
        </p:blipFill>
        <p:spPr>
          <a:xfrm>
            <a:off x="828712" y="268327"/>
            <a:ext cx="3230670" cy="2433309"/>
          </a:xfrm>
          <a:prstGeom prst="rect">
            <a:avLst/>
          </a:prstGeom>
        </p:spPr>
      </p:pic>
    </p:spTree>
    <p:extLst>
      <p:ext uri="{BB962C8B-B14F-4D97-AF65-F5344CB8AC3E}">
        <p14:creationId xmlns:p14="http://schemas.microsoft.com/office/powerpoint/2010/main" val="2499299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D3F31D-3386-E160-113C-42EDC60CE6C0}"/>
              </a:ext>
            </a:extLst>
          </p:cNvPr>
          <p:cNvSpPr>
            <a:spLocks noGrp="1"/>
          </p:cNvSpPr>
          <p:nvPr>
            <p:ph type="title"/>
          </p:nvPr>
        </p:nvSpPr>
        <p:spPr>
          <a:xfrm>
            <a:off x="838200" y="365125"/>
            <a:ext cx="10515600" cy="6095636"/>
          </a:xfrm>
        </p:spPr>
        <p:txBody>
          <a:bodyPr>
            <a:noAutofit/>
          </a:bodyPr>
          <a:lstStyle/>
          <a:p>
            <a:pPr marL="342900" indent="-342900">
              <a:buFont typeface="Arial" panose="020B0604020202020204" pitchFamily="34" charset="0"/>
              <a:buChar char="•"/>
            </a:pP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appears to be a relationship between brain and body weight for mammals. So far, we might assume that it is a positive correlation. </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Now</a:t>
            </a:r>
            <a:r>
              <a:rPr lang="en-US" sz="2400" dirty="0">
                <a:latin typeface="Times New Roman" panose="02020603050405020304" pitchFamily="18" charset="0"/>
                <a:cs typeface="Times New Roman" panose="02020603050405020304" pitchFamily="18" charset="0"/>
              </a:rPr>
              <a:t>, let's throw in a linear regression into the mix. </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Let's </a:t>
            </a:r>
            <a:r>
              <a:rPr lang="en-US" sz="2400" dirty="0">
                <a:latin typeface="Times New Roman" panose="02020603050405020304" pitchFamily="18" charset="0"/>
                <a:cs typeface="Times New Roman" panose="02020603050405020304" pitchFamily="18" charset="0"/>
              </a:rPr>
              <a:t>use seaborn to make and plot a first degree polynomial (linear) regression. </a:t>
            </a:r>
            <a:r>
              <a:rPr lang="en-US" sz="2400" dirty="0" err="1">
                <a:latin typeface="Century Gothic" panose="020B0502020202020204" pitchFamily="34" charset="0"/>
                <a:cs typeface="Times New Roman" panose="02020603050405020304" pitchFamily="18" charset="0"/>
              </a:rPr>
              <a:t>sns.lmplot</a:t>
            </a:r>
            <a:r>
              <a:rPr lang="en-US" sz="2400" dirty="0">
                <a:latin typeface="Century Gothic" panose="020B0502020202020204" pitchFamily="34" charset="0"/>
                <a:cs typeface="Times New Roman" panose="02020603050405020304" pitchFamily="18" charset="0"/>
              </a:rPr>
              <a:t>(x='body', y='brain', data=</a:t>
            </a:r>
            <a:r>
              <a:rPr lang="en-US" sz="2400" dirty="0" err="1">
                <a:latin typeface="Century Gothic" panose="020B0502020202020204" pitchFamily="34" charset="0"/>
                <a:cs typeface="Times New Roman" panose="02020603050405020304" pitchFamily="18" charset="0"/>
              </a:rPr>
              <a:t>df</a:t>
            </a:r>
            <a:r>
              <a:rPr lang="en-US" sz="2400" dirty="0">
                <a:latin typeface="Century Gothic" panose="020B0502020202020204" pitchFamily="34" charset="0"/>
                <a:cs typeface="Times New Roman" panose="02020603050405020304" pitchFamily="18" charset="0"/>
              </a:rPr>
              <a:t>, ci=None) </a:t>
            </a:r>
            <a:r>
              <a:rPr lang="en-US" sz="2400" dirty="0" smtClean="0">
                <a:latin typeface="Century Gothic" panose="020B0502020202020204" pitchFamily="34" charset="0"/>
                <a:cs typeface="Times New Roman" panose="02020603050405020304" pitchFamily="18" charset="0"/>
              </a:rPr>
              <a:t/>
            </a:r>
            <a:br>
              <a:rPr lang="en-US" sz="2400" dirty="0" smtClean="0">
                <a:latin typeface="Century Gothic" panose="020B0502020202020204" pitchFamily="34" charset="0"/>
                <a:cs typeface="Times New Roman" panose="02020603050405020304" pitchFamily="18" charset="0"/>
              </a:rPr>
            </a:br>
            <a:r>
              <a:rPr lang="en-US" sz="2400" dirty="0" err="1" smtClean="0">
                <a:latin typeface="Century Gothic" panose="020B0502020202020204" pitchFamily="34" charset="0"/>
                <a:cs typeface="Times New Roman" panose="02020603050405020304" pitchFamily="18" charset="0"/>
              </a:rPr>
              <a:t>sns.plt.xlim</a:t>
            </a:r>
            <a:r>
              <a:rPr lang="en-US" sz="2400" dirty="0">
                <a:latin typeface="Century Gothic" panose="020B0502020202020204" pitchFamily="34" charset="0"/>
                <a:cs typeface="Times New Roman" panose="02020603050405020304" pitchFamily="18" charset="0"/>
              </a:rPr>
              <a:t>(-10, 200) </a:t>
            </a:r>
            <a:r>
              <a:rPr lang="en-US" sz="2400" dirty="0" smtClean="0">
                <a:latin typeface="Century Gothic" panose="020B0502020202020204" pitchFamily="34" charset="0"/>
                <a:cs typeface="Times New Roman" panose="02020603050405020304" pitchFamily="18" charset="0"/>
              </a:rPr>
              <a:t/>
            </a:r>
            <a:br>
              <a:rPr lang="en-US" sz="2400" dirty="0" smtClean="0">
                <a:latin typeface="Century Gothic" panose="020B0502020202020204" pitchFamily="34" charset="0"/>
                <a:cs typeface="Times New Roman" panose="02020603050405020304" pitchFamily="18" charset="0"/>
              </a:rPr>
            </a:br>
            <a:r>
              <a:rPr lang="en-US" sz="2400" dirty="0" err="1" smtClean="0">
                <a:latin typeface="Century Gothic" panose="020B0502020202020204" pitchFamily="34" charset="0"/>
                <a:cs typeface="Times New Roman" panose="02020603050405020304" pitchFamily="18" charset="0"/>
              </a:rPr>
              <a:t>sns.plt.ylim</a:t>
            </a:r>
            <a:r>
              <a:rPr lang="en-US" sz="2400" dirty="0">
                <a:latin typeface="Century Gothic" panose="020B0502020202020204" pitchFamily="34" charset="0"/>
                <a:cs typeface="Times New Roman" panose="02020603050405020304" pitchFamily="18" charset="0"/>
              </a:rPr>
              <a:t>(-10, 250)</a:t>
            </a:r>
            <a:endParaRPr lang="en-IN" sz="2400" dirty="0">
              <a:latin typeface="Century Gothic" panose="020B0502020202020204" pitchFamily="34" charset="0"/>
              <a:cs typeface="Times New Roman" panose="02020603050405020304" pitchFamily="18" charset="0"/>
            </a:endParaRPr>
          </a:p>
        </p:txBody>
      </p:sp>
      <p:pic>
        <p:nvPicPr>
          <p:cNvPr id="5" name="Content Placeholder 4">
            <a:extLst>
              <a:ext uri="{FF2B5EF4-FFF2-40B4-BE49-F238E27FC236}">
                <a16:creationId xmlns="" xmlns:a16="http://schemas.microsoft.com/office/drawing/2014/main" id="{AC9BA1D4-74ED-CC48-1141-9D50DFB90C7A}"/>
              </a:ext>
            </a:extLst>
          </p:cNvPr>
          <p:cNvPicPr>
            <a:picLocks noGrp="1" noChangeAspect="1"/>
          </p:cNvPicPr>
          <p:nvPr>
            <p:ph idx="1"/>
          </p:nvPr>
        </p:nvPicPr>
        <p:blipFill>
          <a:blip r:embed="rId2"/>
          <a:stretch>
            <a:fillRect/>
          </a:stretch>
        </p:blipFill>
        <p:spPr>
          <a:xfrm>
            <a:off x="1657973" y="235528"/>
            <a:ext cx="4147082" cy="3700877"/>
          </a:xfrm>
        </p:spPr>
      </p:pic>
    </p:spTree>
    <p:extLst>
      <p:ext uri="{BB962C8B-B14F-4D97-AF65-F5344CB8AC3E}">
        <p14:creationId xmlns:p14="http://schemas.microsoft.com/office/powerpoint/2010/main" val="1718122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FAAD7CC-4305-57C0-17EF-5A2B9E2484AD}"/>
              </a:ext>
            </a:extLst>
          </p:cNvPr>
          <p:cNvSpPr>
            <a:spLocks noGrp="1"/>
          </p:cNvSpPr>
          <p:nvPr>
            <p:ph idx="1"/>
          </p:nvPr>
        </p:nvSpPr>
        <p:spPr>
          <a:xfrm>
            <a:off x="838200" y="1825625"/>
            <a:ext cx="10515600" cy="4713720"/>
          </a:xfrm>
        </p:spPr>
        <p:txBody>
          <a:bodyPr>
            <a:normAutofit/>
          </a:bodyPr>
          <a:lstStyle/>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Now, let's pretend that a new mammal species is discovered.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measure the body weight of every member of this species that we can find, and calculate an average body weight of 100.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want to predict the average brain weight of this species (rather than measuring it directly). Using this line, we might predict a brain weight of about 45.</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22CF558C-7AA3-F366-1DBA-58FB186279C8}"/>
              </a:ext>
            </a:extLst>
          </p:cNvPr>
          <p:cNvPicPr>
            <a:picLocks noChangeAspect="1"/>
          </p:cNvPicPr>
          <p:nvPr/>
        </p:nvPicPr>
        <p:blipFill>
          <a:blip r:embed="rId2"/>
          <a:stretch>
            <a:fillRect/>
          </a:stretch>
        </p:blipFill>
        <p:spPr>
          <a:xfrm>
            <a:off x="1408704" y="306963"/>
            <a:ext cx="3980713" cy="3193319"/>
          </a:xfrm>
          <a:prstGeom prst="rect">
            <a:avLst/>
          </a:prstGeom>
        </p:spPr>
      </p:pic>
    </p:spTree>
    <p:extLst>
      <p:ext uri="{BB962C8B-B14F-4D97-AF65-F5344CB8AC3E}">
        <p14:creationId xmlns:p14="http://schemas.microsoft.com/office/powerpoint/2010/main" val="15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Something you might note is that this line isn't that close to the data points in the graph, so, maybe it isn't the best model to use!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might argue that the bias is too high.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I would agree! Linear regression models tend to have high bias, but linear regression also has something up its sleeve—it has a very low variance.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what does that really mean?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Let's </a:t>
            </a:r>
            <a:r>
              <a:rPr lang="en-US" dirty="0">
                <a:latin typeface="Times New Roman" panose="02020603050405020304" pitchFamily="18" charset="0"/>
                <a:cs typeface="Times New Roman" panose="02020603050405020304" pitchFamily="18" charset="0"/>
              </a:rPr>
              <a:t>say that we take our entire population of mammals and randomly split them into two samples, as follows: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86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EE9CB5B-8C2E-5EAD-B371-B71916BE1724}"/>
              </a:ext>
            </a:extLst>
          </p:cNvPr>
          <p:cNvSpPr>
            <a:spLocks noGrp="1"/>
          </p:cNvSpPr>
          <p:nvPr>
            <p:ph idx="1"/>
          </p:nvPr>
        </p:nvSpPr>
        <p:spPr>
          <a:xfrm>
            <a:off x="838200" y="464695"/>
            <a:ext cx="10515600" cy="5712268"/>
          </a:xfrm>
        </p:spPr>
        <p:txBody>
          <a:bodyPr/>
          <a:lstStyle/>
          <a:p>
            <a:r>
              <a:rPr lang="en-US" dirty="0">
                <a:latin typeface="Century Gothic" panose="020B0502020202020204" pitchFamily="34" charset="0"/>
              </a:rPr>
              <a:t># randomly assign every row to either sample 1 or sample 2 </a:t>
            </a:r>
            <a:r>
              <a:rPr lang="en-US" dirty="0" err="1">
                <a:latin typeface="Century Gothic" panose="020B0502020202020204" pitchFamily="34" charset="0"/>
              </a:rPr>
              <a:t>df</a:t>
            </a:r>
            <a:r>
              <a:rPr lang="en-US" dirty="0">
                <a:latin typeface="Century Gothic" panose="020B0502020202020204" pitchFamily="34" charset="0"/>
              </a:rPr>
              <a:t>['sample'] = </a:t>
            </a:r>
            <a:r>
              <a:rPr lang="en-US" dirty="0" err="1">
                <a:latin typeface="Century Gothic" panose="020B0502020202020204" pitchFamily="34" charset="0"/>
              </a:rPr>
              <a:t>np.random.randint</a:t>
            </a:r>
            <a:r>
              <a:rPr lang="en-US" dirty="0">
                <a:latin typeface="Century Gothic" panose="020B0502020202020204" pitchFamily="34" charset="0"/>
              </a:rPr>
              <a:t>(1, 3, </a:t>
            </a:r>
            <a:r>
              <a:rPr lang="en-US" dirty="0" err="1">
                <a:latin typeface="Century Gothic" panose="020B0502020202020204" pitchFamily="34" charset="0"/>
              </a:rPr>
              <a:t>len</a:t>
            </a:r>
            <a:r>
              <a:rPr lang="en-US" dirty="0">
                <a:latin typeface="Century Gothic" panose="020B0502020202020204" pitchFamily="34" charset="0"/>
              </a:rPr>
              <a:t>(</a:t>
            </a:r>
            <a:r>
              <a:rPr lang="en-US" dirty="0" err="1">
                <a:latin typeface="Century Gothic" panose="020B0502020202020204" pitchFamily="34" charset="0"/>
              </a:rPr>
              <a:t>df</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err="1" smtClean="0">
                <a:latin typeface="Century Gothic" panose="020B0502020202020204" pitchFamily="34" charset="0"/>
              </a:rPr>
              <a:t>df.head</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smtClean="0"/>
              <a:t>Include </a:t>
            </a:r>
            <a:r>
              <a:rPr lang="en-US" dirty="0"/>
              <a:t>a new sample column:</a:t>
            </a:r>
          </a:p>
          <a:p>
            <a:endParaRPr lang="en-US" dirty="0"/>
          </a:p>
          <a:p>
            <a:endParaRPr lang="en-US" dirty="0"/>
          </a:p>
          <a:p>
            <a:endParaRPr lang="en-US" dirty="0"/>
          </a:p>
          <a:p>
            <a:r>
              <a:rPr lang="en-US" dirty="0">
                <a:latin typeface="Century Gothic" panose="020B0502020202020204" pitchFamily="34" charset="0"/>
              </a:rPr>
              <a:t># Compare the two samples, </a:t>
            </a:r>
          </a:p>
          <a:p>
            <a:r>
              <a:rPr lang="en-US" dirty="0">
                <a:latin typeface="Century Gothic" panose="020B0502020202020204" pitchFamily="34" charset="0"/>
              </a:rPr>
              <a:t>they are fairly different! </a:t>
            </a:r>
          </a:p>
          <a:p>
            <a:r>
              <a:rPr lang="en-US" dirty="0" err="1">
                <a:latin typeface="Century Gothic" panose="020B0502020202020204" pitchFamily="34" charset="0"/>
              </a:rPr>
              <a:t>df.groupby</a:t>
            </a:r>
            <a:r>
              <a:rPr lang="en-US" dirty="0">
                <a:latin typeface="Century Gothic" panose="020B0502020202020204" pitchFamily="34" charset="0"/>
              </a:rPr>
              <a:t>('sample</a:t>
            </a:r>
            <a:r>
              <a:rPr lang="en-US" dirty="0" smtClean="0">
                <a:latin typeface="Century Gothic" panose="020B0502020202020204" pitchFamily="34" charset="0"/>
              </a:rPr>
              <a:t>')</a:t>
            </a:r>
          </a:p>
          <a:p>
            <a:pPr marL="0" indent="0">
              <a:buNone/>
            </a:pPr>
            <a:r>
              <a:rPr lang="en-US" dirty="0" smtClean="0">
                <a:latin typeface="Century Gothic" panose="020B0502020202020204" pitchFamily="34" charset="0"/>
              </a:rPr>
              <a:t>	[[</a:t>
            </a:r>
            <a:r>
              <a:rPr lang="en-US" dirty="0">
                <a:latin typeface="Century Gothic" panose="020B0502020202020204" pitchFamily="34" charset="0"/>
              </a:rPr>
              <a:t>'brain', 'body']].mean()</a:t>
            </a:r>
          </a:p>
          <a:p>
            <a:endParaRPr lang="en-US" dirty="0"/>
          </a:p>
          <a:p>
            <a:endParaRPr lang="en-IN" dirty="0"/>
          </a:p>
        </p:txBody>
      </p:sp>
      <p:pic>
        <p:nvPicPr>
          <p:cNvPr id="5" name="Picture 4">
            <a:extLst>
              <a:ext uri="{FF2B5EF4-FFF2-40B4-BE49-F238E27FC236}">
                <a16:creationId xmlns="" xmlns:a16="http://schemas.microsoft.com/office/drawing/2014/main" id="{9CF99008-3D91-2BF5-52F8-5E2BD07ABCE6}"/>
              </a:ext>
            </a:extLst>
          </p:cNvPr>
          <p:cNvPicPr>
            <a:picLocks noChangeAspect="1"/>
          </p:cNvPicPr>
          <p:nvPr/>
        </p:nvPicPr>
        <p:blipFill>
          <a:blip r:embed="rId2"/>
          <a:stretch>
            <a:fillRect/>
          </a:stretch>
        </p:blipFill>
        <p:spPr>
          <a:xfrm>
            <a:off x="8225901" y="1347935"/>
            <a:ext cx="3259971" cy="3758764"/>
          </a:xfrm>
          <a:prstGeom prst="rect">
            <a:avLst/>
          </a:prstGeom>
        </p:spPr>
      </p:pic>
      <p:pic>
        <p:nvPicPr>
          <p:cNvPr id="7" name="Picture 6">
            <a:extLst>
              <a:ext uri="{FF2B5EF4-FFF2-40B4-BE49-F238E27FC236}">
                <a16:creationId xmlns="" xmlns:a16="http://schemas.microsoft.com/office/drawing/2014/main" id="{1A6D091D-9DE6-FFD3-975B-13F73240351A}"/>
              </a:ext>
            </a:extLst>
          </p:cNvPr>
          <p:cNvPicPr>
            <a:picLocks noChangeAspect="1"/>
          </p:cNvPicPr>
          <p:nvPr/>
        </p:nvPicPr>
        <p:blipFill>
          <a:blip r:embed="rId3"/>
          <a:stretch>
            <a:fillRect/>
          </a:stretch>
        </p:blipFill>
        <p:spPr>
          <a:xfrm>
            <a:off x="6595916" y="4838550"/>
            <a:ext cx="3259970" cy="2019450"/>
          </a:xfrm>
          <a:prstGeom prst="rect">
            <a:avLst/>
          </a:prstGeom>
        </p:spPr>
      </p:pic>
    </p:spTree>
    <p:extLst>
      <p:ext uri="{BB962C8B-B14F-4D97-AF65-F5344CB8AC3E}">
        <p14:creationId xmlns:p14="http://schemas.microsoft.com/office/powerpoint/2010/main" val="2449964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4AE878-F009-0928-E286-E010001874CD}"/>
              </a:ext>
            </a:extLst>
          </p:cNvPr>
          <p:cNvSpPr>
            <a:spLocks noGrp="1"/>
          </p:cNvSpPr>
          <p:nvPr>
            <p:ph type="title"/>
          </p:nvPr>
        </p:nvSpPr>
        <p:spPr>
          <a:xfrm>
            <a:off x="727364" y="836180"/>
            <a:ext cx="10515600" cy="1325563"/>
          </a:xfrm>
        </p:spPr>
        <p:txBody>
          <a:bodyPr>
            <a:noAutofit/>
          </a:bodyPr>
          <a:lstStyle/>
          <a:p>
            <a:r>
              <a:rPr lang="en-US" sz="2000" dirty="0">
                <a:latin typeface="Times New Roman" panose="02020603050405020304" pitchFamily="18" charset="0"/>
                <a:cs typeface="Times New Roman" panose="02020603050405020304" pitchFamily="18" charset="0"/>
              </a:rPr>
              <a:t>We can now tell seaborn to create two plots, in which the left plot only uses the data from sample 1 and the right plot only uses the data from sample 2: </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Century Gothic" panose="020B0502020202020204" pitchFamily="34" charset="0"/>
              </a:rPr>
              <a:t># </a:t>
            </a:r>
            <a:r>
              <a:rPr lang="en-US" sz="2000" dirty="0">
                <a:latin typeface="Century Gothic" panose="020B0502020202020204" pitchFamily="34" charset="0"/>
              </a:rPr>
              <a:t>col='sample' subsets the data by sample and creates two </a:t>
            </a:r>
            <a:r>
              <a:rPr lang="en-US" sz="2000" dirty="0" smtClean="0">
                <a:latin typeface="Century Gothic" panose="020B0502020202020204" pitchFamily="34" charset="0"/>
              </a:rPr>
              <a:t/>
            </a:r>
            <a:br>
              <a:rPr lang="en-US" sz="2000" dirty="0" smtClean="0">
                <a:latin typeface="Century Gothic" panose="020B0502020202020204" pitchFamily="34" charset="0"/>
              </a:rPr>
            </a:br>
            <a:r>
              <a:rPr lang="en-US" sz="2000" dirty="0" smtClean="0">
                <a:latin typeface="Century Gothic" panose="020B0502020202020204" pitchFamily="34" charset="0"/>
              </a:rPr>
              <a:t># </a:t>
            </a:r>
            <a:r>
              <a:rPr lang="en-US" sz="2000" dirty="0">
                <a:latin typeface="Century Gothic" panose="020B0502020202020204" pitchFamily="34" charset="0"/>
              </a:rPr>
              <a:t>separate plots </a:t>
            </a:r>
            <a:r>
              <a:rPr lang="en-US" sz="2000" dirty="0" smtClean="0">
                <a:latin typeface="Century Gothic" panose="020B0502020202020204" pitchFamily="34" charset="0"/>
              </a:rPr>
              <a:t/>
            </a:r>
            <a:br>
              <a:rPr lang="en-US" sz="2000" dirty="0" smtClean="0">
                <a:latin typeface="Century Gothic" panose="020B0502020202020204" pitchFamily="34" charset="0"/>
              </a:rPr>
            </a:br>
            <a:r>
              <a:rPr lang="en-US" sz="2000" dirty="0" err="1" smtClean="0">
                <a:latin typeface="Century Gothic" panose="020B0502020202020204" pitchFamily="34" charset="0"/>
              </a:rPr>
              <a:t>sns.lmplot</a:t>
            </a:r>
            <a:r>
              <a:rPr lang="en-US" sz="2000" dirty="0" smtClean="0">
                <a:latin typeface="Century Gothic" panose="020B0502020202020204" pitchFamily="34" charset="0"/>
              </a:rPr>
              <a:t>(x</a:t>
            </a:r>
            <a:r>
              <a:rPr lang="en-US" sz="2000" dirty="0">
                <a:latin typeface="Century Gothic" panose="020B0502020202020204" pitchFamily="34" charset="0"/>
              </a:rPr>
              <a:t>='body', y='brain', data=</a:t>
            </a:r>
            <a:r>
              <a:rPr lang="en-US" sz="2000" dirty="0" err="1">
                <a:latin typeface="Century Gothic" panose="020B0502020202020204" pitchFamily="34" charset="0"/>
              </a:rPr>
              <a:t>df</a:t>
            </a:r>
            <a:r>
              <a:rPr lang="en-US" sz="2000" dirty="0">
                <a:latin typeface="Century Gothic" panose="020B0502020202020204" pitchFamily="34" charset="0"/>
              </a:rPr>
              <a:t>, ci=None, col='sample') </a:t>
            </a:r>
            <a:r>
              <a:rPr lang="en-US" sz="2000" dirty="0" smtClean="0">
                <a:latin typeface="Century Gothic" panose="020B0502020202020204" pitchFamily="34" charset="0"/>
              </a:rPr>
              <a:t/>
            </a:r>
            <a:br>
              <a:rPr lang="en-US" sz="2000" dirty="0" smtClean="0">
                <a:latin typeface="Century Gothic" panose="020B0502020202020204" pitchFamily="34" charset="0"/>
              </a:rPr>
            </a:br>
            <a:r>
              <a:rPr lang="en-US" sz="2000" dirty="0" err="1" smtClean="0">
                <a:latin typeface="Century Gothic" panose="020B0502020202020204" pitchFamily="34" charset="0"/>
              </a:rPr>
              <a:t>sns.plt.xlim</a:t>
            </a:r>
            <a:r>
              <a:rPr lang="en-US" sz="2000" dirty="0">
                <a:latin typeface="Century Gothic" panose="020B0502020202020204" pitchFamily="34" charset="0"/>
              </a:rPr>
              <a:t>(-10, 200) </a:t>
            </a:r>
            <a:r>
              <a:rPr lang="en-US" sz="2000" dirty="0" smtClean="0">
                <a:latin typeface="Century Gothic" panose="020B0502020202020204" pitchFamily="34" charset="0"/>
              </a:rPr>
              <a:t/>
            </a:r>
            <a:br>
              <a:rPr lang="en-US" sz="2000" dirty="0" smtClean="0">
                <a:latin typeface="Century Gothic" panose="020B0502020202020204" pitchFamily="34" charset="0"/>
              </a:rPr>
            </a:br>
            <a:r>
              <a:rPr lang="en-US" sz="2000" dirty="0" err="1" smtClean="0">
                <a:latin typeface="Century Gothic" panose="020B0502020202020204" pitchFamily="34" charset="0"/>
              </a:rPr>
              <a:t>sns.plt.ylim</a:t>
            </a:r>
            <a:r>
              <a:rPr lang="en-US" sz="2000" dirty="0">
                <a:latin typeface="Century Gothic" panose="020B0502020202020204" pitchFamily="34" charset="0"/>
              </a:rPr>
              <a:t>(-10, 250)</a:t>
            </a:r>
            <a:endParaRPr lang="en-IN" sz="2000" dirty="0">
              <a:latin typeface="Century Gothic" panose="020B0502020202020204" pitchFamily="34" charset="0"/>
            </a:endParaRPr>
          </a:p>
        </p:txBody>
      </p:sp>
      <p:pic>
        <p:nvPicPr>
          <p:cNvPr id="5" name="Content Placeholder 4">
            <a:extLst>
              <a:ext uri="{FF2B5EF4-FFF2-40B4-BE49-F238E27FC236}">
                <a16:creationId xmlns="" xmlns:a16="http://schemas.microsoft.com/office/drawing/2014/main" id="{0B6FED16-FCFA-B227-04DB-68ACD7B90CD7}"/>
              </a:ext>
            </a:extLst>
          </p:cNvPr>
          <p:cNvPicPr>
            <a:picLocks noGrp="1" noChangeAspect="1"/>
          </p:cNvPicPr>
          <p:nvPr>
            <p:ph idx="1"/>
          </p:nvPr>
        </p:nvPicPr>
        <p:blipFill>
          <a:blip r:embed="rId2"/>
          <a:stretch>
            <a:fillRect/>
          </a:stretch>
        </p:blipFill>
        <p:spPr>
          <a:xfrm>
            <a:off x="1983392" y="2574140"/>
            <a:ext cx="7522643" cy="4007638"/>
          </a:xfrm>
        </p:spPr>
      </p:pic>
    </p:spTree>
    <p:extLst>
      <p:ext uri="{BB962C8B-B14F-4D97-AF65-F5344CB8AC3E}">
        <p14:creationId xmlns:p14="http://schemas.microsoft.com/office/powerpoint/2010/main" val="2657942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D354A1C-7DB0-242D-9759-1E0BF880114A}"/>
              </a:ext>
            </a:extLst>
          </p:cNvPr>
          <p:cNvSpPr>
            <a:spLocks noGrp="1"/>
          </p:cNvSpPr>
          <p:nvPr>
            <p:ph idx="1"/>
          </p:nvPr>
        </p:nvSpPr>
        <p:spPr>
          <a:xfrm>
            <a:off x="838200" y="209862"/>
            <a:ext cx="10515600" cy="5967101"/>
          </a:xfrm>
        </p:spPr>
        <p:txBody>
          <a:bodyPr/>
          <a:lstStyle/>
          <a:p>
            <a:r>
              <a:rPr lang="en-US" dirty="0">
                <a:latin typeface="Times New Roman" panose="02020603050405020304" pitchFamily="18" charset="0"/>
                <a:cs typeface="Times New Roman" panose="02020603050405020304" pitchFamily="18" charset="0"/>
              </a:rPr>
              <a:t>They barely look different, right? If you look closely, you will note that not a single data point is shared between the samples and yet the line looks almost identical.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further show this point, let's put both the lines of best fit in the same graph and use colors to separate the samples, as illustrated: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hue='sample' subsets the data by sample and creates a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single plot</a:t>
            </a:r>
          </a:p>
          <a:p>
            <a:r>
              <a:rPr lang="en-IN" dirty="0" err="1">
                <a:latin typeface="Century Gothic" panose="020B0502020202020204" pitchFamily="34" charset="0"/>
                <a:cs typeface="Times New Roman" panose="02020603050405020304" pitchFamily="18" charset="0"/>
              </a:rPr>
              <a:t>sns.lmplot</a:t>
            </a:r>
            <a:r>
              <a:rPr lang="en-IN" dirty="0">
                <a:latin typeface="Century Gothic" panose="020B0502020202020204" pitchFamily="34" charset="0"/>
                <a:cs typeface="Times New Roman" panose="02020603050405020304" pitchFamily="18" charset="0"/>
              </a:rPr>
              <a:t>(x='body', y='brain', </a:t>
            </a:r>
            <a:endParaRPr lang="en-IN" dirty="0" smtClean="0">
              <a:latin typeface="Century Gothic" panose="020B0502020202020204" pitchFamily="34" charset="0"/>
              <a:cs typeface="Times New Roman" panose="02020603050405020304" pitchFamily="18" charset="0"/>
            </a:endParaRPr>
          </a:p>
          <a:p>
            <a:pPr marL="457200" lvl="1" indent="0">
              <a:buNone/>
            </a:pPr>
            <a:r>
              <a:rPr lang="en-IN" dirty="0" smtClean="0">
                <a:latin typeface="Century Gothic" panose="020B0502020202020204" pitchFamily="34" charset="0"/>
                <a:cs typeface="Times New Roman" panose="02020603050405020304" pitchFamily="18" charset="0"/>
              </a:rPr>
              <a:t>data=</a:t>
            </a:r>
            <a:r>
              <a:rPr lang="en-IN" dirty="0" err="1" smtClean="0">
                <a:latin typeface="Century Gothic" panose="020B0502020202020204" pitchFamily="34" charset="0"/>
                <a:cs typeface="Times New Roman" panose="02020603050405020304" pitchFamily="18" charset="0"/>
              </a:rPr>
              <a:t>df</a:t>
            </a:r>
            <a:r>
              <a:rPr lang="en-IN" dirty="0">
                <a:latin typeface="Century Gothic" panose="020B0502020202020204" pitchFamily="34" charset="0"/>
                <a:cs typeface="Times New Roman" panose="02020603050405020304" pitchFamily="18" charset="0"/>
              </a:rPr>
              <a:t>, ci=None, hue='sample') </a:t>
            </a:r>
            <a:endParaRPr lang="en-IN" dirty="0" smtClean="0">
              <a:latin typeface="Century Gothic" panose="020B0502020202020204" pitchFamily="34" charset="0"/>
              <a:cs typeface="Times New Roman" panose="02020603050405020304" pitchFamily="18" charset="0"/>
            </a:endParaRPr>
          </a:p>
          <a:p>
            <a:pPr marL="457200" lvl="1" indent="0">
              <a:buNone/>
            </a:pPr>
            <a:r>
              <a:rPr lang="en-IN" dirty="0" err="1" smtClean="0">
                <a:latin typeface="Century Gothic" panose="020B0502020202020204" pitchFamily="34" charset="0"/>
                <a:cs typeface="Times New Roman" panose="02020603050405020304" pitchFamily="18" charset="0"/>
              </a:rPr>
              <a:t>sns.plt.xlim</a:t>
            </a:r>
            <a:r>
              <a:rPr lang="en-IN" dirty="0">
                <a:latin typeface="Century Gothic" panose="020B0502020202020204" pitchFamily="34" charset="0"/>
                <a:cs typeface="Times New Roman" panose="02020603050405020304" pitchFamily="18" charset="0"/>
              </a:rPr>
              <a:t>(-10, </a:t>
            </a:r>
            <a:r>
              <a:rPr lang="en-IN" dirty="0" smtClean="0">
                <a:latin typeface="Century Gothic" panose="020B0502020202020204" pitchFamily="34" charset="0"/>
                <a:cs typeface="Times New Roman" panose="02020603050405020304" pitchFamily="18" charset="0"/>
              </a:rPr>
              <a:t>200)</a:t>
            </a:r>
          </a:p>
          <a:p>
            <a:pPr marL="457200" lvl="1" indent="0">
              <a:buNone/>
            </a:pPr>
            <a:r>
              <a:rPr lang="en-IN" dirty="0" err="1" smtClean="0">
                <a:latin typeface="Century Gothic" panose="020B0502020202020204" pitchFamily="34" charset="0"/>
                <a:cs typeface="Times New Roman" panose="02020603050405020304" pitchFamily="18" charset="0"/>
              </a:rPr>
              <a:t>sns.plt.ylim</a:t>
            </a:r>
            <a:r>
              <a:rPr lang="en-IN" dirty="0">
                <a:latin typeface="Century Gothic" panose="020B0502020202020204" pitchFamily="34" charset="0"/>
                <a:cs typeface="Times New Roman" panose="02020603050405020304" pitchFamily="18" charset="0"/>
              </a:rPr>
              <a:t>(-10, 250)</a:t>
            </a:r>
          </a:p>
        </p:txBody>
      </p:sp>
      <p:pic>
        <p:nvPicPr>
          <p:cNvPr id="5" name="Picture 4">
            <a:extLst>
              <a:ext uri="{FF2B5EF4-FFF2-40B4-BE49-F238E27FC236}">
                <a16:creationId xmlns="" xmlns:a16="http://schemas.microsoft.com/office/drawing/2014/main" id="{7F4CBABB-ABCB-04FE-9079-4DF58B4FA31A}"/>
              </a:ext>
            </a:extLst>
          </p:cNvPr>
          <p:cNvPicPr>
            <a:picLocks noChangeAspect="1"/>
          </p:cNvPicPr>
          <p:nvPr/>
        </p:nvPicPr>
        <p:blipFill>
          <a:blip r:embed="rId2"/>
          <a:stretch>
            <a:fillRect/>
          </a:stretch>
        </p:blipFill>
        <p:spPr>
          <a:xfrm>
            <a:off x="6749788" y="2894280"/>
            <a:ext cx="4347929" cy="3698984"/>
          </a:xfrm>
          <a:prstGeom prst="rect">
            <a:avLst/>
          </a:prstGeom>
        </p:spPr>
      </p:pic>
    </p:spTree>
    <p:extLst>
      <p:ext uri="{BB962C8B-B14F-4D97-AF65-F5344CB8AC3E}">
        <p14:creationId xmlns:p14="http://schemas.microsoft.com/office/powerpoint/2010/main" val="468869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813C307-E158-D10A-FC38-C4741882295F}"/>
              </a:ext>
            </a:extLst>
          </p:cNvPr>
          <p:cNvSpPr>
            <a:spLocks noGrp="1"/>
          </p:cNvSpPr>
          <p:nvPr>
            <p:ph idx="1"/>
          </p:nvPr>
        </p:nvSpPr>
        <p:spPr>
          <a:xfrm>
            <a:off x="838200" y="498764"/>
            <a:ext cx="10952018" cy="5957454"/>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line looks pretty similar between the two plots, despite the fact that they used separate samples of data.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both the cases, we would predict a brain weight of about 45.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fact that even though the linear regression was given to completely distinct datasets pulled from the same population, it produced a very similar line, suggesting that the model is of low variance.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What </a:t>
            </a:r>
            <a:r>
              <a:rPr lang="en-US" dirty="0">
                <a:latin typeface="Times New Roman" panose="02020603050405020304" pitchFamily="18" charset="0"/>
                <a:cs typeface="Times New Roman" panose="02020603050405020304" pitchFamily="18" charset="0"/>
              </a:rPr>
              <a:t>if we increased our model's complexity and allowed it to learn more? Instead of fitting a line, let's let seaborn fit a fourth degree polynomial (a quartic polynomial).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adding to the degree of the polynomial, the graph will be able to make twists and turns in order to fit our data better, as shown:</a:t>
            </a:r>
          </a:p>
          <a:p>
            <a:pPr algn="just"/>
            <a:r>
              <a:rPr lang="en-IN" dirty="0">
                <a:latin typeface="Century Gothic" panose="020B0502020202020204" pitchFamily="34" charset="0"/>
                <a:cs typeface="Times New Roman" panose="02020603050405020304" pitchFamily="18" charset="0"/>
              </a:rPr>
              <a:t># What would a low bias, high variance model look like? Let's try polynomial regression, with an fourth order polynomial: </a:t>
            </a:r>
            <a:endParaRPr lang="en-IN" dirty="0" smtClean="0">
              <a:latin typeface="Century Gothic" panose="020B0502020202020204" pitchFamily="34" charset="0"/>
              <a:cs typeface="Times New Roman" panose="02020603050405020304" pitchFamily="18" charset="0"/>
            </a:endParaRPr>
          </a:p>
          <a:p>
            <a:pPr algn="just"/>
            <a:r>
              <a:rPr lang="en-IN" dirty="0" err="1" smtClean="0">
                <a:latin typeface="Century Gothic" panose="020B0502020202020204" pitchFamily="34" charset="0"/>
                <a:cs typeface="Times New Roman" panose="02020603050405020304" pitchFamily="18" charset="0"/>
              </a:rPr>
              <a:t>sns.lmplot</a:t>
            </a:r>
            <a:r>
              <a:rPr lang="en-IN" dirty="0" smtClean="0">
                <a:latin typeface="Century Gothic" panose="020B0502020202020204" pitchFamily="34" charset="0"/>
                <a:cs typeface="Times New Roman" panose="02020603050405020304" pitchFamily="18" charset="0"/>
              </a:rPr>
              <a:t>(x</a:t>
            </a:r>
            <a:r>
              <a:rPr lang="en-IN" dirty="0">
                <a:latin typeface="Century Gothic" panose="020B0502020202020204" pitchFamily="34" charset="0"/>
                <a:cs typeface="Times New Roman" panose="02020603050405020304" pitchFamily="18" charset="0"/>
              </a:rPr>
              <a:t>='body', y='brain', data=</a:t>
            </a:r>
            <a:r>
              <a:rPr lang="en-IN" dirty="0" err="1">
                <a:latin typeface="Century Gothic" panose="020B0502020202020204" pitchFamily="34" charset="0"/>
                <a:cs typeface="Times New Roman" panose="02020603050405020304" pitchFamily="18" charset="0"/>
              </a:rPr>
              <a:t>df</a:t>
            </a:r>
            <a:r>
              <a:rPr lang="en-IN" dirty="0">
                <a:latin typeface="Century Gothic" panose="020B0502020202020204" pitchFamily="34" charset="0"/>
                <a:cs typeface="Times New Roman" panose="02020603050405020304" pitchFamily="18" charset="0"/>
              </a:rPr>
              <a:t>, ci=None, \ col='sample', order=4) </a:t>
            </a:r>
            <a:endParaRPr lang="en-IN" dirty="0" smtClean="0">
              <a:latin typeface="Century Gothic" panose="020B0502020202020204" pitchFamily="34" charset="0"/>
              <a:cs typeface="Times New Roman" panose="02020603050405020304" pitchFamily="18" charset="0"/>
            </a:endParaRPr>
          </a:p>
          <a:p>
            <a:pPr algn="just"/>
            <a:r>
              <a:rPr lang="en-IN" dirty="0" err="1" smtClean="0">
                <a:latin typeface="Century Gothic" panose="020B0502020202020204" pitchFamily="34" charset="0"/>
                <a:cs typeface="Times New Roman" panose="02020603050405020304" pitchFamily="18" charset="0"/>
              </a:rPr>
              <a:t>sns.plt.xlim</a:t>
            </a:r>
            <a:r>
              <a:rPr lang="en-IN" dirty="0">
                <a:latin typeface="Century Gothic" panose="020B0502020202020204" pitchFamily="34" charset="0"/>
                <a:cs typeface="Times New Roman" panose="02020603050405020304" pitchFamily="18" charset="0"/>
              </a:rPr>
              <a:t>(-10, 200) </a:t>
            </a:r>
            <a:endParaRPr lang="en-IN" dirty="0" smtClean="0">
              <a:latin typeface="Century Gothic" panose="020B0502020202020204" pitchFamily="34" charset="0"/>
              <a:cs typeface="Times New Roman" panose="02020603050405020304" pitchFamily="18" charset="0"/>
            </a:endParaRPr>
          </a:p>
          <a:p>
            <a:pPr algn="just"/>
            <a:r>
              <a:rPr lang="en-IN" dirty="0" err="1" smtClean="0">
                <a:latin typeface="Century Gothic" panose="020B0502020202020204" pitchFamily="34" charset="0"/>
                <a:cs typeface="Times New Roman" panose="02020603050405020304" pitchFamily="18" charset="0"/>
              </a:rPr>
              <a:t>sns.plt.ylim</a:t>
            </a:r>
            <a:r>
              <a:rPr lang="en-IN" dirty="0">
                <a:latin typeface="Century Gothic" panose="020B0502020202020204" pitchFamily="34" charset="0"/>
                <a:cs typeface="Times New Roman" panose="02020603050405020304" pitchFamily="18" charset="0"/>
              </a:rPr>
              <a:t>(-10, 250)</a:t>
            </a:r>
          </a:p>
        </p:txBody>
      </p:sp>
    </p:spTree>
    <p:extLst>
      <p:ext uri="{BB962C8B-B14F-4D97-AF65-F5344CB8AC3E}">
        <p14:creationId xmlns:p14="http://schemas.microsoft.com/office/powerpoint/2010/main" val="4161985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9113FB9-027E-F184-182D-92ABCD49B5E5}"/>
              </a:ext>
            </a:extLst>
          </p:cNvPr>
          <p:cNvSpPr>
            <a:spLocks noGrp="1"/>
          </p:cNvSpPr>
          <p:nvPr>
            <p:ph idx="1"/>
          </p:nvPr>
        </p:nvSpPr>
        <p:spPr>
          <a:xfrm>
            <a:off x="374753" y="1139252"/>
            <a:ext cx="11452485" cy="5576342"/>
          </a:xfrm>
        </p:spPr>
        <p:txBody>
          <a:bodyPr>
            <a:normAutofit fontScale="77500" lnSpcReduction="20000"/>
          </a:bodyPr>
          <a:lstStyle/>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Note how, for two distinct samples from the same population, the quartic polynomial looks vastly different. </a:t>
            </a:r>
          </a:p>
          <a:p>
            <a:pPr algn="just"/>
            <a:r>
              <a:rPr lang="en-US" dirty="0">
                <a:latin typeface="Times New Roman" panose="02020603050405020304" pitchFamily="18" charset="0"/>
                <a:cs typeface="Times New Roman" panose="02020603050405020304" pitchFamily="18" charset="0"/>
              </a:rPr>
              <a:t>This is a sign of high variance. </a:t>
            </a:r>
          </a:p>
          <a:p>
            <a:pPr algn="just"/>
            <a:r>
              <a:rPr lang="en-US" dirty="0">
                <a:latin typeface="Times New Roman" panose="02020603050405020304" pitchFamily="18" charset="0"/>
                <a:cs typeface="Times New Roman" panose="02020603050405020304" pitchFamily="18" charset="0"/>
              </a:rPr>
              <a:t>This model is low bias because it matches our data well! However, it's high variance because the models are widely different depending upon which points happen to be in the sample. </a:t>
            </a:r>
          </a:p>
          <a:p>
            <a:pPr algn="just"/>
            <a:r>
              <a:rPr lang="en-US" dirty="0">
                <a:latin typeface="Times New Roman" panose="02020603050405020304" pitchFamily="18" charset="0"/>
                <a:cs typeface="Times New Roman" panose="02020603050405020304" pitchFamily="18" charset="0"/>
              </a:rPr>
              <a:t>(For a body weight of 100, the brain weight prediction would either be 40 or 0, depending upon which data happened to be in the sample.)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90E964F2-62BE-8993-F966-C959A2EDC249}"/>
              </a:ext>
            </a:extLst>
          </p:cNvPr>
          <p:cNvPicPr>
            <a:picLocks noChangeAspect="1"/>
          </p:cNvPicPr>
          <p:nvPr/>
        </p:nvPicPr>
        <p:blipFill>
          <a:blip r:embed="rId2"/>
          <a:stretch>
            <a:fillRect/>
          </a:stretch>
        </p:blipFill>
        <p:spPr>
          <a:xfrm>
            <a:off x="1364793" y="0"/>
            <a:ext cx="8206881" cy="4366964"/>
          </a:xfrm>
          <a:prstGeom prst="rect">
            <a:avLst/>
          </a:prstGeom>
        </p:spPr>
      </p:pic>
    </p:spTree>
    <p:extLst>
      <p:ext uri="{BB962C8B-B14F-4D97-AF65-F5344CB8AC3E}">
        <p14:creationId xmlns:p14="http://schemas.microsoft.com/office/powerpoint/2010/main" val="420079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A610943-8602-740C-FC3A-E0CA8BF39155}"/>
              </a:ext>
            </a:extLst>
          </p:cNvPr>
          <p:cNvSpPr>
            <a:spLocks noGrp="1"/>
          </p:cNvSpPr>
          <p:nvPr>
            <p:ph idx="1"/>
          </p:nvPr>
        </p:nvSpPr>
        <p:spPr>
          <a:xfrm>
            <a:off x="838199" y="419724"/>
            <a:ext cx="11035145" cy="6078057"/>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Our polynomial is also unaware of the general relationship of the data. It seems obvious that there is a positive correlation between the brain and body weight of mammals.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in our quartic polynomials, this relationship is nowhere to be found and is unreliable. In our first sample (the graph on the left), the polynomial ends up shooting downwards, while in the second graph, the graph is going upwards towards the end.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Our </a:t>
            </a:r>
            <a:r>
              <a:rPr lang="en-US" dirty="0">
                <a:latin typeface="Times New Roman" panose="02020603050405020304" pitchFamily="18" charset="0"/>
                <a:cs typeface="Times New Roman" panose="02020603050405020304" pitchFamily="18" charset="0"/>
              </a:rPr>
              <a:t>model is unpredictable and can behave wildly different depending on the given training set. It is our job, as data scientists, to find a middle ground.</a:t>
            </a:r>
          </a:p>
          <a:p>
            <a:pPr algn="just"/>
            <a:r>
              <a:rPr lang="en-IN" dirty="0">
                <a:latin typeface="Times New Roman" panose="02020603050405020304" pitchFamily="18" charset="0"/>
                <a:cs typeface="Times New Roman" panose="02020603050405020304" pitchFamily="18" charset="0"/>
              </a:rPr>
              <a:t>Perhaps we can create a model that has less bias than the linear model, and less variance than the fourth order polynomial? </a:t>
            </a:r>
            <a:endParaRPr lang="en-IN" dirty="0" smtClean="0">
              <a:latin typeface="Times New Roman" panose="02020603050405020304" pitchFamily="18" charset="0"/>
              <a:cs typeface="Times New Roman" panose="02020603050405020304" pitchFamily="18" charset="0"/>
            </a:endParaRPr>
          </a:p>
          <a:p>
            <a:pPr algn="just"/>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Let's try a second order polynomial instead: </a:t>
            </a:r>
            <a:endParaRPr lang="en-IN" dirty="0" smtClean="0">
              <a:latin typeface="Century Gothic" panose="020B0502020202020204" pitchFamily="34" charset="0"/>
              <a:cs typeface="Times New Roman" panose="02020603050405020304" pitchFamily="18" charset="0"/>
            </a:endParaRPr>
          </a:p>
          <a:p>
            <a:pPr algn="just"/>
            <a:r>
              <a:rPr lang="en-IN" dirty="0" err="1" smtClean="0">
                <a:latin typeface="Century Gothic" panose="020B0502020202020204" pitchFamily="34" charset="0"/>
                <a:cs typeface="Times New Roman" panose="02020603050405020304" pitchFamily="18" charset="0"/>
              </a:rPr>
              <a:t>sns.lmplot</a:t>
            </a:r>
            <a:r>
              <a:rPr lang="en-IN" dirty="0" smtClean="0">
                <a:latin typeface="Century Gothic" panose="020B0502020202020204" pitchFamily="34" charset="0"/>
                <a:cs typeface="Times New Roman" panose="02020603050405020304" pitchFamily="18" charset="0"/>
              </a:rPr>
              <a:t>(x</a:t>
            </a:r>
            <a:r>
              <a:rPr lang="en-IN" dirty="0">
                <a:latin typeface="Century Gothic" panose="020B0502020202020204" pitchFamily="34" charset="0"/>
                <a:cs typeface="Times New Roman" panose="02020603050405020304" pitchFamily="18" charset="0"/>
              </a:rPr>
              <a:t>='body', y='brain', data=</a:t>
            </a:r>
            <a:r>
              <a:rPr lang="en-IN" dirty="0" err="1">
                <a:latin typeface="Century Gothic" panose="020B0502020202020204" pitchFamily="34" charset="0"/>
                <a:cs typeface="Times New Roman" panose="02020603050405020304" pitchFamily="18" charset="0"/>
              </a:rPr>
              <a:t>df</a:t>
            </a:r>
            <a:r>
              <a:rPr lang="en-IN" dirty="0">
                <a:latin typeface="Century Gothic" panose="020B0502020202020204" pitchFamily="34" charset="0"/>
                <a:cs typeface="Times New Roman" panose="02020603050405020304" pitchFamily="18" charset="0"/>
              </a:rPr>
              <a:t>, ci=None, col='sample', order=2</a:t>
            </a:r>
            <a:r>
              <a:rPr lang="en-IN" dirty="0" smtClean="0">
                <a:latin typeface="Century Gothic" panose="020B0502020202020204" pitchFamily="34" charset="0"/>
                <a:cs typeface="Times New Roman" panose="02020603050405020304" pitchFamily="18" charset="0"/>
              </a:rPr>
              <a:t>)</a:t>
            </a:r>
          </a:p>
          <a:p>
            <a:pPr algn="just"/>
            <a:r>
              <a:rPr lang="en-IN" dirty="0" err="1" smtClean="0">
                <a:latin typeface="Century Gothic" panose="020B0502020202020204" pitchFamily="34" charset="0"/>
                <a:cs typeface="Times New Roman" panose="02020603050405020304" pitchFamily="18" charset="0"/>
              </a:rPr>
              <a:t>sns.plt.xlim</a:t>
            </a:r>
            <a:r>
              <a:rPr lang="en-IN" dirty="0">
                <a:latin typeface="Century Gothic" panose="020B0502020202020204" pitchFamily="34" charset="0"/>
                <a:cs typeface="Times New Roman" panose="02020603050405020304" pitchFamily="18" charset="0"/>
              </a:rPr>
              <a:t>(-10, 200) </a:t>
            </a:r>
            <a:endParaRPr lang="en-IN" dirty="0" smtClean="0">
              <a:latin typeface="Century Gothic" panose="020B0502020202020204" pitchFamily="34" charset="0"/>
              <a:cs typeface="Times New Roman" panose="02020603050405020304" pitchFamily="18" charset="0"/>
            </a:endParaRPr>
          </a:p>
          <a:p>
            <a:pPr algn="just"/>
            <a:r>
              <a:rPr lang="en-IN" dirty="0" err="1" smtClean="0">
                <a:latin typeface="Century Gothic" panose="020B0502020202020204" pitchFamily="34" charset="0"/>
                <a:cs typeface="Times New Roman" panose="02020603050405020304" pitchFamily="18" charset="0"/>
              </a:rPr>
              <a:t>sns.plt.ylim</a:t>
            </a:r>
            <a:r>
              <a:rPr lang="en-IN" dirty="0">
                <a:latin typeface="Century Gothic" panose="020B0502020202020204" pitchFamily="34" charset="0"/>
                <a:cs typeface="Times New Roman" panose="02020603050405020304" pitchFamily="18" charset="0"/>
              </a:rPr>
              <a:t>(-10, 250)</a:t>
            </a:r>
          </a:p>
        </p:txBody>
      </p:sp>
    </p:spTree>
    <p:extLst>
      <p:ext uri="{BB962C8B-B14F-4D97-AF65-F5344CB8AC3E}">
        <p14:creationId xmlns:p14="http://schemas.microsoft.com/office/powerpoint/2010/main" val="2671114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DA337D-09A2-7F85-D35A-1FCC74B6B4B2}"/>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B9E2205-9599-EFEB-04FD-FB6744E2D9E7}"/>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D184002F-B287-D602-B82F-125D8387C62B}"/>
              </a:ext>
            </a:extLst>
          </p:cNvPr>
          <p:cNvPicPr>
            <a:picLocks noChangeAspect="1"/>
          </p:cNvPicPr>
          <p:nvPr/>
        </p:nvPicPr>
        <p:blipFill>
          <a:blip r:embed="rId2"/>
          <a:stretch>
            <a:fillRect/>
          </a:stretch>
        </p:blipFill>
        <p:spPr>
          <a:xfrm>
            <a:off x="1119109" y="681036"/>
            <a:ext cx="9553888" cy="5518491"/>
          </a:xfrm>
          <a:prstGeom prst="rect">
            <a:avLst/>
          </a:prstGeom>
        </p:spPr>
      </p:pic>
    </p:spTree>
    <p:extLst>
      <p:ext uri="{BB962C8B-B14F-4D97-AF65-F5344CB8AC3E}">
        <p14:creationId xmlns:p14="http://schemas.microsoft.com/office/powerpoint/2010/main" val="1132281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CC07C8-5505-9518-D581-0C82C87B30FF}"/>
              </a:ext>
            </a:extLst>
          </p:cNvPr>
          <p:cNvSpPr>
            <a:spLocks noGrp="1"/>
          </p:cNvSpPr>
          <p:nvPr>
            <p:ph type="title"/>
          </p:nvPr>
        </p:nvSpPr>
        <p:spPr>
          <a:xfrm>
            <a:off x="838200" y="365125"/>
            <a:ext cx="10515600" cy="1061893"/>
          </a:xfrm>
        </p:spPr>
        <p:txBody>
          <a:bodyPr/>
          <a:lstStyle/>
          <a:p>
            <a:pPr algn="ctr"/>
            <a:r>
              <a:rPr lang="en-US" dirty="0">
                <a:latin typeface="Times New Roman" panose="02020603050405020304" pitchFamily="18" charset="0"/>
                <a:cs typeface="Times New Roman" panose="02020603050405020304" pitchFamily="18" charset="0"/>
              </a:rPr>
              <a:t>Two extreme cases of </a:t>
            </a:r>
            <a:r>
              <a:rPr lang="en-US" dirty="0" smtClean="0">
                <a:latin typeface="Times New Roman" panose="02020603050405020304" pitchFamily="18" charset="0"/>
                <a:cs typeface="Times New Roman" panose="02020603050405020304" pitchFamily="18" charset="0"/>
              </a:rPr>
              <a:t>Bias/Variance </a:t>
            </a: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radeoff</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365E4868-A266-3AF8-1E3E-CB9FC51071F0}"/>
              </a:ext>
            </a:extLst>
          </p:cNvPr>
          <p:cNvSpPr>
            <a:spLocks noGrp="1"/>
          </p:cNvSpPr>
          <p:nvPr>
            <p:ph idx="1"/>
          </p:nvPr>
        </p:nvSpPr>
        <p:spPr>
          <a:xfrm>
            <a:off x="539647" y="1399310"/>
            <a:ext cx="11375262" cy="5226342"/>
          </a:xfrm>
        </p:spPr>
        <p:txBody>
          <a:bodyPr>
            <a:normAutofit fontScale="92500"/>
          </a:bodyPr>
          <a:lstStyle/>
          <a:p>
            <a:pPr algn="just"/>
            <a:r>
              <a:rPr lang="en-US" b="1" u="sng" dirty="0">
                <a:latin typeface="Times New Roman" panose="02020603050405020304" pitchFamily="18" charset="0"/>
                <a:cs typeface="Times New Roman" panose="02020603050405020304" pitchFamily="18" charset="0"/>
              </a:rPr>
              <a:t>Underfitting:</a:t>
            </a:r>
          </a:p>
          <a:p>
            <a:pPr algn="just"/>
            <a:r>
              <a:rPr lang="en-US" dirty="0">
                <a:latin typeface="Times New Roman" panose="02020603050405020304" pitchFamily="18" charset="0"/>
                <a:cs typeface="Times New Roman" panose="02020603050405020304" pitchFamily="18" charset="0"/>
              </a:rPr>
              <a:t>Underfitting occurs when our models make little to no attempt to fit our data.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Models </a:t>
            </a:r>
            <a:r>
              <a:rPr lang="en-US" dirty="0">
                <a:latin typeface="Times New Roman" panose="02020603050405020304" pitchFamily="18" charset="0"/>
                <a:cs typeface="Times New Roman" panose="02020603050405020304" pitchFamily="18" charset="0"/>
              </a:rPr>
              <a:t>that are high bias and low variance are prone to underfitting. In the case of the mammal brain/body weight example, the linear regression is underfitting our data.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While </a:t>
            </a:r>
            <a:r>
              <a:rPr lang="en-US" dirty="0">
                <a:latin typeface="Times New Roman" panose="02020603050405020304" pitchFamily="18" charset="0"/>
                <a:cs typeface="Times New Roman" panose="02020603050405020304" pitchFamily="18" charset="0"/>
              </a:rPr>
              <a:t>we have a general shape of the relationship, we are left with a high bias.</a:t>
            </a:r>
          </a:p>
          <a:p>
            <a:pPr algn="just"/>
            <a:r>
              <a:rPr lang="en-US" dirty="0">
                <a:latin typeface="Times New Roman" panose="02020603050405020304" pitchFamily="18" charset="0"/>
                <a:cs typeface="Times New Roman" panose="02020603050405020304" pitchFamily="18" charset="0"/>
              </a:rPr>
              <a:t>If your learning algorithm shows high bias and/or is underfitting, the following suggestions may help: </a:t>
            </a:r>
          </a:p>
          <a:p>
            <a:pPr algn="just"/>
            <a:r>
              <a:rPr lang="en-US" u="sng" dirty="0" smtClean="0">
                <a:latin typeface="Times New Roman" panose="02020603050405020304" pitchFamily="18" charset="0"/>
                <a:cs typeface="Times New Roman" panose="02020603050405020304" pitchFamily="18" charset="0"/>
              </a:rPr>
              <a:t>Use </a:t>
            </a:r>
            <a:r>
              <a:rPr lang="en-US" u="sng" dirty="0">
                <a:latin typeface="Times New Roman" panose="02020603050405020304" pitchFamily="18" charset="0"/>
                <a:cs typeface="Times New Roman" panose="02020603050405020304" pitchFamily="18" charset="0"/>
              </a:rPr>
              <a:t>more features: </a:t>
            </a:r>
            <a:r>
              <a:rPr lang="en-US" dirty="0">
                <a:latin typeface="Times New Roman" panose="02020603050405020304" pitchFamily="18" charset="0"/>
                <a:cs typeface="Times New Roman" panose="02020603050405020304" pitchFamily="18" charset="0"/>
              </a:rPr>
              <a:t>Try including new features into the model if it helps with our predictive power. </a:t>
            </a:r>
          </a:p>
          <a:p>
            <a:pPr algn="just"/>
            <a:r>
              <a:rPr lang="en-US" u="sng" dirty="0" smtClean="0">
                <a:latin typeface="Times New Roman" panose="02020603050405020304" pitchFamily="18" charset="0"/>
                <a:cs typeface="Times New Roman" panose="02020603050405020304" pitchFamily="18" charset="0"/>
              </a:rPr>
              <a:t>Try </a:t>
            </a:r>
            <a:r>
              <a:rPr lang="en-US" u="sng" dirty="0">
                <a:latin typeface="Times New Roman" panose="02020603050405020304" pitchFamily="18" charset="0"/>
                <a:cs typeface="Times New Roman" panose="02020603050405020304" pitchFamily="18" charset="0"/>
              </a:rPr>
              <a:t>a more complicated model:</a:t>
            </a:r>
            <a:r>
              <a:rPr lang="en-US" dirty="0">
                <a:latin typeface="Times New Roman" panose="02020603050405020304" pitchFamily="18" charset="0"/>
                <a:cs typeface="Times New Roman" panose="02020603050405020304" pitchFamily="18" charset="0"/>
              </a:rPr>
              <a:t> Adding complexity to your model can help improve bias. An overly complicated model will hurt too!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49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0940A0-2FFD-22FE-9E83-12E8CF59F34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57B4F0C-F204-AF3D-D5EC-8A8255EC4241}"/>
              </a:ext>
            </a:extLst>
          </p:cNvPr>
          <p:cNvSpPr>
            <a:spLocks noGrp="1"/>
          </p:cNvSpPr>
          <p:nvPr>
            <p:ph idx="1"/>
          </p:nvPr>
        </p:nvSpPr>
        <p:spPr>
          <a:xfrm>
            <a:off x="838200" y="1825625"/>
            <a:ext cx="10515600" cy="4713720"/>
          </a:xfrm>
        </p:spPr>
        <p:txBody>
          <a:bodyPr>
            <a:normAutofit fontScale="92500" lnSpcReduction="20000"/>
          </a:bodyPr>
          <a:lstStyle/>
          <a:p>
            <a:pPr algn="just"/>
            <a:r>
              <a:rPr lang="en-IN" b="1" u="sng" dirty="0" smtClean="0">
                <a:latin typeface="Times New Roman" panose="02020603050405020304" pitchFamily="18" charset="0"/>
                <a:cs typeface="Times New Roman" panose="02020603050405020304" pitchFamily="18" charset="0"/>
              </a:rPr>
              <a:t>Overfitting:</a:t>
            </a:r>
            <a:endParaRPr lang="en-IN" b="1" u="sng"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Overfitting is the result of the model trying too hard to fit into the training set, resulting in a lower bias but a much higher variance.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Models </a:t>
            </a:r>
            <a:r>
              <a:rPr lang="en-US" dirty="0">
                <a:latin typeface="Times New Roman" panose="02020603050405020304" pitchFamily="18" charset="0"/>
                <a:cs typeface="Times New Roman" panose="02020603050405020304" pitchFamily="18" charset="0"/>
              </a:rPr>
              <a:t>that are low bias and high variance are prone to overfitting.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case of the mammal brain/body weight example, the fourth degree polynomial (quartic) regression is overfitting our data.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your learning algorithm shows high variance and/or is overfitting, the following suggestions may help: </a:t>
            </a:r>
          </a:p>
          <a:p>
            <a:pPr algn="just"/>
            <a:r>
              <a:rPr lang="en-US" u="sng" dirty="0" smtClean="0">
                <a:latin typeface="Times New Roman" panose="02020603050405020304" pitchFamily="18" charset="0"/>
                <a:cs typeface="Times New Roman" panose="02020603050405020304" pitchFamily="18" charset="0"/>
              </a:rPr>
              <a:t>Use </a:t>
            </a:r>
            <a:r>
              <a:rPr lang="en-US" u="sng" dirty="0">
                <a:latin typeface="Times New Roman" panose="02020603050405020304" pitchFamily="18" charset="0"/>
                <a:cs typeface="Times New Roman" panose="02020603050405020304" pitchFamily="18" charset="0"/>
              </a:rPr>
              <a:t>fewer features:</a:t>
            </a:r>
            <a:r>
              <a:rPr lang="en-US" dirty="0">
                <a:latin typeface="Times New Roman" panose="02020603050405020304" pitchFamily="18" charset="0"/>
                <a:cs typeface="Times New Roman" panose="02020603050405020304" pitchFamily="18" charset="0"/>
              </a:rPr>
              <a:t> Using fewer features can decrease our variance and prevent overfitting </a:t>
            </a:r>
          </a:p>
          <a:p>
            <a:pPr algn="just"/>
            <a:r>
              <a:rPr lang="en-US" u="sng" dirty="0" smtClean="0">
                <a:latin typeface="Times New Roman" panose="02020603050405020304" pitchFamily="18" charset="0"/>
                <a:cs typeface="Times New Roman" panose="02020603050405020304" pitchFamily="18" charset="0"/>
              </a:rPr>
              <a:t>Fit </a:t>
            </a:r>
            <a:r>
              <a:rPr lang="en-US" u="sng" dirty="0">
                <a:latin typeface="Times New Roman" panose="02020603050405020304" pitchFamily="18" charset="0"/>
                <a:cs typeface="Times New Roman" panose="02020603050405020304" pitchFamily="18" charset="0"/>
              </a:rPr>
              <a:t>on more training samples:</a:t>
            </a:r>
            <a:r>
              <a:rPr lang="en-US" dirty="0">
                <a:latin typeface="Times New Roman" panose="02020603050405020304" pitchFamily="18" charset="0"/>
                <a:cs typeface="Times New Roman" panose="02020603050405020304" pitchFamily="18" charset="0"/>
              </a:rPr>
              <a:t> Using more training data points in our cross-validation can reduce the effect of overfitting, and improve our high variance estimator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8187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0DBFC3-A1CD-6D6D-35A6-46F99D3A572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How </a:t>
            </a:r>
            <a:r>
              <a:rPr lang="en-US" dirty="0" smtClean="0">
                <a:latin typeface="Times New Roman" panose="02020603050405020304" pitchFamily="18" charset="0"/>
                <a:cs typeface="Times New Roman" panose="02020603050405020304" pitchFamily="18" charset="0"/>
              </a:rPr>
              <a:t>Bias/Variance </a:t>
            </a:r>
            <a:r>
              <a:rPr lang="en-US" dirty="0">
                <a:latin typeface="Times New Roman" panose="02020603050405020304" pitchFamily="18" charset="0"/>
                <a:cs typeface="Times New Roman" panose="02020603050405020304" pitchFamily="18" charset="0"/>
              </a:rPr>
              <a:t>play into error functions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E0FF0EF-6A6B-79AB-592C-6CAA7E908EAF}"/>
              </a:ext>
            </a:extLst>
          </p:cNvPr>
          <p:cNvSpPr>
            <a:spLocks noGrp="1"/>
          </p:cNvSpPr>
          <p:nvPr>
            <p:ph idx="1"/>
          </p:nvPr>
        </p:nvSpPr>
        <p:spPr/>
        <p:txBody>
          <a:bodyPr/>
          <a:lstStyle/>
          <a:p>
            <a:pPr algn="just"/>
            <a:r>
              <a:rPr lang="en-US" dirty="0"/>
              <a:t>Error functions (that measure how incorrect our models are) can be thought of as functions of bias, variance, and irreducible error. Mathematically put, the error of predicting a dataset using our supervised learning model might look as follows: </a:t>
            </a:r>
          </a:p>
          <a:p>
            <a:pPr algn="just"/>
            <a:r>
              <a:rPr lang="en-US" i="1" dirty="0"/>
              <a:t>Error (x) = Bias</a:t>
            </a:r>
            <a:r>
              <a:rPr lang="en-US" i="1" baseline="30000" dirty="0"/>
              <a:t>2</a:t>
            </a:r>
            <a:r>
              <a:rPr lang="en-US" i="1" dirty="0"/>
              <a:t> + Variance + Irreducible Error</a:t>
            </a:r>
          </a:p>
          <a:p>
            <a:pPr algn="just"/>
            <a:r>
              <a:rPr lang="en-US" dirty="0"/>
              <a:t>Here, Bias</a:t>
            </a:r>
            <a:r>
              <a:rPr lang="en-US" baseline="30000" dirty="0"/>
              <a:t>2</a:t>
            </a:r>
            <a:r>
              <a:rPr lang="en-US" dirty="0"/>
              <a:t> is our bias term squared (arises when simplifying the mentioned statement from more complicated equations), Variance is a measurement of how much our model fitting varies between randomized samples.</a:t>
            </a:r>
            <a:endParaRPr lang="en-IN" dirty="0"/>
          </a:p>
        </p:txBody>
      </p:sp>
    </p:spTree>
    <p:extLst>
      <p:ext uri="{BB962C8B-B14F-4D97-AF65-F5344CB8AC3E}">
        <p14:creationId xmlns:p14="http://schemas.microsoft.com/office/powerpoint/2010/main" val="1948654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98C5B8A-7311-E14D-147E-0E843730814B}"/>
              </a:ext>
            </a:extLst>
          </p:cNvPr>
          <p:cNvSpPr>
            <a:spLocks noGrp="1"/>
          </p:cNvSpPr>
          <p:nvPr>
            <p:ph idx="1"/>
          </p:nvPr>
        </p:nvSpPr>
        <p:spPr>
          <a:xfrm>
            <a:off x="838200" y="314793"/>
            <a:ext cx="10515600" cy="5862170"/>
          </a:xfrm>
        </p:spPr>
        <p:txBody>
          <a:bodyPr/>
          <a:lstStyle/>
          <a:p>
            <a:pPr algn="just"/>
            <a:r>
              <a:rPr lang="en-US" dirty="0">
                <a:latin typeface="Times New Roman" panose="02020603050405020304" pitchFamily="18" charset="0"/>
                <a:cs typeface="Times New Roman" panose="02020603050405020304" pitchFamily="18" charset="0"/>
              </a:rPr>
              <a:t>Simply put, both bias and variance contribute to errors.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As </a:t>
            </a:r>
            <a:r>
              <a:rPr lang="en-US" dirty="0">
                <a:latin typeface="Times New Roman" panose="02020603050405020304" pitchFamily="18" charset="0"/>
                <a:cs typeface="Times New Roman" panose="02020603050405020304" pitchFamily="18" charset="0"/>
              </a:rPr>
              <a:t>we increase our model complexity (for example, go from a linear regression to an eighth degree polynomial regression or grow our decision trees deeper), we find that Bias2 decreases, variance increases, and the total error of the model forms a parabolic shape, as illustrated:</a:t>
            </a:r>
          </a:p>
          <a:p>
            <a:pPr algn="just"/>
            <a:endParaRPr lang="en-IN" dirty="0"/>
          </a:p>
        </p:txBody>
      </p:sp>
      <p:pic>
        <p:nvPicPr>
          <p:cNvPr id="5" name="Picture 4">
            <a:extLst>
              <a:ext uri="{FF2B5EF4-FFF2-40B4-BE49-F238E27FC236}">
                <a16:creationId xmlns="" xmlns:a16="http://schemas.microsoft.com/office/drawing/2014/main" id="{B6136C9B-3F4E-413D-70AD-D7310599E56C}"/>
              </a:ext>
            </a:extLst>
          </p:cNvPr>
          <p:cNvPicPr>
            <a:picLocks noChangeAspect="1"/>
          </p:cNvPicPr>
          <p:nvPr/>
        </p:nvPicPr>
        <p:blipFill>
          <a:blip r:embed="rId2"/>
          <a:stretch>
            <a:fillRect/>
          </a:stretch>
        </p:blipFill>
        <p:spPr>
          <a:xfrm>
            <a:off x="2049983" y="2889432"/>
            <a:ext cx="5847108" cy="3680601"/>
          </a:xfrm>
          <a:prstGeom prst="rect">
            <a:avLst/>
          </a:prstGeom>
        </p:spPr>
      </p:pic>
    </p:spTree>
    <p:extLst>
      <p:ext uri="{BB962C8B-B14F-4D97-AF65-F5344CB8AC3E}">
        <p14:creationId xmlns:p14="http://schemas.microsoft.com/office/powerpoint/2010/main" val="2406395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61E5FAA-84CE-BF8A-3E34-AE341691ED22}"/>
              </a:ext>
            </a:extLst>
          </p:cNvPr>
          <p:cNvSpPr>
            <a:spLocks noGrp="1"/>
          </p:cNvSpPr>
          <p:nvPr>
            <p:ph idx="1"/>
          </p:nvPr>
        </p:nvSpPr>
        <p:spPr>
          <a:xfrm>
            <a:off x="838200" y="568036"/>
            <a:ext cx="10515600" cy="5608927"/>
          </a:xfrm>
        </p:spPr>
        <p:txBody>
          <a:bodyPr>
            <a:normAutofit/>
          </a:bodyPr>
          <a:lstStyle/>
          <a:p>
            <a:pPr algn="just"/>
            <a:r>
              <a:rPr lang="en-US" dirty="0"/>
              <a:t>Our goal, as data scientists, is to find the sweet spot that optimizes our model complexity. </a:t>
            </a:r>
            <a:endParaRPr lang="en-US" dirty="0" smtClean="0"/>
          </a:p>
          <a:p>
            <a:pPr algn="just"/>
            <a:r>
              <a:rPr lang="en-US" dirty="0" smtClean="0"/>
              <a:t>It </a:t>
            </a:r>
            <a:r>
              <a:rPr lang="en-US" dirty="0"/>
              <a:t>is easy to overfit our data. </a:t>
            </a:r>
            <a:endParaRPr lang="en-US" dirty="0" smtClean="0"/>
          </a:p>
          <a:p>
            <a:pPr algn="just"/>
            <a:r>
              <a:rPr lang="en-US" dirty="0" smtClean="0"/>
              <a:t>To </a:t>
            </a:r>
            <a:r>
              <a:rPr lang="en-US" dirty="0"/>
              <a:t>combat overfitting in practice, we should always use cross-validation (splitting up datasets iteratively and retraining models and averaging metrics) to get the best predictor of an error. </a:t>
            </a:r>
            <a:endParaRPr lang="en-US" dirty="0" smtClean="0"/>
          </a:p>
          <a:p>
            <a:pPr algn="just"/>
            <a:r>
              <a:rPr lang="en-US" dirty="0" smtClean="0"/>
              <a:t>To </a:t>
            </a:r>
            <a:r>
              <a:rPr lang="en-US" dirty="0"/>
              <a:t>illustrate this point, I will introduce (quickly) a new supervised algorithm and demonstrate the bias/variance tradeoff visually. </a:t>
            </a:r>
            <a:endParaRPr lang="en-US" dirty="0" smtClean="0"/>
          </a:p>
          <a:p>
            <a:pPr algn="just"/>
            <a:r>
              <a:rPr lang="en-US" dirty="0" smtClean="0"/>
              <a:t>We </a:t>
            </a:r>
            <a:r>
              <a:rPr lang="en-US" dirty="0"/>
              <a:t>will be using the K-Nearest Neighbors (KNN) algorithm, which is a supervised learning algorithm that uses a lookalike paradigm, which means that it makes predictions based on similar data points seen in the past.</a:t>
            </a:r>
            <a:endParaRPr lang="en-IN" dirty="0"/>
          </a:p>
        </p:txBody>
      </p:sp>
    </p:spTree>
    <p:extLst>
      <p:ext uri="{BB962C8B-B14F-4D97-AF65-F5344CB8AC3E}">
        <p14:creationId xmlns:p14="http://schemas.microsoft.com/office/powerpoint/2010/main" val="185928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F2313C5-2A5E-C982-7001-5FD75887575A}"/>
              </a:ext>
            </a:extLst>
          </p:cNvPr>
          <p:cNvSpPr>
            <a:spLocks noGrp="1"/>
          </p:cNvSpPr>
          <p:nvPr>
            <p:ph idx="1"/>
          </p:nvPr>
        </p:nvSpPr>
        <p:spPr>
          <a:xfrm>
            <a:off x="838199" y="290946"/>
            <a:ext cx="10965873" cy="6220690"/>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KNN has a complexity input, K, which represents how many similar data points to compare to.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K = 3, then, for a given input, we look to the nearest three data points and use them for our prediction.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case, K represents our model complexity.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from </a:t>
            </a:r>
            <a:r>
              <a:rPr lang="en-US" dirty="0" err="1">
                <a:latin typeface="Century Gothic" panose="020B0502020202020204" pitchFamily="34" charset="0"/>
                <a:cs typeface="Times New Roman" panose="02020603050405020304" pitchFamily="18" charset="0"/>
              </a:rPr>
              <a:t>sklearn.neighbors</a:t>
            </a:r>
            <a:r>
              <a:rPr lang="en-US" dirty="0">
                <a:latin typeface="Century Gothic" panose="020B0502020202020204" pitchFamily="34" charset="0"/>
                <a:cs typeface="Times New Roman" panose="02020603050405020304" pitchFamily="18" charset="0"/>
              </a:rPr>
              <a:t> import </a:t>
            </a:r>
            <a:r>
              <a:rPr lang="en-US" dirty="0" err="1">
                <a:latin typeface="Century Gothic" panose="020B0502020202020204" pitchFamily="34" charset="0"/>
                <a:cs typeface="Times New Roman" panose="02020603050405020304" pitchFamily="18" charset="0"/>
              </a:rPr>
              <a:t>KNeighborsClassifier</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read in the iris data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from </a:t>
            </a:r>
            <a:r>
              <a:rPr lang="en-US" dirty="0" err="1">
                <a:latin typeface="Century Gothic" panose="020B0502020202020204" pitchFamily="34" charset="0"/>
                <a:cs typeface="Times New Roman" panose="02020603050405020304" pitchFamily="18" charset="0"/>
              </a:rPr>
              <a:t>sklearn.datasets</a:t>
            </a:r>
            <a:r>
              <a:rPr lang="en-US" dirty="0">
                <a:latin typeface="Century Gothic" panose="020B0502020202020204" pitchFamily="34" charset="0"/>
                <a:cs typeface="Times New Roman" panose="02020603050405020304" pitchFamily="18" charset="0"/>
              </a:rPr>
              <a:t> import </a:t>
            </a:r>
            <a:r>
              <a:rPr lang="en-US" dirty="0" err="1">
                <a:latin typeface="Century Gothic" panose="020B0502020202020204" pitchFamily="34" charset="0"/>
                <a:cs typeface="Times New Roman" panose="02020603050405020304" pitchFamily="18" charset="0"/>
              </a:rPr>
              <a:t>load_iris</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iris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load_iris</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X</a:t>
            </a:r>
            <a:r>
              <a:rPr lang="en-US" dirty="0">
                <a:latin typeface="Century Gothic" panose="020B0502020202020204" pitchFamily="34" charset="0"/>
                <a:cs typeface="Times New Roman" panose="02020603050405020304" pitchFamily="18" charset="0"/>
              </a:rPr>
              <a:t>, y = </a:t>
            </a:r>
            <a:r>
              <a:rPr lang="en-US" dirty="0" err="1">
                <a:latin typeface="Century Gothic" panose="020B0502020202020204" pitchFamily="34" charset="0"/>
                <a:cs typeface="Times New Roman" panose="02020603050405020304" pitchFamily="18" charset="0"/>
              </a:rPr>
              <a:t>iris.data</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iris.target</a:t>
            </a:r>
            <a:endParaRPr lang="en-US" dirty="0">
              <a:latin typeface="Century Gothic" panose="020B0502020202020204" pitchFamily="34"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we have our X and our y. A great way to overfit a model is to train and predict on the exact same data. </a:t>
            </a:r>
            <a:endParaRPr lang="en-US" dirty="0" smtClean="0">
              <a:latin typeface="Times New Roman" panose="02020603050405020304" pitchFamily="18"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knn</a:t>
            </a:r>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KNeighborsClassifier</a:t>
            </a:r>
            <a:r>
              <a:rPr lang="en-US" dirty="0">
                <a:latin typeface="Century Gothic" panose="020B0502020202020204" pitchFamily="34" charset="0"/>
                <a:cs typeface="Times New Roman" panose="02020603050405020304" pitchFamily="18" charset="0"/>
              </a:rPr>
              <a:t>(</a:t>
            </a:r>
            <a:r>
              <a:rPr lang="en-US" dirty="0" err="1">
                <a:latin typeface="Century Gothic" panose="020B0502020202020204" pitchFamily="34" charset="0"/>
                <a:cs typeface="Times New Roman" panose="02020603050405020304" pitchFamily="18" charset="0"/>
              </a:rPr>
              <a:t>n_neighbors</a:t>
            </a:r>
            <a:r>
              <a:rPr lang="en-US" dirty="0">
                <a:latin typeface="Century Gothic" panose="020B0502020202020204" pitchFamily="34" charset="0"/>
                <a:cs typeface="Times New Roman" panose="02020603050405020304" pitchFamily="18" charset="0"/>
              </a:rPr>
              <a:t>=1)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knn.fit</a:t>
            </a:r>
            <a:r>
              <a:rPr lang="en-US" dirty="0" smtClean="0">
                <a:latin typeface="Century Gothic" panose="020B0502020202020204" pitchFamily="34" charset="0"/>
                <a:cs typeface="Times New Roman" panose="02020603050405020304" pitchFamily="18" charset="0"/>
              </a:rPr>
              <a:t>(X</a:t>
            </a:r>
            <a:r>
              <a:rPr lang="en-US" dirty="0">
                <a:latin typeface="Century Gothic" panose="020B0502020202020204" pitchFamily="34" charset="0"/>
                <a:cs typeface="Times New Roman" panose="02020603050405020304" pitchFamily="18" charset="0"/>
              </a:rPr>
              <a:t>, y)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knn.score</a:t>
            </a:r>
            <a:r>
              <a:rPr lang="en-US" dirty="0" smtClean="0">
                <a:latin typeface="Century Gothic" panose="020B0502020202020204" pitchFamily="34" charset="0"/>
                <a:cs typeface="Times New Roman" panose="02020603050405020304" pitchFamily="18" charset="0"/>
              </a:rPr>
              <a:t>(X</a:t>
            </a:r>
            <a:r>
              <a:rPr lang="en-US" dirty="0">
                <a:latin typeface="Century Gothic" panose="020B0502020202020204" pitchFamily="34" charset="0"/>
                <a:cs typeface="Times New Roman" panose="02020603050405020304" pitchFamily="18" charset="0"/>
              </a:rPr>
              <a:t>, y)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1.0 </a:t>
            </a:r>
          </a:p>
          <a:p>
            <a:r>
              <a:rPr lang="en-US" dirty="0" smtClean="0">
                <a:latin typeface="Times New Roman" panose="02020603050405020304" pitchFamily="18" charset="0"/>
                <a:cs typeface="Times New Roman" panose="02020603050405020304" pitchFamily="18" charset="0"/>
              </a:rPr>
              <a:t>Wow</a:t>
            </a:r>
            <a:r>
              <a:rPr lang="en-US" dirty="0">
                <a:latin typeface="Times New Roman" panose="02020603050405020304" pitchFamily="18" charset="0"/>
                <a:cs typeface="Times New Roman" panose="02020603050405020304" pitchFamily="18" charset="0"/>
              </a:rPr>
              <a:t>, a 100% accuracy?!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too good to be true.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training and predicting on the same data, we are essentially telling our data to purely memorize the training set and spit it back to us (this is called our training error).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090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57581E-099F-4233-58DC-7763AABFC05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K folds cross-validation</a:t>
            </a:r>
          </a:p>
        </p:txBody>
      </p:sp>
      <p:sp>
        <p:nvSpPr>
          <p:cNvPr id="3" name="Content Placeholder 2">
            <a:extLst>
              <a:ext uri="{FF2B5EF4-FFF2-40B4-BE49-F238E27FC236}">
                <a16:creationId xmlns="" xmlns:a16="http://schemas.microsoft.com/office/drawing/2014/main" id="{6EA30E7D-150B-2086-33F5-519F53579C63}"/>
              </a:ext>
            </a:extLst>
          </p:cNvPr>
          <p:cNvSpPr>
            <a:spLocks noGrp="1"/>
          </p:cNvSpPr>
          <p:nvPr>
            <p:ph idx="1"/>
          </p:nvPr>
        </p:nvSpPr>
        <p:spPr/>
        <p:txBody>
          <a:bodyPr>
            <a:normAutofit fontScale="92500"/>
          </a:bodyPr>
          <a:lstStyle/>
          <a:p>
            <a:pPr algn="just"/>
            <a:r>
              <a:rPr lang="en-US" dirty="0">
                <a:latin typeface="Times New Roman" panose="02020603050405020304" pitchFamily="18" charset="0"/>
                <a:cs typeface="Times New Roman" panose="02020603050405020304" pitchFamily="18" charset="0"/>
              </a:rPr>
              <a:t>K folds cross-validation is a much better estimator of our model's performance, even more so than our train-test split. Here's how it works: </a:t>
            </a:r>
          </a:p>
          <a:p>
            <a:pPr algn="just"/>
            <a:r>
              <a:rPr lang="en-US" dirty="0">
                <a:latin typeface="Times New Roman" panose="02020603050405020304" pitchFamily="18" charset="0"/>
                <a:cs typeface="Times New Roman" panose="02020603050405020304" pitchFamily="18" charset="0"/>
              </a:rPr>
              <a:t>1. We will take a finite number of equal slices of our data (usually 3, 5, or 10). Assume that this number is called k. </a:t>
            </a:r>
          </a:p>
          <a:p>
            <a:pPr algn="just"/>
            <a:r>
              <a:rPr lang="en-US" dirty="0">
                <a:latin typeface="Times New Roman" panose="02020603050405020304" pitchFamily="18" charset="0"/>
                <a:cs typeface="Times New Roman" panose="02020603050405020304" pitchFamily="18" charset="0"/>
              </a:rPr>
              <a:t>2. For each "fold" of the cross-validation, we will treat k-1 of the sections as the training set, and the remaining section as our test set. </a:t>
            </a:r>
          </a:p>
          <a:p>
            <a:pPr algn="just"/>
            <a:r>
              <a:rPr lang="en-US" dirty="0">
                <a:latin typeface="Times New Roman" panose="02020603050405020304" pitchFamily="18" charset="0"/>
                <a:cs typeface="Times New Roman" panose="02020603050405020304" pitchFamily="18" charset="0"/>
              </a:rPr>
              <a:t>3. For the remaining folds, a different arrangement of k-1 sections is considered for our training set and a different section is our training set. </a:t>
            </a:r>
          </a:p>
          <a:p>
            <a:pPr algn="just"/>
            <a:r>
              <a:rPr lang="en-US" dirty="0">
                <a:latin typeface="Times New Roman" panose="02020603050405020304" pitchFamily="18" charset="0"/>
                <a:cs typeface="Times New Roman" panose="02020603050405020304" pitchFamily="18" charset="0"/>
              </a:rPr>
              <a:t>4. We compute a set metric for each fold of the cross-validation. </a:t>
            </a:r>
          </a:p>
          <a:p>
            <a:pPr algn="just"/>
            <a:r>
              <a:rPr lang="en-US" dirty="0">
                <a:latin typeface="Times New Roman" panose="02020603050405020304" pitchFamily="18" charset="0"/>
                <a:cs typeface="Times New Roman" panose="02020603050405020304" pitchFamily="18" charset="0"/>
              </a:rPr>
              <a:t>5. We average our scores at the end.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102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FF0CE3C-994D-8021-0C80-1A4FB66D0C3F}"/>
              </a:ext>
            </a:extLst>
          </p:cNvPr>
          <p:cNvSpPr>
            <a:spLocks noGrp="1"/>
          </p:cNvSpPr>
          <p:nvPr>
            <p:ph idx="1"/>
          </p:nvPr>
        </p:nvSpPr>
        <p:spPr>
          <a:xfrm>
            <a:off x="838200" y="387926"/>
            <a:ext cx="10515600" cy="6123709"/>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Cross-validation is effectively using multiple train-test splits being done on the same dataset.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done for a few reasons, but mainly because cross-validation is the most honest estimate of our model's out of the sample error.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explain this visually, let's look at our mammal brain and body weight example for a second.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following code manually creates a five-fold cross-validation, wherein five different training and test sets are made from the same population: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from </a:t>
            </a:r>
            <a:r>
              <a:rPr lang="en-US" dirty="0" err="1">
                <a:latin typeface="Century Gothic" panose="020B0502020202020204" pitchFamily="34" charset="0"/>
                <a:cs typeface="Times New Roman" panose="02020603050405020304" pitchFamily="18" charset="0"/>
              </a:rPr>
              <a:t>sklearn.cross_validation</a:t>
            </a:r>
            <a:r>
              <a:rPr lang="en-US" dirty="0">
                <a:latin typeface="Century Gothic" panose="020B0502020202020204" pitchFamily="34" charset="0"/>
                <a:cs typeface="Times New Roman" panose="02020603050405020304" pitchFamily="18" charset="0"/>
              </a:rPr>
              <a:t> </a:t>
            </a:r>
            <a:r>
              <a:rPr lang="en-US" dirty="0" smtClean="0">
                <a:latin typeface="Century Gothic" panose="020B0502020202020204" pitchFamily="34" charset="0"/>
                <a:cs typeface="Times New Roman" panose="02020603050405020304" pitchFamily="18" charset="0"/>
              </a:rPr>
              <a:t>import </a:t>
            </a:r>
            <a:r>
              <a:rPr lang="en-US" dirty="0" err="1">
                <a:latin typeface="Century Gothic" panose="020B0502020202020204" pitchFamily="34" charset="0"/>
                <a:cs typeface="Times New Roman" panose="02020603050405020304" pitchFamily="18" charset="0"/>
              </a:rPr>
              <a:t>KFold</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df</a:t>
            </a:r>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pd.read_table</a:t>
            </a:r>
            <a:r>
              <a:rPr lang="en-US" dirty="0">
                <a:latin typeface="Century Gothic" panose="020B0502020202020204" pitchFamily="34" charset="0"/>
                <a:cs typeface="Times New Roman" panose="02020603050405020304" pitchFamily="18" charset="0"/>
              </a:rPr>
              <a:t>('http://people.sc.fsu.edu/~</a:t>
            </a:r>
            <a:r>
              <a:rPr lang="en-US" dirty="0" err="1">
                <a:latin typeface="Century Gothic" panose="020B0502020202020204" pitchFamily="34" charset="0"/>
                <a:cs typeface="Times New Roman" panose="02020603050405020304" pitchFamily="18" charset="0"/>
              </a:rPr>
              <a:t>jburkardt</a:t>
            </a:r>
            <a:r>
              <a:rPr lang="en-US" dirty="0">
                <a:latin typeface="Century Gothic" panose="020B0502020202020204" pitchFamily="34" charset="0"/>
                <a:cs typeface="Times New Roman" panose="02020603050405020304" pitchFamily="18" charset="0"/>
              </a:rPr>
              <a:t>/ datasets/regression/x01.txt', </a:t>
            </a:r>
            <a:r>
              <a:rPr lang="en-US" dirty="0" err="1">
                <a:latin typeface="Century Gothic" panose="020B0502020202020204" pitchFamily="34" charset="0"/>
                <a:cs typeface="Times New Roman" panose="02020603050405020304" pitchFamily="18" charset="0"/>
              </a:rPr>
              <a:t>sep</a:t>
            </a:r>
            <a:r>
              <a:rPr lang="en-US" dirty="0">
                <a:latin typeface="Century Gothic" panose="020B0502020202020204" pitchFamily="34" charset="0"/>
                <a:cs typeface="Times New Roman" panose="02020603050405020304" pitchFamily="18" charset="0"/>
              </a:rPr>
              <a:t>='\s+', </a:t>
            </a:r>
            <a:r>
              <a:rPr lang="en-US" dirty="0" err="1">
                <a:latin typeface="Century Gothic" panose="020B0502020202020204" pitchFamily="34" charset="0"/>
                <a:cs typeface="Times New Roman" panose="02020603050405020304" pitchFamily="18" charset="0"/>
              </a:rPr>
              <a:t>skiprows</a:t>
            </a:r>
            <a:r>
              <a:rPr lang="en-US" dirty="0">
                <a:latin typeface="Century Gothic" panose="020B0502020202020204" pitchFamily="34" charset="0"/>
                <a:cs typeface="Times New Roman" panose="02020603050405020304" pitchFamily="18" charset="0"/>
              </a:rPr>
              <a:t>=33, names=['</a:t>
            </a:r>
            <a:r>
              <a:rPr lang="en-US" dirty="0" err="1">
                <a:latin typeface="Century Gothic" panose="020B0502020202020204" pitchFamily="34" charset="0"/>
                <a:cs typeface="Times New Roman" panose="02020603050405020304" pitchFamily="18" charset="0"/>
              </a:rPr>
              <a:t>id','brain','body</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df</a:t>
            </a:r>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df</a:t>
            </a:r>
            <a:r>
              <a:rPr lang="en-US" dirty="0">
                <a:latin typeface="Century Gothic" panose="020B0502020202020204" pitchFamily="34" charset="0"/>
                <a:cs typeface="Times New Roman" panose="02020603050405020304" pitchFamily="18" charset="0"/>
              </a:rPr>
              <a:t>[</a:t>
            </a:r>
            <a:r>
              <a:rPr lang="en-US" dirty="0" err="1">
                <a:latin typeface="Century Gothic" panose="020B0502020202020204" pitchFamily="34" charset="0"/>
                <a:cs typeface="Times New Roman" panose="02020603050405020304" pitchFamily="18" charset="0"/>
              </a:rPr>
              <a:t>df.brain</a:t>
            </a:r>
            <a:r>
              <a:rPr lang="en-US" dirty="0">
                <a:latin typeface="Century Gothic" panose="020B0502020202020204" pitchFamily="34" charset="0"/>
                <a:cs typeface="Times New Roman" panose="02020603050405020304" pitchFamily="18" charset="0"/>
              </a:rPr>
              <a:t> &lt; 300</a:t>
            </a:r>
            <a:r>
              <a:rPr lang="en-US" dirty="0" smtClean="0">
                <a:latin typeface="Century Gothic" panose="020B0502020202020204" pitchFamily="34" charset="0"/>
                <a:cs typeface="Times New Roman" panose="02020603050405020304" pitchFamily="18" charset="0"/>
              </a:rPr>
              <a:t>][</a:t>
            </a:r>
            <a:r>
              <a:rPr lang="en-US" dirty="0" err="1">
                <a:latin typeface="Century Gothic" panose="020B0502020202020204" pitchFamily="34" charset="0"/>
                <a:cs typeface="Times New Roman" panose="02020603050405020304" pitchFamily="18" charset="0"/>
              </a:rPr>
              <a:t>df.body</a:t>
            </a:r>
            <a:r>
              <a:rPr lang="en-US" dirty="0">
                <a:latin typeface="Century Gothic" panose="020B0502020202020204" pitchFamily="34" charset="0"/>
                <a:cs typeface="Times New Roman" panose="02020603050405020304" pitchFamily="18" charset="0"/>
              </a:rPr>
              <a:t> &lt; 500]</a:t>
            </a:r>
            <a:endParaRPr lang="en-IN" dirty="0">
              <a:latin typeface="Century Gothic" panose="020B0502020202020204" pitchFamily="34" charset="0"/>
              <a:cs typeface="Times New Roman" panose="02020603050405020304" pitchFamily="18" charset="0"/>
            </a:endParaRPr>
          </a:p>
        </p:txBody>
      </p:sp>
    </p:spTree>
    <p:extLst>
      <p:ext uri="{BB962C8B-B14F-4D97-AF65-F5344CB8AC3E}">
        <p14:creationId xmlns:p14="http://schemas.microsoft.com/office/powerpoint/2010/main" val="2737913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4125BD-2629-EF6E-BDF0-5557858B3629}"/>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A4BACBC7-310B-2EF1-5F7E-D4AC529FEE6A}"/>
              </a:ext>
            </a:extLst>
          </p:cNvPr>
          <p:cNvSpPr>
            <a:spLocks noGrp="1"/>
          </p:cNvSpPr>
          <p:nvPr>
            <p:ph idx="1"/>
          </p:nvPr>
        </p:nvSpPr>
        <p:spPr/>
        <p:txBody>
          <a:bodyPr>
            <a:normAutofit lnSpcReduction="10000"/>
          </a:bodyPr>
          <a:lstStyle/>
          <a:p>
            <a:r>
              <a:rPr lang="en-IN" dirty="0">
                <a:latin typeface="Century Gothic" panose="020B0502020202020204" pitchFamily="34" charset="0"/>
              </a:rPr>
              <a:t># limit points for visibility </a:t>
            </a:r>
            <a:endParaRPr lang="en-IN" dirty="0" smtClean="0">
              <a:latin typeface="Century Gothic" panose="020B0502020202020204" pitchFamily="34" charset="0"/>
            </a:endParaRPr>
          </a:p>
          <a:p>
            <a:r>
              <a:rPr lang="en-IN" dirty="0" err="1" smtClean="0">
                <a:latin typeface="Century Gothic" panose="020B0502020202020204" pitchFamily="34" charset="0"/>
              </a:rPr>
              <a:t>nfolds</a:t>
            </a:r>
            <a:r>
              <a:rPr lang="en-IN" dirty="0" smtClean="0">
                <a:latin typeface="Century Gothic" panose="020B0502020202020204" pitchFamily="34" charset="0"/>
              </a:rPr>
              <a:t> </a:t>
            </a:r>
            <a:r>
              <a:rPr lang="en-IN" dirty="0">
                <a:latin typeface="Century Gothic" panose="020B0502020202020204" pitchFamily="34" charset="0"/>
              </a:rPr>
              <a:t>= 5 </a:t>
            </a:r>
            <a:endParaRPr lang="en-IN" dirty="0" smtClean="0">
              <a:latin typeface="Century Gothic" panose="020B0502020202020204" pitchFamily="34" charset="0"/>
            </a:endParaRPr>
          </a:p>
          <a:p>
            <a:r>
              <a:rPr lang="en-IN" dirty="0" smtClean="0">
                <a:latin typeface="Century Gothic" panose="020B0502020202020204" pitchFamily="34" charset="0"/>
              </a:rPr>
              <a:t>fig</a:t>
            </a:r>
            <a:r>
              <a:rPr lang="en-IN" dirty="0">
                <a:latin typeface="Century Gothic" panose="020B0502020202020204" pitchFamily="34" charset="0"/>
              </a:rPr>
              <a:t>, axes = </a:t>
            </a:r>
            <a:r>
              <a:rPr lang="en-IN" dirty="0" err="1">
                <a:latin typeface="Century Gothic" panose="020B0502020202020204" pitchFamily="34" charset="0"/>
              </a:rPr>
              <a:t>plt.subplots</a:t>
            </a:r>
            <a:r>
              <a:rPr lang="en-IN" dirty="0">
                <a:latin typeface="Century Gothic" panose="020B0502020202020204" pitchFamily="34" charset="0"/>
              </a:rPr>
              <a:t>(1, </a:t>
            </a:r>
            <a:r>
              <a:rPr lang="en-IN" dirty="0" err="1">
                <a:latin typeface="Century Gothic" panose="020B0502020202020204" pitchFamily="34" charset="0"/>
              </a:rPr>
              <a:t>nfolds</a:t>
            </a:r>
            <a:r>
              <a:rPr lang="en-IN" dirty="0">
                <a:latin typeface="Century Gothic" panose="020B0502020202020204" pitchFamily="34" charset="0"/>
              </a:rPr>
              <a:t>, </a:t>
            </a:r>
            <a:r>
              <a:rPr lang="en-IN" dirty="0" err="1">
                <a:latin typeface="Century Gothic" panose="020B0502020202020204" pitchFamily="34" charset="0"/>
              </a:rPr>
              <a:t>figsize</a:t>
            </a:r>
            <a:r>
              <a:rPr lang="en-IN" dirty="0">
                <a:latin typeface="Century Gothic" panose="020B0502020202020204" pitchFamily="34" charset="0"/>
              </a:rPr>
              <a:t>=(14,4)) </a:t>
            </a:r>
            <a:endParaRPr lang="en-IN" dirty="0" smtClean="0">
              <a:latin typeface="Century Gothic" panose="020B0502020202020204" pitchFamily="34" charset="0"/>
            </a:endParaRPr>
          </a:p>
          <a:p>
            <a:r>
              <a:rPr lang="en-IN" dirty="0" smtClean="0">
                <a:latin typeface="Century Gothic" panose="020B0502020202020204" pitchFamily="34" charset="0"/>
              </a:rPr>
              <a:t>for </a:t>
            </a:r>
            <a:r>
              <a:rPr lang="en-IN" dirty="0" err="1">
                <a:latin typeface="Century Gothic" panose="020B0502020202020204" pitchFamily="34" charset="0"/>
              </a:rPr>
              <a:t>i</a:t>
            </a:r>
            <a:r>
              <a:rPr lang="en-IN" dirty="0">
                <a:latin typeface="Century Gothic" panose="020B0502020202020204" pitchFamily="34" charset="0"/>
              </a:rPr>
              <a:t>, fold in enumerate(</a:t>
            </a:r>
            <a:r>
              <a:rPr lang="en-IN" dirty="0" err="1">
                <a:latin typeface="Century Gothic" panose="020B0502020202020204" pitchFamily="34" charset="0"/>
              </a:rPr>
              <a:t>KFold</a:t>
            </a:r>
            <a:r>
              <a:rPr lang="en-IN" dirty="0">
                <a:latin typeface="Century Gothic" panose="020B0502020202020204" pitchFamily="34" charset="0"/>
              </a:rPr>
              <a:t>(</a:t>
            </a:r>
            <a:r>
              <a:rPr lang="en-IN" dirty="0" err="1">
                <a:latin typeface="Century Gothic" panose="020B0502020202020204" pitchFamily="34" charset="0"/>
              </a:rPr>
              <a:t>len</a:t>
            </a:r>
            <a:r>
              <a:rPr lang="en-IN" dirty="0">
                <a:latin typeface="Century Gothic" panose="020B0502020202020204" pitchFamily="34" charset="0"/>
              </a:rPr>
              <a:t>(</a:t>
            </a:r>
            <a:r>
              <a:rPr lang="en-IN" dirty="0" err="1">
                <a:latin typeface="Century Gothic" panose="020B0502020202020204" pitchFamily="34" charset="0"/>
              </a:rPr>
              <a:t>df</a:t>
            </a:r>
            <a:r>
              <a:rPr lang="en-IN" dirty="0">
                <a:latin typeface="Century Gothic" panose="020B0502020202020204" pitchFamily="34" charset="0"/>
              </a:rPr>
              <a:t>), </a:t>
            </a:r>
            <a:r>
              <a:rPr lang="en-IN" dirty="0" err="1">
                <a:latin typeface="Century Gothic" panose="020B0502020202020204" pitchFamily="34" charset="0"/>
              </a:rPr>
              <a:t>n_folds</a:t>
            </a:r>
            <a:r>
              <a:rPr lang="en-IN" dirty="0">
                <a:latin typeface="Century Gothic" panose="020B0502020202020204" pitchFamily="34" charset="0"/>
              </a:rPr>
              <a:t>=</a:t>
            </a:r>
            <a:r>
              <a:rPr lang="en-IN" dirty="0" err="1">
                <a:latin typeface="Century Gothic" panose="020B0502020202020204" pitchFamily="34" charset="0"/>
              </a:rPr>
              <a:t>nfolds</a:t>
            </a:r>
            <a:r>
              <a:rPr lang="en-IN" dirty="0">
                <a:latin typeface="Century Gothic" panose="020B0502020202020204" pitchFamily="34" charset="0"/>
              </a:rPr>
              <a:t>, shuffle=True)): </a:t>
            </a:r>
            <a:r>
              <a:rPr lang="en-IN" dirty="0" smtClean="0">
                <a:latin typeface="Century Gothic" panose="020B0502020202020204" pitchFamily="34" charset="0"/>
              </a:rPr>
              <a:t>	training</a:t>
            </a:r>
            <a:r>
              <a:rPr lang="en-IN" dirty="0">
                <a:latin typeface="Century Gothic" panose="020B0502020202020204" pitchFamily="34" charset="0"/>
              </a:rPr>
              <a:t>, validation = fold </a:t>
            </a:r>
          </a:p>
          <a:p>
            <a:pPr lvl="1"/>
            <a:r>
              <a:rPr lang="en-IN" dirty="0" smtClean="0">
                <a:latin typeface="Century Gothic" panose="020B0502020202020204" pitchFamily="34" charset="0"/>
              </a:rPr>
              <a:t>x</a:t>
            </a:r>
            <a:r>
              <a:rPr lang="en-IN" dirty="0">
                <a:latin typeface="Century Gothic" panose="020B0502020202020204" pitchFamily="34" charset="0"/>
              </a:rPr>
              <a:t>, y = </a:t>
            </a:r>
            <a:r>
              <a:rPr lang="en-IN" dirty="0" err="1">
                <a:latin typeface="Century Gothic" panose="020B0502020202020204" pitchFamily="34" charset="0"/>
              </a:rPr>
              <a:t>df.iloc</a:t>
            </a:r>
            <a:r>
              <a:rPr lang="en-IN" dirty="0">
                <a:latin typeface="Century Gothic" panose="020B0502020202020204" pitchFamily="34" charset="0"/>
              </a:rPr>
              <a:t>[training]['body'], </a:t>
            </a:r>
            <a:r>
              <a:rPr lang="en-IN" dirty="0" err="1">
                <a:latin typeface="Century Gothic" panose="020B0502020202020204" pitchFamily="34" charset="0"/>
              </a:rPr>
              <a:t>df.iloc</a:t>
            </a:r>
            <a:r>
              <a:rPr lang="en-IN" dirty="0">
                <a:latin typeface="Century Gothic" panose="020B0502020202020204" pitchFamily="34" charset="0"/>
              </a:rPr>
              <a:t>[training]['brain'] </a:t>
            </a:r>
            <a:endParaRPr lang="en-IN" dirty="0" smtClean="0">
              <a:latin typeface="Century Gothic" panose="020B0502020202020204" pitchFamily="34" charset="0"/>
            </a:endParaRPr>
          </a:p>
          <a:p>
            <a:pPr lvl="1"/>
            <a:r>
              <a:rPr lang="en-IN" dirty="0" smtClean="0">
                <a:latin typeface="Century Gothic" panose="020B0502020202020204" pitchFamily="34" charset="0"/>
              </a:rPr>
              <a:t>axes[</a:t>
            </a:r>
            <a:r>
              <a:rPr lang="en-IN" dirty="0" err="1" smtClean="0">
                <a:latin typeface="Century Gothic" panose="020B0502020202020204" pitchFamily="34" charset="0"/>
              </a:rPr>
              <a:t>i</a:t>
            </a:r>
            <a:r>
              <a:rPr lang="en-IN" dirty="0">
                <a:latin typeface="Century Gothic" panose="020B0502020202020204" pitchFamily="34" charset="0"/>
              </a:rPr>
              <a:t>].plot(x, y, '</a:t>
            </a:r>
            <a:r>
              <a:rPr lang="en-IN" dirty="0" err="1">
                <a:latin typeface="Century Gothic" panose="020B0502020202020204" pitchFamily="34" charset="0"/>
              </a:rPr>
              <a:t>ro</a:t>
            </a:r>
            <a:r>
              <a:rPr lang="en-IN" dirty="0">
                <a:latin typeface="Century Gothic" panose="020B0502020202020204" pitchFamily="34" charset="0"/>
              </a:rPr>
              <a:t>') </a:t>
            </a:r>
            <a:endParaRPr lang="en-IN" dirty="0" smtClean="0">
              <a:latin typeface="Century Gothic" panose="020B0502020202020204" pitchFamily="34" charset="0"/>
            </a:endParaRPr>
          </a:p>
          <a:p>
            <a:pPr lvl="1"/>
            <a:r>
              <a:rPr lang="en-IN" dirty="0" smtClean="0">
                <a:latin typeface="Century Gothic" panose="020B0502020202020204" pitchFamily="34" charset="0"/>
              </a:rPr>
              <a:t>x</a:t>
            </a:r>
            <a:r>
              <a:rPr lang="en-IN" dirty="0">
                <a:latin typeface="Century Gothic" panose="020B0502020202020204" pitchFamily="34" charset="0"/>
              </a:rPr>
              <a:t>, y = </a:t>
            </a:r>
            <a:r>
              <a:rPr lang="en-IN" dirty="0" err="1">
                <a:latin typeface="Century Gothic" panose="020B0502020202020204" pitchFamily="34" charset="0"/>
              </a:rPr>
              <a:t>df.iloc</a:t>
            </a:r>
            <a:r>
              <a:rPr lang="en-IN" dirty="0">
                <a:latin typeface="Century Gothic" panose="020B0502020202020204" pitchFamily="34" charset="0"/>
              </a:rPr>
              <a:t>[validation]['body'], </a:t>
            </a:r>
            <a:r>
              <a:rPr lang="en-IN" dirty="0" err="1">
                <a:latin typeface="Century Gothic" panose="020B0502020202020204" pitchFamily="34" charset="0"/>
              </a:rPr>
              <a:t>df.iloc</a:t>
            </a:r>
            <a:r>
              <a:rPr lang="en-IN" dirty="0">
                <a:latin typeface="Century Gothic" panose="020B0502020202020204" pitchFamily="34" charset="0"/>
              </a:rPr>
              <a:t>[validation]['brain'] axes[</a:t>
            </a:r>
            <a:r>
              <a:rPr lang="en-IN" dirty="0" err="1">
                <a:latin typeface="Century Gothic" panose="020B0502020202020204" pitchFamily="34" charset="0"/>
              </a:rPr>
              <a:t>i</a:t>
            </a:r>
            <a:r>
              <a:rPr lang="en-IN" dirty="0">
                <a:latin typeface="Century Gothic" panose="020B0502020202020204" pitchFamily="34" charset="0"/>
              </a:rPr>
              <a:t>].plot(x, y, '</a:t>
            </a:r>
            <a:r>
              <a:rPr lang="en-IN" dirty="0" err="1">
                <a:latin typeface="Century Gothic" panose="020B0502020202020204" pitchFamily="34" charset="0"/>
              </a:rPr>
              <a:t>bo</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err="1" smtClean="0">
                <a:latin typeface="Century Gothic" panose="020B0502020202020204" pitchFamily="34" charset="0"/>
              </a:rPr>
              <a:t>plt.tight_layout</a:t>
            </a:r>
            <a:r>
              <a:rPr lang="en-IN" dirty="0">
                <a:latin typeface="Century Gothic" panose="020B0502020202020204" pitchFamily="34" charset="0"/>
              </a:rPr>
              <a:t>()</a:t>
            </a:r>
          </a:p>
        </p:txBody>
      </p:sp>
    </p:spTree>
    <p:extLst>
      <p:ext uri="{BB962C8B-B14F-4D97-AF65-F5344CB8AC3E}">
        <p14:creationId xmlns:p14="http://schemas.microsoft.com/office/powerpoint/2010/main" val="51516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CE8E5EA-E811-64F2-0CD6-890C53EE6D0D}"/>
              </a:ext>
            </a:extLst>
          </p:cNvPr>
          <p:cNvSpPr>
            <a:spLocks noGrp="1"/>
          </p:cNvSpPr>
          <p:nvPr>
            <p:ph idx="1"/>
          </p:nvPr>
        </p:nvSpPr>
        <p:spPr>
          <a:xfrm>
            <a:off x="779889" y="2354262"/>
            <a:ext cx="11038038" cy="4351338"/>
          </a:xfrm>
        </p:spPr>
        <p:txBody>
          <a:bodyPr>
            <a:normAutofit fontScale="92500" lnSpcReduction="20000"/>
          </a:bodyPr>
          <a:lstStyle/>
          <a:p>
            <a:endParaRPr lang="en-US" dirty="0" smtClean="0"/>
          </a:p>
          <a:p>
            <a:endParaRPr lang="en-US" dirty="0"/>
          </a:p>
          <a:p>
            <a:endParaRPr lang="en-US" dirty="0" smtClean="0"/>
          </a:p>
          <a:p>
            <a:pPr algn="just"/>
            <a:r>
              <a:rPr lang="en-US" dirty="0" smtClean="0"/>
              <a:t>Here</a:t>
            </a:r>
            <a:r>
              <a:rPr lang="en-US" dirty="0"/>
              <a:t>, each graph shows the exact same population of mammals, but the dots are colored red if they belong to the training set of that fold and blue if they belong to the testing set. </a:t>
            </a:r>
            <a:endParaRPr lang="en-US" dirty="0" smtClean="0"/>
          </a:p>
          <a:p>
            <a:pPr algn="just"/>
            <a:r>
              <a:rPr lang="en-US" dirty="0" smtClean="0"/>
              <a:t>By </a:t>
            </a:r>
            <a:r>
              <a:rPr lang="en-US" dirty="0"/>
              <a:t>doing this, we are obtaining five different instances of the same machine learning model in order to see if performance remains consistent across the folds. </a:t>
            </a:r>
            <a:endParaRPr lang="en-US" dirty="0" smtClean="0"/>
          </a:p>
          <a:p>
            <a:pPr algn="just"/>
            <a:r>
              <a:rPr lang="en-US" dirty="0" smtClean="0"/>
              <a:t>If </a:t>
            </a:r>
            <a:r>
              <a:rPr lang="en-US" dirty="0"/>
              <a:t>you stare at the dots long enough, you will note that each dot appears in a training set exactly four times (k – 1), while the same dot appears in a test set exactly once and only once.</a:t>
            </a:r>
            <a:endParaRPr lang="en-IN" dirty="0"/>
          </a:p>
        </p:txBody>
      </p:sp>
      <p:pic>
        <p:nvPicPr>
          <p:cNvPr id="5" name="Picture 4">
            <a:extLst>
              <a:ext uri="{FF2B5EF4-FFF2-40B4-BE49-F238E27FC236}">
                <a16:creationId xmlns="" xmlns:a16="http://schemas.microsoft.com/office/drawing/2014/main" id="{2B0DE09C-3064-9DD4-C1CE-4F7C434D8B25}"/>
              </a:ext>
            </a:extLst>
          </p:cNvPr>
          <p:cNvPicPr>
            <a:picLocks noChangeAspect="1"/>
          </p:cNvPicPr>
          <p:nvPr/>
        </p:nvPicPr>
        <p:blipFill>
          <a:blip r:embed="rId2"/>
          <a:stretch>
            <a:fillRect/>
          </a:stretch>
        </p:blipFill>
        <p:spPr>
          <a:xfrm>
            <a:off x="1214097" y="0"/>
            <a:ext cx="9647185" cy="3301710"/>
          </a:xfrm>
          <a:prstGeom prst="rect">
            <a:avLst/>
          </a:prstGeom>
        </p:spPr>
      </p:pic>
    </p:spTree>
    <p:extLst>
      <p:ext uri="{BB962C8B-B14F-4D97-AF65-F5344CB8AC3E}">
        <p14:creationId xmlns:p14="http://schemas.microsoft.com/office/powerpoint/2010/main" val="845554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6631F1C-B506-5DB4-3AD5-EEAE17E56FBC}"/>
              </a:ext>
            </a:extLst>
          </p:cNvPr>
          <p:cNvSpPr>
            <a:spLocks noGrp="1"/>
          </p:cNvSpPr>
          <p:nvPr>
            <p:ph idx="1"/>
          </p:nvPr>
        </p:nvSpPr>
        <p:spPr>
          <a:xfrm>
            <a:off x="838200" y="568036"/>
            <a:ext cx="10515600" cy="5608927"/>
          </a:xfrm>
        </p:spPr>
        <p:txBody>
          <a:bodyPr>
            <a:normAutofit/>
          </a:bodyPr>
          <a:lstStyle/>
          <a:p>
            <a:pPr algn="just"/>
            <a:r>
              <a:rPr lang="en-US" dirty="0">
                <a:latin typeface="Times New Roman" panose="02020603050405020304" pitchFamily="18" charset="0"/>
                <a:cs typeface="Times New Roman" panose="02020603050405020304" pitchFamily="18" charset="0"/>
              </a:rPr>
              <a:t>Some features of K-fold cross-validation include the following: </a:t>
            </a:r>
          </a:p>
          <a:p>
            <a:pPr algn="just"/>
            <a:r>
              <a:rPr lang="en-US" dirty="0">
                <a:latin typeface="Times New Roman" panose="02020603050405020304" pitchFamily="18" charset="0"/>
                <a:cs typeface="Times New Roman" panose="02020603050405020304" pitchFamily="18" charset="0"/>
              </a:rPr>
              <a:t>• It is a more accurate estimate of the OOS prediction error than a single train-test split because it is taking several independent train-test splits and averaging the results together. </a:t>
            </a:r>
          </a:p>
          <a:p>
            <a:pPr algn="just"/>
            <a:r>
              <a:rPr lang="en-US" dirty="0">
                <a:latin typeface="Times New Roman" panose="02020603050405020304" pitchFamily="18" charset="0"/>
                <a:cs typeface="Times New Roman" panose="02020603050405020304" pitchFamily="18" charset="0"/>
              </a:rPr>
              <a:t>• It is a more efficient use of data than single train-test splits because the entire dataset is being used for multiple train-test splits instead of just one. </a:t>
            </a:r>
          </a:p>
          <a:p>
            <a:pPr algn="just"/>
            <a:r>
              <a:rPr lang="en-US" dirty="0">
                <a:latin typeface="Times New Roman" panose="02020603050405020304" pitchFamily="18" charset="0"/>
                <a:cs typeface="Times New Roman" panose="02020603050405020304" pitchFamily="18" charset="0"/>
              </a:rPr>
              <a:t>• Each record in our dataset is used for both training and testing</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method presents a clear tradeoff between efficiency and computational expense. A 10-fold CV is 10x more expensive computationally than a single train/test split. </a:t>
            </a:r>
          </a:p>
          <a:p>
            <a:pPr algn="just"/>
            <a:r>
              <a:rPr lang="en-US" dirty="0">
                <a:latin typeface="Times New Roman" panose="02020603050405020304" pitchFamily="18" charset="0"/>
                <a:cs typeface="Times New Roman" panose="02020603050405020304" pitchFamily="18" charset="0"/>
              </a:rPr>
              <a:t>• This method can be used for parameter tuning and model selection. </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987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84B18E-0CFC-0233-E4A5-B8D8AA8FC150}"/>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25A9C73-AF8A-4867-3B30-5C975DF6DD5D}"/>
              </a:ext>
            </a:extLst>
          </p:cNvPr>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Basically</a:t>
            </a:r>
            <a:r>
              <a:rPr lang="en-US" dirty="0">
                <a:latin typeface="Times New Roman" panose="02020603050405020304" pitchFamily="18" charset="0"/>
                <a:cs typeface="Times New Roman" panose="02020603050405020304" pitchFamily="18" charset="0"/>
              </a:rPr>
              <a:t>, whenever we wish to test a model on a set of data, whether we just completed tuning some parameters or feature engineering, a k-fold cross-validation is an excellent way to estimate the performance on our model. </a:t>
            </a:r>
          </a:p>
          <a:p>
            <a:pPr algn="just"/>
            <a:r>
              <a:rPr lang="en-US" dirty="0">
                <a:latin typeface="Times New Roman" panose="02020603050405020304" pitchFamily="18" charset="0"/>
                <a:cs typeface="Times New Roman" panose="02020603050405020304" pitchFamily="18" charset="0"/>
              </a:rPr>
              <a:t>Of course, </a:t>
            </a:r>
            <a:r>
              <a:rPr lang="en-US" dirty="0" err="1">
                <a:latin typeface="Times New Roman" panose="02020603050405020304" pitchFamily="18" charset="0"/>
                <a:cs typeface="Times New Roman" panose="02020603050405020304" pitchFamily="18" charset="0"/>
              </a:rPr>
              <a:t>sklearn</a:t>
            </a:r>
            <a:r>
              <a:rPr lang="en-US" dirty="0">
                <a:latin typeface="Times New Roman" panose="02020603050405020304" pitchFamily="18" charset="0"/>
                <a:cs typeface="Times New Roman" panose="02020603050405020304" pitchFamily="18" charset="0"/>
              </a:rPr>
              <a:t> comes with an easier-to-use cross-validation module, called </a:t>
            </a:r>
            <a:r>
              <a:rPr lang="en-US" dirty="0" err="1">
                <a:latin typeface="Times New Roman" panose="02020603050405020304" pitchFamily="18" charset="0"/>
                <a:cs typeface="Times New Roman" panose="02020603050405020304" pitchFamily="18" charset="0"/>
              </a:rPr>
              <a:t>cross_val_score</a:t>
            </a:r>
            <a:r>
              <a:rPr lang="en-US" dirty="0">
                <a:latin typeface="Times New Roman" panose="02020603050405020304" pitchFamily="18" charset="0"/>
                <a:cs typeface="Times New Roman" panose="02020603050405020304" pitchFamily="18" charset="0"/>
              </a:rPr>
              <a:t>, which automatically splits up our dataset for us, runs the model on each fold, and gives us a neat and tidy output of 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771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CF3214A-8A8E-F7FE-995C-3E460D878A5B}"/>
              </a:ext>
            </a:extLst>
          </p:cNvPr>
          <p:cNvSpPr>
            <a:spLocks noGrp="1"/>
          </p:cNvSpPr>
          <p:nvPr>
            <p:ph idx="1"/>
          </p:nvPr>
        </p:nvSpPr>
        <p:spPr>
          <a:xfrm>
            <a:off x="838200" y="346364"/>
            <a:ext cx="10515600" cy="6192981"/>
          </a:xfrm>
        </p:spPr>
        <p:txBody>
          <a:bodyPr>
            <a:normAutofit fontScale="77500" lnSpcReduction="20000"/>
          </a:bodyPr>
          <a:lstStyle/>
          <a:p>
            <a:r>
              <a:rPr lang="en-US" dirty="0">
                <a:latin typeface="Century Gothic" panose="020B0502020202020204" pitchFamily="34" charset="0"/>
              </a:rPr>
              <a:t># Using a training set and test set is so important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Just as important is cross validation. Remember cross validation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is using several different train test splits and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averaging your results! </a:t>
            </a:r>
            <a:endParaRPr lang="en-US" dirty="0" smtClean="0">
              <a:latin typeface="Century Gothic" panose="020B0502020202020204" pitchFamily="34" charset="0"/>
            </a:endParaRPr>
          </a:p>
          <a:p>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CROSS-VALIDATION </a:t>
            </a:r>
            <a:endParaRPr lang="en-US" dirty="0" smtClean="0">
              <a:latin typeface="Century Gothic" panose="020B0502020202020204" pitchFamily="34" charset="0"/>
            </a:endParaRPr>
          </a:p>
          <a:p>
            <a:endParaRPr lang="en-US" dirty="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check CV score for K=1 </a:t>
            </a:r>
            <a:endParaRPr lang="en-US" dirty="0" smtClean="0">
              <a:latin typeface="Century Gothic" panose="020B0502020202020204" pitchFamily="34" charset="0"/>
            </a:endParaRPr>
          </a:p>
          <a:p>
            <a:r>
              <a:rPr lang="en-US" dirty="0" smtClean="0">
                <a:latin typeface="Century Gothic" panose="020B0502020202020204" pitchFamily="34" charset="0"/>
              </a:rPr>
              <a:t>from </a:t>
            </a:r>
            <a:r>
              <a:rPr lang="en-US" dirty="0" err="1">
                <a:latin typeface="Century Gothic" panose="020B0502020202020204" pitchFamily="34" charset="0"/>
              </a:rPr>
              <a:t>sklearn.cross_validation</a:t>
            </a:r>
            <a:r>
              <a:rPr lang="en-US" dirty="0">
                <a:latin typeface="Century Gothic" panose="020B0502020202020204" pitchFamily="34" charset="0"/>
              </a:rPr>
              <a:t> import </a:t>
            </a:r>
            <a:r>
              <a:rPr lang="en-US" dirty="0" err="1">
                <a:latin typeface="Century Gothic" panose="020B0502020202020204" pitchFamily="34" charset="0"/>
              </a:rPr>
              <a:t>cross_val_score</a:t>
            </a:r>
            <a:r>
              <a:rPr lang="en-US" dirty="0">
                <a:latin typeface="Century Gothic" panose="020B0502020202020204" pitchFamily="34" charset="0"/>
              </a:rPr>
              <a:t>, </a:t>
            </a:r>
            <a:r>
              <a:rPr lang="en-US" dirty="0" err="1">
                <a:latin typeface="Century Gothic" panose="020B0502020202020204" pitchFamily="34" charset="0"/>
              </a:rPr>
              <a:t>train_test_split</a:t>
            </a:r>
            <a:r>
              <a:rPr lang="en-US" dirty="0">
                <a:latin typeface="Century Gothic" panose="020B0502020202020204" pitchFamily="34" charset="0"/>
              </a:rPr>
              <a:t> tree = </a:t>
            </a:r>
            <a:r>
              <a:rPr lang="en-US" dirty="0" err="1">
                <a:latin typeface="Century Gothic" panose="020B0502020202020204" pitchFamily="34" charset="0"/>
              </a:rPr>
              <a:t>KNeighborsClassifier</a:t>
            </a:r>
            <a:r>
              <a:rPr lang="en-US" dirty="0">
                <a:latin typeface="Century Gothic" panose="020B0502020202020204" pitchFamily="34" charset="0"/>
              </a:rPr>
              <a:t>(</a:t>
            </a:r>
            <a:r>
              <a:rPr lang="en-US" dirty="0" err="1">
                <a:latin typeface="Century Gothic" panose="020B0502020202020204" pitchFamily="34" charset="0"/>
              </a:rPr>
              <a:t>n_neighbors</a:t>
            </a:r>
            <a:r>
              <a:rPr lang="en-US" dirty="0">
                <a:latin typeface="Century Gothic" panose="020B0502020202020204" pitchFamily="34" charset="0"/>
              </a:rPr>
              <a:t>=1) </a:t>
            </a:r>
            <a:endParaRPr lang="en-US" dirty="0" smtClean="0">
              <a:latin typeface="Century Gothic" panose="020B0502020202020204" pitchFamily="34" charset="0"/>
            </a:endParaRPr>
          </a:p>
          <a:p>
            <a:r>
              <a:rPr lang="en-US" dirty="0" smtClean="0">
                <a:latin typeface="Century Gothic" panose="020B0502020202020204" pitchFamily="34" charset="0"/>
              </a:rPr>
              <a:t>scores </a:t>
            </a:r>
            <a:r>
              <a:rPr lang="en-US" dirty="0">
                <a:latin typeface="Century Gothic" panose="020B0502020202020204" pitchFamily="34" charset="0"/>
              </a:rPr>
              <a:t>= </a:t>
            </a:r>
            <a:r>
              <a:rPr lang="en-US" dirty="0" err="1">
                <a:latin typeface="Century Gothic" panose="020B0502020202020204" pitchFamily="34" charset="0"/>
              </a:rPr>
              <a:t>cross_val_score</a:t>
            </a:r>
            <a:r>
              <a:rPr lang="en-US" dirty="0">
                <a:latin typeface="Century Gothic" panose="020B0502020202020204" pitchFamily="34" charset="0"/>
              </a:rPr>
              <a:t>(tree, X, y, cv=5, scoring='accuracy') </a:t>
            </a:r>
            <a:endParaRPr lang="en-US" dirty="0" smtClean="0">
              <a:latin typeface="Century Gothic" panose="020B0502020202020204" pitchFamily="34" charset="0"/>
            </a:endParaRPr>
          </a:p>
          <a:p>
            <a:r>
              <a:rPr lang="en-US" dirty="0" err="1" smtClean="0">
                <a:latin typeface="Century Gothic" panose="020B0502020202020204" pitchFamily="34" charset="0"/>
              </a:rPr>
              <a:t>scores.mean</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smtClean="0">
                <a:latin typeface="Century Gothic" panose="020B0502020202020204" pitchFamily="34" charset="0"/>
              </a:rPr>
              <a:t>0.95999999999 </a:t>
            </a:r>
          </a:p>
          <a:p>
            <a:pPr algn="just"/>
            <a:r>
              <a:rPr lang="en-US" dirty="0" smtClean="0">
                <a:latin typeface="Times New Roman" panose="02020603050405020304" pitchFamily="18" charset="0"/>
                <a:cs typeface="Times New Roman" panose="02020603050405020304" pitchFamily="18" charset="0"/>
              </a:rPr>
              <a:t>Which </a:t>
            </a:r>
            <a:r>
              <a:rPr lang="en-US" dirty="0">
                <a:latin typeface="Times New Roman" panose="02020603050405020304" pitchFamily="18" charset="0"/>
                <a:cs typeface="Times New Roman" panose="02020603050405020304" pitchFamily="18" charset="0"/>
              </a:rPr>
              <a:t>is a much more reasonable accuracy than our previous score of 1.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Remember </a:t>
            </a:r>
            <a:r>
              <a:rPr lang="en-US" dirty="0">
                <a:latin typeface="Times New Roman" panose="02020603050405020304" pitchFamily="18" charset="0"/>
                <a:cs typeface="Times New Roman" panose="02020603050405020304" pitchFamily="18" charset="0"/>
              </a:rPr>
              <a:t>that we are not getting 100% accuracy anymore, because we have a distinct training and test 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data points that KNN has never seen the test points and therefore cannot match them exactly to themselves.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260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947F5E-53E0-2536-30FE-B2C6237F3FA3}"/>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F7C7415D-95D4-7340-1AB9-DC36C7C02BB8}"/>
              </a:ext>
            </a:extLst>
          </p:cNvPr>
          <p:cNvSpPr>
            <a:spLocks noGrp="1"/>
          </p:cNvSpPr>
          <p:nvPr>
            <p:ph idx="1"/>
          </p:nvPr>
        </p:nvSpPr>
        <p:spPr/>
        <p:txBody>
          <a:bodyPr/>
          <a:lstStyle/>
          <a:p>
            <a:r>
              <a:rPr lang="en-IN" dirty="0"/>
              <a:t>Let's try cross-validating KNN with K=5 (increasing our model's complexity), as shown: </a:t>
            </a:r>
            <a:endParaRPr lang="en-IN" dirty="0" smtClean="0"/>
          </a:p>
          <a:p>
            <a:r>
              <a:rPr lang="en-IN" dirty="0" smtClean="0"/>
              <a:t># </a:t>
            </a:r>
            <a:r>
              <a:rPr lang="en-IN" dirty="0"/>
              <a:t>check CV score for K=5 </a:t>
            </a:r>
            <a:endParaRPr lang="en-IN" dirty="0" smtClean="0"/>
          </a:p>
          <a:p>
            <a:r>
              <a:rPr lang="en-IN" dirty="0" err="1" smtClean="0"/>
              <a:t>knn</a:t>
            </a:r>
            <a:r>
              <a:rPr lang="en-IN" dirty="0" smtClean="0"/>
              <a:t> </a:t>
            </a:r>
            <a:r>
              <a:rPr lang="en-IN" dirty="0"/>
              <a:t>= </a:t>
            </a:r>
            <a:r>
              <a:rPr lang="en-IN" dirty="0" err="1"/>
              <a:t>KNeighborsClassifier</a:t>
            </a:r>
            <a:r>
              <a:rPr lang="en-IN" dirty="0"/>
              <a:t>(</a:t>
            </a:r>
            <a:r>
              <a:rPr lang="en-IN" dirty="0" err="1"/>
              <a:t>n_neighbors</a:t>
            </a:r>
            <a:r>
              <a:rPr lang="en-IN" dirty="0"/>
              <a:t>=5) </a:t>
            </a:r>
            <a:endParaRPr lang="en-IN" dirty="0" smtClean="0"/>
          </a:p>
          <a:p>
            <a:r>
              <a:rPr lang="en-IN" dirty="0" smtClean="0"/>
              <a:t>scores </a:t>
            </a:r>
            <a:r>
              <a:rPr lang="en-IN" dirty="0"/>
              <a:t>= </a:t>
            </a:r>
            <a:r>
              <a:rPr lang="en-IN" dirty="0" err="1"/>
              <a:t>cross_val_score</a:t>
            </a:r>
            <a:r>
              <a:rPr lang="en-IN" dirty="0"/>
              <a:t>(</a:t>
            </a:r>
            <a:r>
              <a:rPr lang="en-IN" dirty="0" err="1"/>
              <a:t>knn</a:t>
            </a:r>
            <a:r>
              <a:rPr lang="en-IN" dirty="0"/>
              <a:t>, X, y, cv=5, scoring='accuracy') </a:t>
            </a:r>
            <a:endParaRPr lang="en-IN" dirty="0" smtClean="0"/>
          </a:p>
          <a:p>
            <a:r>
              <a:rPr lang="en-IN" dirty="0" smtClean="0"/>
              <a:t>scores </a:t>
            </a:r>
          </a:p>
          <a:p>
            <a:r>
              <a:rPr lang="en-IN" dirty="0" err="1" smtClean="0"/>
              <a:t>np.mean</a:t>
            </a:r>
            <a:r>
              <a:rPr lang="en-IN" dirty="0" smtClean="0"/>
              <a:t>(scores</a:t>
            </a:r>
            <a:r>
              <a:rPr lang="en-IN" dirty="0"/>
              <a:t>) </a:t>
            </a:r>
            <a:endParaRPr lang="en-IN" dirty="0" smtClean="0"/>
          </a:p>
          <a:p>
            <a:r>
              <a:rPr lang="en-IN" dirty="0" smtClean="0"/>
              <a:t>0.97333333</a:t>
            </a:r>
            <a:endParaRPr lang="en-IN" dirty="0"/>
          </a:p>
        </p:txBody>
      </p:sp>
    </p:spTree>
    <p:extLst>
      <p:ext uri="{BB962C8B-B14F-4D97-AF65-F5344CB8AC3E}">
        <p14:creationId xmlns:p14="http://schemas.microsoft.com/office/powerpoint/2010/main" val="2438017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DB4840B-51BB-252F-C356-002EB44B588E}"/>
              </a:ext>
            </a:extLst>
          </p:cNvPr>
          <p:cNvSpPr>
            <a:spLocks noGrp="1"/>
          </p:cNvSpPr>
          <p:nvPr>
            <p:ph idx="1"/>
          </p:nvPr>
        </p:nvSpPr>
        <p:spPr>
          <a:xfrm>
            <a:off x="838199" y="290944"/>
            <a:ext cx="10758055" cy="6359237"/>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Even better! So, now we have to find the best K?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best K is the one that maximizes our accuracy.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Let's </a:t>
            </a:r>
            <a:r>
              <a:rPr lang="en-US" dirty="0">
                <a:latin typeface="Times New Roman" panose="02020603050405020304" pitchFamily="18" charset="0"/>
                <a:cs typeface="Times New Roman" panose="02020603050405020304" pitchFamily="18" charset="0"/>
              </a:rPr>
              <a:t>try a few: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search for an optimal value of K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k_range</a:t>
            </a:r>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 range(1, 30, 2) </a:t>
            </a:r>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[1, 3, 5, 7, …, 27, 29] errors = []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for </a:t>
            </a:r>
            <a:r>
              <a:rPr lang="en-US" dirty="0">
                <a:latin typeface="Century Gothic" panose="020B0502020202020204" pitchFamily="34" charset="0"/>
                <a:cs typeface="Times New Roman" panose="02020603050405020304" pitchFamily="18" charset="0"/>
              </a:rPr>
              <a:t>k in </a:t>
            </a:r>
            <a:r>
              <a:rPr lang="en-US" dirty="0" err="1">
                <a:latin typeface="Century Gothic" panose="020B0502020202020204" pitchFamily="34" charset="0"/>
                <a:cs typeface="Times New Roman" panose="02020603050405020304" pitchFamily="18" charset="0"/>
              </a:rPr>
              <a:t>k_range</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knn</a:t>
            </a:r>
            <a:r>
              <a:rPr lang="en-US" dirty="0">
                <a:latin typeface="Century Gothic" panose="020B0502020202020204" pitchFamily="34" charset="0"/>
                <a:cs typeface="Times New Roman" panose="02020603050405020304" pitchFamily="18" charset="0"/>
              </a:rPr>
              <a:t> = </a:t>
            </a:r>
            <a:r>
              <a:rPr lang="en-US" dirty="0" err="1">
                <a:latin typeface="Century Gothic" panose="020B0502020202020204" pitchFamily="34" charset="0"/>
                <a:cs typeface="Times New Roman" panose="02020603050405020304" pitchFamily="18" charset="0"/>
              </a:rPr>
              <a:t>KNeighborsClassifier</a:t>
            </a:r>
            <a:r>
              <a:rPr lang="en-US" dirty="0">
                <a:latin typeface="Century Gothic" panose="020B0502020202020204" pitchFamily="34" charset="0"/>
                <a:cs typeface="Times New Roman" panose="02020603050405020304" pitchFamily="18" charset="0"/>
              </a:rPr>
              <a:t>(</a:t>
            </a:r>
            <a:r>
              <a:rPr lang="en-US" dirty="0" err="1">
                <a:latin typeface="Century Gothic" panose="020B0502020202020204" pitchFamily="34" charset="0"/>
                <a:cs typeface="Times New Roman" panose="02020603050405020304" pitchFamily="18" charset="0"/>
              </a:rPr>
              <a:t>n_neighbors</a:t>
            </a:r>
            <a:r>
              <a:rPr lang="en-US" dirty="0">
                <a:latin typeface="Century Gothic" panose="020B0502020202020204" pitchFamily="34" charset="0"/>
                <a:cs typeface="Times New Roman" panose="02020603050405020304" pitchFamily="18" charset="0"/>
              </a:rPr>
              <a:t>=k)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instantiate a KNN with k neighbors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scores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cross_val_score</a:t>
            </a:r>
            <a:r>
              <a:rPr lang="en-US" dirty="0">
                <a:latin typeface="Century Gothic" panose="020B0502020202020204" pitchFamily="34" charset="0"/>
                <a:cs typeface="Times New Roman" panose="02020603050405020304" pitchFamily="18" charset="0"/>
              </a:rPr>
              <a:t>(</a:t>
            </a:r>
            <a:r>
              <a:rPr lang="en-US" dirty="0" err="1">
                <a:latin typeface="Century Gothic" panose="020B0502020202020204" pitchFamily="34" charset="0"/>
                <a:cs typeface="Times New Roman" panose="02020603050405020304" pitchFamily="18" charset="0"/>
              </a:rPr>
              <a:t>knn</a:t>
            </a:r>
            <a:r>
              <a:rPr lang="en-US" dirty="0">
                <a:latin typeface="Century Gothic" panose="020B0502020202020204" pitchFamily="34" charset="0"/>
                <a:cs typeface="Times New Roman" panose="02020603050405020304" pitchFamily="18" charset="0"/>
              </a:rPr>
              <a:t>, X, y, cv=5, scoring='accuracy')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get our five accuracy scores </a:t>
            </a:r>
          </a:p>
          <a:p>
            <a:pPr lvl="1"/>
            <a:r>
              <a:rPr lang="en-US" dirty="0" smtClean="0">
                <a:latin typeface="Century Gothic" panose="020B0502020202020204" pitchFamily="34" charset="0"/>
                <a:cs typeface="Times New Roman" panose="02020603050405020304" pitchFamily="18" charset="0"/>
              </a:rPr>
              <a:t>accuracy </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np.mean</a:t>
            </a:r>
            <a:r>
              <a:rPr lang="en-US" dirty="0">
                <a:latin typeface="Century Gothic" panose="020B0502020202020204" pitchFamily="34" charset="0"/>
                <a:cs typeface="Times New Roman" panose="02020603050405020304" pitchFamily="18" charset="0"/>
              </a:rPr>
              <a:t>(scores)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average them together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error </a:t>
            </a:r>
            <a:r>
              <a:rPr lang="en-US" dirty="0">
                <a:latin typeface="Century Gothic" panose="020B0502020202020204" pitchFamily="34" charset="0"/>
                <a:cs typeface="Times New Roman" panose="02020603050405020304" pitchFamily="18" charset="0"/>
              </a:rPr>
              <a:t>= 1 – accuracy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get our error, which is 1 minus the accuracy </a:t>
            </a:r>
            <a:endParaRPr lang="en-US" dirty="0" smtClean="0">
              <a:latin typeface="Century Gothic" panose="020B0502020202020204" pitchFamily="34" charset="0"/>
              <a:cs typeface="Times New Roman" panose="02020603050405020304" pitchFamily="18" charset="0"/>
            </a:endParaRPr>
          </a:p>
          <a:p>
            <a:pPr lvl="1"/>
            <a:r>
              <a:rPr lang="en-US" dirty="0" err="1" smtClean="0">
                <a:latin typeface="Century Gothic" panose="020B0502020202020204" pitchFamily="34" charset="0"/>
                <a:cs typeface="Times New Roman" panose="02020603050405020304" pitchFamily="18" charset="0"/>
              </a:rPr>
              <a:t>errors.append</a:t>
            </a:r>
            <a:r>
              <a:rPr lang="en-US" dirty="0" smtClean="0">
                <a:latin typeface="Century Gothic" panose="020B0502020202020204" pitchFamily="34" charset="0"/>
                <a:cs typeface="Times New Roman" panose="02020603050405020304" pitchFamily="18" charset="0"/>
              </a:rPr>
              <a:t>(error</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pPr lvl="1"/>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keep track of a list of errors </a:t>
            </a:r>
            <a:endParaRPr lang="en-US" dirty="0" smtClean="0">
              <a:latin typeface="Century Gothic" panose="020B0502020202020204" pitchFamily="34"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now have an error value (1 – accuracy) for each value of K (1, 3, 5, 7, 9.., .., 29):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plot the K values (x-axis) versus the 5-fold CV score (y-axis) </a:t>
            </a:r>
            <a:endParaRPr lang="en-US" dirty="0" smtClean="0">
              <a:latin typeface="Century Gothic" panose="020B0502020202020204" pitchFamily="34" charset="0"/>
              <a:cs typeface="Times New Roman" panose="02020603050405020304" pitchFamily="18" charset="0"/>
            </a:endParaRPr>
          </a:p>
          <a:p>
            <a:pPr lvl="1"/>
            <a:r>
              <a:rPr lang="en-US" dirty="0" err="1" smtClean="0">
                <a:latin typeface="Century Gothic" panose="020B0502020202020204" pitchFamily="34" charset="0"/>
                <a:cs typeface="Times New Roman" panose="02020603050405020304" pitchFamily="18" charset="0"/>
              </a:rPr>
              <a:t>plt.figure</a:t>
            </a:r>
            <a:r>
              <a:rPr lang="en-US" dirty="0">
                <a:latin typeface="Century Gothic" panose="020B0502020202020204" pitchFamily="34" charset="0"/>
                <a:cs typeface="Times New Roman" panose="02020603050405020304" pitchFamily="18" charset="0"/>
              </a:rPr>
              <a:t>() </a:t>
            </a:r>
            <a:endParaRPr lang="en-US" dirty="0" smtClean="0">
              <a:latin typeface="Century Gothic" panose="020B0502020202020204" pitchFamily="34" charset="0"/>
              <a:cs typeface="Times New Roman" panose="02020603050405020304" pitchFamily="18" charset="0"/>
            </a:endParaRPr>
          </a:p>
          <a:p>
            <a:pPr lvl="1"/>
            <a:r>
              <a:rPr lang="en-US" dirty="0" err="1" smtClean="0">
                <a:latin typeface="Century Gothic" panose="020B0502020202020204" pitchFamily="34" charset="0"/>
                <a:cs typeface="Times New Roman" panose="02020603050405020304" pitchFamily="18" charset="0"/>
              </a:rPr>
              <a:t>plt.plot</a:t>
            </a:r>
            <a:r>
              <a:rPr lang="en-US" dirty="0" smtClean="0">
                <a:latin typeface="Century Gothic" panose="020B0502020202020204" pitchFamily="34" charset="0"/>
                <a:cs typeface="Times New Roman" panose="02020603050405020304" pitchFamily="18" charset="0"/>
              </a:rPr>
              <a:t>(</a:t>
            </a:r>
            <a:r>
              <a:rPr lang="en-US" dirty="0" err="1" smtClean="0">
                <a:latin typeface="Century Gothic" panose="020B0502020202020204" pitchFamily="34" charset="0"/>
                <a:cs typeface="Times New Roman" panose="02020603050405020304" pitchFamily="18" charset="0"/>
              </a:rPr>
              <a:t>k_range</a:t>
            </a:r>
            <a:r>
              <a:rPr lang="en-US" dirty="0">
                <a:latin typeface="Century Gothic" panose="020B0502020202020204" pitchFamily="34" charset="0"/>
                <a:cs typeface="Times New Roman" panose="02020603050405020304" pitchFamily="18" charset="0"/>
              </a:rPr>
              <a:t>, errors) </a:t>
            </a:r>
            <a:endParaRPr lang="en-US" dirty="0" smtClean="0">
              <a:latin typeface="Century Gothic" panose="020B0502020202020204" pitchFamily="34" charset="0"/>
              <a:cs typeface="Times New Roman" panose="02020603050405020304" pitchFamily="18" charset="0"/>
            </a:endParaRPr>
          </a:p>
          <a:p>
            <a:pPr lvl="1"/>
            <a:r>
              <a:rPr lang="en-US" dirty="0" err="1" smtClean="0">
                <a:latin typeface="Century Gothic" panose="020B0502020202020204" pitchFamily="34" charset="0"/>
                <a:cs typeface="Times New Roman" panose="02020603050405020304" pitchFamily="18" charset="0"/>
              </a:rPr>
              <a:t>plt.xlabel</a:t>
            </a:r>
            <a:r>
              <a:rPr lang="en-US" dirty="0">
                <a:latin typeface="Century Gothic" panose="020B0502020202020204" pitchFamily="34" charset="0"/>
                <a:cs typeface="Times New Roman" panose="02020603050405020304" pitchFamily="18" charset="0"/>
              </a:rPr>
              <a:t>('K') </a:t>
            </a:r>
            <a:r>
              <a:rPr lang="en-US" dirty="0" err="1">
                <a:latin typeface="Century Gothic" panose="020B0502020202020204" pitchFamily="34" charset="0"/>
                <a:cs typeface="Times New Roman" panose="02020603050405020304" pitchFamily="18" charset="0"/>
              </a:rPr>
              <a:t>plt.ylabel</a:t>
            </a:r>
            <a:r>
              <a:rPr lang="en-US" dirty="0">
                <a:latin typeface="Century Gothic" panose="020B0502020202020204" pitchFamily="34" charset="0"/>
                <a:cs typeface="Times New Roman" panose="02020603050405020304" pitchFamily="18" charset="0"/>
              </a:rPr>
              <a:t>('Error')</a:t>
            </a:r>
            <a:endParaRPr lang="en-IN" dirty="0">
              <a:latin typeface="Century Gothic" panose="020B0502020202020204" pitchFamily="34" charset="0"/>
              <a:cs typeface="Times New Roman" panose="02020603050405020304" pitchFamily="18" charset="0"/>
            </a:endParaRPr>
          </a:p>
        </p:txBody>
      </p:sp>
    </p:spTree>
    <p:extLst>
      <p:ext uri="{BB962C8B-B14F-4D97-AF65-F5344CB8AC3E}">
        <p14:creationId xmlns:p14="http://schemas.microsoft.com/office/powerpoint/2010/main" val="2437496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E2B01B-160A-F006-21FC-F4DF38B46803}"/>
              </a:ext>
            </a:extLst>
          </p:cNvPr>
          <p:cNvSpPr>
            <a:spLocks noGrp="1"/>
          </p:cNvSpPr>
          <p:nvPr>
            <p:ph type="title"/>
          </p:nvPr>
        </p:nvSpPr>
        <p:spPr>
          <a:xfrm>
            <a:off x="464126" y="4200878"/>
            <a:ext cx="11062855" cy="2428407"/>
          </a:xfrm>
        </p:spPr>
        <p:txBody>
          <a:bodyPr>
            <a:no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 this graph to the previous graph of model complexity and bias/variance. Toward the left, our graph has a higher bias and is underfitting. </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As </a:t>
            </a:r>
            <a:r>
              <a:rPr lang="en-US" sz="2400" dirty="0">
                <a:latin typeface="Times New Roman" panose="02020603050405020304" pitchFamily="18" charset="0"/>
                <a:cs typeface="Times New Roman" panose="02020603050405020304" pitchFamily="18" charset="0"/>
              </a:rPr>
              <a:t>we increased our model's complexity, the error term began to go down, but after a while, our model became overly complex, and the high variance kicked in, making our error term go back up. </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seems that the optimal value of K is between 6 and 10.</a:t>
            </a:r>
            <a:endParaRPr lang="en-IN"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 xmlns:a16="http://schemas.microsoft.com/office/drawing/2014/main" id="{FEAB088A-5A4E-C27C-B441-E42483336CE1}"/>
              </a:ext>
            </a:extLst>
          </p:cNvPr>
          <p:cNvPicPr>
            <a:picLocks noGrp="1" noChangeAspect="1"/>
          </p:cNvPicPr>
          <p:nvPr>
            <p:ph idx="1"/>
          </p:nvPr>
        </p:nvPicPr>
        <p:blipFill>
          <a:blip r:embed="rId2"/>
          <a:stretch>
            <a:fillRect/>
          </a:stretch>
        </p:blipFill>
        <p:spPr>
          <a:xfrm>
            <a:off x="1680381" y="0"/>
            <a:ext cx="6701619" cy="4364564"/>
          </a:xfrm>
        </p:spPr>
      </p:pic>
    </p:spTree>
    <p:extLst>
      <p:ext uri="{BB962C8B-B14F-4D97-AF65-F5344CB8AC3E}">
        <p14:creationId xmlns:p14="http://schemas.microsoft.com/office/powerpoint/2010/main" val="184390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EA97EC-E6D0-BE49-9197-C02960CAD9F5}"/>
              </a:ext>
            </a:extLst>
          </p:cNvPr>
          <p:cNvSpPr>
            <a:spLocks noGrp="1"/>
          </p:cNvSpPr>
          <p:nvPr>
            <p:ph type="title"/>
          </p:nvPr>
        </p:nvSpPr>
        <p:spPr>
          <a:xfrm>
            <a:off x="838200" y="365126"/>
            <a:ext cx="10515600" cy="854074"/>
          </a:xfrm>
        </p:spPr>
        <p:txBody>
          <a:bodyPr/>
          <a:lstStyle/>
          <a:p>
            <a:pPr algn="ctr"/>
            <a:r>
              <a:rPr lang="en-IN" dirty="0">
                <a:latin typeface="Times New Roman" panose="02020603050405020304" pitchFamily="18" charset="0"/>
                <a:cs typeface="Times New Roman" panose="02020603050405020304" pitchFamily="18" charset="0"/>
              </a:rPr>
              <a:t>Grid searching</a:t>
            </a:r>
          </a:p>
        </p:txBody>
      </p:sp>
      <p:sp>
        <p:nvSpPr>
          <p:cNvPr id="3" name="Content Placeholder 2">
            <a:extLst>
              <a:ext uri="{FF2B5EF4-FFF2-40B4-BE49-F238E27FC236}">
                <a16:creationId xmlns="" xmlns:a16="http://schemas.microsoft.com/office/drawing/2014/main" id="{9CCA19DD-9670-14DF-4375-33AEB4DB4ED4}"/>
              </a:ext>
            </a:extLst>
          </p:cNvPr>
          <p:cNvSpPr>
            <a:spLocks noGrp="1"/>
          </p:cNvSpPr>
          <p:nvPr>
            <p:ph idx="1"/>
          </p:nvPr>
        </p:nvSpPr>
        <p:spPr>
          <a:xfrm>
            <a:off x="838199" y="1274618"/>
            <a:ext cx="10924309" cy="5292437"/>
          </a:xfrm>
        </p:spPr>
        <p:txBody>
          <a:bodyPr>
            <a:normAutofit fontScale="85000" lnSpcReduction="20000"/>
          </a:bodyPr>
          <a:lstStyle/>
          <a:p>
            <a:r>
              <a:rPr lang="en-US" dirty="0" err="1">
                <a:latin typeface="Times New Roman" panose="02020603050405020304" pitchFamily="18" charset="0"/>
                <a:cs typeface="Times New Roman" panose="02020603050405020304" pitchFamily="18" charset="0"/>
              </a:rPr>
              <a:t>sklearn</a:t>
            </a:r>
            <a:r>
              <a:rPr lang="en-US" dirty="0">
                <a:latin typeface="Times New Roman" panose="02020603050405020304" pitchFamily="18" charset="0"/>
                <a:cs typeface="Times New Roman" panose="02020603050405020304" pitchFamily="18" charset="0"/>
              </a:rPr>
              <a:t> also has, up its sleeve, another useful tool called grid searching.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grid search will by brute force try many different model parameters and give us the best one based on a metric of our choosing.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we can choose to optimize KNN for accuracy in the following manner:</a:t>
            </a:r>
          </a:p>
          <a:p>
            <a:r>
              <a:rPr lang="en-IN" dirty="0">
                <a:latin typeface="Century Gothic" panose="020B0502020202020204" pitchFamily="34" charset="0"/>
              </a:rPr>
              <a:t>from </a:t>
            </a:r>
            <a:r>
              <a:rPr lang="en-IN" dirty="0" err="1">
                <a:latin typeface="Century Gothic" panose="020B0502020202020204" pitchFamily="34" charset="0"/>
              </a:rPr>
              <a:t>sklearn.grid_search</a:t>
            </a:r>
            <a:r>
              <a:rPr lang="en-IN" dirty="0">
                <a:latin typeface="Century Gothic" panose="020B0502020202020204" pitchFamily="34" charset="0"/>
              </a:rPr>
              <a:t> import </a:t>
            </a:r>
            <a:r>
              <a:rPr lang="en-IN" dirty="0" err="1">
                <a:latin typeface="Century Gothic" panose="020B0502020202020204" pitchFamily="34" charset="0"/>
              </a:rPr>
              <a:t>GridSearchCV</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import our grid search module </a:t>
            </a:r>
            <a:endParaRPr lang="en-IN" dirty="0" smtClean="0">
              <a:latin typeface="Century Gothic" panose="020B0502020202020204" pitchFamily="34" charset="0"/>
            </a:endParaRPr>
          </a:p>
          <a:p>
            <a:r>
              <a:rPr lang="en-IN" dirty="0" err="1" smtClean="0">
                <a:latin typeface="Century Gothic" panose="020B0502020202020204" pitchFamily="34" charset="0"/>
              </a:rPr>
              <a:t>knn</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KNeighborsClassifier</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instantiate a blank slate KNN, no </a:t>
            </a:r>
            <a:r>
              <a:rPr lang="en-IN" dirty="0" err="1">
                <a:latin typeface="Century Gothic" panose="020B0502020202020204" pitchFamily="34" charset="0"/>
              </a:rPr>
              <a:t>neighbors</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err="1" smtClean="0">
                <a:latin typeface="Century Gothic" panose="020B0502020202020204" pitchFamily="34" charset="0"/>
              </a:rPr>
              <a:t>k_range</a:t>
            </a:r>
            <a:r>
              <a:rPr lang="en-IN" dirty="0" smtClean="0">
                <a:latin typeface="Century Gothic" panose="020B0502020202020204" pitchFamily="34" charset="0"/>
              </a:rPr>
              <a:t> </a:t>
            </a:r>
            <a:r>
              <a:rPr lang="en-IN" dirty="0">
                <a:latin typeface="Century Gothic" panose="020B0502020202020204" pitchFamily="34" charset="0"/>
              </a:rPr>
              <a:t>= range(1, 30, 2) </a:t>
            </a:r>
            <a:endParaRPr lang="en-IN" dirty="0" smtClean="0">
              <a:latin typeface="Century Gothic" panose="020B0502020202020204" pitchFamily="34" charset="0"/>
            </a:endParaRPr>
          </a:p>
          <a:p>
            <a:r>
              <a:rPr lang="en-IN" dirty="0" err="1" smtClean="0">
                <a:latin typeface="Century Gothic" panose="020B0502020202020204" pitchFamily="34" charset="0"/>
              </a:rPr>
              <a:t>param_grid</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dict</a:t>
            </a:r>
            <a:r>
              <a:rPr lang="en-IN" dirty="0">
                <a:latin typeface="Century Gothic" panose="020B0502020202020204" pitchFamily="34" charset="0"/>
              </a:rPr>
              <a:t>(</a:t>
            </a:r>
            <a:r>
              <a:rPr lang="en-IN" dirty="0" err="1">
                <a:latin typeface="Century Gothic" panose="020B0502020202020204" pitchFamily="34" charset="0"/>
              </a:rPr>
              <a:t>n_neighbors</a:t>
            </a:r>
            <a:r>
              <a:rPr lang="en-IN" dirty="0">
                <a:latin typeface="Century Gothic" panose="020B0502020202020204" pitchFamily="34" charset="0"/>
              </a:rPr>
              <a:t>=</a:t>
            </a:r>
            <a:r>
              <a:rPr lang="en-IN" dirty="0" err="1">
                <a:latin typeface="Century Gothic" panose="020B0502020202020204" pitchFamily="34" charset="0"/>
              </a:rPr>
              <a:t>k_range</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err="1">
                <a:latin typeface="Century Gothic" panose="020B0502020202020204" pitchFamily="34" charset="0"/>
              </a:rPr>
              <a:t>param_grid</a:t>
            </a:r>
            <a:r>
              <a:rPr lang="en-IN" dirty="0">
                <a:latin typeface="Century Gothic" panose="020B0502020202020204" pitchFamily="34" charset="0"/>
              </a:rPr>
              <a:t> = {"n_ </a:t>
            </a:r>
            <a:r>
              <a:rPr lang="en-IN" dirty="0" err="1">
                <a:latin typeface="Century Gothic" panose="020B0502020202020204" pitchFamily="34" charset="0"/>
              </a:rPr>
              <a:t>neighbors</a:t>
            </a:r>
            <a:r>
              <a:rPr lang="en-IN" dirty="0">
                <a:latin typeface="Century Gothic" panose="020B0502020202020204" pitchFamily="34" charset="0"/>
              </a:rPr>
              <a:t>": [1, 3, 5, …]}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grid </a:t>
            </a:r>
            <a:r>
              <a:rPr lang="en-IN" dirty="0">
                <a:latin typeface="Century Gothic" panose="020B0502020202020204" pitchFamily="34" charset="0"/>
              </a:rPr>
              <a:t>= </a:t>
            </a:r>
            <a:r>
              <a:rPr lang="en-IN" dirty="0" err="1">
                <a:latin typeface="Century Gothic" panose="020B0502020202020204" pitchFamily="34" charset="0"/>
              </a:rPr>
              <a:t>GridSearchCV</a:t>
            </a:r>
            <a:r>
              <a:rPr lang="en-IN" dirty="0">
                <a:latin typeface="Century Gothic" panose="020B0502020202020204" pitchFamily="34" charset="0"/>
              </a:rPr>
              <a:t>(</a:t>
            </a:r>
            <a:r>
              <a:rPr lang="en-IN" dirty="0" err="1">
                <a:latin typeface="Century Gothic" panose="020B0502020202020204" pitchFamily="34" charset="0"/>
              </a:rPr>
              <a:t>knn</a:t>
            </a:r>
            <a:r>
              <a:rPr lang="en-IN" dirty="0">
                <a:latin typeface="Century Gothic" panose="020B0502020202020204" pitchFamily="34" charset="0"/>
              </a:rPr>
              <a:t>, </a:t>
            </a:r>
            <a:r>
              <a:rPr lang="en-IN" dirty="0" err="1">
                <a:latin typeface="Century Gothic" panose="020B0502020202020204" pitchFamily="34" charset="0"/>
              </a:rPr>
              <a:t>param_grid</a:t>
            </a:r>
            <a:r>
              <a:rPr lang="en-IN" dirty="0">
                <a:latin typeface="Century Gothic" panose="020B0502020202020204" pitchFamily="34" charset="0"/>
              </a:rPr>
              <a:t>, cv=5, scoring='accuracy') </a:t>
            </a:r>
            <a:endParaRPr lang="en-IN" dirty="0" smtClean="0">
              <a:latin typeface="Century Gothic" panose="020B0502020202020204" pitchFamily="34" charset="0"/>
            </a:endParaRPr>
          </a:p>
          <a:p>
            <a:r>
              <a:rPr lang="en-IN" dirty="0" err="1" smtClean="0">
                <a:latin typeface="Century Gothic" panose="020B0502020202020204" pitchFamily="34" charset="0"/>
              </a:rPr>
              <a:t>grid.fit</a:t>
            </a:r>
            <a:r>
              <a:rPr lang="en-IN" dirty="0" smtClean="0">
                <a:latin typeface="Century Gothic" panose="020B0502020202020204" pitchFamily="34" charset="0"/>
              </a:rPr>
              <a:t>(X</a:t>
            </a:r>
            <a:r>
              <a:rPr lang="en-IN" dirty="0">
                <a:latin typeface="Century Gothic" panose="020B0502020202020204" pitchFamily="34" charset="0"/>
              </a:rPr>
              <a:t>, y)</a:t>
            </a:r>
          </a:p>
        </p:txBody>
      </p:sp>
    </p:spTree>
    <p:extLst>
      <p:ext uri="{BB962C8B-B14F-4D97-AF65-F5344CB8AC3E}">
        <p14:creationId xmlns:p14="http://schemas.microsoft.com/office/powerpoint/2010/main" val="1438107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D1556DC-E79C-3002-DB1C-00BCDA47356C}"/>
              </a:ext>
            </a:extLst>
          </p:cNvPr>
          <p:cNvSpPr>
            <a:spLocks noGrp="1"/>
          </p:cNvSpPr>
          <p:nvPr>
            <p:ph idx="1"/>
          </p:nvPr>
        </p:nvSpPr>
        <p:spPr>
          <a:xfrm>
            <a:off x="838200" y="484909"/>
            <a:ext cx="10515600" cy="5692054"/>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In the </a:t>
            </a:r>
            <a:r>
              <a:rPr lang="en-US" dirty="0" err="1">
                <a:latin typeface="Times New Roman" panose="02020603050405020304" pitchFamily="18" charset="0"/>
                <a:cs typeface="Times New Roman" panose="02020603050405020304" pitchFamily="18" charset="0"/>
              </a:rPr>
              <a:t>grid.fit</a:t>
            </a:r>
            <a:r>
              <a:rPr lang="en-US" dirty="0">
                <a:latin typeface="Times New Roman" panose="02020603050405020304" pitchFamily="18" charset="0"/>
                <a:cs typeface="Times New Roman" panose="02020603050405020304" pitchFamily="18" charset="0"/>
              </a:rPr>
              <a:t>() line of code, what is happening is that, for each combination of features, in this case we have 15 different possibilities for K, we are cross-validating each one five times.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means that by the end of this code, we will have 15 * 5 = 75 different KNN models!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can see how, when applying this technique to more complex models, we could run into difficulties with time:</a:t>
            </a:r>
          </a:p>
          <a:p>
            <a:r>
              <a:rPr lang="en-IN" dirty="0">
                <a:latin typeface="Century Gothic" panose="020B0502020202020204" pitchFamily="34" charset="0"/>
              </a:rPr>
              <a:t># check the results of the grid search </a:t>
            </a:r>
            <a:endParaRPr lang="en-IN" dirty="0" smtClean="0">
              <a:latin typeface="Century Gothic" panose="020B0502020202020204" pitchFamily="34" charset="0"/>
            </a:endParaRPr>
          </a:p>
          <a:p>
            <a:r>
              <a:rPr lang="en-IN" dirty="0" err="1" smtClean="0">
                <a:latin typeface="Century Gothic" panose="020B0502020202020204" pitchFamily="34" charset="0"/>
              </a:rPr>
              <a:t>grid.grid_scores</a:t>
            </a:r>
            <a:r>
              <a:rPr lang="en-IN" dirty="0">
                <a:latin typeface="Century Gothic" panose="020B0502020202020204" pitchFamily="34" charset="0"/>
              </a:rPr>
              <a:t>_ </a:t>
            </a:r>
            <a:endParaRPr lang="en-IN" dirty="0" smtClean="0">
              <a:latin typeface="Century Gothic" panose="020B0502020202020204" pitchFamily="34" charset="0"/>
            </a:endParaRPr>
          </a:p>
          <a:p>
            <a:r>
              <a:rPr lang="en-IN" dirty="0" err="1" smtClean="0">
                <a:latin typeface="Century Gothic" panose="020B0502020202020204" pitchFamily="34" charset="0"/>
              </a:rPr>
              <a:t>grid_mean_scores</a:t>
            </a:r>
            <a:r>
              <a:rPr lang="en-IN" dirty="0" smtClean="0">
                <a:latin typeface="Century Gothic" panose="020B0502020202020204" pitchFamily="34" charset="0"/>
              </a:rPr>
              <a:t> </a:t>
            </a:r>
            <a:r>
              <a:rPr lang="en-IN" dirty="0">
                <a:latin typeface="Century Gothic" panose="020B0502020202020204" pitchFamily="34" charset="0"/>
              </a:rPr>
              <a:t>= [result[1] for result in </a:t>
            </a:r>
            <a:r>
              <a:rPr lang="en-IN" dirty="0" err="1">
                <a:latin typeface="Century Gothic" panose="020B0502020202020204" pitchFamily="34" charset="0"/>
              </a:rPr>
              <a:t>grid.grid_scores</a:t>
            </a:r>
            <a:r>
              <a:rPr lang="en-IN" dirty="0">
                <a:latin typeface="Century Gothic" panose="020B0502020202020204" pitchFamily="34" charset="0"/>
              </a:rPr>
              <a:t>_]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this is a list of the average accuracies for each parameter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combination </a:t>
            </a:r>
            <a:endParaRPr lang="en-IN" dirty="0" smtClean="0">
              <a:latin typeface="Century Gothic" panose="020B0502020202020204" pitchFamily="34" charset="0"/>
            </a:endParaRPr>
          </a:p>
          <a:p>
            <a:pPr lvl="1"/>
            <a:r>
              <a:rPr lang="en-IN" dirty="0" err="1" smtClean="0">
                <a:latin typeface="Century Gothic" panose="020B0502020202020204" pitchFamily="34" charset="0"/>
              </a:rPr>
              <a:t>plt.figure</a:t>
            </a:r>
            <a:r>
              <a:rPr lang="en-IN" dirty="0">
                <a:latin typeface="Century Gothic" panose="020B0502020202020204" pitchFamily="34" charset="0"/>
              </a:rPr>
              <a:t>() </a:t>
            </a:r>
            <a:endParaRPr lang="en-IN" dirty="0" smtClean="0">
              <a:latin typeface="Century Gothic" panose="020B0502020202020204" pitchFamily="34" charset="0"/>
            </a:endParaRPr>
          </a:p>
          <a:p>
            <a:pPr lvl="1"/>
            <a:r>
              <a:rPr lang="en-IN" dirty="0" err="1" smtClean="0">
                <a:latin typeface="Century Gothic" panose="020B0502020202020204" pitchFamily="34" charset="0"/>
              </a:rPr>
              <a:t>plt.ylim</a:t>
            </a:r>
            <a:r>
              <a:rPr lang="en-IN" dirty="0">
                <a:latin typeface="Century Gothic" panose="020B0502020202020204" pitchFamily="34" charset="0"/>
              </a:rPr>
              <a:t>([0.9, 1]) </a:t>
            </a:r>
            <a:endParaRPr lang="en-IN" dirty="0" smtClean="0">
              <a:latin typeface="Century Gothic" panose="020B0502020202020204" pitchFamily="34" charset="0"/>
            </a:endParaRPr>
          </a:p>
          <a:p>
            <a:pPr lvl="1"/>
            <a:r>
              <a:rPr lang="en-IN" dirty="0" err="1" smtClean="0">
                <a:latin typeface="Century Gothic" panose="020B0502020202020204" pitchFamily="34" charset="0"/>
              </a:rPr>
              <a:t>plt.xlabel</a:t>
            </a:r>
            <a:r>
              <a:rPr lang="en-IN" dirty="0">
                <a:latin typeface="Century Gothic" panose="020B0502020202020204" pitchFamily="34" charset="0"/>
              </a:rPr>
              <a:t>('Tuning Parameter: N nearest </a:t>
            </a:r>
            <a:r>
              <a:rPr lang="en-IN" dirty="0" err="1">
                <a:latin typeface="Century Gothic" panose="020B0502020202020204" pitchFamily="34" charset="0"/>
              </a:rPr>
              <a:t>neighbors'</a:t>
            </a:r>
            <a:r>
              <a:rPr lang="en-IN" dirty="0">
                <a:latin typeface="Century Gothic" panose="020B0502020202020204" pitchFamily="34" charset="0"/>
              </a:rPr>
              <a:t>) </a:t>
            </a:r>
            <a:endParaRPr lang="en-IN" dirty="0" smtClean="0">
              <a:latin typeface="Century Gothic" panose="020B0502020202020204" pitchFamily="34" charset="0"/>
            </a:endParaRPr>
          </a:p>
          <a:p>
            <a:pPr lvl="1"/>
            <a:r>
              <a:rPr lang="en-IN" dirty="0" err="1" smtClean="0">
                <a:latin typeface="Century Gothic" panose="020B0502020202020204" pitchFamily="34" charset="0"/>
              </a:rPr>
              <a:t>plt.ylabel</a:t>
            </a:r>
            <a:r>
              <a:rPr lang="en-IN" dirty="0">
                <a:latin typeface="Century Gothic" panose="020B0502020202020204" pitchFamily="34" charset="0"/>
              </a:rPr>
              <a:t>('Classification Accuracy') </a:t>
            </a:r>
            <a:endParaRPr lang="en-IN" dirty="0" smtClean="0">
              <a:latin typeface="Century Gothic" panose="020B0502020202020204" pitchFamily="34" charset="0"/>
            </a:endParaRPr>
          </a:p>
          <a:p>
            <a:pPr lvl="1"/>
            <a:r>
              <a:rPr lang="en-IN" dirty="0" err="1" smtClean="0">
                <a:latin typeface="Century Gothic" panose="020B0502020202020204" pitchFamily="34" charset="0"/>
              </a:rPr>
              <a:t>plt.plot</a:t>
            </a:r>
            <a:r>
              <a:rPr lang="en-IN" dirty="0" smtClean="0">
                <a:latin typeface="Century Gothic" panose="020B0502020202020204" pitchFamily="34" charset="0"/>
              </a:rPr>
              <a:t>(</a:t>
            </a:r>
            <a:r>
              <a:rPr lang="en-IN" dirty="0" err="1" smtClean="0">
                <a:latin typeface="Century Gothic" panose="020B0502020202020204" pitchFamily="34" charset="0"/>
              </a:rPr>
              <a:t>k_range</a:t>
            </a:r>
            <a:r>
              <a:rPr lang="en-IN" dirty="0">
                <a:latin typeface="Century Gothic" panose="020B0502020202020204" pitchFamily="34" charset="0"/>
              </a:rPr>
              <a:t>, </a:t>
            </a:r>
            <a:r>
              <a:rPr lang="en-IN" dirty="0" err="1">
                <a:latin typeface="Century Gothic" panose="020B0502020202020204" pitchFamily="34" charset="0"/>
              </a:rPr>
              <a:t>grid_mean_scores</a:t>
            </a:r>
            <a:r>
              <a:rPr lang="en-IN" dirty="0">
                <a:latin typeface="Century Gothic" panose="020B0502020202020204" pitchFamily="34" charset="0"/>
              </a:rPr>
              <a:t>)</a:t>
            </a:r>
          </a:p>
        </p:txBody>
      </p:sp>
    </p:spTree>
    <p:extLst>
      <p:ext uri="{BB962C8B-B14F-4D97-AF65-F5344CB8AC3E}">
        <p14:creationId xmlns:p14="http://schemas.microsoft.com/office/powerpoint/2010/main" val="1727226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4A225D-8984-0215-D6F7-30A9524904B7}"/>
              </a:ext>
            </a:extLst>
          </p:cNvPr>
          <p:cNvSpPr>
            <a:spLocks noGrp="1"/>
          </p:cNvSpPr>
          <p:nvPr>
            <p:ph type="title"/>
          </p:nvPr>
        </p:nvSpPr>
        <p:spPr/>
        <p:txBody>
          <a:bodyPr>
            <a:noAutofit/>
          </a:bodyPr>
          <a:lstStyle/>
          <a:p>
            <a:r>
              <a:rPr lang="en-IN" sz="2800" dirty="0" err="1">
                <a:latin typeface="Century Gothic" panose="020B0502020202020204" pitchFamily="34" charset="0"/>
              </a:rPr>
              <a:t>plt.plot</a:t>
            </a:r>
            <a:r>
              <a:rPr lang="en-IN" sz="2800" dirty="0">
                <a:latin typeface="Century Gothic" panose="020B0502020202020204" pitchFamily="34" charset="0"/>
              </a:rPr>
              <a:t>(</a:t>
            </a:r>
            <a:r>
              <a:rPr lang="en-IN" sz="2800" dirty="0" err="1">
                <a:latin typeface="Century Gothic" panose="020B0502020202020204" pitchFamily="34" charset="0"/>
              </a:rPr>
              <a:t>grid.best_params</a:t>
            </a:r>
            <a:r>
              <a:rPr lang="en-IN" sz="2800" dirty="0">
                <a:latin typeface="Century Gothic" panose="020B0502020202020204" pitchFamily="34" charset="0"/>
              </a:rPr>
              <a:t>_['</a:t>
            </a:r>
            <a:r>
              <a:rPr lang="en-IN" sz="2800" dirty="0" err="1">
                <a:latin typeface="Century Gothic" panose="020B0502020202020204" pitchFamily="34" charset="0"/>
              </a:rPr>
              <a:t>n_neighbors</a:t>
            </a:r>
            <a:r>
              <a:rPr lang="en-IN" sz="2800" dirty="0">
                <a:latin typeface="Century Gothic" panose="020B0502020202020204" pitchFamily="34" charset="0"/>
              </a:rPr>
              <a:t>'], </a:t>
            </a:r>
            <a:r>
              <a:rPr lang="en-IN" sz="2800" dirty="0" err="1">
                <a:latin typeface="Century Gothic" panose="020B0502020202020204" pitchFamily="34" charset="0"/>
              </a:rPr>
              <a:t>grid.best_score</a:t>
            </a:r>
            <a:r>
              <a:rPr lang="en-IN" sz="2800" dirty="0">
                <a:latin typeface="Century Gothic" panose="020B0502020202020204" pitchFamily="34" charset="0"/>
              </a:rPr>
              <a:t>_, '</a:t>
            </a:r>
            <a:r>
              <a:rPr lang="en-IN" sz="2800" dirty="0" err="1">
                <a:latin typeface="Century Gothic" panose="020B0502020202020204" pitchFamily="34" charset="0"/>
              </a:rPr>
              <a:t>ro</a:t>
            </a:r>
            <a:r>
              <a:rPr lang="en-IN" sz="2800" dirty="0">
                <a:latin typeface="Century Gothic" panose="020B0502020202020204" pitchFamily="34" charset="0"/>
              </a:rPr>
              <a:t>', </a:t>
            </a:r>
            <a:r>
              <a:rPr lang="en-IN" sz="2800" dirty="0" err="1">
                <a:latin typeface="Century Gothic" panose="020B0502020202020204" pitchFamily="34" charset="0"/>
              </a:rPr>
              <a:t>markersize</a:t>
            </a:r>
            <a:r>
              <a:rPr lang="en-IN" sz="2800" dirty="0">
                <a:latin typeface="Century Gothic" panose="020B0502020202020204" pitchFamily="34" charset="0"/>
              </a:rPr>
              <a:t>=12, </a:t>
            </a:r>
            <a:r>
              <a:rPr lang="en-IN" sz="2800" dirty="0" err="1">
                <a:latin typeface="Century Gothic" panose="020B0502020202020204" pitchFamily="34" charset="0"/>
              </a:rPr>
              <a:t>markeredgewidth</a:t>
            </a:r>
            <a:r>
              <a:rPr lang="en-IN" sz="2800" dirty="0">
                <a:latin typeface="Century Gothic" panose="020B0502020202020204" pitchFamily="34" charset="0"/>
              </a:rPr>
              <a:t>=1.5, </a:t>
            </a:r>
            <a:r>
              <a:rPr lang="en-IN" sz="2800" dirty="0" smtClean="0">
                <a:latin typeface="Century Gothic" panose="020B0502020202020204" pitchFamily="34" charset="0"/>
              </a:rPr>
              <a:t/>
            </a:r>
            <a:br>
              <a:rPr lang="en-IN" sz="2800" dirty="0" smtClean="0">
                <a:latin typeface="Century Gothic" panose="020B0502020202020204" pitchFamily="34" charset="0"/>
              </a:rPr>
            </a:br>
            <a:r>
              <a:rPr lang="en-IN" sz="2800" dirty="0" err="1" smtClean="0">
                <a:latin typeface="Century Gothic" panose="020B0502020202020204" pitchFamily="34" charset="0"/>
              </a:rPr>
              <a:t>markerfacecolor</a:t>
            </a:r>
            <a:r>
              <a:rPr lang="en-IN" sz="2800" dirty="0">
                <a:latin typeface="Century Gothic" panose="020B0502020202020204" pitchFamily="34" charset="0"/>
              </a:rPr>
              <a:t>='None', </a:t>
            </a:r>
            <a:r>
              <a:rPr lang="en-IN" sz="2800" dirty="0" err="1">
                <a:latin typeface="Century Gothic" panose="020B0502020202020204" pitchFamily="34" charset="0"/>
              </a:rPr>
              <a:t>markeredgecolor</a:t>
            </a:r>
            <a:r>
              <a:rPr lang="en-IN" sz="2800" dirty="0">
                <a:latin typeface="Century Gothic" panose="020B0502020202020204" pitchFamily="34" charset="0"/>
              </a:rPr>
              <a:t>='r')</a:t>
            </a:r>
          </a:p>
        </p:txBody>
      </p:sp>
      <p:pic>
        <p:nvPicPr>
          <p:cNvPr id="5" name="Content Placeholder 4">
            <a:extLst>
              <a:ext uri="{FF2B5EF4-FFF2-40B4-BE49-F238E27FC236}">
                <a16:creationId xmlns="" xmlns:a16="http://schemas.microsoft.com/office/drawing/2014/main" id="{4445095C-44A5-CAD6-0E81-97E395032704}"/>
              </a:ext>
            </a:extLst>
          </p:cNvPr>
          <p:cNvPicPr>
            <a:picLocks noGrp="1" noChangeAspect="1"/>
          </p:cNvPicPr>
          <p:nvPr>
            <p:ph idx="1"/>
          </p:nvPr>
        </p:nvPicPr>
        <p:blipFill>
          <a:blip r:embed="rId2"/>
          <a:stretch>
            <a:fillRect/>
          </a:stretch>
        </p:blipFill>
        <p:spPr>
          <a:xfrm>
            <a:off x="967957" y="1690688"/>
            <a:ext cx="7231663" cy="4897634"/>
          </a:xfrm>
        </p:spPr>
      </p:pic>
    </p:spTree>
    <p:extLst>
      <p:ext uri="{BB962C8B-B14F-4D97-AF65-F5344CB8AC3E}">
        <p14:creationId xmlns:p14="http://schemas.microsoft.com/office/powerpoint/2010/main" val="793307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522FEB1-4470-FF0B-E9F3-F11109217AB9}"/>
              </a:ext>
            </a:extLst>
          </p:cNvPr>
          <p:cNvSpPr>
            <a:spLocks noGrp="1"/>
          </p:cNvSpPr>
          <p:nvPr>
            <p:ph idx="1"/>
          </p:nvPr>
        </p:nvSpPr>
        <p:spPr>
          <a:xfrm>
            <a:off x="838199" y="263236"/>
            <a:ext cx="10855037" cy="62484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Note that the preceding graph is basically the same as the one we achieved previously with our for loop, but much easier!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see that seven neighbors (circled in the preceding graph) seem to have the best accuracy. However, we can also, very easily, get our best parameters and our best model, as shown:</a:t>
            </a:r>
          </a:p>
          <a:p>
            <a:r>
              <a:rPr lang="en-US" dirty="0" err="1">
                <a:latin typeface="Century Gothic" panose="020B0502020202020204" pitchFamily="34" charset="0"/>
              </a:rPr>
              <a:t>grid.best_params</a:t>
            </a:r>
            <a:r>
              <a:rPr lang="en-US" dirty="0">
                <a:latin typeface="Century Gothic" panose="020B0502020202020204" pitchFamily="34" charset="0"/>
              </a:rPr>
              <a:t>_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a:t>
            </a:r>
            <a:r>
              <a:rPr lang="en-US" dirty="0" err="1">
                <a:latin typeface="Century Gothic" panose="020B0502020202020204" pitchFamily="34" charset="0"/>
              </a:rPr>
              <a:t>n_neighbors</a:t>
            </a:r>
            <a:r>
              <a:rPr lang="en-US" dirty="0">
                <a:latin typeface="Century Gothic" panose="020B0502020202020204" pitchFamily="34" charset="0"/>
              </a:rPr>
              <a:t>': 7} </a:t>
            </a:r>
            <a:endParaRPr lang="en-US" dirty="0" smtClean="0">
              <a:latin typeface="Century Gothic" panose="020B0502020202020204" pitchFamily="34" charset="0"/>
            </a:endParaRPr>
          </a:p>
          <a:p>
            <a:r>
              <a:rPr lang="en-US" dirty="0" err="1" smtClean="0">
                <a:latin typeface="Century Gothic" panose="020B0502020202020204" pitchFamily="34" charset="0"/>
              </a:rPr>
              <a:t>grid.best_score</a:t>
            </a:r>
            <a:r>
              <a:rPr lang="en-US" dirty="0">
                <a:latin typeface="Century Gothic" panose="020B0502020202020204" pitchFamily="34" charset="0"/>
              </a:rPr>
              <a:t>_ </a:t>
            </a:r>
            <a:endParaRPr lang="en-US" dirty="0" smtClean="0">
              <a:latin typeface="Century Gothic" panose="020B0502020202020204" pitchFamily="34" charset="0"/>
            </a:endParaRPr>
          </a:p>
          <a:p>
            <a:r>
              <a:rPr lang="en-US" dirty="0" smtClean="0">
                <a:latin typeface="Century Gothic" panose="020B0502020202020204" pitchFamily="34" charset="0"/>
              </a:rPr>
              <a:t># 0.9799999999</a:t>
            </a:r>
          </a:p>
          <a:p>
            <a:r>
              <a:rPr lang="en-IN" dirty="0" err="1">
                <a:latin typeface="Century Gothic" panose="020B0502020202020204" pitchFamily="34" charset="0"/>
              </a:rPr>
              <a:t>grid.best_estimator</a:t>
            </a:r>
            <a:r>
              <a:rPr lang="en-IN" dirty="0">
                <a:latin typeface="Century Gothic" panose="020B0502020202020204" pitchFamily="34" charset="0"/>
              </a:rPr>
              <a:t>_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actually returns the unfit model with the best parameters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err="1">
                <a:latin typeface="Century Gothic" panose="020B0502020202020204" pitchFamily="34" charset="0"/>
              </a:rPr>
              <a:t>KNeighborsClassifier</a:t>
            </a:r>
            <a:r>
              <a:rPr lang="en-IN" dirty="0">
                <a:latin typeface="Century Gothic" panose="020B0502020202020204" pitchFamily="34" charset="0"/>
              </a:rPr>
              <a:t>(algorithm='auto', </a:t>
            </a:r>
            <a:r>
              <a:rPr lang="en-IN" dirty="0" err="1">
                <a:latin typeface="Century Gothic" panose="020B0502020202020204" pitchFamily="34" charset="0"/>
              </a:rPr>
              <a:t>leaf_size</a:t>
            </a:r>
            <a:r>
              <a:rPr lang="en-IN" dirty="0">
                <a:latin typeface="Century Gothic" panose="020B0502020202020204" pitchFamily="34" charset="0"/>
              </a:rPr>
              <a:t>=30, metric='</a:t>
            </a:r>
            <a:r>
              <a:rPr lang="en-IN" dirty="0" err="1">
                <a:latin typeface="Century Gothic" panose="020B0502020202020204" pitchFamily="34" charset="0"/>
              </a:rPr>
              <a:t>minkowski</a:t>
            </a:r>
            <a:r>
              <a:rPr lang="en-IN" dirty="0">
                <a:latin typeface="Century Gothic" panose="020B0502020202020204" pitchFamily="34" charset="0"/>
              </a:rPr>
              <a:t>', </a:t>
            </a:r>
            <a:r>
              <a:rPr lang="en-IN" dirty="0" err="1">
                <a:latin typeface="Century Gothic" panose="020B0502020202020204" pitchFamily="34" charset="0"/>
              </a:rPr>
              <a:t>metric_params</a:t>
            </a:r>
            <a:r>
              <a:rPr lang="en-IN" dirty="0">
                <a:latin typeface="Century Gothic" panose="020B0502020202020204" pitchFamily="34" charset="0"/>
              </a:rPr>
              <a:t>=None, </a:t>
            </a:r>
            <a:r>
              <a:rPr lang="en-IN" dirty="0" err="1">
                <a:latin typeface="Century Gothic" panose="020B0502020202020204" pitchFamily="34" charset="0"/>
              </a:rPr>
              <a:t>n_jobs</a:t>
            </a:r>
            <a:r>
              <a:rPr lang="en-IN" dirty="0">
                <a:latin typeface="Century Gothic" panose="020B0502020202020204" pitchFamily="34" charset="0"/>
              </a:rPr>
              <a:t>=1, </a:t>
            </a:r>
            <a:r>
              <a:rPr lang="en-IN" dirty="0" err="1">
                <a:latin typeface="Century Gothic" panose="020B0502020202020204" pitchFamily="34" charset="0"/>
              </a:rPr>
              <a:t>n_neighbors</a:t>
            </a:r>
            <a:r>
              <a:rPr lang="en-IN" dirty="0">
                <a:latin typeface="Century Gothic" panose="020B0502020202020204" pitchFamily="34" charset="0"/>
              </a:rPr>
              <a:t>=7, p=2, weights='uniform')</a:t>
            </a:r>
          </a:p>
          <a:p>
            <a:endParaRPr lang="en-US" dirty="0" smtClean="0"/>
          </a:p>
          <a:p>
            <a:endParaRPr lang="en-IN" dirty="0"/>
          </a:p>
        </p:txBody>
      </p:sp>
    </p:spTree>
    <p:extLst>
      <p:ext uri="{BB962C8B-B14F-4D97-AF65-F5344CB8AC3E}">
        <p14:creationId xmlns:p14="http://schemas.microsoft.com/office/powerpoint/2010/main" val="3721919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53B564B-E81E-6C34-9113-CFA935114052}"/>
              </a:ext>
            </a:extLst>
          </p:cNvPr>
          <p:cNvSpPr>
            <a:spLocks noGrp="1"/>
          </p:cNvSpPr>
          <p:nvPr>
            <p:ph idx="1"/>
          </p:nvPr>
        </p:nvSpPr>
        <p:spPr>
          <a:xfrm>
            <a:off x="838200" y="443345"/>
            <a:ext cx="10515600" cy="5733618"/>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I'll take this one step further.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Maybe </a:t>
            </a:r>
            <a:r>
              <a:rPr lang="en-US" dirty="0">
                <a:latin typeface="Times New Roman" panose="02020603050405020304" pitchFamily="18" charset="0"/>
                <a:cs typeface="Times New Roman" panose="02020603050405020304" pitchFamily="18" charset="0"/>
              </a:rPr>
              <a:t>you've noted that KNN has other parameters as well, such as algorithm, p, and weights.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quick look at the scikit-learn documentation reveals that we have some options for each of these, which are as follows:</a:t>
            </a:r>
          </a:p>
          <a:p>
            <a:pPr algn="just"/>
            <a:r>
              <a:rPr lang="en-US" b="1" dirty="0">
                <a:latin typeface="Times New Roman" panose="02020603050405020304" pitchFamily="18" charset="0"/>
                <a:cs typeface="Times New Roman" panose="02020603050405020304" pitchFamily="18" charset="0"/>
              </a:rPr>
              <a:t>• p</a:t>
            </a:r>
            <a:r>
              <a:rPr lang="en-US" dirty="0">
                <a:latin typeface="Times New Roman" panose="02020603050405020304" pitchFamily="18" charset="0"/>
                <a:cs typeface="Times New Roman" panose="02020603050405020304" pitchFamily="18" charset="0"/>
              </a:rPr>
              <a:t> is an integer and represents the type of distance we wish to use.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default, we use p=2, which is our standard distance formula.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Weights</a:t>
            </a:r>
            <a:r>
              <a:rPr lang="en-US" dirty="0">
                <a:latin typeface="Times New Roman" panose="02020603050405020304" pitchFamily="18" charset="0"/>
                <a:cs typeface="Times New Roman" panose="02020603050405020304" pitchFamily="18" charset="0"/>
              </a:rPr>
              <a:t> is, by default, </a:t>
            </a:r>
            <a:r>
              <a:rPr lang="en-US" i="1" dirty="0">
                <a:latin typeface="Times New Roman" panose="02020603050405020304" pitchFamily="18" charset="0"/>
                <a:cs typeface="Times New Roman" panose="02020603050405020304" pitchFamily="18" charset="0"/>
              </a:rPr>
              <a:t>uniform</a:t>
            </a:r>
            <a:r>
              <a:rPr lang="en-US" dirty="0">
                <a:latin typeface="Times New Roman" panose="02020603050405020304" pitchFamily="18" charset="0"/>
                <a:cs typeface="Times New Roman" panose="02020603050405020304" pitchFamily="18" charset="0"/>
              </a:rPr>
              <a:t>, but can also be distance, which weighs points by their distance, which means that closer neighbors have a greater impact on the prediction.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is how the model finds the nearest neighbors. We can try </a:t>
            </a:r>
            <a:r>
              <a:rPr lang="en-US" i="1" dirty="0">
                <a:latin typeface="Times New Roman" panose="02020603050405020304" pitchFamily="18" charset="0"/>
                <a:cs typeface="Times New Roman" panose="02020603050405020304" pitchFamily="18" charset="0"/>
              </a:rPr>
              <a:t>ball_ tree, </a:t>
            </a:r>
            <a:r>
              <a:rPr lang="en-US" i="1" dirty="0" err="1">
                <a:latin typeface="Times New Roman" panose="02020603050405020304" pitchFamily="18" charset="0"/>
                <a:cs typeface="Times New Roman" panose="02020603050405020304" pitchFamily="18" charset="0"/>
              </a:rPr>
              <a:t>kd_tree</a:t>
            </a:r>
            <a:r>
              <a:rPr lang="en-US" i="1" dirty="0">
                <a:latin typeface="Times New Roman" panose="02020603050405020304" pitchFamily="18" charset="0"/>
                <a:cs typeface="Times New Roman" panose="02020603050405020304" pitchFamily="18" charset="0"/>
              </a:rPr>
              <a:t>, or brute</a:t>
            </a:r>
            <a:r>
              <a:rPr lang="en-US" dirty="0">
                <a:latin typeface="Times New Roman" panose="02020603050405020304" pitchFamily="18" charset="0"/>
                <a:cs typeface="Times New Roman" panose="02020603050405020304" pitchFamily="18" charset="0"/>
              </a:rPr>
              <a:t>. The default is </a:t>
            </a:r>
            <a:r>
              <a:rPr lang="en-US" i="1" dirty="0">
                <a:latin typeface="Times New Roman" panose="02020603050405020304" pitchFamily="18" charset="0"/>
                <a:cs typeface="Times New Roman" panose="02020603050405020304" pitchFamily="18" charset="0"/>
              </a:rPr>
              <a:t>auto</a:t>
            </a:r>
            <a:r>
              <a:rPr lang="en-US" dirty="0">
                <a:latin typeface="Times New Roman" panose="02020603050405020304" pitchFamily="18" charset="0"/>
                <a:cs typeface="Times New Roman" panose="02020603050405020304" pitchFamily="18" charset="0"/>
              </a:rPr>
              <a:t>, which tries to use the best one automatically.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9101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C523E3F-C88E-96E4-DBC2-866C39DE6140}"/>
              </a:ext>
            </a:extLst>
          </p:cNvPr>
          <p:cNvSpPr>
            <a:spLocks noGrp="1"/>
          </p:cNvSpPr>
          <p:nvPr>
            <p:ph idx="1"/>
          </p:nvPr>
        </p:nvSpPr>
        <p:spPr>
          <a:xfrm>
            <a:off x="838200" y="318655"/>
            <a:ext cx="10841182" cy="6303818"/>
          </a:xfrm>
        </p:spPr>
        <p:txBody>
          <a:bodyPr>
            <a:normAutofit fontScale="85000" lnSpcReduction="20000"/>
          </a:bodyPr>
          <a:lstStyle/>
          <a:p>
            <a:r>
              <a:rPr lang="en-IN" dirty="0" err="1">
                <a:latin typeface="Century Gothic" panose="020B0502020202020204" pitchFamily="34" charset="0"/>
                <a:cs typeface="Times New Roman" panose="02020603050405020304" pitchFamily="18" charset="0"/>
              </a:rPr>
              <a:t>knn</a:t>
            </a:r>
            <a:r>
              <a:rPr lang="en-IN" dirty="0">
                <a:latin typeface="Century Gothic" panose="020B0502020202020204" pitchFamily="34" charset="0"/>
                <a:cs typeface="Times New Roman" panose="02020603050405020304" pitchFamily="18" charset="0"/>
              </a:rPr>
              <a:t> = </a:t>
            </a:r>
            <a:r>
              <a:rPr lang="en-IN" dirty="0" err="1">
                <a:latin typeface="Century Gothic" panose="020B0502020202020204" pitchFamily="34" charset="0"/>
                <a:cs typeface="Times New Roman" panose="02020603050405020304" pitchFamily="18" charset="0"/>
              </a:rPr>
              <a:t>KNeighborsClassifier</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k_range</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range(1, 30)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algorithm_options</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kd_tree</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ball_tree</a:t>
            </a:r>
            <a:r>
              <a:rPr lang="en-IN" dirty="0">
                <a:latin typeface="Century Gothic" panose="020B0502020202020204" pitchFamily="34" charset="0"/>
                <a:cs typeface="Times New Roman" panose="02020603050405020304" pitchFamily="18" charset="0"/>
              </a:rPr>
              <a:t>', 'auto', 'brute']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p_range</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range(1, 8)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weight_range</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['uniform', 'distance']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param_grid</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dict</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n_neighbors</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k_range</a:t>
            </a:r>
            <a:r>
              <a:rPr lang="en-IN" dirty="0">
                <a:latin typeface="Century Gothic" panose="020B0502020202020204" pitchFamily="34" charset="0"/>
                <a:cs typeface="Times New Roman" panose="02020603050405020304" pitchFamily="18" charset="0"/>
              </a:rPr>
              <a:t>, weights=</a:t>
            </a:r>
            <a:r>
              <a:rPr lang="en-IN" dirty="0" err="1">
                <a:latin typeface="Century Gothic" panose="020B0502020202020204" pitchFamily="34" charset="0"/>
                <a:cs typeface="Times New Roman" panose="02020603050405020304" pitchFamily="18" charset="0"/>
              </a:rPr>
              <a:t>weight_range</a:t>
            </a:r>
            <a:r>
              <a:rPr lang="en-IN" dirty="0">
                <a:latin typeface="Century Gothic" panose="020B0502020202020204" pitchFamily="34" charset="0"/>
                <a:cs typeface="Times New Roman" panose="02020603050405020304" pitchFamily="18" charset="0"/>
              </a:rPr>
              <a:t>, algorithm=</a:t>
            </a:r>
            <a:r>
              <a:rPr lang="en-IN" dirty="0" err="1">
                <a:latin typeface="Century Gothic" panose="020B0502020202020204" pitchFamily="34" charset="0"/>
                <a:cs typeface="Times New Roman" panose="02020603050405020304" pitchFamily="18" charset="0"/>
              </a:rPr>
              <a:t>algorithm_options</a:t>
            </a:r>
            <a:r>
              <a:rPr lang="en-IN" dirty="0">
                <a:latin typeface="Century Gothic" panose="020B0502020202020204" pitchFamily="34" charset="0"/>
                <a:cs typeface="Times New Roman" panose="02020603050405020304" pitchFamily="18" charset="0"/>
              </a:rPr>
              <a:t>, p=</a:t>
            </a:r>
            <a:r>
              <a:rPr lang="en-IN" dirty="0" err="1">
                <a:latin typeface="Century Gothic" panose="020B0502020202020204" pitchFamily="34" charset="0"/>
                <a:cs typeface="Times New Roman" panose="02020603050405020304" pitchFamily="18" charset="0"/>
              </a:rPr>
              <a:t>p_range</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trying many more options </a:t>
            </a:r>
            <a:endParaRPr lang="en-IN" dirty="0" smtClean="0">
              <a:latin typeface="Century Gothic" panose="020B0502020202020204" pitchFamily="34" charset="0"/>
              <a:cs typeface="Times New Roman" panose="02020603050405020304" pitchFamily="18" charset="0"/>
            </a:endParaRPr>
          </a:p>
          <a:p>
            <a:r>
              <a:rPr lang="en-IN" dirty="0" smtClean="0">
                <a:latin typeface="Century Gothic" panose="020B0502020202020204" pitchFamily="34" charset="0"/>
                <a:cs typeface="Times New Roman" panose="02020603050405020304" pitchFamily="18" charset="0"/>
              </a:rPr>
              <a:t>grid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GridSearchCV</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knn</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param_grid</a:t>
            </a:r>
            <a:r>
              <a:rPr lang="en-IN" dirty="0">
                <a:latin typeface="Century Gothic" panose="020B0502020202020204" pitchFamily="34" charset="0"/>
                <a:cs typeface="Times New Roman" panose="02020603050405020304" pitchFamily="18" charset="0"/>
              </a:rPr>
              <a:t>, cv=5, scoring='accuracy') </a:t>
            </a:r>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grid.fit</a:t>
            </a:r>
            <a:r>
              <a:rPr lang="en-IN" dirty="0" smtClean="0">
                <a:latin typeface="Century Gothic" panose="020B0502020202020204" pitchFamily="34" charset="0"/>
                <a:cs typeface="Times New Roman" panose="02020603050405020304" pitchFamily="18" charset="0"/>
              </a:rPr>
              <a:t>(X</a:t>
            </a:r>
            <a:r>
              <a:rPr lang="en-IN" dirty="0">
                <a:latin typeface="Century Gothic" panose="020B0502020202020204" pitchFamily="34" charset="0"/>
                <a:cs typeface="Times New Roman" panose="02020603050405020304" pitchFamily="18" charset="0"/>
              </a:rPr>
              <a:t>, y</a:t>
            </a:r>
            <a:r>
              <a:rPr lang="en-IN" dirty="0" smtClean="0">
                <a:latin typeface="Century Gothic" panose="020B0502020202020204" pitchFamily="34"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preceding code takes about a minute to run on my laptop because it is trying many, 1, 648, different combinations of parameters and cross-validating each one five times. </a:t>
            </a:r>
          </a:p>
          <a:p>
            <a:r>
              <a:rPr lang="en-US" dirty="0">
                <a:latin typeface="Times New Roman" panose="02020603050405020304" pitchFamily="18" charset="0"/>
                <a:cs typeface="Times New Roman" panose="02020603050405020304" pitchFamily="18" charset="0"/>
              </a:rPr>
              <a:t>All in all, to get the best answer, it is fitting 8,400 different KNN models</a:t>
            </a:r>
            <a:r>
              <a:rPr lang="en-US" dirty="0" smtClean="0">
                <a:latin typeface="Times New Roman" panose="02020603050405020304" pitchFamily="18" charset="0"/>
                <a:cs typeface="Times New Roman" panose="02020603050405020304" pitchFamily="18" charset="0"/>
              </a:rPr>
              <a:t>!</a:t>
            </a:r>
          </a:p>
          <a:p>
            <a:r>
              <a:rPr lang="en-US" dirty="0" smtClean="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grid.best_score</a:t>
            </a:r>
            <a:r>
              <a:rPr lang="en-US" dirty="0" smtClean="0">
                <a:latin typeface="Century Gothic" panose="020B0502020202020204" pitchFamily="34" charset="0"/>
                <a:cs typeface="Times New Roman" panose="02020603050405020304" pitchFamily="18" charset="0"/>
              </a:rPr>
              <a:t>_</a:t>
            </a:r>
          </a:p>
          <a:p>
            <a:r>
              <a:rPr lang="en-US" dirty="0" smtClean="0">
                <a:latin typeface="Century Gothic" panose="020B0502020202020204" pitchFamily="34" charset="0"/>
                <a:cs typeface="Times New Roman" panose="02020603050405020304" pitchFamily="18" charset="0"/>
              </a:rPr>
              <a:t> </a:t>
            </a:r>
            <a:r>
              <a:rPr lang="en-US" dirty="0">
                <a:latin typeface="Century Gothic" panose="020B0502020202020204" pitchFamily="34" charset="0"/>
                <a:cs typeface="Times New Roman" panose="02020603050405020304" pitchFamily="18" charset="0"/>
              </a:rPr>
              <a:t>0.98666666 </a:t>
            </a:r>
            <a:endParaRPr lang="en-US" dirty="0" smtClean="0">
              <a:latin typeface="Century Gothic" panose="020B0502020202020204" pitchFamily="34" charset="0"/>
              <a:cs typeface="Times New Roman" panose="02020603050405020304" pitchFamily="18" charset="0"/>
            </a:endParaRPr>
          </a:p>
          <a:p>
            <a:r>
              <a:rPr lang="en-US" dirty="0" err="1" smtClean="0">
                <a:latin typeface="Century Gothic" panose="020B0502020202020204" pitchFamily="34" charset="0"/>
                <a:cs typeface="Times New Roman" panose="02020603050405020304" pitchFamily="18" charset="0"/>
              </a:rPr>
              <a:t>grid.best_params</a:t>
            </a:r>
            <a:r>
              <a:rPr lang="en-US" dirty="0">
                <a:latin typeface="Century Gothic" panose="020B0502020202020204" pitchFamily="34" charset="0"/>
                <a:cs typeface="Times New Roman" panose="02020603050405020304" pitchFamily="18" charset="0"/>
              </a:rPr>
              <a:t>_ </a:t>
            </a:r>
            <a:endParaRPr lang="en-US" dirty="0" smtClean="0">
              <a:latin typeface="Century Gothic" panose="020B0502020202020204" pitchFamily="34" charset="0"/>
              <a:cs typeface="Times New Roman" panose="02020603050405020304" pitchFamily="18" charset="0"/>
            </a:endParaRPr>
          </a:p>
          <a:p>
            <a:r>
              <a:rPr lang="en-US" dirty="0" smtClean="0">
                <a:latin typeface="Century Gothic" panose="020B0502020202020204" pitchFamily="34" charset="0"/>
                <a:cs typeface="Times New Roman" panose="02020603050405020304" pitchFamily="18" charset="0"/>
              </a:rPr>
              <a:t>{</a:t>
            </a:r>
            <a:r>
              <a:rPr lang="en-US" dirty="0">
                <a:latin typeface="Century Gothic" panose="020B0502020202020204" pitchFamily="34" charset="0"/>
                <a:cs typeface="Times New Roman" panose="02020603050405020304" pitchFamily="18" charset="0"/>
              </a:rPr>
              <a:t>'algorithm': '</a:t>
            </a:r>
            <a:r>
              <a:rPr lang="en-US" dirty="0" err="1">
                <a:latin typeface="Century Gothic" panose="020B0502020202020204" pitchFamily="34" charset="0"/>
                <a:cs typeface="Times New Roman" panose="02020603050405020304" pitchFamily="18" charset="0"/>
              </a:rPr>
              <a:t>kd_tree</a:t>
            </a:r>
            <a:r>
              <a:rPr lang="en-US" dirty="0">
                <a:latin typeface="Century Gothic" panose="020B0502020202020204" pitchFamily="34" charset="0"/>
                <a:cs typeface="Times New Roman" panose="02020603050405020304" pitchFamily="18" charset="0"/>
              </a:rPr>
              <a:t>', '</a:t>
            </a:r>
            <a:r>
              <a:rPr lang="en-US" dirty="0" err="1">
                <a:latin typeface="Century Gothic" panose="020B0502020202020204" pitchFamily="34" charset="0"/>
                <a:cs typeface="Times New Roman" panose="02020603050405020304" pitchFamily="18" charset="0"/>
              </a:rPr>
              <a:t>n_neighbors</a:t>
            </a:r>
            <a:r>
              <a:rPr lang="en-US" dirty="0">
                <a:latin typeface="Century Gothic" panose="020B0502020202020204" pitchFamily="34" charset="0"/>
                <a:cs typeface="Times New Roman" panose="02020603050405020304" pitchFamily="18" charset="0"/>
              </a:rPr>
              <a:t>': 6, 'p': 3, 'weights': 'uniform</a:t>
            </a:r>
            <a:r>
              <a:rPr lang="en-US" dirty="0" smtClean="0">
                <a:latin typeface="Century Gothic" panose="020B0502020202020204" pitchFamily="34" charset="0"/>
                <a:cs typeface="Times New Roman" panose="02020603050405020304" pitchFamily="18" charset="0"/>
              </a:rPr>
              <a:t>'}</a:t>
            </a:r>
            <a:endParaRPr lang="en-IN" dirty="0">
              <a:latin typeface="Century Gothic" panose="020B0502020202020204" pitchFamily="34" charset="0"/>
              <a:cs typeface="Times New Roman" panose="02020603050405020304" pitchFamily="18" charset="0"/>
            </a:endParaRPr>
          </a:p>
        </p:txBody>
      </p:sp>
    </p:spTree>
    <p:extLst>
      <p:ext uri="{BB962C8B-B14F-4D97-AF65-F5344CB8AC3E}">
        <p14:creationId xmlns:p14="http://schemas.microsoft.com/office/powerpoint/2010/main" val="2030623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D3ABCD-D660-661F-CBBC-811E027AAF4C}"/>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0839207A-804C-D8AD-47FE-739F226B4D7E}"/>
              </a:ext>
            </a:extLst>
          </p:cNvPr>
          <p:cNvSpPr>
            <a:spLocks noGrp="1"/>
          </p:cNvSpPr>
          <p:nvPr>
            <p:ph idx="1"/>
          </p:nvPr>
        </p:nvSpPr>
        <p:spPr/>
        <p:txBody>
          <a:bodyPr/>
          <a:lstStyle/>
          <a:p>
            <a:pPr algn="just"/>
            <a:r>
              <a:rPr lang="en-US" dirty="0"/>
              <a:t>Grid searching is a simple (but inefficient) way of parameter tuning our models to get the best possible outcome. </a:t>
            </a:r>
            <a:endParaRPr lang="en-US" dirty="0" smtClean="0"/>
          </a:p>
          <a:p>
            <a:pPr algn="just"/>
            <a:r>
              <a:rPr lang="en-US" dirty="0" smtClean="0"/>
              <a:t>It </a:t>
            </a:r>
            <a:r>
              <a:rPr lang="en-US" dirty="0"/>
              <a:t>should be noted that to get the best possible outcome, data scientists should use feature manipulation (both reduction and engineering) to obtain better results in practice as well. </a:t>
            </a:r>
            <a:endParaRPr lang="en-US" dirty="0" smtClean="0"/>
          </a:p>
          <a:p>
            <a:pPr algn="just"/>
            <a:r>
              <a:rPr lang="en-US" dirty="0" smtClean="0"/>
              <a:t>It </a:t>
            </a:r>
            <a:r>
              <a:rPr lang="en-US" dirty="0"/>
              <a:t>should not merely be up to the model to achieve the best performance.</a:t>
            </a:r>
            <a:endParaRPr lang="en-IN" dirty="0"/>
          </a:p>
        </p:txBody>
      </p:sp>
    </p:spTree>
    <p:extLst>
      <p:ext uri="{BB962C8B-B14F-4D97-AF65-F5344CB8AC3E}">
        <p14:creationId xmlns:p14="http://schemas.microsoft.com/office/powerpoint/2010/main" val="2524427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0AC2E2-A336-B44A-C5D9-0DFD17D6AE2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Visualizing training error versus cross-validation error</a:t>
            </a:r>
          </a:p>
        </p:txBody>
      </p:sp>
      <p:sp>
        <p:nvSpPr>
          <p:cNvPr id="3" name="Content Placeholder 2">
            <a:extLst>
              <a:ext uri="{FF2B5EF4-FFF2-40B4-BE49-F238E27FC236}">
                <a16:creationId xmlns="" xmlns:a16="http://schemas.microsoft.com/office/drawing/2014/main" id="{F3CD9138-5B32-0B78-23E8-1236C834ECD4}"/>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 think it is important once again to go over and compare the cross-validation error and the training error.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time, let's put them both on the same graph to compare how they both change as we vary the model complexity. </a:t>
            </a:r>
          </a:p>
          <a:p>
            <a:pPr algn="just"/>
            <a:r>
              <a:rPr lang="en-US" dirty="0">
                <a:latin typeface="Times New Roman" panose="02020603050405020304" pitchFamily="18" charset="0"/>
                <a:cs typeface="Times New Roman" panose="02020603050405020304" pitchFamily="18" charset="0"/>
              </a:rPr>
              <a:t>I will use the mammal dataset once more to show the cross-validation error and the training error (the error on predicting the training 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Recall </a:t>
            </a:r>
            <a:r>
              <a:rPr lang="en-US" dirty="0">
                <a:latin typeface="Times New Roman" panose="02020603050405020304" pitchFamily="18" charset="0"/>
                <a:cs typeface="Times New Roman" panose="02020603050405020304" pitchFamily="18" charset="0"/>
              </a:rPr>
              <a:t>that we are attempting to regress the body weight of a mammal to the brain weight of a mammal.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914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2C12A67-F8DE-6841-68F6-974D7347F0F5}"/>
              </a:ext>
            </a:extLst>
          </p:cNvPr>
          <p:cNvSpPr>
            <a:spLocks noGrp="1"/>
          </p:cNvSpPr>
          <p:nvPr>
            <p:ph idx="1"/>
          </p:nvPr>
        </p:nvSpPr>
        <p:spPr>
          <a:xfrm>
            <a:off x="838200" y="193964"/>
            <a:ext cx="9829800" cy="6470072"/>
          </a:xfrm>
        </p:spPr>
        <p:txBody>
          <a:bodyPr>
            <a:normAutofit fontScale="55000" lnSpcReduction="20000"/>
          </a:bodyPr>
          <a:lstStyle/>
          <a:p>
            <a:r>
              <a:rPr lang="en-IN" dirty="0">
                <a:latin typeface="Century Gothic" panose="020B0502020202020204" pitchFamily="34" charset="0"/>
                <a:cs typeface="Times New Roman" panose="02020603050405020304" pitchFamily="18" charset="0"/>
              </a:rPr>
              <a:t># This function uses a </a:t>
            </a:r>
            <a:r>
              <a:rPr lang="en-IN" dirty="0" err="1">
                <a:latin typeface="Century Gothic" panose="020B0502020202020204" pitchFamily="34" charset="0"/>
                <a:cs typeface="Times New Roman" panose="02020603050405020304" pitchFamily="18" charset="0"/>
              </a:rPr>
              <a:t>numpy</a:t>
            </a:r>
            <a:r>
              <a:rPr lang="en-IN" dirty="0">
                <a:latin typeface="Century Gothic" panose="020B0502020202020204" pitchFamily="34" charset="0"/>
                <a:cs typeface="Times New Roman" panose="02020603050405020304" pitchFamily="18" charset="0"/>
              </a:rPr>
              <a:t> polynomial fit function to </a:t>
            </a:r>
            <a:endParaRPr lang="en-IN" dirty="0" smtClean="0">
              <a:latin typeface="Century Gothic" panose="020B0502020202020204" pitchFamily="34" charset="0"/>
              <a:cs typeface="Times New Roman" panose="02020603050405020304" pitchFamily="18" charset="0"/>
            </a:endParaRPr>
          </a:p>
          <a:p>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calculate the RMSE of given X and y </a:t>
            </a:r>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def</a:t>
            </a:r>
            <a:r>
              <a:rPr lang="en-IN" dirty="0" smtClean="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rmse</a:t>
            </a:r>
            <a:r>
              <a:rPr lang="en-IN" dirty="0">
                <a:latin typeface="Century Gothic" panose="020B0502020202020204" pitchFamily="34" charset="0"/>
                <a:cs typeface="Times New Roman" panose="02020603050405020304" pitchFamily="18" charset="0"/>
              </a:rPr>
              <a:t>(x, y, </a:t>
            </a:r>
            <a:r>
              <a:rPr lang="en-IN" dirty="0" err="1">
                <a:latin typeface="Century Gothic" panose="020B0502020202020204" pitchFamily="34" charset="0"/>
                <a:cs typeface="Times New Roman" panose="02020603050405020304" pitchFamily="18" charset="0"/>
              </a:rPr>
              <a:t>coefs</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yfit</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np.polyval</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coefs</a:t>
            </a:r>
            <a:r>
              <a:rPr lang="en-IN" dirty="0">
                <a:latin typeface="Century Gothic" panose="020B0502020202020204" pitchFamily="34" charset="0"/>
                <a:cs typeface="Times New Roman" panose="02020603050405020304" pitchFamily="18" charset="0"/>
              </a:rPr>
              <a:t>, x)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rmse</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np.sqrt</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np.mean</a:t>
            </a:r>
            <a:r>
              <a:rPr lang="en-IN" dirty="0">
                <a:latin typeface="Century Gothic" panose="020B0502020202020204" pitchFamily="34" charset="0"/>
                <a:cs typeface="Times New Roman" panose="02020603050405020304" pitchFamily="18" charset="0"/>
              </a:rPr>
              <a:t>((y - </a:t>
            </a:r>
            <a:r>
              <a:rPr lang="en-IN" dirty="0" err="1">
                <a:latin typeface="Century Gothic" panose="020B0502020202020204" pitchFamily="34" charset="0"/>
                <a:cs typeface="Times New Roman" panose="02020603050405020304" pitchFamily="18" charset="0"/>
              </a:rPr>
              <a:t>yfit</a:t>
            </a:r>
            <a:r>
              <a:rPr lang="en-IN" dirty="0">
                <a:latin typeface="Century Gothic" panose="020B0502020202020204" pitchFamily="34" charset="0"/>
                <a:cs typeface="Times New Roman" panose="02020603050405020304" pitchFamily="18" charset="0"/>
              </a:rPr>
              <a:t>) ** 2)) </a:t>
            </a:r>
            <a:endParaRPr lang="en-IN" dirty="0" smtClean="0">
              <a:latin typeface="Century Gothic" panose="020B0502020202020204" pitchFamily="34" charset="0"/>
              <a:cs typeface="Times New Roman" panose="02020603050405020304" pitchFamily="18" charset="0"/>
            </a:endParaRPr>
          </a:p>
          <a:p>
            <a:pPr lvl="1"/>
            <a:r>
              <a:rPr lang="en-IN" dirty="0" smtClean="0">
                <a:latin typeface="Century Gothic" panose="020B0502020202020204" pitchFamily="34" charset="0"/>
                <a:cs typeface="Times New Roman" panose="02020603050405020304" pitchFamily="18" charset="0"/>
              </a:rPr>
              <a:t>return </a:t>
            </a:r>
            <a:r>
              <a:rPr lang="en-IN" dirty="0" err="1">
                <a:latin typeface="Century Gothic" panose="020B0502020202020204" pitchFamily="34" charset="0"/>
                <a:cs typeface="Times New Roman" panose="02020603050405020304" pitchFamily="18" charset="0"/>
              </a:rPr>
              <a:t>rmse</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xtrain</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xtest</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ytrain</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ytest</a:t>
            </a:r>
            <a:r>
              <a:rPr lang="en-IN" dirty="0">
                <a:latin typeface="Century Gothic" panose="020B0502020202020204" pitchFamily="34" charset="0"/>
                <a:cs typeface="Times New Roman" panose="02020603050405020304" pitchFamily="18" charset="0"/>
              </a:rPr>
              <a:t> = </a:t>
            </a:r>
            <a:r>
              <a:rPr lang="en-IN" dirty="0" err="1">
                <a:latin typeface="Century Gothic" panose="020B0502020202020204" pitchFamily="34" charset="0"/>
                <a:cs typeface="Times New Roman" panose="02020603050405020304" pitchFamily="18" charset="0"/>
              </a:rPr>
              <a:t>train_test_split</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df</a:t>
            </a:r>
            <a:r>
              <a:rPr lang="en-IN" dirty="0">
                <a:latin typeface="Century Gothic" panose="020B0502020202020204" pitchFamily="34" charset="0"/>
                <a:cs typeface="Times New Roman" panose="02020603050405020304" pitchFamily="18" charset="0"/>
              </a:rPr>
              <a:t>['body'], </a:t>
            </a:r>
            <a:r>
              <a:rPr lang="en-IN" dirty="0" err="1">
                <a:latin typeface="Century Gothic" panose="020B0502020202020204" pitchFamily="34" charset="0"/>
                <a:cs typeface="Times New Roman" panose="02020603050405020304" pitchFamily="18" charset="0"/>
              </a:rPr>
              <a:t>df</a:t>
            </a:r>
            <a:r>
              <a:rPr lang="en-IN" dirty="0">
                <a:latin typeface="Century Gothic" panose="020B0502020202020204" pitchFamily="34" charset="0"/>
                <a:cs typeface="Times New Roman" panose="02020603050405020304" pitchFamily="18" charset="0"/>
              </a:rPr>
              <a:t>['brain']) </a:t>
            </a:r>
            <a:endParaRPr lang="en-IN" dirty="0" smtClean="0">
              <a:latin typeface="Century Gothic" panose="020B0502020202020204" pitchFamily="34" charset="0"/>
              <a:cs typeface="Times New Roman" panose="02020603050405020304" pitchFamily="18" charset="0"/>
            </a:endParaRPr>
          </a:p>
          <a:p>
            <a:endParaRPr lang="en-IN" dirty="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train_err</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 </a:t>
            </a:r>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validation_err</a:t>
            </a:r>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 [] </a:t>
            </a:r>
            <a:endParaRPr lang="en-IN" dirty="0" smtClean="0">
              <a:latin typeface="Century Gothic" panose="020B0502020202020204" pitchFamily="34" charset="0"/>
              <a:cs typeface="Times New Roman" panose="02020603050405020304" pitchFamily="18" charset="0"/>
            </a:endParaRPr>
          </a:p>
          <a:p>
            <a:r>
              <a:rPr lang="en-IN" dirty="0" smtClean="0">
                <a:latin typeface="Century Gothic" panose="020B0502020202020204" pitchFamily="34" charset="0"/>
                <a:cs typeface="Times New Roman" panose="02020603050405020304" pitchFamily="18" charset="0"/>
              </a:rPr>
              <a:t>degrees </a:t>
            </a:r>
            <a:r>
              <a:rPr lang="en-IN" dirty="0">
                <a:latin typeface="Century Gothic" panose="020B0502020202020204" pitchFamily="34" charset="0"/>
                <a:cs typeface="Times New Roman" panose="02020603050405020304" pitchFamily="18" charset="0"/>
              </a:rPr>
              <a:t>= range(1, 8) </a:t>
            </a:r>
            <a:endParaRPr lang="en-IN" dirty="0" smtClean="0">
              <a:latin typeface="Century Gothic" panose="020B0502020202020204" pitchFamily="34" charset="0"/>
              <a:cs typeface="Times New Roman" panose="02020603050405020304" pitchFamily="18" charset="0"/>
            </a:endParaRPr>
          </a:p>
          <a:p>
            <a:r>
              <a:rPr lang="en-IN" dirty="0" smtClean="0">
                <a:latin typeface="Century Gothic" panose="020B0502020202020204" pitchFamily="34" charset="0"/>
                <a:cs typeface="Times New Roman" panose="02020603050405020304" pitchFamily="18" charset="0"/>
              </a:rPr>
              <a:t>for </a:t>
            </a:r>
            <a:r>
              <a:rPr lang="en-IN" dirty="0" err="1">
                <a:latin typeface="Century Gothic" panose="020B0502020202020204" pitchFamily="34" charset="0"/>
                <a:cs typeface="Times New Roman" panose="02020603050405020304" pitchFamily="18" charset="0"/>
              </a:rPr>
              <a:t>i</a:t>
            </a:r>
            <a:r>
              <a:rPr lang="en-IN" dirty="0">
                <a:latin typeface="Century Gothic" panose="020B0502020202020204" pitchFamily="34" charset="0"/>
                <a:cs typeface="Times New Roman" panose="02020603050405020304" pitchFamily="18" charset="0"/>
              </a:rPr>
              <a:t>, d in enumerate(degrees): </a:t>
            </a:r>
            <a:endParaRPr lang="en-IN" dirty="0" smtClean="0">
              <a:latin typeface="Century Gothic" panose="020B0502020202020204" pitchFamily="34" charset="0"/>
              <a:cs typeface="Times New Roman" panose="02020603050405020304" pitchFamily="18" charset="0"/>
            </a:endParaRPr>
          </a:p>
          <a:p>
            <a:pPr lvl="1"/>
            <a:r>
              <a:rPr lang="en-IN" dirty="0" smtClean="0">
                <a:latin typeface="Century Gothic" panose="020B0502020202020204" pitchFamily="34" charset="0"/>
                <a:cs typeface="Times New Roman" panose="02020603050405020304" pitchFamily="18" charset="0"/>
              </a:rPr>
              <a:t>p </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np.polyfit</a:t>
            </a:r>
            <a:r>
              <a:rPr lang="en-IN" dirty="0">
                <a:latin typeface="Century Gothic" panose="020B0502020202020204" pitchFamily="34" charset="0"/>
                <a:cs typeface="Times New Roman" panose="02020603050405020304" pitchFamily="18" charset="0"/>
              </a:rPr>
              <a:t>(</a:t>
            </a:r>
            <a:r>
              <a:rPr lang="en-IN" dirty="0" err="1">
                <a:latin typeface="Century Gothic" panose="020B0502020202020204" pitchFamily="34" charset="0"/>
                <a:cs typeface="Times New Roman" panose="02020603050405020304" pitchFamily="18" charset="0"/>
              </a:rPr>
              <a:t>xtrain</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ytrain</a:t>
            </a:r>
            <a:r>
              <a:rPr lang="en-IN" dirty="0">
                <a:latin typeface="Century Gothic" panose="020B0502020202020204" pitchFamily="34" charset="0"/>
                <a:cs typeface="Times New Roman" panose="02020603050405020304" pitchFamily="18" charset="0"/>
              </a:rPr>
              <a:t>, d) </a:t>
            </a:r>
            <a:endParaRPr lang="en-IN" dirty="0" smtClean="0">
              <a:latin typeface="Century Gothic" panose="020B0502020202020204" pitchFamily="34" charset="0"/>
              <a:cs typeface="Times New Roman" panose="02020603050405020304" pitchFamily="18" charset="0"/>
            </a:endParaRPr>
          </a:p>
          <a:p>
            <a:pPr lvl="1"/>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built in </a:t>
            </a:r>
            <a:r>
              <a:rPr lang="en-IN" dirty="0" err="1">
                <a:latin typeface="Century Gothic" panose="020B0502020202020204" pitchFamily="34" charset="0"/>
                <a:cs typeface="Times New Roman" panose="02020603050405020304" pitchFamily="18" charset="0"/>
              </a:rPr>
              <a:t>numpy</a:t>
            </a:r>
            <a:r>
              <a:rPr lang="en-IN" dirty="0">
                <a:latin typeface="Century Gothic" panose="020B0502020202020204" pitchFamily="34" charset="0"/>
                <a:cs typeface="Times New Roman" panose="02020603050405020304" pitchFamily="18" charset="0"/>
              </a:rPr>
              <a:t> polynomial fit </a:t>
            </a:r>
            <a:r>
              <a:rPr lang="en-IN" dirty="0" smtClean="0">
                <a:latin typeface="Century Gothic" panose="020B0502020202020204" pitchFamily="34" charset="0"/>
                <a:cs typeface="Times New Roman" panose="02020603050405020304" pitchFamily="18" charset="0"/>
              </a:rPr>
              <a:t>function</a:t>
            </a:r>
          </a:p>
          <a:p>
            <a:pPr lvl="1"/>
            <a:r>
              <a:rPr lang="en-IN" dirty="0" err="1" smtClean="0">
                <a:latin typeface="Century Gothic" panose="020B0502020202020204" pitchFamily="34" charset="0"/>
                <a:cs typeface="Times New Roman" panose="02020603050405020304" pitchFamily="18" charset="0"/>
              </a:rPr>
              <a:t>train_err.append</a:t>
            </a:r>
            <a:r>
              <a:rPr lang="en-IN" dirty="0" smtClean="0">
                <a:latin typeface="Century Gothic" panose="020B0502020202020204" pitchFamily="34" charset="0"/>
                <a:cs typeface="Times New Roman" panose="02020603050405020304" pitchFamily="18" charset="0"/>
              </a:rPr>
              <a:t>(</a:t>
            </a:r>
            <a:r>
              <a:rPr lang="en-IN" dirty="0" err="1" smtClean="0">
                <a:latin typeface="Century Gothic" panose="020B0502020202020204" pitchFamily="34" charset="0"/>
                <a:cs typeface="Times New Roman" panose="02020603050405020304" pitchFamily="18" charset="0"/>
              </a:rPr>
              <a:t>rmse</a:t>
            </a:r>
            <a:r>
              <a:rPr lang="en-IN" dirty="0" smtClean="0">
                <a:latin typeface="Century Gothic" panose="020B0502020202020204" pitchFamily="34" charset="0"/>
                <a:cs typeface="Times New Roman" panose="02020603050405020304" pitchFamily="18" charset="0"/>
              </a:rPr>
              <a:t>(</a:t>
            </a:r>
            <a:r>
              <a:rPr lang="en-IN" dirty="0" err="1" smtClean="0">
                <a:latin typeface="Century Gothic" panose="020B0502020202020204" pitchFamily="34" charset="0"/>
                <a:cs typeface="Times New Roman" panose="02020603050405020304" pitchFamily="18" charset="0"/>
              </a:rPr>
              <a:t>xtrain</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ytrain</a:t>
            </a:r>
            <a:r>
              <a:rPr lang="en-IN" dirty="0">
                <a:latin typeface="Century Gothic" panose="020B0502020202020204" pitchFamily="34" charset="0"/>
                <a:cs typeface="Times New Roman" panose="02020603050405020304" pitchFamily="18" charset="0"/>
              </a:rPr>
              <a:t>, p)) </a:t>
            </a:r>
            <a:endParaRPr lang="en-IN" dirty="0" smtClean="0">
              <a:latin typeface="Century Gothic" panose="020B0502020202020204" pitchFamily="34" charset="0"/>
              <a:cs typeface="Times New Roman" panose="02020603050405020304" pitchFamily="18" charset="0"/>
            </a:endParaRPr>
          </a:p>
          <a:p>
            <a:pPr lvl="1"/>
            <a:r>
              <a:rPr lang="en-IN" dirty="0" err="1" smtClean="0">
                <a:latin typeface="Century Gothic" panose="020B0502020202020204" pitchFamily="34" charset="0"/>
                <a:cs typeface="Times New Roman" panose="02020603050405020304" pitchFamily="18" charset="0"/>
              </a:rPr>
              <a:t>validation_err.append</a:t>
            </a:r>
            <a:r>
              <a:rPr lang="en-IN" dirty="0" smtClean="0">
                <a:latin typeface="Century Gothic" panose="020B0502020202020204" pitchFamily="34" charset="0"/>
                <a:cs typeface="Times New Roman" panose="02020603050405020304" pitchFamily="18" charset="0"/>
              </a:rPr>
              <a:t>(</a:t>
            </a:r>
            <a:r>
              <a:rPr lang="en-IN" dirty="0" err="1" smtClean="0">
                <a:latin typeface="Century Gothic" panose="020B0502020202020204" pitchFamily="34" charset="0"/>
                <a:cs typeface="Times New Roman" panose="02020603050405020304" pitchFamily="18" charset="0"/>
              </a:rPr>
              <a:t>rmse</a:t>
            </a:r>
            <a:r>
              <a:rPr lang="en-IN" dirty="0" smtClean="0">
                <a:latin typeface="Century Gothic" panose="020B0502020202020204" pitchFamily="34" charset="0"/>
                <a:cs typeface="Times New Roman" panose="02020603050405020304" pitchFamily="18" charset="0"/>
              </a:rPr>
              <a:t>(</a:t>
            </a:r>
            <a:r>
              <a:rPr lang="en-IN" dirty="0" err="1" smtClean="0">
                <a:latin typeface="Century Gothic" panose="020B0502020202020204" pitchFamily="34" charset="0"/>
                <a:cs typeface="Times New Roman" panose="02020603050405020304" pitchFamily="18" charset="0"/>
              </a:rPr>
              <a:t>xtest</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ytest</a:t>
            </a:r>
            <a:r>
              <a:rPr lang="en-IN" dirty="0">
                <a:latin typeface="Century Gothic" panose="020B0502020202020204" pitchFamily="34" charset="0"/>
                <a:cs typeface="Times New Roman" panose="02020603050405020304" pitchFamily="18" charset="0"/>
              </a:rPr>
              <a:t>, p)) </a:t>
            </a:r>
          </a:p>
          <a:p>
            <a:pPr marL="342900" lvl="1" indent="-342900"/>
            <a:r>
              <a:rPr lang="en-IN" dirty="0" smtClean="0">
                <a:latin typeface="Century Gothic" panose="020B0502020202020204" pitchFamily="34" charset="0"/>
                <a:cs typeface="Times New Roman" panose="02020603050405020304" pitchFamily="18" charset="0"/>
              </a:rPr>
              <a:t>fig</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ax</a:t>
            </a:r>
            <a:r>
              <a:rPr lang="en-IN" dirty="0">
                <a:latin typeface="Century Gothic" panose="020B0502020202020204" pitchFamily="34" charset="0"/>
                <a:cs typeface="Times New Roman" panose="02020603050405020304" pitchFamily="18" charset="0"/>
              </a:rPr>
              <a:t> = </a:t>
            </a:r>
            <a:r>
              <a:rPr lang="en-IN" dirty="0" err="1">
                <a:latin typeface="Century Gothic" panose="020B0502020202020204" pitchFamily="34" charset="0"/>
                <a:cs typeface="Times New Roman" panose="02020603050405020304" pitchFamily="18" charset="0"/>
              </a:rPr>
              <a:t>plt.subplots</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pPr marL="342900" lvl="1" indent="-342900"/>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begin to make our graph </a:t>
            </a:r>
            <a:endParaRPr lang="en-IN" dirty="0" smtClean="0">
              <a:latin typeface="Century Gothic" panose="020B0502020202020204" pitchFamily="34" charset="0"/>
              <a:cs typeface="Times New Roman" panose="02020603050405020304" pitchFamily="18" charset="0"/>
            </a:endParaRPr>
          </a:p>
          <a:p>
            <a:pPr marL="342900" lvl="1" indent="-342900"/>
            <a:r>
              <a:rPr lang="en-IN" dirty="0" err="1" smtClean="0">
                <a:latin typeface="Century Gothic" panose="020B0502020202020204" pitchFamily="34" charset="0"/>
                <a:cs typeface="Times New Roman" panose="02020603050405020304" pitchFamily="18" charset="0"/>
              </a:rPr>
              <a:t>ax.plot</a:t>
            </a:r>
            <a:r>
              <a:rPr lang="en-IN" dirty="0" smtClean="0">
                <a:latin typeface="Century Gothic" panose="020B0502020202020204" pitchFamily="34" charset="0"/>
                <a:cs typeface="Times New Roman" panose="02020603050405020304" pitchFamily="18" charset="0"/>
              </a:rPr>
              <a:t>(degrees</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validation_err</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lw</a:t>
            </a:r>
            <a:r>
              <a:rPr lang="en-IN" dirty="0">
                <a:latin typeface="Century Gothic" panose="020B0502020202020204" pitchFamily="34" charset="0"/>
                <a:cs typeface="Times New Roman" panose="02020603050405020304" pitchFamily="18" charset="0"/>
              </a:rPr>
              <a:t>=2, label = 'cross-validation error') </a:t>
            </a:r>
            <a:endParaRPr lang="en-IN" dirty="0" smtClean="0">
              <a:latin typeface="Century Gothic" panose="020B0502020202020204" pitchFamily="34" charset="0"/>
              <a:cs typeface="Times New Roman" panose="02020603050405020304" pitchFamily="18" charset="0"/>
            </a:endParaRPr>
          </a:p>
          <a:p>
            <a:pPr marL="342900" lvl="1" indent="-342900"/>
            <a:r>
              <a:rPr lang="en-IN" dirty="0" err="1" smtClean="0">
                <a:latin typeface="Century Gothic" panose="020B0502020202020204" pitchFamily="34" charset="0"/>
                <a:cs typeface="Times New Roman" panose="02020603050405020304" pitchFamily="18" charset="0"/>
              </a:rPr>
              <a:t>ax.plot</a:t>
            </a:r>
            <a:r>
              <a:rPr lang="en-IN" dirty="0" smtClean="0">
                <a:latin typeface="Century Gothic" panose="020B0502020202020204" pitchFamily="34" charset="0"/>
                <a:cs typeface="Times New Roman" panose="02020603050405020304" pitchFamily="18" charset="0"/>
              </a:rPr>
              <a:t>(degrees</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train_err</a:t>
            </a:r>
            <a:r>
              <a:rPr lang="en-IN" dirty="0">
                <a:latin typeface="Century Gothic" panose="020B0502020202020204" pitchFamily="34" charset="0"/>
                <a:cs typeface="Times New Roman" panose="02020603050405020304" pitchFamily="18" charset="0"/>
              </a:rPr>
              <a:t>, </a:t>
            </a:r>
            <a:r>
              <a:rPr lang="en-IN" dirty="0" err="1">
                <a:latin typeface="Century Gothic" panose="020B0502020202020204" pitchFamily="34" charset="0"/>
                <a:cs typeface="Times New Roman" panose="02020603050405020304" pitchFamily="18" charset="0"/>
              </a:rPr>
              <a:t>lw</a:t>
            </a:r>
            <a:r>
              <a:rPr lang="en-IN" dirty="0">
                <a:latin typeface="Century Gothic" panose="020B0502020202020204" pitchFamily="34" charset="0"/>
                <a:cs typeface="Times New Roman" panose="02020603050405020304" pitchFamily="18" charset="0"/>
              </a:rPr>
              <a:t>=2, label = 'training error') </a:t>
            </a:r>
            <a:endParaRPr lang="en-IN" dirty="0" smtClean="0">
              <a:latin typeface="Century Gothic" panose="020B0502020202020204" pitchFamily="34" charset="0"/>
              <a:cs typeface="Times New Roman" panose="02020603050405020304" pitchFamily="18" charset="0"/>
            </a:endParaRPr>
          </a:p>
          <a:p>
            <a:pPr marL="342900" lvl="1" indent="-342900"/>
            <a:r>
              <a:rPr lang="en-IN" dirty="0" smtClean="0">
                <a:latin typeface="Century Gothic" panose="020B0502020202020204" pitchFamily="34" charset="0"/>
                <a:cs typeface="Times New Roman" panose="02020603050405020304" pitchFamily="18" charset="0"/>
              </a:rPr>
              <a:t># </a:t>
            </a:r>
            <a:r>
              <a:rPr lang="en-IN" dirty="0">
                <a:latin typeface="Century Gothic" panose="020B0502020202020204" pitchFamily="34" charset="0"/>
                <a:cs typeface="Times New Roman" panose="02020603050405020304" pitchFamily="18" charset="0"/>
              </a:rPr>
              <a:t>Our two curves, one for training error, the other for </a:t>
            </a:r>
            <a:r>
              <a:rPr lang="en-IN" dirty="0" smtClean="0">
                <a:latin typeface="Century Gothic" panose="020B0502020202020204" pitchFamily="34" charset="0"/>
                <a:cs typeface="Times New Roman" panose="02020603050405020304" pitchFamily="18" charset="0"/>
              </a:rPr>
              <a:t>cross validation </a:t>
            </a:r>
          </a:p>
          <a:p>
            <a:r>
              <a:rPr lang="en-IN" dirty="0" err="1" smtClean="0">
                <a:latin typeface="Century Gothic" panose="020B0502020202020204" pitchFamily="34" charset="0"/>
                <a:cs typeface="Times New Roman" panose="02020603050405020304" pitchFamily="18" charset="0"/>
              </a:rPr>
              <a:t>ax.legend</a:t>
            </a:r>
            <a:r>
              <a:rPr lang="en-IN" dirty="0" smtClean="0">
                <a:latin typeface="Century Gothic" panose="020B0502020202020204" pitchFamily="34" charset="0"/>
                <a:cs typeface="Times New Roman" panose="02020603050405020304" pitchFamily="18" charset="0"/>
              </a:rPr>
              <a:t>(</a:t>
            </a:r>
            <a:r>
              <a:rPr lang="en-IN" dirty="0" err="1" smtClean="0">
                <a:latin typeface="Century Gothic" panose="020B0502020202020204" pitchFamily="34" charset="0"/>
                <a:cs typeface="Times New Roman" panose="02020603050405020304" pitchFamily="18" charset="0"/>
              </a:rPr>
              <a:t>loc</a:t>
            </a:r>
            <a:r>
              <a:rPr lang="en-IN" dirty="0" smtClean="0">
                <a:latin typeface="Century Gothic" panose="020B0502020202020204" pitchFamily="34" charset="0"/>
                <a:cs typeface="Times New Roman" panose="02020603050405020304" pitchFamily="18" charset="0"/>
              </a:rPr>
              <a:t>=0</a:t>
            </a:r>
            <a:r>
              <a:rPr lang="en-IN" dirty="0">
                <a:latin typeface="Century Gothic" panose="020B0502020202020204" pitchFamily="34" charset="0"/>
                <a:cs typeface="Times New Roman" panose="02020603050405020304" pitchFamily="18" charset="0"/>
              </a:rPr>
              <a:t>) </a:t>
            </a:r>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ax.set_xlabel</a:t>
            </a:r>
            <a:r>
              <a:rPr lang="en-IN" dirty="0">
                <a:latin typeface="Century Gothic" panose="020B0502020202020204" pitchFamily="34" charset="0"/>
                <a:cs typeface="Times New Roman" panose="02020603050405020304" pitchFamily="18" charset="0"/>
              </a:rPr>
              <a:t>('degree of polynomial') </a:t>
            </a:r>
            <a:endParaRPr lang="en-IN" dirty="0" smtClean="0">
              <a:latin typeface="Century Gothic" panose="020B0502020202020204" pitchFamily="34" charset="0"/>
              <a:cs typeface="Times New Roman" panose="02020603050405020304" pitchFamily="18" charset="0"/>
            </a:endParaRPr>
          </a:p>
          <a:p>
            <a:r>
              <a:rPr lang="en-IN" dirty="0" err="1" smtClean="0">
                <a:latin typeface="Century Gothic" panose="020B0502020202020204" pitchFamily="34" charset="0"/>
                <a:cs typeface="Times New Roman" panose="02020603050405020304" pitchFamily="18" charset="0"/>
              </a:rPr>
              <a:t>ax.set_ylabel</a:t>
            </a:r>
            <a:r>
              <a:rPr lang="en-IN" dirty="0">
                <a:latin typeface="Century Gothic" panose="020B0502020202020204" pitchFamily="34" charset="0"/>
                <a:cs typeface="Times New Roman" panose="02020603050405020304" pitchFamily="18" charset="0"/>
              </a:rPr>
              <a:t>('RMSE')</a:t>
            </a:r>
          </a:p>
        </p:txBody>
      </p:sp>
    </p:spTree>
    <p:extLst>
      <p:ext uri="{BB962C8B-B14F-4D97-AF65-F5344CB8AC3E}">
        <p14:creationId xmlns:p14="http://schemas.microsoft.com/office/powerpoint/2010/main" val="99325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E9169F-61EF-3989-FEB7-3198F9B8A9CC}"/>
              </a:ext>
            </a:extLst>
          </p:cNvPr>
          <p:cNvSpPr>
            <a:spLocks noGrp="1"/>
          </p:cNvSpPr>
          <p:nvPr>
            <p:ph type="title"/>
          </p:nvPr>
        </p:nvSpPr>
        <p:spPr>
          <a:xfrm>
            <a:off x="838200" y="3729987"/>
            <a:ext cx="10515600" cy="2580871"/>
          </a:xfrm>
        </p:spPr>
        <p:txBody>
          <a:bodyPr>
            <a:no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So, we see that as we increase our degree of fit, our training error goes down without a hitch, but we are now smart enough to know that as we increase the model complexity, our model is overfitting to our data and is merely regurgitating our data back to us, whereas our cross validation error line is much more honest and begins to perform poorly after about degree 2 or 3.</a:t>
            </a:r>
            <a:endParaRPr lang="en-IN" sz="28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 xmlns:a16="http://schemas.microsoft.com/office/drawing/2014/main" id="{93972F58-93E1-5649-BE94-3D9B80A5261A}"/>
              </a:ext>
            </a:extLst>
          </p:cNvPr>
          <p:cNvPicPr>
            <a:picLocks noGrp="1" noChangeAspect="1"/>
          </p:cNvPicPr>
          <p:nvPr>
            <p:ph idx="1"/>
          </p:nvPr>
        </p:nvPicPr>
        <p:blipFill>
          <a:blip r:embed="rId2"/>
          <a:stretch>
            <a:fillRect/>
          </a:stretch>
        </p:blipFill>
        <p:spPr>
          <a:xfrm>
            <a:off x="1457481" y="824863"/>
            <a:ext cx="4000500" cy="2905125"/>
          </a:xfrm>
        </p:spPr>
      </p:pic>
    </p:spTree>
    <p:extLst>
      <p:ext uri="{BB962C8B-B14F-4D97-AF65-F5344CB8AC3E}">
        <p14:creationId xmlns:p14="http://schemas.microsoft.com/office/powerpoint/2010/main" val="2716109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49D22A-0A46-D201-6F9E-2C2960FDA4B3}"/>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D3BBD258-7A91-20E5-21FD-9FE7E0BAFBF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 recap: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Underfitting occurs when the cross-validation error and the training error are both high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Overrfitting</a:t>
            </a:r>
            <a:r>
              <a:rPr lang="en-US" dirty="0">
                <a:latin typeface="Times New Roman" panose="02020603050405020304" pitchFamily="18" charset="0"/>
                <a:cs typeface="Times New Roman" panose="02020603050405020304" pitchFamily="18" charset="0"/>
              </a:rPr>
              <a:t> occurs when the cross-validation error is high, while the training error is low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We have a good fit when the cross-validation error is low, and only slightly higher than the training error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Both </a:t>
            </a:r>
            <a:r>
              <a:rPr lang="en-US" dirty="0">
                <a:latin typeface="Times New Roman" panose="02020603050405020304" pitchFamily="18" charset="0"/>
                <a:cs typeface="Times New Roman" panose="02020603050405020304" pitchFamily="18" charset="0"/>
              </a:rPr>
              <a:t>underfitting (high bias) and overfitting (high variance) will result in poor generalization of the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465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1477E4C-CE72-B9B8-1E85-6C53C893E3EC}"/>
              </a:ext>
            </a:extLst>
          </p:cNvPr>
          <p:cNvSpPr>
            <a:spLocks noGrp="1"/>
          </p:cNvSpPr>
          <p:nvPr>
            <p:ph idx="1"/>
          </p:nvPr>
        </p:nvSpPr>
        <p:spPr>
          <a:xfrm>
            <a:off x="838200" y="581891"/>
            <a:ext cx="10515600" cy="5595072"/>
          </a:xfrm>
        </p:spPr>
        <p:txBody>
          <a:bodyPr>
            <a:normAutofit/>
          </a:bodyPr>
          <a:lstStyle/>
          <a:p>
            <a:pPr algn="just"/>
            <a:r>
              <a:rPr lang="en-US" dirty="0">
                <a:latin typeface="Times New Roman" panose="02020603050405020304" pitchFamily="18" charset="0"/>
                <a:cs typeface="Times New Roman" panose="02020603050405020304" pitchFamily="18" charset="0"/>
              </a:rPr>
              <a:t>Here are some tips if you face high bias or variance.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your model tends to have a </a:t>
            </a:r>
            <a:r>
              <a:rPr lang="en-US" i="1" dirty="0">
                <a:latin typeface="Times New Roman" panose="02020603050405020304" pitchFamily="18" charset="0"/>
                <a:cs typeface="Times New Roman" panose="02020603050405020304" pitchFamily="18" charset="0"/>
              </a:rPr>
              <a:t>high bias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Try adding more features to the training and test sets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Either add to the complexity of your model or try a more modern sophisticated model.</a:t>
            </a:r>
          </a:p>
          <a:p>
            <a:pPr algn="just"/>
            <a:r>
              <a:rPr lang="en-US" dirty="0">
                <a:latin typeface="Times New Roman" panose="02020603050405020304" pitchFamily="18" charset="0"/>
                <a:cs typeface="Times New Roman" panose="02020603050405020304" pitchFamily="18" charset="0"/>
              </a:rPr>
              <a:t>If your model tends to have a </a:t>
            </a:r>
            <a:r>
              <a:rPr lang="en-US" i="1" dirty="0">
                <a:latin typeface="Times New Roman" panose="02020603050405020304" pitchFamily="18" charset="0"/>
                <a:cs typeface="Times New Roman" panose="02020603050405020304" pitchFamily="18" charset="0"/>
              </a:rPr>
              <a:t>high variance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Try to include more training samples, which reduces the effect of </a:t>
            </a:r>
            <a:r>
              <a:rPr lang="en-US" dirty="0" smtClean="0">
                <a:latin typeface="Times New Roman" panose="02020603050405020304" pitchFamily="18" charset="0"/>
                <a:cs typeface="Times New Roman" panose="02020603050405020304" pitchFamily="18" charset="0"/>
              </a:rPr>
              <a:t>overfitting. </a:t>
            </a: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general, the bias/variance tradeoff is the struggle to minimize bias and variance in our learning algorithms.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Many </a:t>
            </a:r>
            <a:r>
              <a:rPr lang="en-US" dirty="0">
                <a:latin typeface="Times New Roman" panose="02020603050405020304" pitchFamily="18" charset="0"/>
                <a:cs typeface="Times New Roman" panose="02020603050405020304" pitchFamily="18" charset="0"/>
              </a:rPr>
              <a:t>newer learning algorithms, invented in the past few decades, were made with the intention of having the best of both worlds.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3857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8786F6-7CBA-1434-3DBC-57BC53C4FB43}"/>
              </a:ext>
            </a:extLst>
          </p:cNvPr>
          <p:cNvSpPr>
            <a:spLocks noGrp="1"/>
          </p:cNvSpPr>
          <p:nvPr>
            <p:ph type="title"/>
          </p:nvPr>
        </p:nvSpPr>
        <p:spPr>
          <a:xfrm>
            <a:off x="838200" y="365126"/>
            <a:ext cx="10515600" cy="1034184"/>
          </a:xfrm>
        </p:spPr>
        <p:txBody>
          <a:bodyPr/>
          <a:lstStyle/>
          <a:p>
            <a:pPr algn="ctr"/>
            <a:r>
              <a:rPr lang="en-IN" dirty="0">
                <a:latin typeface="Times New Roman" panose="02020603050405020304" pitchFamily="18" charset="0"/>
                <a:cs typeface="Times New Roman" panose="02020603050405020304" pitchFamily="18" charset="0"/>
              </a:rPr>
              <a:t>Ensembling </a:t>
            </a:r>
            <a:r>
              <a:rPr lang="en-IN" dirty="0" smtClean="0">
                <a:latin typeface="Times New Roman" panose="02020603050405020304" pitchFamily="18" charset="0"/>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869122B-98F6-F4D3-F625-462830A0FDE1}"/>
              </a:ext>
            </a:extLst>
          </p:cNvPr>
          <p:cNvSpPr>
            <a:spLocks noGrp="1"/>
          </p:cNvSpPr>
          <p:nvPr>
            <p:ph idx="1"/>
          </p:nvPr>
        </p:nvSpPr>
        <p:spPr/>
        <p:txBody>
          <a:bodyPr/>
          <a:lstStyle/>
          <a:p>
            <a:pPr algn="just"/>
            <a:r>
              <a:rPr lang="en-US" dirty="0"/>
              <a:t>Ensemble learning, or ensembling, is the process of combining multiple predictive models to produce a supermodel that is more accurate than any individual model on its own. </a:t>
            </a:r>
            <a:endParaRPr lang="en-US" dirty="0" smtClean="0"/>
          </a:p>
          <a:p>
            <a:pPr algn="just"/>
            <a:r>
              <a:rPr lang="en-US" b="1" dirty="0" smtClean="0"/>
              <a:t>• </a:t>
            </a:r>
            <a:r>
              <a:rPr lang="en-US" b="1" dirty="0"/>
              <a:t>Regression:</a:t>
            </a:r>
            <a:r>
              <a:rPr lang="en-US" dirty="0"/>
              <a:t> We will take the average of the predictions for each model </a:t>
            </a:r>
            <a:endParaRPr lang="en-US" dirty="0" smtClean="0"/>
          </a:p>
          <a:p>
            <a:pPr algn="just"/>
            <a:r>
              <a:rPr lang="en-US" b="1" dirty="0" smtClean="0"/>
              <a:t>• </a:t>
            </a:r>
            <a:r>
              <a:rPr lang="en-US" b="1" dirty="0"/>
              <a:t>Classification:</a:t>
            </a:r>
            <a:r>
              <a:rPr lang="en-US" dirty="0"/>
              <a:t> Take a vote and use the most common prediction, or take the average of the predicted </a:t>
            </a:r>
            <a:r>
              <a:rPr lang="en-US" dirty="0" smtClean="0"/>
              <a:t>probabilities</a:t>
            </a:r>
          </a:p>
          <a:p>
            <a:pPr algn="just"/>
            <a:r>
              <a:rPr lang="en-US" dirty="0" smtClean="0"/>
              <a:t>Imagine </a:t>
            </a:r>
            <a:r>
              <a:rPr lang="en-US" dirty="0"/>
              <a:t>that we are working on a binary classification problem (predicting either 0 or 1).</a:t>
            </a:r>
            <a:endParaRPr lang="en-IN" dirty="0"/>
          </a:p>
        </p:txBody>
      </p:sp>
    </p:spTree>
    <p:extLst>
      <p:ext uri="{BB962C8B-B14F-4D97-AF65-F5344CB8AC3E}">
        <p14:creationId xmlns:p14="http://schemas.microsoft.com/office/powerpoint/2010/main" val="21645842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FA46E38-F731-1FE6-3E5E-9F84FCF41DB4}"/>
              </a:ext>
            </a:extLst>
          </p:cNvPr>
          <p:cNvSpPr>
            <a:spLocks noGrp="1"/>
          </p:cNvSpPr>
          <p:nvPr>
            <p:ph idx="1"/>
          </p:nvPr>
        </p:nvSpPr>
        <p:spPr>
          <a:xfrm>
            <a:off x="838200" y="415636"/>
            <a:ext cx="10515600" cy="6096000"/>
          </a:xfrm>
        </p:spPr>
        <p:txBody>
          <a:bodyPr>
            <a:normAutofit fontScale="62500" lnSpcReduction="20000"/>
          </a:bodyPr>
          <a:lstStyle/>
          <a:p>
            <a:r>
              <a:rPr lang="en-IN" dirty="0">
                <a:latin typeface="Century Gothic" panose="020B0502020202020204" pitchFamily="34" charset="0"/>
              </a:rPr>
              <a:t># ENSEMBLING </a:t>
            </a:r>
            <a:endParaRPr lang="en-IN" dirty="0" smtClean="0">
              <a:latin typeface="Century Gothic" panose="020B0502020202020204" pitchFamily="34" charset="0"/>
            </a:endParaRPr>
          </a:p>
          <a:p>
            <a:r>
              <a:rPr lang="en-IN" dirty="0" smtClean="0">
                <a:latin typeface="Century Gothic" panose="020B0502020202020204" pitchFamily="34" charset="0"/>
              </a:rPr>
              <a:t>import </a:t>
            </a:r>
            <a:r>
              <a:rPr lang="en-IN" dirty="0" err="1">
                <a:latin typeface="Century Gothic" panose="020B0502020202020204" pitchFamily="34" charset="0"/>
              </a:rPr>
              <a:t>numpy</a:t>
            </a:r>
            <a:r>
              <a:rPr lang="en-IN" dirty="0">
                <a:latin typeface="Century Gothic" panose="020B0502020202020204" pitchFamily="34" charset="0"/>
              </a:rPr>
              <a:t> as np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set a seed for reproducibility </a:t>
            </a:r>
            <a:endParaRPr lang="en-IN" dirty="0" smtClean="0">
              <a:latin typeface="Century Gothic" panose="020B0502020202020204" pitchFamily="34" charset="0"/>
            </a:endParaRPr>
          </a:p>
          <a:p>
            <a:r>
              <a:rPr lang="en-IN" dirty="0" err="1" smtClean="0">
                <a:latin typeface="Century Gothic" panose="020B0502020202020204" pitchFamily="34" charset="0"/>
              </a:rPr>
              <a:t>np.random.seed</a:t>
            </a:r>
            <a:r>
              <a:rPr lang="en-IN" dirty="0" smtClean="0">
                <a:latin typeface="Century Gothic" panose="020B0502020202020204" pitchFamily="34" charset="0"/>
              </a:rPr>
              <a:t>(12345</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generate 1000 random numbers (between 0 and 1) for each model, </a:t>
            </a:r>
            <a:r>
              <a:rPr lang="en-IN" dirty="0" smtClean="0">
                <a:latin typeface="Century Gothic" panose="020B0502020202020204" pitchFamily="34" charset="0"/>
              </a:rPr>
              <a:t>representing </a:t>
            </a:r>
            <a:r>
              <a:rPr lang="en-IN" dirty="0">
                <a:latin typeface="Century Gothic" panose="020B0502020202020204" pitchFamily="34" charset="0"/>
              </a:rPr>
              <a:t>1000 observations </a:t>
            </a:r>
            <a:endParaRPr lang="en-IN" dirty="0" smtClean="0">
              <a:latin typeface="Century Gothic" panose="020B0502020202020204" pitchFamily="34" charset="0"/>
            </a:endParaRPr>
          </a:p>
          <a:p>
            <a:r>
              <a:rPr lang="en-IN" dirty="0" smtClean="0">
                <a:latin typeface="Century Gothic" panose="020B0502020202020204" pitchFamily="34" charset="0"/>
              </a:rPr>
              <a:t>mod1 </a:t>
            </a:r>
            <a:r>
              <a:rPr lang="en-IN" dirty="0">
                <a:latin typeface="Century Gothic" panose="020B0502020202020204" pitchFamily="34" charset="0"/>
              </a:rPr>
              <a:t>= </a:t>
            </a:r>
            <a:r>
              <a:rPr lang="en-IN" dirty="0" err="1">
                <a:latin typeface="Century Gothic" panose="020B0502020202020204" pitchFamily="34" charset="0"/>
              </a:rPr>
              <a:t>np.random.rand</a:t>
            </a:r>
            <a:r>
              <a:rPr lang="en-IN" dirty="0">
                <a:latin typeface="Century Gothic" panose="020B0502020202020204" pitchFamily="34" charset="0"/>
              </a:rPr>
              <a:t>(1000) </a:t>
            </a:r>
            <a:endParaRPr lang="en-IN" dirty="0" smtClean="0">
              <a:latin typeface="Century Gothic" panose="020B0502020202020204" pitchFamily="34" charset="0"/>
            </a:endParaRPr>
          </a:p>
          <a:p>
            <a:r>
              <a:rPr lang="en-IN" dirty="0" smtClean="0">
                <a:latin typeface="Century Gothic" panose="020B0502020202020204" pitchFamily="34" charset="0"/>
              </a:rPr>
              <a:t>mod2 </a:t>
            </a:r>
            <a:r>
              <a:rPr lang="en-IN" dirty="0">
                <a:latin typeface="Century Gothic" panose="020B0502020202020204" pitchFamily="34" charset="0"/>
              </a:rPr>
              <a:t>= </a:t>
            </a:r>
            <a:r>
              <a:rPr lang="en-IN" dirty="0" err="1">
                <a:latin typeface="Century Gothic" panose="020B0502020202020204" pitchFamily="34" charset="0"/>
              </a:rPr>
              <a:t>np.random.rand</a:t>
            </a:r>
            <a:r>
              <a:rPr lang="en-IN" dirty="0">
                <a:latin typeface="Century Gothic" panose="020B0502020202020204" pitchFamily="34" charset="0"/>
              </a:rPr>
              <a:t>(1000) </a:t>
            </a:r>
            <a:endParaRPr lang="en-IN" dirty="0" smtClean="0">
              <a:latin typeface="Century Gothic" panose="020B0502020202020204" pitchFamily="34" charset="0"/>
            </a:endParaRPr>
          </a:p>
          <a:p>
            <a:r>
              <a:rPr lang="en-IN" dirty="0" smtClean="0">
                <a:latin typeface="Century Gothic" panose="020B0502020202020204" pitchFamily="34" charset="0"/>
              </a:rPr>
              <a:t>mod3 </a:t>
            </a:r>
            <a:r>
              <a:rPr lang="en-IN" dirty="0">
                <a:latin typeface="Century Gothic" panose="020B0502020202020204" pitchFamily="34" charset="0"/>
              </a:rPr>
              <a:t>= </a:t>
            </a:r>
            <a:r>
              <a:rPr lang="en-IN" dirty="0" err="1">
                <a:latin typeface="Century Gothic" panose="020B0502020202020204" pitchFamily="34" charset="0"/>
              </a:rPr>
              <a:t>np.random.rand</a:t>
            </a:r>
            <a:r>
              <a:rPr lang="en-IN" dirty="0">
                <a:latin typeface="Century Gothic" panose="020B0502020202020204" pitchFamily="34" charset="0"/>
              </a:rPr>
              <a:t>(1000) </a:t>
            </a:r>
            <a:endParaRPr lang="en-IN" dirty="0" smtClean="0">
              <a:latin typeface="Century Gothic" panose="020B0502020202020204" pitchFamily="34" charset="0"/>
            </a:endParaRPr>
          </a:p>
          <a:p>
            <a:r>
              <a:rPr lang="en-IN" dirty="0" smtClean="0">
                <a:latin typeface="Century Gothic" panose="020B0502020202020204" pitchFamily="34" charset="0"/>
              </a:rPr>
              <a:t>mod4 </a:t>
            </a:r>
            <a:r>
              <a:rPr lang="en-IN" dirty="0">
                <a:latin typeface="Century Gothic" panose="020B0502020202020204" pitchFamily="34" charset="0"/>
              </a:rPr>
              <a:t>= </a:t>
            </a:r>
            <a:r>
              <a:rPr lang="en-IN" dirty="0" err="1">
                <a:latin typeface="Century Gothic" panose="020B0502020202020204" pitchFamily="34" charset="0"/>
              </a:rPr>
              <a:t>np.random.rand</a:t>
            </a:r>
            <a:r>
              <a:rPr lang="en-IN" dirty="0">
                <a:latin typeface="Century Gothic" panose="020B0502020202020204" pitchFamily="34" charset="0"/>
              </a:rPr>
              <a:t>(1000) </a:t>
            </a:r>
            <a:endParaRPr lang="en-IN" dirty="0" smtClean="0">
              <a:latin typeface="Century Gothic" panose="020B0502020202020204" pitchFamily="34" charset="0"/>
            </a:endParaRPr>
          </a:p>
          <a:p>
            <a:r>
              <a:rPr lang="en-IN" dirty="0" smtClean="0">
                <a:latin typeface="Century Gothic" panose="020B0502020202020204" pitchFamily="34" charset="0"/>
              </a:rPr>
              <a:t>mod5 </a:t>
            </a:r>
            <a:r>
              <a:rPr lang="en-IN" dirty="0">
                <a:latin typeface="Century Gothic" panose="020B0502020202020204" pitchFamily="34" charset="0"/>
              </a:rPr>
              <a:t>= </a:t>
            </a:r>
            <a:r>
              <a:rPr lang="en-IN" dirty="0" err="1">
                <a:latin typeface="Century Gothic" panose="020B0502020202020204" pitchFamily="34" charset="0"/>
              </a:rPr>
              <a:t>np.random.rand</a:t>
            </a:r>
            <a:r>
              <a:rPr lang="en-IN" dirty="0">
                <a:latin typeface="Century Gothic" panose="020B0502020202020204" pitchFamily="34" charset="0"/>
              </a:rPr>
              <a:t>(1000) </a:t>
            </a:r>
            <a:endParaRPr lang="en-IN" dirty="0" smtClean="0">
              <a:latin typeface="Century Gothic" panose="020B0502020202020204" pitchFamily="34" charset="0"/>
            </a:endParaRPr>
          </a:p>
          <a:p>
            <a:r>
              <a:rPr lang="en-IN" dirty="0" smtClean="0">
                <a:latin typeface="Times New Roman" panose="02020603050405020304" pitchFamily="18" charset="0"/>
                <a:cs typeface="Times New Roman" panose="02020603050405020304" pitchFamily="18" charset="0"/>
              </a:rPr>
              <a:t>Now</a:t>
            </a:r>
            <a:r>
              <a:rPr lang="en-IN" dirty="0">
                <a:latin typeface="Times New Roman" panose="02020603050405020304" pitchFamily="18" charset="0"/>
                <a:cs typeface="Times New Roman" panose="02020603050405020304" pitchFamily="18" charset="0"/>
              </a:rPr>
              <a:t>, we simulate five different learning models that each have about a 70% accuracy, as follows: </a:t>
            </a:r>
            <a:endParaRPr lang="en-IN" dirty="0" smtClean="0">
              <a:latin typeface="Times New Roman" panose="02020603050405020304" pitchFamily="18" charset="0"/>
              <a:cs typeface="Times New Roman" panose="02020603050405020304" pitchFamily="18" charset="0"/>
            </a:endParaRPr>
          </a:p>
          <a:p>
            <a:r>
              <a:rPr lang="en-IN" dirty="0" smtClean="0">
                <a:latin typeface="Century Gothic" panose="020B0502020202020204" pitchFamily="34" charset="0"/>
              </a:rPr>
              <a:t># </a:t>
            </a:r>
            <a:r>
              <a:rPr lang="en-IN" dirty="0">
                <a:latin typeface="Century Gothic" panose="020B0502020202020204" pitchFamily="34" charset="0"/>
              </a:rPr>
              <a:t>each model independently predicts 1 (the "correct response") if random number was at least 0.3 </a:t>
            </a:r>
            <a:endParaRPr lang="en-IN" dirty="0" smtClean="0">
              <a:latin typeface="Century Gothic" panose="020B0502020202020204" pitchFamily="34" charset="0"/>
            </a:endParaRPr>
          </a:p>
          <a:p>
            <a:r>
              <a:rPr lang="en-IN" dirty="0" smtClean="0">
                <a:latin typeface="Century Gothic" panose="020B0502020202020204" pitchFamily="34" charset="0"/>
              </a:rPr>
              <a:t>preds1 </a:t>
            </a:r>
            <a:r>
              <a:rPr lang="en-IN" dirty="0">
                <a:latin typeface="Century Gothic" panose="020B0502020202020204" pitchFamily="34" charset="0"/>
              </a:rPr>
              <a:t>= </a:t>
            </a:r>
            <a:r>
              <a:rPr lang="en-IN" dirty="0" err="1">
                <a:latin typeface="Century Gothic" panose="020B0502020202020204" pitchFamily="34" charset="0"/>
              </a:rPr>
              <a:t>np.where</a:t>
            </a:r>
            <a:r>
              <a:rPr lang="en-IN" dirty="0">
                <a:latin typeface="Century Gothic" panose="020B0502020202020204" pitchFamily="34" charset="0"/>
              </a:rPr>
              <a:t>(mod1 &gt; 0.3, 1, 0) </a:t>
            </a:r>
            <a:endParaRPr lang="en-IN" dirty="0" smtClean="0">
              <a:latin typeface="Century Gothic" panose="020B0502020202020204" pitchFamily="34" charset="0"/>
            </a:endParaRPr>
          </a:p>
          <a:p>
            <a:r>
              <a:rPr lang="en-IN" dirty="0" smtClean="0">
                <a:latin typeface="Century Gothic" panose="020B0502020202020204" pitchFamily="34" charset="0"/>
              </a:rPr>
              <a:t>preds2 </a:t>
            </a:r>
            <a:r>
              <a:rPr lang="en-IN" dirty="0">
                <a:latin typeface="Century Gothic" panose="020B0502020202020204" pitchFamily="34" charset="0"/>
              </a:rPr>
              <a:t>= </a:t>
            </a:r>
            <a:r>
              <a:rPr lang="en-IN" dirty="0" err="1">
                <a:latin typeface="Century Gothic" panose="020B0502020202020204" pitchFamily="34" charset="0"/>
              </a:rPr>
              <a:t>np.where</a:t>
            </a:r>
            <a:r>
              <a:rPr lang="en-IN" dirty="0">
                <a:latin typeface="Century Gothic" panose="020B0502020202020204" pitchFamily="34" charset="0"/>
              </a:rPr>
              <a:t>(mod2 &gt; 0.3, 1, 0) </a:t>
            </a:r>
            <a:endParaRPr lang="en-IN" dirty="0" smtClean="0">
              <a:latin typeface="Century Gothic" panose="020B0502020202020204" pitchFamily="34" charset="0"/>
            </a:endParaRPr>
          </a:p>
          <a:p>
            <a:r>
              <a:rPr lang="en-IN" dirty="0" smtClean="0">
                <a:latin typeface="Century Gothic" panose="020B0502020202020204" pitchFamily="34" charset="0"/>
              </a:rPr>
              <a:t>preds3 </a:t>
            </a:r>
            <a:r>
              <a:rPr lang="en-IN" dirty="0">
                <a:latin typeface="Century Gothic" panose="020B0502020202020204" pitchFamily="34" charset="0"/>
              </a:rPr>
              <a:t>= </a:t>
            </a:r>
            <a:r>
              <a:rPr lang="en-IN" dirty="0" err="1">
                <a:latin typeface="Century Gothic" panose="020B0502020202020204" pitchFamily="34" charset="0"/>
              </a:rPr>
              <a:t>np.where</a:t>
            </a:r>
            <a:r>
              <a:rPr lang="en-IN" dirty="0">
                <a:latin typeface="Century Gothic" panose="020B0502020202020204" pitchFamily="34" charset="0"/>
              </a:rPr>
              <a:t>(mod3 &gt; 0.3, 1, 0) </a:t>
            </a:r>
            <a:endParaRPr lang="en-IN" dirty="0" smtClean="0">
              <a:latin typeface="Century Gothic" panose="020B0502020202020204" pitchFamily="34" charset="0"/>
            </a:endParaRPr>
          </a:p>
          <a:p>
            <a:r>
              <a:rPr lang="en-IN" dirty="0" smtClean="0">
                <a:latin typeface="Century Gothic" panose="020B0502020202020204" pitchFamily="34" charset="0"/>
              </a:rPr>
              <a:t>preds4 </a:t>
            </a:r>
            <a:r>
              <a:rPr lang="en-IN" dirty="0">
                <a:latin typeface="Century Gothic" panose="020B0502020202020204" pitchFamily="34" charset="0"/>
              </a:rPr>
              <a:t>= </a:t>
            </a:r>
            <a:r>
              <a:rPr lang="en-IN" dirty="0" err="1">
                <a:latin typeface="Century Gothic" panose="020B0502020202020204" pitchFamily="34" charset="0"/>
              </a:rPr>
              <a:t>np.where</a:t>
            </a:r>
            <a:r>
              <a:rPr lang="en-IN" dirty="0">
                <a:latin typeface="Century Gothic" panose="020B0502020202020204" pitchFamily="34" charset="0"/>
              </a:rPr>
              <a:t>(mod4 &gt; 0.3, 1, </a:t>
            </a:r>
            <a:r>
              <a:rPr lang="en-IN" dirty="0" smtClean="0">
                <a:latin typeface="Century Gothic" panose="020B0502020202020204" pitchFamily="34" charset="0"/>
              </a:rPr>
              <a:t>0)</a:t>
            </a:r>
          </a:p>
          <a:p>
            <a:r>
              <a:rPr lang="da-DK" dirty="0">
                <a:latin typeface="Century Gothic" panose="020B0502020202020204" pitchFamily="34" charset="0"/>
              </a:rPr>
              <a:t>preds5 = np.where(mod5 &gt; 0.3, 1, 0)</a:t>
            </a:r>
            <a:endParaRPr lang="en-IN" dirty="0">
              <a:latin typeface="Century Gothic" panose="020B0502020202020204" pitchFamily="34" charset="0"/>
            </a:endParaRPr>
          </a:p>
        </p:txBody>
      </p:sp>
    </p:spTree>
    <p:extLst>
      <p:ext uri="{BB962C8B-B14F-4D97-AF65-F5344CB8AC3E}">
        <p14:creationId xmlns:p14="http://schemas.microsoft.com/office/powerpoint/2010/main" val="3211389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DB2C582-8FEA-062B-978C-000FDD2828C8}"/>
              </a:ext>
            </a:extLst>
          </p:cNvPr>
          <p:cNvSpPr>
            <a:spLocks noGrp="1"/>
          </p:cNvSpPr>
          <p:nvPr>
            <p:ph idx="1"/>
          </p:nvPr>
        </p:nvSpPr>
        <p:spPr>
          <a:xfrm>
            <a:off x="838200" y="429491"/>
            <a:ext cx="10515600" cy="5747472"/>
          </a:xfrm>
        </p:spPr>
        <p:txBody>
          <a:bodyPr>
            <a:normAutofit fontScale="77500" lnSpcReduction="20000"/>
          </a:bodyPr>
          <a:lstStyle/>
          <a:p>
            <a:r>
              <a:rPr lang="en-US" dirty="0">
                <a:latin typeface="Century Gothic" panose="020B0502020202020204" pitchFamily="34" charset="0"/>
              </a:rPr>
              <a:t>print preds1.mean() </a:t>
            </a:r>
            <a:endParaRPr lang="en-US" dirty="0" smtClean="0">
              <a:latin typeface="Century Gothic" panose="020B0502020202020204" pitchFamily="34" charset="0"/>
            </a:endParaRPr>
          </a:p>
          <a:p>
            <a:r>
              <a:rPr lang="en-US" dirty="0" smtClean="0">
                <a:latin typeface="Century Gothic" panose="020B0502020202020204" pitchFamily="34" charset="0"/>
              </a:rPr>
              <a:t>0.699 </a:t>
            </a:r>
          </a:p>
          <a:p>
            <a:r>
              <a:rPr lang="en-US" dirty="0" smtClean="0">
                <a:latin typeface="Century Gothic" panose="020B0502020202020204" pitchFamily="34" charset="0"/>
              </a:rPr>
              <a:t>print </a:t>
            </a:r>
            <a:r>
              <a:rPr lang="en-US" dirty="0">
                <a:latin typeface="Century Gothic" panose="020B0502020202020204" pitchFamily="34" charset="0"/>
              </a:rPr>
              <a:t>preds2.mean() </a:t>
            </a:r>
            <a:endParaRPr lang="en-US" dirty="0" smtClean="0">
              <a:latin typeface="Century Gothic" panose="020B0502020202020204" pitchFamily="34" charset="0"/>
            </a:endParaRPr>
          </a:p>
          <a:p>
            <a:r>
              <a:rPr lang="en-US" dirty="0" smtClean="0">
                <a:latin typeface="Century Gothic" panose="020B0502020202020204" pitchFamily="34" charset="0"/>
              </a:rPr>
              <a:t>0.698 </a:t>
            </a:r>
          </a:p>
          <a:p>
            <a:r>
              <a:rPr lang="en-US" dirty="0" smtClean="0">
                <a:latin typeface="Century Gothic" panose="020B0502020202020204" pitchFamily="34" charset="0"/>
              </a:rPr>
              <a:t>print </a:t>
            </a:r>
            <a:r>
              <a:rPr lang="en-US" dirty="0">
                <a:latin typeface="Century Gothic" panose="020B0502020202020204" pitchFamily="34" charset="0"/>
              </a:rPr>
              <a:t>preds3.mean() </a:t>
            </a:r>
            <a:endParaRPr lang="en-US" dirty="0" smtClean="0">
              <a:latin typeface="Century Gothic" panose="020B0502020202020204" pitchFamily="34" charset="0"/>
            </a:endParaRPr>
          </a:p>
          <a:p>
            <a:r>
              <a:rPr lang="en-US" dirty="0" smtClean="0">
                <a:latin typeface="Century Gothic" panose="020B0502020202020204" pitchFamily="34" charset="0"/>
              </a:rPr>
              <a:t>0.71 </a:t>
            </a:r>
          </a:p>
          <a:p>
            <a:r>
              <a:rPr lang="en-US" dirty="0" smtClean="0">
                <a:latin typeface="Century Gothic" panose="020B0502020202020204" pitchFamily="34" charset="0"/>
              </a:rPr>
              <a:t>print </a:t>
            </a:r>
            <a:r>
              <a:rPr lang="en-US" dirty="0">
                <a:latin typeface="Century Gothic" panose="020B0502020202020204" pitchFamily="34" charset="0"/>
              </a:rPr>
              <a:t>preds4.mean() </a:t>
            </a:r>
            <a:endParaRPr lang="en-US" dirty="0" smtClean="0">
              <a:latin typeface="Century Gothic" panose="020B0502020202020204" pitchFamily="34" charset="0"/>
            </a:endParaRPr>
          </a:p>
          <a:p>
            <a:r>
              <a:rPr lang="en-US" dirty="0" smtClean="0">
                <a:latin typeface="Century Gothic" panose="020B0502020202020204" pitchFamily="34" charset="0"/>
              </a:rPr>
              <a:t>0.699 </a:t>
            </a:r>
          </a:p>
          <a:p>
            <a:r>
              <a:rPr lang="en-US" dirty="0" smtClean="0">
                <a:latin typeface="Century Gothic" panose="020B0502020202020204" pitchFamily="34" charset="0"/>
              </a:rPr>
              <a:t>print </a:t>
            </a:r>
            <a:r>
              <a:rPr lang="en-US" dirty="0">
                <a:latin typeface="Century Gothic" panose="020B0502020202020204" pitchFamily="34" charset="0"/>
              </a:rPr>
              <a:t>preds5.mean() </a:t>
            </a:r>
            <a:endParaRPr lang="en-US" dirty="0" smtClean="0">
              <a:latin typeface="Century Gothic" panose="020B0502020202020204" pitchFamily="34" charset="0"/>
            </a:endParaRPr>
          </a:p>
          <a:p>
            <a:r>
              <a:rPr lang="en-US" dirty="0" smtClean="0">
                <a:latin typeface="Century Gothic" panose="020B0502020202020204" pitchFamily="34" charset="0"/>
              </a:rPr>
              <a:t>0.685 </a:t>
            </a:r>
          </a:p>
          <a:p>
            <a:r>
              <a:rPr lang="en-US" dirty="0" smtClean="0">
                <a:latin typeface="Century Gothic" panose="020B0502020202020204" pitchFamily="34" charset="0"/>
              </a:rPr>
              <a:t># </a:t>
            </a:r>
            <a:r>
              <a:rPr lang="en-US" dirty="0">
                <a:latin typeface="Century Gothic" panose="020B0502020202020204" pitchFamily="34" charset="0"/>
              </a:rPr>
              <a:t>Each model has an "accuracy of around 70% on its own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average the predictions and then round to 0 or 1 </a:t>
            </a:r>
            <a:endParaRPr lang="en-US" dirty="0" smtClean="0">
              <a:latin typeface="Century Gothic" panose="020B0502020202020204" pitchFamily="34" charset="0"/>
            </a:endParaRPr>
          </a:p>
          <a:p>
            <a:r>
              <a:rPr lang="en-US" dirty="0" err="1" smtClean="0">
                <a:latin typeface="Century Gothic" panose="020B0502020202020204" pitchFamily="34" charset="0"/>
              </a:rPr>
              <a:t>ensemble_preds</a:t>
            </a:r>
            <a:r>
              <a:rPr lang="en-US" dirty="0" smtClean="0">
                <a:latin typeface="Century Gothic" panose="020B0502020202020204" pitchFamily="34" charset="0"/>
              </a:rPr>
              <a:t> </a:t>
            </a:r>
            <a:r>
              <a:rPr lang="en-US" dirty="0">
                <a:latin typeface="Century Gothic" panose="020B0502020202020204" pitchFamily="34" charset="0"/>
              </a:rPr>
              <a:t>= </a:t>
            </a:r>
            <a:r>
              <a:rPr lang="en-US" dirty="0" err="1">
                <a:latin typeface="Century Gothic" panose="020B0502020202020204" pitchFamily="34" charset="0"/>
              </a:rPr>
              <a:t>np.round</a:t>
            </a:r>
            <a:r>
              <a:rPr lang="en-US" dirty="0">
                <a:latin typeface="Century Gothic" panose="020B0502020202020204" pitchFamily="34" charset="0"/>
              </a:rPr>
              <a:t>((preds1 + preds2 + preds3 + preds4 + preds5)/5.0).</a:t>
            </a:r>
            <a:r>
              <a:rPr lang="en-US" dirty="0" err="1">
                <a:latin typeface="Century Gothic" panose="020B0502020202020204" pitchFamily="34" charset="0"/>
              </a:rPr>
              <a:t>astype</a:t>
            </a:r>
            <a:r>
              <a:rPr lang="en-US" dirty="0">
                <a:latin typeface="Century Gothic" panose="020B0502020202020204" pitchFamily="34" charset="0"/>
              </a:rPr>
              <a:t>(</a:t>
            </a:r>
            <a:r>
              <a:rPr lang="en-US" dirty="0" err="1">
                <a:latin typeface="Century Gothic" panose="020B0502020202020204" pitchFamily="34" charset="0"/>
              </a:rPr>
              <a:t>int</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err="1" smtClean="0">
                <a:latin typeface="Century Gothic" panose="020B0502020202020204" pitchFamily="34" charset="0"/>
              </a:rPr>
              <a:t>ensemble_preds.mean</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smtClean="0">
                <a:latin typeface="Century Gothic" panose="020B0502020202020204" pitchFamily="34" charset="0"/>
              </a:rPr>
              <a:t>0.83</a:t>
            </a:r>
            <a:endParaRPr lang="en-IN" dirty="0">
              <a:latin typeface="Century Gothic" panose="020B0502020202020204" pitchFamily="34" charset="0"/>
            </a:endParaRPr>
          </a:p>
        </p:txBody>
      </p:sp>
    </p:spTree>
    <p:extLst>
      <p:ext uri="{BB962C8B-B14F-4D97-AF65-F5344CB8AC3E}">
        <p14:creationId xmlns:p14="http://schemas.microsoft.com/office/powerpoint/2010/main" val="32604766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4073"/>
            <a:ext cx="10515600" cy="6165272"/>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As you add more models to a voting process, the probability of errors will decrease; this is known as Condorcet's jury theorem.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Crazy</a:t>
            </a:r>
            <a:r>
              <a:rPr lang="en-US" dirty="0">
                <a:latin typeface="Times New Roman" panose="02020603050405020304" pitchFamily="18" charset="0"/>
                <a:cs typeface="Times New Roman" panose="02020603050405020304" pitchFamily="18" charset="0"/>
              </a:rPr>
              <a:t>, right?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ensembling to work well in practice, the models must have the following characteristics: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Each model must at least outperform the null model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Independence:</a:t>
            </a:r>
            <a:r>
              <a:rPr lang="en-US" dirty="0">
                <a:latin typeface="Times New Roman" panose="02020603050405020304" pitchFamily="18" charset="0"/>
                <a:cs typeface="Times New Roman" panose="02020603050405020304" pitchFamily="18" charset="0"/>
              </a:rPr>
              <a:t> A model's prediction is not affected by another model's prediction </a:t>
            </a:r>
            <a:r>
              <a:rPr lang="en-US" dirty="0" smtClean="0">
                <a:latin typeface="Times New Roman" panose="02020603050405020304" pitchFamily="18" charset="0"/>
                <a:cs typeface="Times New Roman" panose="02020603050405020304" pitchFamily="18" charset="0"/>
              </a:rPr>
              <a:t>process.</a:t>
            </a: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you have a bunch of individually </a:t>
            </a:r>
            <a:r>
              <a:rPr lang="en-US" i="1" dirty="0">
                <a:latin typeface="Times New Roman" panose="02020603050405020304" pitchFamily="18" charset="0"/>
                <a:cs typeface="Times New Roman" panose="02020603050405020304" pitchFamily="18" charset="0"/>
              </a:rPr>
              <a:t>OK</a:t>
            </a:r>
            <a:r>
              <a:rPr lang="en-US" dirty="0">
                <a:latin typeface="Times New Roman" panose="02020603050405020304" pitchFamily="18" charset="0"/>
                <a:cs typeface="Times New Roman" panose="02020603050405020304" pitchFamily="18" charset="0"/>
              </a:rPr>
              <a:t> models, the edge case mistakes made by one model are probably not going to be made by the other models, so the mistakes will be ignored when combining the </a:t>
            </a:r>
            <a:r>
              <a:rPr lang="en-US" dirty="0" smtClean="0">
                <a:latin typeface="Times New Roman" panose="02020603050405020304" pitchFamily="18" charset="0"/>
                <a:cs typeface="Times New Roman" panose="02020603050405020304" pitchFamily="18" charset="0"/>
              </a:rPr>
              <a:t>models</a:t>
            </a:r>
          </a:p>
          <a:p>
            <a:pPr algn="just"/>
            <a:r>
              <a:rPr lang="en-US" dirty="0">
                <a:latin typeface="Times New Roman" panose="02020603050405020304" pitchFamily="18" charset="0"/>
                <a:cs typeface="Times New Roman" panose="02020603050405020304" pitchFamily="18" charset="0"/>
              </a:rPr>
              <a:t>There are the following two basic methods for ensembling: </a:t>
            </a:r>
          </a:p>
          <a:p>
            <a:pPr algn="just"/>
            <a:r>
              <a:rPr lang="en-US" i="1" dirty="0">
                <a:latin typeface="Times New Roman" panose="02020603050405020304" pitchFamily="18" charset="0"/>
                <a:cs typeface="Times New Roman" panose="02020603050405020304" pitchFamily="18" charset="0"/>
              </a:rPr>
              <a:t>• Manually ensemble your individual models by writing a good deal of code </a:t>
            </a:r>
          </a:p>
          <a:p>
            <a:pPr algn="just"/>
            <a:r>
              <a:rPr lang="en-US" i="1" dirty="0">
                <a:latin typeface="Times New Roman" panose="02020603050405020304" pitchFamily="18" charset="0"/>
                <a:cs typeface="Times New Roman" panose="02020603050405020304" pitchFamily="18" charset="0"/>
              </a:rPr>
              <a:t>• Use a model that ensembles for </a:t>
            </a:r>
            <a:r>
              <a:rPr lang="en-US" i="1" dirty="0" smtClean="0">
                <a:latin typeface="Times New Roman" panose="02020603050405020304" pitchFamily="18" charset="0"/>
                <a:cs typeface="Times New Roman" panose="02020603050405020304" pitchFamily="18" charset="0"/>
              </a:rPr>
              <a:t>you</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0526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35527"/>
            <a:ext cx="11007437" cy="6386946"/>
          </a:xfrm>
        </p:spPr>
        <p:txBody>
          <a:bodyPr>
            <a:normAutofit fontScale="92500" lnSpcReduction="10000"/>
          </a:bodyPr>
          <a:lstStyle/>
          <a:p>
            <a:pPr algn="just"/>
            <a:r>
              <a:rPr lang="en-US" dirty="0" smtClean="0">
                <a:latin typeface="Times New Roman" panose="02020603050405020304" pitchFamily="18" charset="0"/>
                <a:cs typeface="Times New Roman" panose="02020603050405020304" pitchFamily="18" charset="0"/>
              </a:rPr>
              <a:t>We're </a:t>
            </a:r>
            <a:r>
              <a:rPr lang="en-US" dirty="0">
                <a:latin typeface="Times New Roman" panose="02020603050405020304" pitchFamily="18" charset="0"/>
                <a:cs typeface="Times New Roman" panose="02020603050405020304" pitchFamily="18" charset="0"/>
              </a:rPr>
              <a:t>going to look at a model that ensembles for us. To do this, let's take a look at decision trees again. </a:t>
            </a:r>
            <a:endParaRPr lang="en-US" dirty="0" smtClean="0">
              <a:latin typeface="Times New Roman" panose="02020603050405020304" pitchFamily="18" charset="0"/>
              <a:cs typeface="Times New Roman" panose="02020603050405020304" pitchFamily="18" charset="0"/>
            </a:endParaRPr>
          </a:p>
          <a:p>
            <a:pPr algn="just"/>
            <a:r>
              <a:rPr lang="en-US" i="1" dirty="0" smtClean="0">
                <a:latin typeface="Times New Roman" panose="02020603050405020304" pitchFamily="18" charset="0"/>
                <a:cs typeface="Times New Roman" panose="02020603050405020304" pitchFamily="18" charset="0"/>
              </a:rPr>
              <a:t>Decision </a:t>
            </a:r>
            <a:r>
              <a:rPr lang="en-US" i="1" dirty="0">
                <a:latin typeface="Times New Roman" panose="02020603050405020304" pitchFamily="18" charset="0"/>
                <a:cs typeface="Times New Roman" panose="02020603050405020304" pitchFamily="18" charset="0"/>
              </a:rPr>
              <a:t>trees tend to have low bias and high variance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Given </a:t>
            </a:r>
            <a:r>
              <a:rPr lang="en-US" dirty="0">
                <a:latin typeface="Times New Roman" panose="02020603050405020304" pitchFamily="18" charset="0"/>
                <a:cs typeface="Times New Roman" panose="02020603050405020304" pitchFamily="18" charset="0"/>
              </a:rPr>
              <a:t>any dataset, the tree can keep asking questions (making decisions) until it is able to nitpick and distinguish between every single example in the dataset.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could keep asking question after question until there is only a single example in each leaf (terminal) node.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tree is trying too hard, growing too deep, and just memorizing every single detail of our training 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if we started over, the tree could potentially ask different questions and still grow very deep.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means that there are many possible trees that could distinguish between all elements, which means higher variance.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unable to generalize well. In order to reduce the variance of a single tree, we can place a restriction on the number of questions asked in a tree (the </a:t>
            </a:r>
            <a:r>
              <a:rPr lang="en-US" dirty="0" err="1">
                <a:latin typeface="Times New Roman" panose="02020603050405020304" pitchFamily="18" charset="0"/>
                <a:cs typeface="Times New Roman" panose="02020603050405020304" pitchFamily="18" charset="0"/>
              </a:rPr>
              <a:t>max_depth</a:t>
            </a:r>
            <a:r>
              <a:rPr lang="en-US" dirty="0">
                <a:latin typeface="Times New Roman" panose="02020603050405020304" pitchFamily="18" charset="0"/>
                <a:cs typeface="Times New Roman" panose="02020603050405020304" pitchFamily="18" charset="0"/>
              </a:rPr>
              <a:t> parameter) or we can create an ensemble version of decision trees, called </a:t>
            </a:r>
            <a:r>
              <a:rPr lang="en-US" u="sng" dirty="0">
                <a:latin typeface="Times New Roman" panose="02020603050405020304" pitchFamily="18" charset="0"/>
                <a:cs typeface="Times New Roman" panose="02020603050405020304" pitchFamily="18" charset="0"/>
              </a:rPr>
              <a:t>Random forests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3846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1057"/>
          </a:xfrm>
        </p:spPr>
        <p:txBody>
          <a:bodyPr/>
          <a:lstStyle/>
          <a:p>
            <a:pPr algn="ctr"/>
            <a:r>
              <a:rPr lang="en-IN" dirty="0">
                <a:latin typeface="Times New Roman" panose="02020603050405020304" pitchFamily="18" charset="0"/>
                <a:cs typeface="Times New Roman" panose="02020603050405020304" pitchFamily="18" charset="0"/>
              </a:rPr>
              <a:t>Random forests</a:t>
            </a:r>
          </a:p>
        </p:txBody>
      </p:sp>
      <p:sp>
        <p:nvSpPr>
          <p:cNvPr id="3" name="Content Placeholder 2"/>
          <p:cNvSpPr>
            <a:spLocks noGrp="1"/>
          </p:cNvSpPr>
          <p:nvPr>
            <p:ph idx="1"/>
          </p:nvPr>
        </p:nvSpPr>
        <p:spPr>
          <a:xfrm>
            <a:off x="838200" y="1413164"/>
            <a:ext cx="10515600" cy="4763799"/>
          </a:xfrm>
        </p:spPr>
        <p:txBody>
          <a:bodyPr/>
          <a:lstStyle/>
          <a:p>
            <a:pPr algn="just"/>
            <a:r>
              <a:rPr lang="en-US" dirty="0">
                <a:latin typeface="Times New Roman" panose="02020603050405020304" pitchFamily="18" charset="0"/>
                <a:cs typeface="Times New Roman" panose="02020603050405020304" pitchFamily="18" charset="0"/>
              </a:rPr>
              <a:t>The primary weakness of decision trees is that different splits in the training data can lead to very different trees.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Bagging </a:t>
            </a:r>
            <a:r>
              <a:rPr lang="en-US" dirty="0">
                <a:latin typeface="Times New Roman" panose="02020603050405020304" pitchFamily="18" charset="0"/>
                <a:cs typeface="Times New Roman" panose="02020603050405020304" pitchFamily="18" charset="0"/>
              </a:rPr>
              <a:t>is a general purpose procedure to reduce the variance of a machine learning method, but is particularly useful for decision trees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Bagging </a:t>
            </a:r>
            <a:r>
              <a:rPr lang="en-US" dirty="0">
                <a:latin typeface="Times New Roman" panose="02020603050405020304" pitchFamily="18" charset="0"/>
                <a:cs typeface="Times New Roman" panose="02020603050405020304" pitchFamily="18" charset="0"/>
              </a:rPr>
              <a:t>is short for Bootstrap aggregation, which means the aggregation of Bootstrap samples.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What </a:t>
            </a:r>
            <a:r>
              <a:rPr lang="en-US" dirty="0">
                <a:latin typeface="Times New Roman" panose="02020603050405020304" pitchFamily="18" charset="0"/>
                <a:cs typeface="Times New Roman" panose="02020603050405020304" pitchFamily="18" charset="0"/>
              </a:rPr>
              <a:t>is a Bootstrap sample? It is a random sample with </a:t>
            </a:r>
            <a:r>
              <a:rPr lang="en-US" dirty="0" smtClean="0">
                <a:latin typeface="Times New Roman" panose="02020603050405020304" pitchFamily="18" charset="0"/>
                <a:cs typeface="Times New Roman" panose="02020603050405020304" pitchFamily="18" charset="0"/>
              </a:rPr>
              <a:t>replacement.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6903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2508"/>
            <a:ext cx="10855036" cy="6179127"/>
          </a:xfrm>
        </p:spPr>
        <p:txBody>
          <a:bodyPr>
            <a:normAutofit lnSpcReduction="10000"/>
          </a:bodyPr>
          <a:lstStyle/>
          <a:p>
            <a:r>
              <a:rPr lang="en-US" dirty="0">
                <a:latin typeface="Century Gothic" panose="020B0502020202020204" pitchFamily="34" charset="0"/>
              </a:rPr>
              <a:t># set a seed for reproducibility </a:t>
            </a:r>
            <a:endParaRPr lang="en-US" dirty="0" smtClean="0">
              <a:latin typeface="Century Gothic" panose="020B0502020202020204" pitchFamily="34" charset="0"/>
            </a:endParaRPr>
          </a:p>
          <a:p>
            <a:r>
              <a:rPr lang="en-US" dirty="0" err="1" smtClean="0">
                <a:latin typeface="Century Gothic" panose="020B0502020202020204" pitchFamily="34" charset="0"/>
              </a:rPr>
              <a:t>np.random.seed</a:t>
            </a:r>
            <a:r>
              <a:rPr lang="en-US" dirty="0" smtClean="0">
                <a:latin typeface="Century Gothic" panose="020B0502020202020204" pitchFamily="34" charset="0"/>
              </a:rPr>
              <a:t>(1</a:t>
            </a:r>
            <a:r>
              <a:rPr lang="en-US" dirty="0">
                <a:latin typeface="Century Gothic" panose="020B0502020202020204" pitchFamily="34" charset="0"/>
              </a:rPr>
              <a:t>) </a:t>
            </a:r>
            <a:endParaRPr lang="en-US" dirty="0" smtClean="0">
              <a:latin typeface="Century Gothic" panose="020B0502020202020204" pitchFamily="34" charset="0"/>
            </a:endParaRPr>
          </a:p>
          <a:p>
            <a:pPr marL="0" indent="0">
              <a:buNone/>
            </a:pP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create an array of 1 through 20 </a:t>
            </a:r>
            <a:endParaRPr lang="en-US" dirty="0" smtClean="0">
              <a:latin typeface="Century Gothic" panose="020B0502020202020204" pitchFamily="34" charset="0"/>
            </a:endParaRPr>
          </a:p>
          <a:p>
            <a:r>
              <a:rPr lang="en-US" dirty="0" err="1" smtClean="0">
                <a:latin typeface="Century Gothic" panose="020B0502020202020204" pitchFamily="34" charset="0"/>
              </a:rPr>
              <a:t>nums</a:t>
            </a:r>
            <a:r>
              <a:rPr lang="en-US" dirty="0" smtClean="0">
                <a:latin typeface="Century Gothic" panose="020B0502020202020204" pitchFamily="34" charset="0"/>
              </a:rPr>
              <a:t> </a:t>
            </a:r>
            <a:r>
              <a:rPr lang="en-US" dirty="0">
                <a:latin typeface="Century Gothic" panose="020B0502020202020204" pitchFamily="34" charset="0"/>
              </a:rPr>
              <a:t>= </a:t>
            </a:r>
            <a:r>
              <a:rPr lang="en-US" dirty="0" err="1">
                <a:latin typeface="Century Gothic" panose="020B0502020202020204" pitchFamily="34" charset="0"/>
              </a:rPr>
              <a:t>np.arange</a:t>
            </a:r>
            <a:r>
              <a:rPr lang="en-US" dirty="0">
                <a:latin typeface="Century Gothic" panose="020B0502020202020204" pitchFamily="34" charset="0"/>
              </a:rPr>
              <a:t>(1, 21) </a:t>
            </a:r>
            <a:endParaRPr lang="en-US" dirty="0" smtClean="0">
              <a:latin typeface="Century Gothic" panose="020B0502020202020204" pitchFamily="34" charset="0"/>
            </a:endParaRPr>
          </a:p>
          <a:p>
            <a:r>
              <a:rPr lang="en-US" dirty="0" smtClean="0">
                <a:latin typeface="Century Gothic" panose="020B0502020202020204" pitchFamily="34" charset="0"/>
              </a:rPr>
              <a:t>print </a:t>
            </a:r>
            <a:r>
              <a:rPr lang="en-US" dirty="0" err="1" smtClean="0">
                <a:latin typeface="Century Gothic" panose="020B0502020202020204" pitchFamily="34" charset="0"/>
              </a:rPr>
              <a:t>nums</a:t>
            </a:r>
            <a:r>
              <a:rPr lang="en-US" dirty="0" smtClean="0">
                <a:latin typeface="Century Gothic" panose="020B0502020202020204" pitchFamily="34" charset="0"/>
              </a:rPr>
              <a:t> </a:t>
            </a:r>
          </a:p>
          <a:p>
            <a:r>
              <a:rPr lang="en-US" dirty="0" smtClean="0">
                <a:latin typeface="Century Gothic" panose="020B0502020202020204" pitchFamily="34" charset="0"/>
              </a:rPr>
              <a:t>[ </a:t>
            </a:r>
            <a:r>
              <a:rPr lang="en-US" dirty="0">
                <a:latin typeface="Century Gothic" panose="020B0502020202020204" pitchFamily="34" charset="0"/>
              </a:rPr>
              <a:t>1 2 3 4 5 6 7 8 9 10 11 12 13 14 15 16 17 18 19 20] </a:t>
            </a:r>
            <a:endParaRPr lang="en-US" dirty="0" smtClean="0">
              <a:latin typeface="Century Gothic" panose="020B0502020202020204" pitchFamily="34" charset="0"/>
            </a:endParaRPr>
          </a:p>
          <a:p>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sample that array 20 times with replacement </a:t>
            </a:r>
            <a:endParaRPr lang="en-US" dirty="0" smtClean="0">
              <a:latin typeface="Century Gothic" panose="020B0502020202020204" pitchFamily="34" charset="0"/>
            </a:endParaRPr>
          </a:p>
          <a:p>
            <a:r>
              <a:rPr lang="en-US" dirty="0" err="1" smtClean="0">
                <a:latin typeface="Century Gothic" panose="020B0502020202020204" pitchFamily="34" charset="0"/>
              </a:rPr>
              <a:t>np.random.choice</a:t>
            </a:r>
            <a:r>
              <a:rPr lang="en-US" dirty="0" smtClean="0">
                <a:latin typeface="Century Gothic" panose="020B0502020202020204" pitchFamily="34" charset="0"/>
              </a:rPr>
              <a:t>(a=</a:t>
            </a:r>
            <a:r>
              <a:rPr lang="en-US" dirty="0" err="1" smtClean="0">
                <a:latin typeface="Century Gothic" panose="020B0502020202020204" pitchFamily="34" charset="0"/>
              </a:rPr>
              <a:t>nums</a:t>
            </a:r>
            <a:r>
              <a:rPr lang="en-US" dirty="0">
                <a:latin typeface="Century Gothic" panose="020B0502020202020204" pitchFamily="34" charset="0"/>
              </a:rPr>
              <a:t>, size=20, replace=True)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6 12 13 9 10 12 6 16 1 17 2 13 8 14 7 19 6 19 12 11] </a:t>
            </a:r>
            <a:endParaRPr lang="en-US" dirty="0" smtClean="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This is our </a:t>
            </a:r>
            <a:r>
              <a:rPr lang="en-US" dirty="0" smtClean="0">
                <a:latin typeface="Century Gothic" panose="020B0502020202020204" pitchFamily="34" charset="0"/>
              </a:rPr>
              <a:t>bootstrapped </a:t>
            </a:r>
            <a:r>
              <a:rPr lang="en-US" dirty="0">
                <a:latin typeface="Century Gothic" panose="020B0502020202020204" pitchFamily="34" charset="0"/>
              </a:rPr>
              <a:t>sample notice it has repeat </a:t>
            </a:r>
            <a:r>
              <a:rPr lang="en-US" dirty="0" smtClean="0">
                <a:latin typeface="Century Gothic" panose="020B0502020202020204" pitchFamily="34" charset="0"/>
              </a:rPr>
              <a:t>variables !</a:t>
            </a:r>
          </a:p>
          <a:p>
            <a:endParaRPr lang="en-US" dirty="0" smtClean="0">
              <a:latin typeface="Century Gothic" panose="020B0502020202020204" pitchFamily="34" charset="0"/>
            </a:endParaRPr>
          </a:p>
        </p:txBody>
      </p:sp>
    </p:spTree>
    <p:extLst>
      <p:ext uri="{BB962C8B-B14F-4D97-AF65-F5344CB8AC3E}">
        <p14:creationId xmlns:p14="http://schemas.microsoft.com/office/powerpoint/2010/main" val="21824079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5187"/>
            <a:ext cx="10515600" cy="5601776"/>
          </a:xfrm>
        </p:spPr>
        <p:txBody>
          <a:bodyPr>
            <a:normAutofit/>
          </a:bodyPr>
          <a:lstStyle/>
          <a:p>
            <a:r>
              <a:rPr lang="en-US" dirty="0">
                <a:latin typeface="Times New Roman" panose="02020603050405020304" pitchFamily="18" charset="0"/>
                <a:cs typeface="Times New Roman" panose="02020603050405020304" pitchFamily="18" charset="0"/>
              </a:rPr>
              <a:t>So, how does bagging work for decision trees? </a:t>
            </a:r>
          </a:p>
          <a:p>
            <a:r>
              <a:rPr lang="en-US" dirty="0">
                <a:latin typeface="Times New Roman" panose="02020603050405020304" pitchFamily="18" charset="0"/>
                <a:cs typeface="Times New Roman" panose="02020603050405020304" pitchFamily="18" charset="0"/>
              </a:rPr>
              <a:t>1. Grow B trees using Bootstrap samples from the training data. </a:t>
            </a:r>
          </a:p>
          <a:p>
            <a:r>
              <a:rPr lang="en-US" dirty="0">
                <a:latin typeface="Times New Roman" panose="02020603050405020304" pitchFamily="18" charset="0"/>
                <a:cs typeface="Times New Roman" panose="02020603050405020304" pitchFamily="18" charset="0"/>
              </a:rPr>
              <a:t>2. Train each tree on its Bootstrap sample and make predictions. </a:t>
            </a:r>
          </a:p>
          <a:p>
            <a:r>
              <a:rPr lang="en-US" dirty="0">
                <a:latin typeface="Times New Roman" panose="02020603050405020304" pitchFamily="18" charset="0"/>
                <a:cs typeface="Times New Roman" panose="02020603050405020304" pitchFamily="18" charset="0"/>
              </a:rPr>
              <a:t>3. Combine the predictions: </a:t>
            </a:r>
          </a:p>
          <a:p>
            <a:pPr lvl="1"/>
            <a:r>
              <a:rPr lang="en-US" dirty="0">
                <a:latin typeface="Times New Roman" panose="02020603050405020304" pitchFamily="18" charset="0"/>
                <a:cs typeface="Times New Roman" panose="02020603050405020304" pitchFamily="18" charset="0"/>
              </a:rPr>
              <a:t>° Average the predictions for regression trees </a:t>
            </a:r>
          </a:p>
          <a:p>
            <a:pPr lvl="1"/>
            <a:r>
              <a:rPr lang="en-US" dirty="0">
                <a:latin typeface="Times New Roman" panose="02020603050405020304" pitchFamily="18" charset="0"/>
                <a:cs typeface="Times New Roman" panose="02020603050405020304" pitchFamily="18" charset="0"/>
              </a:rPr>
              <a:t>° Take a vote for classification trees </a:t>
            </a:r>
          </a:p>
          <a:p>
            <a:pPr marL="342900" lvl="1" indent="-342900"/>
            <a:r>
              <a:rPr lang="en-US" dirty="0">
                <a:latin typeface="Times New Roman" panose="02020603050405020304" pitchFamily="18" charset="0"/>
                <a:cs typeface="Times New Roman" panose="02020603050405020304" pitchFamily="18" charset="0"/>
              </a:rPr>
              <a:t>The following are a few things to note: </a:t>
            </a:r>
          </a:p>
          <a:p>
            <a:pPr marL="342900" lvl="1" indent="-342900"/>
            <a:r>
              <a:rPr lang="en-US" dirty="0">
                <a:latin typeface="Times New Roman" panose="02020603050405020304" pitchFamily="18" charset="0"/>
                <a:cs typeface="Times New Roman" panose="02020603050405020304" pitchFamily="18" charset="0"/>
              </a:rPr>
              <a:t>• Each Bootstrap sample should be the same size as the original training set </a:t>
            </a:r>
          </a:p>
          <a:p>
            <a:pPr marL="342900" lvl="1" indent="-342900"/>
            <a:r>
              <a:rPr lang="en-US" dirty="0">
                <a:latin typeface="Times New Roman" panose="02020603050405020304" pitchFamily="18" charset="0"/>
                <a:cs typeface="Times New Roman" panose="02020603050405020304" pitchFamily="18" charset="0"/>
              </a:rPr>
              <a:t>• B should be a large enough value that the error seems to have </a:t>
            </a:r>
            <a:r>
              <a:rPr lang="en-US" i="1" dirty="0">
                <a:latin typeface="Times New Roman" panose="02020603050405020304" pitchFamily="18" charset="0"/>
                <a:cs typeface="Times New Roman" panose="02020603050405020304" pitchFamily="18" charset="0"/>
              </a:rPr>
              <a:t>stabilized</a:t>
            </a:r>
            <a:r>
              <a:rPr lang="en-US" dirty="0">
                <a:latin typeface="Times New Roman" panose="02020603050405020304" pitchFamily="18" charset="0"/>
                <a:cs typeface="Times New Roman" panose="02020603050405020304" pitchFamily="18" charset="0"/>
              </a:rPr>
              <a:t> </a:t>
            </a:r>
          </a:p>
          <a:p>
            <a:pPr marL="342900" lvl="1" indent="-342900"/>
            <a:r>
              <a:rPr lang="en-US" dirty="0">
                <a:latin typeface="Times New Roman" panose="02020603050405020304" pitchFamily="18" charset="0"/>
                <a:cs typeface="Times New Roman" panose="02020603050405020304" pitchFamily="18" charset="0"/>
              </a:rPr>
              <a:t>• The trees are grown intentionally deep so that they have low bias/high variance rapped sample notice it has repeat variables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278355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7703"/>
            <a:ext cx="10515600" cy="5749260"/>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reason we grow the trees intentionally deep is because the bagging inherently increases predictive accuracy by reducing the variance, similar to how </a:t>
            </a:r>
            <a:r>
              <a:rPr lang="en-US" dirty="0" smtClean="0">
                <a:latin typeface="Times New Roman" panose="02020603050405020304" pitchFamily="18" charset="0"/>
                <a:cs typeface="Times New Roman" panose="02020603050405020304" pitchFamily="18" charset="0"/>
              </a:rPr>
              <a:t>cross validation </a:t>
            </a:r>
            <a:r>
              <a:rPr lang="en-US" dirty="0">
                <a:latin typeface="Times New Roman" panose="02020603050405020304" pitchFamily="18" charset="0"/>
                <a:cs typeface="Times New Roman" panose="02020603050405020304" pitchFamily="18" charset="0"/>
              </a:rPr>
              <a:t>reduces the variance associated with estimating our out of sample error.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Random </a:t>
            </a:r>
            <a:r>
              <a:rPr lang="en-US" dirty="0">
                <a:latin typeface="Times New Roman" panose="02020603050405020304" pitchFamily="18" charset="0"/>
                <a:cs typeface="Times New Roman" panose="02020603050405020304" pitchFamily="18" charset="0"/>
              </a:rPr>
              <a:t>forests are a variation of bagged trees.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when building each tree, each time we consider a split between the features, a random sample of </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features is chosen as split candidates from the full set of </a:t>
            </a:r>
            <a:r>
              <a:rPr lang="en-US" i="1"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features.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split is only allowed to be one of those </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features: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new random sample of features is chosen for every single tree at </a:t>
            </a:r>
            <a:r>
              <a:rPr lang="en-US" i="1" dirty="0">
                <a:latin typeface="Times New Roman" panose="02020603050405020304" pitchFamily="18" charset="0"/>
                <a:cs typeface="Times New Roman" panose="02020603050405020304" pitchFamily="18" charset="0"/>
              </a:rPr>
              <a:t>every single</a:t>
            </a:r>
            <a:r>
              <a:rPr lang="en-US" dirty="0">
                <a:latin typeface="Times New Roman" panose="02020603050405020304" pitchFamily="18" charset="0"/>
                <a:cs typeface="Times New Roman" panose="02020603050405020304" pitchFamily="18" charset="0"/>
              </a:rPr>
              <a:t> split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classification, </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is typically chosen to be the square root of </a:t>
            </a:r>
            <a:r>
              <a:rPr lang="en-US" i="1"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regression, </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is typically chosen to be somewhere between </a:t>
            </a:r>
            <a:r>
              <a:rPr lang="en-US" i="1" dirty="0">
                <a:latin typeface="Times New Roman" panose="02020603050405020304" pitchFamily="18" charset="0"/>
                <a:cs typeface="Times New Roman" panose="02020603050405020304" pitchFamily="18" charset="0"/>
              </a:rPr>
              <a:t>p/3</a:t>
            </a:r>
            <a:r>
              <a:rPr lang="en-US" dirty="0">
                <a:latin typeface="Times New Roman" panose="02020603050405020304" pitchFamily="18" charset="0"/>
                <a:cs typeface="Times New Roman" panose="02020603050405020304" pitchFamily="18" charset="0"/>
              </a:rPr>
              <a:t> and </a:t>
            </a:r>
            <a:r>
              <a:rPr lang="en-US" i="1" dirty="0" smtClean="0">
                <a:latin typeface="Times New Roman" panose="02020603050405020304" pitchFamily="18" charset="0"/>
                <a:cs typeface="Times New Roman" panose="02020603050405020304" pitchFamily="18" charset="0"/>
              </a:rPr>
              <a:t>p</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What's the point?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4995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710"/>
            <a:ext cx="10515600" cy="5808253"/>
          </a:xfrm>
        </p:spPr>
        <p:txBody>
          <a:bodyPr>
            <a:normAutofit/>
          </a:bodyPr>
          <a:lstStyle/>
          <a:p>
            <a:pPr algn="just"/>
            <a:r>
              <a:rPr lang="en-US" dirty="0">
                <a:latin typeface="Times New Roman" panose="02020603050405020304" pitchFamily="18" charset="0"/>
                <a:cs typeface="Times New Roman" panose="02020603050405020304" pitchFamily="18" charset="0"/>
              </a:rPr>
              <a:t>Suppose there is one very strong feature in the dataset.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using decision (or bagged) trees, most of the trees will use that feature as the top split, resulting in an ensemble of similar trees that are highly correlated to each other.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our trees are highly correlated to each other, then averaging these quantities will not significantly reduce variance (which is the entire goal of ensembling).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Also</a:t>
            </a:r>
            <a:r>
              <a:rPr lang="en-US" dirty="0">
                <a:latin typeface="Times New Roman" panose="02020603050405020304" pitchFamily="18" charset="0"/>
                <a:cs typeface="Times New Roman" panose="02020603050405020304" pitchFamily="18" charset="0"/>
              </a:rPr>
              <a:t>, by randomly leaving out candidate features from each split, Random forests reduce the variance of the resulting model</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Random forests can be used in both classification and regression problems and can be easily used in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Let's </a:t>
            </a:r>
            <a:r>
              <a:rPr lang="en-US" dirty="0">
                <a:latin typeface="Times New Roman" panose="02020603050405020304" pitchFamily="18" charset="0"/>
                <a:cs typeface="Times New Roman" panose="02020603050405020304" pitchFamily="18" charset="0"/>
              </a:rPr>
              <a:t>try to predict MLB salaries based on statistics about the player, as shown: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627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2452"/>
            <a:ext cx="10515600" cy="6091083"/>
          </a:xfrm>
        </p:spPr>
        <p:txBody>
          <a:bodyPr>
            <a:normAutofit fontScale="85000" lnSpcReduction="20000"/>
          </a:bodyPr>
          <a:lstStyle/>
          <a:p>
            <a:r>
              <a:rPr lang="en-IN" dirty="0">
                <a:latin typeface="Century Gothic" panose="020B0502020202020204" pitchFamily="34" charset="0"/>
              </a:rPr>
              <a:t># read in the data </a:t>
            </a:r>
            <a:endParaRPr lang="en-IN" dirty="0" smtClean="0">
              <a:latin typeface="Century Gothic" panose="020B0502020202020204" pitchFamily="34" charset="0"/>
            </a:endParaRPr>
          </a:p>
          <a:p>
            <a:r>
              <a:rPr lang="en-IN" dirty="0" err="1" smtClean="0">
                <a:latin typeface="Century Gothic" panose="020B0502020202020204" pitchFamily="34" charset="0"/>
              </a:rPr>
              <a:t>url</a:t>
            </a:r>
            <a:r>
              <a:rPr lang="en-IN" dirty="0" smtClean="0">
                <a:latin typeface="Century Gothic" panose="020B0502020202020204" pitchFamily="34" charset="0"/>
              </a:rPr>
              <a:t> </a:t>
            </a:r>
            <a:r>
              <a:rPr lang="en-IN" dirty="0">
                <a:latin typeface="Century Gothic" panose="020B0502020202020204" pitchFamily="34" charset="0"/>
              </a:rPr>
              <a:t>= '../data/hitters.csv' </a:t>
            </a:r>
            <a:endParaRPr lang="en-IN" dirty="0" smtClean="0">
              <a:latin typeface="Century Gothic" panose="020B0502020202020204" pitchFamily="34" charset="0"/>
            </a:endParaRPr>
          </a:p>
          <a:p>
            <a:r>
              <a:rPr lang="en-IN" dirty="0" smtClean="0">
                <a:latin typeface="Century Gothic" panose="020B0502020202020204" pitchFamily="34" charset="0"/>
              </a:rPr>
              <a:t>hitters </a:t>
            </a:r>
            <a:r>
              <a:rPr lang="en-IN" dirty="0">
                <a:latin typeface="Century Gothic" panose="020B0502020202020204" pitchFamily="34" charset="0"/>
              </a:rPr>
              <a:t>= </a:t>
            </a:r>
            <a:r>
              <a:rPr lang="en-IN" dirty="0" err="1">
                <a:latin typeface="Century Gothic" panose="020B0502020202020204" pitchFamily="34" charset="0"/>
              </a:rPr>
              <a:t>pd.read_csv</a:t>
            </a:r>
            <a:r>
              <a:rPr lang="en-IN" dirty="0">
                <a:latin typeface="Century Gothic" panose="020B0502020202020204" pitchFamily="34" charset="0"/>
              </a:rPr>
              <a:t>(</a:t>
            </a:r>
            <a:r>
              <a:rPr lang="en-IN" dirty="0" err="1">
                <a:latin typeface="Century Gothic" panose="020B0502020202020204" pitchFamily="34" charset="0"/>
              </a:rPr>
              <a:t>url</a:t>
            </a:r>
            <a:r>
              <a:rPr lang="en-IN" dirty="0">
                <a:latin typeface="Century Gothic" panose="020B0502020202020204" pitchFamily="34" charset="0"/>
              </a:rPr>
              <a:t>)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remove rows with missing values </a:t>
            </a:r>
            <a:endParaRPr lang="en-IN" dirty="0" smtClean="0">
              <a:latin typeface="Century Gothic" panose="020B0502020202020204" pitchFamily="34" charset="0"/>
            </a:endParaRPr>
          </a:p>
          <a:p>
            <a:r>
              <a:rPr lang="en-IN" dirty="0" err="1" smtClean="0">
                <a:latin typeface="Century Gothic" panose="020B0502020202020204" pitchFamily="34" charset="0"/>
              </a:rPr>
              <a:t>hitters.dropna</a:t>
            </a:r>
            <a:r>
              <a:rPr lang="en-IN" dirty="0" smtClean="0">
                <a:latin typeface="Century Gothic" panose="020B0502020202020204" pitchFamily="34" charset="0"/>
              </a:rPr>
              <a:t>(</a:t>
            </a:r>
            <a:r>
              <a:rPr lang="en-IN" dirty="0" err="1" smtClean="0">
                <a:latin typeface="Century Gothic" panose="020B0502020202020204" pitchFamily="34" charset="0"/>
              </a:rPr>
              <a:t>inplace</a:t>
            </a:r>
            <a:r>
              <a:rPr lang="en-IN" dirty="0" smtClean="0">
                <a:latin typeface="Century Gothic" panose="020B0502020202020204" pitchFamily="34" charset="0"/>
              </a:rPr>
              <a:t>=True</a:t>
            </a:r>
            <a:r>
              <a:rPr lang="en-IN" dirty="0">
                <a:latin typeface="Century Gothic" panose="020B0502020202020204" pitchFamily="34" charset="0"/>
              </a:rPr>
              <a:t>)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encode categorical variables as integers </a:t>
            </a:r>
            <a:endParaRPr lang="en-IN" dirty="0" smtClean="0">
              <a:latin typeface="Century Gothic" panose="020B0502020202020204" pitchFamily="34" charset="0"/>
            </a:endParaRPr>
          </a:p>
          <a:p>
            <a:r>
              <a:rPr lang="en-IN" dirty="0" smtClean="0">
                <a:latin typeface="Century Gothic" panose="020B0502020202020204" pitchFamily="34" charset="0"/>
              </a:rPr>
              <a:t>hitters</a:t>
            </a:r>
            <a:r>
              <a:rPr lang="en-IN" dirty="0">
                <a:latin typeface="Century Gothic" panose="020B0502020202020204" pitchFamily="34" charset="0"/>
              </a:rPr>
              <a:t>['League'] = </a:t>
            </a:r>
            <a:r>
              <a:rPr lang="en-IN" dirty="0" err="1">
                <a:latin typeface="Century Gothic" panose="020B0502020202020204" pitchFamily="34" charset="0"/>
              </a:rPr>
              <a:t>pd.factorize</a:t>
            </a:r>
            <a:r>
              <a:rPr lang="en-IN" dirty="0">
                <a:latin typeface="Century Gothic" panose="020B0502020202020204" pitchFamily="34" charset="0"/>
              </a:rPr>
              <a:t>(</a:t>
            </a:r>
            <a:r>
              <a:rPr lang="en-IN" dirty="0" err="1">
                <a:latin typeface="Century Gothic" panose="020B0502020202020204" pitchFamily="34" charset="0"/>
              </a:rPr>
              <a:t>hitters.League</a:t>
            </a:r>
            <a:r>
              <a:rPr lang="en-IN" dirty="0">
                <a:latin typeface="Century Gothic" panose="020B0502020202020204" pitchFamily="34" charset="0"/>
              </a:rPr>
              <a:t>)[0] </a:t>
            </a:r>
            <a:endParaRPr lang="en-IN" dirty="0" smtClean="0">
              <a:latin typeface="Century Gothic" panose="020B0502020202020204" pitchFamily="34" charset="0"/>
            </a:endParaRPr>
          </a:p>
          <a:p>
            <a:r>
              <a:rPr lang="en-IN" dirty="0" smtClean="0">
                <a:latin typeface="Century Gothic" panose="020B0502020202020204" pitchFamily="34" charset="0"/>
              </a:rPr>
              <a:t>hitters</a:t>
            </a:r>
            <a:r>
              <a:rPr lang="en-IN" dirty="0">
                <a:latin typeface="Century Gothic" panose="020B0502020202020204" pitchFamily="34" charset="0"/>
              </a:rPr>
              <a:t>['Division'] = </a:t>
            </a:r>
            <a:r>
              <a:rPr lang="en-IN" dirty="0" err="1">
                <a:latin typeface="Century Gothic" panose="020B0502020202020204" pitchFamily="34" charset="0"/>
              </a:rPr>
              <a:t>pd.factorize</a:t>
            </a:r>
            <a:r>
              <a:rPr lang="en-IN" dirty="0">
                <a:latin typeface="Century Gothic" panose="020B0502020202020204" pitchFamily="34" charset="0"/>
              </a:rPr>
              <a:t>(</a:t>
            </a:r>
            <a:r>
              <a:rPr lang="en-IN" dirty="0" err="1">
                <a:latin typeface="Century Gothic" panose="020B0502020202020204" pitchFamily="34" charset="0"/>
              </a:rPr>
              <a:t>hitters.Division</a:t>
            </a:r>
            <a:r>
              <a:rPr lang="en-IN" dirty="0">
                <a:latin typeface="Century Gothic" panose="020B0502020202020204" pitchFamily="34" charset="0"/>
              </a:rPr>
              <a:t>)[0] </a:t>
            </a:r>
            <a:endParaRPr lang="en-IN" dirty="0" smtClean="0">
              <a:latin typeface="Century Gothic" panose="020B0502020202020204" pitchFamily="34" charset="0"/>
            </a:endParaRPr>
          </a:p>
          <a:p>
            <a:r>
              <a:rPr lang="en-IN" dirty="0" smtClean="0">
                <a:latin typeface="Century Gothic" panose="020B0502020202020204" pitchFamily="34" charset="0"/>
              </a:rPr>
              <a:t>hitters</a:t>
            </a:r>
            <a:r>
              <a:rPr lang="en-IN" dirty="0">
                <a:latin typeface="Century Gothic" panose="020B0502020202020204" pitchFamily="34" charset="0"/>
              </a:rPr>
              <a:t>['</a:t>
            </a:r>
            <a:r>
              <a:rPr lang="en-IN" dirty="0" err="1">
                <a:latin typeface="Century Gothic" panose="020B0502020202020204" pitchFamily="34" charset="0"/>
              </a:rPr>
              <a:t>NewLeague</a:t>
            </a:r>
            <a:r>
              <a:rPr lang="en-IN" dirty="0">
                <a:latin typeface="Century Gothic" panose="020B0502020202020204" pitchFamily="34" charset="0"/>
              </a:rPr>
              <a:t>'] = </a:t>
            </a:r>
            <a:r>
              <a:rPr lang="en-IN" dirty="0" err="1">
                <a:latin typeface="Century Gothic" panose="020B0502020202020204" pitchFamily="34" charset="0"/>
              </a:rPr>
              <a:t>pd.factorize</a:t>
            </a:r>
            <a:r>
              <a:rPr lang="en-IN" dirty="0">
                <a:latin typeface="Century Gothic" panose="020B0502020202020204" pitchFamily="34" charset="0"/>
              </a:rPr>
              <a:t>(</a:t>
            </a:r>
            <a:r>
              <a:rPr lang="en-IN" dirty="0" err="1">
                <a:latin typeface="Century Gothic" panose="020B0502020202020204" pitchFamily="34" charset="0"/>
              </a:rPr>
              <a:t>hitters.NewLeague</a:t>
            </a:r>
            <a:r>
              <a:rPr lang="en-IN" dirty="0">
                <a:latin typeface="Century Gothic" panose="020B0502020202020204" pitchFamily="34" charset="0"/>
              </a:rPr>
              <a:t>)[0]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define features: exclude career statistics (which start with "C") and the response (Salary) </a:t>
            </a:r>
            <a:endParaRPr lang="en-IN" dirty="0" smtClean="0">
              <a:latin typeface="Century Gothic" panose="020B0502020202020204" pitchFamily="34" charset="0"/>
            </a:endParaRPr>
          </a:p>
          <a:p>
            <a:r>
              <a:rPr lang="en-IN" dirty="0" err="1" smtClean="0">
                <a:latin typeface="Century Gothic" panose="020B0502020202020204" pitchFamily="34" charset="0"/>
              </a:rPr>
              <a:t>feature_cols</a:t>
            </a:r>
            <a:r>
              <a:rPr lang="en-IN" dirty="0" smtClean="0">
                <a:latin typeface="Century Gothic" panose="020B0502020202020204" pitchFamily="34" charset="0"/>
              </a:rPr>
              <a:t> </a:t>
            </a:r>
            <a:r>
              <a:rPr lang="en-IN" dirty="0">
                <a:latin typeface="Century Gothic" panose="020B0502020202020204" pitchFamily="34" charset="0"/>
              </a:rPr>
              <a:t>= [h for h in </a:t>
            </a:r>
            <a:r>
              <a:rPr lang="en-IN" dirty="0" err="1">
                <a:latin typeface="Century Gothic" panose="020B0502020202020204" pitchFamily="34" charset="0"/>
              </a:rPr>
              <a:t>hitters.columns</a:t>
            </a:r>
            <a:r>
              <a:rPr lang="en-IN" dirty="0">
                <a:latin typeface="Century Gothic" panose="020B0502020202020204" pitchFamily="34" charset="0"/>
              </a:rPr>
              <a:t> if h[0] != 'C' and h != </a:t>
            </a:r>
            <a:r>
              <a:rPr lang="en-IN" dirty="0" smtClean="0">
                <a:latin typeface="Century Gothic" panose="020B0502020202020204" pitchFamily="34" charset="0"/>
              </a:rPr>
              <a:t>'Salary‘]</a:t>
            </a:r>
          </a:p>
        </p:txBody>
      </p:sp>
    </p:spTree>
    <p:extLst>
      <p:ext uri="{BB962C8B-B14F-4D97-AF65-F5344CB8AC3E}">
        <p14:creationId xmlns:p14="http://schemas.microsoft.com/office/powerpoint/2010/main" val="2190803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3458"/>
            <a:ext cx="10515600" cy="5793505"/>
          </a:xfrm>
        </p:spPr>
        <p:txBody>
          <a:bodyPr>
            <a:normAutofit fontScale="70000" lnSpcReduction="20000"/>
          </a:bodyPr>
          <a:lstStyle/>
          <a:p>
            <a:r>
              <a:rPr lang="en-IN" dirty="0">
                <a:latin typeface="Century Gothic" panose="020B0502020202020204" pitchFamily="34" charset="0"/>
              </a:rPr>
              <a:t># define X and y </a:t>
            </a:r>
            <a:endParaRPr lang="en-IN" dirty="0" smtClean="0">
              <a:latin typeface="Century Gothic" panose="020B0502020202020204" pitchFamily="34" charset="0"/>
            </a:endParaRPr>
          </a:p>
          <a:p>
            <a:r>
              <a:rPr lang="en-IN" dirty="0" smtClean="0">
                <a:latin typeface="Century Gothic" panose="020B0502020202020204" pitchFamily="34" charset="0"/>
              </a:rPr>
              <a:t>X </a:t>
            </a:r>
            <a:r>
              <a:rPr lang="en-IN" dirty="0">
                <a:latin typeface="Century Gothic" panose="020B0502020202020204" pitchFamily="34" charset="0"/>
              </a:rPr>
              <a:t>= hitters[</a:t>
            </a:r>
            <a:r>
              <a:rPr lang="en-IN" dirty="0" err="1">
                <a:latin typeface="Century Gothic" panose="020B0502020202020204" pitchFamily="34" charset="0"/>
              </a:rPr>
              <a:t>feature_cols</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y </a:t>
            </a:r>
            <a:r>
              <a:rPr lang="en-IN" dirty="0">
                <a:latin typeface="Century Gothic" panose="020B0502020202020204" pitchFamily="34" charset="0"/>
              </a:rPr>
              <a:t>= </a:t>
            </a:r>
            <a:r>
              <a:rPr lang="en-IN" dirty="0" err="1" smtClean="0">
                <a:latin typeface="Century Gothic" panose="020B0502020202020204" pitchFamily="34" charset="0"/>
              </a:rPr>
              <a:t>hitters.Salary</a:t>
            </a:r>
            <a:r>
              <a:rPr lang="en-IN" dirty="0" smtClean="0">
                <a:latin typeface="Century Gothic" panose="020B0502020202020204" pitchFamily="34" charset="0"/>
              </a:rPr>
              <a:t> </a:t>
            </a:r>
          </a:p>
          <a:p>
            <a:r>
              <a:rPr lang="en-IN" dirty="0" smtClean="0">
                <a:latin typeface="Century Gothic" panose="020B0502020202020204" pitchFamily="34" charset="0"/>
              </a:rPr>
              <a:t>Let's </a:t>
            </a:r>
            <a:r>
              <a:rPr lang="en-IN" dirty="0">
                <a:latin typeface="Century Gothic" panose="020B0502020202020204" pitchFamily="34" charset="0"/>
              </a:rPr>
              <a:t>try and predict the salary first using a single decision tree, as illustrated: </a:t>
            </a:r>
            <a:endParaRPr lang="en-IN" dirty="0" smtClean="0">
              <a:latin typeface="Century Gothic" panose="020B0502020202020204" pitchFamily="34" charset="0"/>
            </a:endParaRPr>
          </a:p>
          <a:p>
            <a:r>
              <a:rPr lang="en-IN" dirty="0" smtClean="0">
                <a:latin typeface="Century Gothic" panose="020B0502020202020204" pitchFamily="34" charset="0"/>
              </a:rPr>
              <a:t>from </a:t>
            </a:r>
            <a:r>
              <a:rPr lang="en-IN" dirty="0" err="1">
                <a:latin typeface="Century Gothic" panose="020B0502020202020204" pitchFamily="34" charset="0"/>
              </a:rPr>
              <a:t>sklearn.tree</a:t>
            </a:r>
            <a:r>
              <a:rPr lang="en-IN" dirty="0">
                <a:latin typeface="Century Gothic" panose="020B0502020202020204" pitchFamily="34" charset="0"/>
              </a:rPr>
              <a:t> import </a:t>
            </a:r>
            <a:r>
              <a:rPr lang="en-IN" dirty="0" err="1">
                <a:latin typeface="Century Gothic" panose="020B0502020202020204" pitchFamily="34" charset="0"/>
              </a:rPr>
              <a:t>DecisionTreeRegressor</a:t>
            </a:r>
            <a:r>
              <a:rPr lang="en-IN" dirty="0">
                <a:latin typeface="Century Gothic" panose="020B0502020202020204" pitchFamily="34" charset="0"/>
              </a:rPr>
              <a:t>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list of values to try for </a:t>
            </a:r>
            <a:r>
              <a:rPr lang="en-IN" dirty="0" err="1" smtClean="0">
                <a:latin typeface="Century Gothic" panose="020B0502020202020204" pitchFamily="34" charset="0"/>
              </a:rPr>
              <a:t>max_depth</a:t>
            </a:r>
            <a:endParaRPr lang="en-IN" dirty="0" smtClean="0">
              <a:latin typeface="Century Gothic" panose="020B0502020202020204" pitchFamily="34" charset="0"/>
            </a:endParaRPr>
          </a:p>
          <a:p>
            <a:r>
              <a:rPr lang="en-IN" dirty="0" err="1" smtClean="0">
                <a:latin typeface="Century Gothic" panose="020B0502020202020204" pitchFamily="34" charset="0"/>
              </a:rPr>
              <a:t>max_depth_range</a:t>
            </a:r>
            <a:r>
              <a:rPr lang="en-IN" dirty="0" smtClean="0">
                <a:latin typeface="Century Gothic" panose="020B0502020202020204" pitchFamily="34" charset="0"/>
              </a:rPr>
              <a:t> </a:t>
            </a:r>
            <a:r>
              <a:rPr lang="en-IN" dirty="0">
                <a:latin typeface="Century Gothic" panose="020B0502020202020204" pitchFamily="34" charset="0"/>
              </a:rPr>
              <a:t>= range(1, 21)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list to store the average RMSE for each value of </a:t>
            </a:r>
            <a:r>
              <a:rPr lang="en-IN" dirty="0" err="1" smtClean="0">
                <a:latin typeface="Century Gothic" panose="020B0502020202020204" pitchFamily="34" charset="0"/>
              </a:rPr>
              <a:t>max_depth</a:t>
            </a:r>
            <a:endParaRPr lang="en-IN" dirty="0" smtClean="0">
              <a:latin typeface="Century Gothic" panose="020B0502020202020204" pitchFamily="34" charset="0"/>
            </a:endParaRPr>
          </a:p>
          <a:p>
            <a:r>
              <a:rPr lang="en-IN" dirty="0" err="1" smtClean="0">
                <a:latin typeface="Century Gothic" panose="020B0502020202020204" pitchFamily="34" charset="0"/>
              </a:rPr>
              <a:t>RMSE_scores</a:t>
            </a:r>
            <a:r>
              <a:rPr lang="en-IN" dirty="0" smtClean="0">
                <a:latin typeface="Century Gothic" panose="020B0502020202020204" pitchFamily="34" charset="0"/>
              </a:rPr>
              <a:t> </a:t>
            </a:r>
            <a:r>
              <a:rPr lang="en-IN" dirty="0">
                <a:latin typeface="Century Gothic" panose="020B0502020202020204" pitchFamily="34" charset="0"/>
              </a:rPr>
              <a:t>= []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use 10-fold cross-validation with each value of </a:t>
            </a:r>
            <a:r>
              <a:rPr lang="en-IN" dirty="0" err="1">
                <a:latin typeface="Century Gothic" panose="020B0502020202020204" pitchFamily="34" charset="0"/>
              </a:rPr>
              <a:t>max_depth</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from </a:t>
            </a:r>
            <a:r>
              <a:rPr lang="en-IN" dirty="0" err="1">
                <a:latin typeface="Century Gothic" panose="020B0502020202020204" pitchFamily="34" charset="0"/>
              </a:rPr>
              <a:t>sklearn.cross_validation</a:t>
            </a:r>
            <a:r>
              <a:rPr lang="en-IN" dirty="0">
                <a:latin typeface="Century Gothic" panose="020B0502020202020204" pitchFamily="34" charset="0"/>
              </a:rPr>
              <a:t> import </a:t>
            </a:r>
            <a:r>
              <a:rPr lang="en-IN" dirty="0" err="1">
                <a:latin typeface="Century Gothic" panose="020B0502020202020204" pitchFamily="34" charset="0"/>
              </a:rPr>
              <a:t>cross_val_score</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smtClean="0">
                <a:latin typeface="Century Gothic" panose="020B0502020202020204" pitchFamily="34" charset="0"/>
              </a:rPr>
              <a:t>for </a:t>
            </a:r>
            <a:r>
              <a:rPr lang="en-IN" dirty="0">
                <a:latin typeface="Century Gothic" panose="020B0502020202020204" pitchFamily="34" charset="0"/>
              </a:rPr>
              <a:t>depth in </a:t>
            </a:r>
            <a:r>
              <a:rPr lang="en-IN" dirty="0" err="1">
                <a:latin typeface="Century Gothic" panose="020B0502020202020204" pitchFamily="34" charset="0"/>
              </a:rPr>
              <a:t>max_depth_range</a:t>
            </a:r>
            <a:r>
              <a:rPr lang="en-IN" dirty="0">
                <a:latin typeface="Century Gothic" panose="020B0502020202020204" pitchFamily="34" charset="0"/>
              </a:rPr>
              <a:t>: </a:t>
            </a:r>
            <a:endParaRPr lang="en-IN" dirty="0" smtClean="0">
              <a:latin typeface="Century Gothic" panose="020B0502020202020204" pitchFamily="34" charset="0"/>
            </a:endParaRPr>
          </a:p>
          <a:p>
            <a:pPr lvl="1"/>
            <a:r>
              <a:rPr lang="en-IN" dirty="0" err="1" smtClean="0">
                <a:latin typeface="Century Gothic" panose="020B0502020202020204" pitchFamily="34" charset="0"/>
              </a:rPr>
              <a:t>treereg</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DecisionTreeRegressor</a:t>
            </a:r>
            <a:r>
              <a:rPr lang="en-IN" dirty="0">
                <a:latin typeface="Century Gothic" panose="020B0502020202020204" pitchFamily="34" charset="0"/>
              </a:rPr>
              <a:t>(</a:t>
            </a:r>
            <a:r>
              <a:rPr lang="en-IN" dirty="0" err="1">
                <a:latin typeface="Century Gothic" panose="020B0502020202020204" pitchFamily="34" charset="0"/>
              </a:rPr>
              <a:t>max_depth</a:t>
            </a:r>
            <a:r>
              <a:rPr lang="en-IN" dirty="0">
                <a:latin typeface="Century Gothic" panose="020B0502020202020204" pitchFamily="34" charset="0"/>
              </a:rPr>
              <a:t>=depth, </a:t>
            </a:r>
            <a:r>
              <a:rPr lang="en-IN" dirty="0" err="1">
                <a:latin typeface="Century Gothic" panose="020B0502020202020204" pitchFamily="34" charset="0"/>
              </a:rPr>
              <a:t>random_state</a:t>
            </a:r>
            <a:r>
              <a:rPr lang="en-IN" dirty="0">
                <a:latin typeface="Century Gothic" panose="020B0502020202020204" pitchFamily="34" charset="0"/>
              </a:rPr>
              <a:t>=1) </a:t>
            </a:r>
            <a:endParaRPr lang="en-IN" dirty="0" smtClean="0">
              <a:latin typeface="Century Gothic" panose="020B0502020202020204" pitchFamily="34" charset="0"/>
            </a:endParaRPr>
          </a:p>
          <a:p>
            <a:pPr lvl="1"/>
            <a:r>
              <a:rPr lang="en-IN" dirty="0" err="1" smtClean="0">
                <a:latin typeface="Century Gothic" panose="020B0502020202020204" pitchFamily="34" charset="0"/>
              </a:rPr>
              <a:t>MSE_scores</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cross_val_score</a:t>
            </a:r>
            <a:r>
              <a:rPr lang="en-IN" dirty="0">
                <a:latin typeface="Century Gothic" panose="020B0502020202020204" pitchFamily="34" charset="0"/>
              </a:rPr>
              <a:t>(</a:t>
            </a:r>
            <a:r>
              <a:rPr lang="en-IN" dirty="0" err="1">
                <a:latin typeface="Century Gothic" panose="020B0502020202020204" pitchFamily="34" charset="0"/>
              </a:rPr>
              <a:t>treereg</a:t>
            </a:r>
            <a:r>
              <a:rPr lang="en-IN" dirty="0">
                <a:latin typeface="Century Gothic" panose="020B0502020202020204" pitchFamily="34" charset="0"/>
              </a:rPr>
              <a:t>, X, y, cv=10, scoring='mean_ </a:t>
            </a:r>
            <a:r>
              <a:rPr lang="en-IN" dirty="0" err="1">
                <a:latin typeface="Century Gothic" panose="020B0502020202020204" pitchFamily="34" charset="0"/>
              </a:rPr>
              <a:t>squared_error</a:t>
            </a:r>
            <a:r>
              <a:rPr lang="en-IN" dirty="0">
                <a:latin typeface="Century Gothic" panose="020B0502020202020204" pitchFamily="34" charset="0"/>
              </a:rPr>
              <a:t>') </a:t>
            </a:r>
            <a:r>
              <a:rPr lang="en-IN" dirty="0" err="1">
                <a:latin typeface="Century Gothic" panose="020B0502020202020204" pitchFamily="34" charset="0"/>
              </a:rPr>
              <a:t>RMSE_scores.append</a:t>
            </a:r>
            <a:r>
              <a:rPr lang="en-IN" dirty="0">
                <a:latin typeface="Century Gothic" panose="020B0502020202020204" pitchFamily="34" charset="0"/>
              </a:rPr>
              <a:t>(</a:t>
            </a:r>
            <a:r>
              <a:rPr lang="en-IN" dirty="0" err="1">
                <a:latin typeface="Century Gothic" panose="020B0502020202020204" pitchFamily="34" charset="0"/>
              </a:rPr>
              <a:t>np.mean</a:t>
            </a:r>
            <a:r>
              <a:rPr lang="en-IN" dirty="0">
                <a:latin typeface="Century Gothic" panose="020B0502020202020204" pitchFamily="34" charset="0"/>
              </a:rPr>
              <a:t>(</a:t>
            </a:r>
            <a:r>
              <a:rPr lang="en-IN" dirty="0" err="1">
                <a:latin typeface="Century Gothic" panose="020B0502020202020204" pitchFamily="34" charset="0"/>
              </a:rPr>
              <a:t>np.sqrt</a:t>
            </a:r>
            <a:r>
              <a:rPr lang="en-IN" dirty="0">
                <a:latin typeface="Century Gothic" panose="020B0502020202020204" pitchFamily="34" charset="0"/>
              </a:rPr>
              <a:t>(-</a:t>
            </a:r>
            <a:r>
              <a:rPr lang="en-IN" dirty="0" err="1">
                <a:latin typeface="Century Gothic" panose="020B0502020202020204" pitchFamily="34" charset="0"/>
              </a:rPr>
              <a:t>MSE_scores</a:t>
            </a:r>
            <a:r>
              <a:rPr lang="en-IN" dirty="0" smtClean="0">
                <a:latin typeface="Century Gothic" panose="020B0502020202020204" pitchFamily="34" charset="0"/>
              </a:rPr>
              <a:t>)))</a:t>
            </a:r>
            <a:endParaRPr lang="en-IN" dirty="0">
              <a:latin typeface="Century Gothic" panose="020B0502020202020204" pitchFamily="34" charset="0"/>
            </a:endParaRPr>
          </a:p>
        </p:txBody>
      </p:sp>
    </p:spTree>
    <p:extLst>
      <p:ext uri="{BB962C8B-B14F-4D97-AF65-F5344CB8AC3E}">
        <p14:creationId xmlns:p14="http://schemas.microsoft.com/office/powerpoint/2010/main" val="3000533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1445"/>
            <a:ext cx="10515600" cy="5675518"/>
          </a:xfrm>
        </p:spPr>
        <p:txBody>
          <a:bodyPr/>
          <a:lstStyle/>
          <a:p>
            <a:r>
              <a:rPr lang="en-IN" dirty="0" smtClean="0">
                <a:latin typeface="Century Gothic" panose="020B0502020202020204" pitchFamily="34" charset="0"/>
              </a:rPr>
              <a:t># plot </a:t>
            </a:r>
            <a:r>
              <a:rPr lang="en-IN" dirty="0" err="1" smtClean="0">
                <a:latin typeface="Century Gothic" panose="020B0502020202020204" pitchFamily="34" charset="0"/>
              </a:rPr>
              <a:t>max_depth</a:t>
            </a:r>
            <a:r>
              <a:rPr lang="en-IN" dirty="0" smtClean="0">
                <a:latin typeface="Century Gothic" panose="020B0502020202020204" pitchFamily="34" charset="0"/>
              </a:rPr>
              <a:t> (x-axis) versus RMSE (y-axis) </a:t>
            </a:r>
            <a:r>
              <a:rPr lang="en-IN" dirty="0" err="1" smtClean="0">
                <a:latin typeface="Century Gothic" panose="020B0502020202020204" pitchFamily="34" charset="0"/>
              </a:rPr>
              <a:t>plt.plot</a:t>
            </a:r>
            <a:r>
              <a:rPr lang="en-IN" dirty="0" smtClean="0">
                <a:latin typeface="Century Gothic" panose="020B0502020202020204" pitchFamily="34" charset="0"/>
              </a:rPr>
              <a:t>(</a:t>
            </a:r>
            <a:r>
              <a:rPr lang="en-IN" dirty="0" err="1" smtClean="0">
                <a:latin typeface="Century Gothic" panose="020B0502020202020204" pitchFamily="34" charset="0"/>
              </a:rPr>
              <a:t>max_depth_range</a:t>
            </a:r>
            <a:r>
              <a:rPr lang="en-IN" dirty="0" smtClean="0">
                <a:latin typeface="Century Gothic" panose="020B0502020202020204" pitchFamily="34" charset="0"/>
              </a:rPr>
              <a:t>, </a:t>
            </a:r>
            <a:r>
              <a:rPr lang="en-IN" dirty="0" err="1" smtClean="0">
                <a:latin typeface="Century Gothic" panose="020B0502020202020204" pitchFamily="34" charset="0"/>
              </a:rPr>
              <a:t>RMSE_scores</a:t>
            </a:r>
            <a:r>
              <a:rPr lang="en-IN" dirty="0" smtClean="0">
                <a:latin typeface="Century Gothic" panose="020B0502020202020204" pitchFamily="34" charset="0"/>
              </a:rPr>
              <a:t>) </a:t>
            </a:r>
          </a:p>
          <a:p>
            <a:r>
              <a:rPr lang="en-IN" dirty="0" err="1" smtClean="0">
                <a:latin typeface="Century Gothic" panose="020B0502020202020204" pitchFamily="34" charset="0"/>
              </a:rPr>
              <a:t>plt.xlabel</a:t>
            </a:r>
            <a:r>
              <a:rPr lang="en-IN" dirty="0" smtClean="0">
                <a:latin typeface="Century Gothic" panose="020B0502020202020204" pitchFamily="34" charset="0"/>
              </a:rPr>
              <a:t>('</a:t>
            </a:r>
            <a:r>
              <a:rPr lang="en-IN" dirty="0" err="1" smtClean="0">
                <a:latin typeface="Century Gothic" panose="020B0502020202020204" pitchFamily="34" charset="0"/>
              </a:rPr>
              <a:t>max_depth</a:t>
            </a:r>
            <a:r>
              <a:rPr lang="en-IN" dirty="0" smtClean="0">
                <a:latin typeface="Century Gothic" panose="020B0502020202020204" pitchFamily="34" charset="0"/>
              </a:rPr>
              <a:t>') </a:t>
            </a:r>
          </a:p>
          <a:p>
            <a:r>
              <a:rPr lang="en-IN" dirty="0" err="1" smtClean="0">
                <a:latin typeface="Century Gothic" panose="020B0502020202020204" pitchFamily="34" charset="0"/>
              </a:rPr>
              <a:t>plt.ylabel</a:t>
            </a:r>
            <a:r>
              <a:rPr lang="en-IN" dirty="0" smtClean="0">
                <a:latin typeface="Century Gothic" panose="020B0502020202020204" pitchFamily="34" charset="0"/>
              </a:rPr>
              <a:t>('RMSE (lower is better)')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629" y="2402142"/>
            <a:ext cx="5974248" cy="40750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71736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2452"/>
            <a:ext cx="10515600" cy="5734511"/>
          </a:xfrm>
        </p:spPr>
        <p:txBody>
          <a:bodyPr>
            <a:normAutofit fontScale="85000" lnSpcReduction="20000"/>
          </a:bodyPr>
          <a:lstStyle/>
          <a:p>
            <a:r>
              <a:rPr lang="en-IN" dirty="0">
                <a:latin typeface="Century Gothic" panose="020B0502020202020204" pitchFamily="34" charset="0"/>
              </a:rPr>
              <a:t>Let's do the same thing, but this time with a Random forest: </a:t>
            </a:r>
            <a:endParaRPr lang="en-IN" dirty="0" smtClean="0">
              <a:latin typeface="Century Gothic" panose="020B0502020202020204" pitchFamily="34" charset="0"/>
            </a:endParaRPr>
          </a:p>
          <a:p>
            <a:r>
              <a:rPr lang="en-IN" dirty="0" smtClean="0">
                <a:latin typeface="Century Gothic" panose="020B0502020202020204" pitchFamily="34" charset="0"/>
              </a:rPr>
              <a:t>from </a:t>
            </a:r>
            <a:r>
              <a:rPr lang="en-IN" dirty="0" err="1">
                <a:latin typeface="Century Gothic" panose="020B0502020202020204" pitchFamily="34" charset="0"/>
              </a:rPr>
              <a:t>sklearn.ensemble</a:t>
            </a:r>
            <a:r>
              <a:rPr lang="en-IN" dirty="0">
                <a:latin typeface="Century Gothic" panose="020B0502020202020204" pitchFamily="34" charset="0"/>
              </a:rPr>
              <a:t> import </a:t>
            </a:r>
            <a:r>
              <a:rPr lang="en-IN" dirty="0" err="1">
                <a:latin typeface="Century Gothic" panose="020B0502020202020204" pitchFamily="34" charset="0"/>
              </a:rPr>
              <a:t>RandomForestRegressor</a:t>
            </a:r>
            <a:r>
              <a:rPr lang="en-IN" dirty="0">
                <a:latin typeface="Century Gothic" panose="020B0502020202020204" pitchFamily="34" charset="0"/>
              </a:rPr>
              <a:t>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list of values to try for </a:t>
            </a:r>
            <a:r>
              <a:rPr lang="en-IN" dirty="0" err="1">
                <a:latin typeface="Century Gothic" panose="020B0502020202020204" pitchFamily="34" charset="0"/>
              </a:rPr>
              <a:t>n_estimators</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err="1" smtClean="0">
                <a:latin typeface="Century Gothic" panose="020B0502020202020204" pitchFamily="34" charset="0"/>
              </a:rPr>
              <a:t>estimator_range</a:t>
            </a:r>
            <a:r>
              <a:rPr lang="en-IN" dirty="0" smtClean="0">
                <a:latin typeface="Century Gothic" panose="020B0502020202020204" pitchFamily="34" charset="0"/>
              </a:rPr>
              <a:t> </a:t>
            </a:r>
            <a:r>
              <a:rPr lang="en-IN" dirty="0">
                <a:latin typeface="Century Gothic" panose="020B0502020202020204" pitchFamily="34" charset="0"/>
              </a:rPr>
              <a:t>= range(10, 310, 10)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list to store the average RMSE for each value of </a:t>
            </a:r>
            <a:r>
              <a:rPr lang="en-IN" dirty="0" err="1">
                <a:latin typeface="Century Gothic" panose="020B0502020202020204" pitchFamily="34" charset="0"/>
              </a:rPr>
              <a:t>n_estimators</a:t>
            </a:r>
            <a:r>
              <a:rPr lang="en-IN" dirty="0">
                <a:latin typeface="Century Gothic" panose="020B0502020202020204" pitchFamily="34" charset="0"/>
              </a:rPr>
              <a:t> </a:t>
            </a:r>
            <a:endParaRPr lang="en-IN" dirty="0" smtClean="0">
              <a:latin typeface="Century Gothic" panose="020B0502020202020204" pitchFamily="34" charset="0"/>
            </a:endParaRPr>
          </a:p>
          <a:p>
            <a:r>
              <a:rPr lang="en-IN" dirty="0" err="1" smtClean="0">
                <a:latin typeface="Century Gothic" panose="020B0502020202020204" pitchFamily="34" charset="0"/>
              </a:rPr>
              <a:t>RMSE_scores</a:t>
            </a:r>
            <a:r>
              <a:rPr lang="en-IN" dirty="0" smtClean="0">
                <a:latin typeface="Century Gothic" panose="020B0502020202020204" pitchFamily="34" charset="0"/>
              </a:rPr>
              <a:t> </a:t>
            </a:r>
            <a:r>
              <a:rPr lang="en-IN" dirty="0">
                <a:latin typeface="Century Gothic" panose="020B0502020202020204" pitchFamily="34" charset="0"/>
              </a:rPr>
              <a:t>= [] </a:t>
            </a:r>
            <a:endParaRPr lang="en-IN" dirty="0" smtClean="0">
              <a:latin typeface="Century Gothic" panose="020B0502020202020204" pitchFamily="34" charset="0"/>
            </a:endParaRPr>
          </a:p>
          <a:p>
            <a:endParaRPr lang="en-IN" dirty="0">
              <a:latin typeface="Century Gothic" panose="020B0502020202020204" pitchFamily="34" charset="0"/>
            </a:endParaRPr>
          </a:p>
          <a:p>
            <a:r>
              <a:rPr lang="en-IN" dirty="0" smtClean="0">
                <a:latin typeface="Century Gothic" panose="020B0502020202020204" pitchFamily="34" charset="0"/>
              </a:rPr>
              <a:t># </a:t>
            </a:r>
            <a:r>
              <a:rPr lang="en-IN" dirty="0">
                <a:latin typeface="Century Gothic" panose="020B0502020202020204" pitchFamily="34" charset="0"/>
              </a:rPr>
              <a:t>use 5-fold cross-validation with each value of </a:t>
            </a:r>
            <a:r>
              <a:rPr lang="en-IN" dirty="0" err="1">
                <a:latin typeface="Century Gothic" panose="020B0502020202020204" pitchFamily="34" charset="0"/>
              </a:rPr>
              <a:t>n_estimators</a:t>
            </a:r>
            <a:r>
              <a:rPr lang="en-IN" dirty="0">
                <a:latin typeface="Century Gothic" panose="020B0502020202020204" pitchFamily="34" charset="0"/>
              </a:rPr>
              <a:t> (WARNING: SLOW!) </a:t>
            </a:r>
            <a:endParaRPr lang="en-IN" dirty="0" smtClean="0">
              <a:latin typeface="Century Gothic" panose="020B0502020202020204" pitchFamily="34" charset="0"/>
            </a:endParaRPr>
          </a:p>
          <a:p>
            <a:r>
              <a:rPr lang="en-IN" dirty="0" smtClean="0">
                <a:latin typeface="Century Gothic" panose="020B0502020202020204" pitchFamily="34" charset="0"/>
              </a:rPr>
              <a:t>for </a:t>
            </a:r>
            <a:r>
              <a:rPr lang="en-IN" dirty="0">
                <a:latin typeface="Century Gothic" panose="020B0502020202020204" pitchFamily="34" charset="0"/>
              </a:rPr>
              <a:t>estimator in </a:t>
            </a:r>
            <a:r>
              <a:rPr lang="en-IN" dirty="0" err="1">
                <a:latin typeface="Century Gothic" panose="020B0502020202020204" pitchFamily="34" charset="0"/>
              </a:rPr>
              <a:t>estimator_range</a:t>
            </a:r>
            <a:r>
              <a:rPr lang="en-IN" dirty="0">
                <a:latin typeface="Century Gothic" panose="020B0502020202020204" pitchFamily="34" charset="0"/>
              </a:rPr>
              <a:t>: </a:t>
            </a:r>
            <a:endParaRPr lang="en-IN" dirty="0" smtClean="0">
              <a:latin typeface="Century Gothic" panose="020B0502020202020204" pitchFamily="34" charset="0"/>
            </a:endParaRPr>
          </a:p>
          <a:p>
            <a:pPr lvl="1"/>
            <a:r>
              <a:rPr lang="en-IN" dirty="0" err="1" smtClean="0">
                <a:latin typeface="Century Gothic" panose="020B0502020202020204" pitchFamily="34" charset="0"/>
              </a:rPr>
              <a:t>rfreg</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RandomForestRegressor</a:t>
            </a:r>
            <a:r>
              <a:rPr lang="en-IN" dirty="0">
                <a:latin typeface="Century Gothic" panose="020B0502020202020204" pitchFamily="34" charset="0"/>
              </a:rPr>
              <a:t>(</a:t>
            </a:r>
            <a:r>
              <a:rPr lang="en-IN" dirty="0" err="1">
                <a:latin typeface="Century Gothic" panose="020B0502020202020204" pitchFamily="34" charset="0"/>
              </a:rPr>
              <a:t>n_estimators</a:t>
            </a:r>
            <a:r>
              <a:rPr lang="en-IN" dirty="0">
                <a:latin typeface="Century Gothic" panose="020B0502020202020204" pitchFamily="34" charset="0"/>
              </a:rPr>
              <a:t>=estimator, random_ state=1) </a:t>
            </a:r>
            <a:endParaRPr lang="en-IN" dirty="0" smtClean="0">
              <a:latin typeface="Century Gothic" panose="020B0502020202020204" pitchFamily="34" charset="0"/>
            </a:endParaRPr>
          </a:p>
          <a:p>
            <a:pPr lvl="1"/>
            <a:r>
              <a:rPr lang="en-IN" dirty="0" err="1" smtClean="0">
                <a:latin typeface="Century Gothic" panose="020B0502020202020204" pitchFamily="34" charset="0"/>
              </a:rPr>
              <a:t>MSE_scores</a:t>
            </a:r>
            <a:r>
              <a:rPr lang="en-IN" dirty="0" smtClean="0">
                <a:latin typeface="Century Gothic" panose="020B0502020202020204" pitchFamily="34" charset="0"/>
              </a:rPr>
              <a:t> </a:t>
            </a:r>
            <a:r>
              <a:rPr lang="en-IN" dirty="0">
                <a:latin typeface="Century Gothic" panose="020B0502020202020204" pitchFamily="34" charset="0"/>
              </a:rPr>
              <a:t>= </a:t>
            </a:r>
            <a:r>
              <a:rPr lang="en-IN" dirty="0" err="1">
                <a:latin typeface="Century Gothic" panose="020B0502020202020204" pitchFamily="34" charset="0"/>
              </a:rPr>
              <a:t>cross_val_score</a:t>
            </a:r>
            <a:r>
              <a:rPr lang="en-IN" dirty="0">
                <a:latin typeface="Century Gothic" panose="020B0502020202020204" pitchFamily="34" charset="0"/>
              </a:rPr>
              <a:t>(</a:t>
            </a:r>
            <a:r>
              <a:rPr lang="en-IN" dirty="0" err="1">
                <a:latin typeface="Century Gothic" panose="020B0502020202020204" pitchFamily="34" charset="0"/>
              </a:rPr>
              <a:t>rfreg</a:t>
            </a:r>
            <a:r>
              <a:rPr lang="en-IN" dirty="0">
                <a:latin typeface="Century Gothic" panose="020B0502020202020204" pitchFamily="34" charset="0"/>
              </a:rPr>
              <a:t>, X, y, cv=5, scoring='mean_ </a:t>
            </a:r>
            <a:r>
              <a:rPr lang="en-IN" dirty="0" err="1">
                <a:latin typeface="Century Gothic" panose="020B0502020202020204" pitchFamily="34" charset="0"/>
              </a:rPr>
              <a:t>squared_error</a:t>
            </a:r>
            <a:r>
              <a:rPr lang="en-IN" dirty="0" smtClean="0">
                <a:latin typeface="Century Gothic" panose="020B0502020202020204" pitchFamily="34" charset="0"/>
              </a:rPr>
              <a:t>')</a:t>
            </a:r>
          </a:p>
          <a:p>
            <a:pPr lvl="1"/>
            <a:r>
              <a:rPr lang="en-IN" dirty="0" err="1">
                <a:latin typeface="Century Gothic" panose="020B0502020202020204" pitchFamily="34" charset="0"/>
              </a:rPr>
              <a:t>RMSE_scores.append</a:t>
            </a:r>
            <a:r>
              <a:rPr lang="en-IN" dirty="0">
                <a:latin typeface="Century Gothic" panose="020B0502020202020204" pitchFamily="34" charset="0"/>
              </a:rPr>
              <a:t>(</a:t>
            </a:r>
            <a:r>
              <a:rPr lang="en-IN" dirty="0" err="1">
                <a:latin typeface="Century Gothic" panose="020B0502020202020204" pitchFamily="34" charset="0"/>
              </a:rPr>
              <a:t>np.mean</a:t>
            </a:r>
            <a:r>
              <a:rPr lang="en-IN" dirty="0">
                <a:latin typeface="Century Gothic" panose="020B0502020202020204" pitchFamily="34" charset="0"/>
              </a:rPr>
              <a:t>(</a:t>
            </a:r>
            <a:r>
              <a:rPr lang="en-IN" dirty="0" err="1">
                <a:latin typeface="Century Gothic" panose="020B0502020202020204" pitchFamily="34" charset="0"/>
              </a:rPr>
              <a:t>np.sqrt</a:t>
            </a:r>
            <a:r>
              <a:rPr lang="en-IN" dirty="0">
                <a:latin typeface="Century Gothic" panose="020B0502020202020204" pitchFamily="34" charset="0"/>
              </a:rPr>
              <a:t>(-</a:t>
            </a:r>
            <a:r>
              <a:rPr lang="en-IN" dirty="0" err="1">
                <a:latin typeface="Century Gothic" panose="020B0502020202020204" pitchFamily="34" charset="0"/>
              </a:rPr>
              <a:t>MSE_scores</a:t>
            </a:r>
            <a:r>
              <a:rPr lang="en-IN" dirty="0">
                <a:latin typeface="Century Gothic" panose="020B0502020202020204" pitchFamily="34" charset="0"/>
              </a:rPr>
              <a:t>)))</a:t>
            </a:r>
          </a:p>
        </p:txBody>
      </p:sp>
    </p:spTree>
    <p:extLst>
      <p:ext uri="{BB962C8B-B14F-4D97-AF65-F5344CB8AC3E}">
        <p14:creationId xmlns:p14="http://schemas.microsoft.com/office/powerpoint/2010/main" val="24907593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3960"/>
            <a:ext cx="10515600" cy="5958349"/>
          </a:xfrm>
        </p:spPr>
        <p:txBody>
          <a:bodyPr/>
          <a:lstStyle/>
          <a:p>
            <a:r>
              <a:rPr lang="en-IN" dirty="0" smtClean="0"/>
              <a:t># </a:t>
            </a:r>
            <a:r>
              <a:rPr lang="en-IN" dirty="0"/>
              <a:t>plot </a:t>
            </a:r>
            <a:r>
              <a:rPr lang="en-IN" dirty="0" err="1"/>
              <a:t>n_estimators</a:t>
            </a:r>
            <a:r>
              <a:rPr lang="en-IN" dirty="0"/>
              <a:t> (x-axis) versus RMSE (y-axis) </a:t>
            </a:r>
            <a:endParaRPr lang="en-IN" dirty="0" smtClean="0"/>
          </a:p>
          <a:p>
            <a:r>
              <a:rPr lang="en-IN" dirty="0" err="1" smtClean="0"/>
              <a:t>plt.plot</a:t>
            </a:r>
            <a:r>
              <a:rPr lang="en-IN" dirty="0" smtClean="0"/>
              <a:t>(</a:t>
            </a:r>
            <a:r>
              <a:rPr lang="en-IN" dirty="0" err="1" smtClean="0"/>
              <a:t>estimator_range</a:t>
            </a:r>
            <a:r>
              <a:rPr lang="en-IN" dirty="0"/>
              <a:t>, </a:t>
            </a:r>
            <a:r>
              <a:rPr lang="en-IN" dirty="0" err="1"/>
              <a:t>RMSE_scores</a:t>
            </a:r>
            <a:r>
              <a:rPr lang="en-IN" dirty="0"/>
              <a:t>) </a:t>
            </a:r>
            <a:endParaRPr lang="en-IN" dirty="0" smtClean="0"/>
          </a:p>
          <a:p>
            <a:r>
              <a:rPr lang="en-IN" dirty="0" err="1" smtClean="0"/>
              <a:t>plt.xlabel</a:t>
            </a:r>
            <a:r>
              <a:rPr lang="en-IN" dirty="0"/>
              <a:t>('</a:t>
            </a:r>
            <a:r>
              <a:rPr lang="en-IN" dirty="0" err="1"/>
              <a:t>n_estimators</a:t>
            </a:r>
            <a:r>
              <a:rPr lang="en-IN" dirty="0"/>
              <a:t>') </a:t>
            </a:r>
            <a:endParaRPr lang="en-IN" dirty="0" smtClean="0"/>
          </a:p>
          <a:p>
            <a:r>
              <a:rPr lang="en-IN" dirty="0" err="1" smtClean="0"/>
              <a:t>plt.ylabel</a:t>
            </a:r>
            <a:r>
              <a:rPr lang="en-IN" dirty="0"/>
              <a:t>('RMSE (lower is better)')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234" y="2443009"/>
            <a:ext cx="6046224" cy="4098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97876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7923"/>
            <a:ext cx="10515600" cy="5469040"/>
          </a:xfrm>
        </p:spPr>
        <p:txBody>
          <a:bodyPr>
            <a:normAutofit lnSpcReduction="10000"/>
          </a:bodyPr>
          <a:lstStyle/>
          <a:p>
            <a:r>
              <a:rPr lang="en-US" dirty="0">
                <a:latin typeface="Times New Roman" panose="02020603050405020304" pitchFamily="18" charset="0"/>
                <a:cs typeface="Times New Roman" panose="02020603050405020304" pitchFamily="18" charset="0"/>
              </a:rPr>
              <a:t>Note already the y axis, our RMSE is much lower on an average! See how we can obtain a major increase in predictive power using Random forests.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Random forests, we still have the concept of important features like we had in decision trees: </a:t>
            </a:r>
            <a:endParaRPr lang="en-US" dirty="0" smtClean="0">
              <a:latin typeface="Times New Roman" panose="02020603050405020304" pitchFamily="18" charset="0"/>
              <a:cs typeface="Times New Roman" panose="02020603050405020304" pitchFamily="18" charset="0"/>
            </a:endParaRPr>
          </a:p>
          <a:p>
            <a:r>
              <a:rPr lang="en-US" dirty="0" smtClean="0">
                <a:latin typeface="Century Gothic" panose="020B0502020202020204" pitchFamily="34" charset="0"/>
              </a:rPr>
              <a:t># </a:t>
            </a:r>
            <a:r>
              <a:rPr lang="en-US" dirty="0" err="1">
                <a:latin typeface="Century Gothic" panose="020B0502020202020204" pitchFamily="34" charset="0"/>
              </a:rPr>
              <a:t>n_estimators</a:t>
            </a:r>
            <a:r>
              <a:rPr lang="en-US" dirty="0">
                <a:latin typeface="Century Gothic" panose="020B0502020202020204" pitchFamily="34" charset="0"/>
              </a:rPr>
              <a:t>=150 is sufficiently good </a:t>
            </a:r>
            <a:endParaRPr lang="en-US" dirty="0" smtClean="0">
              <a:latin typeface="Century Gothic" panose="020B0502020202020204" pitchFamily="34" charset="0"/>
            </a:endParaRPr>
          </a:p>
          <a:p>
            <a:r>
              <a:rPr lang="en-US" dirty="0" err="1" smtClean="0">
                <a:latin typeface="Century Gothic" panose="020B0502020202020204" pitchFamily="34" charset="0"/>
              </a:rPr>
              <a:t>rfreg</a:t>
            </a:r>
            <a:r>
              <a:rPr lang="en-US" dirty="0" smtClean="0">
                <a:latin typeface="Century Gothic" panose="020B0502020202020204" pitchFamily="34" charset="0"/>
              </a:rPr>
              <a:t> </a:t>
            </a:r>
            <a:r>
              <a:rPr lang="en-US" dirty="0">
                <a:latin typeface="Century Gothic" panose="020B0502020202020204" pitchFamily="34" charset="0"/>
              </a:rPr>
              <a:t>= </a:t>
            </a:r>
            <a:r>
              <a:rPr lang="en-US" dirty="0" err="1">
                <a:latin typeface="Century Gothic" panose="020B0502020202020204" pitchFamily="34" charset="0"/>
              </a:rPr>
              <a:t>RandomForestRegressor</a:t>
            </a:r>
            <a:r>
              <a:rPr lang="en-US" dirty="0">
                <a:latin typeface="Century Gothic" panose="020B0502020202020204" pitchFamily="34" charset="0"/>
              </a:rPr>
              <a:t>(</a:t>
            </a:r>
            <a:r>
              <a:rPr lang="en-US" dirty="0" err="1">
                <a:latin typeface="Century Gothic" panose="020B0502020202020204" pitchFamily="34" charset="0"/>
              </a:rPr>
              <a:t>n_estimators</a:t>
            </a:r>
            <a:r>
              <a:rPr lang="en-US" dirty="0">
                <a:latin typeface="Century Gothic" panose="020B0502020202020204" pitchFamily="34" charset="0"/>
              </a:rPr>
              <a:t>=150, </a:t>
            </a:r>
            <a:r>
              <a:rPr lang="en-US" dirty="0" err="1">
                <a:latin typeface="Century Gothic" panose="020B0502020202020204" pitchFamily="34" charset="0"/>
              </a:rPr>
              <a:t>random_state</a:t>
            </a:r>
            <a:r>
              <a:rPr lang="en-US" dirty="0">
                <a:latin typeface="Century Gothic" panose="020B0502020202020204" pitchFamily="34" charset="0"/>
              </a:rPr>
              <a:t>=1) </a:t>
            </a:r>
            <a:r>
              <a:rPr lang="en-US" dirty="0" err="1">
                <a:latin typeface="Century Gothic" panose="020B0502020202020204" pitchFamily="34" charset="0"/>
              </a:rPr>
              <a:t>rfreg.fit</a:t>
            </a:r>
            <a:r>
              <a:rPr lang="en-US" dirty="0">
                <a:latin typeface="Century Gothic" panose="020B0502020202020204" pitchFamily="34" charset="0"/>
              </a:rPr>
              <a:t>(X, y) </a:t>
            </a:r>
            <a:endParaRPr lang="en-US" dirty="0" smtClean="0">
              <a:latin typeface="Century Gothic" panose="020B0502020202020204" pitchFamily="34" charset="0"/>
            </a:endParaRPr>
          </a:p>
          <a:p>
            <a:endParaRPr lang="en-US" dirty="0">
              <a:latin typeface="Century Gothic" panose="020B0502020202020204" pitchFamily="34" charset="0"/>
            </a:endParaRPr>
          </a:p>
          <a:p>
            <a:r>
              <a:rPr lang="en-US" dirty="0" smtClean="0">
                <a:latin typeface="Century Gothic" panose="020B0502020202020204" pitchFamily="34" charset="0"/>
              </a:rPr>
              <a:t># </a:t>
            </a:r>
            <a:r>
              <a:rPr lang="en-US" dirty="0">
                <a:latin typeface="Century Gothic" panose="020B0502020202020204" pitchFamily="34" charset="0"/>
              </a:rPr>
              <a:t>compute feature </a:t>
            </a:r>
            <a:r>
              <a:rPr lang="en-US" dirty="0" err="1">
                <a:latin typeface="Century Gothic" panose="020B0502020202020204" pitchFamily="34" charset="0"/>
              </a:rPr>
              <a:t>importances</a:t>
            </a:r>
            <a:r>
              <a:rPr lang="en-US" dirty="0">
                <a:latin typeface="Century Gothic" panose="020B0502020202020204" pitchFamily="34" charset="0"/>
              </a:rPr>
              <a:t> </a:t>
            </a:r>
            <a:endParaRPr lang="en-US" dirty="0" smtClean="0">
              <a:latin typeface="Century Gothic" panose="020B0502020202020204" pitchFamily="34" charset="0"/>
            </a:endParaRPr>
          </a:p>
          <a:p>
            <a:r>
              <a:rPr lang="en-US" dirty="0" err="1" smtClean="0">
                <a:latin typeface="Century Gothic" panose="020B0502020202020204" pitchFamily="34" charset="0"/>
              </a:rPr>
              <a:t>pd.DataFrame</a:t>
            </a:r>
            <a:r>
              <a:rPr lang="en-US" dirty="0">
                <a:latin typeface="Century Gothic" panose="020B0502020202020204" pitchFamily="34" charset="0"/>
              </a:rPr>
              <a:t>({'feature':</a:t>
            </a:r>
            <a:r>
              <a:rPr lang="en-US" dirty="0" err="1">
                <a:latin typeface="Century Gothic" panose="020B0502020202020204" pitchFamily="34" charset="0"/>
              </a:rPr>
              <a:t>feature_cols</a:t>
            </a:r>
            <a:r>
              <a:rPr lang="en-US" dirty="0">
                <a:latin typeface="Century Gothic" panose="020B0502020202020204" pitchFamily="34" charset="0"/>
              </a:rPr>
              <a:t>, 'importance':</a:t>
            </a:r>
            <a:r>
              <a:rPr lang="en-US" dirty="0" err="1">
                <a:latin typeface="Century Gothic" panose="020B0502020202020204" pitchFamily="34" charset="0"/>
              </a:rPr>
              <a:t>rfreg.feature</a:t>
            </a:r>
            <a:r>
              <a:rPr lang="en-US" dirty="0">
                <a:latin typeface="Century Gothic" panose="020B0502020202020204" pitchFamily="34" charset="0"/>
              </a:rPr>
              <a:t>_ </a:t>
            </a:r>
            <a:r>
              <a:rPr lang="en-US" dirty="0" err="1">
                <a:latin typeface="Century Gothic" panose="020B0502020202020204" pitchFamily="34" charset="0"/>
              </a:rPr>
              <a:t>importances</a:t>
            </a:r>
            <a:r>
              <a:rPr lang="en-US" dirty="0">
                <a:latin typeface="Century Gothic" panose="020B0502020202020204" pitchFamily="34" charset="0"/>
              </a:rPr>
              <a:t>_}).sort('importance', ascending = False)</a:t>
            </a:r>
            <a:endParaRPr lang="en-IN" dirty="0">
              <a:latin typeface="Century Gothic" panose="020B0502020202020204" pitchFamily="34" charset="0"/>
            </a:endParaRPr>
          </a:p>
        </p:txBody>
      </p:sp>
    </p:spTree>
    <p:extLst>
      <p:ext uri="{BB962C8B-B14F-4D97-AF65-F5344CB8AC3E}">
        <p14:creationId xmlns:p14="http://schemas.microsoft.com/office/powerpoint/2010/main" val="40146339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7703"/>
            <a:ext cx="10515600" cy="5749260"/>
          </a:xfrm>
        </p:spPr>
        <p:txBody>
          <a:bodyPr/>
          <a:lstStyle/>
          <a:p>
            <a:r>
              <a:rPr lang="en-US" dirty="0">
                <a:latin typeface="Times New Roman" panose="02020603050405020304" pitchFamily="18" charset="0"/>
                <a:cs typeface="Times New Roman" panose="02020603050405020304" pitchFamily="18" charset="0"/>
              </a:rPr>
              <a:t>So, it looks like the number of years the player has been in the league is still the most important feature when deciding that player's salary</a:t>
            </a: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611" y="1508330"/>
            <a:ext cx="2884692" cy="5147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59838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Comparing Random forests with decision trees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It is important to realize that just using random forests is not the solution to your data science problems.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While </a:t>
            </a:r>
            <a:r>
              <a:rPr lang="en-US" dirty="0">
                <a:latin typeface="Times New Roman" panose="02020603050405020304" pitchFamily="18" charset="0"/>
                <a:cs typeface="Times New Roman" panose="02020603050405020304" pitchFamily="18" charset="0"/>
              </a:rPr>
              <a:t>random forests provides many advantages, many disadvantages also come with them, as listed.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u="sng"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of Random forests are as follows: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Its performance is competitive with the best supervised learning methods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provides a more reliable estimate of feature importance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allows you to estimate out-of-sample errors without using train/test splits or cross-validation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u="sng" dirty="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 of Random forests are as follows: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less interpretable (cannot visualize an entire forest of decision trees)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slower to train and predict (not great for production or real-time purposes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9279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6352</Words>
  <Application>Microsoft Office PowerPoint</Application>
  <PresentationFormat>Custom</PresentationFormat>
  <Paragraphs>509</Paragraphs>
  <Slides>62</Slides>
  <Notes>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Unit 5</vt:lpstr>
      <vt:lpstr>Topics</vt:lpstr>
      <vt:lpstr>The Bias Variance Tradeoff Error due to bias</vt:lpstr>
      <vt:lpstr>Error due to variance</vt:lpstr>
      <vt:lpstr>Example – comparing body and brain weight of mammals</vt:lpstr>
      <vt:lpstr>PowerPoint Presentation</vt:lpstr>
      <vt:lpstr>          There appears to be a relationship between brain and body weight for mammals. So far, we might assume that it is a positive correlation.  Now, let's throw in a linear regression into the mix.  Let's use seaborn to make and plot a first degree polynomial (linear) regression. sns.lmplot(x='body', y='brain', data=df, ci=None)  sns.plt.xlim(-10, 200)  sns.plt.ylim(-10, 250)</vt:lpstr>
      <vt:lpstr>PowerPoint Presentation</vt:lpstr>
      <vt:lpstr>PowerPoint Presentation</vt:lpstr>
      <vt:lpstr>PowerPoint Presentation</vt:lpstr>
      <vt:lpstr>We can now tell seaborn to create two plots, in which the left plot only uses the data from sample 1 and the right plot only uses the data from sample 2:   # col='sample' subsets the data by sample and creates two  # separate plots  sns.lmplot(x='body', y='brain', data=df, ci=None, col='sample')  sns.plt.xlim(-10, 200)  sns.plt.ylim(-10, 250)</vt:lpstr>
      <vt:lpstr>PowerPoint Presentation</vt:lpstr>
      <vt:lpstr>PowerPoint Presentation</vt:lpstr>
      <vt:lpstr>PowerPoint Presentation</vt:lpstr>
      <vt:lpstr>PowerPoint Presentation</vt:lpstr>
      <vt:lpstr>PowerPoint Presentation</vt:lpstr>
      <vt:lpstr>Two extreme cases of Bias/Variance Tradeoff</vt:lpstr>
      <vt:lpstr>PowerPoint Presentation</vt:lpstr>
      <vt:lpstr>How Bias/Variance play into error functions</vt:lpstr>
      <vt:lpstr>PowerPoint Presentation</vt:lpstr>
      <vt:lpstr>PowerPoint Presentation</vt:lpstr>
      <vt:lpstr>PowerPoint Presentation</vt:lpstr>
      <vt:lpstr>K folds cross-validation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Compare this graph to the previous graph of model complexity and bias/variance. Toward the left, our graph has a higher bias and is underfitting.  As we increased our model's complexity, the error term began to go down, but after a while, our model became overly complex, and the high variance kicked in, making our error term go back up.  It seems that the optimal value of K is between 6 and 10.</vt:lpstr>
      <vt:lpstr>Grid searching</vt:lpstr>
      <vt:lpstr>PowerPoint Presentation</vt:lpstr>
      <vt:lpstr>plt.plot(grid.best_params_['n_neighbors'], grid.best_score_, 'ro', markersize=12, markeredgewidth=1.5,  markerfacecolor='None', markeredgecolor='r')</vt:lpstr>
      <vt:lpstr>PowerPoint Presentation</vt:lpstr>
      <vt:lpstr>PowerPoint Presentation</vt:lpstr>
      <vt:lpstr>PowerPoint Presentation</vt:lpstr>
      <vt:lpstr>PowerPoint Presentation</vt:lpstr>
      <vt:lpstr>Visualizing training error versus cross-validation error</vt:lpstr>
      <vt:lpstr>PowerPoint Presentation</vt:lpstr>
      <vt:lpstr>So, we see that as we increase our degree of fit, our training error goes down without a hitch, but we are now smart enough to know that as we increase the model complexity, our model is overfitting to our data and is merely regurgitating our data back to us, whereas our cross validation error line is much more honest and begins to perform poorly after about degree 2 or 3.</vt:lpstr>
      <vt:lpstr>PowerPoint Presentation</vt:lpstr>
      <vt:lpstr>PowerPoint Presentation</vt:lpstr>
      <vt:lpstr>Ensembling Techniques</vt:lpstr>
      <vt:lpstr>PowerPoint Presentation</vt:lpstr>
      <vt:lpstr>PowerPoint Presentation</vt:lpstr>
      <vt:lpstr>PowerPoint Presentation</vt:lpstr>
      <vt:lpstr>PowerPoint Presentation</vt:lpstr>
      <vt:lpstr>Random forests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Comparing Random forests with decision trees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admin</dc:creator>
  <cp:lastModifiedBy>Master</cp:lastModifiedBy>
  <cp:revision>15</cp:revision>
  <dcterms:created xsi:type="dcterms:W3CDTF">2024-11-09T09:32:28Z</dcterms:created>
  <dcterms:modified xsi:type="dcterms:W3CDTF">2024-11-10T17:48:25Z</dcterms:modified>
</cp:coreProperties>
</file>