
<file path=[Content_Types].xml><?xml version="1.0" encoding="utf-8"?>
<Types xmlns="http://schemas.openxmlformats.org/package/2006/content-types">
  <Default ContentType="image/x-wmf" Extension="wmf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Default ContentType="image/x-emf" Extension="emf"/>
  <Override ContentType="application/vnd.openxmlformats-officedocument.drawingml.diagramData+xml" PartName="/ppt/diagrams/data2.xml"/>
  <Override ContentType="application/vnd.openxmlformats-officedocument.drawingml.diagramData+xml" PartName="/ppt/diagrams/data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08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46.xml"/>
  <Override ContentType="application/vnd.openxmlformats-officedocument.presentationml.slide+xml" PartName="/ppt/slides/slide3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57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97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56.xml"/>
  <Override ContentType="application/vnd.openxmlformats-officedocument.presentationml.slide+xml" PartName="/ppt/slides/slide13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presentation.main+xml" PartName="/ppt/presentation.xml"/>
  <Override ContentType="application/vnd.ms-office.drawingml.diagramDrawing+xml" PartName="/ppt/diagrams/drawing2.xml"/>
  <Override ContentType="application/vnd.ms-office.drawingml.diagramDrawing+xml" PartName="/ppt/diagrams/drawing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diagramLayout+xml" PartName="/ppt/diagrams/layout1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Style+xml" PartName="/ppt/diagrams/quickStyle1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1.xml"/>
  <Override ContentType="application/vnd.openxmlformats-officedocument.drawingml.diagramColors+xml" PartName="/ppt/diagrams/colors2.xml"/>
  <Override ContentType="application/vnd.openxmlformats-officedocument.drawingml.diagramColors+xml" PartName="/ppt/diagrams/colors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BC08B1-FCF4-4352-B75F-1A1F8DAF8477}" type="doc">
      <dgm:prSet loTypeId="urn:microsoft.com/office/officeart/2005/8/layout/chevron2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804A38E-0883-440D-AC4E-965A294AEEAB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CEDFCCED-EB7F-426F-8211-062AF5615807}" type="parTrans" cxnId="{C9631357-D74B-4C84-AFB0-A49E8CBDB07C}">
      <dgm:prSet/>
      <dgm:spPr/>
      <dgm:t>
        <a:bodyPr/>
        <a:lstStyle/>
        <a:p>
          <a:endParaRPr lang="en-US"/>
        </a:p>
      </dgm:t>
    </dgm:pt>
    <dgm:pt modelId="{1BE1736D-2326-4A37-B953-0034FD6FB65B}" type="sibTrans" cxnId="{C9631357-D74B-4C84-AFB0-A49E8CBDB07C}">
      <dgm:prSet/>
      <dgm:spPr/>
      <dgm:t>
        <a:bodyPr/>
        <a:lstStyle/>
        <a:p>
          <a:endParaRPr lang="en-US"/>
        </a:p>
      </dgm:t>
    </dgm:pt>
    <dgm:pt modelId="{EC523FFE-71E4-4BFF-B4AB-1AE84809C675}">
      <dgm:prSet phldrT="[Text]"/>
      <dgm:spPr/>
      <dgm:t>
        <a:bodyPr/>
        <a:lstStyle/>
        <a:p>
          <a:r>
            <a:rPr lang="en-US" dirty="0" smtClean="0"/>
            <a:t>Supervised Learning</a:t>
          </a:r>
          <a:endParaRPr lang="en-US" dirty="0"/>
        </a:p>
      </dgm:t>
    </dgm:pt>
    <dgm:pt modelId="{061DFE0B-33F2-4E72-9446-109EE32CA60C}" type="parTrans" cxnId="{9CEAF4E3-9407-4CFE-A741-5E394856D808}">
      <dgm:prSet/>
      <dgm:spPr/>
      <dgm:t>
        <a:bodyPr/>
        <a:lstStyle/>
        <a:p>
          <a:endParaRPr lang="en-US"/>
        </a:p>
      </dgm:t>
    </dgm:pt>
    <dgm:pt modelId="{E70F7661-E074-4E62-8B81-4C3EE61A6FE5}" type="sibTrans" cxnId="{9CEAF4E3-9407-4CFE-A741-5E394856D808}">
      <dgm:prSet/>
      <dgm:spPr/>
      <dgm:t>
        <a:bodyPr/>
        <a:lstStyle/>
        <a:p>
          <a:endParaRPr lang="en-US"/>
        </a:p>
      </dgm:t>
    </dgm:pt>
    <dgm:pt modelId="{E96E1B76-C86E-4F7C-BC2E-8A797E591EA0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894B2D6D-BBC5-45C9-8847-64D72AADFD5E}" type="parTrans" cxnId="{7FB69C42-0401-4586-A523-D2021C5D2C38}">
      <dgm:prSet/>
      <dgm:spPr/>
      <dgm:t>
        <a:bodyPr/>
        <a:lstStyle/>
        <a:p>
          <a:endParaRPr lang="en-US"/>
        </a:p>
      </dgm:t>
    </dgm:pt>
    <dgm:pt modelId="{097DB40E-4DAE-4C67-A1D3-B54FAA1CC778}" type="sibTrans" cxnId="{7FB69C42-0401-4586-A523-D2021C5D2C38}">
      <dgm:prSet/>
      <dgm:spPr/>
      <dgm:t>
        <a:bodyPr/>
        <a:lstStyle/>
        <a:p>
          <a:endParaRPr lang="en-US"/>
        </a:p>
      </dgm:t>
    </dgm:pt>
    <dgm:pt modelId="{BA1126C9-821A-4B27-8B1D-ACE2CC2037FD}">
      <dgm:prSet phldrT="[Text]"/>
      <dgm:spPr/>
      <dgm:t>
        <a:bodyPr/>
        <a:lstStyle/>
        <a:p>
          <a:r>
            <a:rPr lang="en-US" dirty="0" smtClean="0"/>
            <a:t>Unsupervised Learning</a:t>
          </a:r>
          <a:endParaRPr lang="en-US" dirty="0"/>
        </a:p>
      </dgm:t>
    </dgm:pt>
    <dgm:pt modelId="{B5B03E88-1991-4759-B56B-6FAF0AE3F596}" type="parTrans" cxnId="{3B2CE86B-4CA1-4C12-85D6-F0A89428AE9A}">
      <dgm:prSet/>
      <dgm:spPr/>
      <dgm:t>
        <a:bodyPr/>
        <a:lstStyle/>
        <a:p>
          <a:endParaRPr lang="en-US"/>
        </a:p>
      </dgm:t>
    </dgm:pt>
    <dgm:pt modelId="{72CF7B92-A583-4275-A3EE-78DF2C53798A}" type="sibTrans" cxnId="{3B2CE86B-4CA1-4C12-85D6-F0A89428AE9A}">
      <dgm:prSet/>
      <dgm:spPr/>
      <dgm:t>
        <a:bodyPr/>
        <a:lstStyle/>
        <a:p>
          <a:endParaRPr lang="en-US"/>
        </a:p>
      </dgm:t>
    </dgm:pt>
    <dgm:pt modelId="{511034CD-5321-475D-B6D3-A3BA85405CAF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7101544D-8D6C-4689-8674-2CE0600A3FAC}" type="parTrans" cxnId="{3354121E-ACFE-4FEC-BBD9-FA8055C490AB}">
      <dgm:prSet/>
      <dgm:spPr/>
      <dgm:t>
        <a:bodyPr/>
        <a:lstStyle/>
        <a:p>
          <a:endParaRPr lang="en-US"/>
        </a:p>
      </dgm:t>
    </dgm:pt>
    <dgm:pt modelId="{AFF44D33-E54E-4D34-9933-8D596D4A2A5B}" type="sibTrans" cxnId="{3354121E-ACFE-4FEC-BBD9-FA8055C490AB}">
      <dgm:prSet/>
      <dgm:spPr/>
      <dgm:t>
        <a:bodyPr/>
        <a:lstStyle/>
        <a:p>
          <a:endParaRPr lang="en-US"/>
        </a:p>
      </dgm:t>
    </dgm:pt>
    <dgm:pt modelId="{8F21E16A-6AA5-44D9-AF5D-B00765157008}">
      <dgm:prSet phldrT="[Text]"/>
      <dgm:spPr/>
      <dgm:t>
        <a:bodyPr/>
        <a:lstStyle/>
        <a:p>
          <a:r>
            <a:rPr lang="en-US" dirty="0" smtClean="0"/>
            <a:t>Reinforcement Learning</a:t>
          </a:r>
          <a:endParaRPr lang="en-US" dirty="0"/>
        </a:p>
      </dgm:t>
    </dgm:pt>
    <dgm:pt modelId="{740D8A7C-84DC-4007-A790-D81E7D7835C3}" type="parTrans" cxnId="{497EDDDC-3E04-4DEB-A8B9-D1C3D486B3E2}">
      <dgm:prSet/>
      <dgm:spPr/>
      <dgm:t>
        <a:bodyPr/>
        <a:lstStyle/>
        <a:p>
          <a:endParaRPr lang="en-US"/>
        </a:p>
      </dgm:t>
    </dgm:pt>
    <dgm:pt modelId="{8FD4F0F2-5F75-498F-B44B-8F0AE3C18863}" type="sibTrans" cxnId="{497EDDDC-3E04-4DEB-A8B9-D1C3D486B3E2}">
      <dgm:prSet/>
      <dgm:spPr/>
      <dgm:t>
        <a:bodyPr/>
        <a:lstStyle/>
        <a:p>
          <a:endParaRPr lang="en-US"/>
        </a:p>
      </dgm:t>
    </dgm:pt>
    <dgm:pt modelId="{8E609813-E105-4994-ADC1-90AAEEDC296D}" type="pres">
      <dgm:prSet presAssocID="{CABC08B1-FCF4-4352-B75F-1A1F8DAF8477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C2F1C61-FA0A-421D-9836-630BC2B5A9FE}" type="pres">
      <dgm:prSet presAssocID="{9804A38E-0883-440D-AC4E-965A294AEEAB}" presName="composite" presStyleCnt="0"/>
      <dgm:spPr/>
    </dgm:pt>
    <dgm:pt modelId="{13969859-1BB9-4A63-B184-059C3DE1375B}" type="pres">
      <dgm:prSet presAssocID="{9804A38E-0883-440D-AC4E-965A294AEEA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59122E-FC7E-46A1-A393-2CEE0F09ACC5}" type="pres">
      <dgm:prSet presAssocID="{9804A38E-0883-440D-AC4E-965A294AEEAB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BBAFC2-7CA2-46A7-AA73-0EA3E522A1E8}" type="pres">
      <dgm:prSet presAssocID="{1BE1736D-2326-4A37-B953-0034FD6FB65B}" presName="sp" presStyleCnt="0"/>
      <dgm:spPr/>
    </dgm:pt>
    <dgm:pt modelId="{71C7CF51-CD61-4060-B281-B5E76DCD8F19}" type="pres">
      <dgm:prSet presAssocID="{E96E1B76-C86E-4F7C-BC2E-8A797E591EA0}" presName="composite" presStyleCnt="0"/>
      <dgm:spPr/>
    </dgm:pt>
    <dgm:pt modelId="{0A50271D-DB16-4AFC-8FF0-75D614DE949F}" type="pres">
      <dgm:prSet presAssocID="{E96E1B76-C86E-4F7C-BC2E-8A797E591EA0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4678F7-09B7-4B14-9E4E-E2510617AE75}" type="pres">
      <dgm:prSet presAssocID="{E96E1B76-C86E-4F7C-BC2E-8A797E591EA0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EE2F2-8356-411B-8474-1CDDE250BF10}" type="pres">
      <dgm:prSet presAssocID="{097DB40E-4DAE-4C67-A1D3-B54FAA1CC778}" presName="sp" presStyleCnt="0"/>
      <dgm:spPr/>
    </dgm:pt>
    <dgm:pt modelId="{4B1C127C-FAD6-4E2D-B7BF-A1108DD05C1A}" type="pres">
      <dgm:prSet presAssocID="{511034CD-5321-475D-B6D3-A3BA85405CAF}" presName="composite" presStyleCnt="0"/>
      <dgm:spPr/>
    </dgm:pt>
    <dgm:pt modelId="{3E7A49C3-DEB9-4683-A9DD-F1FC790DEE5D}" type="pres">
      <dgm:prSet presAssocID="{511034CD-5321-475D-B6D3-A3BA85405CA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512695-CBFF-437C-B3AD-D835D440C6F4}" type="pres">
      <dgm:prSet presAssocID="{511034CD-5321-475D-B6D3-A3BA85405CA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C5E4C6-6B7C-45CB-821E-3F337D3E372A}" type="presOf" srcId="{CABC08B1-FCF4-4352-B75F-1A1F8DAF8477}" destId="{8E609813-E105-4994-ADC1-90AAEEDC296D}" srcOrd="0" destOrd="0" presId="urn:microsoft.com/office/officeart/2005/8/layout/chevron2"/>
    <dgm:cxn modelId="{8FA09073-6AB5-4D6F-9B34-F0C3DE97B6EF}" type="presOf" srcId="{9804A38E-0883-440D-AC4E-965A294AEEAB}" destId="{13969859-1BB9-4A63-B184-059C3DE1375B}" srcOrd="0" destOrd="0" presId="urn:microsoft.com/office/officeart/2005/8/layout/chevron2"/>
    <dgm:cxn modelId="{A8B64588-020A-4174-AF3E-3EF71032D21F}" type="presOf" srcId="{E96E1B76-C86E-4F7C-BC2E-8A797E591EA0}" destId="{0A50271D-DB16-4AFC-8FF0-75D614DE949F}" srcOrd="0" destOrd="0" presId="urn:microsoft.com/office/officeart/2005/8/layout/chevron2"/>
    <dgm:cxn modelId="{3354121E-ACFE-4FEC-BBD9-FA8055C490AB}" srcId="{CABC08B1-FCF4-4352-B75F-1A1F8DAF8477}" destId="{511034CD-5321-475D-B6D3-A3BA85405CAF}" srcOrd="2" destOrd="0" parTransId="{7101544D-8D6C-4689-8674-2CE0600A3FAC}" sibTransId="{AFF44D33-E54E-4D34-9933-8D596D4A2A5B}"/>
    <dgm:cxn modelId="{497EDDDC-3E04-4DEB-A8B9-D1C3D486B3E2}" srcId="{511034CD-5321-475D-B6D3-A3BA85405CAF}" destId="{8F21E16A-6AA5-44D9-AF5D-B00765157008}" srcOrd="0" destOrd="0" parTransId="{740D8A7C-84DC-4007-A790-D81E7D7835C3}" sibTransId="{8FD4F0F2-5F75-498F-B44B-8F0AE3C18863}"/>
    <dgm:cxn modelId="{3B2CE86B-4CA1-4C12-85D6-F0A89428AE9A}" srcId="{E96E1B76-C86E-4F7C-BC2E-8A797E591EA0}" destId="{BA1126C9-821A-4B27-8B1D-ACE2CC2037FD}" srcOrd="0" destOrd="0" parTransId="{B5B03E88-1991-4759-B56B-6FAF0AE3F596}" sibTransId="{72CF7B92-A583-4275-A3EE-78DF2C53798A}"/>
    <dgm:cxn modelId="{9CEAF4E3-9407-4CFE-A741-5E394856D808}" srcId="{9804A38E-0883-440D-AC4E-965A294AEEAB}" destId="{EC523FFE-71E4-4BFF-B4AB-1AE84809C675}" srcOrd="0" destOrd="0" parTransId="{061DFE0B-33F2-4E72-9446-109EE32CA60C}" sibTransId="{E70F7661-E074-4E62-8B81-4C3EE61A6FE5}"/>
    <dgm:cxn modelId="{7FB69C42-0401-4586-A523-D2021C5D2C38}" srcId="{CABC08B1-FCF4-4352-B75F-1A1F8DAF8477}" destId="{E96E1B76-C86E-4F7C-BC2E-8A797E591EA0}" srcOrd="1" destOrd="0" parTransId="{894B2D6D-BBC5-45C9-8847-64D72AADFD5E}" sibTransId="{097DB40E-4DAE-4C67-A1D3-B54FAA1CC778}"/>
    <dgm:cxn modelId="{6F2ECC26-02E3-43C0-BF9B-206369904D40}" type="presOf" srcId="{8F21E16A-6AA5-44D9-AF5D-B00765157008}" destId="{25512695-CBFF-437C-B3AD-D835D440C6F4}" srcOrd="0" destOrd="0" presId="urn:microsoft.com/office/officeart/2005/8/layout/chevron2"/>
    <dgm:cxn modelId="{1C6EDEB3-A298-48AA-B24D-92EAEEECB051}" type="presOf" srcId="{EC523FFE-71E4-4BFF-B4AB-1AE84809C675}" destId="{3159122E-FC7E-46A1-A393-2CEE0F09ACC5}" srcOrd="0" destOrd="0" presId="urn:microsoft.com/office/officeart/2005/8/layout/chevron2"/>
    <dgm:cxn modelId="{4E06774E-D733-43BC-B4DB-9D3E7BB9BE4D}" type="presOf" srcId="{511034CD-5321-475D-B6D3-A3BA85405CAF}" destId="{3E7A49C3-DEB9-4683-A9DD-F1FC790DEE5D}" srcOrd="0" destOrd="0" presId="urn:microsoft.com/office/officeart/2005/8/layout/chevron2"/>
    <dgm:cxn modelId="{1F0F2F68-738C-4E38-BF94-FED0A2921368}" type="presOf" srcId="{BA1126C9-821A-4B27-8B1D-ACE2CC2037FD}" destId="{3E4678F7-09B7-4B14-9E4E-E2510617AE75}" srcOrd="0" destOrd="0" presId="urn:microsoft.com/office/officeart/2005/8/layout/chevron2"/>
    <dgm:cxn modelId="{C9631357-D74B-4C84-AFB0-A49E8CBDB07C}" srcId="{CABC08B1-FCF4-4352-B75F-1A1F8DAF8477}" destId="{9804A38E-0883-440D-AC4E-965A294AEEAB}" srcOrd="0" destOrd="0" parTransId="{CEDFCCED-EB7F-426F-8211-062AF5615807}" sibTransId="{1BE1736D-2326-4A37-B953-0034FD6FB65B}"/>
    <dgm:cxn modelId="{08D97C86-388B-4F32-A7B8-F807CE3FEB11}" type="presParOf" srcId="{8E609813-E105-4994-ADC1-90AAEEDC296D}" destId="{1C2F1C61-FA0A-421D-9836-630BC2B5A9FE}" srcOrd="0" destOrd="0" presId="urn:microsoft.com/office/officeart/2005/8/layout/chevron2"/>
    <dgm:cxn modelId="{1E4F6BA1-F285-4B05-BDFD-69B65C6961C9}" type="presParOf" srcId="{1C2F1C61-FA0A-421D-9836-630BC2B5A9FE}" destId="{13969859-1BB9-4A63-B184-059C3DE1375B}" srcOrd="0" destOrd="0" presId="urn:microsoft.com/office/officeart/2005/8/layout/chevron2"/>
    <dgm:cxn modelId="{CE2A4338-4199-41A5-9591-C0745411E198}" type="presParOf" srcId="{1C2F1C61-FA0A-421D-9836-630BC2B5A9FE}" destId="{3159122E-FC7E-46A1-A393-2CEE0F09ACC5}" srcOrd="1" destOrd="0" presId="urn:microsoft.com/office/officeart/2005/8/layout/chevron2"/>
    <dgm:cxn modelId="{58328943-F321-4AC0-9BD3-2B63604A5869}" type="presParOf" srcId="{8E609813-E105-4994-ADC1-90AAEEDC296D}" destId="{A8BBAFC2-7CA2-46A7-AA73-0EA3E522A1E8}" srcOrd="1" destOrd="0" presId="urn:microsoft.com/office/officeart/2005/8/layout/chevron2"/>
    <dgm:cxn modelId="{FA6AEAFD-EDB4-4C38-8B39-C4B6A278F211}" type="presParOf" srcId="{8E609813-E105-4994-ADC1-90AAEEDC296D}" destId="{71C7CF51-CD61-4060-B281-B5E76DCD8F19}" srcOrd="2" destOrd="0" presId="urn:microsoft.com/office/officeart/2005/8/layout/chevron2"/>
    <dgm:cxn modelId="{13B026CC-CF8F-4A9D-BB81-AC8381E854A3}" type="presParOf" srcId="{71C7CF51-CD61-4060-B281-B5E76DCD8F19}" destId="{0A50271D-DB16-4AFC-8FF0-75D614DE949F}" srcOrd="0" destOrd="0" presId="urn:microsoft.com/office/officeart/2005/8/layout/chevron2"/>
    <dgm:cxn modelId="{9BF21BE4-473E-45A4-87AD-548BAEA667A9}" type="presParOf" srcId="{71C7CF51-CD61-4060-B281-B5E76DCD8F19}" destId="{3E4678F7-09B7-4B14-9E4E-E2510617AE75}" srcOrd="1" destOrd="0" presId="urn:microsoft.com/office/officeart/2005/8/layout/chevron2"/>
    <dgm:cxn modelId="{73414BA1-66C0-4A74-9EC0-C9790EA9C236}" type="presParOf" srcId="{8E609813-E105-4994-ADC1-90AAEEDC296D}" destId="{388EE2F2-8356-411B-8474-1CDDE250BF10}" srcOrd="3" destOrd="0" presId="urn:microsoft.com/office/officeart/2005/8/layout/chevron2"/>
    <dgm:cxn modelId="{54E86338-84E3-47C0-AC39-8680FDF17573}" type="presParOf" srcId="{8E609813-E105-4994-ADC1-90AAEEDC296D}" destId="{4B1C127C-FAD6-4E2D-B7BF-A1108DD05C1A}" srcOrd="4" destOrd="0" presId="urn:microsoft.com/office/officeart/2005/8/layout/chevron2"/>
    <dgm:cxn modelId="{15CF1B98-C300-4E58-BF9D-CF638E6AAE35}" type="presParOf" srcId="{4B1C127C-FAD6-4E2D-B7BF-A1108DD05C1A}" destId="{3E7A49C3-DEB9-4683-A9DD-F1FC790DEE5D}" srcOrd="0" destOrd="0" presId="urn:microsoft.com/office/officeart/2005/8/layout/chevron2"/>
    <dgm:cxn modelId="{310E9676-E8F0-4225-8FAE-EBCFB910BCB0}" type="presParOf" srcId="{4B1C127C-FAD6-4E2D-B7BF-A1108DD05C1A}" destId="{25512695-CBFF-437C-B3AD-D835D440C6F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33971-5B93-46BB-BE76-5A02FA2BC56D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33C0E0-CB3C-4AD0-B643-2DCC1FA33403}">
      <dgm:prSet phldrT="[Text]"/>
      <dgm:spPr/>
      <dgm:t>
        <a:bodyPr/>
        <a:lstStyle/>
        <a:p>
          <a:r>
            <a:rPr lang="en-US" dirty="0" smtClean="0"/>
            <a:t>Classification</a:t>
          </a:r>
          <a:endParaRPr lang="en-US" dirty="0"/>
        </a:p>
      </dgm:t>
    </dgm:pt>
    <dgm:pt modelId="{7F0FA56D-83BB-4003-8B54-06B51A04EBFA}" type="parTrans" cxnId="{7410032C-B8C2-4B1A-8827-A830B1B10C91}">
      <dgm:prSet/>
      <dgm:spPr/>
      <dgm:t>
        <a:bodyPr/>
        <a:lstStyle/>
        <a:p>
          <a:endParaRPr lang="en-US"/>
        </a:p>
      </dgm:t>
    </dgm:pt>
    <dgm:pt modelId="{92246760-88C4-4616-A0AF-DF2C8A777145}" type="sibTrans" cxnId="{7410032C-B8C2-4B1A-8827-A830B1B10C91}">
      <dgm:prSet/>
      <dgm:spPr/>
      <dgm:t>
        <a:bodyPr/>
        <a:lstStyle/>
        <a:p>
          <a:endParaRPr lang="en-US"/>
        </a:p>
      </dgm:t>
    </dgm:pt>
    <dgm:pt modelId="{355AE035-743A-41C6-9B34-139899704424}">
      <dgm:prSet phldrT="[Text]"/>
      <dgm:spPr/>
      <dgm:t>
        <a:bodyPr/>
        <a:lstStyle/>
        <a:p>
          <a:r>
            <a:rPr lang="en-US" dirty="0" smtClean="0"/>
            <a:t>Logistic Regression</a:t>
          </a:r>
          <a:endParaRPr lang="en-US" dirty="0"/>
        </a:p>
      </dgm:t>
    </dgm:pt>
    <dgm:pt modelId="{64CAFC8D-ED99-4F60-93A8-818F7BA11FB4}" type="parTrans" cxnId="{E137D398-25DF-412E-993B-28039E8EC657}">
      <dgm:prSet/>
      <dgm:spPr/>
      <dgm:t>
        <a:bodyPr/>
        <a:lstStyle/>
        <a:p>
          <a:endParaRPr lang="en-US"/>
        </a:p>
      </dgm:t>
    </dgm:pt>
    <dgm:pt modelId="{937B9B4E-05C0-4F60-ACD7-6CE375696254}" type="sibTrans" cxnId="{E137D398-25DF-412E-993B-28039E8EC657}">
      <dgm:prSet/>
      <dgm:spPr/>
      <dgm:t>
        <a:bodyPr/>
        <a:lstStyle/>
        <a:p>
          <a:endParaRPr lang="en-US"/>
        </a:p>
      </dgm:t>
    </dgm:pt>
    <dgm:pt modelId="{BA4DD809-F153-427C-95F7-D78957C74461}">
      <dgm:prSet phldrT="[Text]"/>
      <dgm:spPr/>
      <dgm:t>
        <a:bodyPr/>
        <a:lstStyle/>
        <a:p>
          <a:r>
            <a:rPr lang="en-US" dirty="0" smtClean="0"/>
            <a:t>Decision Tree, K Nearest Neighbor (</a:t>
          </a:r>
          <a:r>
            <a:rPr lang="en-US" dirty="0" err="1" smtClean="0"/>
            <a:t>Knn</a:t>
          </a:r>
          <a:r>
            <a:rPr lang="en-US" dirty="0" smtClean="0"/>
            <a:t>), </a:t>
          </a:r>
        </a:p>
        <a:p>
          <a:r>
            <a:rPr lang="en-US" dirty="0" smtClean="0"/>
            <a:t>Support Vector Machine (SVM)</a:t>
          </a:r>
          <a:endParaRPr lang="en-US" dirty="0"/>
        </a:p>
      </dgm:t>
    </dgm:pt>
    <dgm:pt modelId="{BE6D5BA7-A068-4911-8AB7-FE161846CC02}" type="parTrans" cxnId="{7F5B9963-DA0F-44FD-BA08-72882FA27EE3}">
      <dgm:prSet/>
      <dgm:spPr/>
      <dgm:t>
        <a:bodyPr/>
        <a:lstStyle/>
        <a:p>
          <a:endParaRPr lang="en-US"/>
        </a:p>
      </dgm:t>
    </dgm:pt>
    <dgm:pt modelId="{C8B6677D-140F-4BDB-B7BD-DF3461D6E063}" type="sibTrans" cxnId="{7F5B9963-DA0F-44FD-BA08-72882FA27EE3}">
      <dgm:prSet/>
      <dgm:spPr/>
      <dgm:t>
        <a:bodyPr/>
        <a:lstStyle/>
        <a:p>
          <a:endParaRPr lang="en-US"/>
        </a:p>
      </dgm:t>
    </dgm:pt>
    <dgm:pt modelId="{12481014-6F70-49A1-A442-9DB20EF27A7D}">
      <dgm:prSet phldrT="[Text]"/>
      <dgm:spPr/>
      <dgm:t>
        <a:bodyPr/>
        <a:lstStyle/>
        <a:p>
          <a:r>
            <a:rPr lang="en-US" dirty="0" smtClean="0"/>
            <a:t>Regression</a:t>
          </a:r>
          <a:endParaRPr lang="en-US" dirty="0"/>
        </a:p>
      </dgm:t>
    </dgm:pt>
    <dgm:pt modelId="{A0C93715-2595-4378-80FA-350596A3C491}" type="parTrans" cxnId="{D86AA849-2C7B-49DA-91C5-5C95A79BD798}">
      <dgm:prSet/>
      <dgm:spPr/>
      <dgm:t>
        <a:bodyPr/>
        <a:lstStyle/>
        <a:p>
          <a:endParaRPr lang="en-US"/>
        </a:p>
      </dgm:t>
    </dgm:pt>
    <dgm:pt modelId="{65499284-8D57-47B2-A899-FB79B1D1406E}" type="sibTrans" cxnId="{D86AA849-2C7B-49DA-91C5-5C95A79BD798}">
      <dgm:prSet/>
      <dgm:spPr/>
      <dgm:t>
        <a:bodyPr/>
        <a:lstStyle/>
        <a:p>
          <a:endParaRPr lang="en-US"/>
        </a:p>
      </dgm:t>
    </dgm:pt>
    <dgm:pt modelId="{CAE0C22D-2C14-44EB-95C0-D4134BA66472}">
      <dgm:prSet phldrT="[Text]"/>
      <dgm:spPr/>
      <dgm:t>
        <a:bodyPr/>
        <a:lstStyle/>
        <a:p>
          <a:r>
            <a:rPr lang="en-US" dirty="0" smtClean="0"/>
            <a:t>Linear</a:t>
          </a:r>
          <a:endParaRPr lang="en-US" dirty="0"/>
        </a:p>
      </dgm:t>
    </dgm:pt>
    <dgm:pt modelId="{1ABA5B62-2364-46D4-AE63-49D069B457B9}" type="parTrans" cxnId="{7BD65204-331D-4888-BAD2-6A858616C53D}">
      <dgm:prSet/>
      <dgm:spPr/>
      <dgm:t>
        <a:bodyPr/>
        <a:lstStyle/>
        <a:p>
          <a:endParaRPr lang="en-US"/>
        </a:p>
      </dgm:t>
    </dgm:pt>
    <dgm:pt modelId="{D7D99440-7B2D-4C5D-885A-5F97810FD0EA}" type="sibTrans" cxnId="{7BD65204-331D-4888-BAD2-6A858616C53D}">
      <dgm:prSet/>
      <dgm:spPr/>
      <dgm:t>
        <a:bodyPr/>
        <a:lstStyle/>
        <a:p>
          <a:endParaRPr lang="en-US"/>
        </a:p>
      </dgm:t>
    </dgm:pt>
    <dgm:pt modelId="{1B8C5A6F-C786-4CA5-ACC5-6593DC82B583}">
      <dgm:prSet phldrT="[Text]"/>
      <dgm:spPr/>
      <dgm:t>
        <a:bodyPr/>
        <a:lstStyle/>
        <a:p>
          <a:r>
            <a:rPr lang="en-US" dirty="0" smtClean="0"/>
            <a:t>Multi Variable</a:t>
          </a:r>
          <a:endParaRPr lang="en-US" dirty="0"/>
        </a:p>
      </dgm:t>
    </dgm:pt>
    <dgm:pt modelId="{5B591A46-92D9-4798-A539-6C9C6CF26C0C}" type="parTrans" cxnId="{F8F0F9E2-13A1-4795-9257-3C56C27AF984}">
      <dgm:prSet/>
      <dgm:spPr/>
      <dgm:t>
        <a:bodyPr/>
        <a:lstStyle/>
        <a:p>
          <a:endParaRPr lang="en-US"/>
        </a:p>
      </dgm:t>
    </dgm:pt>
    <dgm:pt modelId="{07F28B36-7939-4438-898C-20D62C9890B6}" type="sibTrans" cxnId="{F8F0F9E2-13A1-4795-9257-3C56C27AF984}">
      <dgm:prSet/>
      <dgm:spPr/>
      <dgm:t>
        <a:bodyPr/>
        <a:lstStyle/>
        <a:p>
          <a:endParaRPr lang="en-US"/>
        </a:p>
      </dgm:t>
    </dgm:pt>
    <dgm:pt modelId="{6111F50F-0E9A-4C90-87EB-624133B1E13E}" type="pres">
      <dgm:prSet presAssocID="{73B33971-5B93-46BB-BE76-5A02FA2BC56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CD215D1-F1FF-409C-996B-4575F36DE438}" type="pres">
      <dgm:prSet presAssocID="{6833C0E0-CB3C-4AD0-B643-2DCC1FA33403}" presName="root" presStyleCnt="0"/>
      <dgm:spPr/>
    </dgm:pt>
    <dgm:pt modelId="{95048286-99C1-45A6-B591-75DB8007FF69}" type="pres">
      <dgm:prSet presAssocID="{6833C0E0-CB3C-4AD0-B643-2DCC1FA33403}" presName="rootComposite" presStyleCnt="0"/>
      <dgm:spPr/>
    </dgm:pt>
    <dgm:pt modelId="{113E2487-A181-4D76-AC35-8C9FA82464D8}" type="pres">
      <dgm:prSet presAssocID="{6833C0E0-CB3C-4AD0-B643-2DCC1FA33403}" presName="rootText" presStyleLbl="node1" presStyleIdx="0" presStyleCnt="2"/>
      <dgm:spPr/>
      <dgm:t>
        <a:bodyPr/>
        <a:lstStyle/>
        <a:p>
          <a:endParaRPr lang="en-US"/>
        </a:p>
      </dgm:t>
    </dgm:pt>
    <dgm:pt modelId="{B0ACCC6F-6AE7-4B01-B36F-13729E5C7B7D}" type="pres">
      <dgm:prSet presAssocID="{6833C0E0-CB3C-4AD0-B643-2DCC1FA33403}" presName="rootConnector" presStyleLbl="node1" presStyleIdx="0" presStyleCnt="2"/>
      <dgm:spPr/>
      <dgm:t>
        <a:bodyPr/>
        <a:lstStyle/>
        <a:p>
          <a:endParaRPr lang="en-US"/>
        </a:p>
      </dgm:t>
    </dgm:pt>
    <dgm:pt modelId="{5F8FAB12-F892-4106-9D5C-BBD97497CCB1}" type="pres">
      <dgm:prSet presAssocID="{6833C0E0-CB3C-4AD0-B643-2DCC1FA33403}" presName="childShape" presStyleCnt="0"/>
      <dgm:spPr/>
    </dgm:pt>
    <dgm:pt modelId="{7D889237-F652-4793-92BF-9AC6BEE37656}" type="pres">
      <dgm:prSet presAssocID="{64CAFC8D-ED99-4F60-93A8-818F7BA11FB4}" presName="Name13" presStyleLbl="parChTrans1D2" presStyleIdx="0" presStyleCnt="4"/>
      <dgm:spPr/>
      <dgm:t>
        <a:bodyPr/>
        <a:lstStyle/>
        <a:p>
          <a:endParaRPr lang="en-US"/>
        </a:p>
      </dgm:t>
    </dgm:pt>
    <dgm:pt modelId="{A18F5268-FAC9-4F25-8DD5-EF3A57DC7E6A}" type="pres">
      <dgm:prSet presAssocID="{355AE035-743A-41C6-9B34-139899704424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C5C638-AAF6-4991-A017-DF6474890A01}" type="pres">
      <dgm:prSet presAssocID="{BE6D5BA7-A068-4911-8AB7-FE161846CC02}" presName="Name13" presStyleLbl="parChTrans1D2" presStyleIdx="1" presStyleCnt="4"/>
      <dgm:spPr/>
      <dgm:t>
        <a:bodyPr/>
        <a:lstStyle/>
        <a:p>
          <a:endParaRPr lang="en-US"/>
        </a:p>
      </dgm:t>
    </dgm:pt>
    <dgm:pt modelId="{A244219D-7D06-43CD-9244-F464D86CF9A5}" type="pres">
      <dgm:prSet presAssocID="{BA4DD809-F153-427C-95F7-D78957C74461}" presName="childText" presStyleLbl="bgAcc1" presStyleIdx="1" presStyleCnt="4" custScaleY="1664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780F9D-BED9-4BEE-B2CC-E0690E6571BB}" type="pres">
      <dgm:prSet presAssocID="{12481014-6F70-49A1-A442-9DB20EF27A7D}" presName="root" presStyleCnt="0"/>
      <dgm:spPr/>
    </dgm:pt>
    <dgm:pt modelId="{6FE55960-D0AD-46BE-8466-5BC372067F5A}" type="pres">
      <dgm:prSet presAssocID="{12481014-6F70-49A1-A442-9DB20EF27A7D}" presName="rootComposite" presStyleCnt="0"/>
      <dgm:spPr/>
    </dgm:pt>
    <dgm:pt modelId="{64CE80C8-0792-4E88-BCC5-2FCE36047BFD}" type="pres">
      <dgm:prSet presAssocID="{12481014-6F70-49A1-A442-9DB20EF27A7D}" presName="rootText" presStyleLbl="node1" presStyleIdx="1" presStyleCnt="2"/>
      <dgm:spPr/>
      <dgm:t>
        <a:bodyPr/>
        <a:lstStyle/>
        <a:p>
          <a:endParaRPr lang="en-US"/>
        </a:p>
      </dgm:t>
    </dgm:pt>
    <dgm:pt modelId="{D5BBAC80-84D3-4CE0-9718-FEB6DD87D60D}" type="pres">
      <dgm:prSet presAssocID="{12481014-6F70-49A1-A442-9DB20EF27A7D}" presName="rootConnector" presStyleLbl="node1" presStyleIdx="1" presStyleCnt="2"/>
      <dgm:spPr/>
      <dgm:t>
        <a:bodyPr/>
        <a:lstStyle/>
        <a:p>
          <a:endParaRPr lang="en-US"/>
        </a:p>
      </dgm:t>
    </dgm:pt>
    <dgm:pt modelId="{51702416-E682-41B4-95E4-A77F420729EF}" type="pres">
      <dgm:prSet presAssocID="{12481014-6F70-49A1-A442-9DB20EF27A7D}" presName="childShape" presStyleCnt="0"/>
      <dgm:spPr/>
    </dgm:pt>
    <dgm:pt modelId="{E4458631-8EB4-4E27-B654-B31A14023544}" type="pres">
      <dgm:prSet presAssocID="{1ABA5B62-2364-46D4-AE63-49D069B457B9}" presName="Name13" presStyleLbl="parChTrans1D2" presStyleIdx="2" presStyleCnt="4"/>
      <dgm:spPr/>
      <dgm:t>
        <a:bodyPr/>
        <a:lstStyle/>
        <a:p>
          <a:endParaRPr lang="en-US"/>
        </a:p>
      </dgm:t>
    </dgm:pt>
    <dgm:pt modelId="{026D78CA-367E-4833-A1F5-9D3E6B38542C}" type="pres">
      <dgm:prSet presAssocID="{CAE0C22D-2C14-44EB-95C0-D4134BA66472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000C9F-EEE0-414D-813C-5E25F3CF3271}" type="pres">
      <dgm:prSet presAssocID="{5B591A46-92D9-4798-A539-6C9C6CF26C0C}" presName="Name13" presStyleLbl="parChTrans1D2" presStyleIdx="3" presStyleCnt="4"/>
      <dgm:spPr/>
      <dgm:t>
        <a:bodyPr/>
        <a:lstStyle/>
        <a:p>
          <a:endParaRPr lang="en-US"/>
        </a:p>
      </dgm:t>
    </dgm:pt>
    <dgm:pt modelId="{72C13344-AE2B-4414-A852-CBAA072110BD}" type="pres">
      <dgm:prSet presAssocID="{1B8C5A6F-C786-4CA5-ACC5-6593DC82B583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14CB24-EEB3-4771-91E7-A21B1EDB0A1A}" type="presOf" srcId="{5B591A46-92D9-4798-A539-6C9C6CF26C0C}" destId="{AA000C9F-EEE0-414D-813C-5E25F3CF3271}" srcOrd="0" destOrd="0" presId="urn:microsoft.com/office/officeart/2005/8/layout/hierarchy3"/>
    <dgm:cxn modelId="{4232BAF4-1B84-4644-BA83-E52B67DD4A3C}" type="presOf" srcId="{64CAFC8D-ED99-4F60-93A8-818F7BA11FB4}" destId="{7D889237-F652-4793-92BF-9AC6BEE37656}" srcOrd="0" destOrd="0" presId="urn:microsoft.com/office/officeart/2005/8/layout/hierarchy3"/>
    <dgm:cxn modelId="{7BD65204-331D-4888-BAD2-6A858616C53D}" srcId="{12481014-6F70-49A1-A442-9DB20EF27A7D}" destId="{CAE0C22D-2C14-44EB-95C0-D4134BA66472}" srcOrd="0" destOrd="0" parTransId="{1ABA5B62-2364-46D4-AE63-49D069B457B9}" sibTransId="{D7D99440-7B2D-4C5D-885A-5F97810FD0EA}"/>
    <dgm:cxn modelId="{F379C719-4542-4C50-BB5F-5983F287325D}" type="presOf" srcId="{355AE035-743A-41C6-9B34-139899704424}" destId="{A18F5268-FAC9-4F25-8DD5-EF3A57DC7E6A}" srcOrd="0" destOrd="0" presId="urn:microsoft.com/office/officeart/2005/8/layout/hierarchy3"/>
    <dgm:cxn modelId="{7410032C-B8C2-4B1A-8827-A830B1B10C91}" srcId="{73B33971-5B93-46BB-BE76-5A02FA2BC56D}" destId="{6833C0E0-CB3C-4AD0-B643-2DCC1FA33403}" srcOrd="0" destOrd="0" parTransId="{7F0FA56D-83BB-4003-8B54-06B51A04EBFA}" sibTransId="{92246760-88C4-4616-A0AF-DF2C8A777145}"/>
    <dgm:cxn modelId="{E137D398-25DF-412E-993B-28039E8EC657}" srcId="{6833C0E0-CB3C-4AD0-B643-2DCC1FA33403}" destId="{355AE035-743A-41C6-9B34-139899704424}" srcOrd="0" destOrd="0" parTransId="{64CAFC8D-ED99-4F60-93A8-818F7BA11FB4}" sibTransId="{937B9B4E-05C0-4F60-ACD7-6CE375696254}"/>
    <dgm:cxn modelId="{21A1AB7A-07A2-4BEC-9C59-1D83BDB11859}" type="presOf" srcId="{1B8C5A6F-C786-4CA5-ACC5-6593DC82B583}" destId="{72C13344-AE2B-4414-A852-CBAA072110BD}" srcOrd="0" destOrd="0" presId="urn:microsoft.com/office/officeart/2005/8/layout/hierarchy3"/>
    <dgm:cxn modelId="{7F5B9963-DA0F-44FD-BA08-72882FA27EE3}" srcId="{6833C0E0-CB3C-4AD0-B643-2DCC1FA33403}" destId="{BA4DD809-F153-427C-95F7-D78957C74461}" srcOrd="1" destOrd="0" parTransId="{BE6D5BA7-A068-4911-8AB7-FE161846CC02}" sibTransId="{C8B6677D-140F-4BDB-B7BD-DF3461D6E063}"/>
    <dgm:cxn modelId="{567E2FA1-7589-4F72-8162-2340DFA76362}" type="presOf" srcId="{BE6D5BA7-A068-4911-8AB7-FE161846CC02}" destId="{F9C5C638-AAF6-4991-A017-DF6474890A01}" srcOrd="0" destOrd="0" presId="urn:microsoft.com/office/officeart/2005/8/layout/hierarchy3"/>
    <dgm:cxn modelId="{BFC4D7D9-95AE-46D3-8DF4-A5146C87189D}" type="presOf" srcId="{1ABA5B62-2364-46D4-AE63-49D069B457B9}" destId="{E4458631-8EB4-4E27-B654-B31A14023544}" srcOrd="0" destOrd="0" presId="urn:microsoft.com/office/officeart/2005/8/layout/hierarchy3"/>
    <dgm:cxn modelId="{EC37DA78-2C96-419B-8EBD-45E6342D9E21}" type="presOf" srcId="{6833C0E0-CB3C-4AD0-B643-2DCC1FA33403}" destId="{B0ACCC6F-6AE7-4B01-B36F-13729E5C7B7D}" srcOrd="1" destOrd="0" presId="urn:microsoft.com/office/officeart/2005/8/layout/hierarchy3"/>
    <dgm:cxn modelId="{F8F0F9E2-13A1-4795-9257-3C56C27AF984}" srcId="{12481014-6F70-49A1-A442-9DB20EF27A7D}" destId="{1B8C5A6F-C786-4CA5-ACC5-6593DC82B583}" srcOrd="1" destOrd="0" parTransId="{5B591A46-92D9-4798-A539-6C9C6CF26C0C}" sibTransId="{07F28B36-7939-4438-898C-20D62C9890B6}"/>
    <dgm:cxn modelId="{A1B4213D-60FF-4640-BA91-C83B60B8C10E}" type="presOf" srcId="{73B33971-5B93-46BB-BE76-5A02FA2BC56D}" destId="{6111F50F-0E9A-4C90-87EB-624133B1E13E}" srcOrd="0" destOrd="0" presId="urn:microsoft.com/office/officeart/2005/8/layout/hierarchy3"/>
    <dgm:cxn modelId="{60DFF8BC-AD62-44F8-BCA8-F01D07B739B2}" type="presOf" srcId="{12481014-6F70-49A1-A442-9DB20EF27A7D}" destId="{64CE80C8-0792-4E88-BCC5-2FCE36047BFD}" srcOrd="0" destOrd="0" presId="urn:microsoft.com/office/officeart/2005/8/layout/hierarchy3"/>
    <dgm:cxn modelId="{1C39A15E-61AB-486F-8260-E4F98BFD428C}" type="presOf" srcId="{CAE0C22D-2C14-44EB-95C0-D4134BA66472}" destId="{026D78CA-367E-4833-A1F5-9D3E6B38542C}" srcOrd="0" destOrd="0" presId="urn:microsoft.com/office/officeart/2005/8/layout/hierarchy3"/>
    <dgm:cxn modelId="{D86AA849-2C7B-49DA-91C5-5C95A79BD798}" srcId="{73B33971-5B93-46BB-BE76-5A02FA2BC56D}" destId="{12481014-6F70-49A1-A442-9DB20EF27A7D}" srcOrd="1" destOrd="0" parTransId="{A0C93715-2595-4378-80FA-350596A3C491}" sibTransId="{65499284-8D57-47B2-A899-FB79B1D1406E}"/>
    <dgm:cxn modelId="{41DF8FDF-24B9-49AD-99DE-717450D4E450}" type="presOf" srcId="{BA4DD809-F153-427C-95F7-D78957C74461}" destId="{A244219D-7D06-43CD-9244-F464D86CF9A5}" srcOrd="0" destOrd="0" presId="urn:microsoft.com/office/officeart/2005/8/layout/hierarchy3"/>
    <dgm:cxn modelId="{CCD2DCFB-B113-4FA8-B98E-04FF668C21A9}" type="presOf" srcId="{6833C0E0-CB3C-4AD0-B643-2DCC1FA33403}" destId="{113E2487-A181-4D76-AC35-8C9FA82464D8}" srcOrd="0" destOrd="0" presId="urn:microsoft.com/office/officeart/2005/8/layout/hierarchy3"/>
    <dgm:cxn modelId="{25DD06C0-7B43-4A73-9145-682ED6168F4D}" type="presOf" srcId="{12481014-6F70-49A1-A442-9DB20EF27A7D}" destId="{D5BBAC80-84D3-4CE0-9718-FEB6DD87D60D}" srcOrd="1" destOrd="0" presId="urn:microsoft.com/office/officeart/2005/8/layout/hierarchy3"/>
    <dgm:cxn modelId="{3D1A3E43-77DD-4385-B55A-9F2A67A26308}" type="presParOf" srcId="{6111F50F-0E9A-4C90-87EB-624133B1E13E}" destId="{5CD215D1-F1FF-409C-996B-4575F36DE438}" srcOrd="0" destOrd="0" presId="urn:microsoft.com/office/officeart/2005/8/layout/hierarchy3"/>
    <dgm:cxn modelId="{EC626DBA-4C5F-4BAC-B7A3-72948AEC2E27}" type="presParOf" srcId="{5CD215D1-F1FF-409C-996B-4575F36DE438}" destId="{95048286-99C1-45A6-B591-75DB8007FF69}" srcOrd="0" destOrd="0" presId="urn:microsoft.com/office/officeart/2005/8/layout/hierarchy3"/>
    <dgm:cxn modelId="{6F2F1778-FDEE-4EB7-859A-8ECD409F41E6}" type="presParOf" srcId="{95048286-99C1-45A6-B591-75DB8007FF69}" destId="{113E2487-A181-4D76-AC35-8C9FA82464D8}" srcOrd="0" destOrd="0" presId="urn:microsoft.com/office/officeart/2005/8/layout/hierarchy3"/>
    <dgm:cxn modelId="{23D34ED2-8DF8-471F-BF0B-616E52499BDC}" type="presParOf" srcId="{95048286-99C1-45A6-B591-75DB8007FF69}" destId="{B0ACCC6F-6AE7-4B01-B36F-13729E5C7B7D}" srcOrd="1" destOrd="0" presId="urn:microsoft.com/office/officeart/2005/8/layout/hierarchy3"/>
    <dgm:cxn modelId="{F6C995E9-A1F2-452E-A847-E9E6CD0BE950}" type="presParOf" srcId="{5CD215D1-F1FF-409C-996B-4575F36DE438}" destId="{5F8FAB12-F892-4106-9D5C-BBD97497CCB1}" srcOrd="1" destOrd="0" presId="urn:microsoft.com/office/officeart/2005/8/layout/hierarchy3"/>
    <dgm:cxn modelId="{E93BCACB-69CC-4BA0-8755-CD60BEAED419}" type="presParOf" srcId="{5F8FAB12-F892-4106-9D5C-BBD97497CCB1}" destId="{7D889237-F652-4793-92BF-9AC6BEE37656}" srcOrd="0" destOrd="0" presId="urn:microsoft.com/office/officeart/2005/8/layout/hierarchy3"/>
    <dgm:cxn modelId="{7E9BA40F-15A4-40ED-9851-EC677BB80AF4}" type="presParOf" srcId="{5F8FAB12-F892-4106-9D5C-BBD97497CCB1}" destId="{A18F5268-FAC9-4F25-8DD5-EF3A57DC7E6A}" srcOrd="1" destOrd="0" presId="urn:microsoft.com/office/officeart/2005/8/layout/hierarchy3"/>
    <dgm:cxn modelId="{56CF3F26-D047-424A-BD54-70638EDA0ABB}" type="presParOf" srcId="{5F8FAB12-F892-4106-9D5C-BBD97497CCB1}" destId="{F9C5C638-AAF6-4991-A017-DF6474890A01}" srcOrd="2" destOrd="0" presId="urn:microsoft.com/office/officeart/2005/8/layout/hierarchy3"/>
    <dgm:cxn modelId="{9A24E002-B79C-46D1-9D53-947914109843}" type="presParOf" srcId="{5F8FAB12-F892-4106-9D5C-BBD97497CCB1}" destId="{A244219D-7D06-43CD-9244-F464D86CF9A5}" srcOrd="3" destOrd="0" presId="urn:microsoft.com/office/officeart/2005/8/layout/hierarchy3"/>
    <dgm:cxn modelId="{31B79D03-5863-4FF9-B946-88A40D02C0D9}" type="presParOf" srcId="{6111F50F-0E9A-4C90-87EB-624133B1E13E}" destId="{CD780F9D-BED9-4BEE-B2CC-E0690E6571BB}" srcOrd="1" destOrd="0" presId="urn:microsoft.com/office/officeart/2005/8/layout/hierarchy3"/>
    <dgm:cxn modelId="{58F8E3AE-48B1-438C-893B-082A50DC3046}" type="presParOf" srcId="{CD780F9D-BED9-4BEE-B2CC-E0690E6571BB}" destId="{6FE55960-D0AD-46BE-8466-5BC372067F5A}" srcOrd="0" destOrd="0" presId="urn:microsoft.com/office/officeart/2005/8/layout/hierarchy3"/>
    <dgm:cxn modelId="{E9641890-1349-45AD-98E7-24DD866D803D}" type="presParOf" srcId="{6FE55960-D0AD-46BE-8466-5BC372067F5A}" destId="{64CE80C8-0792-4E88-BCC5-2FCE36047BFD}" srcOrd="0" destOrd="0" presId="urn:microsoft.com/office/officeart/2005/8/layout/hierarchy3"/>
    <dgm:cxn modelId="{1E53B3CB-C482-41D4-887B-E9BA2CC8333F}" type="presParOf" srcId="{6FE55960-D0AD-46BE-8466-5BC372067F5A}" destId="{D5BBAC80-84D3-4CE0-9718-FEB6DD87D60D}" srcOrd="1" destOrd="0" presId="urn:microsoft.com/office/officeart/2005/8/layout/hierarchy3"/>
    <dgm:cxn modelId="{6B00550F-739A-402F-A73D-4EA7666F2734}" type="presParOf" srcId="{CD780F9D-BED9-4BEE-B2CC-E0690E6571BB}" destId="{51702416-E682-41B4-95E4-A77F420729EF}" srcOrd="1" destOrd="0" presId="urn:microsoft.com/office/officeart/2005/8/layout/hierarchy3"/>
    <dgm:cxn modelId="{D297D7B9-2471-40E1-B34E-5F24C0BB8E35}" type="presParOf" srcId="{51702416-E682-41B4-95E4-A77F420729EF}" destId="{E4458631-8EB4-4E27-B654-B31A14023544}" srcOrd="0" destOrd="0" presId="urn:microsoft.com/office/officeart/2005/8/layout/hierarchy3"/>
    <dgm:cxn modelId="{B8765BFD-735D-4BE9-993A-F1BC52652028}" type="presParOf" srcId="{51702416-E682-41B4-95E4-A77F420729EF}" destId="{026D78CA-367E-4833-A1F5-9D3E6B38542C}" srcOrd="1" destOrd="0" presId="urn:microsoft.com/office/officeart/2005/8/layout/hierarchy3"/>
    <dgm:cxn modelId="{5F756B6C-A5BC-46D8-A52F-791A93AE824F}" type="presParOf" srcId="{51702416-E682-41B4-95E4-A77F420729EF}" destId="{AA000C9F-EEE0-414D-813C-5E25F3CF3271}" srcOrd="2" destOrd="0" presId="urn:microsoft.com/office/officeart/2005/8/layout/hierarchy3"/>
    <dgm:cxn modelId="{F18FC891-809C-4FBD-B500-C3BDEEC6894A}" type="presParOf" srcId="{51702416-E682-41B4-95E4-A77F420729EF}" destId="{72C13344-AE2B-4414-A852-CBAA072110BD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69859-1BB9-4A63-B184-059C3DE1375B}">
      <dsp:nvSpPr>
        <dsp:cNvPr id="0" name=""/>
        <dsp:cNvSpPr/>
      </dsp:nvSpPr>
      <dsp:spPr>
        <a:xfrm rot="5400000">
          <a:off x="-195113" y="195364"/>
          <a:ext cx="1300757" cy="91053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1</a:t>
          </a:r>
          <a:endParaRPr lang="en-US" sz="2500" kern="1200" dirty="0"/>
        </a:p>
      </dsp:txBody>
      <dsp:txXfrm rot="-5400000">
        <a:off x="1" y="455515"/>
        <a:ext cx="910530" cy="390227"/>
      </dsp:txXfrm>
    </dsp:sp>
    <dsp:sp modelId="{3159122E-FC7E-46A1-A393-2CEE0F09ACC5}">
      <dsp:nvSpPr>
        <dsp:cNvPr id="0" name=""/>
        <dsp:cNvSpPr/>
      </dsp:nvSpPr>
      <dsp:spPr>
        <a:xfrm rot="5400000">
          <a:off x="2851918" y="-1941137"/>
          <a:ext cx="845492" cy="47282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Supervised Learning</a:t>
          </a:r>
          <a:endParaRPr lang="en-US" sz="3300" kern="1200" dirty="0"/>
        </a:p>
      </dsp:txBody>
      <dsp:txXfrm rot="-5400000">
        <a:off x="910530" y="41525"/>
        <a:ext cx="4686995" cy="762944"/>
      </dsp:txXfrm>
    </dsp:sp>
    <dsp:sp modelId="{0A50271D-DB16-4AFC-8FF0-75D614DE949F}">
      <dsp:nvSpPr>
        <dsp:cNvPr id="0" name=""/>
        <dsp:cNvSpPr/>
      </dsp:nvSpPr>
      <dsp:spPr>
        <a:xfrm rot="5400000">
          <a:off x="-195113" y="1297334"/>
          <a:ext cx="1300757" cy="910530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2</a:t>
          </a:r>
          <a:endParaRPr lang="en-US" sz="2500" kern="1200" dirty="0"/>
        </a:p>
      </dsp:txBody>
      <dsp:txXfrm rot="-5400000">
        <a:off x="1" y="1557485"/>
        <a:ext cx="910530" cy="390227"/>
      </dsp:txXfrm>
    </dsp:sp>
    <dsp:sp modelId="{3E4678F7-09B7-4B14-9E4E-E2510617AE75}">
      <dsp:nvSpPr>
        <dsp:cNvPr id="0" name=""/>
        <dsp:cNvSpPr/>
      </dsp:nvSpPr>
      <dsp:spPr>
        <a:xfrm rot="5400000">
          <a:off x="2851918" y="-839167"/>
          <a:ext cx="845492" cy="47282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Unsupervised Learning</a:t>
          </a:r>
          <a:endParaRPr lang="en-US" sz="3300" kern="1200" dirty="0"/>
        </a:p>
      </dsp:txBody>
      <dsp:txXfrm rot="-5400000">
        <a:off x="910530" y="1143495"/>
        <a:ext cx="4686995" cy="762944"/>
      </dsp:txXfrm>
    </dsp:sp>
    <dsp:sp modelId="{3E7A49C3-DEB9-4683-A9DD-F1FC790DEE5D}">
      <dsp:nvSpPr>
        <dsp:cNvPr id="0" name=""/>
        <dsp:cNvSpPr/>
      </dsp:nvSpPr>
      <dsp:spPr>
        <a:xfrm rot="5400000">
          <a:off x="-195113" y="2399305"/>
          <a:ext cx="1300757" cy="910530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3</a:t>
          </a:r>
          <a:endParaRPr lang="en-US" sz="2500" kern="1200" dirty="0"/>
        </a:p>
      </dsp:txBody>
      <dsp:txXfrm rot="-5400000">
        <a:off x="1" y="2659456"/>
        <a:ext cx="910530" cy="390227"/>
      </dsp:txXfrm>
    </dsp:sp>
    <dsp:sp modelId="{25512695-CBFF-437C-B3AD-D835D440C6F4}">
      <dsp:nvSpPr>
        <dsp:cNvPr id="0" name=""/>
        <dsp:cNvSpPr/>
      </dsp:nvSpPr>
      <dsp:spPr>
        <a:xfrm rot="5400000">
          <a:off x="2851918" y="262802"/>
          <a:ext cx="845492" cy="472826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300" kern="1200" dirty="0" smtClean="0"/>
            <a:t>Reinforcement Learning</a:t>
          </a:r>
          <a:endParaRPr lang="en-US" sz="3300" kern="1200" dirty="0"/>
        </a:p>
      </dsp:txBody>
      <dsp:txXfrm rot="-5400000">
        <a:off x="910530" y="2245464"/>
        <a:ext cx="4686995" cy="762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3E2487-A181-4D76-AC35-8C9FA82464D8}">
      <dsp:nvSpPr>
        <dsp:cNvPr id="0" name=""/>
        <dsp:cNvSpPr/>
      </dsp:nvSpPr>
      <dsp:spPr>
        <a:xfrm>
          <a:off x="1673646" y="3867"/>
          <a:ext cx="2169914" cy="1084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Classification</a:t>
          </a:r>
          <a:endParaRPr lang="en-US" sz="2900" kern="1200" dirty="0"/>
        </a:p>
      </dsp:txBody>
      <dsp:txXfrm>
        <a:off x="1705423" y="35644"/>
        <a:ext cx="2106360" cy="1021403"/>
      </dsp:txXfrm>
    </dsp:sp>
    <dsp:sp modelId="{7D889237-F652-4793-92BF-9AC6BEE37656}">
      <dsp:nvSpPr>
        <dsp:cNvPr id="0" name=""/>
        <dsp:cNvSpPr/>
      </dsp:nvSpPr>
      <dsp:spPr>
        <a:xfrm>
          <a:off x="1890638" y="1088824"/>
          <a:ext cx="216991" cy="813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3717"/>
              </a:lnTo>
              <a:lnTo>
                <a:pt x="216991" y="8137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8F5268-FAC9-4F25-8DD5-EF3A57DC7E6A}">
      <dsp:nvSpPr>
        <dsp:cNvPr id="0" name=""/>
        <dsp:cNvSpPr/>
      </dsp:nvSpPr>
      <dsp:spPr>
        <a:xfrm>
          <a:off x="2107629" y="1360063"/>
          <a:ext cx="1735931" cy="10849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Logistic Regression</a:t>
          </a:r>
          <a:endParaRPr lang="en-US" sz="1900" kern="1200" dirty="0"/>
        </a:p>
      </dsp:txBody>
      <dsp:txXfrm>
        <a:off x="2139406" y="1391840"/>
        <a:ext cx="1672377" cy="1021403"/>
      </dsp:txXfrm>
    </dsp:sp>
    <dsp:sp modelId="{F9C5C638-AAF6-4991-A017-DF6474890A01}">
      <dsp:nvSpPr>
        <dsp:cNvPr id="0" name=""/>
        <dsp:cNvSpPr/>
      </dsp:nvSpPr>
      <dsp:spPr>
        <a:xfrm>
          <a:off x="1890638" y="1088824"/>
          <a:ext cx="216991" cy="25303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0353"/>
              </a:lnTo>
              <a:lnTo>
                <a:pt x="216991" y="25303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44219D-7D06-43CD-9244-F464D86CF9A5}">
      <dsp:nvSpPr>
        <dsp:cNvPr id="0" name=""/>
        <dsp:cNvSpPr/>
      </dsp:nvSpPr>
      <dsp:spPr>
        <a:xfrm>
          <a:off x="2107629" y="2716260"/>
          <a:ext cx="1735931" cy="1805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Decision Tree, </a:t>
          </a:r>
          <a:r>
            <a:rPr lang="en-US" sz="1900" kern="1200" dirty="0" smtClean="0"/>
            <a:t>K Nearest Neighbor (</a:t>
          </a:r>
          <a:r>
            <a:rPr lang="en-US" sz="1900" kern="1200" dirty="0" err="1" smtClean="0"/>
            <a:t>Knn</a:t>
          </a:r>
          <a:r>
            <a:rPr lang="en-US" sz="1900" kern="1200" dirty="0" smtClean="0"/>
            <a:t>), </a:t>
          </a:r>
          <a:endParaRPr lang="en-US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Support Vector Machine (SVM)</a:t>
          </a:r>
          <a:endParaRPr lang="en-US" sz="1900" kern="1200" dirty="0"/>
        </a:p>
      </dsp:txBody>
      <dsp:txXfrm>
        <a:off x="2158473" y="2767104"/>
        <a:ext cx="1634243" cy="1704147"/>
      </dsp:txXfrm>
    </dsp:sp>
    <dsp:sp modelId="{64CE80C8-0792-4E88-BCC5-2FCE36047BFD}">
      <dsp:nvSpPr>
        <dsp:cNvPr id="0" name=""/>
        <dsp:cNvSpPr/>
      </dsp:nvSpPr>
      <dsp:spPr>
        <a:xfrm>
          <a:off x="4386039" y="3867"/>
          <a:ext cx="2169914" cy="10849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Regression</a:t>
          </a:r>
          <a:endParaRPr lang="en-US" sz="2900" kern="1200" dirty="0"/>
        </a:p>
      </dsp:txBody>
      <dsp:txXfrm>
        <a:off x="4417816" y="35644"/>
        <a:ext cx="2106360" cy="1021403"/>
      </dsp:txXfrm>
    </dsp:sp>
    <dsp:sp modelId="{E4458631-8EB4-4E27-B654-B31A14023544}">
      <dsp:nvSpPr>
        <dsp:cNvPr id="0" name=""/>
        <dsp:cNvSpPr/>
      </dsp:nvSpPr>
      <dsp:spPr>
        <a:xfrm>
          <a:off x="4603030" y="1088824"/>
          <a:ext cx="216991" cy="813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3717"/>
              </a:lnTo>
              <a:lnTo>
                <a:pt x="216991" y="8137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D78CA-367E-4833-A1F5-9D3E6B38542C}">
      <dsp:nvSpPr>
        <dsp:cNvPr id="0" name=""/>
        <dsp:cNvSpPr/>
      </dsp:nvSpPr>
      <dsp:spPr>
        <a:xfrm>
          <a:off x="4820022" y="1360063"/>
          <a:ext cx="1735931" cy="10849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Linear</a:t>
          </a:r>
          <a:endParaRPr lang="en-US" sz="1900" kern="1200" dirty="0"/>
        </a:p>
      </dsp:txBody>
      <dsp:txXfrm>
        <a:off x="4851799" y="1391840"/>
        <a:ext cx="1672377" cy="1021403"/>
      </dsp:txXfrm>
    </dsp:sp>
    <dsp:sp modelId="{AA000C9F-EEE0-414D-813C-5E25F3CF3271}">
      <dsp:nvSpPr>
        <dsp:cNvPr id="0" name=""/>
        <dsp:cNvSpPr/>
      </dsp:nvSpPr>
      <dsp:spPr>
        <a:xfrm>
          <a:off x="4603030" y="1088824"/>
          <a:ext cx="216991" cy="21699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9914"/>
              </a:lnTo>
              <a:lnTo>
                <a:pt x="216991" y="21699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C13344-AE2B-4414-A852-CBAA072110BD}">
      <dsp:nvSpPr>
        <dsp:cNvPr id="0" name=""/>
        <dsp:cNvSpPr/>
      </dsp:nvSpPr>
      <dsp:spPr>
        <a:xfrm>
          <a:off x="4820022" y="2716260"/>
          <a:ext cx="1735931" cy="10849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Multi </a:t>
          </a:r>
          <a:r>
            <a:rPr lang="en-US" sz="1900" kern="1200" dirty="0" smtClean="0"/>
            <a:t>Variable</a:t>
          </a:r>
          <a:endParaRPr lang="en-US" sz="1900" kern="1200" dirty="0"/>
        </a:p>
      </dsp:txBody>
      <dsp:txXfrm>
        <a:off x="4851799" y="2748037"/>
        <a:ext cx="1672377" cy="10214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1F5D6-9D61-41BC-A624-9EDD7CAF5326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D18DE-CDCD-43C2-A5EB-453278C199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3429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 to Data Science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Unit-VI</a:t>
            </a:r>
            <a:br>
              <a:rPr lang="en-US" dirty="0" smtClean="0"/>
            </a:br>
            <a:r>
              <a:rPr lang="en-IN" b="1" dirty="0"/>
              <a:t>Basic Machine </a:t>
            </a:r>
            <a:r>
              <a:rPr lang="en-IN" b="1" dirty="0" smtClean="0"/>
              <a:t>Learning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" name="Picture 2" descr="https://snist.sreenidhi.edu.in/login-form/images/sreenidhi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7290" y="4071942"/>
            <a:ext cx="6394450" cy="108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2600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rgbClr val="7030A0"/>
                </a:solidFill>
              </a:rPr>
              <a:t>Syllabus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Basic Machine Learning: </a:t>
            </a:r>
          </a:p>
          <a:p>
            <a:r>
              <a:rPr lang="en-IN" dirty="0" smtClean="0"/>
              <a:t>Introduction to machine learning</a:t>
            </a:r>
          </a:p>
          <a:p>
            <a:r>
              <a:rPr lang="en-IN" dirty="0" smtClean="0"/>
              <a:t>Types of machine learning:</a:t>
            </a:r>
            <a:endParaRPr lang="en-US" dirty="0" smtClean="0"/>
          </a:p>
          <a:p>
            <a:r>
              <a:rPr lang="en-IN" dirty="0" smtClean="0"/>
              <a:t>Supervised and unsupervised</a:t>
            </a:r>
            <a:endParaRPr lang="en-US" dirty="0" smtClean="0"/>
          </a:p>
          <a:p>
            <a:r>
              <a:rPr lang="en-IN" dirty="0" smtClean="0"/>
              <a:t>Types of Supervised learning: Classification and regression</a:t>
            </a:r>
          </a:p>
          <a:p>
            <a:r>
              <a:rPr lang="en-IN" dirty="0" smtClean="0"/>
              <a:t> Classifiers – Decision tree and </a:t>
            </a:r>
            <a:endParaRPr lang="en-US" dirty="0" smtClean="0"/>
          </a:p>
          <a:p>
            <a:pPr>
              <a:buNone/>
            </a:pPr>
            <a:r>
              <a:rPr lang="en-IN" dirty="0" smtClean="0"/>
              <a:t>      k-</a:t>
            </a:r>
            <a:r>
              <a:rPr lang="en-IN" dirty="0" err="1" smtClean="0"/>
              <a:t>NearestNeighbors</a:t>
            </a:r>
            <a:r>
              <a:rPr lang="en-IN" dirty="0" smtClean="0"/>
              <a:t> (k-NN)</a:t>
            </a:r>
            <a:endParaRPr lang="en-US" dirty="0" smtClean="0"/>
          </a:p>
          <a:p>
            <a:r>
              <a:rPr lang="en-IN" dirty="0" smtClean="0"/>
              <a:t>Types of unsupervised: Clustering k-means Association Rule mining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Things Focus in this Chapter…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Defining </a:t>
            </a:r>
            <a:r>
              <a:rPr lang="en-US" sz="2800" dirty="0"/>
              <a:t>the different types of machine learning, along with examples </a:t>
            </a:r>
            <a:r>
              <a:rPr lang="en-US" sz="2800" dirty="0" smtClean="0"/>
              <a:t>of each kind.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smtClean="0"/>
              <a:t>Areas </a:t>
            </a:r>
            <a:r>
              <a:rPr lang="en-US" sz="2800" dirty="0"/>
              <a:t>in regression, classification, and </a:t>
            </a:r>
            <a:r>
              <a:rPr lang="en-US" sz="2800" dirty="0" smtClean="0"/>
              <a:t>more What </a:t>
            </a:r>
            <a:r>
              <a:rPr lang="en-US" sz="2800" dirty="0"/>
              <a:t>is machine learning and how it is used in data </a:t>
            </a:r>
            <a:r>
              <a:rPr lang="en-US" sz="2800" dirty="0" smtClean="0"/>
              <a:t>science.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smtClean="0"/>
              <a:t> </a:t>
            </a:r>
            <a:r>
              <a:rPr lang="en-US" sz="2800" dirty="0"/>
              <a:t>The differences between machine learning and statistical modeling and </a:t>
            </a:r>
            <a:r>
              <a:rPr lang="en-US" sz="2800" dirty="0" smtClean="0"/>
              <a:t>how machine </a:t>
            </a:r>
            <a:r>
              <a:rPr lang="en-US" sz="2800" dirty="0"/>
              <a:t>learning is a broader category of the </a:t>
            </a:r>
            <a:r>
              <a:rPr lang="en-US" sz="2800" dirty="0" smtClean="0"/>
              <a:t>latter.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23994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842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What is </a:t>
            </a:r>
            <a:r>
              <a:rPr lang="en-US" sz="3200" b="1" dirty="0" smtClean="0">
                <a:solidFill>
                  <a:srgbClr val="FF0000"/>
                </a:solidFill>
              </a:rPr>
              <a:t>Machine </a:t>
            </a:r>
            <a:r>
              <a:rPr lang="en-US" sz="3200" b="1" dirty="0">
                <a:solidFill>
                  <a:srgbClr val="FF0000"/>
                </a:solidFill>
              </a:rPr>
              <a:t>L</a:t>
            </a:r>
            <a:r>
              <a:rPr lang="en-US" sz="3200" b="1" dirty="0" smtClean="0">
                <a:solidFill>
                  <a:srgbClr val="FF0000"/>
                </a:solidFill>
              </a:rPr>
              <a:t>earning</a:t>
            </a:r>
            <a:r>
              <a:rPr lang="en-US" sz="3200" b="1" dirty="0">
                <a:solidFill>
                  <a:srgbClr val="FF0000"/>
                </a:solidFill>
              </a:rPr>
              <a:t>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smtClean="0"/>
              <a:t>Machine </a:t>
            </a:r>
            <a:r>
              <a:rPr lang="en-US" sz="2800" dirty="0"/>
              <a:t>learning as giving c</a:t>
            </a:r>
            <a:r>
              <a:rPr lang="en-US" sz="2800" b="1" u="sng" dirty="0"/>
              <a:t>omputers the ability to learn</a:t>
            </a:r>
            <a:r>
              <a:rPr lang="en-US" sz="2800" dirty="0"/>
              <a:t> </a:t>
            </a:r>
            <a:r>
              <a:rPr lang="en-US" sz="2800" dirty="0" smtClean="0"/>
              <a:t>from data </a:t>
            </a:r>
            <a:r>
              <a:rPr lang="en-US" sz="2800" u="sng" dirty="0"/>
              <a:t>without</a:t>
            </a:r>
            <a:r>
              <a:rPr lang="en-US" sz="2800" dirty="0"/>
              <a:t> being given explicit </a:t>
            </a:r>
            <a:r>
              <a:rPr lang="en-US" sz="2800" i="1" dirty="0"/>
              <a:t>rules </a:t>
            </a:r>
            <a:r>
              <a:rPr lang="en-US" sz="2800" dirty="0"/>
              <a:t>by a programmer. 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This </a:t>
            </a:r>
            <a:r>
              <a:rPr lang="en-US" sz="2800" dirty="0"/>
              <a:t>definition still </a:t>
            </a:r>
            <a:r>
              <a:rPr lang="en-US" sz="2800" dirty="0" smtClean="0"/>
              <a:t>holds true</a:t>
            </a:r>
            <a:r>
              <a:rPr lang="en-US" sz="2800" dirty="0"/>
              <a:t>. Machine learning is concerned with the ability to ascertain certain </a:t>
            </a:r>
            <a:r>
              <a:rPr lang="en-US" sz="2800" dirty="0" smtClean="0"/>
              <a:t>patterns (signals</a:t>
            </a:r>
            <a:r>
              <a:rPr lang="en-US" sz="2800" dirty="0"/>
              <a:t>) out of data, even if the data has inherent errors in it (noise</a:t>
            </a:r>
            <a:r>
              <a:rPr lang="en-US" sz="2800" dirty="0" smtClean="0"/>
              <a:t>).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/>
              <a:t>Machine learning models are </a:t>
            </a:r>
            <a:r>
              <a:rPr lang="en-US" sz="2800" u="sng" dirty="0"/>
              <a:t>able to learn from data without the explicit help of a human</a:t>
            </a:r>
            <a:r>
              <a:rPr lang="en-US" sz="2800" dirty="0"/>
              <a:t>. That is the main difference between </a:t>
            </a:r>
            <a:r>
              <a:rPr lang="en-US" sz="2800" dirty="0">
                <a:solidFill>
                  <a:srgbClr val="7030A0"/>
                </a:solidFill>
              </a:rPr>
              <a:t>machine learning models and </a:t>
            </a:r>
            <a:r>
              <a:rPr lang="en-US" sz="2800" i="1" dirty="0">
                <a:solidFill>
                  <a:srgbClr val="7030A0"/>
                </a:solidFill>
              </a:rPr>
              <a:t>classical algorithms</a:t>
            </a:r>
            <a:r>
              <a:rPr lang="en-US" sz="2800" dirty="0">
                <a:solidFill>
                  <a:srgbClr val="7030A0"/>
                </a:solidFill>
              </a:rPr>
              <a:t>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44200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algn="just"/>
            <a:r>
              <a:rPr lang="en-US" sz="2600" dirty="0" smtClean="0">
                <a:solidFill>
                  <a:srgbClr val="7030A0"/>
                </a:solidFill>
              </a:rPr>
              <a:t>Classical </a:t>
            </a:r>
            <a:r>
              <a:rPr lang="en-US" sz="2600" dirty="0">
                <a:solidFill>
                  <a:srgbClr val="7030A0"/>
                </a:solidFill>
              </a:rPr>
              <a:t>algorithms </a:t>
            </a:r>
            <a:r>
              <a:rPr lang="en-US" sz="2600" dirty="0"/>
              <a:t>are told how to find the </a:t>
            </a:r>
            <a:r>
              <a:rPr lang="en-US" sz="2600" b="1" u="sng" dirty="0"/>
              <a:t>best answer in a </a:t>
            </a:r>
            <a:r>
              <a:rPr lang="en-US" sz="2600" b="1" u="sng" dirty="0" smtClean="0"/>
              <a:t>complex system </a:t>
            </a:r>
            <a:r>
              <a:rPr lang="en-US" sz="2600" dirty="0"/>
              <a:t>and the algorithm then searches for these </a:t>
            </a:r>
            <a:r>
              <a:rPr lang="en-US" sz="2600" i="1" dirty="0"/>
              <a:t>best solutions </a:t>
            </a:r>
            <a:r>
              <a:rPr lang="en-US" sz="2600" dirty="0"/>
              <a:t>and often </a:t>
            </a:r>
            <a:r>
              <a:rPr lang="en-US" sz="2600" dirty="0" smtClean="0"/>
              <a:t>works faster </a:t>
            </a:r>
            <a:r>
              <a:rPr lang="en-US" sz="2600" dirty="0"/>
              <a:t>and more efficiently than a human</a:t>
            </a:r>
            <a:r>
              <a:rPr lang="en-US" sz="2600" dirty="0" smtClean="0"/>
              <a:t>.</a:t>
            </a:r>
          </a:p>
          <a:p>
            <a:pPr algn="just"/>
            <a:r>
              <a:rPr lang="en-US" sz="2600" dirty="0" smtClean="0"/>
              <a:t>In </a:t>
            </a:r>
            <a:r>
              <a:rPr lang="en-US" sz="2600" dirty="0">
                <a:solidFill>
                  <a:srgbClr val="7030A0"/>
                </a:solidFill>
              </a:rPr>
              <a:t>machine learning</a:t>
            </a:r>
            <a:r>
              <a:rPr lang="en-US" sz="2600" dirty="0"/>
              <a:t>, </a:t>
            </a:r>
            <a:r>
              <a:rPr lang="en-US" sz="2600" b="1" u="sng" dirty="0"/>
              <a:t>the model </a:t>
            </a:r>
            <a:r>
              <a:rPr lang="en-US" sz="2600" b="1" u="sng" dirty="0" smtClean="0"/>
              <a:t>is not </a:t>
            </a:r>
            <a:r>
              <a:rPr lang="en-US" sz="2600" b="1" u="sng" dirty="0"/>
              <a:t>told the best solution and instead, is given several examples of the problem </a:t>
            </a:r>
            <a:r>
              <a:rPr lang="en-US" sz="2600" b="1" u="sng" dirty="0" smtClean="0"/>
              <a:t>and is </a:t>
            </a:r>
            <a:r>
              <a:rPr lang="en-US" sz="2600" b="1" u="sng" dirty="0"/>
              <a:t>told</a:t>
            </a:r>
            <a:r>
              <a:rPr lang="en-US" sz="2600" dirty="0"/>
              <a:t>, </a:t>
            </a:r>
            <a:r>
              <a:rPr lang="en-US" sz="2600" i="1" dirty="0"/>
              <a:t>figure out the best </a:t>
            </a:r>
            <a:r>
              <a:rPr lang="en-US" sz="2600" i="1" dirty="0" smtClean="0"/>
              <a:t>solution.</a:t>
            </a:r>
          </a:p>
          <a:p>
            <a:pPr algn="just"/>
            <a:endParaRPr lang="en-US" sz="2600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3505200"/>
            <a:ext cx="7620000" cy="307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8287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960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Machine learning is </a:t>
            </a:r>
            <a:r>
              <a:rPr lang="en-US" b="1" u="sng" dirty="0"/>
              <a:t>just another tool </a:t>
            </a:r>
            <a:r>
              <a:rPr lang="en-US" dirty="0"/>
              <a:t>in the tool belt of a data scientist. It is on </a:t>
            </a:r>
            <a:r>
              <a:rPr lang="en-US" dirty="0" smtClean="0"/>
              <a:t>the same </a:t>
            </a:r>
            <a:r>
              <a:rPr lang="en-US" dirty="0"/>
              <a:t>level as statistical tests (chi-square or t-tests) or uses base </a:t>
            </a:r>
            <a:r>
              <a:rPr lang="en-US" dirty="0" smtClean="0"/>
              <a:t>probability/statistics to </a:t>
            </a:r>
            <a:r>
              <a:rPr lang="en-US" dirty="0"/>
              <a:t>estimate </a:t>
            </a:r>
            <a:r>
              <a:rPr lang="en-US" dirty="0" smtClean="0"/>
              <a:t>population parameters.</a:t>
            </a:r>
          </a:p>
          <a:p>
            <a:endParaRPr lang="en-US" dirty="0" smtClean="0"/>
          </a:p>
          <a:p>
            <a:pPr algn="just"/>
            <a:r>
              <a:rPr lang="en-US" dirty="0"/>
              <a:t>Machine learning is a </a:t>
            </a:r>
            <a:r>
              <a:rPr lang="en-US" b="1" u="sng" dirty="0"/>
              <a:t>game of correlations and </a:t>
            </a:r>
            <a:r>
              <a:rPr lang="en-US" b="1" u="sng" dirty="0" smtClean="0"/>
              <a:t>relationships</a:t>
            </a:r>
            <a:r>
              <a:rPr lang="en-US" b="1" u="sng" dirty="0"/>
              <a:t>. </a:t>
            </a:r>
            <a:endParaRPr lang="en-US" b="1" u="sng" dirty="0" smtClean="0"/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Most </a:t>
            </a:r>
            <a:r>
              <a:rPr lang="en-US" dirty="0"/>
              <a:t>machine </a:t>
            </a:r>
            <a:r>
              <a:rPr lang="en-US" dirty="0" smtClean="0"/>
              <a:t>learning algorithms </a:t>
            </a:r>
            <a:r>
              <a:rPr lang="en-US" dirty="0"/>
              <a:t>in existence are concerned with finding and/or exploiting </a:t>
            </a:r>
            <a:r>
              <a:rPr lang="en-US" b="1" u="sng" dirty="0" smtClean="0"/>
              <a:t>relationships between </a:t>
            </a:r>
            <a:r>
              <a:rPr lang="en-US" b="1" u="sng" dirty="0"/>
              <a:t>datasets</a:t>
            </a:r>
            <a:r>
              <a:rPr lang="en-US" dirty="0"/>
              <a:t> (often represented as columns in a Pandas </a:t>
            </a:r>
            <a:r>
              <a:rPr lang="en-US" dirty="0" smtClean="0"/>
              <a:t>Data-frame</a:t>
            </a:r>
            <a:r>
              <a:rPr lang="en-US" dirty="0"/>
              <a:t>).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i="1" dirty="0" smtClean="0"/>
              <a:t>Once machine learning </a:t>
            </a:r>
            <a:r>
              <a:rPr lang="en-US" i="1" dirty="0"/>
              <a:t>algorithms can pinpoint on certain correlations, the model </a:t>
            </a:r>
            <a:r>
              <a:rPr lang="en-US" i="1" dirty="0" smtClean="0"/>
              <a:t>can either </a:t>
            </a:r>
            <a:r>
              <a:rPr lang="en-US" i="1" dirty="0"/>
              <a:t>use these relationships to predict future observations or generalize the data </a:t>
            </a:r>
            <a:r>
              <a:rPr lang="en-US" i="1" dirty="0" smtClean="0"/>
              <a:t>to reveal </a:t>
            </a:r>
            <a:r>
              <a:rPr lang="en-US" i="1" dirty="0"/>
              <a:t>interesting patterns.</a:t>
            </a:r>
          </a:p>
        </p:txBody>
      </p:sp>
    </p:spTree>
    <p:extLst>
      <p:ext uri="{BB962C8B-B14F-4D97-AF65-F5344CB8AC3E}">
        <p14:creationId xmlns:p14="http://schemas.microsoft.com/office/powerpoint/2010/main" xmlns="" val="62200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Assumptions for any ML algorithm</a:t>
            </a:r>
          </a:p>
          <a:p>
            <a:pPr algn="just"/>
            <a:r>
              <a:rPr lang="en-US" sz="2900" dirty="0"/>
              <a:t>The data used is, for the most part, is </a:t>
            </a:r>
            <a:r>
              <a:rPr lang="en-US" sz="2900" u="sng" dirty="0"/>
              <a:t>preprocessed and </a:t>
            </a:r>
            <a:r>
              <a:rPr lang="en-US" sz="2900" u="sng" dirty="0" smtClean="0"/>
              <a:t>cleaned</a:t>
            </a:r>
            <a:r>
              <a:rPr lang="en-US" sz="2900" dirty="0" smtClean="0"/>
              <a:t>.</a:t>
            </a:r>
          </a:p>
          <a:p>
            <a:pPr algn="just"/>
            <a:r>
              <a:rPr lang="en-US" sz="2900" dirty="0"/>
              <a:t>Almost </a:t>
            </a:r>
            <a:r>
              <a:rPr lang="en-US" sz="2900" i="1" u="sng" dirty="0"/>
              <a:t>no machine learning model </a:t>
            </a:r>
            <a:r>
              <a:rPr lang="en-US" sz="2900" i="1" u="sng" dirty="0" smtClean="0"/>
              <a:t>will tolerate </a:t>
            </a:r>
            <a:r>
              <a:rPr lang="en-US" sz="2900" i="1" u="sng" dirty="0"/>
              <a:t>dirty data</a:t>
            </a:r>
            <a:r>
              <a:rPr lang="en-US" sz="2900" dirty="0"/>
              <a:t> with </a:t>
            </a:r>
            <a:r>
              <a:rPr lang="en-US" sz="2900" dirty="0" smtClean="0"/>
              <a:t>missing values </a:t>
            </a:r>
            <a:r>
              <a:rPr lang="en-US" sz="2900" dirty="0"/>
              <a:t>or categorical values. Use dummy variables and </a:t>
            </a:r>
            <a:r>
              <a:rPr lang="en-US" sz="2900" dirty="0" smtClean="0"/>
              <a:t>filling/dropping techniques </a:t>
            </a:r>
            <a:r>
              <a:rPr lang="en-US" sz="2900" dirty="0"/>
              <a:t>to handle these discrepancies</a:t>
            </a:r>
            <a:r>
              <a:rPr lang="en-US" sz="2900" dirty="0" smtClean="0"/>
              <a:t>.</a:t>
            </a:r>
          </a:p>
          <a:p>
            <a:pPr algn="just"/>
            <a:r>
              <a:rPr lang="en-US" sz="2900" dirty="0"/>
              <a:t>Each </a:t>
            </a:r>
            <a:r>
              <a:rPr lang="en-US" sz="2900" u="sng" dirty="0"/>
              <a:t>row of a cleaned dataset </a:t>
            </a:r>
            <a:r>
              <a:rPr lang="en-US" sz="2900" dirty="0"/>
              <a:t>represents a </a:t>
            </a:r>
            <a:r>
              <a:rPr lang="en-US" sz="2900" u="sng" dirty="0"/>
              <a:t>single</a:t>
            </a:r>
            <a:r>
              <a:rPr lang="en-US" sz="2900" dirty="0"/>
              <a:t> </a:t>
            </a:r>
            <a:r>
              <a:rPr lang="en-US" sz="2900" u="sng" dirty="0"/>
              <a:t>observation</a:t>
            </a:r>
            <a:r>
              <a:rPr lang="en-US" sz="2900" dirty="0"/>
              <a:t> of </a:t>
            </a:r>
            <a:r>
              <a:rPr lang="en-US" sz="2900" dirty="0" smtClean="0"/>
              <a:t>the environment </a:t>
            </a:r>
            <a:r>
              <a:rPr lang="en-US" sz="2900" dirty="0"/>
              <a:t>we are trying to model</a:t>
            </a:r>
            <a:r>
              <a:rPr lang="en-US" sz="2900" dirty="0" smtClean="0"/>
              <a:t>.</a:t>
            </a:r>
          </a:p>
          <a:p>
            <a:pPr algn="just"/>
            <a:r>
              <a:rPr lang="en-US" sz="2900" dirty="0"/>
              <a:t>If our </a:t>
            </a:r>
            <a:r>
              <a:rPr lang="en-US" sz="2900" b="1" i="1" u="sng" dirty="0"/>
              <a:t>goal is to find relationships between variables</a:t>
            </a:r>
            <a:r>
              <a:rPr lang="en-US" sz="2900" dirty="0"/>
              <a:t>, then there is </a:t>
            </a:r>
            <a:r>
              <a:rPr lang="en-US" sz="2900" dirty="0" smtClean="0"/>
              <a:t>an assumption </a:t>
            </a:r>
            <a:r>
              <a:rPr lang="en-US" sz="2900" dirty="0"/>
              <a:t>that there is some kind of relationship between these variables</a:t>
            </a:r>
            <a:r>
              <a:rPr lang="en-US" sz="2900" dirty="0" smtClean="0"/>
              <a:t>.</a:t>
            </a:r>
          </a:p>
          <a:p>
            <a:pPr algn="just"/>
            <a:endParaRPr lang="en-US" sz="2900" dirty="0" smtClean="0"/>
          </a:p>
          <a:p>
            <a:pPr algn="just"/>
            <a:r>
              <a:rPr lang="en-US" sz="2900" i="1" dirty="0">
                <a:solidFill>
                  <a:srgbClr val="7030A0"/>
                </a:solidFill>
              </a:rPr>
              <a:t>These models are not able </a:t>
            </a:r>
            <a:r>
              <a:rPr lang="en-US" sz="2900" i="1" dirty="0" smtClean="0">
                <a:solidFill>
                  <a:srgbClr val="7030A0"/>
                </a:solidFill>
              </a:rPr>
              <a:t>to communicate </a:t>
            </a:r>
            <a:r>
              <a:rPr lang="en-US" sz="2900" i="1" dirty="0">
                <a:solidFill>
                  <a:srgbClr val="7030A0"/>
                </a:solidFill>
              </a:rPr>
              <a:t>that there might not be a relationship.</a:t>
            </a:r>
          </a:p>
        </p:txBody>
      </p:sp>
    </p:spTree>
    <p:extLst>
      <p:ext uri="{BB962C8B-B14F-4D97-AF65-F5344CB8AC3E}">
        <p14:creationId xmlns:p14="http://schemas.microsoft.com/office/powerpoint/2010/main" xmlns="" val="181228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19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500" dirty="0"/>
              <a:t>Machine learning models are generally considered </a:t>
            </a:r>
            <a:r>
              <a:rPr lang="en-US" sz="2500" b="1" u="sng" dirty="0"/>
              <a:t>semiautomatic</a:t>
            </a:r>
            <a:r>
              <a:rPr lang="en-US" sz="2500" dirty="0"/>
              <a:t>, </a:t>
            </a:r>
            <a:r>
              <a:rPr lang="en-US" sz="2500" dirty="0" smtClean="0"/>
              <a:t>which means </a:t>
            </a:r>
            <a:r>
              <a:rPr lang="en-US" sz="2500" dirty="0"/>
              <a:t>that intelligent decisions by humans are still needed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 smtClean="0"/>
          </a:p>
          <a:p>
            <a:pPr algn="just"/>
            <a:r>
              <a:rPr lang="en-US" sz="2500" dirty="0"/>
              <a:t>The machine is very smart but has a hard time putting things into </a:t>
            </a:r>
            <a:r>
              <a:rPr lang="en-US" sz="2500" u="sng" dirty="0"/>
              <a:t>context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 smtClean="0"/>
          </a:p>
          <a:p>
            <a:pPr algn="just"/>
            <a:r>
              <a:rPr lang="en-US" sz="2500" dirty="0"/>
              <a:t>Most machine learning models are </a:t>
            </a:r>
            <a:r>
              <a:rPr lang="en-US" sz="2500" u="sng" dirty="0"/>
              <a:t>sensitive to noisy data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 smtClean="0"/>
          </a:p>
          <a:p>
            <a:pPr algn="just"/>
            <a:r>
              <a:rPr lang="en-US" sz="2500" dirty="0"/>
              <a:t>This means that the models </a:t>
            </a:r>
            <a:r>
              <a:rPr lang="en-US" sz="2500" u="sng" dirty="0"/>
              <a:t>get confused </a:t>
            </a:r>
            <a:r>
              <a:rPr lang="en-US" sz="2500" dirty="0"/>
              <a:t>when you include data that </a:t>
            </a:r>
            <a:r>
              <a:rPr lang="en-US" sz="2500" dirty="0" smtClean="0"/>
              <a:t>doesn't make </a:t>
            </a:r>
            <a:r>
              <a:rPr lang="en-US" sz="2500" dirty="0"/>
              <a:t>sense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 smtClean="0"/>
          </a:p>
          <a:p>
            <a:pPr algn="just"/>
            <a:r>
              <a:rPr lang="en-US" sz="2500" i="1" dirty="0">
                <a:solidFill>
                  <a:srgbClr val="7030A0"/>
                </a:solidFill>
              </a:rPr>
              <a:t>They are all too important and often ignored by novice data scientists</a:t>
            </a:r>
          </a:p>
        </p:txBody>
      </p:sp>
    </p:spTree>
    <p:extLst>
      <p:ext uri="{BB962C8B-B14F-4D97-AF65-F5344CB8AC3E}">
        <p14:creationId xmlns:p14="http://schemas.microsoft.com/office/powerpoint/2010/main" xmlns="" val="85857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842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How does machine learning work?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However, </a:t>
            </a:r>
            <a:r>
              <a:rPr lang="en-US" sz="2600" dirty="0" smtClean="0"/>
              <a:t>in general</a:t>
            </a:r>
            <a:r>
              <a:rPr lang="en-US" sz="2600" dirty="0"/>
              <a:t>, machine learning works by taking in data, finding relationships within </a:t>
            </a:r>
            <a:r>
              <a:rPr lang="en-US" sz="2600" dirty="0" smtClean="0"/>
              <a:t>the data</a:t>
            </a:r>
            <a:r>
              <a:rPr lang="en-US" sz="2600" dirty="0"/>
              <a:t>, and giving as output what the model learned, as illustrated in the </a:t>
            </a:r>
            <a:r>
              <a:rPr lang="en-US" sz="2600" dirty="0" smtClean="0"/>
              <a:t>following diagram</a:t>
            </a:r>
            <a:r>
              <a:rPr lang="en-US" sz="2600" dirty="0"/>
              <a:t>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44958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26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Types of machine learning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dirty="0"/>
              <a:t>Branching off of the top level of machine learning, there are the </a:t>
            </a:r>
            <a:r>
              <a:rPr lang="en-US" dirty="0" smtClean="0"/>
              <a:t>following three </a:t>
            </a:r>
            <a:r>
              <a:rPr lang="en-US" dirty="0"/>
              <a:t>subsets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xmlns="" val="2528059258"/>
              </p:ext>
            </p:extLst>
          </p:nvPr>
        </p:nvGraphicFramePr>
        <p:xfrm>
          <a:off x="1905000" y="2743200"/>
          <a:ext cx="56388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64750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1. Supervised Learning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Supervised learning, as the name suggests, involves </a:t>
            </a:r>
            <a:r>
              <a:rPr lang="en-US" sz="2500" b="1" i="1" u="sng" dirty="0"/>
              <a:t>a guided learning process</a:t>
            </a:r>
            <a:r>
              <a:rPr lang="en-US" sz="2500" dirty="0"/>
              <a:t>. </a:t>
            </a:r>
          </a:p>
          <a:p>
            <a:pPr algn="just"/>
            <a:endParaRPr lang="en-US" sz="2500" dirty="0"/>
          </a:p>
          <a:p>
            <a:pPr algn="just"/>
            <a:r>
              <a:rPr lang="en-US" sz="2500" dirty="0"/>
              <a:t>The core idea behind supervised learning is to </a:t>
            </a:r>
            <a:r>
              <a:rPr lang="en-US" sz="2500" b="1" i="1" u="sng" dirty="0"/>
              <a:t>train a model using labeled data</a:t>
            </a:r>
            <a:r>
              <a:rPr lang="en-US" sz="2500" dirty="0"/>
              <a:t>, where each data point consists of input features and a corresponding output or label. </a:t>
            </a:r>
          </a:p>
          <a:p>
            <a:pPr algn="just"/>
            <a:endParaRPr lang="en-US" sz="2500" dirty="0"/>
          </a:p>
          <a:p>
            <a:pPr algn="just"/>
            <a:r>
              <a:rPr lang="en-US" sz="2500" dirty="0"/>
              <a:t>Supervised learning </a:t>
            </a:r>
            <a:r>
              <a:rPr lang="en-US" sz="2500" b="1" i="1" u="sng" dirty="0"/>
              <a:t>finds associations </a:t>
            </a:r>
            <a:r>
              <a:rPr lang="en-US" sz="2500" dirty="0"/>
              <a:t>between features of a dataset and a target variable. </a:t>
            </a:r>
            <a:endParaRPr lang="en-US" sz="2500" dirty="0" smtClean="0"/>
          </a:p>
          <a:p>
            <a:pPr algn="just"/>
            <a:endParaRPr lang="en-US" sz="2500" dirty="0" smtClean="0"/>
          </a:p>
          <a:p>
            <a:pPr algn="just"/>
            <a:r>
              <a:rPr lang="en-US" sz="2500" dirty="0"/>
              <a:t>These associations </a:t>
            </a:r>
            <a:r>
              <a:rPr lang="en-US" sz="2500" b="1" i="1" u="sng" dirty="0"/>
              <a:t>allow supervised models to make predictions based on past examples</a:t>
            </a:r>
            <a:r>
              <a:rPr lang="en-US" sz="2500" dirty="0"/>
              <a:t>.</a:t>
            </a:r>
          </a:p>
          <a:p>
            <a:pPr algn="just"/>
            <a:endParaRPr lang="en-US" sz="2500" dirty="0"/>
          </a:p>
          <a:p>
            <a:pPr algn="just"/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xmlns="" val="49221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500" dirty="0"/>
              <a:t>For example, supervised learning models might try to find the association between </a:t>
            </a:r>
            <a:r>
              <a:rPr lang="en-US" sz="2500" b="1" i="1" u="sng" dirty="0"/>
              <a:t>a person's health features</a:t>
            </a:r>
            <a:r>
              <a:rPr lang="en-US" sz="2500" dirty="0"/>
              <a:t> (heart rate, obesity level, and so on) and that person's risk of having a heart attack (the target variable).</a:t>
            </a:r>
          </a:p>
          <a:p>
            <a:pPr marL="0" indent="0" algn="just">
              <a:buNone/>
            </a:pPr>
            <a:endParaRPr lang="en-US" sz="2500" dirty="0" smtClean="0"/>
          </a:p>
          <a:p>
            <a:pPr algn="just"/>
            <a:r>
              <a:rPr lang="en-US" sz="2500" dirty="0" smtClean="0"/>
              <a:t>Supervised </a:t>
            </a:r>
            <a:r>
              <a:rPr lang="en-US" sz="2500" dirty="0"/>
              <a:t>machine learning models are often called </a:t>
            </a:r>
            <a:r>
              <a:rPr lang="en-US" sz="2500" b="1" dirty="0" smtClean="0">
                <a:solidFill>
                  <a:srgbClr val="FF0000"/>
                </a:solidFill>
              </a:rPr>
              <a:t>predictive analytics </a:t>
            </a:r>
            <a:r>
              <a:rPr lang="en-US" sz="2500" b="1" dirty="0">
                <a:solidFill>
                  <a:srgbClr val="FF0000"/>
                </a:solidFill>
              </a:rPr>
              <a:t>models</a:t>
            </a:r>
            <a:r>
              <a:rPr lang="en-US" sz="2500" dirty="0"/>
              <a:t>, named for their ability to predict the future based on the past</a:t>
            </a:r>
            <a:r>
              <a:rPr lang="en-US" sz="2500" dirty="0" smtClean="0"/>
              <a:t>.</a:t>
            </a:r>
          </a:p>
          <a:p>
            <a:pPr algn="just"/>
            <a:endParaRPr lang="en-US" sz="2500" dirty="0" smtClean="0"/>
          </a:p>
          <a:p>
            <a:pPr algn="just"/>
            <a:r>
              <a:rPr lang="en-US" sz="2500" dirty="0"/>
              <a:t>Supervised machine learning requires a certain type of data called </a:t>
            </a:r>
            <a:r>
              <a:rPr lang="en-US" sz="2500" b="1" dirty="0">
                <a:solidFill>
                  <a:srgbClr val="FF0000"/>
                </a:solidFill>
              </a:rPr>
              <a:t>labeled data</a:t>
            </a:r>
            <a:r>
              <a:rPr lang="en-US" sz="2500" dirty="0"/>
              <a:t>. </a:t>
            </a:r>
            <a:endParaRPr lang="en-US" sz="2500" dirty="0" smtClean="0"/>
          </a:p>
          <a:p>
            <a:pPr algn="just"/>
            <a:endParaRPr lang="en-US" sz="2500" dirty="0"/>
          </a:p>
          <a:p>
            <a:pPr algn="just"/>
            <a:r>
              <a:rPr lang="en-US" sz="2500" dirty="0" smtClean="0"/>
              <a:t>This means </a:t>
            </a:r>
            <a:r>
              <a:rPr lang="en-US" sz="2500" dirty="0"/>
              <a:t>that we must teach our model by giving it </a:t>
            </a:r>
            <a:r>
              <a:rPr lang="en-US" sz="2500" dirty="0">
                <a:solidFill>
                  <a:srgbClr val="FF0000"/>
                </a:solidFill>
              </a:rPr>
              <a:t>historical examples </a:t>
            </a:r>
            <a:r>
              <a:rPr lang="en-US" sz="2500" dirty="0"/>
              <a:t>that are </a:t>
            </a:r>
            <a:r>
              <a:rPr lang="en-US" sz="2500" dirty="0" smtClean="0"/>
              <a:t>labeled with </a:t>
            </a:r>
            <a:r>
              <a:rPr lang="en-US" sz="2500" dirty="0"/>
              <a:t>the correct answer.</a:t>
            </a:r>
          </a:p>
        </p:txBody>
      </p:sp>
    </p:spTree>
    <p:extLst>
      <p:ext uri="{BB962C8B-B14F-4D97-AF65-F5344CB8AC3E}">
        <p14:creationId xmlns:p14="http://schemas.microsoft.com/office/powerpoint/2010/main" xmlns="" val="232728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r>
              <a:rPr lang="en-US" dirty="0"/>
              <a:t>The predictors, which are the columns that will be used to make </a:t>
            </a:r>
            <a:r>
              <a:rPr lang="en-US" dirty="0" smtClean="0"/>
              <a:t>our prediction</a:t>
            </a:r>
            <a:r>
              <a:rPr lang="en-US" dirty="0"/>
              <a:t>.</a:t>
            </a:r>
          </a:p>
          <a:p>
            <a:r>
              <a:rPr lang="en-US" dirty="0"/>
              <a:t>These are sometimes called features, inputs, variables, and </a:t>
            </a:r>
            <a:r>
              <a:rPr lang="en-US" dirty="0" smtClean="0"/>
              <a:t>independent variables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response, which is the column that we wish to predict</a:t>
            </a:r>
            <a:r>
              <a:rPr lang="en-US" dirty="0" smtClean="0"/>
              <a:t>. This </a:t>
            </a:r>
            <a:r>
              <a:rPr lang="en-US" dirty="0"/>
              <a:t>is sometimes called outcome, label, target, and dependent variable.</a:t>
            </a:r>
          </a:p>
        </p:txBody>
      </p:sp>
    </p:spTree>
    <p:extLst>
      <p:ext uri="{BB962C8B-B14F-4D97-AF65-F5344CB8AC3E}">
        <p14:creationId xmlns:p14="http://schemas.microsoft.com/office/powerpoint/2010/main" xmlns="" val="184969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&quot;Unlocking Insights: A Deep Dive into Supervised and Unsupervised Learning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&quot;Unlocking Insights: A Deep Dive into Supervised and Unsupervised Learning&quot;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&quot;Unlocking Insights: A Deep Dive into Supervised and Unsupervised Learning&quot;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0266" y="312737"/>
            <a:ext cx="826916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438400" y="5994832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Fig. Principle of Supervised Learning 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254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842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Example – heart attack prediction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600" dirty="0"/>
              <a:t>Suppose we wish to </a:t>
            </a:r>
            <a:r>
              <a:rPr lang="en-US" sz="2600" b="1" i="1" u="sng" dirty="0"/>
              <a:t>predict</a:t>
            </a:r>
            <a:r>
              <a:rPr lang="en-US" sz="2600" dirty="0"/>
              <a:t> if someone will have a heart attack within a year. </a:t>
            </a:r>
            <a:endParaRPr lang="en-US" sz="2600" dirty="0" smtClean="0"/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To predict </a:t>
            </a:r>
            <a:r>
              <a:rPr lang="en-US" sz="2600" dirty="0"/>
              <a:t>this, we are given that person's </a:t>
            </a:r>
            <a:r>
              <a:rPr lang="en-US" sz="2600" dirty="0">
                <a:solidFill>
                  <a:srgbClr val="7030A0"/>
                </a:solidFill>
              </a:rPr>
              <a:t>cholesterol, blood pressure, height, </a:t>
            </a:r>
            <a:r>
              <a:rPr lang="en-US" sz="2600" dirty="0" smtClean="0">
                <a:solidFill>
                  <a:srgbClr val="7030A0"/>
                </a:solidFill>
              </a:rPr>
              <a:t>their smoking </a:t>
            </a:r>
            <a:r>
              <a:rPr lang="en-US" sz="2600" dirty="0">
                <a:solidFill>
                  <a:srgbClr val="7030A0"/>
                </a:solidFill>
              </a:rPr>
              <a:t>habits, and perhaps more</a:t>
            </a:r>
            <a:r>
              <a:rPr lang="en-US" sz="2600" dirty="0"/>
              <a:t>. </a:t>
            </a:r>
            <a:endParaRPr lang="en-US" sz="2600" dirty="0" smtClean="0"/>
          </a:p>
          <a:p>
            <a:pPr algn="just"/>
            <a:endParaRPr lang="en-US" sz="2600" dirty="0" smtClean="0"/>
          </a:p>
          <a:p>
            <a:pPr algn="just"/>
            <a:r>
              <a:rPr lang="en-US" sz="2600" dirty="0" smtClean="0"/>
              <a:t>From </a:t>
            </a:r>
            <a:r>
              <a:rPr lang="en-US" sz="2600" dirty="0"/>
              <a:t>this data, we must ascertain the </a:t>
            </a:r>
            <a:r>
              <a:rPr lang="en-US" sz="2600" dirty="0" smtClean="0"/>
              <a:t>likelihood of </a:t>
            </a:r>
            <a:r>
              <a:rPr lang="en-US" sz="2600" dirty="0"/>
              <a:t>a heart attack</a:t>
            </a:r>
            <a:r>
              <a:rPr lang="en-US" sz="2600" dirty="0" smtClean="0"/>
              <a:t>.</a:t>
            </a:r>
          </a:p>
          <a:p>
            <a:pPr algn="just"/>
            <a:endParaRPr lang="en-US" sz="2600" dirty="0" smtClean="0"/>
          </a:p>
          <a:p>
            <a:r>
              <a:rPr lang="en-US" sz="2800" dirty="0"/>
              <a:t>This is a supervised machine learning problem because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• </a:t>
            </a:r>
            <a:r>
              <a:rPr lang="en-US" sz="2800" dirty="0">
                <a:solidFill>
                  <a:srgbClr val="7030A0"/>
                </a:solidFill>
              </a:rPr>
              <a:t>Making a prediction </a:t>
            </a:r>
            <a:r>
              <a:rPr lang="en-US" sz="2800" dirty="0"/>
              <a:t>about someone</a:t>
            </a:r>
          </a:p>
          <a:p>
            <a:pPr marL="0" indent="0">
              <a:buNone/>
            </a:pPr>
            <a:r>
              <a:rPr lang="en-US" sz="2800" dirty="0" smtClean="0"/>
              <a:t>	• </a:t>
            </a:r>
            <a:r>
              <a:rPr lang="en-US" sz="2800" dirty="0"/>
              <a:t>Using </a:t>
            </a:r>
            <a:r>
              <a:rPr lang="en-US" sz="2800" dirty="0">
                <a:solidFill>
                  <a:srgbClr val="7030A0"/>
                </a:solidFill>
              </a:rPr>
              <a:t>historical training data </a:t>
            </a:r>
            <a:r>
              <a:rPr lang="en-US" sz="2800" dirty="0"/>
              <a:t>to find relationships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             between </a:t>
            </a:r>
            <a:r>
              <a:rPr lang="en-US" sz="2800" dirty="0"/>
              <a:t>medical variables and heart </a:t>
            </a:r>
            <a:r>
              <a:rPr lang="en-US" sz="2800" dirty="0" smtClean="0"/>
              <a:t>attacks.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104566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33400"/>
            <a:ext cx="5334000" cy="544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81200" y="6165458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Fig. Supervised Learning on Heart Attack Prediction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506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sz="2500" dirty="0"/>
              <a:t>One of the </a:t>
            </a:r>
            <a:r>
              <a:rPr lang="en-US" sz="2500" b="1" i="1" u="sng" dirty="0">
                <a:solidFill>
                  <a:srgbClr val="7030A0"/>
                </a:solidFill>
              </a:rPr>
              <a:t>biggest drawbacks </a:t>
            </a:r>
            <a:r>
              <a:rPr lang="en-US" sz="2500" dirty="0"/>
              <a:t>of supervised machine learning is that we need </a:t>
            </a:r>
            <a:r>
              <a:rPr lang="en-US" sz="2500" dirty="0" smtClean="0"/>
              <a:t>this </a:t>
            </a:r>
            <a:r>
              <a:rPr lang="en-US" sz="2500" dirty="0" smtClean="0">
                <a:solidFill>
                  <a:srgbClr val="7030A0"/>
                </a:solidFill>
              </a:rPr>
              <a:t>labeled </a:t>
            </a:r>
            <a:r>
              <a:rPr lang="en-US" sz="2500" dirty="0">
                <a:solidFill>
                  <a:srgbClr val="7030A0"/>
                </a:solidFill>
              </a:rPr>
              <a:t>data</a:t>
            </a:r>
            <a:r>
              <a:rPr lang="en-US" sz="2500" dirty="0"/>
              <a:t>, which can be </a:t>
            </a:r>
            <a:r>
              <a:rPr lang="en-US" sz="2500" dirty="0">
                <a:solidFill>
                  <a:srgbClr val="7030A0"/>
                </a:solidFill>
              </a:rPr>
              <a:t>very difficult </a:t>
            </a:r>
            <a:r>
              <a:rPr lang="en-US" sz="2500" dirty="0"/>
              <a:t>to get a hold of. </a:t>
            </a:r>
          </a:p>
          <a:p>
            <a:r>
              <a:rPr lang="en-US" sz="2500" dirty="0" smtClean="0"/>
              <a:t>Suppose </a:t>
            </a:r>
            <a:r>
              <a:rPr lang="en-US" sz="2500" dirty="0"/>
              <a:t>we wish to </a:t>
            </a:r>
            <a:r>
              <a:rPr lang="en-US" sz="2500" dirty="0" smtClean="0">
                <a:solidFill>
                  <a:srgbClr val="7030A0"/>
                </a:solidFill>
              </a:rPr>
              <a:t>predict heart </a:t>
            </a:r>
            <a:r>
              <a:rPr lang="en-US" sz="2500" dirty="0">
                <a:solidFill>
                  <a:srgbClr val="7030A0"/>
                </a:solidFill>
              </a:rPr>
              <a:t>attacks</a:t>
            </a:r>
            <a:r>
              <a:rPr lang="en-US" sz="2500" dirty="0"/>
              <a:t>, we might need thousands of patients along with all of their filled </a:t>
            </a:r>
            <a:r>
              <a:rPr lang="en-US" sz="2500" dirty="0" smtClean="0"/>
              <a:t>in </a:t>
            </a:r>
            <a:r>
              <a:rPr lang="en-US" sz="2500" dirty="0" smtClean="0">
                <a:solidFill>
                  <a:srgbClr val="7030A0"/>
                </a:solidFill>
              </a:rPr>
              <a:t>medical </a:t>
            </a:r>
            <a:r>
              <a:rPr lang="en-US" sz="2500" dirty="0">
                <a:solidFill>
                  <a:srgbClr val="7030A0"/>
                </a:solidFill>
              </a:rPr>
              <a:t>information and years' worth of follow-up records for each person, </a:t>
            </a:r>
            <a:r>
              <a:rPr lang="en-US" sz="2500" dirty="0" smtClean="0">
                <a:solidFill>
                  <a:srgbClr val="7030A0"/>
                </a:solidFill>
              </a:rPr>
              <a:t>which could </a:t>
            </a:r>
            <a:r>
              <a:rPr lang="en-US" sz="2500" dirty="0">
                <a:solidFill>
                  <a:srgbClr val="7030A0"/>
                </a:solidFill>
              </a:rPr>
              <a:t>be a nightmare to obtain.</a:t>
            </a:r>
          </a:p>
          <a:p>
            <a:r>
              <a:rPr lang="en-US" sz="2500" dirty="0">
                <a:solidFill>
                  <a:srgbClr val="FF0000"/>
                </a:solidFill>
              </a:rPr>
              <a:t>In short, supervised models use historical labeled data in order to make </a:t>
            </a:r>
            <a:r>
              <a:rPr lang="en-US" sz="2500" dirty="0" smtClean="0">
                <a:solidFill>
                  <a:srgbClr val="FF0000"/>
                </a:solidFill>
              </a:rPr>
              <a:t>predictions about </a:t>
            </a:r>
            <a:r>
              <a:rPr lang="en-US" sz="2500" dirty="0">
                <a:solidFill>
                  <a:srgbClr val="FF0000"/>
                </a:solidFill>
              </a:rPr>
              <a:t>the future. </a:t>
            </a:r>
            <a:endParaRPr lang="en-US" sz="2500" dirty="0" smtClean="0">
              <a:solidFill>
                <a:srgbClr val="FF0000"/>
              </a:solidFill>
            </a:endParaRPr>
          </a:p>
          <a:p>
            <a:r>
              <a:rPr lang="en-US" sz="2500" dirty="0" smtClean="0"/>
              <a:t>Some </a:t>
            </a:r>
            <a:r>
              <a:rPr lang="en-US" sz="2500" dirty="0"/>
              <a:t>possible applications for supervised learning include:</a:t>
            </a:r>
          </a:p>
          <a:p>
            <a:pPr marL="0" indent="0">
              <a:buNone/>
            </a:pPr>
            <a:r>
              <a:rPr lang="en-US" sz="2500" dirty="0"/>
              <a:t>• </a:t>
            </a:r>
            <a:r>
              <a:rPr lang="en-US" sz="2500" dirty="0">
                <a:solidFill>
                  <a:srgbClr val="00B0F0"/>
                </a:solidFill>
              </a:rPr>
              <a:t>Stock price predictions</a:t>
            </a:r>
          </a:p>
          <a:p>
            <a:pPr marL="0" indent="0">
              <a:buNone/>
            </a:pPr>
            <a:r>
              <a:rPr lang="en-US" sz="2500" dirty="0"/>
              <a:t>• </a:t>
            </a:r>
            <a:r>
              <a:rPr lang="en-US" sz="2500" dirty="0">
                <a:solidFill>
                  <a:srgbClr val="00B0F0"/>
                </a:solidFill>
              </a:rPr>
              <a:t>Weather predictions</a:t>
            </a:r>
          </a:p>
          <a:p>
            <a:pPr marL="0" indent="0">
              <a:buNone/>
            </a:pPr>
            <a:r>
              <a:rPr lang="en-US" sz="2500" dirty="0"/>
              <a:t>• </a:t>
            </a:r>
            <a:r>
              <a:rPr lang="en-US" sz="2500" dirty="0">
                <a:solidFill>
                  <a:srgbClr val="00B0F0"/>
                </a:solidFill>
              </a:rPr>
              <a:t>Crime predictions</a:t>
            </a:r>
          </a:p>
        </p:txBody>
      </p:sp>
    </p:spTree>
    <p:extLst>
      <p:ext uri="{BB962C8B-B14F-4D97-AF65-F5344CB8AC3E}">
        <p14:creationId xmlns:p14="http://schemas.microsoft.com/office/powerpoint/2010/main" xmlns="" val="175097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09600"/>
            <a:ext cx="5715000" cy="516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43200" y="5994832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Fig. Methodology of Supervised Learning 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620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It's not only about predictions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Supervised learning exploits the relationship between the predictors and </a:t>
            </a:r>
            <a:r>
              <a:rPr lang="en-US" sz="2400" dirty="0" smtClean="0"/>
              <a:t>the response </a:t>
            </a:r>
            <a:r>
              <a:rPr lang="en-US" sz="2400" dirty="0"/>
              <a:t>to make predictions, </a:t>
            </a:r>
            <a:r>
              <a:rPr lang="en-US" sz="2400" b="1" i="1" u="sng" dirty="0"/>
              <a:t>but sometimes, it is enough just knowing that </a:t>
            </a:r>
            <a:r>
              <a:rPr lang="en-US" sz="2400" b="1" i="1" u="sng" dirty="0" smtClean="0"/>
              <a:t>there even </a:t>
            </a:r>
            <a:r>
              <a:rPr lang="en-US" sz="2400" b="1" i="1" u="sng" dirty="0"/>
              <a:t>is a relationship. </a:t>
            </a:r>
            <a:endParaRPr lang="en-US" sz="2400" b="1" i="1" u="sng" dirty="0" smtClean="0"/>
          </a:p>
          <a:p>
            <a:r>
              <a:rPr lang="en-US" sz="2400" dirty="0" smtClean="0"/>
              <a:t>Suppose </a:t>
            </a:r>
            <a:r>
              <a:rPr lang="en-US" sz="2400" dirty="0"/>
              <a:t>we are using a supervised machine learning </a:t>
            </a:r>
            <a:r>
              <a:rPr lang="en-US" sz="2400" dirty="0" smtClean="0"/>
              <a:t>model to </a:t>
            </a:r>
            <a:r>
              <a:rPr lang="en-US" sz="2400" dirty="0"/>
              <a:t>predict whether or not a customer will purchase a given item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A possible </a:t>
            </a:r>
            <a:r>
              <a:rPr lang="en-US" sz="2400" dirty="0" smtClean="0"/>
              <a:t>dataset might </a:t>
            </a:r>
            <a:r>
              <a:rPr lang="en-US" sz="2400" dirty="0"/>
              <a:t>look as follows: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19600"/>
            <a:ext cx="7391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1796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This speaks to supervised machine learning's ability </a:t>
            </a:r>
            <a:r>
              <a:rPr lang="en-US" sz="2400" i="1" dirty="0"/>
              <a:t>to understand which </a:t>
            </a:r>
            <a:r>
              <a:rPr lang="en-US" sz="2400" i="1" dirty="0" smtClean="0">
                <a:solidFill>
                  <a:srgbClr val="7030A0"/>
                </a:solidFill>
              </a:rPr>
              <a:t>predictors affect </a:t>
            </a:r>
            <a:r>
              <a:rPr lang="en-US" sz="2400" i="1" dirty="0">
                <a:solidFill>
                  <a:srgbClr val="7030A0"/>
                </a:solidFill>
              </a:rPr>
              <a:t>the response </a:t>
            </a:r>
            <a:r>
              <a:rPr lang="en-US" sz="2400" i="1" dirty="0"/>
              <a:t>and how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For </a:t>
            </a:r>
            <a:r>
              <a:rPr lang="en-US" sz="2400" dirty="0"/>
              <a:t>example, are women more </a:t>
            </a:r>
            <a:r>
              <a:rPr lang="en-US" sz="2400" b="1" i="1" u="sng" dirty="0"/>
              <a:t>likely to buy the </a:t>
            </a:r>
            <a:r>
              <a:rPr lang="en-US" sz="2400" b="1" i="1" u="sng" dirty="0" smtClean="0"/>
              <a:t>product</a:t>
            </a:r>
            <a:r>
              <a:rPr lang="en-US" sz="2400" dirty="0" smtClean="0"/>
              <a:t>, which </a:t>
            </a:r>
            <a:r>
              <a:rPr lang="en-US" sz="2400" dirty="0"/>
              <a:t>age groups are prone to </a:t>
            </a:r>
            <a:r>
              <a:rPr lang="en-US" sz="2400" b="1" u="sng" dirty="0"/>
              <a:t>decline the product</a:t>
            </a:r>
            <a:r>
              <a:rPr lang="en-US" sz="2400" dirty="0"/>
              <a:t>, is there a combination of age </a:t>
            </a:r>
            <a:r>
              <a:rPr lang="en-US" sz="2400" dirty="0" smtClean="0"/>
              <a:t>and gender </a:t>
            </a:r>
            <a:r>
              <a:rPr lang="en-US" sz="2400" dirty="0"/>
              <a:t>that is a better predictor than any one column on its own?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i="1" dirty="0" smtClean="0"/>
              <a:t>As </a:t>
            </a:r>
            <a:r>
              <a:rPr lang="en-US" sz="2400" i="1" dirty="0"/>
              <a:t>someone's </a:t>
            </a:r>
            <a:r>
              <a:rPr lang="en-US" sz="2400" i="1" dirty="0" smtClean="0"/>
              <a:t>age increases</a:t>
            </a:r>
            <a:r>
              <a:rPr lang="en-US" sz="2400" i="1" dirty="0"/>
              <a:t>, do their chances of buying the product go up, down, or stay the same</a:t>
            </a:r>
            <a:r>
              <a:rPr lang="en-US" sz="2400" i="1" dirty="0" smtClean="0"/>
              <a:t>?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0197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Types of </a:t>
            </a:r>
            <a:r>
              <a:rPr lang="en-US" sz="3200" b="1" dirty="0" smtClean="0">
                <a:solidFill>
                  <a:srgbClr val="7030A0"/>
                </a:solidFill>
              </a:rPr>
              <a:t>Supervised </a:t>
            </a:r>
            <a:r>
              <a:rPr lang="en-US" sz="3200" b="1" dirty="0">
                <a:solidFill>
                  <a:srgbClr val="7030A0"/>
                </a:solidFill>
              </a:rPr>
              <a:t>L</a:t>
            </a:r>
            <a:r>
              <a:rPr lang="en-US" sz="3200" b="1" dirty="0" smtClean="0">
                <a:solidFill>
                  <a:srgbClr val="7030A0"/>
                </a:solidFill>
              </a:rPr>
              <a:t>earning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sz="2500" dirty="0"/>
              <a:t>There are, in general, two types of supervised learning models: </a:t>
            </a:r>
            <a:r>
              <a:rPr lang="en-US" sz="2500" b="1" dirty="0">
                <a:solidFill>
                  <a:srgbClr val="7030A0"/>
                </a:solidFill>
              </a:rPr>
              <a:t>regression</a:t>
            </a:r>
            <a:r>
              <a:rPr lang="en-US" sz="2500" b="1" dirty="0"/>
              <a:t> </a:t>
            </a:r>
            <a:r>
              <a:rPr lang="en-US" sz="2500" dirty="0" smtClean="0"/>
              <a:t>and </a:t>
            </a:r>
            <a:r>
              <a:rPr lang="en-US" sz="2500" b="1" dirty="0" smtClean="0">
                <a:solidFill>
                  <a:srgbClr val="7030A0"/>
                </a:solidFill>
              </a:rPr>
              <a:t>classification</a:t>
            </a:r>
            <a:r>
              <a:rPr lang="en-US" sz="2500" dirty="0" smtClean="0">
                <a:solidFill>
                  <a:srgbClr val="7030A0"/>
                </a:solidFill>
              </a:rPr>
              <a:t>.</a:t>
            </a:r>
          </a:p>
          <a:p>
            <a:r>
              <a:rPr lang="en-US" sz="2500" dirty="0" smtClean="0"/>
              <a:t> </a:t>
            </a:r>
            <a:r>
              <a:rPr lang="en-US" sz="2500" dirty="0"/>
              <a:t>The difference between the two is quite simple and lies in the </a:t>
            </a:r>
            <a:r>
              <a:rPr lang="en-US" sz="2500" b="1" u="sng" dirty="0" smtClean="0">
                <a:solidFill>
                  <a:srgbClr val="7030A0"/>
                </a:solidFill>
              </a:rPr>
              <a:t>response variable</a:t>
            </a:r>
            <a:r>
              <a:rPr lang="en-US" sz="2500" dirty="0" smtClean="0"/>
              <a:t>.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7599" y="2971799"/>
            <a:ext cx="4981575" cy="365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1899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7030A0"/>
                </a:solidFill>
              </a:rPr>
              <a:t>Regression</a:t>
            </a:r>
          </a:p>
          <a:p>
            <a:r>
              <a:rPr lang="en-US" sz="2500" dirty="0"/>
              <a:t>Regression models attempt to predict a </a:t>
            </a:r>
            <a:r>
              <a:rPr lang="en-US" sz="2500" b="1" i="1" u="sng" dirty="0"/>
              <a:t>continuous </a:t>
            </a:r>
            <a:r>
              <a:rPr lang="en-US" sz="2500" dirty="0"/>
              <a:t>response. This means that </a:t>
            </a:r>
            <a:r>
              <a:rPr lang="en-US" sz="2500" dirty="0" smtClean="0"/>
              <a:t>the response </a:t>
            </a:r>
            <a:r>
              <a:rPr lang="en-US" sz="2500" dirty="0"/>
              <a:t>can take on a </a:t>
            </a:r>
            <a:r>
              <a:rPr lang="en-US" sz="2500" b="1" i="1" u="sng" dirty="0"/>
              <a:t>range of infinite values</a:t>
            </a:r>
            <a:r>
              <a:rPr lang="en-US" sz="2500" dirty="0"/>
              <a:t>. </a:t>
            </a:r>
            <a:endParaRPr lang="en-US" sz="2500" dirty="0" smtClean="0"/>
          </a:p>
          <a:p>
            <a:r>
              <a:rPr lang="en-US" sz="2500" dirty="0" smtClean="0"/>
              <a:t>Consider </a:t>
            </a:r>
            <a:r>
              <a:rPr lang="en-US" sz="2500" dirty="0"/>
              <a:t>the following examples:</a:t>
            </a:r>
          </a:p>
          <a:p>
            <a:pPr marL="0" indent="0">
              <a:buNone/>
            </a:pPr>
            <a:r>
              <a:rPr lang="en-US" sz="2500" dirty="0" smtClean="0"/>
              <a:t>• </a:t>
            </a:r>
            <a:r>
              <a:rPr lang="en-US" sz="2500" dirty="0">
                <a:solidFill>
                  <a:srgbClr val="7030A0"/>
                </a:solidFill>
              </a:rPr>
              <a:t>Dollar amounts</a:t>
            </a:r>
          </a:p>
          <a:p>
            <a:pPr marL="0" indent="0">
              <a:buNone/>
            </a:pPr>
            <a:r>
              <a:rPr lang="en-US" sz="2500" dirty="0" smtClean="0"/>
              <a:t>	°° </a:t>
            </a:r>
            <a:r>
              <a:rPr lang="en-US" sz="2500" dirty="0"/>
              <a:t>Salary</a:t>
            </a:r>
          </a:p>
          <a:p>
            <a:pPr marL="0" indent="0">
              <a:buNone/>
            </a:pPr>
            <a:r>
              <a:rPr lang="en-US" sz="2500" dirty="0" smtClean="0"/>
              <a:t>	°° </a:t>
            </a:r>
            <a:r>
              <a:rPr lang="en-US" sz="2500" dirty="0"/>
              <a:t>Budget</a:t>
            </a:r>
          </a:p>
          <a:p>
            <a:pPr marL="0" indent="0">
              <a:buNone/>
            </a:pPr>
            <a:r>
              <a:rPr lang="en-US" sz="2500" dirty="0"/>
              <a:t>• </a:t>
            </a:r>
            <a:r>
              <a:rPr lang="en-US" sz="2500" dirty="0">
                <a:solidFill>
                  <a:srgbClr val="7030A0"/>
                </a:solidFill>
              </a:rPr>
              <a:t>Temperature</a:t>
            </a:r>
          </a:p>
          <a:p>
            <a:pPr marL="0" indent="0">
              <a:buNone/>
            </a:pPr>
            <a:r>
              <a:rPr lang="en-US" sz="2500" dirty="0"/>
              <a:t>• </a:t>
            </a:r>
            <a:r>
              <a:rPr lang="en-US" sz="2500" dirty="0">
                <a:solidFill>
                  <a:srgbClr val="7030A0"/>
                </a:solidFill>
              </a:rPr>
              <a:t>Time</a:t>
            </a:r>
          </a:p>
          <a:p>
            <a:pPr marL="0" indent="0">
              <a:buNone/>
            </a:pPr>
            <a:r>
              <a:rPr lang="en-US" sz="2500" dirty="0" smtClean="0"/>
              <a:t>	°° </a:t>
            </a:r>
            <a:r>
              <a:rPr lang="en-US" sz="2500" dirty="0"/>
              <a:t>Generally recorded in seconds or minutes</a:t>
            </a:r>
          </a:p>
        </p:txBody>
      </p:sp>
    </p:spTree>
    <p:extLst>
      <p:ext uri="{BB962C8B-B14F-4D97-AF65-F5344CB8AC3E}">
        <p14:creationId xmlns:p14="http://schemas.microsoft.com/office/powerpoint/2010/main" xmlns="" val="261499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Classification</a:t>
            </a:r>
          </a:p>
          <a:p>
            <a:pPr algn="just"/>
            <a:r>
              <a:rPr lang="en-US" sz="2400" b="1" dirty="0"/>
              <a:t>Classification </a:t>
            </a:r>
            <a:r>
              <a:rPr lang="en-US" sz="2400" dirty="0"/>
              <a:t>attempts to </a:t>
            </a:r>
            <a:r>
              <a:rPr lang="en-US" sz="2400" b="1" u="sng" dirty="0"/>
              <a:t>predict a categorical response</a:t>
            </a:r>
            <a:r>
              <a:rPr lang="en-US" sz="2400" dirty="0"/>
              <a:t>, which means that </a:t>
            </a:r>
            <a:r>
              <a:rPr lang="en-US" sz="2400" dirty="0" smtClean="0"/>
              <a:t>the </a:t>
            </a:r>
            <a:r>
              <a:rPr lang="en-US" sz="2400" u="sng" dirty="0" smtClean="0"/>
              <a:t>response </a:t>
            </a:r>
            <a:r>
              <a:rPr lang="en-US" sz="2400" u="sng" dirty="0"/>
              <a:t>only has a finite amount of choices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en-US" sz="2400" dirty="0" smtClean="0"/>
              <a:t>Examples </a:t>
            </a:r>
            <a:r>
              <a:rPr lang="en-US" sz="2400" dirty="0"/>
              <a:t>include the ones </a:t>
            </a:r>
            <a:r>
              <a:rPr lang="en-US" sz="2400" dirty="0" smtClean="0"/>
              <a:t>given as </a:t>
            </a:r>
            <a:r>
              <a:rPr lang="en-US" sz="2400" dirty="0"/>
              <a:t>follows:</a:t>
            </a:r>
          </a:p>
          <a:p>
            <a:pPr marL="0" indent="0">
              <a:buNone/>
            </a:pPr>
            <a:r>
              <a:rPr lang="sv-SE" sz="2400" dirty="0"/>
              <a:t>• </a:t>
            </a:r>
            <a:r>
              <a:rPr lang="sv-SE" sz="2400" dirty="0">
                <a:solidFill>
                  <a:srgbClr val="7030A0"/>
                </a:solidFill>
              </a:rPr>
              <a:t>Cancer grade </a:t>
            </a:r>
            <a:r>
              <a:rPr lang="sv-SE" sz="2400" dirty="0"/>
              <a:t>(1, 2, 3, 4, 5)</a:t>
            </a:r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dirty="0">
                <a:solidFill>
                  <a:srgbClr val="7030A0"/>
                </a:solidFill>
              </a:rPr>
              <a:t>True/False</a:t>
            </a:r>
            <a:r>
              <a:rPr lang="en-US" sz="2400" dirty="0"/>
              <a:t> questions, such as the following examples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"Will this person have a heart attack within a year</a:t>
            </a:r>
            <a:r>
              <a:rPr lang="en-US" sz="2400" dirty="0" smtClean="0"/>
              <a:t>?“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"Will you get this job</a:t>
            </a:r>
            <a:r>
              <a:rPr lang="en-US" sz="2400" dirty="0" smtClean="0"/>
              <a:t>?"</a:t>
            </a:r>
          </a:p>
        </p:txBody>
      </p:sp>
    </p:spTree>
    <p:extLst>
      <p:ext uri="{BB962C8B-B14F-4D97-AF65-F5344CB8AC3E}">
        <p14:creationId xmlns:p14="http://schemas.microsoft.com/office/powerpoint/2010/main" xmlns="" val="70514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</a:t>
            </a: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3657600" y="2514600"/>
            <a:ext cx="1905000" cy="1676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038600" y="3124200"/>
            <a:ext cx="1154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</a:rPr>
              <a:t>Classifier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20574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2057400" y="3048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2057400" y="3276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 flipV="1">
            <a:off x="2057400" y="3733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2514600" y="31242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</a:rPr>
              <a:t>…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914400" y="2895600"/>
            <a:ext cx="8874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</a:rPr>
              <a:t>feature</a:t>
            </a:r>
          </a:p>
          <a:p>
            <a:r>
              <a:rPr lang="en-US" sz="2000">
                <a:latin typeface="Times New Roman" pitchFamily="18" charset="0"/>
              </a:rPr>
              <a:t>values</a:t>
            </a:r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5638800" y="3276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6842125" y="3062288"/>
            <a:ext cx="1057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</a:rPr>
              <a:t>category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2514600" y="2514600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X1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2514600" y="2743200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X2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2514600" y="2971800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X3</a:t>
            </a: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2514600" y="3429000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Xn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6019800" y="289560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latin typeface="Times New Roman" pitchFamily="18" charset="0"/>
              </a:rPr>
              <a:t>Y</a:t>
            </a:r>
          </a:p>
        </p:txBody>
      </p:sp>
      <p:sp>
        <p:nvSpPr>
          <p:cNvPr id="11283" name="AutoShape 19"/>
          <p:cNvSpPr>
            <a:spLocks noChangeArrowheads="1"/>
          </p:cNvSpPr>
          <p:nvPr/>
        </p:nvSpPr>
        <p:spPr bwMode="auto">
          <a:xfrm>
            <a:off x="4267200" y="4724400"/>
            <a:ext cx="685800" cy="7620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DB</a:t>
            </a:r>
          </a:p>
        </p:txBody>
      </p:sp>
      <p:cxnSp>
        <p:nvCxnSpPr>
          <p:cNvPr id="11284" name="AutoShape 20"/>
          <p:cNvCxnSpPr>
            <a:cxnSpLocks noChangeShapeType="1"/>
            <a:stCxn id="11267" idx="4"/>
            <a:endCxn id="11283" idx="1"/>
          </p:cNvCxnSpPr>
          <p:nvPr/>
        </p:nvCxnSpPr>
        <p:spPr bwMode="auto">
          <a:xfrm>
            <a:off x="4610100" y="4191000"/>
            <a:ext cx="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</p:cxn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029200" y="4800600"/>
            <a:ext cx="24812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Times New Roman" pitchFamily="18" charset="0"/>
              </a:rPr>
              <a:t>collection of instances</a:t>
            </a:r>
            <a:br>
              <a:rPr lang="en-US" sz="2000">
                <a:latin typeface="Times New Roman" pitchFamily="18" charset="0"/>
              </a:rPr>
            </a:br>
            <a:r>
              <a:rPr lang="en-US" sz="2000">
                <a:latin typeface="Times New Roman" pitchFamily="18" charset="0"/>
              </a:rPr>
              <a:t>with known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3636" y="1428736"/>
            <a:ext cx="20002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solidFill>
                  <a:srgbClr val="7030A0"/>
                </a:solidFill>
              </a:rPr>
              <a:t>Decision Tree</a:t>
            </a:r>
          </a:p>
          <a:p>
            <a:r>
              <a:rPr lang="en-IN" sz="2000" dirty="0" smtClean="0">
                <a:solidFill>
                  <a:srgbClr val="7030A0"/>
                </a:solidFill>
              </a:rPr>
              <a:t>K-nearest neighbours (</a:t>
            </a:r>
            <a:r>
              <a:rPr lang="en-IN" sz="2000" dirty="0" err="1" smtClean="0">
                <a:solidFill>
                  <a:srgbClr val="7030A0"/>
                </a:solidFill>
              </a:rPr>
              <a:t>Knn</a:t>
            </a:r>
            <a:r>
              <a:rPr lang="en-IN" sz="2000" dirty="0" smtClean="0">
                <a:solidFill>
                  <a:srgbClr val="7030A0"/>
                </a:solidFill>
              </a:rPr>
              <a:t>)</a:t>
            </a:r>
          </a:p>
          <a:p>
            <a:r>
              <a:rPr lang="en-IN" sz="2000" dirty="0" smtClean="0">
                <a:solidFill>
                  <a:srgbClr val="7030A0"/>
                </a:solidFill>
              </a:rPr>
              <a:t>Support Vector Machine (SVM)</a:t>
            </a:r>
            <a:endParaRPr lang="en-US" sz="20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Given a photo of a face, who does this face belong to? (facial recognition) </a:t>
            </a:r>
            <a:r>
              <a:rPr lang="en-US" sz="2400" dirty="0" smtClean="0">
                <a:solidFill>
                  <a:srgbClr val="7030A0"/>
                </a:solidFill>
              </a:rPr>
              <a:t>Predict the year someone was born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	°° Note that there are many possible answers (over 100) but still finitely many more</a:t>
            </a:r>
          </a:p>
          <a:p>
            <a:r>
              <a:rPr lang="en-US" sz="2400" b="1" dirty="0" smtClean="0"/>
              <a:t>Example – </a:t>
            </a:r>
            <a:r>
              <a:rPr lang="en-US" sz="2400" b="1" dirty="0" smtClean="0">
                <a:solidFill>
                  <a:srgbClr val="7030A0"/>
                </a:solidFill>
              </a:rPr>
              <a:t>regression</a:t>
            </a:r>
            <a:endParaRPr lang="en-US" sz="2400" dirty="0">
              <a:solidFill>
                <a:srgbClr val="7030A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7518399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0362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35373956"/>
              </p:ext>
            </p:extLst>
          </p:nvPr>
        </p:nvGraphicFramePr>
        <p:xfrm>
          <a:off x="228600" y="838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42344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0803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solidFill>
                  <a:srgbClr val="7030A0"/>
                </a:solidFill>
              </a:rPr>
              <a:t>2. Unsupervised </a:t>
            </a:r>
            <a:r>
              <a:rPr lang="en-US" sz="3000" b="1" dirty="0">
                <a:solidFill>
                  <a:srgbClr val="7030A0"/>
                </a:solidFill>
              </a:rPr>
              <a:t>learning</a:t>
            </a:r>
            <a:endParaRPr lang="en-US" sz="3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334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7030A0"/>
                </a:solidFill>
              </a:rPr>
              <a:t>second type </a:t>
            </a:r>
            <a:r>
              <a:rPr lang="en-US" sz="2400" dirty="0"/>
              <a:t>of machine learning </a:t>
            </a:r>
            <a:r>
              <a:rPr lang="en-US" sz="2400" b="1" i="1" u="sng" dirty="0"/>
              <a:t>does not deal </a:t>
            </a:r>
            <a:r>
              <a:rPr lang="en-US" sz="2400" dirty="0"/>
              <a:t>with predictions but has a </a:t>
            </a:r>
            <a:r>
              <a:rPr lang="en-US" sz="2400" dirty="0" smtClean="0"/>
              <a:t>much more </a:t>
            </a:r>
            <a:r>
              <a:rPr lang="en-US" sz="2400" u="sng" dirty="0"/>
              <a:t>open </a:t>
            </a:r>
            <a:r>
              <a:rPr lang="en-US" sz="2400" u="sng" dirty="0" smtClean="0"/>
              <a:t>objective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Unsupervised </a:t>
            </a:r>
            <a:r>
              <a:rPr lang="en-US" sz="2400" dirty="0"/>
              <a:t>learning takes in a set of predictors and </a:t>
            </a:r>
            <a:r>
              <a:rPr lang="en-US" sz="2400" dirty="0" smtClean="0"/>
              <a:t>utilizes relationships </a:t>
            </a:r>
            <a:r>
              <a:rPr lang="en-US" sz="2400" dirty="0"/>
              <a:t>between the predictors in order to accomplish tasks, such as </a:t>
            </a:r>
            <a:r>
              <a:rPr lang="en-US" sz="2400" dirty="0" smtClean="0"/>
              <a:t>the following:</a:t>
            </a:r>
          </a:p>
          <a:p>
            <a:pPr algn="just"/>
            <a:endParaRPr lang="en-US" sz="2400" dirty="0" smtClean="0"/>
          </a:p>
          <a:p>
            <a:r>
              <a:rPr lang="en-US" sz="2400" dirty="0">
                <a:solidFill>
                  <a:srgbClr val="7030A0"/>
                </a:solidFill>
              </a:rPr>
              <a:t>Reducing the dimension </a:t>
            </a:r>
            <a:r>
              <a:rPr lang="en-US" sz="2400" dirty="0"/>
              <a:t>of the data by condensing variables together. (Compression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7030A0"/>
                </a:solidFill>
              </a:rPr>
              <a:t>Finding groups of observations </a:t>
            </a:r>
            <a:r>
              <a:rPr lang="en-US" sz="2400" dirty="0"/>
              <a:t>that behave similarly and grouping them together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/>
              <a:t>The first element on this list is called </a:t>
            </a:r>
            <a:r>
              <a:rPr lang="en-US" sz="2400" b="1" dirty="0">
                <a:solidFill>
                  <a:srgbClr val="FF0000"/>
                </a:solidFill>
              </a:rPr>
              <a:t>dimension reduction </a:t>
            </a:r>
            <a:r>
              <a:rPr lang="en-US" sz="2400" dirty="0"/>
              <a:t>and the second is called </a:t>
            </a:r>
            <a:r>
              <a:rPr lang="en-US" sz="2400" b="1" dirty="0">
                <a:solidFill>
                  <a:srgbClr val="FF0000"/>
                </a:solidFill>
              </a:rPr>
              <a:t>clustering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59360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Both of these are examples of unsupervised learning because they </a:t>
            </a:r>
            <a:r>
              <a:rPr lang="en-US" sz="2400" b="1" i="1" u="sng" dirty="0"/>
              <a:t>do not attempt to find a relationship </a:t>
            </a:r>
            <a:r>
              <a:rPr lang="en-US" sz="2400" dirty="0"/>
              <a:t>between predictors and a specific response and therefore are not used to make predictions of any kind.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Unsupervised </a:t>
            </a:r>
            <a:r>
              <a:rPr lang="en-US" sz="2400" dirty="0"/>
              <a:t>models, instead, are utilized to </a:t>
            </a:r>
            <a:r>
              <a:rPr lang="en-US" sz="2400" b="1" i="1" u="sng" dirty="0"/>
              <a:t>find organizations and representations </a:t>
            </a:r>
            <a:r>
              <a:rPr lang="en-US" sz="2400" dirty="0"/>
              <a:t>of the data that were previously unknown.</a:t>
            </a:r>
          </a:p>
          <a:p>
            <a:pPr algn="just"/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38650" y="3124200"/>
            <a:ext cx="4248150" cy="31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81000" y="3695143"/>
            <a:ext cx="4038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The preceding screenshot is a representation of a cluster analysis. The model </a:t>
            </a:r>
            <a:r>
              <a:rPr lang="en-US" sz="2200" dirty="0" smtClean="0"/>
              <a:t>will recognize </a:t>
            </a:r>
            <a:r>
              <a:rPr lang="en-US" sz="2200" dirty="0"/>
              <a:t>that each uniquely colored cluster of observations is similar to another </a:t>
            </a:r>
            <a:r>
              <a:rPr lang="en-US" sz="2200" dirty="0" smtClean="0"/>
              <a:t>but different </a:t>
            </a:r>
            <a:r>
              <a:rPr lang="en-US" sz="2200" dirty="0"/>
              <a:t>from the other clusters.</a:t>
            </a:r>
          </a:p>
        </p:txBody>
      </p:sp>
    </p:spTree>
    <p:extLst>
      <p:ext uri="{BB962C8B-B14F-4D97-AF65-F5344CB8AC3E}">
        <p14:creationId xmlns:p14="http://schemas.microsoft.com/office/powerpoint/2010/main" xmlns="" val="63540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04800"/>
            <a:ext cx="5257800" cy="546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8800" y="5907238"/>
            <a:ext cx="5257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 smtClean="0"/>
              <a:t>Flow of Unsupervised Machine Learning.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364783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 big advantage for unsupervised learning is that it does </a:t>
            </a:r>
            <a:r>
              <a:rPr lang="en-US" sz="2400" b="1" i="1" u="sng" dirty="0"/>
              <a:t>not require labeled data</a:t>
            </a:r>
            <a:r>
              <a:rPr lang="en-US" sz="2400" dirty="0" smtClean="0"/>
              <a:t>, which </a:t>
            </a:r>
            <a:r>
              <a:rPr lang="en-US" sz="2400" dirty="0"/>
              <a:t>means that it is much easier to get data that complies with </a:t>
            </a:r>
            <a:r>
              <a:rPr lang="en-US" sz="2400" dirty="0" smtClean="0"/>
              <a:t>unsupervised learning </a:t>
            </a:r>
            <a:r>
              <a:rPr lang="en-US" sz="2400" dirty="0"/>
              <a:t>models.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Of </a:t>
            </a:r>
            <a:r>
              <a:rPr lang="en-US" sz="2400" dirty="0"/>
              <a:t>course, a drawback to this is that we </a:t>
            </a:r>
            <a:r>
              <a:rPr lang="en-US" sz="2400" b="1" i="1" u="sng" dirty="0"/>
              <a:t>lose all predictive </a:t>
            </a:r>
            <a:r>
              <a:rPr lang="en-US" sz="2400" b="1" i="1" u="sng" dirty="0" smtClean="0"/>
              <a:t>power</a:t>
            </a:r>
            <a:r>
              <a:rPr lang="en-US" sz="2400" dirty="0" smtClean="0"/>
              <a:t> because </a:t>
            </a:r>
            <a:r>
              <a:rPr lang="en-US" sz="2400" dirty="0"/>
              <a:t>the response variable holds the information to make predictions and </a:t>
            </a:r>
            <a:r>
              <a:rPr lang="en-US" sz="2400" dirty="0" smtClean="0"/>
              <a:t>without it </a:t>
            </a:r>
            <a:r>
              <a:rPr lang="en-US" sz="2400" dirty="0"/>
              <a:t>our model will be hopeless in making any sort of predictions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/>
              <a:t>A big drawback is that it is difficult to see how well we are doing.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</a:t>
            </a:r>
            <a:r>
              <a:rPr lang="en-US" sz="2400" dirty="0"/>
              <a:t>a regression or classification problem, we can easily tell how well our models are predicting by comparing our models' answers to the actual answers.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176821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For </a:t>
            </a:r>
            <a:r>
              <a:rPr lang="en-US" sz="2400" dirty="0"/>
              <a:t>example, if </a:t>
            </a:r>
            <a:r>
              <a:rPr lang="en-US" sz="2400" dirty="0" smtClean="0"/>
              <a:t>our supervised </a:t>
            </a:r>
            <a:r>
              <a:rPr lang="en-US" sz="2400" dirty="0"/>
              <a:t>model </a:t>
            </a:r>
            <a:r>
              <a:rPr lang="en-US" sz="2400" u="sng" dirty="0"/>
              <a:t>predicts rain </a:t>
            </a:r>
            <a:r>
              <a:rPr lang="en-US" sz="2400" dirty="0"/>
              <a:t>and it is sunny outside, the model was </a:t>
            </a:r>
            <a:r>
              <a:rPr lang="en-US" sz="2400" dirty="0" smtClean="0"/>
              <a:t>incorrect. If </a:t>
            </a:r>
            <a:r>
              <a:rPr lang="en-US" sz="2400" dirty="0"/>
              <a:t>our supervised model predicts the price will go up by 1 dollar and it goes up </a:t>
            </a:r>
            <a:r>
              <a:rPr lang="en-US" sz="2400" dirty="0" smtClean="0"/>
              <a:t>by 99 </a:t>
            </a:r>
            <a:r>
              <a:rPr lang="en-US" sz="2400" dirty="0"/>
              <a:t>cents, our model was very close! </a:t>
            </a:r>
            <a:endParaRPr lang="en-US" sz="2400" dirty="0" smtClean="0"/>
          </a:p>
          <a:p>
            <a:pPr algn="just"/>
            <a:endParaRPr lang="en-US" sz="2400" dirty="0"/>
          </a:p>
          <a:p>
            <a:pPr algn="just"/>
            <a:r>
              <a:rPr lang="en-US" sz="2400" dirty="0" smtClean="0"/>
              <a:t>In </a:t>
            </a:r>
            <a:r>
              <a:rPr lang="en-US" sz="2400" b="1" i="1" u="sng" dirty="0"/>
              <a:t>supervised modeling</a:t>
            </a:r>
            <a:r>
              <a:rPr lang="en-US" sz="2400" dirty="0"/>
              <a:t>, this concept is </a:t>
            </a:r>
            <a:r>
              <a:rPr lang="en-US" sz="2400" dirty="0" smtClean="0"/>
              <a:t>foreign because </a:t>
            </a:r>
            <a:r>
              <a:rPr lang="en-US" sz="2400" dirty="0"/>
              <a:t>we have no answer to compare our models to.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b="1" i="1" u="sng" dirty="0" smtClean="0"/>
              <a:t>Unsupervised </a:t>
            </a:r>
            <a:r>
              <a:rPr lang="en-US" sz="2400" b="1" i="1" u="sng" dirty="0"/>
              <a:t>models </a:t>
            </a:r>
            <a:r>
              <a:rPr lang="en-US" sz="2400" dirty="0" smtClean="0"/>
              <a:t>are merely </a:t>
            </a:r>
            <a:r>
              <a:rPr lang="en-US" sz="2400" dirty="0"/>
              <a:t>suggesting differences and similarities, which then requires a </a:t>
            </a:r>
            <a:r>
              <a:rPr lang="en-US" sz="2400" dirty="0" smtClean="0"/>
              <a:t>human's interpretation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4050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884238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3. Reinforcement </a:t>
            </a:r>
            <a:r>
              <a:rPr lang="en-US" sz="2800" b="1" dirty="0">
                <a:solidFill>
                  <a:srgbClr val="FF0000"/>
                </a:solidFill>
              </a:rPr>
              <a:t>learning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In reinforcement learning, algorithms get to </a:t>
            </a:r>
            <a:r>
              <a:rPr lang="en-US" sz="2400" b="1" u="sng" dirty="0"/>
              <a:t>choose an action in an environment </a:t>
            </a:r>
            <a:r>
              <a:rPr lang="en-US" sz="2400" b="1" u="sng" dirty="0" smtClean="0"/>
              <a:t>and then </a:t>
            </a:r>
            <a:r>
              <a:rPr lang="en-US" sz="2400" b="1" u="sng" dirty="0"/>
              <a:t>are rewarded </a:t>
            </a:r>
            <a:r>
              <a:rPr lang="en-US" sz="2400" dirty="0"/>
              <a:t>(positively or negatively) for choosing this action. The </a:t>
            </a:r>
            <a:r>
              <a:rPr lang="en-US" sz="2400" dirty="0" smtClean="0"/>
              <a:t>algorithm then </a:t>
            </a:r>
            <a:r>
              <a:rPr lang="en-US" sz="2400" b="1" i="1" u="sng" dirty="0"/>
              <a:t>adjusts itself and modifies its strategy </a:t>
            </a:r>
            <a:r>
              <a:rPr lang="en-US" sz="2400" dirty="0"/>
              <a:t>in order to accomplish some goal, </a:t>
            </a:r>
            <a:r>
              <a:rPr lang="en-US" sz="2400" dirty="0" smtClean="0"/>
              <a:t>which is </a:t>
            </a:r>
            <a:r>
              <a:rPr lang="en-US" sz="2400" dirty="0"/>
              <a:t>usually to get more rewards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/>
              <a:t>This type of machine learning is very popular in AI-assisted game play as </a:t>
            </a:r>
            <a:r>
              <a:rPr lang="en-US" sz="2400" i="1" dirty="0">
                <a:solidFill>
                  <a:srgbClr val="7030A0"/>
                </a:solidFill>
              </a:rPr>
              <a:t>agents</a:t>
            </a:r>
            <a:r>
              <a:rPr lang="en-US" sz="2400" i="1" dirty="0"/>
              <a:t> </a:t>
            </a:r>
            <a:r>
              <a:rPr lang="en-US" sz="2400" dirty="0"/>
              <a:t>(the AI) are allowed to explore a virtual world and collect rewards and learn the best navigation techniques. </a:t>
            </a:r>
            <a:endParaRPr lang="en-US" sz="2400" dirty="0" smtClean="0"/>
          </a:p>
          <a:p>
            <a:pPr algn="just"/>
            <a:r>
              <a:rPr lang="en-US" sz="2400" b="1" i="1" u="sng" dirty="0" smtClean="0"/>
              <a:t>This </a:t>
            </a:r>
            <a:r>
              <a:rPr lang="en-US" sz="2400" b="1" i="1" u="sng" dirty="0"/>
              <a:t>model is also popular in robotics, especially in the field of self-automated machinery, including cars: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40633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It can be thought that reinforcement is </a:t>
            </a:r>
            <a:r>
              <a:rPr lang="en-US" sz="2400" b="1" i="1" u="sng" dirty="0"/>
              <a:t>similar to supervised learning</a:t>
            </a:r>
            <a:r>
              <a:rPr lang="en-US" sz="2400" dirty="0"/>
              <a:t> in that </a:t>
            </a:r>
            <a:r>
              <a:rPr lang="en-US" sz="2400" dirty="0" smtClean="0"/>
              <a:t>the agent </a:t>
            </a:r>
            <a:r>
              <a:rPr lang="en-US" sz="2400" dirty="0"/>
              <a:t>is learning from its past actions to make better moves in the future; </a:t>
            </a:r>
            <a:endParaRPr lang="en-US" sz="2400" dirty="0" smtClean="0"/>
          </a:p>
          <a:p>
            <a:pPr algn="just"/>
            <a:r>
              <a:rPr lang="en-US" sz="2400" dirty="0" smtClean="0"/>
              <a:t>however, the </a:t>
            </a:r>
            <a:r>
              <a:rPr lang="en-US" sz="2400" b="1" i="1" u="sng" dirty="0"/>
              <a:t>main difference </a:t>
            </a:r>
            <a:r>
              <a:rPr lang="en-US" sz="2400" dirty="0"/>
              <a:t>lies in the reward. The reward does not have to be tied </a:t>
            </a:r>
            <a:r>
              <a:rPr lang="en-US" sz="2400" dirty="0" smtClean="0"/>
              <a:t>in any </a:t>
            </a:r>
            <a:r>
              <a:rPr lang="en-US" sz="2400" dirty="0"/>
              <a:t>way to a "correct" or "incorrect" decision. The reward simply encourages (</a:t>
            </a:r>
            <a:r>
              <a:rPr lang="en-US" sz="2400" dirty="0" smtClean="0"/>
              <a:t>or discourages</a:t>
            </a:r>
            <a:r>
              <a:rPr lang="en-US" sz="2400" dirty="0"/>
              <a:t>) different actions.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5143500" cy="3426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62600" y="3505200"/>
            <a:ext cx="3429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Self-driving cars read in sensor input, act accordingly and are then rewarded for taking a certain action. The </a:t>
            </a:r>
            <a:r>
              <a:rPr lang="en-US" dirty="0" smtClean="0"/>
              <a:t>car then </a:t>
            </a:r>
            <a:r>
              <a:rPr lang="en-US" dirty="0"/>
              <a:t>adjusts its behavior to collect more rewards.</a:t>
            </a:r>
          </a:p>
        </p:txBody>
      </p:sp>
    </p:spTree>
    <p:extLst>
      <p:ext uri="{BB962C8B-B14F-4D97-AF65-F5344CB8AC3E}">
        <p14:creationId xmlns:p14="http://schemas.microsoft.com/office/powerpoint/2010/main" xmlns="" val="182811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Overview of the types of machine learning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229600" cy="383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3842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Supervised machine learning</a:t>
            </a:r>
            <a:r>
              <a:rPr lang="en-US" sz="3200" dirty="0">
                <a:solidFill>
                  <a:srgbClr val="7030A0"/>
                </a:solidFill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exploits relationships between </a:t>
            </a:r>
            <a:r>
              <a:rPr lang="en-US" sz="2400" dirty="0" smtClean="0"/>
              <a:t>predictors and </a:t>
            </a:r>
            <a:r>
              <a:rPr lang="en-US" sz="2400" dirty="0"/>
              <a:t>response variables to make predictions of future data observations.</a:t>
            </a:r>
          </a:p>
          <a:p>
            <a:r>
              <a:rPr lang="en-US" sz="2400" dirty="0"/>
              <a:t>Pros:</a:t>
            </a:r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It can make future predictions</a:t>
            </a:r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It can quantify relationships between predictors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                and response variables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It can show us how variables affect each other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	    and </a:t>
            </a:r>
            <a:r>
              <a:rPr lang="en-US" sz="2400" dirty="0"/>
              <a:t>how much</a:t>
            </a:r>
          </a:p>
          <a:p>
            <a:r>
              <a:rPr lang="en-US" sz="2400" dirty="0"/>
              <a:t>Cons:</a:t>
            </a:r>
          </a:p>
          <a:p>
            <a:pPr marL="0" indent="0">
              <a:buNone/>
            </a:pPr>
            <a:r>
              <a:rPr lang="en-US" sz="2400" dirty="0"/>
              <a:t>°° It requires labeled data (which can be difficult to get)</a:t>
            </a:r>
          </a:p>
        </p:txBody>
      </p:sp>
    </p:spTree>
    <p:extLst>
      <p:ext uri="{BB962C8B-B14F-4D97-AF65-F5344CB8AC3E}">
        <p14:creationId xmlns:p14="http://schemas.microsoft.com/office/powerpoint/2010/main" xmlns="" val="198845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Unsupervised machine learning: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This </a:t>
            </a:r>
            <a:r>
              <a:rPr lang="en-US" sz="2400" dirty="0"/>
              <a:t>finds similarities and </a:t>
            </a:r>
            <a:r>
              <a:rPr lang="en-US" sz="2400" dirty="0" smtClean="0"/>
              <a:t>differences between </a:t>
            </a:r>
            <a:r>
              <a:rPr lang="en-US" sz="2400" dirty="0"/>
              <a:t>data points.</a:t>
            </a:r>
          </a:p>
          <a:p>
            <a:pPr algn="just"/>
            <a:r>
              <a:rPr lang="en-US" sz="2400" dirty="0"/>
              <a:t>Pros:</a:t>
            </a:r>
          </a:p>
          <a:p>
            <a:pPr marL="0" indent="0" algn="just">
              <a:buNone/>
            </a:pPr>
            <a:r>
              <a:rPr lang="en-US" sz="2400" dirty="0"/>
              <a:t>°° It can find groups of data points that behave similarly that a </a:t>
            </a:r>
            <a:r>
              <a:rPr lang="en-US" sz="2400" dirty="0" smtClean="0"/>
              <a:t>human would </a:t>
            </a:r>
            <a:r>
              <a:rPr lang="en-US" sz="2400" dirty="0"/>
              <a:t>never have noted</a:t>
            </a:r>
          </a:p>
          <a:p>
            <a:pPr marL="0" indent="0" algn="just">
              <a:buNone/>
            </a:pPr>
            <a:r>
              <a:rPr lang="en-US" sz="2400" dirty="0"/>
              <a:t>°° It can be a preprocessing step for supervised </a:t>
            </a:r>
            <a:r>
              <a:rPr lang="en-US" sz="2400" dirty="0" smtClean="0"/>
              <a:t>learning.</a:t>
            </a:r>
          </a:p>
          <a:p>
            <a:pPr marL="0" indent="0" algn="just">
              <a:buNone/>
            </a:pPr>
            <a:r>
              <a:rPr lang="en-US" sz="2400" dirty="0" smtClean="0"/>
              <a:t>°° </a:t>
            </a:r>
            <a:r>
              <a:rPr lang="en-US" sz="2400" dirty="0"/>
              <a:t>It can use unlabeled data, which is much easier to find</a:t>
            </a:r>
          </a:p>
          <a:p>
            <a:pPr algn="just"/>
            <a:r>
              <a:rPr lang="en-US" sz="2400" dirty="0"/>
              <a:t>Cons:</a:t>
            </a:r>
          </a:p>
          <a:p>
            <a:pPr marL="0" indent="0" algn="just">
              <a:buNone/>
            </a:pPr>
            <a:r>
              <a:rPr lang="en-US" sz="2400" dirty="0"/>
              <a:t>°° It has zero predictive power</a:t>
            </a:r>
          </a:p>
          <a:p>
            <a:pPr marL="0" indent="0" algn="just">
              <a:buNone/>
            </a:pPr>
            <a:r>
              <a:rPr lang="en-US" sz="2400" dirty="0"/>
              <a:t>°° It can be hard to determine if we are on the right track</a:t>
            </a:r>
          </a:p>
          <a:p>
            <a:pPr marL="0" indent="0" algn="just">
              <a:buNone/>
            </a:pPr>
            <a:r>
              <a:rPr lang="en-US" sz="2400" dirty="0"/>
              <a:t>°° It relies much more on human interpretation</a:t>
            </a:r>
          </a:p>
        </p:txBody>
      </p:sp>
    </p:spTree>
    <p:extLst>
      <p:ext uri="{BB962C8B-B14F-4D97-AF65-F5344CB8AC3E}">
        <p14:creationId xmlns:p14="http://schemas.microsoft.com/office/powerpoint/2010/main" xmlns="" val="97968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Reinforcement learning: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211763"/>
          </a:xfrm>
        </p:spPr>
        <p:txBody>
          <a:bodyPr>
            <a:no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is reward-based learning that </a:t>
            </a:r>
            <a:r>
              <a:rPr lang="en-US" sz="2400" dirty="0" smtClean="0"/>
              <a:t>encourages agents </a:t>
            </a:r>
            <a:r>
              <a:rPr lang="en-US" sz="2400" dirty="0"/>
              <a:t>to take particular actions in their environments.</a:t>
            </a:r>
          </a:p>
          <a:p>
            <a:r>
              <a:rPr lang="en-US" sz="2400" dirty="0"/>
              <a:t>Pros:</a:t>
            </a:r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Very complicated rewards systems create very complicated </a:t>
            </a:r>
            <a:r>
              <a:rPr lang="en-US" sz="2400" dirty="0" smtClean="0"/>
              <a:t>AI systems</a:t>
            </a:r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It can learn in almost any environment, including our own Earth</a:t>
            </a:r>
          </a:p>
          <a:p>
            <a:r>
              <a:rPr lang="en-US" sz="2400" dirty="0"/>
              <a:t>Cons:</a:t>
            </a:r>
          </a:p>
          <a:p>
            <a:pPr marL="0" indent="0">
              <a:buNone/>
            </a:pPr>
            <a:r>
              <a:rPr lang="en-US" sz="2400" dirty="0" smtClean="0"/>
              <a:t>	°° </a:t>
            </a:r>
            <a:r>
              <a:rPr lang="en-US" sz="2400" dirty="0"/>
              <a:t>The agent is erratic at first and makes many terrible choices </a:t>
            </a:r>
            <a:r>
              <a:rPr lang="en-US" sz="2400" dirty="0" smtClean="0"/>
              <a:t>before realizing </a:t>
            </a:r>
            <a:r>
              <a:rPr lang="en-US" sz="2400" dirty="0"/>
              <a:t>that these choices have negative </a:t>
            </a:r>
            <a:r>
              <a:rPr lang="en-US" sz="2400" dirty="0" smtClean="0"/>
              <a:t>rewards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6970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229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For example, </a:t>
            </a:r>
            <a:r>
              <a:rPr lang="en-US" sz="2400" dirty="0"/>
              <a:t>a car might </a:t>
            </a:r>
            <a:r>
              <a:rPr lang="en-US" sz="2400" b="1" i="1" u="sng" dirty="0"/>
              <a:t>crash</a:t>
            </a:r>
            <a:r>
              <a:rPr lang="en-US" sz="2400" dirty="0"/>
              <a:t> into a wall and not know that that is not okay until the </a:t>
            </a:r>
            <a:r>
              <a:rPr lang="en-US" sz="2400" b="1" i="1" u="sng" dirty="0"/>
              <a:t>environment negatively </a:t>
            </a:r>
            <a:r>
              <a:rPr lang="en-US" sz="2400" dirty="0"/>
              <a:t>rewards it</a:t>
            </a:r>
          </a:p>
          <a:p>
            <a:pPr marL="0" indent="0">
              <a:buNone/>
            </a:pPr>
            <a:r>
              <a:rPr lang="en-US" sz="2400" dirty="0"/>
              <a:t>	°° It can take a while before the agent avoids decisions altogether</a:t>
            </a:r>
          </a:p>
          <a:p>
            <a:pPr marL="0" indent="0">
              <a:buNone/>
            </a:pPr>
            <a:r>
              <a:rPr lang="en-US" sz="2400" dirty="0"/>
              <a:t>	°° The agent might play it safe and only choose one action and be </a:t>
            </a:r>
            <a:r>
              <a:rPr lang="en-US" sz="2400" dirty="0" smtClean="0"/>
              <a:t>"</a:t>
            </a:r>
            <a:r>
              <a:rPr lang="en-US" sz="2400" dirty="0"/>
              <a:t>too afraid" to try anything else for fear of being punished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31513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8200FB-7557-42BD-9669-7CC11C88B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" y="44387"/>
            <a:ext cx="9014534" cy="6669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Based Algorithms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ecision tree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andom forest</a:t>
            </a:r>
          </a:p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based algorithms are considered to be one of the best and mostly used supervised learning methods. </a:t>
            </a:r>
          </a:p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based algorithms empower predictive models with high accuracy, stability and ease of interpretation.</a:t>
            </a:r>
          </a:p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Unlike linear models, they map non-linear relationships quite well. </a:t>
            </a:r>
          </a:p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are adaptable at solving any kind of problem at hand (classification or regression)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816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15AD9E-8212-4533-8E0E-51A4C9101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57" y="106533"/>
            <a:ext cx="8955350" cy="6640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poppins"/>
              </a:rPr>
              <a:t>Decision Tree ?</a:t>
            </a:r>
          </a:p>
          <a:p>
            <a:pPr marL="0" indent="0"/>
            <a:r>
              <a:rPr lang="en-US" sz="2400" b="0" i="0" dirty="0">
                <a:effectLst/>
                <a:latin typeface="roboto" panose="02000000000000000000" pitchFamily="2" charset="0"/>
              </a:rPr>
              <a:t>Decision tree is a type of supervised learning algorithm (having a predefined target variable) that is mostly used in classification problems. </a:t>
            </a:r>
          </a:p>
          <a:p>
            <a:pPr marL="0" indent="0"/>
            <a:r>
              <a:rPr lang="en-US" sz="2400" b="0" i="0" dirty="0">
                <a:effectLst/>
                <a:latin typeface="roboto" panose="02000000000000000000" pitchFamily="2" charset="0"/>
              </a:rPr>
              <a:t>It works for both categorical and continuous input and output variables. </a:t>
            </a:r>
          </a:p>
          <a:p>
            <a:pPr marL="0" indent="0"/>
            <a:r>
              <a:rPr lang="en-US" sz="2400" b="0" i="0" dirty="0">
                <a:effectLst/>
                <a:latin typeface="roboto" panose="02000000000000000000" pitchFamily="2" charset="0"/>
              </a:rPr>
              <a:t>In this technique, we split the population or sample into two or more homogeneous sets (or sub-populations).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F593E6A-ABC5-4E2B-B6F7-C3397F6F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99" y="3578071"/>
            <a:ext cx="5033639" cy="2667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6630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66CD18-D7E0-471B-A7B9-E50BCE6C3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1" y="177801"/>
            <a:ext cx="8921750" cy="6282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Basic terminology used with Decision trees:</a:t>
            </a: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Node: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entire population or sample and this further gets divided into two or more homogeneous sets.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Splitting: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of dividing a node into two or more sub-nodes.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sub-node splits into further sub-nodes, then it is called decision node.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Leaf/ Terminal Node: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Nodes do not split is called Leaf or Terminal node.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Pruning: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we remove sub-nodes of a decision node, this process is called pruning. You can say opposite process of splitting.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/ Sub-Tree: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sub section of entire tree is called branch or sub-tree.</a:t>
            </a:r>
          </a:p>
          <a:p>
            <a:pPr algn="just">
              <a:buFont typeface="+mj-lt"/>
              <a:buAutoNum type="arabicPeriod"/>
            </a:pP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Parent and Child Node: 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node, which is divided into sub-nodes is called parent node of sub-nodes where as sub-nodes are the child of parent node.</a:t>
            </a:r>
          </a:p>
          <a:p>
            <a:pPr marL="0" indent="0" algn="just">
              <a:buNone/>
            </a:pP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27E1B26-ECF3-4FE2-A579-EC83DACD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98" y="571480"/>
            <a:ext cx="5499101" cy="26818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000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8229600" cy="714380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solidFill>
                  <a:srgbClr val="7030A0"/>
                </a:solidFill>
              </a:rPr>
              <a:t>How does a computer build a regression tree?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dirty="0" smtClean="0"/>
              <a:t>Modern decision tree algorithms tend to use a </a:t>
            </a:r>
            <a:r>
              <a:rPr lang="en-GB" b="1" dirty="0" smtClean="0"/>
              <a:t>recursive binary splitting approach</a:t>
            </a:r>
            <a:r>
              <a:rPr lang="en-GB" dirty="0" smtClean="0"/>
              <a:t>:</a:t>
            </a:r>
          </a:p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</a:rPr>
              <a:t>1. </a:t>
            </a:r>
            <a:r>
              <a:rPr lang="en-GB" dirty="0" smtClean="0"/>
              <a:t>The process begins at the </a:t>
            </a:r>
            <a:r>
              <a:rPr lang="en-GB" b="1" u="sng" dirty="0" smtClean="0"/>
              <a:t>top of the tree</a:t>
            </a:r>
            <a:r>
              <a:rPr lang="en-GB" dirty="0" smtClean="0"/>
              <a:t>.</a:t>
            </a:r>
          </a:p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</a:rPr>
              <a:t>2. </a:t>
            </a:r>
            <a:r>
              <a:rPr lang="en-GB" dirty="0" smtClean="0"/>
              <a:t>For every feature, it will </a:t>
            </a:r>
            <a:r>
              <a:rPr lang="en-GB" b="1" u="sng" dirty="0" smtClean="0"/>
              <a:t>examine every possible split</a:t>
            </a:r>
            <a:r>
              <a:rPr lang="en-GB" dirty="0" smtClean="0"/>
              <a:t>, and choose the feature and split such that the resulting tree has the </a:t>
            </a:r>
            <a:r>
              <a:rPr lang="en-GB" b="1" i="1" u="sng" dirty="0" smtClean="0"/>
              <a:t>lowest possible mean squared error (MSE</a:t>
            </a:r>
            <a:r>
              <a:rPr lang="en-GB" dirty="0" smtClean="0"/>
              <a:t>). The algorithm makes that split.</a:t>
            </a:r>
          </a:p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</a:rPr>
              <a:t>3. </a:t>
            </a:r>
            <a:r>
              <a:rPr lang="en-GB" dirty="0" smtClean="0"/>
              <a:t>It will then </a:t>
            </a:r>
            <a:r>
              <a:rPr lang="en-GB" b="1" i="1" u="sng" dirty="0" smtClean="0"/>
              <a:t>examine</a:t>
            </a:r>
            <a:r>
              <a:rPr lang="en-GB" dirty="0" smtClean="0"/>
              <a:t> the two resulting regions, and </a:t>
            </a:r>
            <a:r>
              <a:rPr lang="en-GB" b="1" i="1" u="sng" dirty="0" smtClean="0"/>
              <a:t>again make a single split</a:t>
            </a:r>
            <a:r>
              <a:rPr lang="en-GB" dirty="0" smtClean="0"/>
              <a:t> (in one of the regions) to minimize the MSE.</a:t>
            </a:r>
          </a:p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</a:rPr>
              <a:t>4. </a:t>
            </a:r>
            <a:r>
              <a:rPr lang="en-GB" dirty="0" smtClean="0"/>
              <a:t>Keep repeating step 3 until </a:t>
            </a:r>
            <a:r>
              <a:rPr lang="en-GB" b="1" i="1" u="sng" dirty="0" smtClean="0"/>
              <a:t>a stopping criterion </a:t>
            </a:r>
            <a:r>
              <a:rPr lang="en-GB" dirty="0" smtClean="0"/>
              <a:t>is met:</a:t>
            </a:r>
          </a:p>
          <a:p>
            <a:pPr>
              <a:buNone/>
            </a:pPr>
            <a:r>
              <a:rPr lang="en-GB" dirty="0" smtClean="0"/>
              <a:t>	°° </a:t>
            </a:r>
            <a:r>
              <a:rPr lang="en-GB" b="1" i="1" u="sng" dirty="0" smtClean="0">
                <a:solidFill>
                  <a:srgbClr val="FF0000"/>
                </a:solidFill>
              </a:rPr>
              <a:t>Maximum tree depth </a:t>
            </a:r>
            <a:r>
              <a:rPr lang="en-GB" dirty="0" smtClean="0"/>
              <a:t>(maximum number of splits required to arrive </a:t>
            </a:r>
            <a:r>
              <a:rPr lang="en-US" dirty="0" smtClean="0"/>
              <a:t>at a leaf)</a:t>
            </a:r>
          </a:p>
          <a:p>
            <a:pPr>
              <a:buNone/>
            </a:pPr>
            <a:r>
              <a:rPr lang="en-GB" dirty="0" smtClean="0"/>
              <a:t>     °° </a:t>
            </a:r>
            <a:r>
              <a:rPr lang="en-GB" b="1" dirty="0" smtClean="0">
                <a:solidFill>
                  <a:srgbClr val="FF0000"/>
                </a:solidFill>
              </a:rPr>
              <a:t>Minimum number of observations in a leaf (final) node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51F6A6-0D5B-48B2-B54B-9D5BF8CB2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6200"/>
            <a:ext cx="9074150" cy="6426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333333"/>
                </a:solidFill>
                <a:effectLst/>
                <a:latin typeface="inter-bold"/>
              </a:rPr>
              <a:t>How does the Decision Tree algorithm Work?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Step-1: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Begin the tree with the root node, says S, which contains the complete dataset.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Step-2: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Find the best attribute in the dataset using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Attribute Selection Measure (ASM).</a:t>
            </a:r>
            <a:endParaRPr lang="en-US" sz="28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Step-3: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Divide the S into subsets that contains possible values for the best attributes.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Step-4: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Generate the decision tree node, which contains the best attribute.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-bold"/>
              </a:rPr>
              <a:t>Step-5: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Recursively make new decision trees using the subsets of the dataset created in step -3. Continue this process until a stage is reached where you cannot further classify the nodes and called the final node as a leaf node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inter-regular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53296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2FD6E90-D82A-42B1-89F2-E1D26753D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15" y="97654"/>
            <a:ext cx="8862134" cy="6569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solidFill>
                  <a:srgbClr val="7030A0"/>
                </a:solidFill>
                <a:effectLst/>
                <a:latin typeface="erdana"/>
              </a:rPr>
              <a:t>Attribute Selection Measures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inter-regular"/>
              </a:rPr>
              <a:t> the main issue arises that how to select the best attribute for the root node and for sub-nodes. So, to solve such problems there is a technique which is called as </a:t>
            </a:r>
            <a:r>
              <a:rPr lang="en-US" sz="2800" b="1" i="0" dirty="0">
                <a:effectLst/>
                <a:latin typeface="inter-bold"/>
              </a:rPr>
              <a:t>Attribute selection measure or ASM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inter-regular"/>
              </a:rPr>
              <a:t>two popular techniques for ASM</a:t>
            </a:r>
            <a:r>
              <a:rPr lang="en-US" sz="2800" b="1" dirty="0">
                <a:latin typeface="inter-bold"/>
              </a:rPr>
              <a:t>.</a:t>
            </a:r>
          </a:p>
          <a:p>
            <a:pPr marL="0" indent="0">
              <a:buNone/>
            </a:pPr>
            <a:endParaRPr lang="en-US" sz="2800" b="1" dirty="0">
              <a:latin typeface="inter-bold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urw-din"/>
              </a:rPr>
              <a:t>a) E</a:t>
            </a:r>
            <a:r>
              <a:rPr lang="en-US" sz="2800" b="0" i="0" dirty="0" smtClean="0">
                <a:solidFill>
                  <a:srgbClr val="FF0000"/>
                </a:solidFill>
                <a:effectLst/>
                <a:latin typeface="urw-din"/>
              </a:rPr>
              <a:t>ntropy</a:t>
            </a:r>
            <a:r>
              <a:rPr lang="en-US" sz="2800" b="0" i="0" dirty="0" smtClean="0">
                <a:effectLst/>
                <a:latin typeface="urw-din"/>
              </a:rPr>
              <a:t> </a:t>
            </a:r>
            <a:r>
              <a:rPr lang="en-US" sz="2800" b="0" i="0" dirty="0">
                <a:effectLst/>
                <a:latin typeface="urw-din"/>
              </a:rPr>
              <a:t>helps us to build an appropriate decision tree for selecting the best splitter.</a:t>
            </a:r>
          </a:p>
          <a:p>
            <a:r>
              <a:rPr lang="en-US" sz="2800" b="0" i="0" dirty="0">
                <a:effectLst/>
                <a:latin typeface="urw-din"/>
              </a:rPr>
              <a:t> Entropy can be defined as a measure of the purity of the sub split. Entropy always lies between 0 to </a:t>
            </a:r>
            <a:r>
              <a:rPr lang="en-US" sz="2800" b="0" i="0" dirty="0" smtClean="0">
                <a:effectLst/>
                <a:latin typeface="urw-din"/>
              </a:rPr>
              <a:t>1</a:t>
            </a:r>
            <a:endParaRPr lang="en-US" sz="2800" b="1" dirty="0">
              <a:latin typeface="inter-bold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9634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E8EAFE-3B5E-4BD1-88CD-91A21176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74" y="142043"/>
            <a:ext cx="8968666" cy="656059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b="1" i="0" dirty="0" smtClean="0">
                <a:solidFill>
                  <a:srgbClr val="FF0000"/>
                </a:solidFill>
                <a:effectLst/>
                <a:latin typeface="poppins"/>
              </a:rPr>
              <a:t>b) Information 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poppins"/>
              </a:rPr>
              <a:t>Gain:</a:t>
            </a:r>
          </a:p>
          <a:p>
            <a:pPr algn="just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Look at the image below and think which node can be described easily. </a:t>
            </a:r>
          </a:p>
          <a:p>
            <a:pPr algn="just"/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am sure, your answer is C because it requires less information as all values are similar.</a:t>
            </a:r>
          </a:p>
          <a:p>
            <a:pPr algn="just"/>
            <a:r>
              <a:rPr lang="en-US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other hand, B requires more information to describe it and A requires the maximum information. In other words, we can say that C is a Pure node, B is less Impure and A is more </a:t>
            </a:r>
            <a:r>
              <a:rPr lang="en-US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impure</a:t>
            </a:r>
            <a:endParaRPr lang="en-US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A3FD2A1-AE25-46E9-A8D4-E2370E8BD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949" y="4231763"/>
            <a:ext cx="4514850" cy="22383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4471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72096E-24D8-4A71-A18C-ED63B8C1D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3" y="928669"/>
            <a:ext cx="8942032" cy="4429157"/>
          </a:xfrm>
        </p:spPr>
        <p:txBody>
          <a:bodyPr>
            <a:normAutofit/>
          </a:bodyPr>
          <a:lstStyle/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Now, we can build a conclusion that less impure node requires less information to describe it.</a:t>
            </a:r>
          </a:p>
          <a:p>
            <a:r>
              <a:rPr lang="en-US" sz="28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impure node requires more information. </a:t>
            </a:r>
          </a:p>
          <a:p>
            <a:r>
              <a:rPr lang="en-US" sz="28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theory is a measure to define this degree of disorganization in a system known as Entropy. </a:t>
            </a:r>
          </a:p>
          <a:p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sample is completely homogeneous, then the entropy is zero and if the sample is an equally divided (50% – 50%), it has entropy of one.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492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ID3 Decision Tree Example</a:t>
            </a:r>
            <a:endParaRPr sz="4000">
              <a:solidFill>
                <a:srgbClr val="FF0000"/>
              </a:solidFill>
            </a:endParaRPr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97056" y="1600200"/>
            <a:ext cx="5949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1: Entropy of Full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Total samples = 14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Yes = 9, No = 5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Entropy(S) = -9/14 * log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2</a:t>
            </a:r>
            <a:r>
              <a:rPr>
                <a:latin typeface="Times New Roman" pitchFamily="18" charset="0"/>
                <a:cs typeface="Times New Roman" pitchFamily="18" charset="0"/>
              </a:rPr>
              <a:t>(9/14) - 5/14 * log</a:t>
            </a:r>
            <a:r>
              <a:rPr sz="2800">
                <a:latin typeface="Times New Roman" pitchFamily="18" charset="0"/>
                <a:cs typeface="Times New Roman" pitchFamily="18" charset="0"/>
              </a:rPr>
              <a:t>2</a:t>
            </a:r>
            <a:r>
              <a:rPr>
                <a:latin typeface="Times New Roman" pitchFamily="18" charset="0"/>
                <a:cs typeface="Times New Roman" pitchFamily="18" charset="0"/>
              </a:rPr>
              <a:t>(5/14)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Entropy(S) = 0.940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2: Information Gain -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Outlook splits: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Sunny: 5 samples → 2 Yes, 3 No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Overcast: 4 samples → All Yes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Rain: 5 samples → 3 Yes, 2 No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Entropy(Sunny) = 0.971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Entropy(Overcast) = 0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Entropy(Rain) = 0.971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Outlook) = 0.940 - (5/14)*0.971 - (4/14)*0 - (5/14)*0.971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Outlook) = 0.247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3: Information Gain - Humidity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Humidity splits: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High: 7 samples → 3 Yes, 4 No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Normal: 7 samples → 6 Yes, 1 No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Entropy(High) = 0.985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Entropy(Normal) = 0.591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Humidity) = 0.940 - (7/14)*0.985 - (7/14)*0.591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Humidity) = 0.151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Iteration 1: Information Gain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Gain(S, Outlook) = 0.247 (Highest)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Humidity) = 0.151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Wind) = 0.048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Gain(S, Temperature) = 0.029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→ Root Node = Outlook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Branching Based on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Sunny → Split by Humidity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  High → No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  Normal → Yes</a:t>
            </a:r>
          </a:p>
          <a:p>
            <a:pPr>
              <a:buNone/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Overcast → Yes</a:t>
            </a:r>
          </a:p>
          <a:p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Rain → Split by Wind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  Weak → Yes</a:t>
            </a:r>
          </a:p>
          <a:p>
            <a:r>
              <a:rPr>
                <a:latin typeface="Times New Roman" pitchFamily="18" charset="0"/>
                <a:cs typeface="Times New Roman" pitchFamily="18" charset="0"/>
              </a:rPr>
              <a:t>   Strong </a:t>
            </a:r>
            <a:r>
              <a:rPr>
                <a:latin typeface="Times New Roman" pitchFamily="18" charset="0"/>
                <a:cs typeface="Times New Roman" pitchFamily="18" charset="0"/>
              </a:rPr>
              <a:t>→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No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Note: Separate calculations to be done for Sunny and Rain (Entropy, IG) 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Final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>
                <a:latin typeface="Times New Roman" pitchFamily="18" charset="0"/>
                <a:cs typeface="Times New Roman" pitchFamily="18" charset="0"/>
              </a:rPr>
              <a:t>Outlook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>
                <a:latin typeface="Times New Roman" pitchFamily="18" charset="0"/>
                <a:cs typeface="Times New Roman" pitchFamily="18" charset="0"/>
              </a:rPr>
              <a:t>/           |            \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  Sunny       Overcast          Rain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    </a:t>
            </a:r>
            <a:r>
              <a:rPr>
                <a:latin typeface="Times New Roman" pitchFamily="18" charset="0"/>
                <a:cs typeface="Times New Roman" pitchFamily="18" charset="0"/>
              </a:rPr>
              <a:t>|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|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>
                <a:latin typeface="Times New Roman" pitchFamily="18" charset="0"/>
                <a:cs typeface="Times New Roman" pitchFamily="18" charset="0"/>
              </a:rPr>
              <a:t>|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Humidity         Yes            Wind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  /   </a:t>
            </a:r>
            <a:r>
              <a:rPr>
                <a:latin typeface="Times New Roman" pitchFamily="18" charset="0"/>
                <a:cs typeface="Times New Roman" pitchFamily="18" charset="0"/>
              </a:rPr>
              <a:t>\    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>
                <a:latin typeface="Times New Roman" pitchFamily="18" charset="0"/>
                <a:cs typeface="Times New Roman" pitchFamily="18" charset="0"/>
              </a:rPr>
              <a:t>/   \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High  Normal                 Weak   Strong</a:t>
            </a:r>
          </a:p>
          <a:p>
            <a:pPr>
              <a:buNone/>
            </a:pPr>
            <a:r>
              <a:rPr>
                <a:latin typeface="Times New Roman" pitchFamily="18" charset="0"/>
                <a:cs typeface="Times New Roman" pitchFamily="18" charset="0"/>
              </a:rPr>
              <a:t>  No      </a:t>
            </a:r>
            <a:r>
              <a:rPr>
                <a:latin typeface="Times New Roman" pitchFamily="18" charset="0"/>
                <a:cs typeface="Times New Roman" pitchFamily="18" charset="0"/>
              </a:rPr>
              <a:t>Yes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>
                <a:latin typeface="Times New Roman" pitchFamily="18" charset="0"/>
                <a:cs typeface="Times New Roman" pitchFamily="18" charset="0"/>
              </a:rPr>
              <a:t>Yes     No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 smtClean="0">
                <a:solidFill>
                  <a:srgbClr val="7030A0"/>
                </a:solidFill>
              </a:rPr>
              <a:t>Decision Tree: Classification Vs Regression</a:t>
            </a:r>
            <a:endParaRPr lang="en-US" sz="3200" b="1" dirty="0" smtClean="0">
              <a:solidFill>
                <a:srgbClr val="7030A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857364"/>
            <a:ext cx="834031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A80483-E4A9-42CB-BF81-8BC53DC5A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74" y="124287"/>
            <a:ext cx="8975324" cy="6587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Advantages of the Decision Tree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It is simple to understand as it follows the same process which a human follow while making any decision in real-life.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It can be very useful for solving decision-related problems.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It helps to think about all the possible outcomes for a problem.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There is less requirement of data cleaning compared to other algorithms.</a:t>
            </a:r>
          </a:p>
          <a:p>
            <a:pPr marL="0" indent="0" algn="just">
              <a:buNone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sz="2400" b="0" i="0" dirty="0">
                <a:solidFill>
                  <a:srgbClr val="610B38"/>
                </a:solidFill>
                <a:effectLst/>
                <a:latin typeface="erdana"/>
              </a:rPr>
              <a:t>Disadvantages of the Decision Tree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The decision tree contains lots of layers, which makes it complex.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It may have an overfitting issue, which can be resolved using the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inter-bold"/>
              </a:rPr>
              <a:t>Random Forest algorithm.</a:t>
            </a: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20253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Nearest Neighbor Classifiers(</a:t>
            </a:r>
            <a:r>
              <a:rPr lang="en-US" sz="3200" dirty="0" err="1" smtClean="0">
                <a:solidFill>
                  <a:srgbClr val="FF0000"/>
                </a:solidFill>
              </a:rPr>
              <a:t>Knn</a:t>
            </a:r>
            <a:r>
              <a:rPr lang="en-US" sz="3200" dirty="0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US" dirty="0" smtClean="0"/>
              <a:t>Basic idea:</a:t>
            </a:r>
          </a:p>
          <a:p>
            <a:pPr lvl="1"/>
            <a:r>
              <a:rPr lang="en-US" dirty="0" smtClean="0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74770" name="Picture 5" descr="j034580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771" name="Picture 6" descr="j023958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772" name="Picture 7" descr="j035038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773" name="Picture 8" descr="j033063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774" name="Picture 9" descr="j035038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4775" name="Picture 10" descr="j0350356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776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777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Training Records</a:t>
              </a:r>
            </a:p>
          </p:txBody>
        </p:sp>
        <p:sp>
          <p:nvSpPr>
            <p:cNvPr id="74778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/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74763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Compute Distance</a:t>
              </a:r>
            </a:p>
          </p:txBody>
        </p: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74765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6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7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8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9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74759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Choose k of the “nearest” records</a:t>
              </a:r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74761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2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868346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 dirty="0" smtClean="0">
                <a:solidFill>
                  <a:srgbClr val="7030A0"/>
                </a:solidFill>
              </a:rPr>
              <a:t>Basic Idea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214422"/>
            <a:ext cx="8229600" cy="491174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i="1" dirty="0" smtClean="0"/>
              <a:t>k</a:t>
            </a:r>
            <a:r>
              <a:rPr lang="en-US" altLang="en-US" b="1" dirty="0" smtClean="0"/>
              <a:t>-NN classification rule </a:t>
            </a:r>
            <a:r>
              <a:rPr lang="en-US" altLang="en-US" dirty="0" smtClean="0"/>
              <a:t>is to assign to a </a:t>
            </a:r>
            <a:r>
              <a:rPr lang="en-US" altLang="en-US" b="1" dirty="0" smtClean="0"/>
              <a:t>test</a:t>
            </a:r>
            <a:r>
              <a:rPr lang="en-US" altLang="en-US" dirty="0" smtClean="0"/>
              <a:t> sample the majority category label of its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nearest training samples.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In practice,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is usually chosen to be odd, so as to avoid ties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The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= 1 rule is generally called the nearest-neighbor classification 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7030A0"/>
                </a:solidFill>
              </a:rPr>
              <a:t>Definition of Nearest Neighbor</a:t>
            </a:r>
          </a:p>
        </p:txBody>
      </p:sp>
      <p:graphicFrame>
        <p:nvGraphicFramePr>
          <p:cNvPr id="16386" name="Object 3"/>
          <p:cNvGraphicFramePr>
            <a:graphicFrameLocks noChangeAspect="1"/>
          </p:cNvGraphicFramePr>
          <p:nvPr/>
        </p:nvGraphicFramePr>
        <p:xfrm>
          <a:off x="533400" y="1600200"/>
          <a:ext cx="7848600" cy="3640138"/>
        </p:xfrm>
        <a:graphic>
          <a:graphicData uri="http://schemas.openxmlformats.org/presentationml/2006/ole">
            <p:oleObj spid="_x0000_s28674" name="VISIO" r:id="rId3" imgW="9756360" imgH="4523760" progId="">
              <p:embed/>
            </p:oleObj>
          </a:graphicData>
        </a:graphic>
      </p:graphicFrame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762000" y="5257800"/>
            <a:ext cx="76962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/>
              <a:t>    K-nearest neighbors of a record x are data points that have the k smallest distance to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5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2547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 dirty="0" smtClean="0">
                <a:solidFill>
                  <a:srgbClr val="7030A0"/>
                </a:solidFill>
              </a:rPr>
              <a:t>Standardization</a:t>
            </a:r>
          </a:p>
        </p:txBody>
      </p:sp>
      <p:sp>
        <p:nvSpPr>
          <p:cNvPr id="26627" name="Content Placeholder 6"/>
          <p:cNvSpPr>
            <a:spLocks noGrp="1"/>
          </p:cNvSpPr>
          <p:nvPr>
            <p:ph idx="1"/>
          </p:nvPr>
        </p:nvSpPr>
        <p:spPr bwMode="auto">
          <a:xfrm>
            <a:off x="457200" y="1587500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/>
            <a:r>
              <a:rPr lang="en-US" altLang="en-US" dirty="0" smtClean="0"/>
              <a:t>Transform raw feature values into </a:t>
            </a:r>
            <a:r>
              <a:rPr lang="en-US" altLang="en-US" b="1" u="sng" dirty="0" smtClean="0"/>
              <a:t>z-scores</a:t>
            </a:r>
          </a:p>
          <a:p>
            <a:pPr lvl="1" eaLnBrk="1" hangingPunct="1"/>
            <a:endParaRPr lang="en-US" altLang="en-US" dirty="0" smtClean="0"/>
          </a:p>
          <a:p>
            <a:pPr lvl="1" eaLnBrk="1" hangingPunct="1">
              <a:buFont typeface="Arial" pitchFamily="34" charset="0"/>
              <a:buNone/>
            </a:pP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  </a:t>
            </a:r>
          </a:p>
          <a:p>
            <a:pPr lvl="1" eaLnBrk="1" hangingPunct="1"/>
            <a:r>
              <a:rPr lang="en-US" altLang="en-US" dirty="0" smtClean="0"/>
              <a:t>    is the value for the           </a:t>
            </a:r>
            <a:r>
              <a:rPr lang="en-US" altLang="en-US" i="1" dirty="0" err="1" smtClean="0"/>
              <a:t>i</a:t>
            </a:r>
            <a:r>
              <a:rPr lang="en-US" altLang="en-US" i="1" baseline="30000" dirty="0" err="1" smtClean="0"/>
              <a:t>th</a:t>
            </a:r>
            <a:r>
              <a:rPr lang="en-US" altLang="en-US" dirty="0" smtClean="0"/>
              <a:t> sample and </a:t>
            </a:r>
            <a:r>
              <a:rPr lang="en-US" altLang="en-US" i="1" dirty="0" err="1" smtClean="0"/>
              <a:t>j</a:t>
            </a:r>
            <a:r>
              <a:rPr lang="en-US" altLang="en-US" i="1" baseline="30000" dirty="0" err="1" smtClean="0"/>
              <a:t>th</a:t>
            </a:r>
            <a:r>
              <a:rPr lang="en-US" altLang="en-US" dirty="0" smtClean="0"/>
              <a:t> feature</a:t>
            </a:r>
          </a:p>
          <a:p>
            <a:pPr lvl="1" eaLnBrk="1" hangingPunct="1"/>
            <a:r>
              <a:rPr lang="en-US" altLang="en-US" dirty="0" smtClean="0"/>
              <a:t>     is the average of all     for feature </a:t>
            </a:r>
            <a:r>
              <a:rPr lang="en-US" altLang="en-US" i="1" dirty="0" smtClean="0"/>
              <a:t>j</a:t>
            </a:r>
          </a:p>
          <a:p>
            <a:pPr lvl="1" eaLnBrk="1" hangingPunct="1"/>
            <a:r>
              <a:rPr lang="en-US" altLang="en-US" dirty="0" smtClean="0"/>
              <a:t>     is the standard deviation of all     over all input samples</a:t>
            </a:r>
          </a:p>
          <a:p>
            <a:pPr eaLnBrk="1" hangingPunct="1"/>
            <a:r>
              <a:rPr lang="en-US" altLang="en-US" dirty="0" smtClean="0"/>
              <a:t>Range and scale of z-scores should be similar </a:t>
            </a:r>
            <a:r>
              <a:rPr lang="en-US" altLang="en-US" sz="2400" dirty="0" smtClean="0"/>
              <a:t>(providing distributions of raw feature values are alike)</a:t>
            </a:r>
          </a:p>
        </p:txBody>
      </p:sp>
      <p:graphicFrame>
        <p:nvGraphicFramePr>
          <p:cNvPr id="26628" name="Object 2"/>
          <p:cNvGraphicFramePr>
            <a:graphicFrameLocks noChangeAspect="1"/>
          </p:cNvGraphicFramePr>
          <p:nvPr/>
        </p:nvGraphicFramePr>
        <p:xfrm>
          <a:off x="3149600" y="2233613"/>
          <a:ext cx="1670050" cy="915987"/>
        </p:xfrm>
        <a:graphic>
          <a:graphicData uri="http://schemas.openxmlformats.org/presentationml/2006/ole">
            <p:oleObj spid="_x0000_s29698" name="Equation" r:id="rId3" imgW="776880" imgH="420480" progId="Equation.3">
              <p:embed/>
            </p:oleObj>
          </a:graphicData>
        </a:graphic>
      </p:graphicFrame>
      <p:graphicFrame>
        <p:nvGraphicFramePr>
          <p:cNvPr id="26629" name="Object 3"/>
          <p:cNvGraphicFramePr>
            <a:graphicFrameLocks noChangeAspect="1"/>
          </p:cNvGraphicFramePr>
          <p:nvPr/>
        </p:nvGraphicFramePr>
        <p:xfrm>
          <a:off x="3149600" y="2246313"/>
          <a:ext cx="1670050" cy="915987"/>
        </p:xfrm>
        <a:graphic>
          <a:graphicData uri="http://schemas.openxmlformats.org/presentationml/2006/ole">
            <p:oleObj spid="_x0000_s29699" name="Equation" r:id="rId4" imgW="776880" imgH="420480" progId="Equation.3">
              <p:embed/>
            </p:oleObj>
          </a:graphicData>
        </a:graphic>
      </p:graphicFrame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1195367" y="3425828"/>
          <a:ext cx="376237" cy="431800"/>
        </p:xfrm>
        <a:graphic>
          <a:graphicData uri="http://schemas.openxmlformats.org/presentationml/2006/ole">
            <p:oleObj spid="_x0000_s29700" name="Equation" r:id="rId5" imgW="164520" imgH="191880" progId="Equation.3">
              <p:embed/>
            </p:oleObj>
          </a:graphicData>
        </a:graphic>
      </p:graphicFrame>
      <p:graphicFrame>
        <p:nvGraphicFramePr>
          <p:cNvPr id="26631" name="Object 5"/>
          <p:cNvGraphicFramePr>
            <a:graphicFrameLocks noChangeAspect="1"/>
          </p:cNvGraphicFramePr>
          <p:nvPr/>
        </p:nvGraphicFramePr>
        <p:xfrm>
          <a:off x="1293792" y="3854456"/>
          <a:ext cx="349250" cy="431800"/>
        </p:xfrm>
        <a:graphic>
          <a:graphicData uri="http://schemas.openxmlformats.org/presentationml/2006/ole">
            <p:oleObj spid="_x0000_s29701" name="Equation" r:id="rId6" imgW="155160" imgH="191880" progId="Equation.3">
              <p:embed/>
            </p:oleObj>
          </a:graphicData>
        </a:graphic>
      </p:graphicFrame>
      <p:graphicFrame>
        <p:nvGraphicFramePr>
          <p:cNvPr id="26632" name="Object 6"/>
          <p:cNvGraphicFramePr>
            <a:graphicFrameLocks noChangeAspect="1"/>
          </p:cNvGraphicFramePr>
          <p:nvPr/>
        </p:nvGraphicFramePr>
        <p:xfrm>
          <a:off x="4214810" y="3357562"/>
          <a:ext cx="376237" cy="431800"/>
        </p:xfrm>
        <a:graphic>
          <a:graphicData uri="http://schemas.openxmlformats.org/presentationml/2006/ole">
            <p:oleObj spid="_x0000_s29702" name="Equation" r:id="rId7" imgW="164520" imgH="191880" progId="Equation.3">
              <p:embed/>
            </p:oleObj>
          </a:graphicData>
        </a:graphic>
      </p:graphicFrame>
      <p:graphicFrame>
        <p:nvGraphicFramePr>
          <p:cNvPr id="26633" name="Object 7"/>
          <p:cNvGraphicFramePr>
            <a:graphicFrameLocks noChangeAspect="1"/>
          </p:cNvGraphicFramePr>
          <p:nvPr/>
        </p:nvGraphicFramePr>
        <p:xfrm>
          <a:off x="1285852" y="4286256"/>
          <a:ext cx="376237" cy="431800"/>
        </p:xfrm>
        <a:graphic>
          <a:graphicData uri="http://schemas.openxmlformats.org/presentationml/2006/ole">
            <p:oleObj spid="_x0000_s29703" name="Equation" r:id="rId8" imgW="164520" imgH="191880" progId="Equation.3">
              <p:embed/>
            </p:oleObj>
          </a:graphicData>
        </a:graphic>
      </p:graphicFrame>
      <p:graphicFrame>
        <p:nvGraphicFramePr>
          <p:cNvPr id="26634" name="Object 8"/>
          <p:cNvGraphicFramePr>
            <a:graphicFrameLocks noChangeAspect="1"/>
          </p:cNvGraphicFramePr>
          <p:nvPr/>
        </p:nvGraphicFramePr>
        <p:xfrm>
          <a:off x="4214810" y="3786190"/>
          <a:ext cx="376237" cy="431800"/>
        </p:xfrm>
        <a:graphic>
          <a:graphicData uri="http://schemas.openxmlformats.org/presentationml/2006/ole">
            <p:oleObj spid="_x0000_s29704" name="Equation" r:id="rId9" imgW="164520" imgH="191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Distance formula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Euclidian distance: </a:t>
            </a:r>
            <a:r>
              <a:rPr lang="en-US" dirty="0" err="1"/>
              <a:t>squareroot</a:t>
            </a:r>
            <a:r>
              <a:rPr lang="en-US" dirty="0"/>
              <a:t> of sum of squares of differences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for two features:   (</a:t>
            </a:r>
            <a:r>
              <a:rPr lang="en-US" dirty="0">
                <a:sym typeface="Symbol" pitchFamily="18" charset="2"/>
              </a:rPr>
              <a:t>x)</a:t>
            </a:r>
            <a:r>
              <a:rPr lang="en-US" baseline="30000" dirty="0"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+ </a:t>
            </a:r>
            <a:r>
              <a:rPr lang="en-US" dirty="0"/>
              <a:t>(</a:t>
            </a:r>
            <a:r>
              <a:rPr lang="en-US" dirty="0">
                <a:sym typeface="Symbol" pitchFamily="18" charset="2"/>
              </a:rPr>
              <a:t>y)</a:t>
            </a:r>
            <a:r>
              <a:rPr lang="en-US" baseline="30000" dirty="0">
                <a:sym typeface="Symbol" pitchFamily="18" charset="2"/>
              </a:rPr>
              <a:t>2</a:t>
            </a: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Intuition: similar samples should be close to each other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not always apply</a:t>
            </a:r>
            <a:br>
              <a:rPr lang="en-US" dirty="0"/>
            </a:br>
            <a:r>
              <a:rPr lang="en-US" dirty="0"/>
              <a:t>(example: quota and actual sales)</a:t>
            </a: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3709982" y="3143248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 flipV="1">
            <a:off x="3786182" y="2857496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3929058" y="2857496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25" dirty="0"/>
              <a:t>Example: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8607" y="1575942"/>
            <a:ext cx="4886947" cy="4308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200" y="1730039"/>
            <a:ext cx="4952820" cy="4495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25" dirty="0"/>
              <a:t>Example: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25" dirty="0"/>
              <a:t>Example: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193" y="1609425"/>
            <a:ext cx="4876386" cy="4342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42538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spcBef>
                <a:spcPts val="2730"/>
              </a:spcBef>
            </a:pPr>
            <a:r>
              <a:rPr lang="en-US" sz="3200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Calculating Distance</a:t>
            </a:r>
            <a:endParaRPr lang="en-US" sz="3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6214"/>
            <a:ext cx="8097520" cy="4308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1630" marR="133985" indent="-329565">
              <a:lnSpc>
                <a:spcPts val="3220"/>
              </a:lnSpc>
              <a:spcBef>
                <a:spcPts val="21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spc="25" dirty="0">
                <a:latin typeface="Microsoft Sans Serif"/>
                <a:cs typeface="Microsoft Sans Serif"/>
              </a:rPr>
              <a:t>Locating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90" dirty="0">
                <a:latin typeface="Microsoft Sans Serif"/>
                <a:cs typeface="Microsoft Sans Serif"/>
              </a:rPr>
              <a:t>tomato's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30" dirty="0">
                <a:latin typeface="Microsoft Sans Serif"/>
                <a:cs typeface="Microsoft Sans Serif"/>
              </a:rPr>
              <a:t>nearest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30" dirty="0">
                <a:latin typeface="Microsoft Sans Serif"/>
                <a:cs typeface="Microsoft Sans Serif"/>
              </a:rPr>
              <a:t>neighbors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30" dirty="0">
                <a:latin typeface="Microsoft Sans Serif"/>
                <a:cs typeface="Microsoft Sans Serif"/>
              </a:rPr>
              <a:t>requires </a:t>
            </a:r>
            <a:r>
              <a:rPr sz="2700" spc="-700" dirty="0">
                <a:latin typeface="Microsoft Sans Serif"/>
                <a:cs typeface="Microsoft Sans Serif"/>
              </a:rPr>
              <a:t> </a:t>
            </a:r>
            <a:r>
              <a:rPr sz="2700" spc="-100" dirty="0">
                <a:latin typeface="Microsoft Sans Serif"/>
                <a:cs typeface="Microsoft Sans Serif"/>
              </a:rPr>
              <a:t>a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70" dirty="0">
                <a:latin typeface="Microsoft Sans Serif"/>
                <a:cs typeface="Microsoft Sans Serif"/>
              </a:rPr>
              <a:t>d</a:t>
            </a:r>
            <a:r>
              <a:rPr sz="2700" spc="45" dirty="0">
                <a:latin typeface="Microsoft Sans Serif"/>
                <a:cs typeface="Microsoft Sans Serif"/>
              </a:rPr>
              <a:t>i</a:t>
            </a:r>
            <a:r>
              <a:rPr sz="2700" spc="-170" dirty="0">
                <a:latin typeface="Microsoft Sans Serif"/>
                <a:cs typeface="Microsoft Sans Serif"/>
              </a:rPr>
              <a:t>s</a:t>
            </a:r>
            <a:r>
              <a:rPr sz="2700" spc="325" dirty="0">
                <a:latin typeface="Microsoft Sans Serif"/>
                <a:cs typeface="Microsoft Sans Serif"/>
              </a:rPr>
              <a:t>t</a:t>
            </a:r>
            <a:r>
              <a:rPr sz="2700" spc="-114" dirty="0">
                <a:latin typeface="Microsoft Sans Serif"/>
                <a:cs typeface="Microsoft Sans Serif"/>
              </a:rPr>
              <a:t>a</a:t>
            </a:r>
            <a:r>
              <a:rPr sz="2700" spc="25" dirty="0">
                <a:latin typeface="Microsoft Sans Serif"/>
                <a:cs typeface="Microsoft Sans Serif"/>
              </a:rPr>
              <a:t>n</a:t>
            </a:r>
            <a:r>
              <a:rPr sz="2700" spc="-50" dirty="0">
                <a:latin typeface="Microsoft Sans Serif"/>
                <a:cs typeface="Microsoft Sans Serif"/>
              </a:rPr>
              <a:t>ce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10" dirty="0">
                <a:latin typeface="Microsoft Sans Serif"/>
                <a:cs typeface="Microsoft Sans Serif"/>
              </a:rPr>
              <a:t>f</a:t>
            </a:r>
            <a:r>
              <a:rPr sz="2700" spc="204" dirty="0">
                <a:latin typeface="Microsoft Sans Serif"/>
                <a:cs typeface="Microsoft Sans Serif"/>
              </a:rPr>
              <a:t>u</a:t>
            </a:r>
            <a:r>
              <a:rPr sz="2700" spc="30" dirty="0">
                <a:latin typeface="Microsoft Sans Serif"/>
                <a:cs typeface="Microsoft Sans Serif"/>
              </a:rPr>
              <a:t>n</a:t>
            </a:r>
            <a:r>
              <a:rPr sz="2700" spc="145" dirty="0">
                <a:latin typeface="Microsoft Sans Serif"/>
                <a:cs typeface="Microsoft Sans Serif"/>
              </a:rPr>
              <a:t>c</a:t>
            </a:r>
            <a:r>
              <a:rPr sz="2700" spc="75" dirty="0">
                <a:latin typeface="Microsoft Sans Serif"/>
                <a:cs typeface="Microsoft Sans Serif"/>
              </a:rPr>
              <a:t>t</a:t>
            </a:r>
            <a:r>
              <a:rPr sz="2700" spc="45" dirty="0">
                <a:latin typeface="Microsoft Sans Serif"/>
                <a:cs typeface="Microsoft Sans Serif"/>
              </a:rPr>
              <a:t>i</a:t>
            </a:r>
            <a:r>
              <a:rPr sz="2700" spc="75" dirty="0">
                <a:latin typeface="Microsoft Sans Serif"/>
                <a:cs typeface="Microsoft Sans Serif"/>
              </a:rPr>
              <a:t>o</a:t>
            </a:r>
            <a:r>
              <a:rPr sz="2700" spc="30" dirty="0">
                <a:latin typeface="Microsoft Sans Serif"/>
                <a:cs typeface="Microsoft Sans Serif"/>
              </a:rPr>
              <a:t>n</a:t>
            </a:r>
            <a:r>
              <a:rPr sz="2700" spc="-90" dirty="0">
                <a:latin typeface="Microsoft Sans Serif"/>
                <a:cs typeface="Microsoft Sans Serif"/>
              </a:rPr>
              <a:t>,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10" dirty="0">
                <a:latin typeface="Microsoft Sans Serif"/>
                <a:cs typeface="Microsoft Sans Serif"/>
              </a:rPr>
              <a:t>or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-100" dirty="0">
                <a:latin typeface="Microsoft Sans Serif"/>
                <a:cs typeface="Microsoft Sans Serif"/>
              </a:rPr>
              <a:t>a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275" dirty="0">
                <a:latin typeface="Microsoft Sans Serif"/>
                <a:cs typeface="Microsoft Sans Serif"/>
              </a:rPr>
              <a:t>f</a:t>
            </a:r>
            <a:r>
              <a:rPr sz="2700" spc="140" dirty="0">
                <a:latin typeface="Microsoft Sans Serif"/>
                <a:cs typeface="Microsoft Sans Serif"/>
              </a:rPr>
              <a:t>o</a:t>
            </a:r>
            <a:r>
              <a:rPr sz="2700" spc="70" dirty="0">
                <a:latin typeface="Microsoft Sans Serif"/>
                <a:cs typeface="Microsoft Sans Serif"/>
              </a:rPr>
              <a:t>r</a:t>
            </a:r>
            <a:r>
              <a:rPr sz="2700" spc="45" dirty="0">
                <a:latin typeface="Microsoft Sans Serif"/>
                <a:cs typeface="Microsoft Sans Serif"/>
              </a:rPr>
              <a:t>m</a:t>
            </a:r>
            <a:r>
              <a:rPr sz="2700" spc="30" dirty="0">
                <a:latin typeface="Microsoft Sans Serif"/>
                <a:cs typeface="Microsoft Sans Serif"/>
              </a:rPr>
              <a:t>u</a:t>
            </a:r>
            <a:r>
              <a:rPr sz="2700" spc="105" dirty="0">
                <a:latin typeface="Microsoft Sans Serif"/>
                <a:cs typeface="Microsoft Sans Serif"/>
              </a:rPr>
              <a:t>l</a:t>
            </a:r>
            <a:r>
              <a:rPr sz="2700" spc="-100" dirty="0">
                <a:latin typeface="Microsoft Sans Serif"/>
                <a:cs typeface="Microsoft Sans Serif"/>
              </a:rPr>
              <a:t>a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325" dirty="0">
                <a:latin typeface="Microsoft Sans Serif"/>
                <a:cs typeface="Microsoft Sans Serif"/>
              </a:rPr>
              <a:t>t</a:t>
            </a:r>
            <a:r>
              <a:rPr sz="2700" spc="20" dirty="0">
                <a:latin typeface="Microsoft Sans Serif"/>
                <a:cs typeface="Microsoft Sans Serif"/>
              </a:rPr>
              <a:t>h</a:t>
            </a:r>
            <a:r>
              <a:rPr sz="2700" spc="-114" dirty="0">
                <a:latin typeface="Microsoft Sans Serif"/>
                <a:cs typeface="Microsoft Sans Serif"/>
              </a:rPr>
              <a:t>a</a:t>
            </a:r>
            <a:r>
              <a:rPr sz="2700" spc="330" dirty="0">
                <a:latin typeface="Microsoft Sans Serif"/>
                <a:cs typeface="Microsoft Sans Serif"/>
              </a:rPr>
              <a:t>t</a:t>
            </a:r>
            <a:r>
              <a:rPr sz="2700" spc="-95" dirty="0">
                <a:latin typeface="Microsoft Sans Serif"/>
                <a:cs typeface="Microsoft Sans Serif"/>
              </a:rPr>
              <a:t> </a:t>
            </a:r>
            <a:r>
              <a:rPr sz="2700" spc="45" dirty="0">
                <a:latin typeface="Microsoft Sans Serif"/>
                <a:cs typeface="Microsoft Sans Serif"/>
              </a:rPr>
              <a:t>m</a:t>
            </a:r>
            <a:r>
              <a:rPr sz="2700" spc="-5" dirty="0">
                <a:latin typeface="Microsoft Sans Serif"/>
                <a:cs typeface="Microsoft Sans Serif"/>
              </a:rPr>
              <a:t>e</a:t>
            </a:r>
            <a:r>
              <a:rPr sz="2700" spc="-114" dirty="0">
                <a:latin typeface="Microsoft Sans Serif"/>
                <a:cs typeface="Microsoft Sans Serif"/>
              </a:rPr>
              <a:t>a</a:t>
            </a:r>
            <a:r>
              <a:rPr sz="2700" spc="-170" dirty="0">
                <a:latin typeface="Microsoft Sans Serif"/>
                <a:cs typeface="Microsoft Sans Serif"/>
              </a:rPr>
              <a:t>s</a:t>
            </a:r>
            <a:r>
              <a:rPr sz="2700" spc="30" dirty="0">
                <a:latin typeface="Microsoft Sans Serif"/>
                <a:cs typeface="Microsoft Sans Serif"/>
              </a:rPr>
              <a:t>u</a:t>
            </a:r>
            <a:r>
              <a:rPr sz="2700" spc="125" dirty="0">
                <a:latin typeface="Microsoft Sans Serif"/>
                <a:cs typeface="Microsoft Sans Serif"/>
              </a:rPr>
              <a:t>r</a:t>
            </a:r>
            <a:r>
              <a:rPr sz="2700" spc="-5" dirty="0">
                <a:latin typeface="Microsoft Sans Serif"/>
                <a:cs typeface="Microsoft Sans Serif"/>
              </a:rPr>
              <a:t>e</a:t>
            </a:r>
            <a:r>
              <a:rPr sz="2700" spc="-105" dirty="0">
                <a:latin typeface="Microsoft Sans Serif"/>
                <a:cs typeface="Microsoft Sans Serif"/>
              </a:rPr>
              <a:t>s  </a:t>
            </a:r>
            <a:r>
              <a:rPr sz="2700" spc="110" dirty="0">
                <a:latin typeface="Microsoft Sans Serif"/>
                <a:cs typeface="Microsoft Sans Serif"/>
              </a:rPr>
              <a:t>the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45" dirty="0">
                <a:latin typeface="Microsoft Sans Serif"/>
                <a:cs typeface="Microsoft Sans Serif"/>
              </a:rPr>
              <a:t>similarity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75" dirty="0">
                <a:latin typeface="Microsoft Sans Serif"/>
                <a:cs typeface="Microsoft Sans Serif"/>
              </a:rPr>
              <a:t>between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75" dirty="0">
                <a:latin typeface="Microsoft Sans Serif"/>
                <a:cs typeface="Microsoft Sans Serif"/>
              </a:rPr>
              <a:t>two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20" dirty="0">
                <a:latin typeface="Microsoft Sans Serif"/>
                <a:cs typeface="Microsoft Sans Serif"/>
              </a:rPr>
              <a:t>instances.</a:t>
            </a:r>
            <a:endParaRPr sz="2700">
              <a:latin typeface="Microsoft Sans Serif"/>
              <a:cs typeface="Microsoft Sans Serif"/>
            </a:endParaRPr>
          </a:p>
          <a:p>
            <a:pPr marL="341630" marR="1173480" indent="-329565">
              <a:lnSpc>
                <a:spcPts val="322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dirty="0">
                <a:latin typeface="Microsoft Sans Serif"/>
                <a:cs typeface="Microsoft Sans Serif"/>
              </a:rPr>
              <a:t>There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5" dirty="0">
                <a:latin typeface="Microsoft Sans Serif"/>
                <a:cs typeface="Microsoft Sans Serif"/>
              </a:rPr>
              <a:t>are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15" dirty="0">
                <a:latin typeface="Microsoft Sans Serif"/>
                <a:cs typeface="Microsoft Sans Serif"/>
              </a:rPr>
              <a:t>many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130" dirty="0">
                <a:latin typeface="Microsoft Sans Serif"/>
                <a:cs typeface="Microsoft Sans Serif"/>
              </a:rPr>
              <a:t>different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45" dirty="0">
                <a:latin typeface="Microsoft Sans Serif"/>
                <a:cs typeface="Microsoft Sans Serif"/>
              </a:rPr>
              <a:t>ways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204" dirty="0">
                <a:latin typeface="Microsoft Sans Serif"/>
                <a:cs typeface="Microsoft Sans Serif"/>
              </a:rPr>
              <a:t>to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15" dirty="0">
                <a:latin typeface="Microsoft Sans Serif"/>
                <a:cs typeface="Microsoft Sans Serif"/>
              </a:rPr>
              <a:t>calculate </a:t>
            </a:r>
            <a:r>
              <a:rPr sz="2700" spc="-70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distance.</a:t>
            </a:r>
            <a:endParaRPr sz="2700">
              <a:latin typeface="Microsoft Sans Serif"/>
              <a:cs typeface="Microsoft Sans Serif"/>
            </a:endParaRPr>
          </a:p>
          <a:p>
            <a:pPr marL="341630" marR="5080" indent="-329565">
              <a:lnSpc>
                <a:spcPct val="993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  <a:tab pos="342265" algn="l"/>
              </a:tabLst>
            </a:pPr>
            <a:r>
              <a:rPr sz="2700" spc="30" dirty="0">
                <a:latin typeface="Microsoft Sans Serif"/>
                <a:cs typeface="Microsoft Sans Serif"/>
              </a:rPr>
              <a:t>Traditionally, </a:t>
            </a:r>
            <a:r>
              <a:rPr sz="2700" spc="114" dirty="0">
                <a:latin typeface="Microsoft Sans Serif"/>
                <a:cs typeface="Microsoft Sans Serif"/>
              </a:rPr>
              <a:t>the </a:t>
            </a:r>
            <a:r>
              <a:rPr sz="2700" spc="15" dirty="0">
                <a:latin typeface="Microsoft Sans Serif"/>
                <a:cs typeface="Microsoft Sans Serif"/>
              </a:rPr>
              <a:t>kNN </a:t>
            </a:r>
            <a:r>
              <a:rPr sz="2700" spc="75" dirty="0">
                <a:latin typeface="Microsoft Sans Serif"/>
                <a:cs typeface="Microsoft Sans Serif"/>
              </a:rPr>
              <a:t>algorithm </a:t>
            </a:r>
            <a:r>
              <a:rPr sz="2700" spc="-75" dirty="0">
                <a:latin typeface="Microsoft Sans Serif"/>
                <a:cs typeface="Microsoft Sans Serif"/>
              </a:rPr>
              <a:t>uses </a:t>
            </a:r>
            <a:r>
              <a:rPr sz="2700" spc="-25" dirty="0">
                <a:latin typeface="Microsoft Sans Serif"/>
                <a:cs typeface="Microsoft Sans Serif"/>
              </a:rPr>
              <a:t>Euclidean </a:t>
            </a:r>
            <a:r>
              <a:rPr sz="2700" spc="-2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distance,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25" dirty="0">
                <a:latin typeface="Microsoft Sans Serif"/>
                <a:cs typeface="Microsoft Sans Serif"/>
              </a:rPr>
              <a:t>which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-55" dirty="0">
                <a:latin typeface="Microsoft Sans Serif"/>
                <a:cs typeface="Microsoft Sans Serif"/>
              </a:rPr>
              <a:t>is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10" dirty="0">
                <a:latin typeface="Microsoft Sans Serif"/>
                <a:cs typeface="Microsoft Sans Serif"/>
              </a:rPr>
              <a:t>distance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35" dirty="0">
                <a:latin typeface="Microsoft Sans Serif"/>
                <a:cs typeface="Microsoft Sans Serif"/>
              </a:rPr>
              <a:t>one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85" dirty="0">
                <a:latin typeface="Microsoft Sans Serif"/>
                <a:cs typeface="Microsoft Sans Serif"/>
              </a:rPr>
              <a:t>would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measure </a:t>
            </a:r>
            <a:r>
              <a:rPr sz="2700" spc="-705" dirty="0">
                <a:latin typeface="Microsoft Sans Serif"/>
                <a:cs typeface="Microsoft Sans Serif"/>
              </a:rPr>
              <a:t> </a:t>
            </a:r>
            <a:r>
              <a:rPr sz="2700" spc="45" dirty="0">
                <a:latin typeface="Microsoft Sans Serif"/>
                <a:cs typeface="Microsoft Sans Serif"/>
              </a:rPr>
              <a:t>i</a:t>
            </a:r>
            <a:r>
              <a:rPr sz="2700" spc="285" dirty="0">
                <a:latin typeface="Microsoft Sans Serif"/>
                <a:cs typeface="Microsoft Sans Serif"/>
              </a:rPr>
              <a:t>f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25" dirty="0">
                <a:latin typeface="Microsoft Sans Serif"/>
                <a:cs typeface="Microsoft Sans Serif"/>
              </a:rPr>
              <a:t>y</a:t>
            </a:r>
            <a:r>
              <a:rPr sz="2700" spc="75" dirty="0">
                <a:latin typeface="Microsoft Sans Serif"/>
                <a:cs typeface="Microsoft Sans Serif"/>
              </a:rPr>
              <a:t>o</a:t>
            </a:r>
            <a:r>
              <a:rPr sz="2700" spc="40" dirty="0">
                <a:latin typeface="Microsoft Sans Serif"/>
                <a:cs typeface="Microsoft Sans Serif"/>
              </a:rPr>
              <a:t>u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c</a:t>
            </a:r>
            <a:r>
              <a:rPr sz="2700" spc="-20" dirty="0">
                <a:latin typeface="Microsoft Sans Serif"/>
                <a:cs typeface="Microsoft Sans Serif"/>
              </a:rPr>
              <a:t>o</a:t>
            </a:r>
            <a:r>
              <a:rPr sz="2700" spc="30" dirty="0">
                <a:latin typeface="Microsoft Sans Serif"/>
                <a:cs typeface="Microsoft Sans Serif"/>
              </a:rPr>
              <a:t>u</a:t>
            </a:r>
            <a:r>
              <a:rPr sz="2700" spc="105" dirty="0">
                <a:latin typeface="Microsoft Sans Serif"/>
                <a:cs typeface="Microsoft Sans Serif"/>
              </a:rPr>
              <a:t>l</a:t>
            </a:r>
            <a:r>
              <a:rPr sz="2700" spc="80" dirty="0">
                <a:latin typeface="Microsoft Sans Serif"/>
                <a:cs typeface="Microsoft Sans Serif"/>
              </a:rPr>
              <a:t>d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25" dirty="0">
                <a:latin typeface="Microsoft Sans Serif"/>
                <a:cs typeface="Microsoft Sans Serif"/>
              </a:rPr>
              <a:t>u</a:t>
            </a:r>
            <a:r>
              <a:rPr sz="2700" spc="-170" dirty="0">
                <a:latin typeface="Microsoft Sans Serif"/>
                <a:cs typeface="Microsoft Sans Serif"/>
              </a:rPr>
              <a:t>s</a:t>
            </a:r>
            <a:r>
              <a:rPr sz="2700" dirty="0">
                <a:latin typeface="Microsoft Sans Serif"/>
                <a:cs typeface="Microsoft Sans Serif"/>
              </a:rPr>
              <a:t>e</a:t>
            </a:r>
            <a:r>
              <a:rPr sz="2700" spc="-95" dirty="0">
                <a:latin typeface="Microsoft Sans Serif"/>
                <a:cs typeface="Microsoft Sans Serif"/>
              </a:rPr>
              <a:t> </a:t>
            </a:r>
            <a:r>
              <a:rPr sz="2700" spc="-100" dirty="0">
                <a:latin typeface="Microsoft Sans Serif"/>
                <a:cs typeface="Microsoft Sans Serif"/>
              </a:rPr>
              <a:t>a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125" dirty="0">
                <a:latin typeface="Microsoft Sans Serif"/>
                <a:cs typeface="Microsoft Sans Serif"/>
              </a:rPr>
              <a:t>r</a:t>
            </a:r>
            <a:r>
              <a:rPr sz="2700" spc="30" dirty="0">
                <a:latin typeface="Microsoft Sans Serif"/>
                <a:cs typeface="Microsoft Sans Serif"/>
              </a:rPr>
              <a:t>u</a:t>
            </a:r>
            <a:r>
              <a:rPr sz="2700" spc="105" dirty="0">
                <a:latin typeface="Microsoft Sans Serif"/>
                <a:cs typeface="Microsoft Sans Serif"/>
              </a:rPr>
              <a:t>l</a:t>
            </a:r>
            <a:r>
              <a:rPr sz="2700" spc="-5" dirty="0">
                <a:latin typeface="Microsoft Sans Serif"/>
                <a:cs typeface="Microsoft Sans Serif"/>
              </a:rPr>
              <a:t>e</a:t>
            </a:r>
            <a:r>
              <a:rPr sz="2700" spc="135" dirty="0">
                <a:latin typeface="Microsoft Sans Serif"/>
                <a:cs typeface="Microsoft Sans Serif"/>
              </a:rPr>
              <a:t>r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325" dirty="0">
                <a:latin typeface="Microsoft Sans Serif"/>
                <a:cs typeface="Microsoft Sans Serif"/>
              </a:rPr>
              <a:t>t</a:t>
            </a:r>
            <a:r>
              <a:rPr sz="2700" spc="85" dirty="0">
                <a:latin typeface="Microsoft Sans Serif"/>
                <a:cs typeface="Microsoft Sans Serif"/>
              </a:rPr>
              <a:t>o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114" dirty="0">
                <a:latin typeface="Microsoft Sans Serif"/>
                <a:cs typeface="Microsoft Sans Serif"/>
              </a:rPr>
              <a:t>c</a:t>
            </a:r>
            <a:r>
              <a:rPr sz="2700" spc="60" dirty="0">
                <a:latin typeface="Microsoft Sans Serif"/>
                <a:cs typeface="Microsoft Sans Serif"/>
              </a:rPr>
              <a:t>o</a:t>
            </a:r>
            <a:r>
              <a:rPr sz="2700" spc="45" dirty="0">
                <a:latin typeface="Microsoft Sans Serif"/>
                <a:cs typeface="Microsoft Sans Serif"/>
              </a:rPr>
              <a:t>n</a:t>
            </a:r>
            <a:r>
              <a:rPr sz="2700" spc="30" dirty="0">
                <a:latin typeface="Microsoft Sans Serif"/>
                <a:cs typeface="Microsoft Sans Serif"/>
              </a:rPr>
              <a:t>n</a:t>
            </a:r>
            <a:r>
              <a:rPr sz="2700" spc="-5" dirty="0">
                <a:latin typeface="Microsoft Sans Serif"/>
                <a:cs typeface="Microsoft Sans Serif"/>
              </a:rPr>
              <a:t>e</a:t>
            </a:r>
            <a:r>
              <a:rPr sz="2700" spc="114" dirty="0">
                <a:latin typeface="Microsoft Sans Serif"/>
                <a:cs typeface="Microsoft Sans Serif"/>
              </a:rPr>
              <a:t>ct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325" dirty="0">
                <a:latin typeface="Microsoft Sans Serif"/>
                <a:cs typeface="Microsoft Sans Serif"/>
              </a:rPr>
              <a:t>t</a:t>
            </a:r>
            <a:r>
              <a:rPr sz="2700" spc="125" dirty="0">
                <a:latin typeface="Microsoft Sans Serif"/>
                <a:cs typeface="Microsoft Sans Serif"/>
              </a:rPr>
              <a:t>w</a:t>
            </a:r>
            <a:r>
              <a:rPr sz="2700" spc="85" dirty="0">
                <a:latin typeface="Microsoft Sans Serif"/>
                <a:cs typeface="Microsoft Sans Serif"/>
              </a:rPr>
              <a:t>o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70" dirty="0">
                <a:latin typeface="Microsoft Sans Serif"/>
                <a:cs typeface="Microsoft Sans Serif"/>
              </a:rPr>
              <a:t>p</a:t>
            </a:r>
            <a:r>
              <a:rPr sz="2700" spc="75" dirty="0">
                <a:latin typeface="Microsoft Sans Serif"/>
                <a:cs typeface="Microsoft Sans Serif"/>
              </a:rPr>
              <a:t>o</a:t>
            </a:r>
            <a:r>
              <a:rPr sz="2700" spc="45" dirty="0">
                <a:latin typeface="Microsoft Sans Serif"/>
                <a:cs typeface="Microsoft Sans Serif"/>
              </a:rPr>
              <a:t>i</a:t>
            </a:r>
            <a:r>
              <a:rPr sz="2700" spc="30" dirty="0">
                <a:latin typeface="Microsoft Sans Serif"/>
                <a:cs typeface="Microsoft Sans Serif"/>
              </a:rPr>
              <a:t>n</a:t>
            </a:r>
            <a:r>
              <a:rPr sz="2700" spc="325" dirty="0">
                <a:latin typeface="Microsoft Sans Serif"/>
                <a:cs typeface="Microsoft Sans Serif"/>
              </a:rPr>
              <a:t>t</a:t>
            </a:r>
            <a:r>
              <a:rPr sz="2700" spc="-170" dirty="0">
                <a:latin typeface="Microsoft Sans Serif"/>
                <a:cs typeface="Microsoft Sans Serif"/>
              </a:rPr>
              <a:t>s</a:t>
            </a:r>
            <a:r>
              <a:rPr sz="2700" spc="-90" dirty="0">
                <a:latin typeface="Microsoft Sans Serif"/>
                <a:cs typeface="Microsoft Sans Serif"/>
              </a:rPr>
              <a:t>,  </a:t>
            </a:r>
            <a:r>
              <a:rPr sz="2700" spc="80" dirty="0">
                <a:latin typeface="Microsoft Sans Serif"/>
                <a:cs typeface="Microsoft Sans Serif"/>
              </a:rPr>
              <a:t>illustrated </a:t>
            </a:r>
            <a:r>
              <a:rPr sz="2700" spc="45" dirty="0">
                <a:latin typeface="Microsoft Sans Serif"/>
                <a:cs typeface="Microsoft Sans Serif"/>
              </a:rPr>
              <a:t>in </a:t>
            </a:r>
            <a:r>
              <a:rPr sz="2700" spc="110" dirty="0">
                <a:latin typeface="Microsoft Sans Serif"/>
                <a:cs typeface="Microsoft Sans Serif"/>
              </a:rPr>
              <a:t>the </a:t>
            </a:r>
            <a:r>
              <a:rPr sz="2700" spc="25" dirty="0">
                <a:latin typeface="Microsoft Sans Serif"/>
                <a:cs typeface="Microsoft Sans Serif"/>
              </a:rPr>
              <a:t>previous </a:t>
            </a:r>
            <a:r>
              <a:rPr sz="2700" spc="90" dirty="0">
                <a:latin typeface="Microsoft Sans Serif"/>
                <a:cs typeface="Microsoft Sans Serif"/>
              </a:rPr>
              <a:t>figure </a:t>
            </a:r>
            <a:r>
              <a:rPr sz="2700" spc="25" dirty="0">
                <a:latin typeface="Microsoft Sans Serif"/>
                <a:cs typeface="Microsoft Sans Serif"/>
              </a:rPr>
              <a:t>by </a:t>
            </a:r>
            <a:r>
              <a:rPr sz="2700" spc="114" dirty="0">
                <a:latin typeface="Microsoft Sans Serif"/>
                <a:cs typeface="Microsoft Sans Serif"/>
              </a:rPr>
              <a:t>the </a:t>
            </a:r>
            <a:r>
              <a:rPr sz="2700" spc="145" dirty="0">
                <a:latin typeface="Microsoft Sans Serif"/>
                <a:cs typeface="Microsoft Sans Serif"/>
              </a:rPr>
              <a:t>dotted </a:t>
            </a:r>
            <a:r>
              <a:rPr sz="2700" spc="150" dirty="0">
                <a:latin typeface="Microsoft Sans Serif"/>
                <a:cs typeface="Microsoft Sans Serif"/>
              </a:rPr>
              <a:t> </a:t>
            </a:r>
            <a:r>
              <a:rPr sz="2700" spc="5" dirty="0">
                <a:latin typeface="Microsoft Sans Serif"/>
                <a:cs typeface="Microsoft Sans Serif"/>
              </a:rPr>
              <a:t>lines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35" dirty="0">
                <a:latin typeface="Microsoft Sans Serif"/>
                <a:cs typeface="Microsoft Sans Serif"/>
              </a:rPr>
              <a:t>connecting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25" dirty="0">
                <a:latin typeface="Microsoft Sans Serif"/>
                <a:cs typeface="Microsoft Sans Serif"/>
              </a:rPr>
              <a:t>tomato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204" dirty="0">
                <a:latin typeface="Microsoft Sans Serif"/>
                <a:cs typeface="Microsoft Sans Serif"/>
              </a:rPr>
              <a:t>to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80" dirty="0">
                <a:latin typeface="Microsoft Sans Serif"/>
                <a:cs typeface="Microsoft Sans Serif"/>
              </a:rPr>
              <a:t>its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15" dirty="0">
                <a:latin typeface="Microsoft Sans Serif"/>
                <a:cs typeface="Microsoft Sans Serif"/>
              </a:rPr>
              <a:t>neighbors.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42538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z="3200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Calculating Distance</a:t>
            </a:r>
            <a:endParaRPr lang="en-US" sz="3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232" y="1452600"/>
            <a:ext cx="7200727" cy="44287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76258" y="6147980"/>
            <a:ext cx="285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Reference: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Data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Science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034" y="142852"/>
            <a:ext cx="8229600" cy="842538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z="3200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Distance</a:t>
            </a:r>
            <a:endParaRPr lang="en-US" sz="3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034" y="1285860"/>
            <a:ext cx="805180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400" dirty="0" smtClean="0"/>
              <a:t>Euclidean distance is specified by the following formula, where p  and q are </a:t>
            </a:r>
            <a:r>
              <a:rPr lang="en-US" sz="2400" dirty="0" err="1" smtClean="0"/>
              <a:t>th</a:t>
            </a:r>
            <a:r>
              <a:rPr lang="en-US" sz="2400" dirty="0" smtClean="0"/>
              <a:t> examples to be compared, each having n features. The  term p1 refers to the value of the first feature of example p, while  q1 refers to the value of the first feature of example q:</a:t>
            </a: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3639489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97CC"/>
                </a:solidFill>
                <a:latin typeface="+mj-lt"/>
                <a:cs typeface="Arial MT"/>
              </a:rPr>
              <a:t>•</a:t>
            </a:r>
            <a:endParaRPr sz="2000">
              <a:latin typeface="+mj-l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3784736"/>
            <a:ext cx="775652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lang="en-US" sz="2400" dirty="0" smtClean="0"/>
              <a:t>The distance formula involves comparing the values of each  feature. For example, to calculate the distance between the  tomato (sweetness = 6, crunchiness = 4), and the green bean  (sweetness = 3, crunchiness = 7), we can use the formula as follows:</a:t>
            </a:r>
            <a:endParaRPr lang="en-US" sz="240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441" y="3172089"/>
            <a:ext cx="6552938" cy="5426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309" y="5643949"/>
            <a:ext cx="7000452" cy="571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42538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z="3200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Distance</a:t>
            </a:r>
            <a:endParaRPr lang="en-US" sz="3200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1151" y="2000885"/>
            <a:ext cx="5176850" cy="3686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5" dirty="0"/>
              <a:t>Distance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4766" y="1619046"/>
            <a:ext cx="3447824" cy="1729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963" y="3779036"/>
            <a:ext cx="3447824" cy="17291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0942" y="2407945"/>
            <a:ext cx="1945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Calibri"/>
                <a:cs typeface="Calibri"/>
              </a:rPr>
              <a:t>Manhattan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Distance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942" y="4460303"/>
            <a:ext cx="180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Euclidean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Distance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5" dirty="0"/>
              <a:t>Closest</a:t>
            </a:r>
            <a:r>
              <a:rPr spc="-204" dirty="0"/>
              <a:t> </a:t>
            </a:r>
            <a:r>
              <a:rPr spc="50" dirty="0"/>
              <a:t>Neighbors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790" y="1778842"/>
            <a:ext cx="8215210" cy="1667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7030A0"/>
                </a:solidFill>
              </a:rPr>
              <a:t>Value of K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Choosing the value of k:</a:t>
            </a:r>
          </a:p>
          <a:p>
            <a:pPr lvl="1"/>
            <a:r>
              <a:rPr lang="en-US" sz="2400" dirty="0" smtClean="0"/>
              <a:t>If k is too small, sensitive to noise points</a:t>
            </a:r>
          </a:p>
          <a:p>
            <a:pPr lvl="1"/>
            <a:r>
              <a:rPr lang="en-US" sz="2400" dirty="0" smtClean="0"/>
              <a:t>If k is too large, neighborhood may include points from other classes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3657600" y="3078163"/>
          <a:ext cx="3738563" cy="3170237"/>
        </p:xfrm>
        <a:graphic>
          <a:graphicData uri="http://schemas.openxmlformats.org/presentationml/2006/ole">
            <p:oleObj spid="_x0000_s30722" name="Visio" r:id="rId3" imgW="6582512" imgH="5298053" progId="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3962400"/>
            <a:ext cx="2828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Rule of thumb:</a:t>
            </a:r>
          </a:p>
          <a:p>
            <a:r>
              <a:rPr lang="en-US" dirty="0" smtClean="0"/>
              <a:t>K = </a:t>
            </a:r>
            <a:r>
              <a:rPr lang="en-US" dirty="0" err="1" smtClean="0"/>
              <a:t>sqrt</a:t>
            </a:r>
            <a:r>
              <a:rPr lang="en-US" dirty="0" smtClean="0"/>
              <a:t>(N)</a:t>
            </a:r>
          </a:p>
          <a:p>
            <a:r>
              <a:rPr lang="en-US" dirty="0" smtClean="0"/>
              <a:t>N: number of training points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Choosing</a:t>
            </a:r>
            <a:r>
              <a:rPr spc="-170" dirty="0"/>
              <a:t> </a:t>
            </a:r>
            <a:r>
              <a:rPr spc="105" dirty="0"/>
              <a:t>appropriate</a:t>
            </a:r>
            <a:r>
              <a:rPr spc="-160" dirty="0"/>
              <a:t> </a:t>
            </a:r>
            <a:r>
              <a:rPr spc="75" dirty="0"/>
              <a:t>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790" y="1604815"/>
            <a:ext cx="8302066" cy="3928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596" y="285728"/>
            <a:ext cx="8229600" cy="842538"/>
          </a:xfrm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z="3200" spc="-10" dirty="0">
                <a:solidFill>
                  <a:srgbClr val="7030A0"/>
                </a:solidFill>
              </a:rPr>
              <a:t>Choosing</a:t>
            </a:r>
            <a:r>
              <a:rPr sz="3200" spc="-170" dirty="0">
                <a:solidFill>
                  <a:srgbClr val="7030A0"/>
                </a:solidFill>
              </a:rPr>
              <a:t> </a:t>
            </a:r>
            <a:r>
              <a:rPr sz="3200" spc="105" dirty="0">
                <a:solidFill>
                  <a:srgbClr val="7030A0"/>
                </a:solidFill>
              </a:rPr>
              <a:t>appropriate</a:t>
            </a:r>
            <a:r>
              <a:rPr sz="3200" spc="-160" dirty="0">
                <a:solidFill>
                  <a:srgbClr val="7030A0"/>
                </a:solidFill>
              </a:rPr>
              <a:t> </a:t>
            </a:r>
            <a:r>
              <a:rPr sz="3200" spc="75" dirty="0">
                <a:solidFill>
                  <a:srgbClr val="7030A0"/>
                </a:solidFill>
              </a:rPr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034" y="1357298"/>
            <a:ext cx="8108950" cy="439735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70485" indent="-343535" algn="just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lang="en-GB" sz="2400" dirty="0" smtClean="0"/>
              <a:t>In practice, choosing k depends on the </a:t>
            </a:r>
            <a:r>
              <a:rPr lang="en-GB" sz="2400" b="1" dirty="0" smtClean="0"/>
              <a:t>difficulty  of the concept to be learned and the number of  records in the training data.</a:t>
            </a:r>
          </a:p>
          <a:p>
            <a:pPr marL="355600" marR="70485" indent="-343535" algn="just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endParaRPr lang="en-GB" sz="2400" dirty="0" smtClean="0"/>
          </a:p>
          <a:p>
            <a:pPr marL="355600" marR="50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GB" sz="2400" dirty="0" smtClean="0"/>
              <a:t>Typically, </a:t>
            </a:r>
            <a:r>
              <a:rPr lang="en-GB" sz="2400" b="1" u="sng" dirty="0" smtClean="0"/>
              <a:t>k is set somewhere between 3 and 10</a:t>
            </a:r>
            <a:r>
              <a:rPr lang="en-GB" sz="2400" dirty="0" smtClean="0"/>
              <a:t>.  One common practice is to set k equal to the  square root of the number of training examples.</a:t>
            </a:r>
          </a:p>
          <a:p>
            <a:pPr marL="355600" marR="50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GB" sz="2400" dirty="0" smtClean="0"/>
          </a:p>
          <a:p>
            <a:pPr marL="355600" marR="32321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GB" sz="2400" b="1" i="1" u="sng" dirty="0" smtClean="0"/>
              <a:t>In the classifier, we might set k = 4, because  there were 15 example ingredients in the  training data and the square root of 15 is 3.87.</a:t>
            </a:r>
            <a:endParaRPr lang="en-GB" sz="2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7030A0"/>
                </a:solidFill>
              </a:rPr>
              <a:t>Nearest Neighbour </a:t>
            </a:r>
            <a:r>
              <a:rPr lang="en-GB" sz="3200" dirty="0" smtClean="0">
                <a:solidFill>
                  <a:srgbClr val="7030A0"/>
                </a:solidFill>
              </a:rPr>
              <a:t>: Computational Complexity</a:t>
            </a:r>
            <a:endParaRPr lang="en-GB" sz="3200" dirty="0">
              <a:solidFill>
                <a:srgbClr val="7030A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1612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Expensive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rgbClr val="CC0000"/>
                </a:solidFill>
              </a:rPr>
              <a:t>To determine the nearest neighbour of a query point </a:t>
            </a:r>
            <a:r>
              <a:rPr lang="en-GB" i="1" dirty="0">
                <a:solidFill>
                  <a:srgbClr val="CC0000"/>
                </a:solidFill>
              </a:rPr>
              <a:t>q</a:t>
            </a:r>
            <a:r>
              <a:rPr lang="en-GB" dirty="0">
                <a:solidFill>
                  <a:srgbClr val="CC0000"/>
                </a:solidFill>
              </a:rPr>
              <a:t>, must compute the distance to all </a:t>
            </a:r>
            <a:r>
              <a:rPr lang="en-GB" i="1" dirty="0">
                <a:solidFill>
                  <a:srgbClr val="CC0000"/>
                </a:solidFill>
              </a:rPr>
              <a:t>N</a:t>
            </a:r>
            <a:r>
              <a:rPr lang="en-GB" dirty="0">
                <a:solidFill>
                  <a:srgbClr val="CC0000"/>
                </a:solidFill>
              </a:rPr>
              <a:t> training examples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Storage </a:t>
            </a:r>
            <a:r>
              <a:rPr lang="en-GB" dirty="0"/>
              <a:t>Requirements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rgbClr val="CC0000"/>
                </a:solidFill>
              </a:rPr>
              <a:t>Must store all training data </a:t>
            </a:r>
            <a:r>
              <a:rPr lang="en-GB" b="1" dirty="0">
                <a:solidFill>
                  <a:srgbClr val="CC0000"/>
                </a:solidFill>
              </a:rPr>
              <a:t>P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High </a:t>
            </a:r>
            <a:r>
              <a:rPr lang="en-GB" dirty="0"/>
              <a:t>Dimensional Data</a:t>
            </a:r>
          </a:p>
          <a:p>
            <a:pPr lvl="1">
              <a:lnSpc>
                <a:spcPct val="90000"/>
              </a:lnSpc>
            </a:pPr>
            <a:r>
              <a:rPr lang="en-GB" dirty="0">
                <a:solidFill>
                  <a:srgbClr val="CC0000"/>
                </a:solidFill>
              </a:rPr>
              <a:t>“Curse of Dimensionality”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Required amount of training data increases exponentially with dimension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Computational cost also increases dramatically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Partitioning techniques degrade to linear search in high dimension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 smtClean="0">
                <a:solidFill>
                  <a:srgbClr val="7030A0"/>
                </a:solidFill>
              </a:rPr>
              <a:t>Knn</a:t>
            </a:r>
            <a:r>
              <a:rPr lang="en-IN" sz="3200" dirty="0" smtClean="0">
                <a:solidFill>
                  <a:srgbClr val="7030A0"/>
                </a:solidFill>
              </a:rPr>
              <a:t>-Implementation</a:t>
            </a:r>
            <a:endParaRPr lang="en-US" sz="3200" dirty="0">
              <a:solidFill>
                <a:srgbClr val="7030A0"/>
              </a:solidFill>
            </a:endParaRPr>
          </a:p>
        </p:txBody>
      </p:sp>
      <p:pic>
        <p:nvPicPr>
          <p:cNvPr id="5" name="object 4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7355" y="1214438"/>
            <a:ext cx="7769289" cy="4911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143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Unsupervised learning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/>
              <a:t>There are many times when unsupervised learning can be appropriate. Some very common examples include the following:</a:t>
            </a:r>
          </a:p>
          <a:p>
            <a:pPr algn="just">
              <a:buNone/>
            </a:pPr>
            <a:r>
              <a:rPr lang="en-GB" sz="2400" dirty="0" smtClean="0"/>
              <a:t>• When there is </a:t>
            </a:r>
            <a:r>
              <a:rPr lang="en-GB" sz="2400" b="1" i="1" u="sng" dirty="0" smtClean="0"/>
              <a:t>no clear response variable</a:t>
            </a:r>
            <a:r>
              <a:rPr lang="en-GB" sz="2400" i="1" dirty="0" smtClean="0"/>
              <a:t>. There is nothing that we are </a:t>
            </a:r>
            <a:r>
              <a:rPr lang="en-GB" sz="2400" dirty="0" smtClean="0"/>
              <a:t>explicitly trying to predict or correlate to other variables.</a:t>
            </a:r>
          </a:p>
          <a:p>
            <a:pPr algn="just">
              <a:buNone/>
            </a:pPr>
            <a:r>
              <a:rPr lang="en-GB" sz="2400" dirty="0" smtClean="0"/>
              <a:t>• To </a:t>
            </a:r>
            <a:r>
              <a:rPr lang="en-GB" sz="2400" b="1" i="1" u="sng" dirty="0" smtClean="0"/>
              <a:t>extract structure </a:t>
            </a:r>
            <a:r>
              <a:rPr lang="en-GB" sz="2400" dirty="0" smtClean="0"/>
              <a:t>from data where no apparent structure/patterns exist (can be a supervised learning problem).</a:t>
            </a:r>
          </a:p>
          <a:p>
            <a:pPr algn="just">
              <a:buNone/>
            </a:pPr>
            <a:r>
              <a:rPr lang="en-GB" sz="2400" dirty="0" smtClean="0"/>
              <a:t>• When an unsupervised concept called </a:t>
            </a:r>
            <a:r>
              <a:rPr lang="en-GB" sz="2400" b="1" i="1" u="sng" dirty="0" smtClean="0"/>
              <a:t>feature extraction is used</a:t>
            </a:r>
            <a:r>
              <a:rPr lang="en-GB" sz="2400" dirty="0" smtClean="0"/>
              <a:t>. </a:t>
            </a:r>
            <a:r>
              <a:rPr lang="en-GB" sz="2400" i="1" dirty="0" smtClean="0"/>
              <a:t>Feature extraction is the process of creating new features from existing ones. These new features can be even stronger than the original features</a:t>
            </a:r>
            <a:r>
              <a:rPr lang="en-GB" sz="2400" dirty="0" smtClean="0"/>
              <a:t>.</a:t>
            </a:r>
            <a:endParaRPr lang="en-US" sz="2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143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Unsupervised learning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/>
              <a:t>There are many times when unsupervised learning can be appropriate. Some very common examples include the following:</a:t>
            </a:r>
          </a:p>
          <a:p>
            <a:pPr algn="just">
              <a:buNone/>
            </a:pPr>
            <a:r>
              <a:rPr lang="en-GB" sz="2400" dirty="0" smtClean="0"/>
              <a:t>• When there is </a:t>
            </a:r>
            <a:r>
              <a:rPr lang="en-GB" sz="2400" b="1" i="1" u="sng" dirty="0" smtClean="0"/>
              <a:t>no clear response variable</a:t>
            </a:r>
            <a:r>
              <a:rPr lang="en-GB" sz="2400" i="1" dirty="0" smtClean="0"/>
              <a:t>. There is nothing that we are </a:t>
            </a:r>
            <a:r>
              <a:rPr lang="en-GB" sz="2400" dirty="0" smtClean="0"/>
              <a:t>explicitly trying to predict or correlate to other variables.</a:t>
            </a:r>
          </a:p>
          <a:p>
            <a:pPr algn="just">
              <a:buNone/>
            </a:pPr>
            <a:r>
              <a:rPr lang="en-GB" sz="2400" dirty="0" smtClean="0"/>
              <a:t>• To </a:t>
            </a:r>
            <a:r>
              <a:rPr lang="en-GB" sz="2400" b="1" i="1" u="sng" dirty="0" smtClean="0"/>
              <a:t>extract structure </a:t>
            </a:r>
            <a:r>
              <a:rPr lang="en-GB" sz="2400" dirty="0" smtClean="0"/>
              <a:t>from data where no apparent structure/patterns exist (can be a supervised learning problem).</a:t>
            </a:r>
          </a:p>
          <a:p>
            <a:pPr algn="just">
              <a:buNone/>
            </a:pPr>
            <a:r>
              <a:rPr lang="en-GB" sz="2400" dirty="0" smtClean="0"/>
              <a:t>• When an unsupervised concept called </a:t>
            </a:r>
            <a:r>
              <a:rPr lang="en-GB" sz="2400" b="1" i="1" u="sng" dirty="0" smtClean="0"/>
              <a:t>feature extraction is used</a:t>
            </a:r>
            <a:r>
              <a:rPr lang="en-GB" sz="2400" dirty="0" smtClean="0"/>
              <a:t>. </a:t>
            </a:r>
            <a:r>
              <a:rPr lang="en-GB" sz="2400" i="1" dirty="0" smtClean="0"/>
              <a:t>Feature extraction is the process of creating new features from existing ones. These new features can be even stronger than the original features</a:t>
            </a:r>
            <a:r>
              <a:rPr lang="en-GB" sz="2400" dirty="0" smtClean="0"/>
              <a:t>.</a:t>
            </a:r>
            <a:endParaRPr lang="en-US" sz="2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71438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Unsupervised learning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572164"/>
          </a:xfrm>
        </p:spPr>
        <p:txBody>
          <a:bodyPr>
            <a:noAutofit/>
          </a:bodyPr>
          <a:lstStyle/>
          <a:p>
            <a:pPr algn="just"/>
            <a:r>
              <a:rPr lang="en-GB" sz="2400" dirty="0" smtClean="0"/>
              <a:t>The </a:t>
            </a:r>
            <a:r>
              <a:rPr lang="en-GB" sz="2400" b="1" dirty="0" smtClean="0"/>
              <a:t>first tends</a:t>
            </a:r>
            <a:r>
              <a:rPr lang="en-GB" sz="2400" dirty="0" smtClean="0"/>
              <a:t> to be the most common reason that data scientists choose to use unsupervised learning. </a:t>
            </a:r>
          </a:p>
          <a:p>
            <a:pPr algn="just"/>
            <a:r>
              <a:rPr lang="en-GB" sz="2400" dirty="0" smtClean="0"/>
              <a:t>This case arises frequently when we are working with data and we </a:t>
            </a:r>
            <a:r>
              <a:rPr lang="en-GB" sz="2400" b="1" dirty="0" smtClean="0"/>
              <a:t>are not explicitly trying to predict </a:t>
            </a:r>
            <a:r>
              <a:rPr lang="en-GB" sz="2400" dirty="0" smtClean="0"/>
              <a:t>any of the columns and we merely wish to find patterns of </a:t>
            </a:r>
            <a:r>
              <a:rPr lang="en-GB" sz="2400" b="1" dirty="0" smtClean="0"/>
              <a:t>similar (and dissimilar) groups </a:t>
            </a:r>
            <a:r>
              <a:rPr lang="en-GB" sz="2400" dirty="0" smtClean="0"/>
              <a:t>of points. </a:t>
            </a:r>
          </a:p>
          <a:p>
            <a:pPr algn="just"/>
            <a:r>
              <a:rPr lang="en-GB" sz="2400" dirty="0" smtClean="0"/>
              <a:t>The </a:t>
            </a:r>
            <a:r>
              <a:rPr lang="en-GB" sz="2400" b="1" dirty="0" smtClean="0"/>
              <a:t>second option </a:t>
            </a:r>
            <a:r>
              <a:rPr lang="en-GB" sz="2400" dirty="0" smtClean="0"/>
              <a:t>comes into play even if we are explicitly attempting to use a supervised model to predict a response variable. Sometimes simple EDA might </a:t>
            </a:r>
            <a:r>
              <a:rPr lang="en-GB" sz="2400" b="1" dirty="0" smtClean="0"/>
              <a:t>not produce any clear patterns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 smtClean="0"/>
              <a:t>The </a:t>
            </a:r>
            <a:r>
              <a:rPr lang="en-GB" sz="2400" b="1" dirty="0" smtClean="0"/>
              <a:t>third common reason </a:t>
            </a:r>
            <a:r>
              <a:rPr lang="en-GB" sz="2400" dirty="0" smtClean="0"/>
              <a:t>to use unsupervised learning is to </a:t>
            </a:r>
            <a:r>
              <a:rPr lang="en-GB" sz="2400" b="1" dirty="0" smtClean="0"/>
              <a:t>extract new features </a:t>
            </a:r>
            <a:r>
              <a:rPr lang="en-GB" sz="2400" dirty="0" smtClean="0"/>
              <a:t>from features that already exist. </a:t>
            </a:r>
          </a:p>
          <a:p>
            <a:pPr algn="just"/>
            <a:r>
              <a:rPr lang="en-GB" sz="2400" i="1" dirty="0" smtClean="0"/>
              <a:t>It might </a:t>
            </a:r>
            <a:r>
              <a:rPr lang="en-GB" sz="2400" dirty="0" smtClean="0"/>
              <a:t>produce features that can be used for </a:t>
            </a:r>
            <a:r>
              <a:rPr lang="en-GB" sz="2400" b="1" u="sng" dirty="0" smtClean="0"/>
              <a:t>presentation purposes</a:t>
            </a:r>
            <a:r>
              <a:rPr lang="en-GB" sz="2400" dirty="0" smtClean="0"/>
              <a:t> (marketing or otherwise).</a:t>
            </a:r>
            <a:endParaRPr lang="en-US" sz="2400" b="1" i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0328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FF0000"/>
                </a:solidFill>
              </a:rPr>
              <a:t>Unsuprevised</a:t>
            </a:r>
            <a:r>
              <a:rPr lang="en-US" sz="3200" b="1" dirty="0" smtClean="0">
                <a:solidFill>
                  <a:srgbClr val="FF0000"/>
                </a:solidFill>
              </a:rPr>
              <a:t>: K-means clustering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 algn="just"/>
            <a:r>
              <a:rPr lang="en-GB" sz="2400" b="1" dirty="0" smtClean="0"/>
              <a:t>K-means clustering </a:t>
            </a:r>
            <a:r>
              <a:rPr lang="en-GB" sz="2400" dirty="0" smtClean="0"/>
              <a:t>is our first example of an unsupervised machine learning model.</a:t>
            </a:r>
          </a:p>
          <a:p>
            <a:pPr algn="just"/>
            <a:r>
              <a:rPr lang="en-GB" sz="2400" dirty="0" smtClean="0"/>
              <a:t>we are </a:t>
            </a:r>
            <a:r>
              <a:rPr lang="en-GB" sz="2400" b="1" u="sng" dirty="0" smtClean="0"/>
              <a:t>not making predictions</a:t>
            </a:r>
            <a:r>
              <a:rPr lang="en-GB" sz="2400" dirty="0" smtClean="0"/>
              <a:t>; we are trying instead to extract structure from seemingly </a:t>
            </a:r>
            <a:r>
              <a:rPr lang="en-GB" sz="2400" b="1" dirty="0" smtClean="0"/>
              <a:t>unstructured data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 smtClean="0"/>
              <a:t>Clustering is a family of unsupervised machine learning models that attempt to </a:t>
            </a:r>
            <a:r>
              <a:rPr lang="en-GB" sz="2400" u="sng" dirty="0" smtClean="0">
                <a:solidFill>
                  <a:srgbClr val="7030A0"/>
                </a:solidFill>
              </a:rPr>
              <a:t>group data points into </a:t>
            </a:r>
            <a:r>
              <a:rPr lang="en-GB" sz="2400" b="1" u="sng" dirty="0" smtClean="0">
                <a:solidFill>
                  <a:srgbClr val="7030A0"/>
                </a:solidFill>
              </a:rPr>
              <a:t>clusters with centroids.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Definition: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7030A0"/>
                </a:solidFill>
              </a:rPr>
              <a:t>Cluster: </a:t>
            </a:r>
            <a:r>
              <a:rPr lang="en-GB" sz="2400" dirty="0" smtClean="0"/>
              <a:t>A </a:t>
            </a:r>
            <a:r>
              <a:rPr lang="en-GB" sz="2400" b="1" i="1" u="sng" dirty="0" smtClean="0"/>
              <a:t>group of data points </a:t>
            </a:r>
            <a:r>
              <a:rPr lang="en-GB" sz="2400" dirty="0" smtClean="0"/>
              <a:t>that behave </a:t>
            </a:r>
            <a:r>
              <a:rPr lang="en-GB" sz="2400" b="1" dirty="0" smtClean="0"/>
              <a:t>similarly</a:t>
            </a:r>
            <a:r>
              <a:rPr lang="en-GB" sz="2400" dirty="0" smtClean="0"/>
              <a:t>.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Definition:</a:t>
            </a:r>
          </a:p>
          <a:p>
            <a:pPr>
              <a:buNone/>
            </a:pPr>
            <a:r>
              <a:rPr lang="en-GB" sz="2400" dirty="0" smtClean="0"/>
              <a:t>	</a:t>
            </a:r>
            <a:r>
              <a:rPr lang="en-GB" sz="2400" dirty="0" smtClean="0">
                <a:solidFill>
                  <a:srgbClr val="7030A0"/>
                </a:solidFill>
              </a:rPr>
              <a:t>Centroid: </a:t>
            </a:r>
            <a:r>
              <a:rPr lang="en-GB" sz="2400" dirty="0" smtClean="0"/>
              <a:t>The </a:t>
            </a:r>
            <a:r>
              <a:rPr lang="en-GB" sz="2400" b="1" i="1" u="sng" dirty="0" err="1" smtClean="0"/>
              <a:t>center</a:t>
            </a:r>
            <a:r>
              <a:rPr lang="en-GB" sz="2400" i="1" dirty="0" smtClean="0"/>
              <a:t> of a cluster. Can be thought of as an </a:t>
            </a:r>
            <a:r>
              <a:rPr lang="en-GB" sz="2400" b="1" u="sng" dirty="0" smtClean="0"/>
              <a:t>average </a:t>
            </a:r>
            <a:r>
              <a:rPr lang="en-US" sz="2400" b="1" u="sng" dirty="0" smtClean="0"/>
              <a:t>point in the cluster</a:t>
            </a:r>
            <a:r>
              <a:rPr lang="en-US" sz="2400" dirty="0" smtClean="0"/>
              <a:t>.</a:t>
            </a:r>
            <a:endParaRPr lang="en-US" sz="24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03282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FF0000"/>
                </a:solidFill>
              </a:rPr>
              <a:t>Unsuprevised</a:t>
            </a:r>
            <a:r>
              <a:rPr lang="en-US" sz="3200" b="1" dirty="0" smtClean="0">
                <a:solidFill>
                  <a:srgbClr val="FF0000"/>
                </a:solidFill>
              </a:rPr>
              <a:t>: K-means clustering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For example, </a:t>
            </a:r>
            <a:r>
              <a:rPr lang="en-GB" sz="2400" b="1" u="sng" dirty="0" smtClean="0"/>
              <a:t>online shoppers </a:t>
            </a:r>
            <a:r>
              <a:rPr lang="en-GB" sz="2400" dirty="0" smtClean="0"/>
              <a:t>who behave similarly might shop for similar things or at similar shops, whereas similar software companies might make </a:t>
            </a:r>
            <a:r>
              <a:rPr lang="en-GB" sz="2400" b="1" u="sng" dirty="0" smtClean="0"/>
              <a:t>comparable software at comparable prices</a:t>
            </a:r>
            <a:r>
              <a:rPr lang="en-GB" sz="2400" dirty="0" smtClean="0"/>
              <a:t>.</a:t>
            </a:r>
          </a:p>
          <a:p>
            <a:endParaRPr lang="en-US" sz="2400" u="sng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1" y="2428868"/>
            <a:ext cx="4881157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2928934"/>
            <a:ext cx="27146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7030A0"/>
                </a:solidFill>
              </a:rPr>
              <a:t>Typical representation of K-Means Clustering. Each Colour is one Group </a:t>
            </a:r>
            <a:r>
              <a:rPr lang="en-IN" sz="2400" b="1" dirty="0" smtClean="0">
                <a:solidFill>
                  <a:srgbClr val="FF0000"/>
                </a:solidFill>
              </a:rPr>
              <a:t>(not Class). </a:t>
            </a:r>
            <a:r>
              <a:rPr lang="en-IN" sz="2400" b="1" dirty="0" err="1" smtClean="0"/>
              <a:t>Centroid</a:t>
            </a:r>
            <a:r>
              <a:rPr lang="en-IN" sz="2400" b="1" dirty="0" smtClean="0"/>
              <a:t> is presented as Block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500726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2400" dirty="0" smtClean="0"/>
              <a:t>In the preceding figure, our human brains can very easily see the difference between the four clusters.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Namely that the </a:t>
            </a:r>
            <a:r>
              <a:rPr lang="en-GB" sz="2400" b="1" dirty="0" smtClean="0">
                <a:solidFill>
                  <a:srgbClr val="FF0000"/>
                </a:solidFill>
              </a:rPr>
              <a:t>red cluster </a:t>
            </a:r>
            <a:r>
              <a:rPr lang="en-GB" sz="2400" dirty="0" smtClean="0"/>
              <a:t>is on the </a:t>
            </a:r>
            <a:r>
              <a:rPr lang="en-GB" sz="2400" b="1" dirty="0" smtClean="0"/>
              <a:t>bottom left of the graph </a:t>
            </a:r>
            <a:r>
              <a:rPr lang="en-GB" sz="2400" dirty="0" smtClean="0"/>
              <a:t>while the </a:t>
            </a:r>
            <a:r>
              <a:rPr lang="en-GB" sz="2400" b="1" dirty="0" smtClean="0">
                <a:solidFill>
                  <a:srgbClr val="00B050"/>
                </a:solidFill>
              </a:rPr>
              <a:t>green cluster </a:t>
            </a:r>
            <a:r>
              <a:rPr lang="en-GB" sz="2400" dirty="0" smtClean="0"/>
              <a:t>lives in the </a:t>
            </a:r>
            <a:r>
              <a:rPr lang="en-GB" sz="2400" b="1" dirty="0" smtClean="0"/>
              <a:t>bottom right portion </a:t>
            </a:r>
            <a:r>
              <a:rPr lang="en-GB" sz="2400" dirty="0" smtClean="0"/>
              <a:t>of the graph. 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This means that the red data points are similar to each other, </a:t>
            </a:r>
            <a:r>
              <a:rPr lang="en-GB" sz="2400" b="1" dirty="0" smtClean="0"/>
              <a:t>but </a:t>
            </a:r>
            <a:r>
              <a:rPr lang="en-GB" sz="2400" b="1" i="1" dirty="0" smtClean="0"/>
              <a:t>not similar to data points in the other </a:t>
            </a:r>
            <a:r>
              <a:rPr lang="en-US" sz="2400" b="1" dirty="0" smtClean="0"/>
              <a:t>clusters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r>
              <a:rPr lang="en-GB" sz="2400" b="1" dirty="0" smtClean="0"/>
              <a:t>centroids of each cluster as the square in each </a:t>
            </a:r>
            <a:r>
              <a:rPr lang="en-GB" sz="2400" b="1" dirty="0" err="1" smtClean="0"/>
              <a:t>color</a:t>
            </a:r>
            <a:r>
              <a:rPr lang="en-GB" sz="2400" b="1" dirty="0" smtClean="0"/>
              <a:t>. </a:t>
            </a:r>
          </a:p>
          <a:p>
            <a:endParaRPr lang="en-GB" sz="2400" b="1" dirty="0" smtClean="0"/>
          </a:p>
          <a:p>
            <a:r>
              <a:rPr lang="en-GB" sz="2400" dirty="0" smtClean="0"/>
              <a:t>Note that </a:t>
            </a:r>
            <a:r>
              <a:rPr lang="en-GB" sz="2400" b="1" i="1" u="sng" dirty="0" smtClean="0"/>
              <a:t>the </a:t>
            </a:r>
            <a:r>
              <a:rPr lang="en-GB" sz="2400" b="1" i="1" u="sng" dirty="0" err="1" smtClean="0"/>
              <a:t>centroid</a:t>
            </a:r>
            <a:r>
              <a:rPr lang="en-GB" sz="2400" b="1" i="1" u="sng" dirty="0" smtClean="0"/>
              <a:t> is not an actual data point</a:t>
            </a:r>
            <a:r>
              <a:rPr lang="en-GB" sz="2400" i="1" dirty="0" smtClean="0"/>
              <a:t>, but is merely </a:t>
            </a:r>
            <a:r>
              <a:rPr lang="en-GB" sz="2400" b="1" i="1" u="sng" dirty="0" smtClean="0"/>
              <a:t>an abstraction of a cluster </a:t>
            </a:r>
            <a:r>
              <a:rPr lang="en-GB" sz="2400" dirty="0" smtClean="0"/>
              <a:t>and represents the </a:t>
            </a:r>
            <a:r>
              <a:rPr lang="en-GB" sz="2400" dirty="0" err="1" smtClean="0"/>
              <a:t>center</a:t>
            </a:r>
            <a:r>
              <a:rPr lang="en-GB" sz="2400" dirty="0" smtClean="0"/>
              <a:t> of the cluster</a:t>
            </a:r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Unsuprevised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K-means clustering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500726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2400" dirty="0" smtClean="0"/>
              <a:t>In the preceding figure, our human brains can very easily see the difference between the four clusters.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Namely that the </a:t>
            </a:r>
            <a:r>
              <a:rPr lang="en-GB" sz="2400" b="1" dirty="0" smtClean="0">
                <a:solidFill>
                  <a:srgbClr val="FF0000"/>
                </a:solidFill>
              </a:rPr>
              <a:t>red cluster </a:t>
            </a:r>
            <a:r>
              <a:rPr lang="en-GB" sz="2400" dirty="0" smtClean="0"/>
              <a:t>is on the </a:t>
            </a:r>
            <a:r>
              <a:rPr lang="en-GB" sz="2400" b="1" dirty="0" smtClean="0"/>
              <a:t>bottom left of the graph </a:t>
            </a:r>
            <a:r>
              <a:rPr lang="en-GB" sz="2400" dirty="0" smtClean="0"/>
              <a:t>while the </a:t>
            </a:r>
            <a:r>
              <a:rPr lang="en-GB" sz="2400" b="1" dirty="0" smtClean="0">
                <a:solidFill>
                  <a:srgbClr val="00B050"/>
                </a:solidFill>
              </a:rPr>
              <a:t>green cluster </a:t>
            </a:r>
            <a:r>
              <a:rPr lang="en-GB" sz="2400" dirty="0" smtClean="0"/>
              <a:t>lives in the </a:t>
            </a:r>
            <a:r>
              <a:rPr lang="en-GB" sz="2400" b="1" dirty="0" smtClean="0"/>
              <a:t>bottom right portion </a:t>
            </a:r>
            <a:r>
              <a:rPr lang="en-GB" sz="2400" dirty="0" smtClean="0"/>
              <a:t>of the graph. </a:t>
            </a:r>
          </a:p>
          <a:p>
            <a:pPr algn="just"/>
            <a:endParaRPr lang="en-GB" sz="2400" dirty="0" smtClean="0"/>
          </a:p>
          <a:p>
            <a:pPr algn="just"/>
            <a:r>
              <a:rPr lang="en-GB" sz="2400" dirty="0" smtClean="0"/>
              <a:t>This means that the red data points are similar to each other, </a:t>
            </a:r>
            <a:r>
              <a:rPr lang="en-GB" sz="2400" b="1" dirty="0" smtClean="0"/>
              <a:t>but </a:t>
            </a:r>
            <a:r>
              <a:rPr lang="en-GB" sz="2400" b="1" i="1" dirty="0" smtClean="0"/>
              <a:t>not similar to data points in the other </a:t>
            </a:r>
            <a:r>
              <a:rPr lang="en-US" sz="2400" b="1" dirty="0" smtClean="0"/>
              <a:t>clusters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r>
              <a:rPr lang="en-GB" sz="2400" b="1" dirty="0" smtClean="0"/>
              <a:t>centroids of each cluster as the square in each </a:t>
            </a:r>
            <a:r>
              <a:rPr lang="en-GB" sz="2400" b="1" dirty="0" err="1" smtClean="0"/>
              <a:t>color</a:t>
            </a:r>
            <a:r>
              <a:rPr lang="en-GB" sz="2400" b="1" dirty="0" smtClean="0"/>
              <a:t>. </a:t>
            </a:r>
          </a:p>
          <a:p>
            <a:endParaRPr lang="en-GB" sz="2400" b="1" dirty="0" smtClean="0"/>
          </a:p>
          <a:p>
            <a:r>
              <a:rPr lang="en-GB" sz="2400" dirty="0" smtClean="0"/>
              <a:t>Note that </a:t>
            </a:r>
            <a:r>
              <a:rPr lang="en-GB" sz="2400" b="1" i="1" u="sng" dirty="0" smtClean="0"/>
              <a:t>the </a:t>
            </a:r>
            <a:r>
              <a:rPr lang="en-GB" sz="2400" b="1" i="1" u="sng" dirty="0" err="1" smtClean="0"/>
              <a:t>centroid</a:t>
            </a:r>
            <a:r>
              <a:rPr lang="en-GB" sz="2400" b="1" i="1" u="sng" dirty="0" smtClean="0"/>
              <a:t> is not an actual data point</a:t>
            </a:r>
            <a:r>
              <a:rPr lang="en-GB" sz="2400" i="1" dirty="0" smtClean="0"/>
              <a:t>, but is merely </a:t>
            </a:r>
            <a:r>
              <a:rPr lang="en-GB" sz="2400" b="1" i="1" u="sng" dirty="0" smtClean="0"/>
              <a:t>an abstraction of a cluster </a:t>
            </a:r>
            <a:r>
              <a:rPr lang="en-GB" sz="2400" dirty="0" smtClean="0"/>
              <a:t>and represents the </a:t>
            </a:r>
            <a:r>
              <a:rPr lang="en-GB" sz="2400" dirty="0" err="1" smtClean="0"/>
              <a:t>center</a:t>
            </a:r>
            <a:r>
              <a:rPr lang="en-GB" sz="2400" dirty="0" smtClean="0"/>
              <a:t> of the cluster</a:t>
            </a:r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Unsuprevised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K-means clustering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50072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400" dirty="0" smtClean="0"/>
              <a:t>The concept of </a:t>
            </a:r>
            <a:r>
              <a:rPr lang="en-GB" sz="2400" i="1" dirty="0" smtClean="0">
                <a:solidFill>
                  <a:srgbClr val="7030A0"/>
                </a:solidFill>
              </a:rPr>
              <a:t>similarity is central to the definition of a cluster, and therefore</a:t>
            </a:r>
            <a:r>
              <a:rPr lang="en-GB" sz="2400" i="1" dirty="0" smtClean="0"/>
              <a:t> </a:t>
            </a:r>
            <a:r>
              <a:rPr lang="en-GB" sz="2400" dirty="0" smtClean="0"/>
              <a:t>to cluster analysis. </a:t>
            </a:r>
          </a:p>
          <a:p>
            <a:endParaRPr lang="en-GB" sz="2400" dirty="0" smtClean="0"/>
          </a:p>
          <a:p>
            <a:pPr algn="just"/>
            <a:r>
              <a:rPr lang="en-GB" sz="2400" dirty="0" smtClean="0"/>
              <a:t>In general, </a:t>
            </a:r>
            <a:r>
              <a:rPr lang="en-GB" sz="2400" b="1" dirty="0" smtClean="0"/>
              <a:t>greater similarity between points leads to better clustering</a:t>
            </a:r>
            <a:r>
              <a:rPr lang="en-GB" sz="2400" dirty="0" smtClean="0"/>
              <a:t>. In most cases, we turn data into points in </a:t>
            </a:r>
            <a:r>
              <a:rPr lang="en-GB" sz="2400" b="1" i="1" dirty="0" smtClean="0"/>
              <a:t>n-dimensional space and use the </a:t>
            </a:r>
            <a:r>
              <a:rPr lang="en-GB" sz="2400" b="1" dirty="0" smtClean="0"/>
              <a:t>distance between these points </a:t>
            </a:r>
            <a:r>
              <a:rPr lang="en-GB" sz="2400" dirty="0" smtClean="0"/>
              <a:t>as a form of similarity. </a:t>
            </a:r>
          </a:p>
          <a:p>
            <a:endParaRPr lang="en-GB" sz="2400" dirty="0" smtClean="0"/>
          </a:p>
          <a:p>
            <a:pPr algn="just"/>
            <a:r>
              <a:rPr lang="en-GB" sz="2400" dirty="0" smtClean="0"/>
              <a:t>The </a:t>
            </a:r>
            <a:r>
              <a:rPr lang="en-GB" sz="2400" dirty="0" err="1" smtClean="0"/>
              <a:t>centroid</a:t>
            </a:r>
            <a:r>
              <a:rPr lang="en-GB" sz="2400" dirty="0" smtClean="0"/>
              <a:t> of the cluster then is usually </a:t>
            </a:r>
            <a:r>
              <a:rPr lang="en-GB" sz="2400" b="1" dirty="0" smtClean="0"/>
              <a:t>the average of each dimension</a:t>
            </a:r>
            <a:r>
              <a:rPr lang="en-GB" sz="2400" dirty="0" smtClean="0"/>
              <a:t> (column) for each data point in each cluster.</a:t>
            </a:r>
          </a:p>
          <a:p>
            <a:endParaRPr lang="en-GB" sz="2400" dirty="0" smtClean="0"/>
          </a:p>
          <a:p>
            <a:pPr algn="just"/>
            <a:r>
              <a:rPr lang="en-GB" sz="2400" dirty="0" smtClean="0"/>
              <a:t>So for example, the </a:t>
            </a:r>
            <a:r>
              <a:rPr lang="en-GB" sz="2400" i="1" u="sng" dirty="0" err="1" smtClean="0"/>
              <a:t>centroid</a:t>
            </a:r>
            <a:r>
              <a:rPr lang="en-GB" sz="2400" i="1" u="sng" dirty="0" smtClean="0"/>
              <a:t> of the red cluster is the result of taking the average value of each column of each red data point.</a:t>
            </a:r>
            <a:endParaRPr lang="en-US" sz="2400" i="1" u="sng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Unsuprevised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K-means clustering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r>
              <a:rPr lang="en-GB" sz="2400" dirty="0" smtClean="0"/>
              <a:t>The goal is to extract and enhance the natural structure of the data. There are many kinds of classification procedures.</a:t>
            </a:r>
          </a:p>
          <a:p>
            <a:r>
              <a:rPr lang="en-GB" sz="2400" dirty="0" smtClean="0"/>
              <a:t>K-means is an iterative method that partitions a data set into k clusters. It works in </a:t>
            </a:r>
            <a:r>
              <a:rPr lang="en-US" sz="2400" b="1" i="1" u="sng" dirty="0" smtClean="0">
                <a:solidFill>
                  <a:srgbClr val="7030A0"/>
                </a:solidFill>
              </a:rPr>
              <a:t>four</a:t>
            </a:r>
            <a:r>
              <a:rPr lang="en-US" sz="2400" dirty="0" smtClean="0"/>
              <a:t> steps:</a:t>
            </a:r>
          </a:p>
          <a:p>
            <a:endParaRPr lang="en-US" sz="2400" dirty="0" smtClean="0"/>
          </a:p>
          <a:p>
            <a:pPr marL="457200" indent="-457200">
              <a:buAutoNum type="arabicPeriod"/>
            </a:pPr>
            <a:r>
              <a:rPr lang="en-GB" sz="2400" dirty="0" smtClean="0"/>
              <a:t>Choose k initial centroids (note that k is an input).</a:t>
            </a:r>
          </a:p>
          <a:p>
            <a:pPr marL="457200" indent="-457200">
              <a:buAutoNum type="arabicPeriod"/>
            </a:pPr>
            <a:endParaRPr lang="en-GB" sz="2400" dirty="0" smtClean="0"/>
          </a:p>
          <a:p>
            <a:pPr>
              <a:buNone/>
            </a:pPr>
            <a:r>
              <a:rPr lang="en-GB" sz="2400" dirty="0" smtClean="0">
                <a:solidFill>
                  <a:srgbClr val="7030A0"/>
                </a:solidFill>
              </a:rPr>
              <a:t>2. </a:t>
            </a:r>
            <a:r>
              <a:rPr lang="en-GB" sz="2400" dirty="0" smtClean="0"/>
              <a:t>For each point assign the point to the nearest </a:t>
            </a:r>
            <a:r>
              <a:rPr lang="en-GB" sz="2400" dirty="0" err="1" smtClean="0"/>
              <a:t>centroid</a:t>
            </a:r>
            <a:r>
              <a:rPr lang="en-GB" sz="2400" dirty="0" smtClean="0"/>
              <a:t>.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dirty="0" smtClean="0">
                <a:solidFill>
                  <a:srgbClr val="7030A0"/>
                </a:solidFill>
              </a:rPr>
              <a:t>3. </a:t>
            </a:r>
            <a:r>
              <a:rPr lang="en-GB" sz="2400" dirty="0" smtClean="0"/>
              <a:t>Recalculate the </a:t>
            </a:r>
            <a:r>
              <a:rPr lang="en-GB" sz="2400" dirty="0" err="1" smtClean="0"/>
              <a:t>centroid</a:t>
            </a:r>
            <a:r>
              <a:rPr lang="en-GB" sz="2400" dirty="0" smtClean="0"/>
              <a:t> positions.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dirty="0" smtClean="0">
                <a:solidFill>
                  <a:srgbClr val="7030A0"/>
                </a:solidFill>
              </a:rPr>
              <a:t>4. </a:t>
            </a:r>
            <a:r>
              <a:rPr lang="en-GB" sz="2400" dirty="0" smtClean="0"/>
              <a:t>Repeat steps 2-3 until stopping criteria is met.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Unsuprevised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K-means clustering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3143272" cy="257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4071934" y="114298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GB" sz="2400" dirty="0" smtClean="0"/>
              <a:t>Each dot is </a:t>
            </a:r>
            <a:r>
              <a:rPr lang="en-GB" sz="2400" dirty="0" err="1" smtClean="0"/>
              <a:t>colored</a:t>
            </a:r>
            <a:r>
              <a:rPr lang="en-GB" sz="2400" dirty="0" smtClean="0"/>
              <a:t> grey so as to assume no prior grouping before applying the K-means algorithm. The goal here is to eventually </a:t>
            </a:r>
            <a:r>
              <a:rPr lang="en-GB" sz="2400" dirty="0" err="1" smtClean="0"/>
              <a:t>color</a:t>
            </a:r>
            <a:r>
              <a:rPr lang="en-GB" sz="2400" dirty="0" smtClean="0"/>
              <a:t> in each dot and create </a:t>
            </a:r>
            <a:r>
              <a:rPr lang="en-US" sz="2400" dirty="0" smtClean="0"/>
              <a:t>groupings (clusters).</a:t>
            </a:r>
            <a:endParaRPr lang="en-US" sz="2400" dirty="0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714752"/>
            <a:ext cx="3652839" cy="296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4071934" y="450057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GB" sz="2400" dirty="0" smtClean="0"/>
              <a:t>Here, step 1 has been applied. We have (</a:t>
            </a:r>
            <a:r>
              <a:rPr lang="en-GB" sz="2400" b="1" dirty="0" smtClean="0"/>
              <a:t>randomly</a:t>
            </a:r>
            <a:r>
              <a:rPr lang="en-GB" sz="2400" dirty="0" smtClean="0"/>
              <a:t>) chosen three centroids </a:t>
            </a:r>
            <a:r>
              <a:rPr lang="en-US" sz="2400" dirty="0" smtClean="0"/>
              <a:t>(red, blue, and yellow).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57686" y="1500174"/>
            <a:ext cx="421484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The first part of step 2 has been applied. For each data point, we found the most </a:t>
            </a:r>
            <a:r>
              <a:rPr lang="en-US" sz="2400" dirty="0" smtClean="0"/>
              <a:t>similar </a:t>
            </a:r>
            <a:r>
              <a:rPr lang="en-US" sz="2400" dirty="0" err="1" smtClean="0"/>
              <a:t>centroid</a:t>
            </a:r>
            <a:r>
              <a:rPr lang="en-US" sz="2400" dirty="0" smtClean="0"/>
              <a:t> (closest).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4143372" y="4000504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 smtClean="0"/>
              <a:t>The second part of step 2 has been applied here. We have </a:t>
            </a:r>
            <a:r>
              <a:rPr lang="en-GB" sz="2400" dirty="0" err="1" smtClean="0"/>
              <a:t>colored</a:t>
            </a:r>
            <a:r>
              <a:rPr lang="en-GB" sz="2400" dirty="0" smtClean="0"/>
              <a:t> in each data point in accordance with its most similar </a:t>
            </a:r>
            <a:r>
              <a:rPr lang="en-GB" sz="2400" dirty="0" err="1" smtClean="0"/>
              <a:t>centroid</a:t>
            </a:r>
            <a:r>
              <a:rPr lang="en-GB" sz="2400" dirty="0" smtClean="0"/>
              <a:t>.</a:t>
            </a:r>
            <a:endParaRPr lang="en-US" sz="24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71546"/>
            <a:ext cx="3209922" cy="265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3571876"/>
            <a:ext cx="34766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414" y="4357694"/>
            <a:ext cx="70723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This is step 3 and the crux of K-Means. Note that we have physically moved the centroids to be the actual </a:t>
            </a:r>
            <a:r>
              <a:rPr lang="en-GB" sz="2400" dirty="0" err="1" smtClean="0"/>
              <a:t>center</a:t>
            </a:r>
            <a:r>
              <a:rPr lang="en-GB" sz="2400" dirty="0" smtClean="0"/>
              <a:t> of each cluster.</a:t>
            </a:r>
            <a:endParaRPr 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1428736"/>
            <a:ext cx="3181647" cy="263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5786" y="1142984"/>
            <a:ext cx="764386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</a:rPr>
              <a:t>For example, suppose the </a:t>
            </a:r>
            <a:r>
              <a:rPr lang="en-GB" sz="2400" dirty="0" smtClean="0">
                <a:solidFill>
                  <a:srgbClr val="7030A0"/>
                </a:solidFill>
              </a:rPr>
              <a:t>three red data points had the coordinates (1, 3), (2, 5), and (3, 4). The </a:t>
            </a:r>
            <a:r>
              <a:rPr lang="en-GB" sz="2400" dirty="0" err="1" smtClean="0">
                <a:solidFill>
                  <a:srgbClr val="7030A0"/>
                </a:solidFill>
              </a:rPr>
              <a:t>center</a:t>
            </a:r>
            <a:r>
              <a:rPr lang="en-GB" sz="2400" dirty="0" smtClean="0">
                <a:solidFill>
                  <a:srgbClr val="7030A0"/>
                </a:solidFill>
              </a:rPr>
              <a:t> (</a:t>
            </a:r>
            <a:r>
              <a:rPr lang="en-GB" sz="2400" i="1" dirty="0" smtClean="0">
                <a:solidFill>
                  <a:srgbClr val="7030A0"/>
                </a:solidFill>
              </a:rPr>
              <a:t>red cross) would be calculated as follows:</a:t>
            </a:r>
          </a:p>
          <a:p>
            <a:r>
              <a:rPr lang="en-US" sz="2400" dirty="0" smtClean="0"/>
              <a:t># </a:t>
            </a:r>
            <a:r>
              <a:rPr lang="en-US" sz="2400" dirty="0" err="1" smtClean="0"/>
              <a:t>centroid</a:t>
            </a:r>
            <a:r>
              <a:rPr lang="en-US" sz="2400" dirty="0" smtClean="0"/>
              <a:t> calculation</a:t>
            </a:r>
          </a:p>
          <a:p>
            <a:r>
              <a:rPr lang="en-US" sz="2400" dirty="0" smtClean="0"/>
              <a:t>import </a:t>
            </a:r>
            <a:r>
              <a:rPr lang="en-US" sz="2400" dirty="0" err="1" smtClean="0"/>
              <a:t>numpy</a:t>
            </a:r>
            <a:r>
              <a:rPr lang="en-US" sz="2400" dirty="0" smtClean="0"/>
              <a:t> as </a:t>
            </a:r>
            <a:r>
              <a:rPr lang="en-US" sz="2400" dirty="0" err="1" smtClean="0"/>
              <a:t>np</a:t>
            </a:r>
            <a:endParaRPr lang="en-US" sz="2400" dirty="0" smtClean="0"/>
          </a:p>
          <a:p>
            <a:r>
              <a:rPr lang="en-US" sz="2400" dirty="0" smtClean="0"/>
              <a:t>red_point1 = </a:t>
            </a:r>
            <a:r>
              <a:rPr lang="en-US" sz="2400" dirty="0" err="1" smtClean="0"/>
              <a:t>np.array</a:t>
            </a:r>
            <a:r>
              <a:rPr lang="en-US" sz="2400" dirty="0" smtClean="0"/>
              <a:t>([1, 3])</a:t>
            </a:r>
          </a:p>
          <a:p>
            <a:r>
              <a:rPr lang="en-US" sz="2400" dirty="0" smtClean="0"/>
              <a:t>red_point2 = </a:t>
            </a:r>
            <a:r>
              <a:rPr lang="en-US" sz="2400" dirty="0" err="1" smtClean="0"/>
              <a:t>np.array</a:t>
            </a:r>
            <a:r>
              <a:rPr lang="en-US" sz="2400" dirty="0" smtClean="0"/>
              <a:t>([2, 5])</a:t>
            </a:r>
          </a:p>
          <a:p>
            <a:r>
              <a:rPr lang="en-US" sz="2400" dirty="0" smtClean="0"/>
              <a:t>red_point3 = </a:t>
            </a:r>
            <a:r>
              <a:rPr lang="en-US" sz="2400" dirty="0" err="1" smtClean="0"/>
              <a:t>np.array</a:t>
            </a:r>
            <a:r>
              <a:rPr lang="en-US" sz="2400" dirty="0" smtClean="0"/>
              <a:t>([3, 4])</a:t>
            </a:r>
          </a:p>
          <a:p>
            <a:r>
              <a:rPr lang="en-US" sz="2400" dirty="0" err="1" smtClean="0"/>
              <a:t>red_center</a:t>
            </a:r>
            <a:r>
              <a:rPr lang="en-US" sz="2400" dirty="0" smtClean="0"/>
              <a:t> = (red_point1 + red_point2 + red_point3) / 3.</a:t>
            </a:r>
          </a:p>
          <a:p>
            <a:r>
              <a:rPr lang="en-US" sz="2400" dirty="0" err="1" smtClean="0"/>
              <a:t>red_center</a:t>
            </a:r>
            <a:endParaRPr lang="en-US" sz="2400" dirty="0" smtClean="0"/>
          </a:p>
          <a:p>
            <a:r>
              <a:rPr lang="en-US" sz="2400" dirty="0" smtClean="0">
                <a:solidFill>
                  <a:srgbClr val="7030A0"/>
                </a:solidFill>
              </a:rPr>
              <a:t># array([ 2., 4.])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3108" y="714356"/>
            <a:ext cx="4357718" cy="333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85786" y="4000504"/>
            <a:ext cx="7715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We continue with our algorithm by repeating step 2. Here is the first part where we find the closest </a:t>
            </a:r>
            <a:r>
              <a:rPr lang="en-GB" sz="2400" dirty="0" err="1" smtClean="0"/>
              <a:t>center</a:t>
            </a:r>
            <a:r>
              <a:rPr lang="en-GB" sz="2400" dirty="0" smtClean="0"/>
              <a:t> for each point. Note a big change: The point that is circled in the following figure used to be a yellow point, but has changed to be a red cluster point because the yellow cluster moved closer to its yellow constituents.</a:t>
            </a:r>
            <a:endParaRPr 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00108"/>
            <a:ext cx="2914650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2786058"/>
            <a:ext cx="3948287" cy="3252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85720" y="471488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 smtClean="0"/>
              <a:t>Here is the second part of step 2 again. We have assigned each point to the </a:t>
            </a:r>
            <a:r>
              <a:rPr lang="en-GB" sz="2400" dirty="0" err="1" smtClean="0"/>
              <a:t>color</a:t>
            </a:r>
            <a:r>
              <a:rPr lang="en-GB" sz="2400" dirty="0" smtClean="0"/>
              <a:t> of </a:t>
            </a:r>
            <a:r>
              <a:rPr lang="en-US" sz="2400" dirty="0" smtClean="0"/>
              <a:t>the closest cluster.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8596" y="285728"/>
            <a:ext cx="8229600" cy="560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Illustrative example – data points</a:t>
            </a:r>
          </a:p>
          <a:p>
            <a:pPr lvl="0" algn="ctr">
              <a:spcBef>
                <a:spcPct val="0"/>
              </a:spcBef>
            </a:pPr>
            <a:r>
              <a:rPr lang="en-IN" sz="2400" b="1" dirty="0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Assume Each Dot is a Data Point</a:t>
            </a:r>
            <a:endParaRPr lang="en-US" sz="24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5786" y="5000636"/>
            <a:ext cx="75009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400" dirty="0" smtClean="0"/>
              <a:t>Here Because we have reached a stopping criterion (clusters do not move if we repeat step 2 and 3), we finalize our algorithm and we have our three clusters!</a:t>
            </a:r>
            <a:endParaRPr 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1214422"/>
            <a:ext cx="4224343" cy="347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solidFill>
                  <a:srgbClr val="FF0000"/>
                </a:solidFill>
              </a:rPr>
              <a:t>Choosing an optimal number for K and </a:t>
            </a:r>
            <a:r>
              <a:rPr lang="en-US" sz="2800" b="1" dirty="0" smtClean="0">
                <a:solidFill>
                  <a:srgbClr val="FF0000"/>
                </a:solidFill>
              </a:rPr>
              <a:t>cluster validation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 algn="just"/>
            <a:r>
              <a:rPr lang="en-GB" sz="2400" dirty="0" smtClean="0"/>
              <a:t>A big part of K-means clustering is knowing the </a:t>
            </a:r>
            <a:r>
              <a:rPr lang="en-GB" sz="2400" b="1" i="1" u="sng" dirty="0" smtClean="0"/>
              <a:t>optimal number of clusters.</a:t>
            </a:r>
            <a:r>
              <a:rPr lang="en-GB" sz="2400" dirty="0" smtClean="0"/>
              <a:t> If we knew this number ahead of time, then that might defeat the purpose of even using unsupervised learning. So we need a way to evaluate the output of our cluster </a:t>
            </a:r>
            <a:r>
              <a:rPr lang="en-US" sz="2400" dirty="0" smtClean="0"/>
              <a:t>analysis.</a:t>
            </a:r>
          </a:p>
          <a:p>
            <a:pPr algn="just"/>
            <a:endParaRPr lang="en-IN" sz="2400" dirty="0" smtClean="0"/>
          </a:p>
          <a:p>
            <a:r>
              <a:rPr lang="en-GB" sz="2400" dirty="0" smtClean="0"/>
              <a:t>The problem here is that because we are </a:t>
            </a:r>
            <a:r>
              <a:rPr lang="en-GB" sz="2400" dirty="0" smtClean="0">
                <a:solidFill>
                  <a:srgbClr val="7030A0"/>
                </a:solidFill>
              </a:rPr>
              <a:t>not performing any kind of prediction</a:t>
            </a:r>
            <a:r>
              <a:rPr lang="en-GB" sz="2400" dirty="0" smtClean="0"/>
              <a:t>, we cannot gauge how </a:t>
            </a:r>
            <a:r>
              <a:rPr lang="en-GB" sz="2400" i="1" dirty="0" smtClean="0"/>
              <a:t>right the algorithm is at predictions. Metrics such as accuracy and </a:t>
            </a:r>
            <a:r>
              <a:rPr lang="en-GB" sz="2400" dirty="0" smtClean="0"/>
              <a:t>RMSE go right out of the window.</a:t>
            </a:r>
            <a:endParaRPr lang="en-US" sz="2400" dirty="0" smtClean="0"/>
          </a:p>
          <a:p>
            <a:pPr algn="just"/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The Silhouette Coefficient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 lnSpcReduction="10000"/>
          </a:bodyPr>
          <a:lstStyle/>
          <a:p>
            <a:r>
              <a:rPr lang="en-GB" sz="2400" dirty="0" smtClean="0"/>
              <a:t>The </a:t>
            </a:r>
            <a:r>
              <a:rPr lang="en-GB" sz="2400" b="1" dirty="0" smtClean="0"/>
              <a:t>Silhouette Coefficient is a common metric for evaluating clustering </a:t>
            </a:r>
            <a:r>
              <a:rPr lang="en-GB" sz="2400" dirty="0" smtClean="0"/>
              <a:t>performance in situations when the </a:t>
            </a:r>
            <a:r>
              <a:rPr lang="en-GB" sz="2400" i="1" dirty="0" smtClean="0"/>
              <a:t>true cluster assignments are not known.</a:t>
            </a:r>
          </a:p>
          <a:p>
            <a:r>
              <a:rPr lang="en-GB" sz="2400" dirty="0" smtClean="0"/>
              <a:t>A </a:t>
            </a:r>
            <a:r>
              <a:rPr lang="en-GB" sz="2400" b="1" dirty="0" smtClean="0">
                <a:solidFill>
                  <a:srgbClr val="FF0000"/>
                </a:solidFill>
              </a:rPr>
              <a:t>Silhouette Coefficient </a:t>
            </a:r>
            <a:r>
              <a:rPr lang="en-GB" sz="2400" dirty="0" smtClean="0"/>
              <a:t>is calculated for each observation as follows:</a:t>
            </a:r>
          </a:p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Let's look a little closer at the specific features of this formula:</a:t>
            </a:r>
          </a:p>
          <a:p>
            <a:pPr>
              <a:buNone/>
            </a:pPr>
            <a:r>
              <a:rPr lang="en-GB" sz="2400" dirty="0" smtClean="0">
                <a:solidFill>
                  <a:srgbClr val="7030A0"/>
                </a:solidFill>
              </a:rPr>
              <a:t>• </a:t>
            </a:r>
            <a:r>
              <a:rPr lang="en-GB" sz="2400" i="1" dirty="0" smtClean="0">
                <a:solidFill>
                  <a:srgbClr val="7030A0"/>
                </a:solidFill>
              </a:rPr>
              <a:t>a: Mean distance to all other points in its cluster</a:t>
            </a:r>
          </a:p>
          <a:p>
            <a:pPr>
              <a:buNone/>
            </a:pPr>
            <a:r>
              <a:rPr lang="en-GB" sz="2400" dirty="0" smtClean="0">
                <a:solidFill>
                  <a:srgbClr val="7030A0"/>
                </a:solidFill>
              </a:rPr>
              <a:t>• </a:t>
            </a:r>
            <a:r>
              <a:rPr lang="en-GB" sz="2400" i="1" dirty="0" smtClean="0">
                <a:solidFill>
                  <a:srgbClr val="7030A0"/>
                </a:solidFill>
              </a:rPr>
              <a:t>b: Mean distance to all other points in the next nearest cluster</a:t>
            </a:r>
          </a:p>
          <a:p>
            <a:pPr>
              <a:buNone/>
            </a:pPr>
            <a:r>
              <a:rPr lang="en-GB" sz="2400" dirty="0" smtClean="0"/>
              <a:t>It ranges from -1 (worst) to 1 (best). A </a:t>
            </a:r>
            <a:r>
              <a:rPr lang="en-GB" sz="2400" b="1" dirty="0" smtClean="0"/>
              <a:t>global score is calculated by taking the mean </a:t>
            </a:r>
            <a:r>
              <a:rPr lang="en-US" sz="2400" dirty="0" smtClean="0"/>
              <a:t>score for all observations.</a:t>
            </a:r>
            <a:endParaRPr lang="en-US" sz="2400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2786058"/>
            <a:ext cx="2719384" cy="1174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The Silhouette Coefficient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71546"/>
            <a:ext cx="86296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/>
          </a:bodyPr>
          <a:lstStyle/>
          <a:p>
            <a:pPr algn="just"/>
            <a:r>
              <a:rPr lang="en-GB" sz="2400" dirty="0" smtClean="0"/>
              <a:t>K-means is a popular algorithm because of its </a:t>
            </a:r>
            <a:r>
              <a:rPr lang="en-GB" sz="2400" b="1" u="sng" dirty="0" smtClean="0"/>
              <a:t>computational efficiency</a:t>
            </a:r>
            <a:r>
              <a:rPr lang="en-GB" sz="2400" dirty="0" smtClean="0"/>
              <a:t> and simple and intuitive nature. </a:t>
            </a:r>
          </a:p>
          <a:p>
            <a:pPr algn="just"/>
            <a:r>
              <a:rPr lang="en-GB" sz="2400" dirty="0" smtClean="0"/>
              <a:t>K-means, however, is </a:t>
            </a:r>
            <a:r>
              <a:rPr lang="en-GB" sz="2400" b="1" i="1" u="sng" dirty="0" smtClean="0"/>
              <a:t>highly scale dependent</a:t>
            </a:r>
            <a:r>
              <a:rPr lang="en-GB" sz="2400" dirty="0" smtClean="0"/>
              <a:t>, and is not suitable for data with widely varying shapes and densities.</a:t>
            </a:r>
          </a:p>
          <a:p>
            <a:pPr algn="just"/>
            <a:endParaRPr lang="en-GB" sz="2400" dirty="0" smtClean="0"/>
          </a:p>
          <a:p>
            <a:pPr algn="just"/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>
                <a:solidFill>
                  <a:srgbClr val="FF0000"/>
                </a:solidFill>
              </a:rPr>
              <a:t>K-Means Clustering Example</a:t>
            </a:r>
          </a:p>
          <a:p>
            <a:r>
              <a:rPr sz="3600">
                <a:solidFill>
                  <a:srgbClr val="FF0000"/>
                </a:solidFill>
              </a:rPr>
              <a:t>(2 Iterations with Centroid Updates)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u="sng" dirty="0" smtClean="0"/>
              <a:t>Data Set Used:</a:t>
            </a:r>
          </a:p>
          <a:p>
            <a:pPr>
              <a:buNone/>
            </a:pPr>
            <a:r>
              <a:rPr lang="en-US" dirty="0" smtClean="0"/>
              <a:t>Points</a:t>
            </a:r>
            <a:r>
              <a:rPr lang="en-US" dirty="0" smtClean="0"/>
              <a:t>:</a:t>
            </a:r>
          </a:p>
          <a:p>
            <a:r>
              <a:rPr lang="en-US" sz="2400" dirty="0" smtClean="0"/>
              <a:t>P1 = (2, 10)</a:t>
            </a:r>
          </a:p>
          <a:p>
            <a:r>
              <a:rPr lang="en-US" sz="2400" dirty="0" smtClean="0"/>
              <a:t>P2 = (2, 5)</a:t>
            </a:r>
          </a:p>
          <a:p>
            <a:r>
              <a:rPr lang="en-US" sz="2400" dirty="0" smtClean="0"/>
              <a:t>P3 = (8, 4)</a:t>
            </a:r>
          </a:p>
          <a:p>
            <a:r>
              <a:rPr lang="en-US" sz="2400" dirty="0" smtClean="0"/>
              <a:t>P4 = (5, 8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r>
              <a:rPr lang="en-US" sz="2400" dirty="0" smtClean="0"/>
              <a:t>k = 2 </a:t>
            </a:r>
            <a:r>
              <a:rPr lang="en-US" sz="2400" dirty="0" smtClean="0"/>
              <a:t>clusters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Initial </a:t>
            </a:r>
            <a:r>
              <a:rPr lang="en-US" sz="2400" dirty="0" err="1" smtClean="0"/>
              <a:t>Centroids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C1(0) = P1 = (2, 10)</a:t>
            </a:r>
          </a:p>
          <a:p>
            <a:r>
              <a:rPr lang="en-US" sz="2400" dirty="0" smtClean="0"/>
              <a:t>C2(0) = P3 = (8, 4)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solidFill>
                  <a:srgbClr val="FF0000"/>
                </a:solidFill>
              </a:rPr>
              <a:t>Iteration 1 – Distance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sz="2800"/>
              <a:t>Assignments:</a:t>
            </a:r>
          </a:p>
          <a:p>
            <a:r>
              <a:rPr sz="2800"/>
              <a:t>P1 → C1</a:t>
            </a:r>
          </a:p>
          <a:p>
            <a:r>
              <a:rPr sz="2800"/>
              <a:t>P2 → C1</a:t>
            </a:r>
          </a:p>
          <a:p>
            <a:r>
              <a:rPr sz="2800"/>
              <a:t>P3 → C2</a:t>
            </a:r>
          </a:p>
          <a:p>
            <a:r>
              <a:rPr sz="2800"/>
              <a:t>P4 → C1</a:t>
            </a:r>
          </a:p>
          <a:p>
            <a:endParaRPr sz="2800"/>
          </a:p>
          <a:p>
            <a:pPr>
              <a:buNone/>
            </a:pPr>
            <a:r>
              <a:rPr sz="2800"/>
              <a:t>Clusters:</a:t>
            </a:r>
          </a:p>
          <a:p>
            <a:r>
              <a:rPr sz="2800"/>
              <a:t>Cluster 1: P1, P2, P4</a:t>
            </a:r>
          </a:p>
          <a:p>
            <a:r>
              <a:rPr sz="2800"/>
              <a:t>Cluster 2: P3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solidFill>
                  <a:srgbClr val="FF0000"/>
                </a:solidFill>
              </a:rPr>
              <a:t>Iteration 1 – Updated Centroids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C1(1) = Mean(P1, P2, </a:t>
            </a:r>
            <a:r>
              <a:rPr/>
              <a:t>P4</a:t>
            </a:r>
            <a:r>
              <a:rPr smtClean="0"/>
              <a:t>)  </a:t>
            </a:r>
            <a:r>
              <a:t>= (3, </a:t>
            </a:r>
            <a:r>
              <a:rPr/>
              <a:t>7.67</a:t>
            </a:r>
            <a:r>
              <a:rPr smtClean="0"/>
              <a:t>)</a:t>
            </a:r>
            <a:endParaRPr/>
          </a:p>
          <a:p>
            <a:r>
              <a:t>C2(1) = P3 = (8,4)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solidFill>
                  <a:srgbClr val="FF0000"/>
                </a:solidFill>
              </a:rPr>
              <a:t>Iteration 2 –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Using updated centroids:</a:t>
            </a:r>
          </a:p>
          <a:p>
            <a:r>
              <a:rPr sz="2800"/>
              <a:t>C1 = (3, 7.67)</a:t>
            </a:r>
          </a:p>
          <a:p>
            <a:r>
              <a:rPr sz="2800"/>
              <a:t>C2 = (8, 4)</a:t>
            </a:r>
          </a:p>
          <a:p>
            <a:endParaRPr sz="2800"/>
          </a:p>
          <a:p>
            <a:r>
              <a:rPr sz="2800"/>
              <a:t>Assignments remain:</a:t>
            </a:r>
          </a:p>
          <a:p>
            <a:r>
              <a:rPr sz="2800"/>
              <a:t>Cluster 1: P1, P2, P4</a:t>
            </a:r>
          </a:p>
          <a:p>
            <a:r>
              <a:rPr sz="2800"/>
              <a:t>Cluster 2: P3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solidFill>
                  <a:srgbClr val="FF0000"/>
                </a:solidFill>
              </a:rPr>
              <a:t>Iteration 2 – Centroid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Centroids do not change:</a:t>
            </a:r>
          </a:p>
          <a:p>
            <a:r>
              <a:rPr sz="2800"/>
              <a:t>C1 = (3, 7.67)</a:t>
            </a:r>
          </a:p>
          <a:p>
            <a:r>
              <a:rPr sz="2800"/>
              <a:t>C2 = (8, 4)</a:t>
            </a:r>
          </a:p>
          <a:p>
            <a:endParaRPr sz="2800"/>
          </a:p>
          <a:p>
            <a:r>
              <a:rPr sz="2800"/>
              <a:t>→ Algorithm converges.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Association Rule Mining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Association rules are a fundamental concept used to find relationships, correlations or patterns within large sets of data items.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describe how often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itemsets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occur together in transactions and express implications of the form: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 X and Y are disjoint sets of items. This rule suggests that when items in X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appear, items in Y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tend to appear as well.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Association rules originated from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market basket 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help retailers and analysts understand customer behavior by discovering item associations in transaction data. For example, a rule stating</a:t>
            </a:r>
          </a:p>
          <a:p>
            <a:pPr algn="just"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Bread,Butter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}→{Milk}</a:t>
            </a:r>
          </a:p>
          <a:p>
            <a:pPr algn="just"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indicates that customers who buy bread and butter also tend to buy milk.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Components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Antecedent (X)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 "if" part representing one or more items found in transactions.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Consequent (Y)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The "then" part, representing the items likely to be purchased when antecedent items appear.</a:t>
            </a:r>
          </a:p>
          <a:p>
            <a:pPr algn="just"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Rules are evaluated based on metrics that quantify their strength and usefulness: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Rule Evaluation Metrics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b="1" dirty="0" smtClean="0"/>
              <a:t>1. Support:</a:t>
            </a:r>
            <a:r>
              <a:rPr lang="en-US" dirty="0" smtClean="0"/>
              <a:t> Fraction of transactions containing the </a:t>
            </a:r>
            <a:r>
              <a:rPr lang="en-US" dirty="0" err="1" smtClean="0"/>
              <a:t>itemsets</a:t>
            </a:r>
            <a:r>
              <a:rPr lang="en-US" dirty="0" smtClean="0"/>
              <a:t> in both X and Y.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Support measures how frequently the combination appears in the data.</a:t>
            </a:r>
          </a:p>
          <a:p>
            <a:pPr fontAlgn="base"/>
            <a:r>
              <a:rPr lang="en-US" b="1" dirty="0" smtClean="0"/>
              <a:t>2. Confidence:</a:t>
            </a:r>
            <a:r>
              <a:rPr lang="en-US" dirty="0" smtClean="0"/>
              <a:t> Probability that transactions with X also include Y.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Confidence measures the reliability of the inference.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428868"/>
            <a:ext cx="4778154" cy="434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643446"/>
            <a:ext cx="3490913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3. Lift:</a:t>
            </a:r>
            <a:r>
              <a:rPr lang="en-US" dirty="0" smtClean="0"/>
              <a:t> The ratio of observed support to that expected if X and Y were independent.</a:t>
            </a:r>
          </a:p>
          <a:p>
            <a:endParaRPr lang="en-US" dirty="0" smtClean="0"/>
          </a:p>
          <a:p>
            <a:pPr fontAlgn="base"/>
            <a:r>
              <a:rPr lang="en-US" dirty="0" smtClean="0"/>
              <a:t>Lift &gt; 1 implies a positive association — items occur together more than expected.</a:t>
            </a:r>
          </a:p>
          <a:p>
            <a:pPr fontAlgn="base"/>
            <a:r>
              <a:rPr lang="en-US" dirty="0" smtClean="0"/>
              <a:t>Lift = 1 implies independence.</a:t>
            </a:r>
          </a:p>
          <a:p>
            <a:pPr fontAlgn="base"/>
            <a:r>
              <a:rPr lang="en-US" dirty="0" smtClean="0"/>
              <a:t>Lift &lt; 1 implies a negative association.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2714620"/>
            <a:ext cx="313213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Transaction Data</a:t>
            </a:r>
            <a:endParaRPr lang="en-US" dirty="0"/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39231" y="1881809"/>
            <a:ext cx="3665538" cy="3962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Considering the rule:</a:t>
            </a:r>
          </a:p>
          <a:p>
            <a:pPr fontAlgn="base"/>
            <a:r>
              <a:rPr lang="en-US" dirty="0" smtClean="0"/>
              <a:t>{</a:t>
            </a:r>
            <a:r>
              <a:rPr lang="en-US" dirty="0" err="1" smtClean="0"/>
              <a:t>Milk,Diaper</a:t>
            </a:r>
            <a:r>
              <a:rPr lang="en-US" dirty="0" smtClean="0"/>
              <a:t>}→{Beer}</a:t>
            </a:r>
          </a:p>
          <a:p>
            <a:pPr fontAlgn="base"/>
            <a:r>
              <a:rPr lang="en-US" b="1" dirty="0" smtClean="0"/>
              <a:t>Calculations:</a:t>
            </a:r>
            <a:endParaRPr lang="en-US" dirty="0" smtClean="0"/>
          </a:p>
          <a:p>
            <a:pPr fontAlgn="base"/>
            <a:r>
              <a:rPr lang="en-US" dirty="0" smtClean="0"/>
              <a:t>Support(X U Y) </a:t>
            </a:r>
            <a:r>
              <a:rPr lang="en-US" dirty="0" smtClean="0"/>
              <a:t>=2/5=0.4</a:t>
            </a:r>
          </a:p>
          <a:p>
            <a:pPr fontAlgn="base"/>
            <a:r>
              <a:rPr lang="en-US" dirty="0" smtClean="0"/>
              <a:t>Confidence </a:t>
            </a:r>
            <a:r>
              <a:rPr lang="en-US" dirty="0" smtClean="0"/>
              <a:t>(X </a:t>
            </a:r>
            <a:r>
              <a:rPr lang="en-US" dirty="0" smtClean="0">
                <a:sym typeface="Wingdings" pitchFamily="2" charset="2"/>
              </a:rPr>
              <a:t> Y) </a:t>
            </a:r>
            <a:r>
              <a:rPr lang="en-US" dirty="0" smtClean="0"/>
              <a:t>=</a:t>
            </a:r>
            <a:r>
              <a:rPr lang="en-US" dirty="0" smtClean="0"/>
              <a:t> 2/3≈0.67</a:t>
            </a:r>
          </a:p>
          <a:p>
            <a:pPr fontAlgn="base"/>
            <a:r>
              <a:rPr lang="en-US" dirty="0" smtClean="0"/>
              <a:t>Lift (X </a:t>
            </a:r>
            <a:r>
              <a:rPr lang="en-US" dirty="0" smtClean="0">
                <a:sym typeface="Wingdings" pitchFamily="2" charset="2"/>
              </a:rPr>
              <a:t> Y)</a:t>
            </a:r>
            <a:r>
              <a:rPr lang="en-US" dirty="0" smtClean="0"/>
              <a:t> = Support (X U Y) / (Support(X) * Support(Y))</a:t>
            </a:r>
            <a:r>
              <a:rPr lang="en-US" dirty="0" smtClean="0"/>
              <a:t> </a:t>
            </a:r>
            <a:r>
              <a:rPr lang="en-US" dirty="0" smtClean="0"/>
              <a:t>= </a:t>
            </a:r>
            <a:r>
              <a:rPr lang="en-US" dirty="0" smtClean="0"/>
              <a:t>0.4/(0.6×0.6)=1.11</a:t>
            </a:r>
            <a:r>
              <a:rPr lang="en-US" dirty="0" smtClean="0"/>
              <a:t> (positive association)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Cases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 fontAlgn="base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Let's see the use case of Association rule,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Market Basket 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Identifies products often bought together to improve store layouts and promotions (e.g., bread and butter).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Recommendation Systems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Suggests related items based on buying patterns (e.g., accessories with laptops).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Fraud Detection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Detects unusual transaction patterns indicating fraud.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Healthcare Analytics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Finds links between symptoms, diseases and treatments (e.g., symptom combinations predicting a disease).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Interpretable and Easy to Explain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Rules offer clear “if-then” relationships understandable to non-technical stakeholders.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Unsupervised Learning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Works well on unlabeled data to find hidden patterns without prior knowledge.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Flexible Data Types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Effective on transactional, categorical and binary data.</a:t>
            </a:r>
          </a:p>
          <a:p>
            <a:pPr algn="just" fontAlgn="base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Helps in Feature Engineering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Can be used to create new features for downstream supervised models.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fontAlgn="base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Large Number of Rules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 Can generate many rules, including trivial or redundant ones, making interpretation hard.</a:t>
            </a:r>
          </a:p>
          <a:p>
            <a:pPr algn="just" fontAlgn="base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Support Threshold Sensitivity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 High support thresholds miss interesting but infrequent patterns; low thresholds generate too many rules.</a:t>
            </a:r>
          </a:p>
          <a:p>
            <a:pPr algn="just" fontAlgn="base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 Suitable for Continuous Variables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 Requires discretization or binning before use with numerical attributes.</a:t>
            </a:r>
          </a:p>
          <a:p>
            <a:pPr algn="just" fontAlgn="base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Computationally Expensive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 Performance degrades on very large or dense datasets due to combinatorial explosion.</a:t>
            </a:r>
          </a:p>
          <a:p>
            <a:pPr algn="just" fontAlgn="base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Statistical Significance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 High confidence doesn’t guarantee a meaningful rule; domain knowledge is essential to validate findings.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