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37"/>
  </p:notesMasterIdLst>
  <p:sldIdLst>
    <p:sldId id="256" r:id="rId2"/>
    <p:sldId id="257" r:id="rId3"/>
    <p:sldId id="258" r:id="rId4"/>
    <p:sldId id="259"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5" r:id="rId28"/>
    <p:sldId id="286" r:id="rId29"/>
    <p:sldId id="287" r:id="rId30"/>
    <p:sldId id="288" r:id="rId31"/>
    <p:sldId id="289" r:id="rId32"/>
    <p:sldId id="290" r:id="rId33"/>
    <p:sldId id="291" r:id="rId34"/>
    <p:sldId id="292" r:id="rId35"/>
    <p:sldId id="293"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9" autoAdjust="0"/>
    <p:restoredTop sz="81914" autoAdjust="0"/>
  </p:normalViewPr>
  <p:slideViewPr>
    <p:cSldViewPr snapToGrid="0">
      <p:cViewPr varScale="1">
        <p:scale>
          <a:sx n="87" d="100"/>
          <a:sy n="87" d="100"/>
        </p:scale>
        <p:origin x="6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EDE4A5-2025-40E5-BDA0-4490E95AFD18}" type="datetimeFigureOut">
              <a:rPr lang="en-US" smtClean="0"/>
              <a:t>10/24/2024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CCC93B-7AE5-48A4-8136-CA8533EB9C23}" type="slidenum">
              <a:rPr lang="en-US" smtClean="0"/>
              <a:t>‹#›</a:t>
            </a:fld>
            <a:endParaRPr lang="en-US"/>
          </a:p>
        </p:txBody>
      </p:sp>
    </p:spTree>
    <p:extLst>
      <p:ext uri="{BB962C8B-B14F-4D97-AF65-F5344CB8AC3E}">
        <p14:creationId xmlns:p14="http://schemas.microsoft.com/office/powerpoint/2010/main" val="1681898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CCC93B-7AE5-48A4-8136-CA8533EB9C23}" type="slidenum">
              <a:rPr lang="en-US" smtClean="0"/>
              <a:t>21</a:t>
            </a:fld>
            <a:endParaRPr lang="en-US"/>
          </a:p>
        </p:txBody>
      </p:sp>
    </p:spTree>
    <p:extLst>
      <p:ext uri="{BB962C8B-B14F-4D97-AF65-F5344CB8AC3E}">
        <p14:creationId xmlns:p14="http://schemas.microsoft.com/office/powerpoint/2010/main" val="3630127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CCC93B-7AE5-48A4-8136-CA8533EB9C23}" type="slidenum">
              <a:rPr lang="en-US" smtClean="0"/>
              <a:t>22</a:t>
            </a:fld>
            <a:endParaRPr lang="en-US"/>
          </a:p>
        </p:txBody>
      </p:sp>
    </p:spTree>
    <p:extLst>
      <p:ext uri="{BB962C8B-B14F-4D97-AF65-F5344CB8AC3E}">
        <p14:creationId xmlns:p14="http://schemas.microsoft.com/office/powerpoint/2010/main" val="409781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CCC93B-7AE5-48A4-8136-CA8533EB9C23}" type="slidenum">
              <a:rPr lang="en-US" smtClean="0"/>
              <a:t>23</a:t>
            </a:fld>
            <a:endParaRPr lang="en-US"/>
          </a:p>
        </p:txBody>
      </p:sp>
    </p:spTree>
    <p:extLst>
      <p:ext uri="{BB962C8B-B14F-4D97-AF65-F5344CB8AC3E}">
        <p14:creationId xmlns:p14="http://schemas.microsoft.com/office/powerpoint/2010/main" val="8359426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CCC93B-7AE5-48A4-8136-CA8533EB9C23}" type="slidenum">
              <a:rPr lang="en-US" smtClean="0"/>
              <a:t>26</a:t>
            </a:fld>
            <a:endParaRPr lang="en-US"/>
          </a:p>
        </p:txBody>
      </p:sp>
    </p:spTree>
    <p:extLst>
      <p:ext uri="{BB962C8B-B14F-4D97-AF65-F5344CB8AC3E}">
        <p14:creationId xmlns:p14="http://schemas.microsoft.com/office/powerpoint/2010/main" val="1512020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C5EB4-F39D-1CAC-1005-007FE3E6C8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DDEAC96-404F-E92E-AB1F-6BAF18B313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35FCBC-FD8C-E231-80CC-9BEEA1A8E6DB}"/>
              </a:ext>
            </a:extLst>
          </p:cNvPr>
          <p:cNvSpPr>
            <a:spLocks noGrp="1"/>
          </p:cNvSpPr>
          <p:nvPr>
            <p:ph type="dt" sz="half" idx="10"/>
          </p:nvPr>
        </p:nvSpPr>
        <p:spPr/>
        <p:txBody>
          <a:bodyPr/>
          <a:lstStyle/>
          <a:p>
            <a:fld id="{7261AD07-4BD2-4CA8-B9FF-463019E5C243}" type="datetimeFigureOut">
              <a:rPr lang="en-US" smtClean="0"/>
              <a:t>10/24/2024</a:t>
            </a:fld>
            <a:endParaRPr lang="en-US"/>
          </a:p>
        </p:txBody>
      </p:sp>
      <p:sp>
        <p:nvSpPr>
          <p:cNvPr id="5" name="Footer Placeholder 4">
            <a:extLst>
              <a:ext uri="{FF2B5EF4-FFF2-40B4-BE49-F238E27FC236}">
                <a16:creationId xmlns:a16="http://schemas.microsoft.com/office/drawing/2014/main" id="{1B79600E-1EFD-5983-2909-A6C599B76F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9C8D1D-7A8F-A860-13D8-0C31856CE98A}"/>
              </a:ext>
            </a:extLst>
          </p:cNvPr>
          <p:cNvSpPr>
            <a:spLocks noGrp="1"/>
          </p:cNvSpPr>
          <p:nvPr>
            <p:ph type="sldNum" sz="quarter" idx="12"/>
          </p:nvPr>
        </p:nvSpPr>
        <p:spPr/>
        <p:txBody>
          <a:bodyPr/>
          <a:lstStyle/>
          <a:p>
            <a:fld id="{41AF7F41-680F-4A46-9E57-7F042B2CF87D}" type="slidenum">
              <a:rPr lang="en-US" smtClean="0"/>
              <a:t>‹#›</a:t>
            </a:fld>
            <a:endParaRPr lang="en-US"/>
          </a:p>
        </p:txBody>
      </p:sp>
    </p:spTree>
    <p:extLst>
      <p:ext uri="{BB962C8B-B14F-4D97-AF65-F5344CB8AC3E}">
        <p14:creationId xmlns:p14="http://schemas.microsoft.com/office/powerpoint/2010/main" val="4203236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F664D-6794-C0F3-D8FE-E408267FEA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D16C1E-F6BD-7380-7155-A4C90C6772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36A4AF-1D09-895E-11D1-F5242CE200C4}"/>
              </a:ext>
            </a:extLst>
          </p:cNvPr>
          <p:cNvSpPr>
            <a:spLocks noGrp="1"/>
          </p:cNvSpPr>
          <p:nvPr>
            <p:ph type="dt" sz="half" idx="10"/>
          </p:nvPr>
        </p:nvSpPr>
        <p:spPr/>
        <p:txBody>
          <a:bodyPr/>
          <a:lstStyle/>
          <a:p>
            <a:fld id="{7261AD07-4BD2-4CA8-B9FF-463019E5C243}" type="datetimeFigureOut">
              <a:rPr lang="en-US" smtClean="0"/>
              <a:t>10/24/2024</a:t>
            </a:fld>
            <a:endParaRPr lang="en-US"/>
          </a:p>
        </p:txBody>
      </p:sp>
      <p:sp>
        <p:nvSpPr>
          <p:cNvPr id="5" name="Footer Placeholder 4">
            <a:extLst>
              <a:ext uri="{FF2B5EF4-FFF2-40B4-BE49-F238E27FC236}">
                <a16:creationId xmlns:a16="http://schemas.microsoft.com/office/drawing/2014/main" id="{077F184F-D922-B597-68B5-C99E7117B6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85E2DA-1379-3C11-4983-DF11BC99D032}"/>
              </a:ext>
            </a:extLst>
          </p:cNvPr>
          <p:cNvSpPr>
            <a:spLocks noGrp="1"/>
          </p:cNvSpPr>
          <p:nvPr>
            <p:ph type="sldNum" sz="quarter" idx="12"/>
          </p:nvPr>
        </p:nvSpPr>
        <p:spPr/>
        <p:txBody>
          <a:bodyPr/>
          <a:lstStyle/>
          <a:p>
            <a:fld id="{41AF7F41-680F-4A46-9E57-7F042B2CF87D}" type="slidenum">
              <a:rPr lang="en-US" smtClean="0"/>
              <a:t>‹#›</a:t>
            </a:fld>
            <a:endParaRPr lang="en-US"/>
          </a:p>
        </p:txBody>
      </p:sp>
    </p:spTree>
    <p:extLst>
      <p:ext uri="{BB962C8B-B14F-4D97-AF65-F5344CB8AC3E}">
        <p14:creationId xmlns:p14="http://schemas.microsoft.com/office/powerpoint/2010/main" val="2430168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76F23-CC5B-F195-EE2B-DC05247E3D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61F540-BB5A-38E7-E7D0-66029BF4F3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D16B3C-0E91-183C-2201-C4F23BAC47E5}"/>
              </a:ext>
            </a:extLst>
          </p:cNvPr>
          <p:cNvSpPr>
            <a:spLocks noGrp="1"/>
          </p:cNvSpPr>
          <p:nvPr>
            <p:ph type="dt" sz="half" idx="10"/>
          </p:nvPr>
        </p:nvSpPr>
        <p:spPr/>
        <p:txBody>
          <a:bodyPr/>
          <a:lstStyle/>
          <a:p>
            <a:fld id="{7261AD07-4BD2-4CA8-B9FF-463019E5C243}" type="datetimeFigureOut">
              <a:rPr lang="en-US" smtClean="0"/>
              <a:t>10/24/2024</a:t>
            </a:fld>
            <a:endParaRPr lang="en-US"/>
          </a:p>
        </p:txBody>
      </p:sp>
      <p:sp>
        <p:nvSpPr>
          <p:cNvPr id="5" name="Footer Placeholder 4">
            <a:extLst>
              <a:ext uri="{FF2B5EF4-FFF2-40B4-BE49-F238E27FC236}">
                <a16:creationId xmlns:a16="http://schemas.microsoft.com/office/drawing/2014/main" id="{5D2F18E8-6E25-7C1D-A174-881E68C75F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571891-37BC-EE3B-92A7-C30C775C20A9}"/>
              </a:ext>
            </a:extLst>
          </p:cNvPr>
          <p:cNvSpPr>
            <a:spLocks noGrp="1"/>
          </p:cNvSpPr>
          <p:nvPr>
            <p:ph type="sldNum" sz="quarter" idx="12"/>
          </p:nvPr>
        </p:nvSpPr>
        <p:spPr/>
        <p:txBody>
          <a:bodyPr/>
          <a:lstStyle/>
          <a:p>
            <a:fld id="{41AF7F41-680F-4A46-9E57-7F042B2CF87D}" type="slidenum">
              <a:rPr lang="en-US" smtClean="0"/>
              <a:t>‹#›</a:t>
            </a:fld>
            <a:endParaRPr lang="en-US"/>
          </a:p>
        </p:txBody>
      </p:sp>
    </p:spTree>
    <p:extLst>
      <p:ext uri="{BB962C8B-B14F-4D97-AF65-F5344CB8AC3E}">
        <p14:creationId xmlns:p14="http://schemas.microsoft.com/office/powerpoint/2010/main" val="3135803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221FB-91CA-934A-DDD1-86403D9B08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2F03A6-7582-B6EA-7630-9DD886D019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5909329-1EDB-E28C-8B9D-2188399179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89E6B4-6327-917A-9CE6-97D2E2DCC0A5}"/>
              </a:ext>
            </a:extLst>
          </p:cNvPr>
          <p:cNvSpPr>
            <a:spLocks noGrp="1"/>
          </p:cNvSpPr>
          <p:nvPr>
            <p:ph type="dt" sz="half" idx="10"/>
          </p:nvPr>
        </p:nvSpPr>
        <p:spPr/>
        <p:txBody>
          <a:bodyPr/>
          <a:lstStyle/>
          <a:p>
            <a:fld id="{7261AD07-4BD2-4CA8-B9FF-463019E5C243}" type="datetimeFigureOut">
              <a:rPr lang="en-US" smtClean="0"/>
              <a:t>10/24/2024</a:t>
            </a:fld>
            <a:endParaRPr lang="en-US"/>
          </a:p>
        </p:txBody>
      </p:sp>
      <p:sp>
        <p:nvSpPr>
          <p:cNvPr id="6" name="Footer Placeholder 5">
            <a:extLst>
              <a:ext uri="{FF2B5EF4-FFF2-40B4-BE49-F238E27FC236}">
                <a16:creationId xmlns:a16="http://schemas.microsoft.com/office/drawing/2014/main" id="{ACD8D241-E032-CF6B-A59D-43DE7694AD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62C6EC-5A42-6D70-1407-7ED5451CBFB3}"/>
              </a:ext>
            </a:extLst>
          </p:cNvPr>
          <p:cNvSpPr>
            <a:spLocks noGrp="1"/>
          </p:cNvSpPr>
          <p:nvPr>
            <p:ph type="sldNum" sz="quarter" idx="12"/>
          </p:nvPr>
        </p:nvSpPr>
        <p:spPr/>
        <p:txBody>
          <a:bodyPr/>
          <a:lstStyle/>
          <a:p>
            <a:fld id="{41AF7F41-680F-4A46-9E57-7F042B2CF87D}" type="slidenum">
              <a:rPr lang="en-US" smtClean="0"/>
              <a:t>‹#›</a:t>
            </a:fld>
            <a:endParaRPr lang="en-US"/>
          </a:p>
        </p:txBody>
      </p:sp>
    </p:spTree>
    <p:extLst>
      <p:ext uri="{BB962C8B-B14F-4D97-AF65-F5344CB8AC3E}">
        <p14:creationId xmlns:p14="http://schemas.microsoft.com/office/powerpoint/2010/main" val="2813144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0BA7A-5D8C-B520-4277-B209529578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AD1DD7-8129-1076-5889-B1D5AA77AC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752C2A-F7FC-595C-AAFF-BC03EC035A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AD2342-B980-A6D0-799D-2C1B98595E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FB12C0-7AEB-C53A-8163-33396B28A0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4C34F8C-CAAB-F9BF-AD1E-83608A6F5A25}"/>
              </a:ext>
            </a:extLst>
          </p:cNvPr>
          <p:cNvSpPr>
            <a:spLocks noGrp="1"/>
          </p:cNvSpPr>
          <p:nvPr>
            <p:ph type="dt" sz="half" idx="10"/>
          </p:nvPr>
        </p:nvSpPr>
        <p:spPr/>
        <p:txBody>
          <a:bodyPr/>
          <a:lstStyle/>
          <a:p>
            <a:fld id="{7261AD07-4BD2-4CA8-B9FF-463019E5C243}" type="datetimeFigureOut">
              <a:rPr lang="en-US" smtClean="0"/>
              <a:t>10/24/2024</a:t>
            </a:fld>
            <a:endParaRPr lang="en-US"/>
          </a:p>
        </p:txBody>
      </p:sp>
      <p:sp>
        <p:nvSpPr>
          <p:cNvPr id="8" name="Footer Placeholder 7">
            <a:extLst>
              <a:ext uri="{FF2B5EF4-FFF2-40B4-BE49-F238E27FC236}">
                <a16:creationId xmlns:a16="http://schemas.microsoft.com/office/drawing/2014/main" id="{58AE12CE-5374-C0DF-6304-740BAD7AF8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E40860-A22A-9A89-EA89-8560B8C0B925}"/>
              </a:ext>
            </a:extLst>
          </p:cNvPr>
          <p:cNvSpPr>
            <a:spLocks noGrp="1"/>
          </p:cNvSpPr>
          <p:nvPr>
            <p:ph type="sldNum" sz="quarter" idx="12"/>
          </p:nvPr>
        </p:nvSpPr>
        <p:spPr/>
        <p:txBody>
          <a:bodyPr/>
          <a:lstStyle/>
          <a:p>
            <a:fld id="{41AF7F41-680F-4A46-9E57-7F042B2CF87D}" type="slidenum">
              <a:rPr lang="en-US" smtClean="0"/>
              <a:t>‹#›</a:t>
            </a:fld>
            <a:endParaRPr lang="en-US"/>
          </a:p>
        </p:txBody>
      </p:sp>
    </p:spTree>
    <p:extLst>
      <p:ext uri="{BB962C8B-B14F-4D97-AF65-F5344CB8AC3E}">
        <p14:creationId xmlns:p14="http://schemas.microsoft.com/office/powerpoint/2010/main" val="3618742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7830D-0BE6-94BD-242A-6A4E6BD886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FC8378-266F-BCBA-1457-59C121B9C4A5}"/>
              </a:ext>
            </a:extLst>
          </p:cNvPr>
          <p:cNvSpPr>
            <a:spLocks noGrp="1"/>
          </p:cNvSpPr>
          <p:nvPr>
            <p:ph type="dt" sz="half" idx="10"/>
          </p:nvPr>
        </p:nvSpPr>
        <p:spPr/>
        <p:txBody>
          <a:bodyPr/>
          <a:lstStyle/>
          <a:p>
            <a:fld id="{7261AD07-4BD2-4CA8-B9FF-463019E5C243}" type="datetimeFigureOut">
              <a:rPr lang="en-US" smtClean="0"/>
              <a:t>10/24/2024</a:t>
            </a:fld>
            <a:endParaRPr lang="en-US"/>
          </a:p>
        </p:txBody>
      </p:sp>
      <p:sp>
        <p:nvSpPr>
          <p:cNvPr id="4" name="Footer Placeholder 3">
            <a:extLst>
              <a:ext uri="{FF2B5EF4-FFF2-40B4-BE49-F238E27FC236}">
                <a16:creationId xmlns:a16="http://schemas.microsoft.com/office/drawing/2014/main" id="{135E2814-C85E-DBE3-9DB3-B5F5514599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70EDF7B-7CA6-B1B1-BB69-1DD8105E0F7E}"/>
              </a:ext>
            </a:extLst>
          </p:cNvPr>
          <p:cNvSpPr>
            <a:spLocks noGrp="1"/>
          </p:cNvSpPr>
          <p:nvPr>
            <p:ph type="sldNum" sz="quarter" idx="12"/>
          </p:nvPr>
        </p:nvSpPr>
        <p:spPr/>
        <p:txBody>
          <a:bodyPr/>
          <a:lstStyle/>
          <a:p>
            <a:fld id="{41AF7F41-680F-4A46-9E57-7F042B2CF87D}" type="slidenum">
              <a:rPr lang="en-US" smtClean="0"/>
              <a:t>‹#›</a:t>
            </a:fld>
            <a:endParaRPr lang="en-US"/>
          </a:p>
        </p:txBody>
      </p:sp>
    </p:spTree>
    <p:extLst>
      <p:ext uri="{BB962C8B-B14F-4D97-AF65-F5344CB8AC3E}">
        <p14:creationId xmlns:p14="http://schemas.microsoft.com/office/powerpoint/2010/main" val="3637686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A448C5-2D8F-B6D9-1AB5-ABE6EC38C7D6}"/>
              </a:ext>
            </a:extLst>
          </p:cNvPr>
          <p:cNvSpPr>
            <a:spLocks noGrp="1"/>
          </p:cNvSpPr>
          <p:nvPr>
            <p:ph type="dt" sz="half" idx="10"/>
          </p:nvPr>
        </p:nvSpPr>
        <p:spPr/>
        <p:txBody>
          <a:bodyPr/>
          <a:lstStyle/>
          <a:p>
            <a:fld id="{7261AD07-4BD2-4CA8-B9FF-463019E5C243}" type="datetimeFigureOut">
              <a:rPr lang="en-US" smtClean="0"/>
              <a:t>10/24/2024</a:t>
            </a:fld>
            <a:endParaRPr lang="en-US"/>
          </a:p>
        </p:txBody>
      </p:sp>
      <p:sp>
        <p:nvSpPr>
          <p:cNvPr id="3" name="Footer Placeholder 2">
            <a:extLst>
              <a:ext uri="{FF2B5EF4-FFF2-40B4-BE49-F238E27FC236}">
                <a16:creationId xmlns:a16="http://schemas.microsoft.com/office/drawing/2014/main" id="{26D5DCF5-7EFE-C90D-D7E8-D919ED27DB3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953D03-FD46-C967-B3F3-F49BC9FD1803}"/>
              </a:ext>
            </a:extLst>
          </p:cNvPr>
          <p:cNvSpPr>
            <a:spLocks noGrp="1"/>
          </p:cNvSpPr>
          <p:nvPr>
            <p:ph type="sldNum" sz="quarter" idx="12"/>
          </p:nvPr>
        </p:nvSpPr>
        <p:spPr/>
        <p:txBody>
          <a:bodyPr/>
          <a:lstStyle/>
          <a:p>
            <a:fld id="{41AF7F41-680F-4A46-9E57-7F042B2CF87D}" type="slidenum">
              <a:rPr lang="en-US" smtClean="0"/>
              <a:t>‹#›</a:t>
            </a:fld>
            <a:endParaRPr lang="en-US"/>
          </a:p>
        </p:txBody>
      </p:sp>
    </p:spTree>
    <p:extLst>
      <p:ext uri="{BB962C8B-B14F-4D97-AF65-F5344CB8AC3E}">
        <p14:creationId xmlns:p14="http://schemas.microsoft.com/office/powerpoint/2010/main" val="3746247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5F512-FC91-9546-32B5-D32D0F4332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D68A790-71B7-E274-1A1F-11DD5C7389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9D6F62F-0631-A228-70EE-B9ACFEB96B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6C0743-8AD3-9217-10F2-E52B99FF4A02}"/>
              </a:ext>
            </a:extLst>
          </p:cNvPr>
          <p:cNvSpPr>
            <a:spLocks noGrp="1"/>
          </p:cNvSpPr>
          <p:nvPr>
            <p:ph type="dt" sz="half" idx="10"/>
          </p:nvPr>
        </p:nvSpPr>
        <p:spPr/>
        <p:txBody>
          <a:bodyPr/>
          <a:lstStyle/>
          <a:p>
            <a:fld id="{7261AD07-4BD2-4CA8-B9FF-463019E5C243}" type="datetimeFigureOut">
              <a:rPr lang="en-US" smtClean="0"/>
              <a:t>10/24/2024</a:t>
            </a:fld>
            <a:endParaRPr lang="en-US"/>
          </a:p>
        </p:txBody>
      </p:sp>
      <p:sp>
        <p:nvSpPr>
          <p:cNvPr id="6" name="Footer Placeholder 5">
            <a:extLst>
              <a:ext uri="{FF2B5EF4-FFF2-40B4-BE49-F238E27FC236}">
                <a16:creationId xmlns:a16="http://schemas.microsoft.com/office/drawing/2014/main" id="{7326AD5D-56B2-471E-8747-3227EF9196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C8A3B4-914E-96C0-958E-AAB9AF476B9B}"/>
              </a:ext>
            </a:extLst>
          </p:cNvPr>
          <p:cNvSpPr>
            <a:spLocks noGrp="1"/>
          </p:cNvSpPr>
          <p:nvPr>
            <p:ph type="sldNum" sz="quarter" idx="12"/>
          </p:nvPr>
        </p:nvSpPr>
        <p:spPr/>
        <p:txBody>
          <a:bodyPr/>
          <a:lstStyle/>
          <a:p>
            <a:fld id="{41AF7F41-680F-4A46-9E57-7F042B2CF87D}" type="slidenum">
              <a:rPr lang="en-US" smtClean="0"/>
              <a:t>‹#›</a:t>
            </a:fld>
            <a:endParaRPr lang="en-US"/>
          </a:p>
        </p:txBody>
      </p:sp>
    </p:spTree>
    <p:extLst>
      <p:ext uri="{BB962C8B-B14F-4D97-AF65-F5344CB8AC3E}">
        <p14:creationId xmlns:p14="http://schemas.microsoft.com/office/powerpoint/2010/main" val="749439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05114-8D4D-DC98-C55E-53E5079925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104349C-A992-69F6-F435-CCF8C66581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9CD1F0-798B-28A9-6AB7-4B0F07F5B6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F7E217-CA20-81B1-6621-380AE416DE7C}"/>
              </a:ext>
            </a:extLst>
          </p:cNvPr>
          <p:cNvSpPr>
            <a:spLocks noGrp="1"/>
          </p:cNvSpPr>
          <p:nvPr>
            <p:ph type="dt" sz="half" idx="10"/>
          </p:nvPr>
        </p:nvSpPr>
        <p:spPr/>
        <p:txBody>
          <a:bodyPr/>
          <a:lstStyle/>
          <a:p>
            <a:fld id="{7261AD07-4BD2-4CA8-B9FF-463019E5C243}" type="datetimeFigureOut">
              <a:rPr lang="en-US" smtClean="0"/>
              <a:t>10/24/2024</a:t>
            </a:fld>
            <a:endParaRPr lang="en-US"/>
          </a:p>
        </p:txBody>
      </p:sp>
      <p:sp>
        <p:nvSpPr>
          <p:cNvPr id="6" name="Footer Placeholder 5">
            <a:extLst>
              <a:ext uri="{FF2B5EF4-FFF2-40B4-BE49-F238E27FC236}">
                <a16:creationId xmlns:a16="http://schemas.microsoft.com/office/drawing/2014/main" id="{146B15F2-59EE-760E-66D0-2032C43353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216158-3A20-8B87-D6CB-BB5546901349}"/>
              </a:ext>
            </a:extLst>
          </p:cNvPr>
          <p:cNvSpPr>
            <a:spLocks noGrp="1"/>
          </p:cNvSpPr>
          <p:nvPr>
            <p:ph type="sldNum" sz="quarter" idx="12"/>
          </p:nvPr>
        </p:nvSpPr>
        <p:spPr/>
        <p:txBody>
          <a:bodyPr/>
          <a:lstStyle/>
          <a:p>
            <a:fld id="{41AF7F41-680F-4A46-9E57-7F042B2CF87D}" type="slidenum">
              <a:rPr lang="en-US" smtClean="0"/>
              <a:t>‹#›</a:t>
            </a:fld>
            <a:endParaRPr lang="en-US"/>
          </a:p>
        </p:txBody>
      </p:sp>
    </p:spTree>
    <p:extLst>
      <p:ext uri="{BB962C8B-B14F-4D97-AF65-F5344CB8AC3E}">
        <p14:creationId xmlns:p14="http://schemas.microsoft.com/office/powerpoint/2010/main" val="3145086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5AE39-156C-A477-DBC4-24A44CC8E0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FF2FDD-6B74-DA66-A836-BCF791A12A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40E331-D5CD-719B-D162-614FA4A51D89}"/>
              </a:ext>
            </a:extLst>
          </p:cNvPr>
          <p:cNvSpPr>
            <a:spLocks noGrp="1"/>
          </p:cNvSpPr>
          <p:nvPr>
            <p:ph type="dt" sz="half" idx="10"/>
          </p:nvPr>
        </p:nvSpPr>
        <p:spPr/>
        <p:txBody>
          <a:bodyPr/>
          <a:lstStyle/>
          <a:p>
            <a:fld id="{7261AD07-4BD2-4CA8-B9FF-463019E5C243}" type="datetimeFigureOut">
              <a:rPr lang="en-US" smtClean="0"/>
              <a:t>10/24/2024</a:t>
            </a:fld>
            <a:endParaRPr lang="en-US"/>
          </a:p>
        </p:txBody>
      </p:sp>
      <p:sp>
        <p:nvSpPr>
          <p:cNvPr id="5" name="Footer Placeholder 4">
            <a:extLst>
              <a:ext uri="{FF2B5EF4-FFF2-40B4-BE49-F238E27FC236}">
                <a16:creationId xmlns:a16="http://schemas.microsoft.com/office/drawing/2014/main" id="{4096EC03-C97A-C7CB-CAD9-0B0E8F41D1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D7E3BD-876B-2601-103D-6DD9D9C1F822}"/>
              </a:ext>
            </a:extLst>
          </p:cNvPr>
          <p:cNvSpPr>
            <a:spLocks noGrp="1"/>
          </p:cNvSpPr>
          <p:nvPr>
            <p:ph type="sldNum" sz="quarter" idx="12"/>
          </p:nvPr>
        </p:nvSpPr>
        <p:spPr/>
        <p:txBody>
          <a:bodyPr/>
          <a:lstStyle/>
          <a:p>
            <a:fld id="{41AF7F41-680F-4A46-9E57-7F042B2CF87D}" type="slidenum">
              <a:rPr lang="en-US" smtClean="0"/>
              <a:t>‹#›</a:t>
            </a:fld>
            <a:endParaRPr lang="en-US"/>
          </a:p>
        </p:txBody>
      </p:sp>
    </p:spTree>
    <p:extLst>
      <p:ext uri="{BB962C8B-B14F-4D97-AF65-F5344CB8AC3E}">
        <p14:creationId xmlns:p14="http://schemas.microsoft.com/office/powerpoint/2010/main" val="820450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B07112-2FCA-51CC-E9C4-EE7C759942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B59189-B8B5-FE50-D96F-DA02315DB3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568A8B-BF23-3CDF-FFA6-8AAA72FB17ED}"/>
              </a:ext>
            </a:extLst>
          </p:cNvPr>
          <p:cNvSpPr>
            <a:spLocks noGrp="1"/>
          </p:cNvSpPr>
          <p:nvPr>
            <p:ph type="dt" sz="half" idx="10"/>
          </p:nvPr>
        </p:nvSpPr>
        <p:spPr/>
        <p:txBody>
          <a:bodyPr/>
          <a:lstStyle/>
          <a:p>
            <a:fld id="{7261AD07-4BD2-4CA8-B9FF-463019E5C243}" type="datetimeFigureOut">
              <a:rPr lang="en-US" smtClean="0"/>
              <a:t>10/24/2024</a:t>
            </a:fld>
            <a:endParaRPr lang="en-US"/>
          </a:p>
        </p:txBody>
      </p:sp>
      <p:sp>
        <p:nvSpPr>
          <p:cNvPr id="5" name="Footer Placeholder 4">
            <a:extLst>
              <a:ext uri="{FF2B5EF4-FFF2-40B4-BE49-F238E27FC236}">
                <a16:creationId xmlns:a16="http://schemas.microsoft.com/office/drawing/2014/main" id="{D0B00218-20F4-9832-93F0-CEE0E58DEF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F25F6C-A0FC-8272-252F-FC11A346547B}"/>
              </a:ext>
            </a:extLst>
          </p:cNvPr>
          <p:cNvSpPr>
            <a:spLocks noGrp="1"/>
          </p:cNvSpPr>
          <p:nvPr>
            <p:ph type="sldNum" sz="quarter" idx="12"/>
          </p:nvPr>
        </p:nvSpPr>
        <p:spPr/>
        <p:txBody>
          <a:bodyPr/>
          <a:lstStyle/>
          <a:p>
            <a:fld id="{41AF7F41-680F-4A46-9E57-7F042B2CF87D}" type="slidenum">
              <a:rPr lang="en-US" smtClean="0"/>
              <a:t>‹#›</a:t>
            </a:fld>
            <a:endParaRPr lang="en-US"/>
          </a:p>
        </p:txBody>
      </p:sp>
    </p:spTree>
    <p:extLst>
      <p:ext uri="{BB962C8B-B14F-4D97-AF65-F5344CB8AC3E}">
        <p14:creationId xmlns:p14="http://schemas.microsoft.com/office/powerpoint/2010/main" val="1152504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D0FC5A-B3F5-0DF9-7C7E-87822882FF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1263E5F-900D-8F19-8155-DAC534FD16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B930C1-09D9-C322-C37B-066B8B7B26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61AD07-4BD2-4CA8-B9FF-463019E5C243}" type="datetimeFigureOut">
              <a:rPr lang="en-US" smtClean="0"/>
              <a:t>10/24/2024</a:t>
            </a:fld>
            <a:endParaRPr lang="en-US"/>
          </a:p>
        </p:txBody>
      </p:sp>
      <p:sp>
        <p:nvSpPr>
          <p:cNvPr id="5" name="Footer Placeholder 4">
            <a:extLst>
              <a:ext uri="{FF2B5EF4-FFF2-40B4-BE49-F238E27FC236}">
                <a16:creationId xmlns:a16="http://schemas.microsoft.com/office/drawing/2014/main" id="{BDAB818D-3A22-0FED-B358-4BAB0C6006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0E7151C-2F62-D024-38F8-BB6C052CC3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AF7F41-680F-4A46-9E57-7F042B2CF87D}" type="slidenum">
              <a:rPr lang="en-US" smtClean="0"/>
              <a:t>‹#›</a:t>
            </a:fld>
            <a:endParaRPr lang="en-US"/>
          </a:p>
        </p:txBody>
      </p:sp>
    </p:spTree>
    <p:extLst>
      <p:ext uri="{BB962C8B-B14F-4D97-AF65-F5344CB8AC3E}">
        <p14:creationId xmlns:p14="http://schemas.microsoft.com/office/powerpoint/2010/main" val="288753349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FF4CA2B-7006-136F-6529-29FF381C2F4E}"/>
              </a:ext>
            </a:extLst>
          </p:cNvPr>
          <p:cNvSpPr>
            <a:spLocks noGrp="1"/>
          </p:cNvSpPr>
          <p:nvPr>
            <p:ph type="subTitle" idx="1"/>
          </p:nvPr>
        </p:nvSpPr>
        <p:spPr>
          <a:xfrm>
            <a:off x="958291" y="534010"/>
            <a:ext cx="10233965" cy="5661964"/>
          </a:xfrm>
        </p:spPr>
        <p:txBody>
          <a:bodyPr/>
          <a:lstStyle/>
          <a:p>
            <a:pPr marL="0" marR="0" indent="-1270" algn="just">
              <a:lnSpc>
                <a:spcPct val="107000"/>
              </a:lnSpc>
              <a:spcBef>
                <a:spcPts val="0"/>
              </a:spcBef>
              <a:spcAft>
                <a:spcPts val="800"/>
              </a:spcAft>
            </a:pPr>
            <a:r>
              <a:rPr lang="en-IN" sz="32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UNIT II  </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1270" algn="just">
              <a:lnSpc>
                <a:spcPct val="107000"/>
              </a:lnSpc>
              <a:spcBef>
                <a:spcPts val="0"/>
              </a:spcBef>
              <a:spcAft>
                <a:spcPts val="800"/>
              </a:spcAft>
            </a:pPr>
            <a:r>
              <a:rPr lang="en-IN" sz="3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Software Requirements: Functional and non-functional requirements, User requirements, System requirements, Interface specification, The software requirements document.</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1270" algn="just">
              <a:lnSpc>
                <a:spcPct val="107000"/>
              </a:lnSpc>
              <a:spcBef>
                <a:spcPts val="0"/>
              </a:spcBef>
              <a:spcAft>
                <a:spcPts val="800"/>
              </a:spcAft>
            </a:pPr>
            <a:r>
              <a:rPr lang="en-IN" sz="3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Requirements engineering process:  Feasibility studies, Requirements elicitation and analysis, Requirements validation, Requirements management, RTM.</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667429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62A41BF-2D6D-6162-8F4C-BCCA8CA854C6}"/>
              </a:ext>
            </a:extLst>
          </p:cNvPr>
          <p:cNvSpPr>
            <a:spLocks noGrp="1"/>
          </p:cNvSpPr>
          <p:nvPr>
            <p:ph type="title"/>
          </p:nvPr>
        </p:nvSpPr>
        <p:spPr/>
        <p:txBody>
          <a:bodyPr>
            <a:noAutofit/>
          </a:bodyPr>
          <a:lstStyle/>
          <a:p>
            <a:r>
              <a:rPr lang="en-US" sz="2400" dirty="0">
                <a:latin typeface="Times New Roman" panose="02020603050405020304" pitchFamily="18" charset="0"/>
                <a:cs typeface="Times New Roman" panose="02020603050405020304" pitchFamily="18" charset="0"/>
              </a:rPr>
              <a:t>In software engineering, </a:t>
            </a:r>
            <a:r>
              <a:rPr lang="en-US" sz="2400" b="1" dirty="0">
                <a:latin typeface="Times New Roman" panose="02020603050405020304" pitchFamily="18" charset="0"/>
                <a:cs typeface="Times New Roman" panose="02020603050405020304" pitchFamily="18" charset="0"/>
              </a:rPr>
              <a:t>requirements</a:t>
            </a:r>
            <a:r>
              <a:rPr lang="en-US" sz="2400" dirty="0">
                <a:latin typeface="Times New Roman" panose="02020603050405020304" pitchFamily="18" charset="0"/>
                <a:cs typeface="Times New Roman" panose="02020603050405020304" pitchFamily="18" charset="0"/>
              </a:rPr>
              <a:t> refer to the specifications that define what a software system should do and how it should perform. They serve as a blueprint for both the development process and the final product, guiding design, implementation, and testing.</a:t>
            </a:r>
          </a:p>
        </p:txBody>
      </p:sp>
      <p:sp>
        <p:nvSpPr>
          <p:cNvPr id="7" name="Content Placeholder 6">
            <a:extLst>
              <a:ext uri="{FF2B5EF4-FFF2-40B4-BE49-F238E27FC236}">
                <a16:creationId xmlns:a16="http://schemas.microsoft.com/office/drawing/2014/main" id="{C47D2DE8-740C-CE91-6BE6-0CFCFFE84379}"/>
              </a:ext>
            </a:extLst>
          </p:cNvPr>
          <p:cNvSpPr>
            <a:spLocks noGrp="1"/>
          </p:cNvSpPr>
          <p:nvPr>
            <p:ph idx="1"/>
          </p:nvPr>
        </p:nvSpPr>
        <p:spPr/>
        <p:txBody>
          <a:bodyPr/>
          <a:lstStyle/>
          <a:p>
            <a:pPr marL="0" indent="0">
              <a:buNone/>
            </a:pPr>
            <a:r>
              <a:rPr lang="en-US" dirty="0"/>
              <a:t>Types of Requirements:- There are 5 types of S/W Requirements.</a:t>
            </a:r>
          </a:p>
          <a:p>
            <a:pPr marL="514350" indent="-514350">
              <a:buAutoNum type="arabicPeriod"/>
            </a:pPr>
            <a:r>
              <a:rPr lang="en-US" dirty="0"/>
              <a:t>Functional Requirements</a:t>
            </a:r>
          </a:p>
          <a:p>
            <a:pPr marL="514350" indent="-514350">
              <a:buAutoNum type="arabicPeriod"/>
            </a:pPr>
            <a:r>
              <a:rPr lang="en-US" dirty="0"/>
              <a:t>Non-Functional Requirements</a:t>
            </a:r>
          </a:p>
          <a:p>
            <a:pPr marL="514350" indent="-514350">
              <a:buAutoNum type="arabicPeriod"/>
            </a:pPr>
            <a:r>
              <a:rPr lang="en-US" dirty="0"/>
              <a:t>User Requirements</a:t>
            </a:r>
          </a:p>
          <a:p>
            <a:pPr marL="514350" indent="-514350">
              <a:buAutoNum type="arabicPeriod"/>
            </a:pPr>
            <a:r>
              <a:rPr lang="en-US" dirty="0"/>
              <a:t>System Requirements</a:t>
            </a:r>
          </a:p>
          <a:p>
            <a:pPr marL="514350" indent="-514350">
              <a:buAutoNum type="arabicPeriod"/>
            </a:pPr>
            <a:r>
              <a:rPr lang="en-US" dirty="0"/>
              <a:t>Interface Requirements</a:t>
            </a:r>
          </a:p>
          <a:p>
            <a:pPr marL="514350" indent="-514350">
              <a:buAutoNum type="arabicPeriod"/>
            </a:pPr>
            <a:endParaRPr lang="en-US" dirty="0"/>
          </a:p>
        </p:txBody>
      </p:sp>
    </p:spTree>
    <p:extLst>
      <p:ext uri="{BB962C8B-B14F-4D97-AF65-F5344CB8AC3E}">
        <p14:creationId xmlns:p14="http://schemas.microsoft.com/office/powerpoint/2010/main" val="972914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EFC0D6-32E4-F007-12F2-52EBCB0F8D0A}"/>
              </a:ext>
            </a:extLst>
          </p:cNvPr>
          <p:cNvSpPr>
            <a:spLocks noGrp="1"/>
          </p:cNvSpPr>
          <p:nvPr>
            <p:ph idx="1"/>
          </p:nvPr>
        </p:nvSpPr>
        <p:spPr>
          <a:xfrm>
            <a:off x="838200" y="1031443"/>
            <a:ext cx="10515600" cy="5145520"/>
          </a:xfrm>
        </p:spPr>
        <p:txBody>
          <a:bodyPr/>
          <a:lstStyle/>
          <a:p>
            <a:pPr marL="0" marR="0">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Types of Software Requirements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mj-lt"/>
              <a:buAutoNum type="arabicPeriod"/>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Functional Requirements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Definition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Describe specific functionalities that the system must support.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Examples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1143000" marR="0" lvl="2" indent="-228600">
              <a:spcBef>
                <a:spcPts val="0"/>
              </a:spcBef>
              <a:spcAft>
                <a:spcPts val="0"/>
              </a:spcAft>
              <a:buSzPts val="1000"/>
              <a:buFont typeface="Wingdings" panose="05000000000000000000" pitchFamily="2" charset="2"/>
              <a:buChar char=""/>
              <a:tabLst>
                <a:tab pos="13716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User authentication and authorization.</a:t>
            </a:r>
          </a:p>
          <a:p>
            <a:pPr marL="1143000" marR="0" lvl="2" indent="-228600">
              <a:spcBef>
                <a:spcPts val="0"/>
              </a:spcBef>
              <a:spcAft>
                <a:spcPts val="0"/>
              </a:spcAft>
              <a:buSzPts val="1000"/>
              <a:buFont typeface="Wingdings" panose="05000000000000000000" pitchFamily="2" charset="2"/>
              <a:buChar char=""/>
              <a:tabLst>
                <a:tab pos="13716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Data entry and validation.</a:t>
            </a:r>
          </a:p>
          <a:p>
            <a:pPr marL="1143000" marR="0" lvl="2" indent="-228600">
              <a:spcBef>
                <a:spcPts val="0"/>
              </a:spcBef>
              <a:spcAft>
                <a:spcPts val="0"/>
              </a:spcAft>
              <a:buSzPts val="1000"/>
              <a:buFont typeface="Wingdings" panose="05000000000000000000" pitchFamily="2" charset="2"/>
              <a:buChar char=""/>
              <a:tabLst>
                <a:tab pos="13716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Reporting features.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Documentation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Often captured through use cases, user stories, or requirements specifications.</a:t>
            </a:r>
          </a:p>
          <a:p>
            <a:pPr marL="342900" marR="0" lvl="0" indent="-342900">
              <a:spcBef>
                <a:spcPts val="0"/>
              </a:spcBef>
              <a:spcAft>
                <a:spcPts val="0"/>
              </a:spcAft>
              <a:buFont typeface="+mj-lt"/>
              <a:buAutoNum type="arabicPeriod"/>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Non-Functional Requirements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Definition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Outline criteria that judge the system's operation rather than specific behaviors.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Categories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1143000" marR="0" lvl="2" indent="-228600">
              <a:spcBef>
                <a:spcPts val="0"/>
              </a:spcBef>
              <a:spcAft>
                <a:spcPts val="0"/>
              </a:spcAft>
              <a:buSzPts val="1000"/>
              <a:buFont typeface="Wingdings" panose="05000000000000000000" pitchFamily="2" charset="2"/>
              <a:buChar char=""/>
              <a:tabLst>
                <a:tab pos="13716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Performance</a:t>
            </a:r>
            <a:r>
              <a:rPr lang="en-US" dirty="0">
                <a:effectLst/>
                <a:latin typeface="Times New Roman" panose="02020603050405020304" pitchFamily="18" charset="0"/>
                <a:ea typeface="Calibri" panose="020F0502020204030204" pitchFamily="34" charset="0"/>
                <a:cs typeface="Times New Roman" panose="02020603050405020304" pitchFamily="18" charset="0"/>
              </a:rPr>
              <a:t>: Response time, throughput, and latency.</a:t>
            </a:r>
          </a:p>
          <a:p>
            <a:pPr marL="1143000" marR="0" lvl="2" indent="-228600">
              <a:spcBef>
                <a:spcPts val="0"/>
              </a:spcBef>
              <a:spcAft>
                <a:spcPts val="0"/>
              </a:spcAft>
              <a:buSzPts val="1000"/>
              <a:buFont typeface="Wingdings" panose="05000000000000000000" pitchFamily="2" charset="2"/>
              <a:buChar char=""/>
              <a:tabLst>
                <a:tab pos="13716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Usability</a:t>
            </a:r>
            <a:r>
              <a:rPr lang="en-US" dirty="0">
                <a:effectLst/>
                <a:latin typeface="Times New Roman" panose="02020603050405020304" pitchFamily="18" charset="0"/>
                <a:ea typeface="Calibri" panose="020F0502020204030204" pitchFamily="34" charset="0"/>
                <a:cs typeface="Times New Roman" panose="02020603050405020304" pitchFamily="18" charset="0"/>
              </a:rPr>
              <a:t>: User experience, accessibility standards.</a:t>
            </a:r>
          </a:p>
          <a:p>
            <a:pPr marL="1143000" marR="0" lvl="2" indent="-228600">
              <a:spcBef>
                <a:spcPts val="0"/>
              </a:spcBef>
              <a:spcAft>
                <a:spcPts val="0"/>
              </a:spcAft>
              <a:buSzPts val="1000"/>
              <a:buFont typeface="Wingdings" panose="05000000000000000000" pitchFamily="2" charset="2"/>
              <a:buChar char=""/>
              <a:tabLst>
                <a:tab pos="13716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Reliability</a:t>
            </a:r>
            <a:r>
              <a:rPr lang="en-US" dirty="0">
                <a:effectLst/>
                <a:latin typeface="Times New Roman" panose="02020603050405020304" pitchFamily="18" charset="0"/>
                <a:ea typeface="Calibri" panose="020F0502020204030204" pitchFamily="34" charset="0"/>
                <a:cs typeface="Times New Roman" panose="02020603050405020304" pitchFamily="18" charset="0"/>
              </a:rPr>
              <a:t>: Availability, fault tolerance.</a:t>
            </a:r>
          </a:p>
          <a:p>
            <a:pPr marL="1143000" marR="0" lvl="2" indent="-228600">
              <a:spcBef>
                <a:spcPts val="0"/>
              </a:spcBef>
              <a:spcAft>
                <a:spcPts val="0"/>
              </a:spcAft>
              <a:buSzPts val="1000"/>
              <a:buFont typeface="Wingdings" panose="05000000000000000000" pitchFamily="2" charset="2"/>
              <a:buChar char=""/>
              <a:tabLst>
                <a:tab pos="13716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Security</a:t>
            </a:r>
            <a:r>
              <a:rPr lang="en-US" dirty="0">
                <a:effectLst/>
                <a:latin typeface="Times New Roman" panose="02020603050405020304" pitchFamily="18" charset="0"/>
                <a:ea typeface="Calibri" panose="020F0502020204030204" pitchFamily="34" charset="0"/>
                <a:cs typeface="Times New Roman" panose="02020603050405020304" pitchFamily="18" charset="0"/>
              </a:rPr>
              <a:t>: Data protection, compliance with regulations.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Documentation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Typically documented in separate sections of requirements specifications.</a:t>
            </a:r>
          </a:p>
          <a:p>
            <a:pPr marL="0" indent="0">
              <a:buNone/>
            </a:pPr>
            <a:endParaRPr lang="en-US" dirty="0"/>
          </a:p>
        </p:txBody>
      </p:sp>
    </p:spTree>
    <p:extLst>
      <p:ext uri="{BB962C8B-B14F-4D97-AF65-F5344CB8AC3E}">
        <p14:creationId xmlns:p14="http://schemas.microsoft.com/office/powerpoint/2010/main" val="2179863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2BE945-D7AE-8139-0AB1-F7A11F344EEE}"/>
              </a:ext>
            </a:extLst>
          </p:cNvPr>
          <p:cNvSpPr>
            <a:spLocks noGrp="1"/>
          </p:cNvSpPr>
          <p:nvPr>
            <p:ph idx="1"/>
          </p:nvPr>
        </p:nvSpPr>
        <p:spPr>
          <a:xfrm>
            <a:off x="838200" y="1133856"/>
            <a:ext cx="10515600" cy="5325466"/>
          </a:xfrm>
        </p:spPr>
        <p:txBody>
          <a:bodyPr/>
          <a:lstStyle/>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3. User Requirements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Definition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Specific needs and expectations of the end-users.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Focus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User interactions and experience with the software.</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Documentation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Often represented as user stories or scenarios.</a:t>
            </a:r>
          </a:p>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4. System Requirements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Definition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Technical specifications that describe the hardware and software environment.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Types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1143000" marR="0" lvl="2" indent="-228600">
              <a:spcBef>
                <a:spcPts val="0"/>
              </a:spcBef>
              <a:spcAft>
                <a:spcPts val="0"/>
              </a:spcAft>
              <a:buSzPts val="1000"/>
              <a:buFont typeface="Wingdings" panose="05000000000000000000" pitchFamily="2" charset="2"/>
              <a:buChar char=""/>
              <a:tabLst>
                <a:tab pos="13716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Hardware Requirements</a:t>
            </a:r>
            <a:r>
              <a:rPr lang="en-US" dirty="0">
                <a:effectLst/>
                <a:latin typeface="Times New Roman" panose="02020603050405020304" pitchFamily="18" charset="0"/>
                <a:ea typeface="Calibri" panose="020F0502020204030204" pitchFamily="34" charset="0"/>
                <a:cs typeface="Times New Roman" panose="02020603050405020304" pitchFamily="18" charset="0"/>
              </a:rPr>
              <a:t>: CPU, memory, storage specifications.</a:t>
            </a:r>
          </a:p>
          <a:p>
            <a:pPr marL="1143000" marR="0" lvl="2" indent="-228600">
              <a:spcBef>
                <a:spcPts val="0"/>
              </a:spcBef>
              <a:spcAft>
                <a:spcPts val="0"/>
              </a:spcAft>
              <a:buSzPts val="1000"/>
              <a:buFont typeface="Wingdings" panose="05000000000000000000" pitchFamily="2" charset="2"/>
              <a:buChar char=""/>
              <a:tabLst>
                <a:tab pos="13716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Software Requirements</a:t>
            </a:r>
            <a:r>
              <a:rPr lang="en-US" dirty="0">
                <a:effectLst/>
                <a:latin typeface="Times New Roman" panose="02020603050405020304" pitchFamily="18" charset="0"/>
                <a:ea typeface="Calibri" panose="020F0502020204030204" pitchFamily="34" charset="0"/>
                <a:cs typeface="Times New Roman" panose="02020603050405020304" pitchFamily="18" charset="0"/>
              </a:rPr>
              <a:t>: Operating systems, libraries, and frameworks needed.</a:t>
            </a:r>
          </a:p>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5. Interface Requirements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Definition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Describe how the software will interact with other systems or components.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Types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1143000" marR="0" lvl="2" indent="-228600">
              <a:spcBef>
                <a:spcPts val="0"/>
              </a:spcBef>
              <a:spcAft>
                <a:spcPts val="0"/>
              </a:spcAft>
              <a:buSzPts val="1000"/>
              <a:buFont typeface="Wingdings" panose="05000000000000000000" pitchFamily="2" charset="2"/>
              <a:buChar char=""/>
              <a:tabLst>
                <a:tab pos="13716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User Interface (UI)</a:t>
            </a:r>
            <a:r>
              <a:rPr lang="en-US" dirty="0">
                <a:effectLst/>
                <a:latin typeface="Times New Roman" panose="02020603050405020304" pitchFamily="18" charset="0"/>
                <a:ea typeface="Calibri" panose="020F0502020204030204" pitchFamily="34" charset="0"/>
                <a:cs typeface="Times New Roman" panose="02020603050405020304" pitchFamily="18" charset="0"/>
              </a:rPr>
              <a:t>: Layout, navigation, and accessibility guidelines.</a:t>
            </a:r>
          </a:p>
          <a:p>
            <a:pPr marL="1143000" marR="0" lvl="2" indent="-228600">
              <a:spcBef>
                <a:spcPts val="0"/>
              </a:spcBef>
              <a:spcAft>
                <a:spcPts val="0"/>
              </a:spcAft>
              <a:buSzPts val="1000"/>
              <a:buFont typeface="Wingdings" panose="05000000000000000000" pitchFamily="2" charset="2"/>
              <a:buChar char=""/>
              <a:tabLst>
                <a:tab pos="13716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Application Programming Interfaces (APIs)</a:t>
            </a:r>
            <a:r>
              <a:rPr lang="en-US" dirty="0">
                <a:effectLst/>
                <a:latin typeface="Times New Roman" panose="02020603050405020304" pitchFamily="18" charset="0"/>
                <a:ea typeface="Calibri" panose="020F0502020204030204" pitchFamily="34" charset="0"/>
                <a:cs typeface="Times New Roman" panose="02020603050405020304" pitchFamily="18" charset="0"/>
              </a:rPr>
              <a:t>: Specifications for external integrations.</a:t>
            </a:r>
          </a:p>
          <a:p>
            <a:endParaRPr lang="en-US" dirty="0"/>
          </a:p>
        </p:txBody>
      </p:sp>
    </p:spTree>
    <p:extLst>
      <p:ext uri="{BB962C8B-B14F-4D97-AF65-F5344CB8AC3E}">
        <p14:creationId xmlns:p14="http://schemas.microsoft.com/office/powerpoint/2010/main" val="745748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D986A-3D83-B319-0944-D3869B6C9ED5}"/>
              </a:ext>
            </a:extLst>
          </p:cNvPr>
          <p:cNvSpPr>
            <a:spLocks noGrp="1"/>
          </p:cNvSpPr>
          <p:nvPr>
            <p:ph type="title"/>
          </p:nvPr>
        </p:nvSpPr>
        <p:spPr>
          <a:xfrm>
            <a:off x="838200" y="365126"/>
            <a:ext cx="10515600" cy="776046"/>
          </a:xfrm>
        </p:spPr>
        <p:txBody>
          <a:bodyPr/>
          <a:lstStyle/>
          <a:p>
            <a:r>
              <a:rPr lang="en-US" sz="4400" b="1" u="sng" dirty="0">
                <a:effectLst/>
                <a:latin typeface="Times New Roman" panose="02020603050405020304" pitchFamily="18" charset="0"/>
                <a:ea typeface="Calibri" panose="020F0502020204030204" pitchFamily="34" charset="0"/>
                <a:cs typeface="Times New Roman" panose="02020603050405020304" pitchFamily="18" charset="0"/>
              </a:rPr>
              <a:t>Functional requirements</a:t>
            </a:r>
            <a:endParaRPr lang="en-US" dirty="0"/>
          </a:p>
        </p:txBody>
      </p:sp>
      <p:sp>
        <p:nvSpPr>
          <p:cNvPr id="3" name="Content Placeholder 2">
            <a:extLst>
              <a:ext uri="{FF2B5EF4-FFF2-40B4-BE49-F238E27FC236}">
                <a16:creationId xmlns:a16="http://schemas.microsoft.com/office/drawing/2014/main" id="{AF84ACE6-B629-973E-5BCD-FD1C8EEDE7C4}"/>
              </a:ext>
            </a:extLst>
          </p:cNvPr>
          <p:cNvSpPr>
            <a:spLocks noGrp="1"/>
          </p:cNvSpPr>
          <p:nvPr>
            <p:ph idx="1"/>
          </p:nvPr>
        </p:nvSpPr>
        <p:spPr>
          <a:xfrm>
            <a:off x="838200" y="1572768"/>
            <a:ext cx="10515600" cy="4604195"/>
          </a:xfrm>
        </p:spPr>
        <p:txBody>
          <a:bodyPr>
            <a:normAutofit/>
          </a:bodyPr>
          <a:lstStyle/>
          <a:p>
            <a:pPr marL="0" marR="0">
              <a:spcBef>
                <a:spcPts val="0"/>
              </a:spcBef>
              <a:spcAft>
                <a:spcPts val="0"/>
              </a:spcAft>
            </a:pP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Functional requirements</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are a crucial aspect of software engineering, detailing what the system should do and how it should behave in various scenarios. Here’s a deeper dive into functional requirements:</a:t>
            </a:r>
          </a:p>
          <a:p>
            <a:pPr marL="0" marR="0">
              <a:spcBef>
                <a:spcPts val="0"/>
              </a:spcBef>
              <a:spcAft>
                <a:spcPts val="0"/>
              </a:spcAft>
            </a:pP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Definition</a:t>
            </a:r>
            <a:endParaRPr lang="en-US"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spcBef>
                <a:spcPts val="0"/>
              </a:spcBef>
              <a:spcAft>
                <a:spcPts val="0"/>
              </a:spcAft>
            </a:pP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Functional Requirements</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specify the expected behavior of a system, outlining specific functions, features, and interactions that the software must support. They describe what the system should accomplish and often serve as the foundation for system design, implementation, and testing.</a:t>
            </a:r>
          </a:p>
          <a:p>
            <a:pPr marL="0" marR="0">
              <a:spcBef>
                <a:spcPts val="0"/>
              </a:spcBef>
              <a:spcAft>
                <a:spcPts val="0"/>
              </a:spcAft>
            </a:pP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Key Characteristics</a:t>
            </a:r>
            <a:endParaRPr lang="en-US"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mj-lt"/>
              <a:buAutoNum type="arabicPeriod"/>
              <a:tabLst>
                <a:tab pos="457200" algn="l"/>
              </a:tabLst>
            </a:pP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Specificity</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Clearly define specific actions or functions the software must perform.</a:t>
            </a:r>
          </a:p>
          <a:p>
            <a:pPr marL="342900" marR="0" lvl="0" indent="-342900">
              <a:spcBef>
                <a:spcPts val="0"/>
              </a:spcBef>
              <a:spcAft>
                <a:spcPts val="0"/>
              </a:spcAft>
              <a:buFont typeface="+mj-lt"/>
              <a:buAutoNum type="arabicPeriod"/>
              <a:tabLst>
                <a:tab pos="457200" algn="l"/>
              </a:tabLst>
            </a:pP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Testability</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Should be measurable or verifiable through testing.</a:t>
            </a:r>
          </a:p>
          <a:p>
            <a:pPr marL="342900" marR="0" lvl="0" indent="-342900">
              <a:spcBef>
                <a:spcPts val="0"/>
              </a:spcBef>
              <a:spcAft>
                <a:spcPts val="0"/>
              </a:spcAft>
              <a:buFont typeface="+mj-lt"/>
              <a:buAutoNum type="arabicPeriod"/>
              <a:tabLst>
                <a:tab pos="457200" algn="l"/>
              </a:tabLst>
            </a:pP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User-Centric</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Focus on what the users need from the system.</a:t>
            </a:r>
          </a:p>
          <a:p>
            <a:pPr marL="342900" marR="0" lvl="0" indent="-342900">
              <a:spcBef>
                <a:spcPts val="0"/>
              </a:spcBef>
              <a:spcAft>
                <a:spcPts val="0"/>
              </a:spcAft>
              <a:buFont typeface="+mj-lt"/>
              <a:buAutoNum type="arabicPeriod"/>
              <a:tabLst>
                <a:tab pos="457200" algn="l"/>
              </a:tabLst>
            </a:pP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Traceability</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Each functional requirement should be linked to a business or user need.</a:t>
            </a:r>
          </a:p>
          <a:p>
            <a:pPr marL="0" marR="0">
              <a:spcBef>
                <a:spcPts val="0"/>
              </a:spcBef>
              <a:spcAft>
                <a:spcPts val="0"/>
              </a:spcAft>
            </a:pPr>
            <a:endParaRPr lang="en-US" sz="2800" b="1"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37188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536EEE-B418-D61E-6473-C121F2852727}"/>
              </a:ext>
            </a:extLst>
          </p:cNvPr>
          <p:cNvSpPr>
            <a:spLocks noGrp="1"/>
          </p:cNvSpPr>
          <p:nvPr>
            <p:ph idx="1"/>
          </p:nvPr>
        </p:nvSpPr>
        <p:spPr>
          <a:xfrm>
            <a:off x="838200" y="687629"/>
            <a:ext cx="10515600" cy="5489334"/>
          </a:xfrm>
        </p:spPr>
        <p:txBody>
          <a:bodyPr/>
          <a:lstStyle/>
          <a:p>
            <a:pPr marL="0" marR="0">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Components of Functional Requirements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mj-lt"/>
              <a:buAutoNum type="arabicPeriod"/>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Use Cases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Scenarios that describe how users interact with the system.</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Example: “A user can log in using their email and password.”</a:t>
            </a:r>
          </a:p>
          <a:p>
            <a:pPr marL="742950" marR="0" lvl="1" indent="-285750">
              <a:spcBef>
                <a:spcPts val="0"/>
              </a:spcBef>
              <a:spcAft>
                <a:spcPts val="0"/>
              </a:spcAft>
              <a:buSzPts val="1000"/>
              <a:buFont typeface="Courier New" panose="02070309020205020404" pitchFamily="49" charset="0"/>
              <a:buChar char="o"/>
              <a:tabLst>
                <a:tab pos="914400" algn="l"/>
              </a:tabLst>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mj-lt"/>
              <a:buAutoNum type="arabicPeriod"/>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User Stories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Short, simple descriptions of a feature from the perspective of the end-user.</a:t>
            </a:r>
          </a:p>
          <a:p>
            <a:pPr marL="0" indent="0">
              <a:spcBef>
                <a:spcPts val="0"/>
              </a:spcBef>
              <a:buNone/>
              <a:tabLst>
                <a:tab pos="4572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Example: “As a user, I want to reset my password so that I can regain access to my account.”</a:t>
            </a:r>
          </a:p>
          <a:p>
            <a:pPr marL="0" indent="0">
              <a:spcBef>
                <a:spcPts val="0"/>
              </a:spcBef>
              <a:buNone/>
              <a:tabLst>
                <a:tab pos="457200" algn="l"/>
              </a:tabLst>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3. System Functions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Specific capabilities or tasks the system must perform.</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Example: “The system shall allow users to search for products by name or category.”</a:t>
            </a:r>
          </a:p>
          <a:p>
            <a:pPr marL="742950" marR="0" lvl="1" indent="-285750">
              <a:spcBef>
                <a:spcPts val="0"/>
              </a:spcBef>
              <a:spcAft>
                <a:spcPts val="0"/>
              </a:spcAft>
              <a:buSzPts val="1000"/>
              <a:buFont typeface="Courier New" panose="02070309020205020404" pitchFamily="49" charset="0"/>
              <a:buChar char="o"/>
              <a:tabLst>
                <a:tab pos="914400" algn="l"/>
              </a:tabLst>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4. Business Rules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Constraints or conditions that dictate how the system operates.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Example: “A user cannot place an order without providing a shipping address.”</a:t>
            </a:r>
          </a:p>
          <a:p>
            <a:pPr marL="742950" marR="0" lvl="1" indent="-285750">
              <a:spcBef>
                <a:spcPts val="0"/>
              </a:spcBef>
              <a:spcAft>
                <a:spcPts val="0"/>
              </a:spcAft>
              <a:buSzPts val="1000"/>
              <a:buFont typeface="Courier New" panose="02070309020205020404" pitchFamily="49" charset="0"/>
              <a:buChar char="o"/>
              <a:tabLst>
                <a:tab pos="914400" algn="l"/>
              </a:tabLst>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5. Data Management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Data handling, storage, and retrieval requirements.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Example: “The system shall store user profiles securely and retrieve them upon request.”</a:t>
            </a:r>
          </a:p>
          <a:p>
            <a:endParaRPr lang="en-US" dirty="0"/>
          </a:p>
        </p:txBody>
      </p:sp>
    </p:spTree>
    <p:extLst>
      <p:ext uri="{BB962C8B-B14F-4D97-AF65-F5344CB8AC3E}">
        <p14:creationId xmlns:p14="http://schemas.microsoft.com/office/powerpoint/2010/main" val="3150855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995F8-86B0-BF99-73E3-673A16D211ED}"/>
              </a:ext>
            </a:extLst>
          </p:cNvPr>
          <p:cNvSpPr>
            <a:spLocks noGrp="1"/>
          </p:cNvSpPr>
          <p:nvPr>
            <p:ph type="title"/>
          </p:nvPr>
        </p:nvSpPr>
        <p:spPr>
          <a:xfrm>
            <a:off x="838200" y="819302"/>
            <a:ext cx="10515600" cy="870510"/>
          </a:xfrm>
        </p:spPr>
        <p:txBody>
          <a:bodyPr>
            <a:normAutofit fontScale="90000"/>
          </a:bodyPr>
          <a:lstStyle/>
          <a:p>
            <a:r>
              <a:rPr lang="en-US" sz="4400" b="1" dirty="0">
                <a:effectLst/>
                <a:latin typeface="Times New Roman" panose="02020603050405020304" pitchFamily="18" charset="0"/>
                <a:ea typeface="Calibri" panose="020F0502020204030204" pitchFamily="34" charset="0"/>
                <a:cs typeface="Times New Roman" panose="02020603050405020304" pitchFamily="18" charset="0"/>
              </a:rPr>
              <a:t>Examples of Functional Requirements</a:t>
            </a:r>
            <a:br>
              <a:rPr lang="en-US" sz="4400" dirty="0">
                <a:effectLst/>
                <a:latin typeface="Times New Roman" panose="02020603050405020304" pitchFamily="18"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CB32F5CB-E401-9B88-B2FC-7B01552A06CD}"/>
              </a:ext>
            </a:extLst>
          </p:cNvPr>
          <p:cNvSpPr>
            <a:spLocks noGrp="1"/>
          </p:cNvSpPr>
          <p:nvPr>
            <p:ph idx="1"/>
          </p:nvPr>
        </p:nvSpPr>
        <p:spPr/>
        <p:txBody>
          <a:bodyPr>
            <a:normAutofit/>
          </a:bodyPr>
          <a:lstStyle/>
          <a:p>
            <a:pPr marL="342900" marR="0" lvl="0" indent="-342900">
              <a:spcBef>
                <a:spcPts val="0"/>
              </a:spcBef>
              <a:spcAft>
                <a:spcPts val="0"/>
              </a:spcAft>
              <a:buFont typeface="+mj-lt"/>
              <a:buAutoNum type="arabicPeriod"/>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Authentication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Users must be able to register and create an account.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Users must be able to log in using a username and password.</a:t>
            </a:r>
          </a:p>
          <a:p>
            <a:pPr marL="342900" marR="0" lvl="0" indent="-342900">
              <a:spcBef>
                <a:spcPts val="0"/>
              </a:spcBef>
              <a:spcAft>
                <a:spcPts val="0"/>
              </a:spcAft>
              <a:buFont typeface="+mj-lt"/>
              <a:buAutoNum type="arabicPeriod"/>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User Management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Admin users can create, update, and delete user accounts.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Users can update their profile information.</a:t>
            </a:r>
          </a:p>
          <a:p>
            <a:pPr marL="342900" marR="0" lvl="0" indent="-342900">
              <a:spcBef>
                <a:spcPts val="0"/>
              </a:spcBef>
              <a:spcAft>
                <a:spcPts val="0"/>
              </a:spcAft>
              <a:buFont typeface="+mj-lt"/>
              <a:buAutoNum type="arabicPeriod"/>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Search Functionality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Users can search for products by various filters (category, price range, ratings).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system must display search results within 2 seconds.</a:t>
            </a:r>
          </a:p>
          <a:p>
            <a:pPr marL="342900" marR="0" lvl="0" indent="-342900">
              <a:spcBef>
                <a:spcPts val="0"/>
              </a:spcBef>
              <a:spcAft>
                <a:spcPts val="0"/>
              </a:spcAft>
              <a:buFont typeface="+mj-lt"/>
              <a:buAutoNum type="arabicPeriod"/>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Reporting</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system shall generate monthly sales reports for analysis.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Users can export reports in PDF and Excel formats.</a:t>
            </a:r>
          </a:p>
          <a:p>
            <a:pPr marL="342900" marR="0" lvl="0" indent="-342900">
              <a:spcBef>
                <a:spcPts val="0"/>
              </a:spcBef>
              <a:spcAft>
                <a:spcPts val="0"/>
              </a:spcAft>
              <a:buFont typeface="+mj-lt"/>
              <a:buAutoNum type="arabicPeriod"/>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Notifications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Users shall receive email notifications for important updates (e.g., order confirmation).</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system must alert users when their account settings change.</a:t>
            </a:r>
          </a:p>
          <a:p>
            <a:pPr marL="0" indent="0">
              <a:buNone/>
            </a:pPr>
            <a:endParaRPr lang="en-US" dirty="0"/>
          </a:p>
        </p:txBody>
      </p:sp>
    </p:spTree>
    <p:extLst>
      <p:ext uri="{BB962C8B-B14F-4D97-AF65-F5344CB8AC3E}">
        <p14:creationId xmlns:p14="http://schemas.microsoft.com/office/powerpoint/2010/main" val="192558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68BA3F-A38B-0FD1-4C1A-543C73C2EAB2}"/>
              </a:ext>
            </a:extLst>
          </p:cNvPr>
          <p:cNvSpPr>
            <a:spLocks noGrp="1"/>
          </p:cNvSpPr>
          <p:nvPr>
            <p:ph idx="1"/>
          </p:nvPr>
        </p:nvSpPr>
        <p:spPr>
          <a:xfrm>
            <a:off x="838200" y="790042"/>
            <a:ext cx="10515600" cy="5386921"/>
          </a:xfrm>
        </p:spPr>
        <p:txBody>
          <a:bodyPr/>
          <a:lstStyle/>
          <a:p>
            <a:pPr marL="0" marR="0">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Gathering Functional Requirements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1. Stakeholder Interviews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Discuss needs and expectations with users and stakeholders.</a:t>
            </a:r>
          </a:p>
          <a:p>
            <a:pPr marL="0" marR="0" lvl="0" indent="0">
              <a:spcBef>
                <a:spcPts val="0"/>
              </a:spcBef>
              <a:spcAft>
                <a:spcPts val="0"/>
              </a:spcAft>
              <a:buNone/>
              <a:tabLst>
                <a:tab pos="457200" algn="l"/>
              </a:tabLst>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 Workshops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Collaborative sessions to identify and prioritize requirements.</a:t>
            </a:r>
          </a:p>
          <a:p>
            <a:pPr marL="0" marR="0" lvl="0" indent="0">
              <a:spcBef>
                <a:spcPts val="0"/>
              </a:spcBef>
              <a:spcAft>
                <a:spcPts val="0"/>
              </a:spcAft>
              <a:buNone/>
              <a:tabLst>
                <a:tab pos="457200" algn="l"/>
              </a:tabLst>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3. Prototyping</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Create mockups to visualize functionality and gather feedback.</a:t>
            </a:r>
          </a:p>
          <a:p>
            <a:pPr marL="0" marR="0" lvl="0" indent="0">
              <a:spcBef>
                <a:spcPts val="0"/>
              </a:spcBef>
              <a:spcAft>
                <a:spcPts val="0"/>
              </a:spcAft>
              <a:buNone/>
              <a:tabLst>
                <a:tab pos="457200" algn="l"/>
              </a:tabLst>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4. Review Existing Systems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Analyze current systems for functionality that can be improved or replicated.</a:t>
            </a:r>
          </a:p>
          <a:p>
            <a:endParaRPr lang="en-US" dirty="0"/>
          </a:p>
        </p:txBody>
      </p:sp>
    </p:spTree>
    <p:extLst>
      <p:ext uri="{BB962C8B-B14F-4D97-AF65-F5344CB8AC3E}">
        <p14:creationId xmlns:p14="http://schemas.microsoft.com/office/powerpoint/2010/main" val="3898400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39BE8-CF5B-10BF-53B9-841533C2113F}"/>
              </a:ext>
            </a:extLst>
          </p:cNvPr>
          <p:cNvSpPr>
            <a:spLocks noGrp="1"/>
          </p:cNvSpPr>
          <p:nvPr>
            <p:ph type="title"/>
          </p:nvPr>
        </p:nvSpPr>
        <p:spPr/>
        <p:txBody>
          <a:bodyPr>
            <a:normAutofit/>
          </a:bodyPr>
          <a:lstStyle/>
          <a:p>
            <a:r>
              <a:rPr lang="en-US" b="1" u="sng" dirty="0">
                <a:effectLst/>
                <a:latin typeface="Times New Roman" panose="02020603050405020304" pitchFamily="18" charset="0"/>
                <a:ea typeface="Calibri" panose="020F0502020204030204" pitchFamily="34" charset="0"/>
              </a:rPr>
              <a:t>Non-functional requirements</a:t>
            </a:r>
            <a:endParaRPr lang="en-US" dirty="0"/>
          </a:p>
        </p:txBody>
      </p:sp>
      <p:sp>
        <p:nvSpPr>
          <p:cNvPr id="3" name="Content Placeholder 2">
            <a:extLst>
              <a:ext uri="{FF2B5EF4-FFF2-40B4-BE49-F238E27FC236}">
                <a16:creationId xmlns:a16="http://schemas.microsoft.com/office/drawing/2014/main" id="{C400CFB5-7F68-87ED-F5B9-B38187A58F35}"/>
              </a:ext>
            </a:extLst>
          </p:cNvPr>
          <p:cNvSpPr>
            <a:spLocks noGrp="1"/>
          </p:cNvSpPr>
          <p:nvPr>
            <p:ph idx="1"/>
          </p:nvPr>
        </p:nvSpPr>
        <p:spPr>
          <a:xfrm>
            <a:off x="838200" y="1382573"/>
            <a:ext cx="10515600" cy="4794390"/>
          </a:xfrm>
        </p:spPr>
        <p:txBody>
          <a:bodyPr/>
          <a:lstStyle/>
          <a:p>
            <a:pPr marL="0" marR="0" algn="just">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Definition</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Non-Functional Requirements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describe the characteristics of the system that impact user experience, system performance, and overall quality. They encompass a wide range of criteria that govern system behavior and performance, rather than specific functionalities.</a:t>
            </a:r>
          </a:p>
          <a:p>
            <a:pPr marL="0" marR="0">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Key Categories of Non-Functional Requirements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mj-lt"/>
              <a:buAutoNum type="arabicPeriod"/>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Performance</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Response Time</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The time taken for the system to respond to a user action.</a:t>
            </a:r>
          </a:p>
          <a:p>
            <a:pPr marL="1143000" marR="0" lvl="2" indent="-228600">
              <a:spcBef>
                <a:spcPts val="0"/>
              </a:spcBef>
              <a:spcAft>
                <a:spcPts val="0"/>
              </a:spcAft>
              <a:buSzPts val="1000"/>
              <a:buFont typeface="Wingdings" panose="05000000000000000000" pitchFamily="2" charset="2"/>
              <a:buChar char=""/>
              <a:tabLst>
                <a:tab pos="13716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“The system shall respond to user queries within 2 seconds.”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Throughput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The number of transactions or requests the system can handle in a given time frame.</a:t>
            </a:r>
          </a:p>
          <a:p>
            <a:pPr marL="1143000" marR="0" lvl="2" indent="-228600">
              <a:spcBef>
                <a:spcPts val="0"/>
              </a:spcBef>
              <a:spcAft>
                <a:spcPts val="0"/>
              </a:spcAft>
              <a:buSzPts val="1000"/>
              <a:buFont typeface="Wingdings" panose="05000000000000000000" pitchFamily="2" charset="2"/>
              <a:buChar char=""/>
              <a:tabLst>
                <a:tab pos="13716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“The system shall support 1000 concurrent users without performance degradation.”</a:t>
            </a:r>
          </a:p>
          <a:p>
            <a:pPr marL="342900" marR="0" lvl="0" indent="-342900">
              <a:spcBef>
                <a:spcPts val="0"/>
              </a:spcBef>
              <a:spcAft>
                <a:spcPts val="0"/>
              </a:spcAft>
              <a:buFont typeface="+mj-lt"/>
              <a:buAutoNum type="arabicPeriod"/>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Scalability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ability of the system to handle increased loads without performance loss.</a:t>
            </a:r>
          </a:p>
          <a:p>
            <a:pPr marL="1143000" marR="0" lvl="2" indent="-228600">
              <a:spcBef>
                <a:spcPts val="0"/>
              </a:spcBef>
              <a:spcAft>
                <a:spcPts val="0"/>
              </a:spcAft>
              <a:buSzPts val="1000"/>
              <a:buFont typeface="Wingdings" panose="05000000000000000000" pitchFamily="2" charset="2"/>
              <a:buChar char=""/>
              <a:tabLst>
                <a:tab pos="13716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“The system shall scale to accommodate 10,000 users.”</a:t>
            </a:r>
          </a:p>
          <a:p>
            <a:pPr marL="0" indent="0">
              <a:buNone/>
            </a:pPr>
            <a:endParaRPr lang="en-US" dirty="0"/>
          </a:p>
        </p:txBody>
      </p:sp>
    </p:spTree>
    <p:extLst>
      <p:ext uri="{BB962C8B-B14F-4D97-AF65-F5344CB8AC3E}">
        <p14:creationId xmlns:p14="http://schemas.microsoft.com/office/powerpoint/2010/main" val="2254902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17CFC1-A39A-EED3-C41A-975DDB12A45D}"/>
              </a:ext>
            </a:extLst>
          </p:cNvPr>
          <p:cNvSpPr>
            <a:spLocks noGrp="1"/>
          </p:cNvSpPr>
          <p:nvPr>
            <p:ph idx="1"/>
          </p:nvPr>
        </p:nvSpPr>
        <p:spPr>
          <a:xfrm>
            <a:off x="838200" y="746150"/>
            <a:ext cx="10515600" cy="5430813"/>
          </a:xfrm>
        </p:spPr>
        <p:txBody>
          <a:bodyPr/>
          <a:lstStyle/>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3. Reliability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likelihood that the system will perform its required functions under stated conditions for a specified period.</a:t>
            </a:r>
          </a:p>
          <a:p>
            <a:pPr marL="1143000" marR="0" lvl="2" indent="-228600">
              <a:spcBef>
                <a:spcPts val="0"/>
              </a:spcBef>
              <a:spcAft>
                <a:spcPts val="0"/>
              </a:spcAft>
              <a:buSzPts val="1000"/>
              <a:buFont typeface="Wingdings" panose="05000000000000000000" pitchFamily="2" charset="2"/>
              <a:buChar char=""/>
              <a:tabLst>
                <a:tab pos="13716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“The system shall have 99.9% uptime over a year.”</a:t>
            </a:r>
          </a:p>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4. Availability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degree to which the system is operational and accessible when required for use.</a:t>
            </a:r>
          </a:p>
          <a:p>
            <a:pPr marL="1143000" marR="0" lvl="2" indent="-228600">
              <a:spcBef>
                <a:spcPts val="0"/>
              </a:spcBef>
              <a:spcAft>
                <a:spcPts val="0"/>
              </a:spcAft>
              <a:buSzPts val="1000"/>
              <a:buFont typeface="Wingdings" panose="05000000000000000000" pitchFamily="2" charset="2"/>
              <a:buChar char=""/>
              <a:tabLst>
                <a:tab pos="13716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“The system shall be available 24/7.”</a:t>
            </a:r>
          </a:p>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5. Security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Measures to protect the system from unauthorized access and data breaches.</a:t>
            </a:r>
          </a:p>
          <a:p>
            <a:pPr marL="1143000" marR="0" lvl="2" indent="-228600">
              <a:spcBef>
                <a:spcPts val="0"/>
              </a:spcBef>
              <a:spcAft>
                <a:spcPts val="0"/>
              </a:spcAft>
              <a:buSzPts val="1000"/>
              <a:buFont typeface="Wingdings" panose="05000000000000000000" pitchFamily="2" charset="2"/>
              <a:buChar char=""/>
              <a:tabLst>
                <a:tab pos="13716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“User passwords must be stored using encryption.”</a:t>
            </a:r>
          </a:p>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6. Usability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ease with which users can learn and use the system.</a:t>
            </a:r>
          </a:p>
          <a:p>
            <a:pPr marL="1143000" marR="0" lvl="2" indent="-228600">
              <a:spcBef>
                <a:spcPts val="0"/>
              </a:spcBef>
              <a:spcAft>
                <a:spcPts val="0"/>
              </a:spcAft>
              <a:buSzPts val="1000"/>
              <a:buFont typeface="Wingdings" panose="05000000000000000000" pitchFamily="2" charset="2"/>
              <a:buChar char=""/>
              <a:tabLst>
                <a:tab pos="13716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“New users shall be able to complete basic tasks within 10 minutes of first use.”</a:t>
            </a:r>
          </a:p>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7. Maintainability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ease with which the system can be modified to fix defects, improve performance, or adapt to a changing environment.</a:t>
            </a:r>
          </a:p>
          <a:p>
            <a:pPr marL="1143000" marR="0" lvl="2" indent="-228600">
              <a:spcBef>
                <a:spcPts val="0"/>
              </a:spcBef>
              <a:spcAft>
                <a:spcPts val="0"/>
              </a:spcAft>
              <a:buSzPts val="1000"/>
              <a:buFont typeface="Wingdings" panose="05000000000000000000" pitchFamily="2" charset="2"/>
              <a:buChar char=""/>
              <a:tabLst>
                <a:tab pos="13716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“The system shall allow updates without downtime.”</a:t>
            </a:r>
          </a:p>
          <a:p>
            <a:endParaRPr lang="en-US" dirty="0"/>
          </a:p>
        </p:txBody>
      </p:sp>
    </p:spTree>
    <p:extLst>
      <p:ext uri="{BB962C8B-B14F-4D97-AF65-F5344CB8AC3E}">
        <p14:creationId xmlns:p14="http://schemas.microsoft.com/office/powerpoint/2010/main" val="1044041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C9D37B-924B-7A70-2CF8-36028A11E0A3}"/>
              </a:ext>
            </a:extLst>
          </p:cNvPr>
          <p:cNvSpPr>
            <a:spLocks noGrp="1"/>
          </p:cNvSpPr>
          <p:nvPr>
            <p:ph idx="1"/>
          </p:nvPr>
        </p:nvSpPr>
        <p:spPr>
          <a:xfrm>
            <a:off x="838200" y="607162"/>
            <a:ext cx="10515600" cy="5569801"/>
          </a:xfrm>
        </p:spPr>
        <p:txBody>
          <a:bodyPr/>
          <a:lstStyle/>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8. Portability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ability of the system to be transferred from one environment to another.</a:t>
            </a:r>
          </a:p>
          <a:p>
            <a:pPr marL="1143000" marR="0" lvl="2" indent="-228600">
              <a:spcBef>
                <a:spcPts val="0"/>
              </a:spcBef>
              <a:spcAft>
                <a:spcPts val="0"/>
              </a:spcAft>
              <a:buSzPts val="1000"/>
              <a:buFont typeface="Wingdings" panose="05000000000000000000" pitchFamily="2" charset="2"/>
              <a:buChar char=""/>
              <a:tabLst>
                <a:tab pos="13716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“The application shall run on both iOS and Android platforms.”</a:t>
            </a:r>
          </a:p>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9. Compliance</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Adherence to laws, regulations, and standards.</a:t>
            </a:r>
          </a:p>
          <a:p>
            <a:pPr marL="1143000" marR="0" lvl="2" indent="-228600">
              <a:spcBef>
                <a:spcPts val="0"/>
              </a:spcBef>
              <a:spcAft>
                <a:spcPts val="0"/>
              </a:spcAft>
              <a:buSzPts val="1000"/>
              <a:buFont typeface="Wingdings" panose="05000000000000000000" pitchFamily="2" charset="2"/>
              <a:buChar char=""/>
              <a:tabLst>
                <a:tab pos="13716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“The system shall comply with GDPR for data protection.”</a:t>
            </a:r>
          </a:p>
          <a:p>
            <a:pPr marL="914400" marR="0" lvl="2" indent="0">
              <a:spcBef>
                <a:spcPts val="0"/>
              </a:spcBef>
              <a:spcAft>
                <a:spcPts val="0"/>
              </a:spcAft>
              <a:buSzPts val="1000"/>
              <a:buNone/>
              <a:tabLst>
                <a:tab pos="1371600" algn="l"/>
              </a:tabLst>
            </a:pP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Importance of Non-Functional Requirements</a:t>
            </a:r>
          </a:p>
          <a:p>
            <a:pPr marL="0" marR="0">
              <a:spcBef>
                <a:spcPts val="0"/>
              </a:spcBef>
              <a:spcAft>
                <a:spcPts val="0"/>
              </a:spcAft>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User Satisfaction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They significantly impact user experience and satisfaction.</a:t>
            </a:r>
          </a:p>
          <a:p>
            <a:pPr marL="0" marR="0" lvl="0" indent="0">
              <a:spcBef>
                <a:spcPts val="0"/>
              </a:spcBef>
              <a:spcAft>
                <a:spcPts val="0"/>
              </a:spcAft>
              <a:buSzPts val="1000"/>
              <a:buNone/>
              <a:tabLst>
                <a:tab pos="457200" algn="l"/>
              </a:tabLst>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System Longevity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High-quality NFRs can enhance system maintainability and scalability.</a:t>
            </a:r>
          </a:p>
          <a:p>
            <a:pPr marL="0" marR="0" lvl="0" indent="0">
              <a:spcBef>
                <a:spcPts val="0"/>
              </a:spcBef>
              <a:spcAft>
                <a:spcPts val="0"/>
              </a:spcAft>
              <a:buSzPts val="1000"/>
              <a:buNone/>
              <a:tabLst>
                <a:tab pos="457200" algn="l"/>
              </a:tabLst>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Competitive Advantage</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Meeting high standards for performance and usability can differentiate a product in the market.</a:t>
            </a:r>
          </a:p>
          <a:p>
            <a:endParaRPr lang="en-US" dirty="0"/>
          </a:p>
        </p:txBody>
      </p:sp>
    </p:spTree>
    <p:extLst>
      <p:ext uri="{BB962C8B-B14F-4D97-AF65-F5344CB8AC3E}">
        <p14:creationId xmlns:p14="http://schemas.microsoft.com/office/powerpoint/2010/main" val="537226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7AD011-BAFE-5F09-263E-6F3A317595AF}"/>
              </a:ext>
            </a:extLst>
          </p:cNvPr>
          <p:cNvSpPr>
            <a:spLocks noGrp="1"/>
          </p:cNvSpPr>
          <p:nvPr>
            <p:ph idx="1"/>
          </p:nvPr>
        </p:nvSpPr>
        <p:spPr>
          <a:xfrm>
            <a:off x="838200" y="2443277"/>
            <a:ext cx="10515600" cy="3733686"/>
          </a:xfrm>
        </p:spPr>
        <p:txBody>
          <a:bodyPr/>
          <a:lstStyle/>
          <a:p>
            <a:pPr marL="0" marR="0">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Gathering Non-Functional Requirements</a:t>
            </a:r>
          </a:p>
          <a:p>
            <a:pPr marL="0" marR="0" indent="0">
              <a:spcBef>
                <a:spcPts val="0"/>
              </a:spcBef>
              <a:spcAft>
                <a:spcPts val="0"/>
              </a:spcAft>
              <a:buNone/>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1. Stakeholder Interviews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Discuss expectations and quality attributes with users and stakeholders.</a:t>
            </a:r>
          </a:p>
          <a:p>
            <a:pPr marL="0" marR="0" lvl="0" indent="0">
              <a:spcBef>
                <a:spcPts val="0"/>
              </a:spcBef>
              <a:spcAft>
                <a:spcPts val="0"/>
              </a:spcAft>
              <a:buNone/>
              <a:tabLst>
                <a:tab pos="457200" algn="l"/>
              </a:tabLst>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 Surveys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Collect feedback on user preferences regarding performance and usability.</a:t>
            </a:r>
          </a:p>
          <a:p>
            <a:pPr marL="0" marR="0" lvl="0" indent="0">
              <a:spcBef>
                <a:spcPts val="0"/>
              </a:spcBef>
              <a:spcAft>
                <a:spcPts val="0"/>
              </a:spcAft>
              <a:buNone/>
              <a:tabLst>
                <a:tab pos="457200" algn="l"/>
              </a:tabLst>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3. Benchmarking</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Analyze similar systems to identify industry standards and user expectations.</a:t>
            </a:r>
          </a:p>
          <a:p>
            <a:pPr marL="342900" marR="0" lvl="0" indent="-342900">
              <a:spcBef>
                <a:spcPts val="0"/>
              </a:spcBef>
              <a:spcAft>
                <a:spcPts val="0"/>
              </a:spcAft>
              <a:buFont typeface="+mj-lt"/>
              <a:buAutoNum type="arabicPeriod"/>
              <a:tabLst>
                <a:tab pos="457200" algn="l"/>
              </a:tabLst>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spcBef>
                <a:spcPts val="0"/>
              </a:spcBef>
              <a:spcAft>
                <a:spcPts val="0"/>
              </a:spcAft>
              <a:buNone/>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4. Prototyping</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Develop prototypes to test and gather feedback on non-functional attributes.</a:t>
            </a:r>
          </a:p>
          <a:p>
            <a:pPr marL="0" indent="0">
              <a:buNone/>
            </a:pPr>
            <a:endParaRPr lang="en-US" dirty="0"/>
          </a:p>
        </p:txBody>
      </p:sp>
    </p:spTree>
    <p:extLst>
      <p:ext uri="{BB962C8B-B14F-4D97-AF65-F5344CB8AC3E}">
        <p14:creationId xmlns:p14="http://schemas.microsoft.com/office/powerpoint/2010/main" val="1134809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DD6EC-282F-0B8E-2A59-ED8F7D9D7108}"/>
              </a:ext>
            </a:extLst>
          </p:cNvPr>
          <p:cNvSpPr>
            <a:spLocks noGrp="1"/>
          </p:cNvSpPr>
          <p:nvPr>
            <p:ph type="title"/>
          </p:nvPr>
        </p:nvSpPr>
        <p:spPr>
          <a:xfrm>
            <a:off x="838200" y="365126"/>
            <a:ext cx="10515600" cy="812622"/>
          </a:xfrm>
        </p:spPr>
        <p:txBody>
          <a:bodyPr/>
          <a:lstStyle/>
          <a:p>
            <a:r>
              <a:rPr lang="en-GB" altLang="en-US" dirty="0"/>
              <a:t>Non-functional requirement types</a:t>
            </a:r>
            <a:endParaRPr lang="en-US" dirty="0"/>
          </a:p>
        </p:txBody>
      </p:sp>
      <p:pic>
        <p:nvPicPr>
          <p:cNvPr id="4" name="Content Placeholder 3">
            <a:extLst>
              <a:ext uri="{FF2B5EF4-FFF2-40B4-BE49-F238E27FC236}">
                <a16:creationId xmlns:a16="http://schemas.microsoft.com/office/drawing/2014/main" id="{B2257110-34A9-5DEA-8EB8-66A16ACDDD5D}"/>
              </a:ext>
            </a:extLst>
          </p:cNvPr>
          <p:cNvPicPr>
            <a:picLocks noGrp="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87476" y="1287475"/>
            <a:ext cx="9392716" cy="5040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8398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EEB40-761D-0A4F-1DE0-61F935C6628C}"/>
              </a:ext>
            </a:extLst>
          </p:cNvPr>
          <p:cNvSpPr>
            <a:spLocks noGrp="1"/>
          </p:cNvSpPr>
          <p:nvPr>
            <p:ph type="title"/>
          </p:nvPr>
        </p:nvSpPr>
        <p:spPr>
          <a:xfrm>
            <a:off x="838200" y="863194"/>
            <a:ext cx="10515600" cy="760780"/>
          </a:xfrm>
        </p:spPr>
        <p:txBody>
          <a:bodyPr>
            <a:normAutofit fontScale="90000"/>
          </a:bodyPr>
          <a:lstStyle/>
          <a:p>
            <a:r>
              <a:rPr lang="en-US" sz="3600" b="1" u="sng" dirty="0">
                <a:effectLst/>
                <a:latin typeface="Times New Roman" panose="02020603050405020304" pitchFamily="18" charset="0"/>
                <a:ea typeface="Calibri" panose="020F0502020204030204" pitchFamily="34" charset="0"/>
                <a:cs typeface="Times New Roman" panose="02020603050405020304" pitchFamily="18" charset="0"/>
              </a:rPr>
              <a:t>User Requirements</a:t>
            </a:r>
            <a:br>
              <a:rPr lang="en-US" sz="1800" dirty="0">
                <a:effectLst/>
                <a:latin typeface="Times New Roman" panose="02020603050405020304" pitchFamily="18"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6EB9C3A-513F-A117-5FCD-3C1B659DA599}"/>
              </a:ext>
            </a:extLst>
          </p:cNvPr>
          <p:cNvSpPr>
            <a:spLocks noGrp="1"/>
          </p:cNvSpPr>
          <p:nvPr>
            <p:ph idx="1"/>
          </p:nvPr>
        </p:nvSpPr>
        <p:spPr>
          <a:xfrm>
            <a:off x="838200" y="1477670"/>
            <a:ext cx="10515600" cy="4699293"/>
          </a:xfrm>
        </p:spPr>
        <p:txBody>
          <a:bodyPr/>
          <a:lstStyle/>
          <a:p>
            <a:pPr marL="0" marR="0" indent="0">
              <a:spcBef>
                <a:spcPts val="0"/>
              </a:spcBef>
              <a:spcAft>
                <a:spcPts val="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User requirements in software engineering focus on the needs and expectations of the end-users who will interact with the system. These requirements are crucial for creating software that is user-centered, ensuring that the final product meets the actual demands of its users. Here’s an overview of user requirements, their significance, and how to gather and document them effectively.</a:t>
            </a:r>
          </a:p>
          <a:p>
            <a:pPr marL="0" marR="0">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Definition</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User Requirements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are statements that describe what users need from a software system, emphasizing their interactions and experiences. These requirements guide the design, development, and testing phases, ensuring the software fulfills user needs.</a:t>
            </a:r>
          </a:p>
          <a:p>
            <a:pPr marL="0" marR="0">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Characteristics of User Requirements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User-Centric</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Focused on the needs and goals of the end-user.</a:t>
            </a: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Clear and Concise</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Written in simple language that is easy to understand.</a:t>
            </a: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Testable</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Can be verified through testing to ensure the software meets user expectations.</a:t>
            </a: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Prioritized</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Ranked based on importance and urgency to ensure critical features are developed first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indent="0">
              <a:buNone/>
            </a:pPr>
            <a:endParaRPr lang="en-US" dirty="0"/>
          </a:p>
        </p:txBody>
      </p:sp>
    </p:spTree>
    <p:extLst>
      <p:ext uri="{BB962C8B-B14F-4D97-AF65-F5344CB8AC3E}">
        <p14:creationId xmlns:p14="http://schemas.microsoft.com/office/powerpoint/2010/main" val="718854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956A5B-3D80-55DF-2573-B3FA252EE989}"/>
              </a:ext>
            </a:extLst>
          </p:cNvPr>
          <p:cNvSpPr txBox="1"/>
          <p:nvPr/>
        </p:nvSpPr>
        <p:spPr>
          <a:xfrm>
            <a:off x="614477" y="799340"/>
            <a:ext cx="11031321" cy="5016758"/>
          </a:xfrm>
          <a:prstGeom prst="rect">
            <a:avLst/>
          </a:prstGeom>
          <a:noFill/>
        </p:spPr>
        <p:txBody>
          <a:bodyPr wrap="square">
            <a:spAutoFit/>
          </a:bodyPr>
          <a:lstStyle/>
          <a:p>
            <a:pPr marL="0" marR="0">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Types of User Requirements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Functional User Requirements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Describe specific functionalities that users expect.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Example: “Users must be able to reset their passwords via email.”</a:t>
            </a: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Non-Functional User Requirements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Describe the quality attributes of the system.</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Example: “The application should load within 3 seconds on a standard internet connection.”</a:t>
            </a: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User Interface Requirements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Specify how the system should present information to users.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Example: “The dashboard should display user statistics in a graphical format.”</a:t>
            </a:r>
          </a:p>
          <a:p>
            <a:pPr marL="0" marR="0">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Importance of User Requirements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User Satisfaction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Helps ensure that the software meets user needs, leading to higher satisfaction.</a:t>
            </a:r>
          </a:p>
          <a:p>
            <a:pPr marL="342900" marR="0" lvl="0" indent="-342900">
              <a:spcBef>
                <a:spcPts val="0"/>
              </a:spcBef>
              <a:spcAft>
                <a:spcPts val="0"/>
              </a:spcAft>
              <a:buSzPts val="1000"/>
              <a:buFont typeface="Symbol" panose="05050102010706020507" pitchFamily="18" charset="2"/>
              <a:buChar char=""/>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Reduced Rework</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Clearly defined user requirements minimize misunderstandings, reducing the need for rework later in the development process.</a:t>
            </a:r>
          </a:p>
          <a:p>
            <a:pPr marL="342900" marR="0" lvl="0" indent="-342900">
              <a:spcBef>
                <a:spcPts val="0"/>
              </a:spcBef>
              <a:spcAft>
                <a:spcPts val="0"/>
              </a:spcAft>
              <a:buSzPts val="1000"/>
              <a:buFont typeface="Symbol" panose="05050102010706020507" pitchFamily="18" charset="2"/>
              <a:buChar char=""/>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Guidance for Design and Testing</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Provides a foundation for creating design specifications and test cases.</a:t>
            </a:r>
          </a:p>
        </p:txBody>
      </p:sp>
    </p:spTree>
    <p:extLst>
      <p:ext uri="{BB962C8B-B14F-4D97-AF65-F5344CB8AC3E}">
        <p14:creationId xmlns:p14="http://schemas.microsoft.com/office/powerpoint/2010/main" val="3764920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06517F-CE7D-5E92-9C0B-5996F9255A8A}"/>
              </a:ext>
            </a:extLst>
          </p:cNvPr>
          <p:cNvSpPr txBox="1"/>
          <p:nvPr/>
        </p:nvSpPr>
        <p:spPr>
          <a:xfrm>
            <a:off x="841248" y="306897"/>
            <a:ext cx="10950854" cy="5016758"/>
          </a:xfrm>
          <a:prstGeom prst="rect">
            <a:avLst/>
          </a:prstGeom>
          <a:noFill/>
        </p:spPr>
        <p:txBody>
          <a:bodyPr wrap="square">
            <a:spAutoFit/>
          </a:bodyPr>
          <a:lstStyle/>
          <a:p>
            <a:pPr marL="0" marR="0">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Gathering User Requirements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Interviews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Conduct one-on-one or group discussions with users to understand their needs.</a:t>
            </a: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Surveys/Questionnaires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Use structured forms to gather input from a larger user base.</a:t>
            </a: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Workshops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Facilitate collaborative sessions to elicit requirements from multiple stakeholders.</a:t>
            </a: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Observations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Watch users interact with existing systems to identify pain points and needs.</a:t>
            </a: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Prototyping</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Create mockups or prototypes to visualize functionality and gather user feedback.</a:t>
            </a:r>
          </a:p>
          <a:p>
            <a:pPr marL="0" marR="0">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Documenting User Requirements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User Stories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Short, simple descriptions of features from the user's perspective.</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Format: "As a [user role], I want [goal] so that [reason]."</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Example: “As a shopper, I want to filter products by price so that I can find affordable options.”</a:t>
            </a: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Use Cases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Detailed scenarios that describe how users will interact with the system.</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Include actors, preconditions, and postconditions.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Example: A use case for logging in might describe the steps a user takes to enter credentials and gain access.</a:t>
            </a: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Requirements Specification Document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 comprehensive document that includes all user requirements, organized by categories, with clear descriptions and acceptance criteria.</a:t>
            </a:r>
          </a:p>
        </p:txBody>
      </p:sp>
    </p:spTree>
    <p:extLst>
      <p:ext uri="{BB962C8B-B14F-4D97-AF65-F5344CB8AC3E}">
        <p14:creationId xmlns:p14="http://schemas.microsoft.com/office/powerpoint/2010/main" val="1358803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82C1C-016B-D6F5-AFE5-0759494B760C}"/>
              </a:ext>
            </a:extLst>
          </p:cNvPr>
          <p:cNvSpPr>
            <a:spLocks noGrp="1"/>
          </p:cNvSpPr>
          <p:nvPr>
            <p:ph type="title"/>
          </p:nvPr>
        </p:nvSpPr>
        <p:spPr>
          <a:xfrm>
            <a:off x="838200" y="760781"/>
            <a:ext cx="10515600" cy="534009"/>
          </a:xfrm>
        </p:spPr>
        <p:txBody>
          <a:bodyPr>
            <a:normAutofit fontScale="90000"/>
          </a:bodyPr>
          <a:lstStyle/>
          <a:p>
            <a:r>
              <a:rPr lang="en-US" sz="4000" b="1" u="sng" dirty="0">
                <a:effectLst/>
                <a:latin typeface="Times New Roman" panose="02020603050405020304" pitchFamily="18" charset="0"/>
                <a:ea typeface="Calibri" panose="020F0502020204030204" pitchFamily="34" charset="0"/>
              </a:rPr>
              <a:t>System requirements</a:t>
            </a:r>
            <a:r>
              <a:rPr lang="en-US" sz="4000" dirty="0">
                <a:effectLst/>
                <a:latin typeface="Times New Roman" panose="02020603050405020304" pitchFamily="18" charset="0"/>
                <a:ea typeface="Calibri" panose="020F0502020204030204" pitchFamily="34" charset="0"/>
              </a:rPr>
              <a:t> </a:t>
            </a:r>
            <a:endParaRPr lang="en-US" sz="4000" dirty="0"/>
          </a:p>
        </p:txBody>
      </p:sp>
      <p:sp>
        <p:nvSpPr>
          <p:cNvPr id="3" name="Content Placeholder 2">
            <a:extLst>
              <a:ext uri="{FF2B5EF4-FFF2-40B4-BE49-F238E27FC236}">
                <a16:creationId xmlns:a16="http://schemas.microsoft.com/office/drawing/2014/main" id="{BA5A326C-CDB1-5965-D86B-97987E77FA83}"/>
              </a:ext>
            </a:extLst>
          </p:cNvPr>
          <p:cNvSpPr>
            <a:spLocks noGrp="1"/>
          </p:cNvSpPr>
          <p:nvPr>
            <p:ph idx="1"/>
          </p:nvPr>
        </p:nvSpPr>
        <p:spPr>
          <a:xfrm>
            <a:off x="838200" y="1825625"/>
            <a:ext cx="10515600" cy="3777818"/>
          </a:xfrm>
        </p:spPr>
        <p:txBody>
          <a:bodyPr/>
          <a:lstStyle/>
          <a:p>
            <a:pPr marL="0" marR="0">
              <a:spcBef>
                <a:spcPts val="0"/>
              </a:spcBef>
              <a:spcAft>
                <a:spcPts val="0"/>
              </a:spcAf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System requirements</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in software engineering define the necessary specifications for a system's hardware and software components. They serve as a foundation for system design, development, and testing. Here’s a detailed overview of system requirements, including their types, importance, and best practices for gathering and documenting them.</a:t>
            </a:r>
          </a:p>
          <a:p>
            <a:pPr marL="0" marR="0">
              <a:spcBef>
                <a:spcPts val="0"/>
              </a:spcBef>
              <a:spcAft>
                <a:spcPts val="0"/>
              </a:spcAf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Definition</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spcBef>
                <a:spcPts val="0"/>
              </a:spcBef>
              <a:spcAft>
                <a:spcPts val="0"/>
              </a:spcAf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System Requirements</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are the essential specifications that outline the necessary features, capabilities, and constraints of a system. They encompass the technical and operational aspects that the software must meet to function correctly within its intended environment.</a:t>
            </a:r>
          </a:p>
          <a:p>
            <a:endParaRPr lang="en-US" dirty="0"/>
          </a:p>
        </p:txBody>
      </p:sp>
    </p:spTree>
    <p:extLst>
      <p:ext uri="{BB962C8B-B14F-4D97-AF65-F5344CB8AC3E}">
        <p14:creationId xmlns:p14="http://schemas.microsoft.com/office/powerpoint/2010/main" val="1783282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BC5868-5690-61B5-BC63-99377CB6F98C}"/>
              </a:ext>
            </a:extLst>
          </p:cNvPr>
          <p:cNvSpPr txBox="1"/>
          <p:nvPr/>
        </p:nvSpPr>
        <p:spPr>
          <a:xfrm>
            <a:off x="899771" y="453541"/>
            <a:ext cx="11177624" cy="6186309"/>
          </a:xfrm>
          <a:prstGeom prst="rect">
            <a:avLst/>
          </a:prstGeom>
          <a:noFill/>
        </p:spPr>
        <p:txBody>
          <a:bodyPr wrap="square">
            <a:spAutoFit/>
          </a:bodyPr>
          <a:lstStyle/>
          <a:p>
            <a:pPr marL="0" marR="0">
              <a:spcBef>
                <a:spcPts val="0"/>
              </a:spcBef>
              <a:spcAft>
                <a:spcPts val="0"/>
              </a:spcAf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Types of System Requirements</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Functional Requirements</a:t>
            </a:r>
            <a:r>
              <a:rPr lang="en-US"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Describe specific behaviors and functions the system must support.</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“The system shall allow users to create and manage their profiles.”</a:t>
            </a: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Non-Functional Requirements</a:t>
            </a:r>
            <a:r>
              <a:rPr lang="en-US"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Define the quality attributes of the system, such as performance, security, and usability.</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“The system shall process user requests within 2 seconds.”</a:t>
            </a: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Hardware Requirements</a:t>
            </a:r>
            <a:r>
              <a:rPr lang="en-US"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Specify the physical components needed for the software to run effectively.</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“The server must have at least 16 GB of RAM and a 500 GB SSD.”</a:t>
            </a: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Software Requirements</a:t>
            </a:r>
            <a:r>
              <a:rPr lang="en-US"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Detail the software environments, tools, and frameworks needed for development and deployment.</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“The application shall run on Java 11 and utilize the Spring Framework.”</a:t>
            </a: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Interface Requirements</a:t>
            </a:r>
            <a:r>
              <a:rPr lang="en-US"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Describe how the system will interact with other systems or components.</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“The system shall integrate with the payment gateway API for transaction processing.”</a:t>
            </a: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Environmental Requirements</a:t>
            </a:r>
            <a:r>
              <a:rPr lang="en-US"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Specify the conditions under which the system must operate.</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“The application must function in both online and offline modes.”</a:t>
            </a: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Security Requirements</a:t>
            </a:r>
            <a:r>
              <a:rPr lang="en-US"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Define the measures needed to protect the system from threats and unauthorized access.</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“All user data must be encrypted during transmission.”</a:t>
            </a:r>
          </a:p>
        </p:txBody>
      </p:sp>
    </p:spTree>
    <p:extLst>
      <p:ext uri="{BB962C8B-B14F-4D97-AF65-F5344CB8AC3E}">
        <p14:creationId xmlns:p14="http://schemas.microsoft.com/office/powerpoint/2010/main" val="3490360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56FE4C-2915-3093-E49A-62E7C77E2978}"/>
              </a:ext>
            </a:extLst>
          </p:cNvPr>
          <p:cNvSpPr txBox="1"/>
          <p:nvPr/>
        </p:nvSpPr>
        <p:spPr>
          <a:xfrm>
            <a:off x="534011" y="409651"/>
            <a:ext cx="10797234" cy="5632311"/>
          </a:xfrm>
          <a:prstGeom prst="rect">
            <a:avLst/>
          </a:prstGeom>
          <a:noFill/>
        </p:spPr>
        <p:txBody>
          <a:bodyPr wrap="square">
            <a:spAutoFit/>
          </a:bodyPr>
          <a:lstStyle/>
          <a:p>
            <a:pPr marL="0" marR="0">
              <a:spcBef>
                <a:spcPts val="0"/>
              </a:spcBef>
              <a:spcAft>
                <a:spcPts val="0"/>
              </a:spcAf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Importance of System Requirements</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Guidance for Development</a:t>
            </a:r>
            <a:r>
              <a:rPr lang="en-US" dirty="0">
                <a:effectLst/>
                <a:latin typeface="Times New Roman" panose="02020603050405020304" pitchFamily="18" charset="0"/>
                <a:ea typeface="Calibri" panose="020F0502020204030204" pitchFamily="34" charset="0"/>
                <a:cs typeface="Times New Roman" panose="02020603050405020304" pitchFamily="18" charset="0"/>
              </a:rPr>
              <a:t>: Provides a clear framework for developers to follow during implementation.</a:t>
            </a:r>
          </a:p>
          <a:p>
            <a:pPr marL="342900" marR="0" lvl="0" indent="-342900">
              <a:spcBef>
                <a:spcPts val="0"/>
              </a:spcBef>
              <a:spcAft>
                <a:spcPts val="0"/>
              </a:spcAft>
              <a:buSzPts val="1000"/>
              <a:buFont typeface="Symbol" panose="05050102010706020507" pitchFamily="18" charset="2"/>
              <a:buChar char=""/>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Alignment with User Needs</a:t>
            </a:r>
            <a:r>
              <a:rPr lang="en-US" dirty="0">
                <a:effectLst/>
                <a:latin typeface="Times New Roman" panose="02020603050405020304" pitchFamily="18" charset="0"/>
                <a:ea typeface="Calibri" panose="020F0502020204030204" pitchFamily="34" charset="0"/>
                <a:cs typeface="Times New Roman" panose="02020603050405020304" pitchFamily="18" charset="0"/>
              </a:rPr>
              <a:t>: Ensures that the technical specifications align with the functional and user requirements.</a:t>
            </a:r>
          </a:p>
          <a:p>
            <a:pPr marL="342900" marR="0" lvl="0" indent="-342900">
              <a:spcBef>
                <a:spcPts val="0"/>
              </a:spcBef>
              <a:spcAft>
                <a:spcPts val="0"/>
              </a:spcAft>
              <a:buSzPts val="1000"/>
              <a:buFont typeface="Symbol" panose="05050102010706020507" pitchFamily="18" charset="2"/>
              <a:buChar char=""/>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Basis for Testing</a:t>
            </a:r>
            <a:r>
              <a:rPr lang="en-US" dirty="0">
                <a:effectLst/>
                <a:latin typeface="Times New Roman" panose="02020603050405020304" pitchFamily="18" charset="0"/>
                <a:ea typeface="Calibri" panose="020F0502020204030204" pitchFamily="34" charset="0"/>
                <a:cs typeface="Times New Roman" panose="02020603050405020304" pitchFamily="18" charset="0"/>
              </a:rPr>
              <a:t>: Serves as a reference point for creating test cases and validation criteria.</a:t>
            </a:r>
          </a:p>
          <a:p>
            <a:pPr marL="342900" marR="0" lvl="0" indent="-342900">
              <a:spcBef>
                <a:spcPts val="0"/>
              </a:spcBef>
              <a:spcAft>
                <a:spcPts val="0"/>
              </a:spcAft>
              <a:buSzPts val="1000"/>
              <a:buFont typeface="Symbol" panose="05050102010706020507" pitchFamily="18" charset="2"/>
              <a:buChar char=""/>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Risk Management</a:t>
            </a:r>
            <a:r>
              <a:rPr lang="en-US" dirty="0">
                <a:effectLst/>
                <a:latin typeface="Times New Roman" panose="02020603050405020304" pitchFamily="18" charset="0"/>
                <a:ea typeface="Calibri" panose="020F0502020204030204" pitchFamily="34" charset="0"/>
                <a:cs typeface="Times New Roman" panose="02020603050405020304" pitchFamily="18" charset="0"/>
              </a:rPr>
              <a:t>: Helps identify potential technical risks and constraints early in the project.</a:t>
            </a:r>
          </a:p>
          <a:p>
            <a:pPr marL="0" marR="0">
              <a:spcBef>
                <a:spcPts val="0"/>
              </a:spcBef>
              <a:spcAft>
                <a:spcPts val="0"/>
              </a:spcAf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Gathering System Requirements</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Stakeholder Interviews</a:t>
            </a:r>
            <a:r>
              <a:rPr lang="en-US" dirty="0">
                <a:effectLst/>
                <a:latin typeface="Times New Roman" panose="02020603050405020304" pitchFamily="18" charset="0"/>
                <a:ea typeface="Calibri" panose="020F0502020204030204" pitchFamily="34" charset="0"/>
                <a:cs typeface="Times New Roman" panose="02020603050405020304" pitchFamily="18" charset="0"/>
              </a:rPr>
              <a:t>: Engage with users, clients, and other stakeholders to gather insights on their needs and expectations.</a:t>
            </a: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Surveys/Questionnaires</a:t>
            </a:r>
            <a:r>
              <a:rPr lang="en-US" dirty="0">
                <a:effectLst/>
                <a:latin typeface="Times New Roman" panose="02020603050405020304" pitchFamily="18" charset="0"/>
                <a:ea typeface="Calibri" panose="020F0502020204030204" pitchFamily="34" charset="0"/>
                <a:cs typeface="Times New Roman" panose="02020603050405020304" pitchFamily="18" charset="0"/>
              </a:rPr>
              <a:t>: Use structured surveys to collect information from a larger audience.</a:t>
            </a: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Workshops</a:t>
            </a:r>
            <a:r>
              <a:rPr lang="en-US" dirty="0">
                <a:effectLst/>
                <a:latin typeface="Times New Roman" panose="02020603050405020304" pitchFamily="18" charset="0"/>
                <a:ea typeface="Calibri" panose="020F0502020204030204" pitchFamily="34" charset="0"/>
                <a:cs typeface="Times New Roman" panose="02020603050405020304" pitchFamily="18" charset="0"/>
              </a:rPr>
              <a:t>: Facilitate collaborative sessions to discuss and prioritize requirements.</a:t>
            </a: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Document Analysis</a:t>
            </a:r>
            <a:r>
              <a:rPr lang="en-US" dirty="0">
                <a:effectLst/>
                <a:latin typeface="Times New Roman" panose="02020603050405020304" pitchFamily="18" charset="0"/>
                <a:ea typeface="Calibri" panose="020F0502020204030204" pitchFamily="34" charset="0"/>
                <a:cs typeface="Times New Roman" panose="02020603050405020304" pitchFamily="18" charset="0"/>
              </a:rPr>
              <a:t>: Review existing documentation and systems to identify relevant requirements and constraints.</a:t>
            </a: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Prototyping</a:t>
            </a:r>
            <a:r>
              <a:rPr lang="en-US" dirty="0">
                <a:effectLst/>
                <a:latin typeface="Times New Roman" panose="02020603050405020304" pitchFamily="18" charset="0"/>
                <a:ea typeface="Calibri" panose="020F0502020204030204" pitchFamily="34" charset="0"/>
                <a:cs typeface="Times New Roman" panose="02020603050405020304" pitchFamily="18" charset="0"/>
              </a:rPr>
              <a:t>: Develop prototypes to visualize system behavior and gather feedback on technical requirements.</a:t>
            </a:r>
          </a:p>
          <a:p>
            <a:pPr marL="0" marR="0">
              <a:spcBef>
                <a:spcPts val="0"/>
              </a:spcBef>
              <a:spcAft>
                <a:spcPts val="0"/>
              </a:spcAf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Documenting System Requirements</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Requirements Specification Document</a:t>
            </a:r>
            <a:r>
              <a:rPr lang="en-US" dirty="0">
                <a:effectLst/>
                <a:latin typeface="Times New Roman" panose="02020603050405020304" pitchFamily="18" charset="0"/>
                <a:ea typeface="Calibri" panose="020F0502020204030204" pitchFamily="34" charset="0"/>
                <a:cs typeface="Times New Roman" panose="02020603050405020304" pitchFamily="18" charset="0"/>
              </a:rPr>
              <a:t>: A comprehensive document that includes all system requirements, organized into categories with clear descriptions and acceptance criteria.</a:t>
            </a: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Use Cases</a:t>
            </a:r>
            <a:r>
              <a:rPr lang="en-US" dirty="0">
                <a:effectLst/>
                <a:latin typeface="Times New Roman" panose="02020603050405020304" pitchFamily="18" charset="0"/>
                <a:ea typeface="Calibri" panose="020F0502020204030204" pitchFamily="34" charset="0"/>
                <a:cs typeface="Times New Roman" panose="02020603050405020304" pitchFamily="18" charset="0"/>
              </a:rPr>
              <a:t>: Detailed scenarios that describe how the system will behave in specific situations, including interactions with users and other systems.</a:t>
            </a: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Requirement Traceability Matrix (RTM)</a:t>
            </a:r>
            <a:r>
              <a:rPr lang="en-US" dirty="0">
                <a:effectLst/>
                <a:latin typeface="Times New Roman" panose="02020603050405020304" pitchFamily="18" charset="0"/>
                <a:ea typeface="Calibri" panose="020F0502020204030204" pitchFamily="34" charset="0"/>
                <a:cs typeface="Times New Roman" panose="02020603050405020304" pitchFamily="18" charset="0"/>
              </a:rPr>
              <a:t>: A tool to ensure each requirement is tracked through design, implementation, and testing phases.</a:t>
            </a:r>
          </a:p>
        </p:txBody>
      </p:sp>
    </p:spTree>
    <p:extLst>
      <p:ext uri="{BB962C8B-B14F-4D97-AF65-F5344CB8AC3E}">
        <p14:creationId xmlns:p14="http://schemas.microsoft.com/office/powerpoint/2010/main" val="5196174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9F64E-8A8B-A5DE-F5E4-6D919011D988}"/>
              </a:ext>
            </a:extLst>
          </p:cNvPr>
          <p:cNvSpPr>
            <a:spLocks noGrp="1"/>
          </p:cNvSpPr>
          <p:nvPr>
            <p:ph type="title"/>
          </p:nvPr>
        </p:nvSpPr>
        <p:spPr>
          <a:xfrm>
            <a:off x="838200" y="497433"/>
            <a:ext cx="10515600" cy="1397203"/>
          </a:xfrm>
        </p:spPr>
        <p:txBody>
          <a:bodyPr>
            <a:normAutofit/>
          </a:bodyPr>
          <a:lstStyle/>
          <a:p>
            <a:r>
              <a:rPr lang="en-US" sz="3600" b="1" u="sng" dirty="0">
                <a:effectLst/>
                <a:latin typeface="Times New Roman" panose="02020603050405020304" pitchFamily="18" charset="0"/>
                <a:ea typeface="Calibri" panose="020F0502020204030204" pitchFamily="34" charset="0"/>
              </a:rPr>
              <a:t>Interface requirements</a:t>
            </a:r>
            <a:r>
              <a:rPr lang="en-US" sz="3600" dirty="0">
                <a:effectLst/>
                <a:latin typeface="Times New Roman" panose="02020603050405020304" pitchFamily="18" charset="0"/>
                <a:ea typeface="Calibri" panose="020F0502020204030204" pitchFamily="34" charset="0"/>
              </a:rPr>
              <a:t> </a:t>
            </a:r>
            <a:endParaRPr lang="en-US" sz="3600" dirty="0"/>
          </a:p>
        </p:txBody>
      </p:sp>
      <p:sp>
        <p:nvSpPr>
          <p:cNvPr id="3" name="Content Placeholder 2">
            <a:extLst>
              <a:ext uri="{FF2B5EF4-FFF2-40B4-BE49-F238E27FC236}">
                <a16:creationId xmlns:a16="http://schemas.microsoft.com/office/drawing/2014/main" id="{0DE74A8D-FDD9-D7FA-2A96-26D2BF85AFC6}"/>
              </a:ext>
            </a:extLst>
          </p:cNvPr>
          <p:cNvSpPr>
            <a:spLocks noGrp="1"/>
          </p:cNvSpPr>
          <p:nvPr>
            <p:ph idx="1"/>
          </p:nvPr>
        </p:nvSpPr>
        <p:spPr>
          <a:xfrm>
            <a:off x="838200" y="1825625"/>
            <a:ext cx="10515600" cy="2746375"/>
          </a:xfrm>
        </p:spPr>
        <p:txBody>
          <a:bodyPr/>
          <a:lstStyle/>
          <a:p>
            <a:pPr marL="0" marR="0" indent="0">
              <a:spcBef>
                <a:spcPts val="0"/>
              </a:spcBef>
              <a:spcAft>
                <a:spcPts val="0"/>
              </a:spcAft>
              <a:buNone/>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Interface requirements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in software engineering specify how different components of a system, or how the system interacts with users and other systems. These requirements ensure seamless communication and functionality, both within the software itself and with external entities. Here’s a detailed overview of interface requirements, their types, significance, and best practices.</a:t>
            </a:r>
          </a:p>
          <a:p>
            <a:pPr marL="0" marR="0">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Definition</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Interface Requirements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define the interactions between the system and external entities (users, hardware, or other software systems). They specify the inputs, outputs, protocols, and data formats needed for effective communication.</a:t>
            </a:r>
          </a:p>
          <a:p>
            <a:endParaRPr lang="en-US" dirty="0"/>
          </a:p>
        </p:txBody>
      </p:sp>
    </p:spTree>
    <p:extLst>
      <p:ext uri="{BB962C8B-B14F-4D97-AF65-F5344CB8AC3E}">
        <p14:creationId xmlns:p14="http://schemas.microsoft.com/office/powerpoint/2010/main" val="3956666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450422-A113-4CBC-464E-B0949BCAF90F}"/>
              </a:ext>
            </a:extLst>
          </p:cNvPr>
          <p:cNvSpPr txBox="1"/>
          <p:nvPr/>
        </p:nvSpPr>
        <p:spPr>
          <a:xfrm>
            <a:off x="753465" y="235165"/>
            <a:ext cx="10599725" cy="5909310"/>
          </a:xfrm>
          <a:prstGeom prst="rect">
            <a:avLst/>
          </a:prstGeom>
          <a:noFill/>
        </p:spPr>
        <p:txBody>
          <a:bodyPr wrap="square">
            <a:spAutoFit/>
          </a:bodyPr>
          <a:lstStyle/>
          <a:p>
            <a:pPr marL="0" marR="0">
              <a:spcBef>
                <a:spcPts val="0"/>
              </a:spcBef>
              <a:spcAft>
                <a:spcPts val="0"/>
              </a:spcAf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Types of Interface Requirements</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1. User Interface Requirements</a:t>
            </a:r>
            <a:r>
              <a:rPr lang="en-US"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Focus on how users will interact with the system.</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Include layout, navigation, and accessibility guidelines.</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“The main dashboard shall display user statistics in a graph format with drill-down options.”</a:t>
            </a: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2. Application Programming Interface (API) Requirements</a:t>
            </a:r>
            <a:r>
              <a:rPr lang="en-US"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Detail how different software components or systems interact programmatically.</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Specify endpoints, request/response formats, authentication methods, and error handling.</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“The API shall return user data in JSON format, and support GET and POST methods.”</a:t>
            </a: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3. Hardware Interface Requirements</a:t>
            </a:r>
            <a:r>
              <a:rPr lang="en-US"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Describe interactions between the software and hardware components.</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Include specifications for data exchange and control signals.</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“The system shall communicate with the printer via USB using the XYZ protocol.”</a:t>
            </a: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4. Communication Interface Requirements</a:t>
            </a:r>
            <a:r>
              <a:rPr lang="en-US"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Outline the protocols and methods used for data exchange between systems.</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Include network requirements and data transmission standards.</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Example: “Data shall be transmitted over HTTPS using TLS encryption.”</a:t>
            </a:r>
          </a:p>
          <a:p>
            <a:pPr marL="342900" marR="0" lvl="0" indent="-342900">
              <a:spcBef>
                <a:spcPts val="0"/>
              </a:spcBef>
              <a:spcAft>
                <a:spcPts val="0"/>
              </a:spcAft>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5. Integration Requirements</a:t>
            </a:r>
            <a:r>
              <a:rPr lang="en-US"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Define how the system integrates with other systems or services.</a:t>
            </a:r>
          </a:p>
          <a:p>
            <a:pPr marL="742950" marR="0" lvl="1" indent="-285750">
              <a:spcBef>
                <a:spcPts val="0"/>
              </a:spcBef>
              <a:spcAft>
                <a:spcPts val="0"/>
              </a:spcAft>
              <a:buSzPts val="1000"/>
              <a:buFont typeface="Courier New" panose="02070309020205020404" pitchFamily="49" charset="0"/>
              <a:buChar char="o"/>
              <a:tabLst>
                <a:tab pos="9144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Include details on data formats, synchronization, and error handling.</a:t>
            </a:r>
          </a:p>
          <a:p>
            <a:r>
              <a:rPr lang="en-US" dirty="0">
                <a:effectLst/>
                <a:latin typeface="Times New Roman" panose="02020603050405020304" pitchFamily="18" charset="0"/>
                <a:ea typeface="Calibri" panose="020F0502020204030204" pitchFamily="34" charset="0"/>
              </a:rPr>
              <a:t>Example: “The system shall integrate with the CRM API to sync user data every hour.”</a:t>
            </a:r>
            <a:endParaRPr lang="en-US" dirty="0"/>
          </a:p>
        </p:txBody>
      </p:sp>
    </p:spTree>
    <p:extLst>
      <p:ext uri="{BB962C8B-B14F-4D97-AF65-F5344CB8AC3E}">
        <p14:creationId xmlns:p14="http://schemas.microsoft.com/office/powerpoint/2010/main" val="2577369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DF8B73-FEFB-17DF-A10B-BBA50747EBA3}"/>
              </a:ext>
            </a:extLst>
          </p:cNvPr>
          <p:cNvSpPr txBox="1"/>
          <p:nvPr/>
        </p:nvSpPr>
        <p:spPr>
          <a:xfrm>
            <a:off x="504749" y="248717"/>
            <a:ext cx="11514125" cy="5355312"/>
          </a:xfrm>
          <a:prstGeom prst="rect">
            <a:avLst/>
          </a:prstGeom>
          <a:noFill/>
        </p:spPr>
        <p:txBody>
          <a:bodyPr wrap="square">
            <a:spAutoFit/>
          </a:bodyPr>
          <a:lstStyle/>
          <a:p>
            <a:pPr marL="0" marR="0">
              <a:spcBef>
                <a:spcPts val="0"/>
              </a:spcBef>
              <a:spcAft>
                <a:spcPts val="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Importance of Interface Requirements</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Clarity in Interaction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Ensure that all stakeholders understand how different parts of the system will communicate.</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Usability</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Well-defined user interface requirements improve the user experience, making software intuitive and accessible.</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Interoperability</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Clear API and integration requirements facilitate smooth interactions with external systems, enhancing functionality.</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Error Reduction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Detailed specifications help minimize misunderstandings and errors during development and testing.</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Gathering Interface Requirements</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tabLst>
                <a:tab pos="457200" algn="l"/>
              </a:tabLs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Stakeholder Interviews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Discuss needs and expectations with users and technical teams to gather insights on interface interactions.</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tabLst>
                <a:tab pos="457200" algn="l"/>
              </a:tabLs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Prototyping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Create wireframes or mockups for user interfaces to visualize interactions and gather feedback.</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tabLst>
                <a:tab pos="457200" algn="l"/>
              </a:tabLs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Documentation Review</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Analyze existing systems and interfaces to identify best practices and requirements.</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tabLst>
                <a:tab pos="457200" algn="l"/>
              </a:tabLs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Workshops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Conduct collaborative sessions with stakeholders to define and prioritize interface needs.</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Documenting Interface Requirements</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tabLst>
                <a:tab pos="457200" algn="l"/>
              </a:tabLs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Interface Specification Document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 comprehensive document that outlines all interface requirements, including details for user interfaces, APIs, and hardware interactions.</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tabLst>
                <a:tab pos="457200" algn="l"/>
              </a:tabLs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Use Cases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Describe specific scenarios in which users or systems will interact with the interface.</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tabLst>
                <a:tab pos="457200" algn="l"/>
              </a:tabLs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Interface Design Diagrams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Visual representations of the interface components and their interactions, which can help clarify requirements.</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11137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FC7E9-5331-2394-E00C-50BEF588A5A6}"/>
              </a:ext>
            </a:extLst>
          </p:cNvPr>
          <p:cNvSpPr>
            <a:spLocks noGrp="1"/>
          </p:cNvSpPr>
          <p:nvPr>
            <p:ph type="title"/>
          </p:nvPr>
        </p:nvSpPr>
        <p:spPr/>
        <p:txBody>
          <a:bodyPr/>
          <a:lstStyle/>
          <a:p>
            <a:r>
              <a:rPr lang="en-GB" altLang="en-US" dirty="0"/>
              <a:t>Requirements measures</a:t>
            </a:r>
            <a:endParaRPr lang="en-US" dirty="0"/>
          </a:p>
        </p:txBody>
      </p:sp>
      <p:graphicFrame>
        <p:nvGraphicFramePr>
          <p:cNvPr id="4" name="Content Placeholder 3">
            <a:extLst>
              <a:ext uri="{FF2B5EF4-FFF2-40B4-BE49-F238E27FC236}">
                <a16:creationId xmlns:a16="http://schemas.microsoft.com/office/drawing/2014/main" id="{A57C7657-125A-F9EA-3FD9-244004670215}"/>
              </a:ext>
            </a:extLst>
          </p:cNvPr>
          <p:cNvGraphicFramePr>
            <a:graphicFrameLocks noGrp="1"/>
          </p:cNvGraphicFramePr>
          <p:nvPr>
            <p:ph idx="1"/>
            <p:extLst>
              <p:ext uri="{D42A27DB-BD31-4B8C-83A1-F6EECF244321}">
                <p14:modId xmlns:p14="http://schemas.microsoft.com/office/powerpoint/2010/main" val="3331654815"/>
              </p:ext>
            </p:extLst>
          </p:nvPr>
        </p:nvGraphicFramePr>
        <p:xfrm>
          <a:off x="1097280" y="1690688"/>
          <a:ext cx="10811866" cy="4717427"/>
        </p:xfrm>
        <a:graphic>
          <a:graphicData uri="http://schemas.openxmlformats.org/presentationml/2006/ole">
            <mc:AlternateContent xmlns:mc="http://schemas.openxmlformats.org/markup-compatibility/2006">
              <mc:Choice xmlns:v="urn:schemas-microsoft-com:vml" Requires="v">
                <p:oleObj name="Document" r:id="rId3" imgW="3784600" imgH="2667000" progId="Word.Document.8">
                  <p:embed/>
                </p:oleObj>
              </mc:Choice>
              <mc:Fallback>
                <p:oleObj name="Document" r:id="rId3" imgW="3784600" imgH="2667000" progId="Word.Document.8">
                  <p:embed/>
                  <p:pic>
                    <p:nvPicPr>
                      <p:cNvPr id="23555"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7280" y="1690688"/>
                        <a:ext cx="10811866" cy="471742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039393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DB421-219D-1E41-9FFC-D545A182BD81}"/>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Calibri" panose="020F0502020204030204" pitchFamily="34" charset="0"/>
              </a:rPr>
              <a:t>Software Requirements Document (SRD)</a:t>
            </a:r>
            <a:endParaRPr lang="en-US" sz="4000" dirty="0"/>
          </a:p>
        </p:txBody>
      </p:sp>
      <p:sp>
        <p:nvSpPr>
          <p:cNvPr id="3" name="Content Placeholder 2">
            <a:extLst>
              <a:ext uri="{FF2B5EF4-FFF2-40B4-BE49-F238E27FC236}">
                <a16:creationId xmlns:a16="http://schemas.microsoft.com/office/drawing/2014/main" id="{2842233A-461D-FAD3-4109-CDF3308FD2A5}"/>
              </a:ext>
            </a:extLst>
          </p:cNvPr>
          <p:cNvSpPr>
            <a:spLocks noGrp="1"/>
          </p:cNvSpPr>
          <p:nvPr>
            <p:ph idx="1"/>
          </p:nvPr>
        </p:nvSpPr>
        <p:spPr>
          <a:xfrm>
            <a:off x="838200" y="1825625"/>
            <a:ext cx="10515600" cy="3616884"/>
          </a:xfrm>
        </p:spPr>
        <p:txBody>
          <a:bodyPr/>
          <a:lstStyle/>
          <a:p>
            <a:pPr marL="0" marR="0" indent="0">
              <a:spcBef>
                <a:spcPts val="0"/>
              </a:spcBef>
              <a:spcAft>
                <a:spcPts val="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 Software Requirements Document (SRD) is a crucial artifact in software engineering that outlines the specifications for a software system. It serves as a foundation for design, development, and testing, ensuring that all stakeholders have a clear understanding of what the software must achieve. Here’s an overview of what an SRD typically includes, its structure, and best practices for creating one.</a:t>
            </a:r>
          </a:p>
          <a:p>
            <a:pPr marL="0" marR="0">
              <a:spcBef>
                <a:spcPts val="0"/>
              </a:spcBef>
              <a:spcAft>
                <a:spcPts val="0"/>
              </a:spcAf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Definition</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spcBef>
                <a:spcPts val="0"/>
              </a:spcBef>
              <a:spcAft>
                <a:spcPts val="0"/>
              </a:spcAf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Software Requirements Document (SRD)</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is a comprehensive document that captures both functional and non-functional requirements of a software system. It communicates the needs and expectations of stakeholders, including users, developers, and project managers.</a:t>
            </a:r>
          </a:p>
          <a:p>
            <a:endParaRPr lang="en-US" dirty="0"/>
          </a:p>
        </p:txBody>
      </p:sp>
    </p:spTree>
    <p:extLst>
      <p:ext uri="{BB962C8B-B14F-4D97-AF65-F5344CB8AC3E}">
        <p14:creationId xmlns:p14="http://schemas.microsoft.com/office/powerpoint/2010/main" val="2628217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1D59F0-75D0-E9D5-3585-A6DEA2932379}"/>
              </a:ext>
            </a:extLst>
          </p:cNvPr>
          <p:cNvSpPr txBox="1"/>
          <p:nvPr/>
        </p:nvSpPr>
        <p:spPr>
          <a:xfrm>
            <a:off x="755904" y="299923"/>
            <a:ext cx="10680192" cy="6186309"/>
          </a:xfrm>
          <a:prstGeom prst="rect">
            <a:avLst/>
          </a:prstGeom>
          <a:noFill/>
        </p:spPr>
        <p:txBody>
          <a:bodyPr wrap="square">
            <a:spAutoFit/>
          </a:bodyPr>
          <a:lstStyle/>
          <a:p>
            <a:pPr marL="0" marR="0">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Purpose of an SRD</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Clarity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Provides a clear understanding of what the software is expected to do.</a:t>
            </a:r>
          </a:p>
          <a:p>
            <a:pPr marL="342900" marR="0" lvl="0" indent="-342900">
              <a:spcBef>
                <a:spcPts val="0"/>
              </a:spcBef>
              <a:spcAft>
                <a:spcPts val="0"/>
              </a:spcAft>
              <a:buSzPts val="1000"/>
              <a:buFont typeface="Symbol" panose="05050102010706020507" pitchFamily="18" charset="2"/>
              <a:buChar char=""/>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Guidance</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Serves as a reference throughout the software development lifecycle.</a:t>
            </a:r>
          </a:p>
          <a:p>
            <a:pPr marL="342900" marR="0" lvl="0" indent="-342900">
              <a:spcBef>
                <a:spcPts val="0"/>
              </a:spcBef>
              <a:spcAft>
                <a:spcPts val="0"/>
              </a:spcAft>
              <a:buSzPts val="1000"/>
              <a:buFont typeface="Symbol" panose="05050102010706020507" pitchFamily="18" charset="2"/>
              <a:buChar char=""/>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Agreement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Ensures alignment among stakeholders on project goals and requirements.</a:t>
            </a:r>
          </a:p>
          <a:p>
            <a:pPr marL="342900" marR="0" lvl="0" indent="-342900">
              <a:spcBef>
                <a:spcPts val="0"/>
              </a:spcBef>
              <a:spcAft>
                <a:spcPts val="0"/>
              </a:spcAft>
              <a:buSzPts val="1000"/>
              <a:buFont typeface="Symbol" panose="05050102010706020507" pitchFamily="18" charset="2"/>
              <a:buChar char=""/>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Validation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Forms the basis for testing and verification to ensure the final product meets its intended purpose.</a:t>
            </a:r>
          </a:p>
          <a:p>
            <a:pPr marL="0" marR="0">
              <a:spcBef>
                <a:spcPts val="0"/>
              </a:spcBef>
              <a:spcAft>
                <a:spcPts val="0"/>
              </a:spcAft>
            </a:pPr>
            <a:endParaRPr lang="en-US"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spcBef>
                <a:spcPts val="0"/>
              </a:spcBef>
              <a:spcAft>
                <a:spcPts val="0"/>
              </a:spcAft>
            </a:pPr>
            <a:endParaRPr lang="en-US" sz="2000" b="1" dirty="0">
              <a:latin typeface="Times New Roman" panose="02020603050405020304" pitchFamily="18" charset="0"/>
              <a:ea typeface="Calibri" panose="020F0502020204030204" pitchFamily="34" charset="0"/>
              <a:cs typeface="Times New Roman" panose="02020603050405020304" pitchFamily="18" charset="0"/>
            </a:endParaRPr>
          </a:p>
          <a:p>
            <a:pPr marL="0" marR="0">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Typical Structure of an SRD</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1. Introduction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Purpose of the document.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Scope of the software system.</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Definitions and acronyms.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References to related documents.</a:t>
            </a: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 Overall Description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Product perspective: How the software fits within the larger system or project.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Product functions: High-level description of major functions.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User classes and characteristics: Overview of different user types and their needs.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Constraints: Any limitations that might affect design and implementation.</a:t>
            </a:r>
          </a:p>
          <a:p>
            <a:pPr marL="342900" marR="0" lvl="0" indent="-342900">
              <a:spcBef>
                <a:spcPts val="0"/>
              </a:spcBef>
              <a:spcAft>
                <a:spcPts val="0"/>
              </a:spcAft>
              <a:tabLst>
                <a:tab pos="457200" algn="l"/>
              </a:tabLs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27227057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DC0F83-1152-4D1C-73F0-B7F8D90395E5}"/>
              </a:ext>
            </a:extLst>
          </p:cNvPr>
          <p:cNvSpPr txBox="1"/>
          <p:nvPr/>
        </p:nvSpPr>
        <p:spPr>
          <a:xfrm>
            <a:off x="1075334" y="1168672"/>
            <a:ext cx="10168128" cy="5878532"/>
          </a:xfrm>
          <a:prstGeom prst="rect">
            <a:avLst/>
          </a:prstGeom>
          <a:noFill/>
        </p:spPr>
        <p:txBody>
          <a:bodyPr wrap="square">
            <a:spAutoFit/>
          </a:bodyPr>
          <a:lstStyle/>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3. Functional Requirements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Detailed description of features and functions the system must provide.</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Organized by use cases or user stories, including inputs, processes, and outputs.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Acceptance criteria for each requirement</a:t>
            </a:r>
            <a:endParaRPr lang="en-US"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4. Non-Functional Requirements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Quality attributes such as performance, security, usability, reliability, and maintainability.</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Constraints related to compliance, standards, and interoperability.</a:t>
            </a: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5. Interface Requirements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User interface requirements: Layout, navigation, accessibility.</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API requirements: Endpoints, data formats, protocols.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Hardware and communication interface requirements.</a:t>
            </a: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6. System Features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Breakdown of features, including detailed descriptions and priority levels.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Use cases or user stories for each feature.</a:t>
            </a:r>
          </a:p>
          <a:p>
            <a:pPr marL="342900" marR="0" lvl="0" indent="-342900">
              <a:spcBef>
                <a:spcPts val="0"/>
              </a:spcBef>
              <a:spcAft>
                <a:spcPts val="0"/>
              </a:spcAft>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7. Appendices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Glossary of terms.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Supporting diagrams (e.g., flowcharts, wireframes).</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Additional information relevant to the requirements.</a:t>
            </a:r>
          </a:p>
          <a:p>
            <a:pPr marL="0" marR="0">
              <a:spcBef>
                <a:spcPts val="0"/>
              </a:spcBef>
              <a:spcAft>
                <a:spcPts val="0"/>
              </a:spcAft>
            </a:pPr>
            <a:r>
              <a:rPr lang="it-IT" sz="16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710780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28306-12E7-133B-6327-0F3091F2D42D}"/>
              </a:ext>
            </a:extLst>
          </p:cNvPr>
          <p:cNvSpPr>
            <a:spLocks noGrp="1"/>
          </p:cNvSpPr>
          <p:nvPr>
            <p:ph type="title"/>
          </p:nvPr>
        </p:nvSpPr>
        <p:spPr/>
        <p:txBody>
          <a:bodyPr/>
          <a:lstStyle/>
          <a:p>
            <a:r>
              <a:rPr lang="en-US" sz="3200" b="0" dirty="0">
                <a:solidFill>
                  <a:srgbClr val="610B38"/>
                </a:solidFill>
                <a:effectLst/>
                <a:latin typeface="Times New Roman" panose="02020603050405020304" pitchFamily="18" charset="0"/>
                <a:ea typeface="Times New Roman" panose="02020603050405020304" pitchFamily="18" charset="0"/>
                <a:cs typeface="Times New Roman" panose="02020603050405020304" pitchFamily="18" charset="0"/>
              </a:rPr>
              <a:t>Requirement Engineering Process</a:t>
            </a:r>
            <a:br>
              <a:rPr lang="en-US" sz="1800" b="1"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7CA63E2-40E6-EE0A-97F3-B8C5A43382E6}"/>
              </a:ext>
            </a:extLst>
          </p:cNvPr>
          <p:cNvSpPr>
            <a:spLocks noGrp="1"/>
          </p:cNvSpPr>
          <p:nvPr>
            <p:ph idx="1"/>
          </p:nvPr>
        </p:nvSpPr>
        <p:spPr>
          <a:xfrm>
            <a:off x="838200" y="1367942"/>
            <a:ext cx="10515600" cy="4809021"/>
          </a:xfrm>
        </p:spPr>
        <p:txBody>
          <a:bodyPr/>
          <a:lstStyle/>
          <a:p>
            <a:pPr marL="0" marR="0" indent="0" algn="just">
              <a:buNone/>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It is a four-step process, which includes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a:lnSpc>
                <a:spcPts val="1955"/>
              </a:lnSpc>
              <a:spcBef>
                <a:spcPts val="315"/>
              </a:spcBef>
              <a:spcAft>
                <a:spcPts val="1000"/>
              </a:spcAft>
              <a:buNone/>
              <a:tabLst>
                <a:tab pos="457200" algn="l"/>
              </a:tabLst>
            </a:pPr>
            <a:endPar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ts val="1955"/>
              </a:lnSpc>
              <a:spcBef>
                <a:spcPts val="315"/>
              </a:spcBef>
              <a:spcAft>
                <a:spcPts val="1000"/>
              </a:spcAft>
              <a:buNone/>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Feasibility Study</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ts val="1955"/>
              </a:lnSpc>
              <a:spcBef>
                <a:spcPts val="315"/>
              </a:spcBef>
              <a:spcAft>
                <a:spcPts val="1000"/>
              </a:spcAft>
              <a:buNone/>
              <a:tabLst>
                <a:tab pos="457200" algn="l"/>
              </a:tabLst>
            </a:pPr>
            <a:endPar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ts val="1955"/>
              </a:lnSpc>
              <a:spcBef>
                <a:spcPts val="315"/>
              </a:spcBef>
              <a:spcAft>
                <a:spcPts val="1000"/>
              </a:spcAft>
              <a:buNone/>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 Requirement Elicitation and Analysis</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ts val="1955"/>
              </a:lnSpc>
              <a:spcBef>
                <a:spcPts val="315"/>
              </a:spcBef>
              <a:spcAft>
                <a:spcPts val="1000"/>
              </a:spcAft>
              <a:buNone/>
              <a:tabLst>
                <a:tab pos="457200" algn="l"/>
              </a:tabLst>
            </a:pPr>
            <a:endPar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ts val="1955"/>
              </a:lnSpc>
              <a:spcBef>
                <a:spcPts val="315"/>
              </a:spcBef>
              <a:spcAft>
                <a:spcPts val="1000"/>
              </a:spcAft>
              <a:buNone/>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 Software Requirement Specification</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ts val="1955"/>
              </a:lnSpc>
              <a:spcBef>
                <a:spcPts val="315"/>
              </a:spcBef>
              <a:spcAft>
                <a:spcPts val="1000"/>
              </a:spcAft>
              <a:buNone/>
              <a:tabLst>
                <a:tab pos="457200" algn="l"/>
              </a:tabLst>
            </a:pPr>
            <a:endPar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ts val="1955"/>
              </a:lnSpc>
              <a:spcBef>
                <a:spcPts val="315"/>
              </a:spcBef>
              <a:spcAft>
                <a:spcPts val="1000"/>
              </a:spcAft>
              <a:buNone/>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 Software Requirement Validation</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386215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quirement Engineering">
            <a:extLst>
              <a:ext uri="{FF2B5EF4-FFF2-40B4-BE49-F238E27FC236}">
                <a16:creationId xmlns:a16="http://schemas.microsoft.com/office/drawing/2014/main" id="{301337F6-AF84-6D9C-1A8A-481D7F0A92AD}"/>
              </a:ext>
            </a:extLst>
          </p:cNvPr>
          <p:cNvPicPr>
            <a:picLocks noGrp="1" noChangeAspect="1"/>
          </p:cNvPicPr>
          <p:nvPr>
            <p:ph idx="1"/>
          </p:nvPr>
        </p:nvPicPr>
        <p:blipFill>
          <a:blip r:embed="rId2"/>
          <a:srcRect/>
          <a:stretch>
            <a:fillRect/>
          </a:stretch>
        </p:blipFill>
        <p:spPr bwMode="auto">
          <a:xfrm>
            <a:off x="1009497" y="850106"/>
            <a:ext cx="9517075" cy="5172075"/>
          </a:xfrm>
          <a:prstGeom prst="rect">
            <a:avLst/>
          </a:prstGeom>
          <a:noFill/>
          <a:ln w="9525">
            <a:noFill/>
            <a:miter lim="800000"/>
            <a:headEnd/>
            <a:tailEnd/>
          </a:ln>
        </p:spPr>
      </p:pic>
    </p:spTree>
    <p:extLst>
      <p:ext uri="{BB962C8B-B14F-4D97-AF65-F5344CB8AC3E}">
        <p14:creationId xmlns:p14="http://schemas.microsoft.com/office/powerpoint/2010/main" val="709435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211F67-120F-C11E-B7C5-086A22F4D500}"/>
              </a:ext>
            </a:extLst>
          </p:cNvPr>
          <p:cNvSpPr>
            <a:spLocks noGrp="1"/>
          </p:cNvSpPr>
          <p:nvPr>
            <p:ph idx="1"/>
          </p:nvPr>
        </p:nvSpPr>
        <p:spPr>
          <a:xfrm>
            <a:off x="838200" y="585216"/>
            <a:ext cx="10515600" cy="5591747"/>
          </a:xfrm>
        </p:spPr>
        <p:txBody>
          <a:bodyPr/>
          <a:lstStyle/>
          <a:p>
            <a:pPr marL="0" marR="0" algn="just">
              <a:lnSpc>
                <a:spcPct val="115000"/>
              </a:lnSpc>
              <a:spcBef>
                <a:spcPts val="1000"/>
              </a:spcBef>
              <a:spcAft>
                <a:spcPts val="0"/>
              </a:spcAft>
            </a:pPr>
            <a:r>
              <a:rPr lang="en-US" sz="2400" dirty="0">
                <a:solidFill>
                  <a:srgbClr val="610B4B"/>
                </a:solidFill>
                <a:effectLst/>
                <a:latin typeface="Times New Roman" panose="02020603050405020304" pitchFamily="18" charset="0"/>
                <a:ea typeface="Times New Roman" panose="02020603050405020304" pitchFamily="18" charset="0"/>
                <a:cs typeface="Times New Roman" panose="02020603050405020304" pitchFamily="18" charset="0"/>
              </a:rPr>
              <a:t>1. Feasibility Study:</a:t>
            </a:r>
            <a:endParaRPr lang="en-US" sz="2400"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objective behind the feasibility study is to create the reasons for developing the software that is acceptable to users, flexible to change, and conformable to established standards.</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Types of Feasibility:</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a:lnSpc>
                <a:spcPts val="1955"/>
              </a:lnSpc>
              <a:spcBef>
                <a:spcPts val="315"/>
              </a:spcBef>
              <a:spcAft>
                <a:spcPts val="1000"/>
              </a:spcAft>
              <a:buNone/>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Technical Feasibility - Technical feasibility evaluates the current technologies, which are needed to accomplish customer requirements within the time and budget.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ts val="1955"/>
              </a:lnSpc>
              <a:spcBef>
                <a:spcPts val="315"/>
              </a:spcBef>
              <a:spcAft>
                <a:spcPts val="1000"/>
              </a:spcAft>
              <a:buNone/>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 Operational Feasibility - Operational feasibility assesses the range in which the required software performs a series of levels to solve business problems and customer requirements.</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ts val="1955"/>
              </a:lnSpc>
              <a:spcBef>
                <a:spcPts val="315"/>
              </a:spcBef>
              <a:spcAft>
                <a:spcPts val="1000"/>
              </a:spcAft>
              <a:buNone/>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 Economic Feasibility - Economic feasibility decides whether the necessary software can generate financial profits for an organization.</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98092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56B43B-41CC-B59B-B6BC-1E4C02A64215}"/>
              </a:ext>
            </a:extLst>
          </p:cNvPr>
          <p:cNvSpPr>
            <a:spLocks noGrp="1"/>
          </p:cNvSpPr>
          <p:nvPr>
            <p:ph idx="1"/>
          </p:nvPr>
        </p:nvSpPr>
        <p:spPr>
          <a:xfrm>
            <a:off x="838200" y="570586"/>
            <a:ext cx="10515600" cy="5606377"/>
          </a:xfrm>
        </p:spPr>
        <p:txBody>
          <a:bodyPr/>
          <a:lstStyle/>
          <a:p>
            <a:pPr marL="0" marR="0" algn="just">
              <a:lnSpc>
                <a:spcPct val="115000"/>
              </a:lnSpc>
              <a:spcBef>
                <a:spcPts val="1000"/>
              </a:spcBef>
              <a:spcAft>
                <a:spcPts val="0"/>
              </a:spcAft>
            </a:pPr>
            <a:r>
              <a:rPr lang="en-US" sz="2400" b="0" dirty="0">
                <a:solidFill>
                  <a:srgbClr val="610B4B"/>
                </a:solidFill>
                <a:effectLst/>
                <a:latin typeface="Times New Roman" panose="02020603050405020304" pitchFamily="18" charset="0"/>
                <a:ea typeface="Times New Roman" panose="02020603050405020304" pitchFamily="18" charset="0"/>
                <a:cs typeface="Times New Roman" panose="02020603050405020304" pitchFamily="18" charset="0"/>
              </a:rPr>
              <a:t>2. Requirement Elicitation and Analysis:</a:t>
            </a:r>
            <a:endParaRPr lang="en-US" sz="24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gn="just">
              <a:buNone/>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This is also known as the </a:t>
            </a:r>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gathering of requirements</a:t>
            </a: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Here, requirements are identified with the help of customers and existing systems processes, if available.</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gn="just">
              <a:buNone/>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Analysis of requirements starts with requirement elicitation. The requirements are analyzed to identify inconsistencies, defects, omission, etc. We describe requirements in terms of relationships and also resolve conflicts if any.</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Problems of Elicitation and Analysis</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Getting all, and only, the right people involved.</a:t>
            </a: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Stakeholders often don't know what they want</a:t>
            </a: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Stakeholders express requirements in their terms.</a:t>
            </a: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Stakeholders may have conflicting requirements.</a:t>
            </a: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Requirement change during the analysis process.</a:t>
            </a: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Organizational and political factors may influence system requirements.</a:t>
            </a:r>
          </a:p>
          <a:p>
            <a:pPr marL="0" indent="0">
              <a:buNone/>
            </a:pPr>
            <a:endParaRPr lang="en-US" dirty="0"/>
          </a:p>
        </p:txBody>
      </p:sp>
    </p:spTree>
    <p:extLst>
      <p:ext uri="{BB962C8B-B14F-4D97-AF65-F5344CB8AC3E}">
        <p14:creationId xmlns:p14="http://schemas.microsoft.com/office/powerpoint/2010/main" val="38917925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quirement Engineering">
            <a:extLst>
              <a:ext uri="{FF2B5EF4-FFF2-40B4-BE49-F238E27FC236}">
                <a16:creationId xmlns:a16="http://schemas.microsoft.com/office/drawing/2014/main" id="{4F167C47-B4BA-30DA-08F1-871653BB161F}"/>
              </a:ext>
            </a:extLst>
          </p:cNvPr>
          <p:cNvPicPr>
            <a:picLocks noGrp="1" noChangeAspect="1"/>
          </p:cNvPicPr>
          <p:nvPr>
            <p:ph idx="1"/>
          </p:nvPr>
        </p:nvPicPr>
        <p:blipFill>
          <a:blip r:embed="rId2"/>
          <a:srcRect/>
          <a:stretch>
            <a:fillRect/>
          </a:stretch>
        </p:blipFill>
        <p:spPr bwMode="auto">
          <a:xfrm>
            <a:off x="1426463" y="1120775"/>
            <a:ext cx="9590227" cy="4762500"/>
          </a:xfrm>
          <a:prstGeom prst="rect">
            <a:avLst/>
          </a:prstGeom>
          <a:noFill/>
          <a:ln w="9525">
            <a:noFill/>
            <a:miter lim="800000"/>
            <a:headEnd/>
            <a:tailEnd/>
          </a:ln>
        </p:spPr>
      </p:pic>
    </p:spTree>
    <p:extLst>
      <p:ext uri="{BB962C8B-B14F-4D97-AF65-F5344CB8AC3E}">
        <p14:creationId xmlns:p14="http://schemas.microsoft.com/office/powerpoint/2010/main" val="36343975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2DD215-76D4-3CA0-0053-EC566ABB6141}"/>
              </a:ext>
            </a:extLst>
          </p:cNvPr>
          <p:cNvSpPr>
            <a:spLocks noGrp="1"/>
          </p:cNvSpPr>
          <p:nvPr>
            <p:ph idx="1"/>
          </p:nvPr>
        </p:nvSpPr>
        <p:spPr>
          <a:xfrm>
            <a:off x="838200" y="1272845"/>
            <a:ext cx="10515600" cy="4904118"/>
          </a:xfrm>
        </p:spPr>
        <p:txBody>
          <a:bodyPr/>
          <a:lstStyle/>
          <a:p>
            <a:pPr marL="0" marR="0" algn="just">
              <a:lnSpc>
                <a:spcPct val="115000"/>
              </a:lnSpc>
              <a:spcBef>
                <a:spcPts val="1000"/>
              </a:spcBef>
              <a:spcAft>
                <a:spcPts val="0"/>
              </a:spcAft>
            </a:pPr>
            <a:r>
              <a:rPr lang="en-US" sz="2400" b="0" dirty="0">
                <a:solidFill>
                  <a:srgbClr val="610B4B"/>
                </a:solidFill>
                <a:effectLst/>
                <a:latin typeface="Times New Roman" panose="02020603050405020304" pitchFamily="18" charset="0"/>
                <a:ea typeface="Times New Roman" panose="02020603050405020304" pitchFamily="18" charset="0"/>
                <a:cs typeface="Times New Roman" panose="02020603050405020304" pitchFamily="18" charset="0"/>
              </a:rPr>
              <a:t>3. Software Requirement Specification:</a:t>
            </a:r>
            <a:endParaRPr lang="en-US" sz="24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Software requirement specification is a kind of document which is created by a software analyst after the requirements collected from the various sources - the requirement received by the customer written in ordinary language. It is the job of the analyst to write the requirement in technical language so that they can be understood and beneficial by the development team.</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models used at this stage include ER diagrams, data flow diagrams (DFDs), function decomposition diagrams (FDDs), data dictionaries, etc.</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Data Flow Diagrams:</a:t>
            </a: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Data Flow Diagrams (DFDs) are used widely for modeling the requirements. DFD shows the flow of data through a system. The system may be a company, an organization, a set of procedures, a computer hardware system, a software system, or any combination of the preceding. The DFD is also known as a data flow graph or bubble chart.</a:t>
            </a:r>
          </a:p>
          <a:p>
            <a:pPr marL="0" indent="0">
              <a:buNone/>
            </a:pPr>
            <a:endParaRPr lang="en-US" dirty="0"/>
          </a:p>
        </p:txBody>
      </p:sp>
    </p:spTree>
    <p:extLst>
      <p:ext uri="{BB962C8B-B14F-4D97-AF65-F5344CB8AC3E}">
        <p14:creationId xmlns:p14="http://schemas.microsoft.com/office/powerpoint/2010/main" val="12465605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62B78D-28B6-2DEF-80D8-A08BECF1900E}"/>
              </a:ext>
            </a:extLst>
          </p:cNvPr>
          <p:cNvSpPr>
            <a:spLocks noGrp="1"/>
          </p:cNvSpPr>
          <p:nvPr>
            <p:ph idx="1"/>
          </p:nvPr>
        </p:nvSpPr>
        <p:spPr>
          <a:xfrm>
            <a:off x="838200" y="1258214"/>
            <a:ext cx="10515600" cy="4918749"/>
          </a:xfrm>
        </p:spPr>
        <p:txBody>
          <a:bodyPr/>
          <a:lstStyle/>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endParaRPr lang="en-US"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endPar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Data Dictionaries: Data Dictionaries are simply repositories to store information about all data items defined in DFDs. At the requirements stage, the data dictionary should at least define customer data items, to ensure that the customer and developers use the same definition and terminologies.</a:t>
            </a: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Entity-Relationship Diagrams: Another tool for requirement specification is the entity-relationship diagram, often called an "</a:t>
            </a:r>
            <a:r>
              <a:rPr lang="en-US" sz="24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E-R diagram</a:t>
            </a: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It is a detailed logical representation of the data for the organization and uses three main constructs i.e. data entities, relationships, and their associated attributes.</a:t>
            </a:r>
          </a:p>
          <a:p>
            <a:pPr marL="0" indent="0">
              <a:buNone/>
            </a:pPr>
            <a:endParaRPr lang="en-US" dirty="0"/>
          </a:p>
        </p:txBody>
      </p:sp>
    </p:spTree>
    <p:extLst>
      <p:ext uri="{BB962C8B-B14F-4D97-AF65-F5344CB8AC3E}">
        <p14:creationId xmlns:p14="http://schemas.microsoft.com/office/powerpoint/2010/main" val="42377302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DC8E2F-D3A0-7C5A-0FD5-CE7DEEBCEF93}"/>
              </a:ext>
            </a:extLst>
          </p:cNvPr>
          <p:cNvSpPr>
            <a:spLocks noGrp="1"/>
          </p:cNvSpPr>
          <p:nvPr>
            <p:ph idx="1"/>
          </p:nvPr>
        </p:nvSpPr>
        <p:spPr>
          <a:xfrm>
            <a:off x="838200" y="1360627"/>
            <a:ext cx="10515600" cy="4816336"/>
          </a:xfrm>
        </p:spPr>
        <p:txBody>
          <a:bodyPr/>
          <a:lstStyle/>
          <a:p>
            <a:pPr marL="0" marR="0" indent="0" algn="just">
              <a:lnSpc>
                <a:spcPct val="115000"/>
              </a:lnSpc>
              <a:spcBef>
                <a:spcPts val="1000"/>
              </a:spcBef>
              <a:spcAft>
                <a:spcPts val="0"/>
              </a:spcAft>
              <a:buNone/>
            </a:pPr>
            <a:r>
              <a:rPr lang="en-US" sz="2400" b="0" dirty="0">
                <a:solidFill>
                  <a:srgbClr val="610B4B"/>
                </a:solidFill>
                <a:effectLst/>
                <a:latin typeface="Times New Roman" panose="02020603050405020304" pitchFamily="18" charset="0"/>
                <a:ea typeface="Times New Roman" panose="02020603050405020304" pitchFamily="18" charset="0"/>
                <a:cs typeface="Times New Roman" panose="02020603050405020304" pitchFamily="18" charset="0"/>
              </a:rPr>
              <a:t>4. Software Requirement Validation:</a:t>
            </a:r>
            <a:endParaRPr lang="en-US" sz="24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After requirement specifications developed, the requirements discussed in this document are validated. The user might demand illegal, impossible solution or experts may misinterpret the needs. Requirements can be the check against the following conditions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a:lnSpc>
                <a:spcPts val="1955"/>
              </a:lnSpc>
              <a:spcBef>
                <a:spcPts val="315"/>
              </a:spcBef>
              <a:spcAft>
                <a:spcPts val="1000"/>
              </a:spcAft>
              <a:buSzPts val="1000"/>
              <a:buNone/>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If they can practically implement</a:t>
            </a:r>
          </a:p>
          <a:p>
            <a:pPr marL="0" marR="0" lvl="0" indent="0" algn="just">
              <a:lnSpc>
                <a:spcPts val="1955"/>
              </a:lnSpc>
              <a:spcBef>
                <a:spcPts val="315"/>
              </a:spcBef>
              <a:spcAft>
                <a:spcPts val="1000"/>
              </a:spcAft>
              <a:buSzPts val="1000"/>
              <a:buNone/>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 If they are correct and as per the functionality and specially of software</a:t>
            </a:r>
          </a:p>
          <a:p>
            <a:pPr marL="0" marR="0" lvl="0" indent="0" algn="just">
              <a:lnSpc>
                <a:spcPts val="1955"/>
              </a:lnSpc>
              <a:spcBef>
                <a:spcPts val="315"/>
              </a:spcBef>
              <a:spcAft>
                <a:spcPts val="1000"/>
              </a:spcAft>
              <a:buSzPts val="1000"/>
              <a:buNone/>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 If there are any ambiguities</a:t>
            </a:r>
          </a:p>
          <a:p>
            <a:pPr marL="0" marR="0" lvl="0" indent="0" algn="just">
              <a:lnSpc>
                <a:spcPts val="1955"/>
              </a:lnSpc>
              <a:spcBef>
                <a:spcPts val="315"/>
              </a:spcBef>
              <a:spcAft>
                <a:spcPts val="1000"/>
              </a:spcAft>
              <a:buSzPts val="1000"/>
              <a:buNone/>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 If they are full</a:t>
            </a:r>
          </a:p>
          <a:p>
            <a:pPr marL="0" marR="0" lvl="0" indent="0" algn="just">
              <a:lnSpc>
                <a:spcPts val="1955"/>
              </a:lnSpc>
              <a:spcBef>
                <a:spcPts val="315"/>
              </a:spcBef>
              <a:spcAft>
                <a:spcPts val="1000"/>
              </a:spcAft>
              <a:buSzPts val="1000"/>
              <a:buNone/>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 If they can describe</a:t>
            </a:r>
          </a:p>
          <a:p>
            <a:pPr marL="0" indent="0">
              <a:buNone/>
            </a:pPr>
            <a:endParaRPr lang="en-US" dirty="0"/>
          </a:p>
        </p:txBody>
      </p:sp>
    </p:spTree>
    <p:extLst>
      <p:ext uri="{BB962C8B-B14F-4D97-AF65-F5344CB8AC3E}">
        <p14:creationId xmlns:p14="http://schemas.microsoft.com/office/powerpoint/2010/main" val="1891346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734B92-4206-F47C-184D-9D7A93EE70B7}"/>
              </a:ext>
            </a:extLst>
          </p:cNvPr>
          <p:cNvSpPr>
            <a:spLocks noGrp="1"/>
          </p:cNvSpPr>
          <p:nvPr>
            <p:ph idx="1"/>
          </p:nvPr>
        </p:nvSpPr>
        <p:spPr>
          <a:xfrm>
            <a:off x="838200" y="1477670"/>
            <a:ext cx="10515600" cy="4699293"/>
          </a:xfrm>
        </p:spPr>
        <p:txBody>
          <a:bodyPr/>
          <a:lstStyle/>
          <a:p>
            <a:pPr marL="0" marR="0" indent="0" algn="just">
              <a:buNone/>
            </a:pPr>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Requirements Validation Techniques</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a:lnSpc>
                <a:spcPts val="1955"/>
              </a:lnSpc>
              <a:spcBef>
                <a:spcPts val="315"/>
              </a:spcBef>
              <a:spcAft>
                <a:spcPts val="1000"/>
              </a:spcAft>
              <a:buSzPts val="1000"/>
              <a:buNone/>
              <a:tabLst>
                <a:tab pos="457200" algn="l"/>
              </a:tabLst>
            </a:pPr>
            <a:r>
              <a:rPr lang="en-US"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Requirements reviews/inspections:</a:t>
            </a: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systematic manual analysis of the requirements.</a:t>
            </a:r>
          </a:p>
          <a:p>
            <a:pPr marL="0" marR="0" lvl="0" indent="0" algn="just">
              <a:lnSpc>
                <a:spcPts val="1955"/>
              </a:lnSpc>
              <a:spcBef>
                <a:spcPts val="315"/>
              </a:spcBef>
              <a:spcAft>
                <a:spcPts val="1000"/>
              </a:spcAft>
              <a:buSzPts val="1000"/>
              <a:buNone/>
              <a:tabLst>
                <a:tab pos="457200" algn="l"/>
              </a:tabLst>
            </a:pPr>
            <a:r>
              <a:rPr lang="en-US"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 Prototyping:</a:t>
            </a: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Using an executable model of the system to check requirements.</a:t>
            </a:r>
          </a:p>
          <a:p>
            <a:pPr marL="0" marR="0" lvl="0" indent="0" algn="just">
              <a:lnSpc>
                <a:spcPts val="1955"/>
              </a:lnSpc>
              <a:spcBef>
                <a:spcPts val="315"/>
              </a:spcBef>
              <a:spcAft>
                <a:spcPts val="1000"/>
              </a:spcAft>
              <a:buSzPts val="1000"/>
              <a:buNone/>
              <a:tabLst>
                <a:tab pos="457200" algn="l"/>
              </a:tabLst>
            </a:pPr>
            <a:r>
              <a:rPr lang="en-US"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 Test-case generation:</a:t>
            </a: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Developing tests for requirements to check testability.</a:t>
            </a:r>
          </a:p>
          <a:p>
            <a:pPr marL="0" marR="0" lvl="0" indent="0" algn="just">
              <a:lnSpc>
                <a:spcPts val="1955"/>
              </a:lnSpc>
              <a:spcBef>
                <a:spcPts val="315"/>
              </a:spcBef>
              <a:spcAft>
                <a:spcPts val="1000"/>
              </a:spcAft>
              <a:buSzPts val="1000"/>
              <a:buNone/>
              <a:tabLst>
                <a:tab pos="457200" algn="l"/>
              </a:tabLst>
            </a:pPr>
            <a:r>
              <a:rPr lang="en-US"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 Automated consistency analysis:</a:t>
            </a: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checking for the consistency of structured requirements descriptions.</a:t>
            </a:r>
          </a:p>
          <a:p>
            <a:pPr marL="0" indent="0">
              <a:buNone/>
            </a:pPr>
            <a:endParaRPr lang="en-US" dirty="0"/>
          </a:p>
        </p:txBody>
      </p:sp>
    </p:spTree>
    <p:extLst>
      <p:ext uri="{BB962C8B-B14F-4D97-AF65-F5344CB8AC3E}">
        <p14:creationId xmlns:p14="http://schemas.microsoft.com/office/powerpoint/2010/main" val="3233363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391</TotalTime>
  <Words>3993</Words>
  <Application>Microsoft Office PowerPoint</Application>
  <PresentationFormat>Widescreen</PresentationFormat>
  <Paragraphs>349</Paragraphs>
  <Slides>35</Slides>
  <Notes>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4" baseType="lpstr">
      <vt:lpstr>Arial</vt:lpstr>
      <vt:lpstr>Calibri</vt:lpstr>
      <vt:lpstr>Calibri Light</vt:lpstr>
      <vt:lpstr>Courier New</vt:lpstr>
      <vt:lpstr>Symbol</vt:lpstr>
      <vt:lpstr>Times New Roman</vt:lpstr>
      <vt:lpstr>Wingdings</vt:lpstr>
      <vt:lpstr>Office Theme</vt:lpstr>
      <vt:lpstr>Document</vt:lpstr>
      <vt:lpstr>PowerPoint Presentation</vt:lpstr>
      <vt:lpstr>In software engineering, requirements refer to the specifications that define what a software system should do and how it should perform. They serve as a blueprint for both the development process and the final product, guiding design, implementation, and testing.</vt:lpstr>
      <vt:lpstr>PowerPoint Presentation</vt:lpstr>
      <vt:lpstr>PowerPoint Presentation</vt:lpstr>
      <vt:lpstr>Functional requirements</vt:lpstr>
      <vt:lpstr>PowerPoint Presentation</vt:lpstr>
      <vt:lpstr>Examples of Functional Requirements </vt:lpstr>
      <vt:lpstr>PowerPoint Presentation</vt:lpstr>
      <vt:lpstr>Non-functional requirements</vt:lpstr>
      <vt:lpstr>PowerPoint Presentation</vt:lpstr>
      <vt:lpstr>PowerPoint Presentation</vt:lpstr>
      <vt:lpstr>PowerPoint Presentation</vt:lpstr>
      <vt:lpstr>Non-functional requirement types</vt:lpstr>
      <vt:lpstr>User Requirements </vt:lpstr>
      <vt:lpstr>PowerPoint Presentation</vt:lpstr>
      <vt:lpstr>PowerPoint Presentation</vt:lpstr>
      <vt:lpstr>System requirements </vt:lpstr>
      <vt:lpstr>PowerPoint Presentation</vt:lpstr>
      <vt:lpstr>PowerPoint Presentation</vt:lpstr>
      <vt:lpstr>Interface requirements </vt:lpstr>
      <vt:lpstr>PowerPoint Presentation</vt:lpstr>
      <vt:lpstr>PowerPoint Presentation</vt:lpstr>
      <vt:lpstr>Requirements measures</vt:lpstr>
      <vt:lpstr>Software Requirements Document (SRD)</vt:lpstr>
      <vt:lpstr>PowerPoint Presentation</vt:lpstr>
      <vt:lpstr>PowerPoint Presentation</vt:lpstr>
      <vt:lpstr>Requirement Engineering Process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Pasam Ramu</dc:creator>
  <cp:lastModifiedBy>Pasam Ramu</cp:lastModifiedBy>
  <cp:revision>22</cp:revision>
  <dcterms:created xsi:type="dcterms:W3CDTF">2024-09-30T16:13:01Z</dcterms:created>
  <dcterms:modified xsi:type="dcterms:W3CDTF">2024-10-24T01:27:41Z</dcterms:modified>
</cp:coreProperties>
</file>