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300" r:id="rId3"/>
    <p:sldId id="301" r:id="rId4"/>
    <p:sldId id="373" r:id="rId5"/>
    <p:sldId id="374" r:id="rId6"/>
    <p:sldId id="375"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86" r:id="rId27"/>
    <p:sldId id="287" r:id="rId28"/>
    <p:sldId id="288" r:id="rId29"/>
    <p:sldId id="289" r:id="rId30"/>
    <p:sldId id="290" r:id="rId31"/>
    <p:sldId id="291" r:id="rId32"/>
    <p:sldId id="277" r:id="rId33"/>
    <p:sldId id="278" r:id="rId34"/>
    <p:sldId id="279" r:id="rId35"/>
    <p:sldId id="280" r:id="rId36"/>
    <p:sldId id="281" r:id="rId37"/>
    <p:sldId id="282" r:id="rId38"/>
    <p:sldId id="283" r:id="rId39"/>
    <p:sldId id="284" r:id="rId40"/>
    <p:sldId id="285" r:id="rId41"/>
    <p:sldId id="292" r:id="rId42"/>
    <p:sldId id="293" r:id="rId43"/>
    <p:sldId id="294" r:id="rId44"/>
    <p:sldId id="295" r:id="rId45"/>
    <p:sldId id="296" r:id="rId46"/>
    <p:sldId id="297" r:id="rId47"/>
    <p:sldId id="298" r:id="rId48"/>
    <p:sldId id="299" r:id="rId49"/>
    <p:sldId id="376" r:id="rId50"/>
    <p:sldId id="377" r:id="rId51"/>
    <p:sldId id="378" r:id="rId52"/>
    <p:sldId id="379" r:id="rId53"/>
    <p:sldId id="380" r:id="rId54"/>
    <p:sldId id="381" r:id="rId55"/>
    <p:sldId id="382" r:id="rId56"/>
    <p:sldId id="383" r:id="rId57"/>
    <p:sldId id="384"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9" autoAdjust="0"/>
    <p:restoredTop sz="94660"/>
  </p:normalViewPr>
  <p:slideViewPr>
    <p:cSldViewPr snapToGrid="0">
      <p:cViewPr varScale="1">
        <p:scale>
          <a:sx n="87" d="100"/>
          <a:sy n="87" d="100"/>
        </p:scale>
        <p:origin x="60" y="4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4BD6A-FC18-F586-CA2A-3FAFEFD46CF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9C5A8D8-2527-F689-A7E5-CFEB94757F1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81F4CC-C8E9-68AC-9EC9-0AC63E59C166}"/>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6AA5A866-057D-E9B3-083A-215D532AE0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1DF2DD-F179-DAC9-2D06-62CE45F4072D}"/>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38389533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55C0F6-9F8F-E512-6391-5E3F6F0A12B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AF8D6E5-E06B-C39E-C2B0-7107EE5BD21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62BC0C-190A-3DAF-CF4B-9A5612DF6006}"/>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E85599EF-802D-A1A1-1ABB-CBEE2C1549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71DB22-D3FF-02E2-1CAE-51A10D68B20A}"/>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1844029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68B1A2-AEFF-5805-6345-BA8DE4841F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149EADE8-115F-F1DA-07DD-B3126AF25C2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D42C9E4-9681-D3B7-E053-2280FC927601}"/>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7946DFC3-A0D2-8FAE-6AAC-5264759C2BF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9BCD203-E053-8D75-84B2-331576566C2B}"/>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176925622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776F8-1487-AAD9-63C6-BF6543C2E6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861F682-41DC-FF7B-DF52-C8032311CCC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A7EEA1-FA4D-3BD0-2AB0-AF3CB4F2691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1344B2E-3FC1-6858-F87A-611B60F82019}"/>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6" name="Footer Placeholder 5">
            <a:extLst>
              <a:ext uri="{FF2B5EF4-FFF2-40B4-BE49-F238E27FC236}">
                <a16:creationId xmlns:a16="http://schemas.microsoft.com/office/drawing/2014/main" id="{4278340D-AC99-42D5-9F4A-DD60B844493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4295A80-1F12-CDF3-633E-577D4DCBE475}"/>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32008818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9E1A4D-710B-BF06-358E-4DA66E786AE6}"/>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5562736-74A1-6F02-0A87-E4854308473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02C120-88AD-A2E3-A0FE-923D94E52A4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A79707-D318-82C7-951F-60F85DD6ADC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906EE2B-9E79-7FD8-4000-D289F2165C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FFCC64E-2741-980A-7A72-333F8C9666CC}"/>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8" name="Footer Placeholder 7">
            <a:extLst>
              <a:ext uri="{FF2B5EF4-FFF2-40B4-BE49-F238E27FC236}">
                <a16:creationId xmlns:a16="http://schemas.microsoft.com/office/drawing/2014/main" id="{B7C9F377-9776-2275-5F0A-2F344F95E0A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A0BA351-EF38-6FE1-E70D-3FF247845E0B}"/>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3675661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7680DF-D6BD-195D-5967-1441164F144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20DBEE5-50A2-7A76-0113-ACD0E4157283}"/>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4" name="Footer Placeholder 3">
            <a:extLst>
              <a:ext uri="{FF2B5EF4-FFF2-40B4-BE49-F238E27FC236}">
                <a16:creationId xmlns:a16="http://schemas.microsoft.com/office/drawing/2014/main" id="{2EAFE00B-770E-499A-C31D-555453B62C1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FE7492-278D-471B-729A-46D6F5DBD51E}"/>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14293816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10C2B0A-6257-D22B-7856-B04D0F25F4AC}"/>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3" name="Footer Placeholder 2">
            <a:extLst>
              <a:ext uri="{FF2B5EF4-FFF2-40B4-BE49-F238E27FC236}">
                <a16:creationId xmlns:a16="http://schemas.microsoft.com/office/drawing/2014/main" id="{5C4E88C4-5DBC-4CBC-CF1D-A6133821065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51C8175-E19A-8DBF-5C44-72447821CB0B}"/>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9634179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28890F-D4EB-1E21-78E8-A6C0EB88E4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56F160E-83FB-F9BD-7454-450FC5768C7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CCAA3E1-9492-6A89-E3A4-5C2DE041B1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74607C1-3E1C-9A2E-10C8-D2876F21FC7A}"/>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6" name="Footer Placeholder 5">
            <a:extLst>
              <a:ext uri="{FF2B5EF4-FFF2-40B4-BE49-F238E27FC236}">
                <a16:creationId xmlns:a16="http://schemas.microsoft.com/office/drawing/2014/main" id="{66C57C26-2BDA-36DE-8FC7-234678ECBF8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AC9E4CB-2271-08AE-4CAF-D85461770B45}"/>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6862947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3C094-D94A-46E5-E557-F7AF4AA223A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8257167-C7A9-6D48-8F19-34601C9A23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B70FAE2-A873-C81B-3292-640C11A5EEF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52CF598-5C81-2B32-5F50-8AFD8A6A60D5}"/>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6" name="Footer Placeholder 5">
            <a:extLst>
              <a:ext uri="{FF2B5EF4-FFF2-40B4-BE49-F238E27FC236}">
                <a16:creationId xmlns:a16="http://schemas.microsoft.com/office/drawing/2014/main" id="{EFC38B0B-275B-022C-29AD-A1B0EDE878A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79F157E-7A12-3AD3-99E0-E6360AEE6DA0}"/>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393027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876F74-427C-155E-DCD6-7E7ED14CF92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6A201E1-F8D7-6F92-0B7D-8607C8C29EA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435BC8-700D-39C5-7C28-0E93220C25E4}"/>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10AE0EF6-9F34-F12A-5530-C400C2E96BA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30F62AE-555B-4CD6-7223-3C3F669B70CE}"/>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289256255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740A6AC-EAF6-C045-EE10-6644706DA58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E18FE4A-C6BE-5AF4-E55D-94F341F34F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4C51FE-0C90-772F-A8E2-6BF4386DBACB}"/>
              </a:ext>
            </a:extLst>
          </p:cNvPr>
          <p:cNvSpPr>
            <a:spLocks noGrp="1"/>
          </p:cNvSpPr>
          <p:nvPr>
            <p:ph type="dt" sz="half" idx="10"/>
          </p:nvPr>
        </p:nvSpPr>
        <p:spPr/>
        <p:txBody>
          <a:body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D0EF202B-4AA1-FB58-D8FF-C1135A0BE3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69E1071-7DC6-52E6-6066-0383105722B2}"/>
              </a:ext>
            </a:extLst>
          </p:cNvPr>
          <p:cNvSpPr>
            <a:spLocks noGrp="1"/>
          </p:cNvSpPr>
          <p:nvPr>
            <p:ph type="sldNum" sz="quarter" idx="12"/>
          </p:nvPr>
        </p:nvSpPr>
        <p:spPr/>
        <p:txBody>
          <a:bodyPr/>
          <a:lstStyle/>
          <a:p>
            <a:fld id="{AD98A038-7332-49F5-AA7B-D4D5761FF92F}" type="slidenum">
              <a:rPr lang="en-US" smtClean="0"/>
              <a:t>‹#›</a:t>
            </a:fld>
            <a:endParaRPr lang="en-US"/>
          </a:p>
        </p:txBody>
      </p:sp>
    </p:spTree>
    <p:extLst>
      <p:ext uri="{BB962C8B-B14F-4D97-AF65-F5344CB8AC3E}">
        <p14:creationId xmlns:p14="http://schemas.microsoft.com/office/powerpoint/2010/main" val="3577348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3938CD-1FE9-5D20-7BEE-0887B1C166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0FB6DCD-9C9B-9E98-B1C1-1F8950E5253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27FE1B3-5820-D3CE-4592-7CED48087DE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DCE43D-3DFD-40B0-B727-5EF4FF8BBB14}" type="datetimeFigureOut">
              <a:rPr lang="en-US" smtClean="0"/>
              <a:t>9/14/2025</a:t>
            </a:fld>
            <a:endParaRPr lang="en-US"/>
          </a:p>
        </p:txBody>
      </p:sp>
      <p:sp>
        <p:nvSpPr>
          <p:cNvPr id="5" name="Footer Placeholder 4">
            <a:extLst>
              <a:ext uri="{FF2B5EF4-FFF2-40B4-BE49-F238E27FC236}">
                <a16:creationId xmlns:a16="http://schemas.microsoft.com/office/drawing/2014/main" id="{5EC75259-70A5-911E-E52D-3EA9B981CE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F6E008B-FCF2-3603-2900-D86E90FCB2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D98A038-7332-49F5-AA7B-D4D5761FF92F}" type="slidenum">
              <a:rPr lang="en-US" smtClean="0"/>
              <a:t>‹#›</a:t>
            </a:fld>
            <a:endParaRPr lang="en-US"/>
          </a:p>
        </p:txBody>
      </p:sp>
    </p:spTree>
    <p:extLst>
      <p:ext uri="{BB962C8B-B14F-4D97-AF65-F5344CB8AC3E}">
        <p14:creationId xmlns:p14="http://schemas.microsoft.com/office/powerpoint/2010/main" val="41807321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hyperlink" Target="https://www.geeksforgeeks.org/5-most-commonly-used-software-development-methodologies/?ref=lbp" TargetMode="Externa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technotrice.com/incremental-model-in-software-engineering/"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hyperlink" Target="http://en.wikipedia.org/wiki/Component-based_software_engineering"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hyperlink" Target="https://www.guru99.com/software-development-life-cycle-tutorial.html" TargetMode="Externa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BD73E4-0BD3-D8A1-158F-4B6112D457E3}"/>
              </a:ext>
            </a:extLst>
          </p:cNvPr>
          <p:cNvSpPr>
            <a:spLocks noGrp="1"/>
          </p:cNvSpPr>
          <p:nvPr>
            <p:ph type="title"/>
          </p:nvPr>
        </p:nvSpPr>
        <p:spPr>
          <a:xfrm>
            <a:off x="838200" y="365126"/>
            <a:ext cx="10515600" cy="1090600"/>
          </a:xfrm>
        </p:spPr>
        <p:txBody>
          <a:bodyPr>
            <a:normAutofit/>
          </a:bodyPr>
          <a:lstStyle/>
          <a:p>
            <a:pPr algn="ctr"/>
            <a:r>
              <a:rPr lang="en-US" sz="4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Process Models</a:t>
            </a:r>
            <a:endParaRPr lang="en-US" sz="48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9ECC50C-8F22-B083-6528-0226E88FE1F8}"/>
              </a:ext>
            </a:extLst>
          </p:cNvPr>
          <p:cNvSpPr>
            <a:spLocks noGrp="1"/>
          </p:cNvSpPr>
          <p:nvPr>
            <p:ph idx="1"/>
          </p:nvPr>
        </p:nvSpPr>
        <p:spPr>
          <a:xfrm>
            <a:off x="838200" y="1455725"/>
            <a:ext cx="10515600" cy="4721238"/>
          </a:xfrm>
        </p:spPr>
        <p:txBody>
          <a:bodyPr>
            <a:noAutofit/>
          </a:bodyPr>
          <a:lstStyle/>
          <a:p>
            <a:pPr marL="0" indent="0">
              <a:buNone/>
            </a:pPr>
            <a:r>
              <a:rPr lang="en-US" sz="2000" dirty="0">
                <a:latin typeface="Times New Roman" panose="02020603050405020304" pitchFamily="18" charset="0"/>
                <a:cs typeface="Times New Roman" panose="02020603050405020304" pitchFamily="18" charset="0"/>
              </a:rPr>
              <a:t>There are different Types of Process Models:</a:t>
            </a:r>
          </a:p>
          <a:p>
            <a:pPr marL="342900" indent="-34290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Software Development Life Cycle</a:t>
            </a:r>
          </a:p>
          <a:p>
            <a:pPr marL="514350" indent="-51435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waterfall model</a:t>
            </a:r>
            <a:endPar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514350" indent="-51435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Incremental Process models</a:t>
            </a:r>
          </a:p>
          <a:p>
            <a:pPr marL="514350" indent="-51435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RAD Model</a:t>
            </a:r>
          </a:p>
          <a:p>
            <a:pPr marL="514350" indent="-51435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Unified Process Model</a:t>
            </a:r>
            <a:endParaRPr lang="en-US" sz="20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endParaRPr>
          </a:p>
          <a:p>
            <a:pPr marL="514350" indent="-514350">
              <a:buAutoNum type="arabicPeriod"/>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Evolutionary Process models </a:t>
            </a:r>
          </a:p>
          <a:p>
            <a:pPr marL="0" indent="0">
              <a:buNone/>
            </a:pPr>
            <a:r>
              <a:rPr lang="en-US" sz="2000" dirty="0">
                <a:solidFill>
                  <a:srgbClr val="000000"/>
                </a:solidFill>
                <a:latin typeface="Times New Roman" panose="02020603050405020304" pitchFamily="18" charset="0"/>
                <a:cs typeface="Times New Roman" panose="02020603050405020304" pitchFamily="18" charset="0"/>
              </a:rPr>
              <a:t>       </a:t>
            </a:r>
            <a:r>
              <a:rPr lang="en-US" sz="2000" dirty="0" err="1">
                <a:solidFill>
                  <a:srgbClr val="000000"/>
                </a:solidFill>
                <a:latin typeface="Times New Roman" panose="02020603050405020304" pitchFamily="18" charset="0"/>
                <a:cs typeface="Times New Roman" panose="02020603050405020304" pitchFamily="18" charset="0"/>
              </a:rPr>
              <a:t>i</a:t>
            </a:r>
            <a:r>
              <a:rPr lang="en-US" sz="2000" dirty="0">
                <a:solidFill>
                  <a:srgbClr val="000000"/>
                </a:solidFill>
                <a:latin typeface="Times New Roman" panose="02020603050405020304" pitchFamily="18" charset="0"/>
                <a:cs typeface="Times New Roman" panose="02020603050405020304" pitchFamily="18" charset="0"/>
              </a:rPr>
              <a:t>.</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Prototype Model</a:t>
            </a:r>
          </a:p>
          <a:p>
            <a:pPr marL="0" indent="0">
              <a:buNone/>
            </a:pPr>
            <a:r>
              <a:rPr lang="en-US" sz="2000" dirty="0">
                <a:solidFill>
                  <a:srgbClr val="000000"/>
                </a:solidFill>
                <a:latin typeface="Times New Roman" panose="02020603050405020304" pitchFamily="18" charset="0"/>
                <a:cs typeface="Times New Roman" panose="02020603050405020304" pitchFamily="18" charset="0"/>
              </a:rPr>
              <a:t>       ii.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Spiral Model</a:t>
            </a:r>
          </a:p>
          <a:p>
            <a:pPr marL="0" indent="0">
              <a:buNone/>
            </a:pPr>
            <a:r>
              <a:rPr lang="en-US" sz="2000" dirty="0">
                <a:solidFill>
                  <a:srgbClr val="000000"/>
                </a:solidFill>
                <a:latin typeface="Times New Roman" panose="02020603050405020304" pitchFamily="18" charset="0"/>
                <a:cs typeface="Times New Roman" panose="02020603050405020304" pitchFamily="18" charset="0"/>
              </a:rPr>
              <a:t>       iii.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Concurrent Development Model</a:t>
            </a:r>
          </a:p>
          <a:p>
            <a:pPr marL="0" indent="0">
              <a:buNone/>
            </a:pPr>
            <a:r>
              <a:rPr lang="en-US" sz="2000" dirty="0">
                <a:solidFill>
                  <a:srgbClr val="000000"/>
                </a:solidFill>
                <a:latin typeface="Times New Roman" panose="02020603050405020304" pitchFamily="18" charset="0"/>
                <a:cs typeface="Times New Roman" panose="02020603050405020304" pitchFamily="18" charset="0"/>
              </a:rPr>
              <a:t>       iv.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V-Model</a:t>
            </a:r>
          </a:p>
          <a:p>
            <a:pPr marL="0" indent="0">
              <a:buNone/>
            </a:pPr>
            <a:r>
              <a:rPr lang="en-US" sz="2000" dirty="0">
                <a:solidFill>
                  <a:srgbClr val="000000"/>
                </a:solidFill>
                <a:latin typeface="Times New Roman" panose="02020603050405020304" pitchFamily="18" charset="0"/>
                <a:cs typeface="Times New Roman" panose="02020603050405020304" pitchFamily="18" charset="0"/>
              </a:rPr>
              <a:t>        v.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Agile Model</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87011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18DE3-A0E7-312B-5248-0EBE3793BE37}"/>
              </a:ext>
            </a:extLst>
          </p:cNvPr>
          <p:cNvSpPr>
            <a:spLocks noGrp="1"/>
          </p:cNvSpPr>
          <p:nvPr>
            <p:ph type="title"/>
          </p:nvPr>
        </p:nvSpPr>
        <p:spPr/>
        <p:txBody>
          <a:bodyPr/>
          <a:lstStyle/>
          <a:p>
            <a:r>
              <a:rPr lang="en-US" b="1" i="0" dirty="0">
                <a:effectLst/>
                <a:latin typeface="Times New Roman" panose="02020603050405020304" pitchFamily="18" charset="0"/>
                <a:cs typeface="Times New Roman" panose="02020603050405020304" pitchFamily="18" charset="0"/>
              </a:rPr>
              <a:t>What is a software process model?</a:t>
            </a:r>
            <a:br>
              <a:rPr lang="en-US" b="1" i="0" dirty="0">
                <a:effectLst/>
                <a:latin typeface="var(--font-family-heading-lesson-markdown)"/>
              </a:rPr>
            </a:br>
            <a:endParaRPr lang="en-US" dirty="0"/>
          </a:p>
        </p:txBody>
      </p:sp>
      <p:sp>
        <p:nvSpPr>
          <p:cNvPr id="3" name="Content Placeholder 2">
            <a:extLst>
              <a:ext uri="{FF2B5EF4-FFF2-40B4-BE49-F238E27FC236}">
                <a16:creationId xmlns:a16="http://schemas.microsoft.com/office/drawing/2014/main" id="{5583638E-FC8A-DD8C-9DC2-390F034B386A}"/>
              </a:ext>
            </a:extLst>
          </p:cNvPr>
          <p:cNvSpPr>
            <a:spLocks noGrp="1"/>
          </p:cNvSpPr>
          <p:nvPr>
            <p:ph idx="1"/>
          </p:nvPr>
        </p:nvSpPr>
        <p:spPr>
          <a:xfrm>
            <a:off x="838200" y="1492301"/>
            <a:ext cx="10515600" cy="4684662"/>
          </a:xfrm>
        </p:spPr>
        <p:txBody>
          <a:bodyPr>
            <a:normAutofit lnSpcReduction="10000"/>
          </a:bodyPr>
          <a:lstStyle/>
          <a:p>
            <a:pPr algn="l"/>
            <a:r>
              <a:rPr lang="en-US" sz="3200" b="0" i="0" dirty="0">
                <a:solidFill>
                  <a:srgbClr val="374151"/>
                </a:solidFill>
                <a:effectLst/>
                <a:latin typeface="Times New Roman" panose="02020603050405020304" pitchFamily="18" charset="0"/>
                <a:cs typeface="Times New Roman" panose="02020603050405020304" pitchFamily="18" charset="0"/>
              </a:rPr>
              <a:t>A software process model is an abstraction of the software development process. The models specify the stages and order of a process. So, please think of this as a representation of the </a:t>
            </a:r>
            <a:r>
              <a:rPr lang="en-US" sz="3200" b="1" i="0" dirty="0">
                <a:solidFill>
                  <a:srgbClr val="374151"/>
                </a:solidFill>
                <a:effectLst/>
                <a:latin typeface="Times New Roman" panose="02020603050405020304" pitchFamily="18" charset="0"/>
                <a:cs typeface="Times New Roman" panose="02020603050405020304" pitchFamily="18" charset="0"/>
              </a:rPr>
              <a:t>order of activities</a:t>
            </a:r>
            <a:r>
              <a:rPr lang="en-US" sz="3200" b="0" i="0" dirty="0">
                <a:solidFill>
                  <a:srgbClr val="374151"/>
                </a:solidFill>
                <a:effectLst/>
                <a:latin typeface="Times New Roman" panose="02020603050405020304" pitchFamily="18" charset="0"/>
                <a:cs typeface="Times New Roman" panose="02020603050405020304" pitchFamily="18" charset="0"/>
              </a:rPr>
              <a:t> of the process and the </a:t>
            </a:r>
            <a:r>
              <a:rPr lang="en-US" sz="3200" b="1" i="0" dirty="0">
                <a:solidFill>
                  <a:srgbClr val="374151"/>
                </a:solidFill>
                <a:effectLst/>
                <a:latin typeface="Times New Roman" panose="02020603050405020304" pitchFamily="18" charset="0"/>
                <a:cs typeface="Times New Roman" panose="02020603050405020304" pitchFamily="18" charset="0"/>
              </a:rPr>
              <a:t>sequence</a:t>
            </a:r>
            <a:r>
              <a:rPr lang="en-US" sz="3200" b="0" i="0" dirty="0">
                <a:solidFill>
                  <a:srgbClr val="374151"/>
                </a:solidFill>
                <a:effectLst/>
                <a:latin typeface="Times New Roman" panose="02020603050405020304" pitchFamily="18" charset="0"/>
                <a:cs typeface="Times New Roman" panose="02020603050405020304" pitchFamily="18" charset="0"/>
              </a:rPr>
              <a:t> in which they are performed.</a:t>
            </a:r>
          </a:p>
          <a:p>
            <a:pPr algn="l"/>
            <a:r>
              <a:rPr lang="en-US" sz="3200" b="1" i="0" dirty="0">
                <a:solidFill>
                  <a:srgbClr val="374151"/>
                </a:solidFill>
                <a:effectLst/>
                <a:latin typeface="Times New Roman" panose="02020603050405020304" pitchFamily="18" charset="0"/>
                <a:cs typeface="Times New Roman" panose="02020603050405020304" pitchFamily="18" charset="0"/>
              </a:rPr>
              <a:t>A model will define the following:</a:t>
            </a:r>
            <a:endParaRPr lang="en-US" sz="3200" b="0" i="0" dirty="0">
              <a:solidFill>
                <a:srgbClr val="37415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The tasks to be performed.</a:t>
            </a:r>
          </a:p>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The input and output of each task.</a:t>
            </a:r>
          </a:p>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The pre-conditions and post-conditions for each task.</a:t>
            </a:r>
          </a:p>
          <a:p>
            <a:pPr algn="l">
              <a:buFont typeface="Arial" panose="020B0604020202020204" pitchFamily="34" charset="0"/>
              <a:buChar char="•"/>
            </a:pPr>
            <a:r>
              <a:rPr lang="en-US" sz="3200" b="0" i="0" dirty="0">
                <a:solidFill>
                  <a:srgbClr val="374151"/>
                </a:solidFill>
                <a:effectLst/>
                <a:latin typeface="Times New Roman" panose="02020603050405020304" pitchFamily="18" charset="0"/>
                <a:cs typeface="Times New Roman" panose="02020603050405020304" pitchFamily="18" charset="0"/>
              </a:rPr>
              <a:t>The flow and sequence of each task.</a:t>
            </a:r>
          </a:p>
          <a:p>
            <a:pPr marL="0" indent="0">
              <a:buNone/>
            </a:pPr>
            <a:endParaRPr lang="en-US" dirty="0"/>
          </a:p>
        </p:txBody>
      </p:sp>
    </p:spTree>
    <p:extLst>
      <p:ext uri="{BB962C8B-B14F-4D97-AF65-F5344CB8AC3E}">
        <p14:creationId xmlns:p14="http://schemas.microsoft.com/office/powerpoint/2010/main" val="797429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2102459-0374-03F5-CAFF-66636EE2F7A5}"/>
              </a:ext>
            </a:extLst>
          </p:cNvPr>
          <p:cNvSpPr>
            <a:spLocks noGrp="1"/>
          </p:cNvSpPr>
          <p:nvPr>
            <p:ph idx="1"/>
          </p:nvPr>
        </p:nvSpPr>
        <p:spPr>
          <a:xfrm>
            <a:off x="838200" y="797357"/>
            <a:ext cx="10515600" cy="5379606"/>
          </a:xfrm>
        </p:spPr>
        <p:txBody>
          <a:bodyPr/>
          <a:lstStyle/>
          <a:p>
            <a:r>
              <a:rPr lang="en-US" altLang="en-US" sz="4000" b="1" dirty="0">
                <a:latin typeface="Times New Roman" panose="02020603050405020304" pitchFamily="18" charset="0"/>
                <a:cs typeface="Times New Roman" panose="02020603050405020304" pitchFamily="18" charset="0"/>
              </a:rPr>
              <a:t>Software Development Life Cycle (SDLC)</a:t>
            </a:r>
          </a:p>
          <a:p>
            <a:pPr>
              <a:buFont typeface="Calibri Light" panose="020F0302020204030204" pitchFamily="34" charset="0"/>
              <a:buAutoNum type="arabicPeriod"/>
            </a:pPr>
            <a:r>
              <a:rPr lang="en-US" altLang="en-US" b="1" dirty="0"/>
              <a:t>Requirements Gathering and Analysis</a:t>
            </a:r>
          </a:p>
          <a:p>
            <a:pPr>
              <a:buFont typeface="Calibri Light" panose="020F0302020204030204" pitchFamily="34" charset="0"/>
              <a:buAutoNum type="arabicPeriod"/>
            </a:pPr>
            <a:r>
              <a:rPr lang="en-US" altLang="en-US" b="1" dirty="0"/>
              <a:t>Planning</a:t>
            </a:r>
            <a:endParaRPr lang="en-US" altLang="en-US" dirty="0"/>
          </a:p>
          <a:p>
            <a:pPr>
              <a:buFont typeface="Calibri Light" panose="020F0302020204030204" pitchFamily="34" charset="0"/>
              <a:buAutoNum type="arabicPeriod"/>
            </a:pPr>
            <a:r>
              <a:rPr lang="en-US" altLang="en-US" b="1" dirty="0"/>
              <a:t>Design</a:t>
            </a:r>
            <a:endParaRPr lang="en-US" altLang="en-US" dirty="0"/>
          </a:p>
          <a:p>
            <a:pPr>
              <a:buFont typeface="Calibri Light" panose="020F0302020204030204" pitchFamily="34" charset="0"/>
              <a:buAutoNum type="arabicPeriod"/>
            </a:pPr>
            <a:r>
              <a:rPr lang="en-US" altLang="en-US" b="1" dirty="0"/>
              <a:t>Implementation (Coding)</a:t>
            </a:r>
            <a:endParaRPr lang="en-US" altLang="en-US" dirty="0"/>
          </a:p>
          <a:p>
            <a:pPr>
              <a:buFont typeface="Calibri Light" panose="020F0302020204030204" pitchFamily="34" charset="0"/>
              <a:buAutoNum type="arabicPeriod"/>
            </a:pPr>
            <a:r>
              <a:rPr lang="en-US" altLang="en-US" b="1" dirty="0"/>
              <a:t>Testing</a:t>
            </a:r>
            <a:endParaRPr lang="en-US" altLang="en-US" dirty="0"/>
          </a:p>
          <a:p>
            <a:pPr>
              <a:buFont typeface="Calibri Light" panose="020F0302020204030204" pitchFamily="34" charset="0"/>
              <a:buAutoNum type="arabicPeriod"/>
            </a:pPr>
            <a:r>
              <a:rPr lang="en-US" altLang="en-US" b="1" dirty="0"/>
              <a:t>Deployment</a:t>
            </a:r>
            <a:endParaRPr lang="en-US" altLang="en-US" dirty="0"/>
          </a:p>
          <a:p>
            <a:pPr>
              <a:buFont typeface="Calibri Light" panose="020F0302020204030204" pitchFamily="34" charset="0"/>
              <a:buAutoNum type="arabicPeriod"/>
            </a:pPr>
            <a:r>
              <a:rPr lang="en-US" altLang="en-US" b="1" dirty="0"/>
              <a:t>Maintenance</a:t>
            </a:r>
            <a:endParaRPr lang="en-US" altLang="en-US" dirty="0"/>
          </a:p>
          <a:p>
            <a:pPr marL="0" indent="0">
              <a:buNone/>
            </a:pPr>
            <a:endParaRPr lang="en-US" dirty="0"/>
          </a:p>
        </p:txBody>
      </p:sp>
    </p:spTree>
    <p:extLst>
      <p:ext uri="{BB962C8B-B14F-4D97-AF65-F5344CB8AC3E}">
        <p14:creationId xmlns:p14="http://schemas.microsoft.com/office/powerpoint/2010/main" val="21184604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val 1">
            <a:extLst>
              <a:ext uri="{FF2B5EF4-FFF2-40B4-BE49-F238E27FC236}">
                <a16:creationId xmlns:a16="http://schemas.microsoft.com/office/drawing/2014/main" id="{2FC2578A-9813-D086-FF73-B48EC253402F}"/>
              </a:ext>
            </a:extLst>
          </p:cNvPr>
          <p:cNvSpPr/>
          <p:nvPr/>
        </p:nvSpPr>
        <p:spPr>
          <a:xfrm>
            <a:off x="2362200" y="1371600"/>
            <a:ext cx="20574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Maintenance</a:t>
            </a:r>
          </a:p>
        </p:txBody>
      </p:sp>
      <p:sp>
        <p:nvSpPr>
          <p:cNvPr id="3" name="Oval 2">
            <a:extLst>
              <a:ext uri="{FF2B5EF4-FFF2-40B4-BE49-F238E27FC236}">
                <a16:creationId xmlns:a16="http://schemas.microsoft.com/office/drawing/2014/main" id="{0635DF74-F568-4BFA-6840-BF233D8838E7}"/>
              </a:ext>
            </a:extLst>
          </p:cNvPr>
          <p:cNvSpPr/>
          <p:nvPr/>
        </p:nvSpPr>
        <p:spPr>
          <a:xfrm>
            <a:off x="8001000" y="3448050"/>
            <a:ext cx="1600200" cy="9715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Design</a:t>
            </a:r>
          </a:p>
          <a:p>
            <a:pPr algn="ctr">
              <a:defRPr/>
            </a:pPr>
            <a:endParaRPr lang="en-US" dirty="0"/>
          </a:p>
        </p:txBody>
      </p:sp>
      <p:sp>
        <p:nvSpPr>
          <p:cNvPr id="4" name="Oval 3">
            <a:extLst>
              <a:ext uri="{FF2B5EF4-FFF2-40B4-BE49-F238E27FC236}">
                <a16:creationId xmlns:a16="http://schemas.microsoft.com/office/drawing/2014/main" id="{8FDCF6D4-8553-19DA-7B71-626C3E3B18B4}"/>
              </a:ext>
            </a:extLst>
          </p:cNvPr>
          <p:cNvSpPr/>
          <p:nvPr/>
        </p:nvSpPr>
        <p:spPr>
          <a:xfrm>
            <a:off x="2438400" y="3352800"/>
            <a:ext cx="1981200" cy="914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Deployment</a:t>
            </a:r>
          </a:p>
        </p:txBody>
      </p:sp>
      <p:sp>
        <p:nvSpPr>
          <p:cNvPr id="5" name="Oval 4">
            <a:extLst>
              <a:ext uri="{FF2B5EF4-FFF2-40B4-BE49-F238E27FC236}">
                <a16:creationId xmlns:a16="http://schemas.microsoft.com/office/drawing/2014/main" id="{991736AE-468A-E761-973F-901A2DAC5D74}"/>
              </a:ext>
            </a:extLst>
          </p:cNvPr>
          <p:cNvSpPr/>
          <p:nvPr/>
        </p:nvSpPr>
        <p:spPr>
          <a:xfrm>
            <a:off x="3260725" y="5200650"/>
            <a:ext cx="2438400" cy="142875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Testing</a:t>
            </a:r>
          </a:p>
        </p:txBody>
      </p:sp>
      <p:sp>
        <p:nvSpPr>
          <p:cNvPr id="6" name="Oval 5">
            <a:extLst>
              <a:ext uri="{FF2B5EF4-FFF2-40B4-BE49-F238E27FC236}">
                <a16:creationId xmlns:a16="http://schemas.microsoft.com/office/drawing/2014/main" id="{E3FC6BCB-F492-35FE-C596-6C15D6EFEECA}"/>
              </a:ext>
            </a:extLst>
          </p:cNvPr>
          <p:cNvSpPr/>
          <p:nvPr/>
        </p:nvSpPr>
        <p:spPr>
          <a:xfrm>
            <a:off x="5105400" y="304800"/>
            <a:ext cx="1524000" cy="16764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Requirements Analysis</a:t>
            </a:r>
          </a:p>
          <a:p>
            <a:pPr algn="ctr">
              <a:defRPr/>
            </a:pPr>
            <a:endParaRPr lang="en-US" dirty="0"/>
          </a:p>
        </p:txBody>
      </p:sp>
      <p:sp>
        <p:nvSpPr>
          <p:cNvPr id="7" name="Oval 6">
            <a:extLst>
              <a:ext uri="{FF2B5EF4-FFF2-40B4-BE49-F238E27FC236}">
                <a16:creationId xmlns:a16="http://schemas.microsoft.com/office/drawing/2014/main" id="{5042C639-B8E2-4150-99A4-0F8DC762BCCF}"/>
              </a:ext>
            </a:extLst>
          </p:cNvPr>
          <p:cNvSpPr/>
          <p:nvPr/>
        </p:nvSpPr>
        <p:spPr>
          <a:xfrm>
            <a:off x="6781800" y="5029200"/>
            <a:ext cx="1828800" cy="10668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Implementation</a:t>
            </a:r>
          </a:p>
        </p:txBody>
      </p:sp>
      <p:sp>
        <p:nvSpPr>
          <p:cNvPr id="8" name="Oval 7">
            <a:extLst>
              <a:ext uri="{FF2B5EF4-FFF2-40B4-BE49-F238E27FC236}">
                <a16:creationId xmlns:a16="http://schemas.microsoft.com/office/drawing/2014/main" id="{08FA46F1-45A1-0C54-AF38-DE0DF7611913}"/>
              </a:ext>
            </a:extLst>
          </p:cNvPr>
          <p:cNvSpPr/>
          <p:nvPr/>
        </p:nvSpPr>
        <p:spPr>
          <a:xfrm>
            <a:off x="7437438" y="1219200"/>
            <a:ext cx="1600200" cy="1600200"/>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defRPr/>
            </a:pPr>
            <a:r>
              <a:rPr lang="en-US" dirty="0"/>
              <a:t>Planning</a:t>
            </a:r>
          </a:p>
        </p:txBody>
      </p:sp>
      <p:cxnSp>
        <p:nvCxnSpPr>
          <p:cNvPr id="10" name="Straight Arrow Connector 9">
            <a:extLst>
              <a:ext uri="{FF2B5EF4-FFF2-40B4-BE49-F238E27FC236}">
                <a16:creationId xmlns:a16="http://schemas.microsoft.com/office/drawing/2014/main" id="{5B817E52-6EC4-0320-0978-7183ACC89FFD}"/>
              </a:ext>
            </a:extLst>
          </p:cNvPr>
          <p:cNvCxnSpPr>
            <a:cxnSpLocks/>
            <a:stCxn id="6" idx="6"/>
          </p:cNvCxnSpPr>
          <p:nvPr/>
        </p:nvCxnSpPr>
        <p:spPr>
          <a:xfrm>
            <a:off x="6629400" y="1143000"/>
            <a:ext cx="914400" cy="457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593CC67D-5D3D-EEAB-43F7-3164AD1FC017}"/>
              </a:ext>
            </a:extLst>
          </p:cNvPr>
          <p:cNvCxnSpPr/>
          <p:nvPr/>
        </p:nvCxnSpPr>
        <p:spPr>
          <a:xfrm>
            <a:off x="8656638" y="2667000"/>
            <a:ext cx="563562" cy="838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B8090CD6-9E6F-0FD2-FA3C-330C9C2DB785}"/>
              </a:ext>
            </a:extLst>
          </p:cNvPr>
          <p:cNvCxnSpPr>
            <a:cxnSpLocks/>
          </p:cNvCxnSpPr>
          <p:nvPr/>
        </p:nvCxnSpPr>
        <p:spPr>
          <a:xfrm flipH="1">
            <a:off x="8153401" y="4275138"/>
            <a:ext cx="365125" cy="83026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A18D095D-315F-1301-E088-B0A91FEDD58E}"/>
              </a:ext>
            </a:extLst>
          </p:cNvPr>
          <p:cNvCxnSpPr>
            <a:cxnSpLocks/>
          </p:cNvCxnSpPr>
          <p:nvPr/>
        </p:nvCxnSpPr>
        <p:spPr>
          <a:xfrm flipH="1">
            <a:off x="5699126" y="5715000"/>
            <a:ext cx="1082675" cy="304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BFE06664-144C-A507-4486-AF91A1677047}"/>
              </a:ext>
            </a:extLst>
          </p:cNvPr>
          <p:cNvCxnSpPr/>
          <p:nvPr/>
        </p:nvCxnSpPr>
        <p:spPr>
          <a:xfrm flipH="1" flipV="1">
            <a:off x="3886200" y="4191000"/>
            <a:ext cx="533400" cy="10096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CA66D5DC-08A0-8ACE-AB05-B654EEABBB81}"/>
              </a:ext>
            </a:extLst>
          </p:cNvPr>
          <p:cNvCxnSpPr>
            <a:endCxn id="2" idx="4"/>
          </p:cNvCxnSpPr>
          <p:nvPr/>
        </p:nvCxnSpPr>
        <p:spPr>
          <a:xfrm flipV="1">
            <a:off x="3260726" y="2286000"/>
            <a:ext cx="130175" cy="10668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57AD8E32-9BC5-08F0-32E8-96B80D04C6D7}"/>
              </a:ext>
            </a:extLst>
          </p:cNvPr>
          <p:cNvCxnSpPr>
            <a:cxnSpLocks/>
            <a:endCxn id="6" idx="2"/>
          </p:cNvCxnSpPr>
          <p:nvPr/>
        </p:nvCxnSpPr>
        <p:spPr>
          <a:xfrm flipV="1">
            <a:off x="3886200" y="1143000"/>
            <a:ext cx="1219200" cy="2857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463306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ED5EB63-FE14-3D9B-B4F9-C3FE59CD5B53}"/>
              </a:ext>
            </a:extLst>
          </p:cNvPr>
          <p:cNvSpPr txBox="1"/>
          <p:nvPr/>
        </p:nvSpPr>
        <p:spPr>
          <a:xfrm>
            <a:off x="1243585" y="-354822"/>
            <a:ext cx="9963302" cy="7386638"/>
          </a:xfrm>
          <a:prstGeom prst="rect">
            <a:avLst/>
          </a:prstGeom>
          <a:noFill/>
        </p:spPr>
        <p:txBody>
          <a:bodyPr wrap="square">
            <a:spAutoFit/>
          </a:bodyPr>
          <a:lstStyle/>
          <a:p>
            <a:endParaRPr lang="en-US" altLang="en-US" b="1" dirty="0">
              <a:solidFill>
                <a:srgbClr val="273239"/>
              </a:solidFill>
              <a:latin typeface="Nunito" pitchFamily="2" charset="0"/>
            </a:endParaRPr>
          </a:p>
          <a:p>
            <a:r>
              <a:rPr lang="en-US" altLang="en-US" sz="2400" b="1" dirty="0">
                <a:solidFill>
                  <a:srgbClr val="273239"/>
                </a:solidFill>
                <a:latin typeface="Times New Roman" panose="02020603050405020304" pitchFamily="18" charset="0"/>
                <a:cs typeface="Times New Roman" panose="02020603050405020304" pitchFamily="18" charset="0"/>
              </a:rPr>
              <a:t>1. </a:t>
            </a:r>
            <a:r>
              <a:rPr lang="en-US" altLang="en-US" sz="2400" b="1" dirty="0">
                <a:latin typeface="Times New Roman" panose="02020603050405020304" pitchFamily="18" charset="0"/>
                <a:cs typeface="Times New Roman" panose="02020603050405020304" pitchFamily="18" charset="0"/>
              </a:rPr>
              <a:t>Requirements gathering and </a:t>
            </a:r>
            <a:r>
              <a:rPr lang="en-US" altLang="en-US" sz="2400" b="1" dirty="0" err="1">
                <a:latin typeface="Times New Roman" panose="02020603050405020304" pitchFamily="18" charset="0"/>
                <a:cs typeface="Times New Roman" panose="02020603050405020304" pitchFamily="18" charset="0"/>
              </a:rPr>
              <a:t>analysis:</a:t>
            </a:r>
            <a:r>
              <a:rPr lang="en-US" altLang="en-US" sz="2400" dirty="0" err="1">
                <a:solidFill>
                  <a:srgbClr val="273239"/>
                </a:solidFill>
                <a:latin typeface="Times New Roman" panose="02020603050405020304" pitchFamily="18" charset="0"/>
                <a:cs typeface="Times New Roman" panose="02020603050405020304" pitchFamily="18" charset="0"/>
              </a:rPr>
              <a:t>This</a:t>
            </a:r>
            <a:r>
              <a:rPr lang="en-US" altLang="en-US" sz="2400" dirty="0">
                <a:solidFill>
                  <a:srgbClr val="273239"/>
                </a:solidFill>
                <a:latin typeface="Times New Roman" panose="02020603050405020304" pitchFamily="18" charset="0"/>
                <a:cs typeface="Times New Roman" panose="02020603050405020304" pitchFamily="18" charset="0"/>
              </a:rPr>
              <a:t> phase involves gathering information about the software requirements from stakeholders, such as customers, end-users, and business analysts.</a:t>
            </a:r>
          </a:p>
          <a:p>
            <a:r>
              <a:rPr lang="en-US" altLang="en-US" sz="2400" dirty="0">
                <a:latin typeface="Times New Roman" panose="02020603050405020304" pitchFamily="18" charset="0"/>
                <a:cs typeface="Times New Roman" panose="02020603050405020304" pitchFamily="18" charset="0"/>
              </a:rPr>
              <a:t>2. </a:t>
            </a:r>
            <a:r>
              <a:rPr lang="en-US" altLang="en-US" sz="2400" b="1" dirty="0">
                <a:solidFill>
                  <a:srgbClr val="273239"/>
                </a:solidFill>
                <a:latin typeface="Times New Roman" panose="02020603050405020304" pitchFamily="18" charset="0"/>
                <a:cs typeface="Times New Roman" panose="02020603050405020304" pitchFamily="18" charset="0"/>
              </a:rPr>
              <a:t>Planning</a:t>
            </a:r>
            <a:r>
              <a:rPr lang="en-US" altLang="en-US" sz="2400" dirty="0">
                <a:latin typeface="Times New Roman" panose="02020603050405020304" pitchFamily="18" charset="0"/>
                <a:cs typeface="Times New Roman" panose="02020603050405020304" pitchFamily="18" charset="0"/>
              </a:rPr>
              <a:t>: this phase, a Senior QA manager will determine effort and cost estimates for the project and will prepare and finalize the Test Plan</a:t>
            </a:r>
            <a:endParaRPr lang="en-US" altLang="en-US" sz="2400" dirty="0">
              <a:solidFill>
                <a:srgbClr val="273239"/>
              </a:solidFill>
              <a:latin typeface="Times New Roman" panose="02020603050405020304" pitchFamily="18" charset="0"/>
              <a:cs typeface="Times New Roman" panose="02020603050405020304" pitchFamily="18" charset="0"/>
            </a:endParaRPr>
          </a:p>
          <a:p>
            <a:r>
              <a:rPr lang="en-US" altLang="en-US" sz="2400" b="1" dirty="0">
                <a:solidFill>
                  <a:srgbClr val="273239"/>
                </a:solidFill>
                <a:latin typeface="Times New Roman" panose="02020603050405020304" pitchFamily="18" charset="0"/>
                <a:cs typeface="Times New Roman" panose="02020603050405020304" pitchFamily="18" charset="0"/>
              </a:rPr>
              <a:t> 3. Design:</a:t>
            </a:r>
            <a:r>
              <a:rPr lang="en-US" altLang="en-US" sz="2400" dirty="0">
                <a:solidFill>
                  <a:srgbClr val="273239"/>
                </a:solidFill>
                <a:latin typeface="Times New Roman" panose="02020603050405020304" pitchFamily="18" charset="0"/>
                <a:cs typeface="Times New Roman" panose="02020603050405020304" pitchFamily="18" charset="0"/>
              </a:rPr>
              <a:t> In this phase, the software design is created, which includes the overall architecture of the software, data structures, and interfaces. It has two steps:</a:t>
            </a:r>
          </a:p>
          <a:p>
            <a:pPr>
              <a:buFont typeface="Arial" panose="020B0604020202020204" pitchFamily="34" charset="0"/>
              <a:buChar char="•"/>
            </a:pPr>
            <a:r>
              <a:rPr lang="en-US" altLang="en-US" sz="2400" b="1" dirty="0">
                <a:solidFill>
                  <a:srgbClr val="273239"/>
                </a:solidFill>
                <a:latin typeface="Times New Roman" panose="02020603050405020304" pitchFamily="18" charset="0"/>
                <a:cs typeface="Times New Roman" panose="02020603050405020304" pitchFamily="18" charset="0"/>
              </a:rPr>
              <a:t>High-level design (HLD):</a:t>
            </a:r>
            <a:r>
              <a:rPr lang="en-US" altLang="en-US" sz="2400" dirty="0">
                <a:solidFill>
                  <a:srgbClr val="273239"/>
                </a:solidFill>
                <a:latin typeface="Times New Roman" panose="02020603050405020304" pitchFamily="18" charset="0"/>
                <a:cs typeface="Times New Roman" panose="02020603050405020304" pitchFamily="18" charset="0"/>
              </a:rPr>
              <a:t> It gives the architecture of software products.</a:t>
            </a:r>
          </a:p>
          <a:p>
            <a:pPr>
              <a:buFont typeface="Arial" panose="020B0604020202020204" pitchFamily="34" charset="0"/>
              <a:buChar char="•"/>
            </a:pPr>
            <a:r>
              <a:rPr lang="en-US" altLang="en-US" sz="2400" b="1" dirty="0">
                <a:solidFill>
                  <a:srgbClr val="273239"/>
                </a:solidFill>
                <a:latin typeface="Times New Roman" panose="02020603050405020304" pitchFamily="18" charset="0"/>
                <a:cs typeface="Times New Roman" panose="02020603050405020304" pitchFamily="18" charset="0"/>
              </a:rPr>
              <a:t>Low-level design (LLD):</a:t>
            </a:r>
            <a:r>
              <a:rPr lang="en-US" altLang="en-US" sz="2400" dirty="0">
                <a:solidFill>
                  <a:srgbClr val="273239"/>
                </a:solidFill>
                <a:latin typeface="Times New Roman" panose="02020603050405020304" pitchFamily="18" charset="0"/>
                <a:cs typeface="Times New Roman" panose="02020603050405020304" pitchFamily="18" charset="0"/>
              </a:rPr>
              <a:t> It describes how every feature and component of the product should work.</a:t>
            </a:r>
          </a:p>
          <a:p>
            <a:r>
              <a:rPr lang="en-US" altLang="en-US" sz="2400" b="1" dirty="0">
                <a:solidFill>
                  <a:srgbClr val="273239"/>
                </a:solidFill>
                <a:latin typeface="Times New Roman" panose="02020603050405020304" pitchFamily="18" charset="0"/>
                <a:cs typeface="Times New Roman" panose="02020603050405020304" pitchFamily="18" charset="0"/>
              </a:rPr>
              <a:t>4. Implementation or coding:</a:t>
            </a:r>
            <a:r>
              <a:rPr lang="en-US" altLang="en-US" sz="2400" dirty="0">
                <a:solidFill>
                  <a:srgbClr val="273239"/>
                </a:solidFill>
                <a:latin typeface="Times New Roman" panose="02020603050405020304" pitchFamily="18" charset="0"/>
                <a:cs typeface="Times New Roman" panose="02020603050405020304" pitchFamily="18" charset="0"/>
              </a:rPr>
              <a:t> The design is then implemented in code, usually in several iterations, and this phase is also called as Development.</a:t>
            </a:r>
          </a:p>
          <a:p>
            <a:r>
              <a:rPr lang="en-US" altLang="en-US" sz="2400" dirty="0">
                <a:solidFill>
                  <a:srgbClr val="273239"/>
                </a:solidFill>
                <a:latin typeface="Times New Roman" panose="02020603050405020304" pitchFamily="18" charset="0"/>
                <a:cs typeface="Times New Roman" panose="02020603050405020304" pitchFamily="18" charset="0"/>
              </a:rPr>
              <a:t>things you need to know about this phase:</a:t>
            </a:r>
          </a:p>
          <a:p>
            <a:pPr>
              <a:buFont typeface="Arial" panose="020B0604020202020204" pitchFamily="34" charset="0"/>
              <a:buChar char="•"/>
            </a:pPr>
            <a:r>
              <a:rPr lang="en-US" altLang="en-US" sz="2400" dirty="0">
                <a:solidFill>
                  <a:srgbClr val="273239"/>
                </a:solidFill>
                <a:latin typeface="Times New Roman" panose="02020603050405020304" pitchFamily="18" charset="0"/>
                <a:cs typeface="Times New Roman" panose="02020603050405020304" pitchFamily="18" charset="0"/>
              </a:rPr>
              <a:t>This is the longest phase in the SDLC model.</a:t>
            </a:r>
          </a:p>
          <a:p>
            <a:pPr>
              <a:buFont typeface="Arial" panose="020B0604020202020204" pitchFamily="34" charset="0"/>
              <a:buChar char="•"/>
            </a:pPr>
            <a:r>
              <a:rPr lang="en-US" altLang="en-US" sz="2400" dirty="0">
                <a:solidFill>
                  <a:srgbClr val="273239"/>
                </a:solidFill>
                <a:latin typeface="Times New Roman" panose="02020603050405020304" pitchFamily="18" charset="0"/>
                <a:cs typeface="Times New Roman" panose="02020603050405020304" pitchFamily="18" charset="0"/>
              </a:rPr>
              <a:t>This phase consists of Front end + Middleware + Back-end.</a:t>
            </a:r>
          </a:p>
          <a:p>
            <a:pPr>
              <a:buFont typeface="Arial" panose="020B0604020202020204" pitchFamily="34" charset="0"/>
              <a:buChar char="•"/>
            </a:pPr>
            <a:r>
              <a:rPr lang="en-US" altLang="en-US" sz="2400" b="1" dirty="0">
                <a:solidFill>
                  <a:srgbClr val="273239"/>
                </a:solidFill>
                <a:latin typeface="Times New Roman" panose="02020603050405020304" pitchFamily="18" charset="0"/>
                <a:cs typeface="Times New Roman" panose="02020603050405020304" pitchFamily="18" charset="0"/>
              </a:rPr>
              <a:t>In front-end: </a:t>
            </a:r>
            <a:r>
              <a:rPr lang="en-US" altLang="en-US" sz="2400" dirty="0">
                <a:solidFill>
                  <a:srgbClr val="273239"/>
                </a:solidFill>
                <a:latin typeface="Times New Roman" panose="02020603050405020304" pitchFamily="18" charset="0"/>
                <a:cs typeface="Times New Roman" panose="02020603050405020304" pitchFamily="18" charset="0"/>
              </a:rPr>
              <a:t>Coding development is done even SEO settings are done.</a:t>
            </a:r>
          </a:p>
          <a:p>
            <a:pPr>
              <a:buFont typeface="Arial" panose="020B0604020202020204" pitchFamily="34" charset="0"/>
              <a:buChar char="•"/>
            </a:pPr>
            <a:r>
              <a:rPr lang="en-US" altLang="en-US" sz="2400" b="1" dirty="0">
                <a:solidFill>
                  <a:srgbClr val="273239"/>
                </a:solidFill>
                <a:latin typeface="Times New Roman" panose="02020603050405020304" pitchFamily="18" charset="0"/>
                <a:cs typeface="Times New Roman" panose="02020603050405020304" pitchFamily="18" charset="0"/>
              </a:rPr>
              <a:t>In Middleware:</a:t>
            </a:r>
            <a:r>
              <a:rPr lang="en-US" altLang="en-US" sz="2400" dirty="0">
                <a:solidFill>
                  <a:srgbClr val="273239"/>
                </a:solidFill>
                <a:latin typeface="Times New Roman" panose="02020603050405020304" pitchFamily="18" charset="0"/>
                <a:cs typeface="Times New Roman" panose="02020603050405020304" pitchFamily="18" charset="0"/>
              </a:rPr>
              <a:t> They connect both the front end and back end.</a:t>
            </a:r>
          </a:p>
          <a:p>
            <a:pPr>
              <a:buFont typeface="Arial" panose="020B0604020202020204" pitchFamily="34" charset="0"/>
              <a:buChar char="•"/>
            </a:pPr>
            <a:r>
              <a:rPr lang="en-US" altLang="en-US" sz="2400" b="1" dirty="0">
                <a:solidFill>
                  <a:srgbClr val="273239"/>
                </a:solidFill>
                <a:latin typeface="Times New Roman" panose="02020603050405020304" pitchFamily="18" charset="0"/>
                <a:cs typeface="Times New Roman" panose="02020603050405020304" pitchFamily="18" charset="0"/>
              </a:rPr>
              <a:t>In the back-end:</a:t>
            </a:r>
            <a:r>
              <a:rPr lang="en-US" altLang="en-US" sz="2400" dirty="0">
                <a:solidFill>
                  <a:srgbClr val="273239"/>
                </a:solidFill>
                <a:latin typeface="Times New Roman" panose="02020603050405020304" pitchFamily="18" charset="0"/>
                <a:cs typeface="Times New Roman" panose="02020603050405020304" pitchFamily="18" charset="0"/>
              </a:rPr>
              <a:t> A database is created.</a:t>
            </a:r>
          </a:p>
        </p:txBody>
      </p:sp>
    </p:spTree>
    <p:extLst>
      <p:ext uri="{BB962C8B-B14F-4D97-AF65-F5344CB8AC3E}">
        <p14:creationId xmlns:p14="http://schemas.microsoft.com/office/powerpoint/2010/main" val="840110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F0F655-432A-6E7D-4B77-95E4549F2D8F}"/>
              </a:ext>
            </a:extLst>
          </p:cNvPr>
          <p:cNvSpPr txBox="1"/>
          <p:nvPr/>
        </p:nvSpPr>
        <p:spPr>
          <a:xfrm>
            <a:off x="1228953" y="1999668"/>
            <a:ext cx="10226649" cy="3970318"/>
          </a:xfrm>
          <a:prstGeom prst="rect">
            <a:avLst/>
          </a:prstGeom>
          <a:noFill/>
        </p:spPr>
        <p:txBody>
          <a:bodyPr wrap="square">
            <a:spAutoFit/>
          </a:bodyPr>
          <a:lstStyle/>
          <a:p>
            <a:r>
              <a:rPr lang="en-US" altLang="en-US" sz="2800" b="1" dirty="0">
                <a:solidFill>
                  <a:srgbClr val="273239"/>
                </a:solidFill>
                <a:latin typeface="Times New Roman" panose="02020603050405020304" pitchFamily="18" charset="0"/>
                <a:cs typeface="Times New Roman" panose="02020603050405020304" pitchFamily="18" charset="0"/>
              </a:rPr>
              <a:t>5. Testing: </a:t>
            </a:r>
            <a:r>
              <a:rPr lang="en-US" altLang="en-US" sz="2800" dirty="0">
                <a:solidFill>
                  <a:srgbClr val="273239"/>
                </a:solidFill>
                <a:latin typeface="Times New Roman" panose="02020603050405020304" pitchFamily="18" charset="0"/>
                <a:cs typeface="Times New Roman" panose="02020603050405020304" pitchFamily="18" charset="0"/>
              </a:rPr>
              <a:t>The software is thoroughly tested to ensure that it meets the requirements and works correctly.</a:t>
            </a:r>
          </a:p>
          <a:p>
            <a:r>
              <a:rPr lang="en-US" altLang="en-US" sz="2800" b="1" dirty="0">
                <a:solidFill>
                  <a:srgbClr val="273239"/>
                </a:solidFill>
                <a:latin typeface="Times New Roman" panose="02020603050405020304" pitchFamily="18" charset="0"/>
                <a:cs typeface="Times New Roman" panose="02020603050405020304" pitchFamily="18" charset="0"/>
              </a:rPr>
              <a:t>6. Deployment:</a:t>
            </a:r>
            <a:r>
              <a:rPr lang="en-US" altLang="en-US" sz="2800" dirty="0">
                <a:solidFill>
                  <a:srgbClr val="273239"/>
                </a:solidFill>
                <a:latin typeface="Times New Roman" panose="02020603050405020304" pitchFamily="18" charset="0"/>
                <a:cs typeface="Times New Roman" panose="02020603050405020304" pitchFamily="18" charset="0"/>
              </a:rPr>
              <a:t> After successful testing, The software is deployed to a production environment and made available to end-users.</a:t>
            </a:r>
          </a:p>
          <a:p>
            <a:r>
              <a:rPr lang="en-US" altLang="en-US" sz="2800" dirty="0">
                <a:solidFill>
                  <a:srgbClr val="273239"/>
                </a:solidFill>
                <a:latin typeface="Times New Roman" panose="02020603050405020304" pitchFamily="18" charset="0"/>
                <a:cs typeface="Times New Roman" panose="02020603050405020304" pitchFamily="18" charset="0"/>
              </a:rPr>
              <a:t> </a:t>
            </a:r>
            <a:r>
              <a:rPr lang="en-US" altLang="en-US" sz="2800" b="1" dirty="0">
                <a:solidFill>
                  <a:srgbClr val="273239"/>
                </a:solidFill>
                <a:latin typeface="Times New Roman" panose="02020603050405020304" pitchFamily="18" charset="0"/>
                <a:cs typeface="Times New Roman" panose="02020603050405020304" pitchFamily="18" charset="0"/>
              </a:rPr>
              <a:t>7. Maintenance: </a:t>
            </a:r>
            <a:r>
              <a:rPr lang="en-US" altLang="en-US" sz="2800" dirty="0">
                <a:solidFill>
                  <a:srgbClr val="273239"/>
                </a:solidFill>
                <a:latin typeface="Times New Roman" panose="02020603050405020304" pitchFamily="18" charset="0"/>
                <a:cs typeface="Times New Roman" panose="02020603050405020304" pitchFamily="18" charset="0"/>
              </a:rPr>
              <a:t>This phase includes ongoing support, bug fixes, and updates to the software.</a:t>
            </a:r>
          </a:p>
          <a:p>
            <a:r>
              <a:rPr lang="en-US" altLang="en-US" sz="2800" dirty="0">
                <a:solidFill>
                  <a:srgbClr val="273239"/>
                </a:solidFill>
                <a:latin typeface="Times New Roman" panose="02020603050405020304" pitchFamily="18" charset="0"/>
                <a:cs typeface="Times New Roman" panose="02020603050405020304" pitchFamily="18" charset="0"/>
              </a:rPr>
              <a:t>There are </a:t>
            </a:r>
            <a:r>
              <a:rPr lang="en-US" altLang="en-US" sz="2800" b="1" dirty="0">
                <a:solidFill>
                  <a:srgbClr val="273239"/>
                </a:solidFill>
                <a:latin typeface="Times New Roman" panose="02020603050405020304" pitchFamily="18" charset="0"/>
                <a:cs typeface="Times New Roman" panose="02020603050405020304" pitchFamily="18" charset="0"/>
              </a:rPr>
              <a:t>different </a:t>
            </a:r>
            <a:r>
              <a:rPr lang="en-US" altLang="en-US" sz="2800" b="1" u="sng" dirty="0">
                <a:solidFill>
                  <a:srgbClr val="273239"/>
                </a:solidFill>
                <a:latin typeface="Times New Roman" panose="02020603050405020304" pitchFamily="18" charset="0"/>
                <a:cs typeface="Times New Roman" panose="02020603050405020304" pitchFamily="18" charset="0"/>
                <a:hlinkClick r:id="rId2"/>
              </a:rPr>
              <a:t>methodologies</a:t>
            </a:r>
            <a:r>
              <a:rPr lang="en-US" altLang="en-US" sz="2800" dirty="0">
                <a:solidFill>
                  <a:srgbClr val="273239"/>
                </a:solidFill>
                <a:latin typeface="Times New Roman" panose="02020603050405020304" pitchFamily="18" charset="0"/>
                <a:cs typeface="Times New Roman" panose="02020603050405020304" pitchFamily="18" charset="0"/>
              </a:rPr>
              <a:t> that organizations can use to implement the SDLC, such as</a:t>
            </a:r>
            <a:r>
              <a:rPr lang="en-US" altLang="en-US" sz="2800" b="1" dirty="0">
                <a:solidFill>
                  <a:srgbClr val="273239"/>
                </a:solidFill>
                <a:latin typeface="Times New Roman" panose="02020603050405020304" pitchFamily="18" charset="0"/>
                <a:cs typeface="Times New Roman" panose="02020603050405020304" pitchFamily="18" charset="0"/>
              </a:rPr>
              <a:t> Waterfall, Agile, Scrum, V-Model , </a:t>
            </a:r>
            <a:r>
              <a:rPr lang="en-US" altLang="en-US" sz="2800" dirty="0">
                <a:solidFill>
                  <a:srgbClr val="273239"/>
                </a:solidFill>
                <a:latin typeface="Times New Roman" panose="02020603050405020304" pitchFamily="18" charset="0"/>
                <a:cs typeface="Times New Roman" panose="02020603050405020304" pitchFamily="18" charset="0"/>
              </a:rPr>
              <a:t>and</a:t>
            </a:r>
            <a:r>
              <a:rPr lang="en-US" altLang="en-US" sz="2800" b="1" dirty="0">
                <a:solidFill>
                  <a:srgbClr val="273239"/>
                </a:solidFill>
                <a:latin typeface="Times New Roman" panose="02020603050405020304" pitchFamily="18" charset="0"/>
                <a:cs typeface="Times New Roman" panose="02020603050405020304" pitchFamily="18" charset="0"/>
              </a:rPr>
              <a:t> DevOps</a:t>
            </a:r>
            <a:endParaRPr lang="en-US" altLang="en-US" sz="2800" dirty="0">
              <a:solidFill>
                <a:srgbClr val="273239"/>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0206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BFF5A5-95AD-83A4-47D9-17F0E819F90E}"/>
              </a:ext>
            </a:extLst>
          </p:cNvPr>
          <p:cNvSpPr>
            <a:spLocks noGrp="1"/>
          </p:cNvSpPr>
          <p:nvPr>
            <p:ph type="title"/>
          </p:nvPr>
        </p:nvSpPr>
        <p:spPr>
          <a:xfrm>
            <a:off x="838200" y="577901"/>
            <a:ext cx="10515600" cy="409651"/>
          </a:xfrm>
        </p:spPr>
        <p:txBody>
          <a:bodyPr>
            <a:normAutofit fontScale="90000"/>
          </a:bodyPr>
          <a:lstStyle/>
          <a:p>
            <a:r>
              <a:rPr lang="en-US" sz="4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waterfall model</a:t>
            </a:r>
            <a:br>
              <a:rPr lang="en-US" sz="4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4281C1C6-7A92-67C4-85AB-671D0657D293}"/>
              </a:ext>
            </a:extLst>
          </p:cNvPr>
          <p:cNvSpPr>
            <a:spLocks noGrp="1"/>
          </p:cNvSpPr>
          <p:nvPr>
            <p:ph idx="1"/>
          </p:nvPr>
        </p:nvSpPr>
        <p:spPr/>
        <p:txBody>
          <a:bodyPr>
            <a:normAutofit/>
          </a:bodyPr>
          <a:lstStyle/>
          <a:p>
            <a:pPr marL="342900" marR="0" lvl="0" indent="-342900" algn="just">
              <a:lnSpc>
                <a:spcPct val="115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The waterfall is also called the Linear Sequential model, classic life cycle, or Traditional process model.</a:t>
            </a:r>
          </a:p>
          <a:p>
            <a:pPr marL="342900" marR="0" lvl="0" indent="-342900" algn="just">
              <a:lnSpc>
                <a:spcPct val="115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In this model each phase is fully completed before the beginning of the next phase.</a:t>
            </a:r>
          </a:p>
          <a:p>
            <a:pPr marL="342900" marR="0" lvl="0" indent="-342900" algn="just">
              <a:lnSpc>
                <a:spcPct val="115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This model is used for small projects.</a:t>
            </a:r>
          </a:p>
          <a:p>
            <a:pPr marL="342900" marR="0" lvl="0" indent="-342900" algn="just">
              <a:lnSpc>
                <a:spcPct val="115000"/>
              </a:lnSpc>
              <a:spcBef>
                <a:spcPts val="0"/>
              </a:spcBef>
              <a:spcAft>
                <a:spcPts val="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In this model feedback is taken after each phase to ensure the project is on the right path.</a:t>
            </a:r>
          </a:p>
          <a:p>
            <a:pPr marL="342900" marR="0" lvl="0" indent="-342900" algn="just">
              <a:lnSpc>
                <a:spcPct val="115000"/>
              </a:lnSpc>
              <a:spcBef>
                <a:spcPts val="0"/>
              </a:spcBef>
              <a:spcAft>
                <a:spcPts val="1000"/>
              </a:spcAft>
              <a:buFont typeface="+mj-lt"/>
              <a:buAutoNum type="arabicPeriod"/>
            </a:pPr>
            <a:r>
              <a:rPr lang="en-US" dirty="0">
                <a:effectLst/>
                <a:latin typeface="Times New Roman" panose="02020603050405020304" pitchFamily="18" charset="0"/>
                <a:ea typeface="Calibri" panose="020F0502020204030204" pitchFamily="34" charset="0"/>
                <a:cs typeface="Times New Roman" panose="02020603050405020304" pitchFamily="18" charset="0"/>
              </a:rPr>
              <a:t>Testing part starts only after the development is complete.</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260158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Waterfall">
            <a:extLst>
              <a:ext uri="{FF2B5EF4-FFF2-40B4-BE49-F238E27FC236}">
                <a16:creationId xmlns:a16="http://schemas.microsoft.com/office/drawing/2014/main" id="{0E41E285-9201-A37A-7E3C-3B46A567B978}"/>
              </a:ext>
            </a:extLst>
          </p:cNvPr>
          <p:cNvPicPr>
            <a:picLocks noGrp="1"/>
          </p:cNvPicPr>
          <p:nvPr>
            <p:ph idx="1"/>
          </p:nvPr>
        </p:nvPicPr>
        <p:blipFill>
          <a:blip r:embed="rId2"/>
          <a:srcRect/>
          <a:stretch>
            <a:fillRect/>
          </a:stretch>
        </p:blipFill>
        <p:spPr bwMode="auto">
          <a:xfrm>
            <a:off x="1821170" y="541338"/>
            <a:ext cx="8406784" cy="5635625"/>
          </a:xfrm>
          <a:prstGeom prst="rect">
            <a:avLst/>
          </a:prstGeom>
          <a:noFill/>
          <a:ln w="9525">
            <a:noFill/>
            <a:miter lim="800000"/>
            <a:headEnd/>
            <a:tailEnd/>
          </a:ln>
        </p:spPr>
      </p:pic>
    </p:spTree>
    <p:extLst>
      <p:ext uri="{BB962C8B-B14F-4D97-AF65-F5344CB8AC3E}">
        <p14:creationId xmlns:p14="http://schemas.microsoft.com/office/powerpoint/2010/main" val="2865229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C4C2-6625-84AA-DAE4-1A0D106F428D}"/>
              </a:ext>
            </a:extLst>
          </p:cNvPr>
          <p:cNvSpPr>
            <a:spLocks noGrp="1"/>
          </p:cNvSpPr>
          <p:nvPr>
            <p:ph type="title"/>
          </p:nvPr>
        </p:nvSpPr>
        <p:spPr>
          <a:xfrm>
            <a:off x="838200" y="681037"/>
            <a:ext cx="10515600" cy="869785"/>
          </a:xfrm>
        </p:spPr>
        <p:txBody>
          <a:bodyPr>
            <a:normAutofit/>
          </a:bodyPr>
          <a:lstStyle/>
          <a:p>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Phases of the Waterfall Model:</a:t>
            </a:r>
            <a:br>
              <a:rPr lang="en-US" sz="2400" dirty="0">
                <a:effectLst/>
                <a:latin typeface="Calibri" panose="020F0502020204030204" pitchFamily="34" charset="0"/>
                <a:ea typeface="Calibri" panose="020F0502020204030204" pitchFamily="34" charset="0"/>
                <a:cs typeface="Times New Roman" panose="02020603050405020304" pitchFamily="18" charset="0"/>
              </a:rPr>
            </a:br>
            <a:endParaRPr lang="en-US" sz="2400" dirty="0"/>
          </a:p>
        </p:txBody>
      </p:sp>
      <p:sp>
        <p:nvSpPr>
          <p:cNvPr id="3" name="Content Placeholder 2">
            <a:extLst>
              <a:ext uri="{FF2B5EF4-FFF2-40B4-BE49-F238E27FC236}">
                <a16:creationId xmlns:a16="http://schemas.microsoft.com/office/drawing/2014/main" id="{4E772576-92AC-F7E9-3A98-F01A72DEB11F}"/>
              </a:ext>
            </a:extLst>
          </p:cNvPr>
          <p:cNvSpPr>
            <a:spLocks noGrp="1"/>
          </p:cNvSpPr>
          <p:nvPr>
            <p:ph idx="1"/>
          </p:nvPr>
        </p:nvSpPr>
        <p:spPr/>
        <p:txBody>
          <a:bodyPr/>
          <a:lstStyle/>
          <a:p>
            <a:pPr marL="0" marR="0" lvl="0" indent="0" algn="l">
              <a:lnSpc>
                <a:spcPct val="115000"/>
              </a:lnSpc>
              <a:spcBef>
                <a:spcPts val="0"/>
              </a:spcBef>
              <a:spcAft>
                <a:spcPts val="1000"/>
              </a:spcAft>
              <a:buNone/>
              <a:tabLst>
                <a:tab pos="457200" algn="l"/>
              </a:tabLst>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Communication</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Planning</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Modeling</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Construction</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32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Deployment</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5302355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14F5CB-10B3-8B8C-FE45-C7DADCAD51C7}"/>
              </a:ext>
            </a:extLst>
          </p:cNvPr>
          <p:cNvSpPr>
            <a:spLocks noGrp="1"/>
          </p:cNvSpPr>
          <p:nvPr>
            <p:ph idx="1"/>
          </p:nvPr>
        </p:nvSpPr>
        <p:spPr>
          <a:xfrm>
            <a:off x="838200" y="585216"/>
            <a:ext cx="10515600" cy="5591747"/>
          </a:xfrm>
        </p:spPr>
        <p:txBody>
          <a:bodyPr/>
          <a:lstStyle/>
          <a:p>
            <a:pPr marL="0" marR="0" algn="ctr">
              <a:lnSpc>
                <a:spcPct val="115000"/>
              </a:lnSpc>
              <a:spcBef>
                <a:spcPts val="0"/>
              </a:spcBef>
              <a:spcAft>
                <a:spcPts val="1250"/>
              </a:spcAft>
            </a:pPr>
            <a:r>
              <a:rPr lang="en-US" b="1"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1. Communication</a:t>
            </a:r>
            <a:endParaRPr lang="en-US" b="1" dirty="0">
              <a:solidFill>
                <a:srgbClr val="4F81BD"/>
              </a:solidFill>
              <a:effectLst/>
              <a:latin typeface="Cambria" panose="02040503050406030204" pitchFamily="18" charset="0"/>
              <a:ea typeface="Times New Roman" panose="02020603050405020304" pitchFamily="18" charset="0"/>
              <a:cs typeface="Mangal" panose="02040503050203030202" pitchFamily="18" charset="0"/>
            </a:endParaRPr>
          </a:p>
          <a:p>
            <a:pPr marL="0" marR="0">
              <a:spcBef>
                <a:spcPts val="0"/>
              </a:spcBef>
              <a:spcAft>
                <a:spcPts val="2035"/>
              </a:spcAft>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the communication phase, the major task performed is requirement gathering which helps in finding out the exact needs of the customer. Once all the needs of the customer are gathered the next step is planning.</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Planning</a:t>
            </a:r>
            <a:endParaRPr lang="en-US"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planning major activities like planning for schedule, keeping track on the processes, and the estimation related to the project are done. Planning is even used to find the types of risks involved throughout the projects.  Planning describes how technical tasks are going to take place and what resources are needed and how to use them.</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841123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1941C1-8FC1-66C5-E070-2897E7FF7F22}"/>
              </a:ext>
            </a:extLst>
          </p:cNvPr>
          <p:cNvSpPr>
            <a:spLocks noGrp="1"/>
          </p:cNvSpPr>
          <p:nvPr>
            <p:ph idx="1"/>
          </p:nvPr>
        </p:nvSpPr>
        <p:spPr>
          <a:xfrm>
            <a:off x="838200" y="336499"/>
            <a:ext cx="10515600" cy="5840464"/>
          </a:xfrm>
        </p:spPr>
        <p:txBody>
          <a:bodyPr>
            <a:normAutofit lnSpcReduction="10000"/>
          </a:bodyPr>
          <a:lstStyle/>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Modeling</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is one of the important phases of the architecture of the system is designed in this phase. An analysis is carried out and depending on the analysis a software model is designed. Different models for developing software are created depending on the requirements gathered in the first phase and the planning done in the second phase.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Construction</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actual coding of the software is done in this phase. This coding is done based on the model designed in the modeling phase. So, in this phase software is developed and tested.</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Deployment</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last phase, the product is rolled out or delivered &amp; installed at the customer’s end and support is given if required. Feedback is taken from the customer to ensure the quality of the product.</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7982255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FD1A64-F8EA-2A06-872B-67D6760B9DFE}"/>
              </a:ext>
            </a:extLst>
          </p:cNvPr>
          <p:cNvSpPr>
            <a:spLocks noGrp="1"/>
          </p:cNvSpPr>
          <p:nvPr>
            <p:ph idx="1"/>
          </p:nvPr>
        </p:nvSpPr>
        <p:spPr>
          <a:xfrm>
            <a:off x="838200" y="431597"/>
            <a:ext cx="10515600" cy="5745366"/>
          </a:xfrm>
        </p:spPr>
        <p:txBody>
          <a:bodyPr/>
          <a:lstStyle/>
          <a:p>
            <a:pPr marL="0" marR="0">
              <a:spcBef>
                <a:spcPts val="0"/>
              </a:spcBef>
              <a:spcAft>
                <a:spcPts val="1250"/>
              </a:spcAft>
            </a:pPr>
            <a:r>
              <a:rPr lang="en-US" sz="3200" b="1" dirty="0">
                <a:solidFill>
                  <a:srgbClr val="000000"/>
                </a:solidFill>
                <a:effectLst/>
                <a:latin typeface="Times New Roman" panose="02020603050405020304" pitchFamily="18" charset="0"/>
                <a:ea typeface="Times New Roman" panose="02020603050405020304" pitchFamily="18" charset="0"/>
              </a:rPr>
              <a:t>Advantages of the Waterfall Model</a:t>
            </a:r>
            <a:endParaRPr lang="en-US" sz="3200" b="1" dirty="0">
              <a:effectLst/>
              <a:latin typeface="Times New Roman" panose="02020603050405020304" pitchFamily="18" charset="0"/>
              <a:ea typeface="Times New Roman" panose="02020603050405020304" pitchFamily="18" charset="0"/>
            </a:endParaRPr>
          </a:p>
          <a:p>
            <a:pPr marL="0" marR="0">
              <a:spcBef>
                <a:spcPts val="0"/>
              </a:spcBef>
              <a:spcAft>
                <a:spcPts val="2035"/>
              </a:spcAft>
            </a:pPr>
            <a:r>
              <a:rPr lang="en-US" sz="3200" dirty="0">
                <a:solidFill>
                  <a:srgbClr val="000000"/>
                </a:solidFill>
                <a:effectLst/>
                <a:latin typeface="Times New Roman" panose="02020603050405020304" pitchFamily="18" charset="0"/>
                <a:ea typeface="Times New Roman" panose="02020603050405020304" pitchFamily="18" charset="0"/>
              </a:rPr>
              <a:t>1. The waterfall model is simple and easy to understand, implement, and use.</a:t>
            </a:r>
            <a:endParaRPr lang="en-US" sz="3200" dirty="0">
              <a:effectLst/>
              <a:latin typeface="Times New Roman" panose="02020603050405020304" pitchFamily="18" charset="0"/>
              <a:ea typeface="Times New Roman" panose="02020603050405020304" pitchFamily="18" charset="0"/>
            </a:endParaRPr>
          </a:p>
          <a:p>
            <a:pPr marL="0" marR="0">
              <a:spcBef>
                <a:spcPts val="0"/>
              </a:spcBef>
              <a:spcAft>
                <a:spcPts val="2035"/>
              </a:spcAft>
            </a:pPr>
            <a:r>
              <a:rPr lang="en-US" sz="3200" dirty="0">
                <a:solidFill>
                  <a:srgbClr val="000000"/>
                </a:solidFill>
                <a:effectLst/>
                <a:latin typeface="Times New Roman" panose="02020603050405020304" pitchFamily="18" charset="0"/>
                <a:ea typeface="Times New Roman" panose="02020603050405020304" pitchFamily="18" charset="0"/>
              </a:rPr>
              <a:t>2. All the requirements are known at the beginning of the project hence it is easy to manage.</a:t>
            </a:r>
            <a:endParaRPr lang="en-US" sz="3200" dirty="0">
              <a:effectLst/>
              <a:latin typeface="Times New Roman" panose="02020603050405020304" pitchFamily="18" charset="0"/>
              <a:ea typeface="Times New Roman" panose="02020603050405020304" pitchFamily="18" charset="0"/>
            </a:endParaRPr>
          </a:p>
          <a:p>
            <a:pPr marL="0" marR="0">
              <a:spcBef>
                <a:spcPts val="0"/>
              </a:spcBef>
              <a:spcAft>
                <a:spcPts val="1250"/>
              </a:spcAft>
            </a:pPr>
            <a:r>
              <a:rPr lang="en-US" sz="3200" b="1" dirty="0">
                <a:solidFill>
                  <a:srgbClr val="000000"/>
                </a:solidFill>
                <a:effectLst/>
                <a:latin typeface="Times New Roman" panose="02020603050405020304" pitchFamily="18" charset="0"/>
                <a:ea typeface="Times New Roman" panose="02020603050405020304" pitchFamily="18" charset="0"/>
              </a:rPr>
              <a:t>Disadvantages of Waterfall Model</a:t>
            </a:r>
            <a:endParaRPr lang="en-US" sz="3200" b="1" dirty="0">
              <a:effectLst/>
              <a:latin typeface="Times New Roman" panose="02020603050405020304" pitchFamily="18" charset="0"/>
              <a:ea typeface="Times New Roman" panose="02020603050405020304" pitchFamily="18" charset="0"/>
            </a:endParaRPr>
          </a:p>
          <a:p>
            <a:pPr marL="0" marR="0">
              <a:spcBef>
                <a:spcPts val="0"/>
              </a:spcBef>
              <a:spcAft>
                <a:spcPts val="1250"/>
              </a:spcAft>
            </a:pPr>
            <a:r>
              <a:rPr lang="en-US" sz="3200" b="0" dirty="0">
                <a:solidFill>
                  <a:srgbClr val="000000"/>
                </a:solidFill>
                <a:effectLst/>
                <a:latin typeface="Times New Roman" panose="02020603050405020304" pitchFamily="18" charset="0"/>
                <a:ea typeface="Times New Roman" panose="02020603050405020304" pitchFamily="18" charset="0"/>
              </a:rPr>
              <a:t>1. This model is not good for complex and object-oriented projects</a:t>
            </a:r>
            <a:r>
              <a:rPr lang="en-US" sz="3200" b="1" dirty="0">
                <a:solidFill>
                  <a:srgbClr val="000000"/>
                </a:solidFill>
                <a:effectLst/>
                <a:latin typeface="Times New Roman" panose="02020603050405020304" pitchFamily="18" charset="0"/>
                <a:ea typeface="Times New Roman" panose="02020603050405020304" pitchFamily="18" charset="0"/>
              </a:rPr>
              <a:t>.</a:t>
            </a:r>
            <a:endParaRPr lang="en-US" sz="3200" b="1" dirty="0">
              <a:effectLst/>
              <a:latin typeface="Times New Roman" panose="02020603050405020304" pitchFamily="18" charset="0"/>
              <a:ea typeface="Times New Roman" panose="02020603050405020304" pitchFamily="18" charset="0"/>
            </a:endParaRPr>
          </a:p>
          <a:p>
            <a:pPr marL="0" marR="0">
              <a:spcBef>
                <a:spcPts val="0"/>
              </a:spcBef>
              <a:spcAft>
                <a:spcPts val="1250"/>
              </a:spcAft>
            </a:pPr>
            <a:r>
              <a:rPr lang="en-US" sz="3200" b="1" dirty="0">
                <a:solidFill>
                  <a:srgbClr val="000000"/>
                </a:solidFill>
                <a:effectLst/>
                <a:latin typeface="Times New Roman" panose="02020603050405020304" pitchFamily="18" charset="0"/>
                <a:ea typeface="Times New Roman" panose="02020603050405020304" pitchFamily="18" charset="0"/>
              </a:rPr>
              <a:t>2. </a:t>
            </a:r>
            <a:r>
              <a:rPr lang="en-US" sz="3200" b="0" dirty="0">
                <a:solidFill>
                  <a:srgbClr val="000000"/>
                </a:solidFill>
                <a:effectLst/>
                <a:latin typeface="Times New Roman" panose="02020603050405020304" pitchFamily="18" charset="0"/>
                <a:ea typeface="Times New Roman" panose="02020603050405020304" pitchFamily="18" charset="0"/>
              </a:rPr>
              <a:t>It is a poor model for long projects.</a:t>
            </a:r>
            <a:endParaRPr lang="en-US" sz="3200" b="1" dirty="0">
              <a:effectLst/>
              <a:latin typeface="Times New Roman" panose="02020603050405020304" pitchFamily="18" charset="0"/>
              <a:ea typeface="Times New Roman" panose="02020603050405020304" pitchFamily="18" charset="0"/>
            </a:endParaRPr>
          </a:p>
          <a:p>
            <a:endParaRPr lang="en-US" dirty="0"/>
          </a:p>
        </p:txBody>
      </p:sp>
    </p:spTree>
    <p:extLst>
      <p:ext uri="{BB962C8B-B14F-4D97-AF65-F5344CB8AC3E}">
        <p14:creationId xmlns:p14="http://schemas.microsoft.com/office/powerpoint/2010/main" val="17473176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ED66B-6451-13FF-F930-458DDFA27AB5}"/>
              </a:ext>
            </a:extLst>
          </p:cNvPr>
          <p:cNvSpPr>
            <a:spLocks noGrp="1"/>
          </p:cNvSpPr>
          <p:nvPr>
            <p:ph type="title"/>
          </p:nvPr>
        </p:nvSpPr>
        <p:spPr>
          <a:xfrm>
            <a:off x="838200" y="570586"/>
            <a:ext cx="10515600" cy="577900"/>
          </a:xfrm>
        </p:spPr>
        <p:txBody>
          <a:bodyPr>
            <a:normAutofit fontScale="90000"/>
          </a:bodyPr>
          <a:lstStyle/>
          <a:p>
            <a:r>
              <a:rPr lang="en-US" sz="2800" b="1" u="sng" dirty="0">
                <a:solidFill>
                  <a:srgbClr val="000000"/>
                </a:solidFill>
                <a:effectLst/>
                <a:latin typeface="Times New Roman" panose="02020603050405020304" pitchFamily="18" charset="0"/>
                <a:ea typeface="Times New Roman" panose="02020603050405020304" pitchFamily="18" charset="0"/>
              </a:rPr>
              <a:t>Incremental Process Model</a:t>
            </a:r>
            <a:br>
              <a:rPr lang="en-US" sz="1800" b="1"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AEA959F1-F442-BC14-12A2-F61F2E77DC3D}"/>
              </a:ext>
            </a:extLst>
          </p:cNvPr>
          <p:cNvSpPr>
            <a:spLocks noGrp="1"/>
          </p:cNvSpPr>
          <p:nvPr>
            <p:ph idx="1"/>
          </p:nvPr>
        </p:nvSpPr>
        <p:spPr>
          <a:xfrm>
            <a:off x="838200" y="1207008"/>
            <a:ext cx="10624718" cy="5325466"/>
          </a:xfrm>
        </p:spPr>
        <p:txBody>
          <a:bodyPr>
            <a:noAutofit/>
          </a:bodyPr>
          <a:lstStyle/>
          <a:p>
            <a:pPr marL="0" marR="0" indent="0">
              <a:spcBef>
                <a:spcPts val="0"/>
              </a:spcBef>
              <a:spcAft>
                <a:spcPts val="2035"/>
              </a:spcAft>
              <a:buNone/>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The incremental model in software engineering is one such which combines the elements of the waterfall model iteratively. </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spcAft>
                <a:spcPts val="2035"/>
              </a:spcAft>
              <a:buNone/>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It delivers a series of releases called increments that provide progressively more functionality for the client as each increment is delivered.</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spcAft>
                <a:spcPts val="2035"/>
              </a:spcAft>
              <a:buNone/>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The first increment in this model is generally a core product.</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spcAft>
                <a:spcPts val="2035"/>
              </a:spcAft>
              <a:buNone/>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Each increment builds the product and submits it to the customer for any suggested modifications.</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spcAft>
                <a:spcPts val="2035"/>
              </a:spcAft>
              <a:buNone/>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the next increment requirements in the previous increment.</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r>
              <a:rPr lang="en-US"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6. this process is repeated until the product is finished.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479010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D04CD12-044B-0494-7AFB-D0D5048C4360}"/>
              </a:ext>
            </a:extLst>
          </p:cNvPr>
          <p:cNvSpPr>
            <a:spLocks noGrp="1"/>
          </p:cNvSpPr>
          <p:nvPr>
            <p:ph idx="1"/>
          </p:nvPr>
        </p:nvSpPr>
        <p:spPr>
          <a:xfrm>
            <a:off x="838200" y="943661"/>
            <a:ext cx="10515600" cy="5233302"/>
          </a:xfrm>
        </p:spPr>
        <p:txBody>
          <a:bodyPr>
            <a:normAutofit fontScale="85000" lnSpcReduction="20000"/>
          </a:bodyPr>
          <a:lstStyle/>
          <a:p>
            <a:pPr marL="0" marR="0" indent="0">
              <a:spcBef>
                <a:spcPts val="0"/>
              </a:spcBef>
              <a:spcAft>
                <a:spcPts val="2035"/>
              </a:spcAft>
              <a:buNone/>
            </a:pPr>
            <a:r>
              <a:rPr lang="en-US" sz="3200" dirty="0">
                <a:solidFill>
                  <a:srgbClr val="000000"/>
                </a:solidFill>
                <a:effectLst/>
                <a:latin typeface="Times New Roman" panose="02020603050405020304" pitchFamily="18" charset="0"/>
                <a:ea typeface="Times New Roman" panose="02020603050405020304" pitchFamily="18" charset="0"/>
              </a:rPr>
              <a:t>Iterative Process Like:</a:t>
            </a:r>
            <a:endParaRPr lang="en-US" sz="3200" dirty="0">
              <a:effectLst/>
              <a:latin typeface="Times New Roman" panose="02020603050405020304" pitchFamily="18" charset="0"/>
              <a:ea typeface="Times New Roman" panose="02020603050405020304" pitchFamily="18" charset="0"/>
            </a:endParaRPr>
          </a:p>
          <a:p>
            <a:pPr marL="0" marR="0">
              <a:spcBef>
                <a:spcPts val="0"/>
              </a:spcBef>
              <a:spcAft>
                <a:spcPts val="2035"/>
              </a:spcAft>
            </a:pPr>
            <a:r>
              <a:rPr lang="en-US" sz="3200" dirty="0">
                <a:solidFill>
                  <a:srgbClr val="000000"/>
                </a:solidFill>
                <a:effectLst/>
                <a:latin typeface="Times New Roman" panose="02020603050405020304" pitchFamily="18" charset="0"/>
                <a:ea typeface="Times New Roman" panose="02020603050405020304" pitchFamily="18" charset="0"/>
              </a:rPr>
              <a:t>Developer ------------------</a:t>
            </a:r>
            <a:r>
              <a:rPr lang="en-US" sz="3200" dirty="0">
                <a:solidFill>
                  <a:srgbClr val="000000"/>
                </a:solidFill>
                <a:effectLst/>
                <a:latin typeface="Times New Roman" panose="02020603050405020304" pitchFamily="18" charset="0"/>
                <a:ea typeface="Times New Roman" panose="02020603050405020304" pitchFamily="18" charset="0"/>
                <a:sym typeface="Wingdings" panose="05000000000000000000" pitchFamily="2" charset="2"/>
              </a:rPr>
              <a:t></a:t>
            </a:r>
            <a:r>
              <a:rPr lang="en-US" sz="3200" dirty="0">
                <a:solidFill>
                  <a:srgbClr val="000000"/>
                </a:solidFill>
                <a:effectLst/>
                <a:latin typeface="Times New Roman" panose="02020603050405020304" pitchFamily="18" charset="0"/>
                <a:ea typeface="Times New Roman" panose="02020603050405020304" pitchFamily="18" charset="0"/>
              </a:rPr>
              <a:t>  Customer</a:t>
            </a:r>
            <a:endParaRPr lang="en-US" sz="3200" dirty="0">
              <a:effectLst/>
              <a:latin typeface="Times New Roman" panose="02020603050405020304" pitchFamily="18" charset="0"/>
              <a:ea typeface="Times New Roman" panose="02020603050405020304" pitchFamily="18" charset="0"/>
            </a:endParaRPr>
          </a:p>
          <a:p>
            <a:pPr marL="0" marR="0">
              <a:spcBef>
                <a:spcPts val="0"/>
              </a:spcBef>
              <a:spcAft>
                <a:spcPts val="2035"/>
              </a:spcAft>
            </a:pPr>
            <a:r>
              <a:rPr lang="en-US" sz="3200" dirty="0">
                <a:solidFill>
                  <a:srgbClr val="000000"/>
                </a:solidFill>
                <a:effectLst/>
                <a:latin typeface="Times New Roman" panose="02020603050405020304" pitchFamily="18" charset="0"/>
                <a:ea typeface="Times New Roman" panose="02020603050405020304" pitchFamily="18" charset="0"/>
              </a:rPr>
              <a:t>Customer ------------------</a:t>
            </a:r>
            <a:r>
              <a:rPr lang="en-US" sz="3200" dirty="0">
                <a:solidFill>
                  <a:srgbClr val="000000"/>
                </a:solidFill>
                <a:effectLst/>
                <a:latin typeface="Times New Roman" panose="02020603050405020304" pitchFamily="18" charset="0"/>
                <a:ea typeface="Times New Roman" panose="02020603050405020304" pitchFamily="18" charset="0"/>
                <a:sym typeface="Wingdings" panose="05000000000000000000" pitchFamily="2" charset="2"/>
              </a:rPr>
              <a:t></a:t>
            </a:r>
            <a:r>
              <a:rPr lang="en-US" sz="3200" dirty="0">
                <a:solidFill>
                  <a:srgbClr val="000000"/>
                </a:solidFill>
                <a:effectLst/>
                <a:latin typeface="Times New Roman" panose="02020603050405020304" pitchFamily="18" charset="0"/>
                <a:ea typeface="Times New Roman" panose="02020603050405020304" pitchFamily="18" charset="0"/>
              </a:rPr>
              <a:t>  Developer</a:t>
            </a:r>
            <a:endParaRPr lang="en-US" sz="3200" dirty="0">
              <a:effectLst/>
              <a:latin typeface="Times New Roman" panose="02020603050405020304" pitchFamily="18" charset="0"/>
              <a:ea typeface="Times New Roman" panose="02020603050405020304" pitchFamily="18" charset="0"/>
            </a:endParaRPr>
          </a:p>
          <a:p>
            <a:pPr marL="0" marR="0">
              <a:spcBef>
                <a:spcPts val="0"/>
              </a:spcBef>
              <a:spcAft>
                <a:spcPts val="2035"/>
              </a:spcAft>
            </a:pPr>
            <a:r>
              <a:rPr lang="en-US" sz="3200" dirty="0">
                <a:solidFill>
                  <a:srgbClr val="000000"/>
                </a:solidFill>
                <a:effectLst/>
                <a:latin typeface="Times New Roman" panose="02020603050405020304" pitchFamily="18" charset="0"/>
                <a:ea typeface="Times New Roman" panose="02020603050405020304" pitchFamily="18" charset="0"/>
              </a:rPr>
              <a:t>Developer ------------------</a:t>
            </a:r>
            <a:r>
              <a:rPr lang="en-US" sz="3200" dirty="0">
                <a:solidFill>
                  <a:srgbClr val="000000"/>
                </a:solidFill>
                <a:effectLst/>
                <a:latin typeface="Times New Roman" panose="02020603050405020304" pitchFamily="18" charset="0"/>
                <a:ea typeface="Times New Roman" panose="02020603050405020304" pitchFamily="18" charset="0"/>
                <a:sym typeface="Wingdings" panose="05000000000000000000" pitchFamily="2" charset="2"/>
              </a:rPr>
              <a:t></a:t>
            </a:r>
            <a:r>
              <a:rPr lang="en-US" sz="3200" dirty="0">
                <a:solidFill>
                  <a:srgbClr val="000000"/>
                </a:solidFill>
                <a:effectLst/>
                <a:latin typeface="Times New Roman" panose="02020603050405020304" pitchFamily="18" charset="0"/>
                <a:ea typeface="Times New Roman" panose="02020603050405020304" pitchFamily="18" charset="0"/>
              </a:rPr>
              <a:t>  Customer</a:t>
            </a:r>
            <a:endParaRPr lang="en-US" sz="3200" dirty="0">
              <a:effectLst/>
              <a:latin typeface="Times New Roman" panose="02020603050405020304" pitchFamily="18" charset="0"/>
              <a:ea typeface="Times New Roman" panose="02020603050405020304" pitchFamily="18" charset="0"/>
            </a:endParaRPr>
          </a:p>
          <a:p>
            <a:pPr marL="0" marR="0" algn="l">
              <a:lnSpc>
                <a:spcPct val="115000"/>
              </a:lnSpc>
              <a:spcBef>
                <a:spcPts val="0"/>
              </a:spcBef>
              <a:spcAft>
                <a:spcPts val="1250"/>
              </a:spcAft>
            </a:pPr>
            <a:r>
              <a:rPr lang="en-US" sz="26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Phases of the Incremental Model:</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2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Communication</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2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Planning</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2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Modeling</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2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Construction</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l">
              <a:lnSpc>
                <a:spcPct val="115000"/>
              </a:lnSpc>
              <a:spcBef>
                <a:spcPts val="0"/>
              </a:spcBef>
              <a:spcAft>
                <a:spcPts val="1000"/>
              </a:spcAft>
              <a:buNone/>
              <a:tabLst>
                <a:tab pos="457200" algn="l"/>
              </a:tabLst>
            </a:pPr>
            <a:r>
              <a:rPr lang="en-US" sz="26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Deployment</a:t>
            </a:r>
            <a:endParaRPr lang="en-US" sz="26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8277944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Incremental Model">
            <a:extLst>
              <a:ext uri="{FF2B5EF4-FFF2-40B4-BE49-F238E27FC236}">
                <a16:creationId xmlns:a16="http://schemas.microsoft.com/office/drawing/2014/main" id="{7F879A84-8BAE-ACE7-EC6B-0D86245E3094}"/>
              </a:ext>
            </a:extLst>
          </p:cNvPr>
          <p:cNvPicPr>
            <a:picLocks noGrp="1" noChangeAspect="1"/>
          </p:cNvPicPr>
          <p:nvPr>
            <p:ph idx="1"/>
          </p:nvPr>
        </p:nvPicPr>
        <p:blipFill>
          <a:blip r:embed="rId2"/>
          <a:srcRect/>
          <a:stretch>
            <a:fillRect/>
          </a:stretch>
        </p:blipFill>
        <p:spPr bwMode="auto">
          <a:xfrm>
            <a:off x="1325419" y="914400"/>
            <a:ext cx="9332827" cy="4990817"/>
          </a:xfrm>
          <a:prstGeom prst="rect">
            <a:avLst/>
          </a:prstGeom>
          <a:noFill/>
          <a:ln w="9525">
            <a:noFill/>
            <a:miter lim="800000"/>
            <a:headEnd/>
            <a:tailEnd/>
          </a:ln>
        </p:spPr>
      </p:pic>
    </p:spTree>
    <p:extLst>
      <p:ext uri="{BB962C8B-B14F-4D97-AF65-F5344CB8AC3E}">
        <p14:creationId xmlns:p14="http://schemas.microsoft.com/office/powerpoint/2010/main" val="26607079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BC23C9-5810-8593-3008-7037D960C7C5}"/>
              </a:ext>
            </a:extLst>
          </p:cNvPr>
          <p:cNvSpPr>
            <a:spLocks noGrp="1"/>
          </p:cNvSpPr>
          <p:nvPr>
            <p:ph idx="1"/>
          </p:nvPr>
        </p:nvSpPr>
        <p:spPr>
          <a:xfrm>
            <a:off x="838200" y="534010"/>
            <a:ext cx="10515600" cy="5642953"/>
          </a:xfrm>
        </p:spPr>
        <p:txBody>
          <a:bodyPr/>
          <a:lstStyle/>
          <a:p>
            <a:pPr marL="0" marR="0" algn="ctr">
              <a:lnSpc>
                <a:spcPct val="115000"/>
              </a:lnSpc>
              <a:spcBef>
                <a:spcPts val="0"/>
              </a:spcBef>
              <a:spcAft>
                <a:spcPts val="1250"/>
              </a:spcAft>
            </a:pP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 Communication</a:t>
            </a:r>
            <a:endParaRPr lang="en-US"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the communication phase, the major task performed is requirement gathering which helps in finding out the exact need of the customer. Once all the needs of the customer are gathered the next step is planning.</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2. Planning</a:t>
            </a:r>
            <a:endParaRPr lang="en-US"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planning major activities like planning for schedule, keeping tracks on the processes and the estimation related to the project are done. Planning is even used to find the types of risks involved throughout the projects.  Planning describes how technical tasks are going to take place and what resources are needed and how to use them.</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74796083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79F1C1-7D7C-4996-8CE3-589709629456}"/>
              </a:ext>
            </a:extLst>
          </p:cNvPr>
          <p:cNvSpPr>
            <a:spLocks noGrp="1"/>
          </p:cNvSpPr>
          <p:nvPr>
            <p:ph idx="1"/>
          </p:nvPr>
        </p:nvSpPr>
        <p:spPr>
          <a:xfrm>
            <a:off x="838200" y="226771"/>
            <a:ext cx="10515600" cy="5950192"/>
          </a:xfrm>
        </p:spPr>
        <p:txBody>
          <a:bodyPr>
            <a:normAutofit lnSpcReduction="10000"/>
          </a:bodyPr>
          <a:lstStyle/>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3. Modeling</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is one of the important phases of the architecture of the system is designed in this phase. An analysis is carried out and depending on the analysis a software model is designed. Different models for developing software are created depending on the requirements gathered in the first phase and the planning done in the second phase.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4. Construction</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The actual coding of the software is done in this phase. This coding is done based on the model designed in the modeling phase. So, in this phase software is developed and tested.</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ct val="115000"/>
              </a:lnSpc>
              <a:spcBef>
                <a:spcPts val="0"/>
              </a:spcBef>
              <a:spcAft>
                <a:spcPts val="1250"/>
              </a:spcAft>
            </a:pPr>
            <a:r>
              <a:rPr lang="en-US" sz="24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5. Deployment</a:t>
            </a: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2035"/>
              </a:spcAf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this last phase, the product is rolled out or delivered &amp; installed at the customer’s end and support is given if required. Feedback is taken from the customer to ensure the quality of the product.</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684300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04A397-2323-9978-C075-865B8D02774C}"/>
              </a:ext>
            </a:extLst>
          </p:cNvPr>
          <p:cNvSpPr>
            <a:spLocks noGrp="1"/>
          </p:cNvSpPr>
          <p:nvPr>
            <p:ph idx="1"/>
          </p:nvPr>
        </p:nvSpPr>
        <p:spPr>
          <a:xfrm>
            <a:off x="838200" y="526694"/>
            <a:ext cx="10515600" cy="5650269"/>
          </a:xfrm>
        </p:spPr>
        <p:txBody>
          <a:bodyPr/>
          <a:lstStyle/>
          <a:p>
            <a:pPr marL="0" marR="0">
              <a:spcBef>
                <a:spcPts val="0"/>
              </a:spcBef>
              <a:spcAft>
                <a:spcPts val="1250"/>
              </a:spcAft>
            </a:pPr>
            <a:r>
              <a:rPr lang="en-US" sz="3200" b="1" dirty="0">
                <a:solidFill>
                  <a:srgbClr val="000000"/>
                </a:solidFill>
                <a:effectLst/>
                <a:latin typeface="Times New Roman" panose="02020603050405020304" pitchFamily="18" charset="0"/>
                <a:ea typeface="Times New Roman" panose="02020603050405020304" pitchFamily="18" charset="0"/>
              </a:rPr>
              <a:t>Advantages of the Incremental Model</a:t>
            </a:r>
            <a:endParaRPr lang="en-US" sz="3200" b="1"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1250"/>
              </a:spcAft>
              <a:buFont typeface="+mj-lt"/>
              <a:buAutoNum type="arabicPeriod"/>
            </a:pPr>
            <a:r>
              <a:rPr lang="en-US" sz="3200" b="0" dirty="0">
                <a:solidFill>
                  <a:srgbClr val="000000"/>
                </a:solidFill>
                <a:effectLst/>
                <a:latin typeface="Times New Roman" panose="02020603050405020304" pitchFamily="18" charset="0"/>
                <a:ea typeface="Times New Roman" panose="02020603050405020304" pitchFamily="18" charset="0"/>
              </a:rPr>
              <a:t>This model is flexible because the cost of development is low and initial product delivery is faster.</a:t>
            </a:r>
            <a:endParaRPr lang="en-US" sz="3200" b="1"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1250"/>
              </a:spcAft>
              <a:buFont typeface="+mj-lt"/>
              <a:buAutoNum type="arabicPeriod"/>
            </a:pPr>
            <a:r>
              <a:rPr lang="en-US" sz="3200" b="0" dirty="0">
                <a:solidFill>
                  <a:srgbClr val="000000"/>
                </a:solidFill>
                <a:effectLst/>
                <a:latin typeface="Times New Roman" panose="02020603050405020304" pitchFamily="18" charset="0"/>
                <a:ea typeface="Times New Roman" panose="02020603050405020304" pitchFamily="18" charset="0"/>
              </a:rPr>
              <a:t> It is easier to test and debug during the smaller iterative.</a:t>
            </a:r>
            <a:endParaRPr lang="en-US" sz="3200" b="1" dirty="0">
              <a:effectLst/>
              <a:latin typeface="Times New Roman" panose="02020603050405020304" pitchFamily="18" charset="0"/>
              <a:ea typeface="Times New Roman" panose="02020603050405020304" pitchFamily="18" charset="0"/>
            </a:endParaRPr>
          </a:p>
          <a:p>
            <a:pPr marL="0" marR="0">
              <a:spcBef>
                <a:spcPts val="0"/>
              </a:spcBef>
              <a:spcAft>
                <a:spcPts val="1250"/>
              </a:spcAft>
            </a:pPr>
            <a:r>
              <a:rPr lang="en-US" sz="3200" b="1" dirty="0">
                <a:solidFill>
                  <a:srgbClr val="000000"/>
                </a:solidFill>
                <a:effectLst/>
                <a:latin typeface="Times New Roman" panose="02020603050405020304" pitchFamily="18" charset="0"/>
                <a:ea typeface="Times New Roman" panose="02020603050405020304" pitchFamily="18" charset="0"/>
              </a:rPr>
              <a:t>Disadvantages of the Incremental Model</a:t>
            </a:r>
            <a:endParaRPr lang="en-US" sz="3200" b="1"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1250"/>
              </a:spcAft>
              <a:buFont typeface="+mj-lt"/>
              <a:buAutoNum type="arabicPeriod"/>
            </a:pPr>
            <a:r>
              <a:rPr lang="en-US" sz="3200" b="0" dirty="0">
                <a:solidFill>
                  <a:srgbClr val="000000"/>
                </a:solidFill>
                <a:effectLst/>
                <a:latin typeface="Times New Roman" panose="02020603050405020304" pitchFamily="18" charset="0"/>
                <a:ea typeface="Times New Roman" panose="02020603050405020304" pitchFamily="18" charset="0"/>
              </a:rPr>
              <a:t>The cost of the final product only crosses the cost estimate initially.</a:t>
            </a:r>
            <a:endParaRPr lang="en-US" sz="3200" b="1" dirty="0">
              <a:effectLst/>
              <a:latin typeface="Times New Roman" panose="02020603050405020304" pitchFamily="18" charset="0"/>
              <a:ea typeface="Times New Roman" panose="02020603050405020304" pitchFamily="18" charset="0"/>
            </a:endParaRPr>
          </a:p>
          <a:p>
            <a:pPr marL="342900" marR="0" lvl="0" indent="-342900">
              <a:spcBef>
                <a:spcPts val="0"/>
              </a:spcBef>
              <a:spcAft>
                <a:spcPts val="1250"/>
              </a:spcAft>
              <a:buFont typeface="+mj-lt"/>
              <a:buAutoNum type="arabicPeriod"/>
            </a:pPr>
            <a:r>
              <a:rPr lang="en-US" sz="3200" b="0" dirty="0">
                <a:solidFill>
                  <a:srgbClr val="000000"/>
                </a:solidFill>
                <a:effectLst/>
                <a:latin typeface="Times New Roman" panose="02020603050405020304" pitchFamily="18" charset="0"/>
                <a:ea typeface="Times New Roman" panose="02020603050405020304" pitchFamily="18" charset="0"/>
              </a:rPr>
              <a:t>This model requires very clear and complete planning.</a:t>
            </a:r>
            <a:endParaRPr lang="en-US" sz="3200" b="1" dirty="0">
              <a:effectLst/>
              <a:latin typeface="Times New Roman" panose="02020603050405020304" pitchFamily="18" charset="0"/>
              <a:ea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2202522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B18D58-1447-54ED-BECA-1F5A467FDE2B}"/>
              </a:ext>
            </a:extLst>
          </p:cNvPr>
          <p:cNvSpPr>
            <a:spLocks noGrp="1"/>
          </p:cNvSpPr>
          <p:nvPr>
            <p:ph type="title"/>
          </p:nvPr>
        </p:nvSpPr>
        <p:spPr>
          <a:xfrm>
            <a:off x="838200" y="212142"/>
            <a:ext cx="10515600" cy="950976"/>
          </a:xfrm>
        </p:spPr>
        <p:txBody>
          <a:bodyPr>
            <a:normAutofit fontScale="90000"/>
          </a:bodyPr>
          <a:lstStyle/>
          <a:p>
            <a:r>
              <a:rPr lang="en-US" sz="2800" b="1" u="sng" dirty="0">
                <a:solidFill>
                  <a:srgbClr val="000000"/>
                </a:solidFill>
                <a:effectLst/>
                <a:latin typeface="Times New Roman" panose="02020603050405020304" pitchFamily="18" charset="0"/>
                <a:ea typeface="Times New Roman" panose="02020603050405020304" pitchFamily="18" charset="0"/>
              </a:rPr>
              <a:t>Rapid Application Development (RAD) Model:</a:t>
            </a:r>
            <a:br>
              <a:rPr lang="en-US" sz="1800" b="1"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6ECCD8FE-E21A-D8CB-F9D6-2EBC36CD1CA1}"/>
              </a:ext>
            </a:extLst>
          </p:cNvPr>
          <p:cNvSpPr>
            <a:spLocks noGrp="1"/>
          </p:cNvSpPr>
          <p:nvPr>
            <p:ph idx="1"/>
          </p:nvPr>
        </p:nvSpPr>
        <p:spPr>
          <a:xfrm>
            <a:off x="838200" y="1163118"/>
            <a:ext cx="10515600" cy="5013845"/>
          </a:xfrm>
        </p:spPr>
        <p:txBody>
          <a:bodyPr>
            <a:normAutofit lnSpcReduction="10000"/>
          </a:bodyPr>
          <a:lstStyle/>
          <a:p>
            <a:pPr marL="342900" marR="0" lvl="0" indent="-342900" algn="l">
              <a:lnSpc>
                <a:spcPct val="115000"/>
              </a:lnSpc>
              <a:spcBef>
                <a:spcPts val="0"/>
              </a:spcBef>
              <a:spcAft>
                <a:spcPts val="2035"/>
              </a:spcAft>
              <a:buFont typeface="+mj-lt"/>
              <a:buAutoNum type="arabicPeriod"/>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Rapid Application Development (RAD) model is an </a:t>
            </a:r>
            <a:r>
              <a:rPr lang="en-US"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tooltip="Incremental Model"/>
              </a:rPr>
              <a:t>incremental software process model</a:t>
            </a: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that focuses on short development cycle time. </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2035"/>
              </a:spcAft>
              <a:buFont typeface="+mj-lt"/>
              <a:buAutoNum type="arabicPeriod"/>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model is a “high-speed” model that adapts many steps from the waterfall model in which rapid growth is achieved by using a component-based construction approach.</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case if project requirements are well understood, and project scope is well known then RAD process enables a development team to create a fully functional system i.e. software product within a very short period may be in days.</a:t>
            </a:r>
            <a:endParaRPr lang="en-US"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1202009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893C07-FF3F-EE5F-0A7F-EC501E27C373}"/>
              </a:ext>
            </a:extLst>
          </p:cNvPr>
          <p:cNvSpPr>
            <a:spLocks noGrp="1"/>
          </p:cNvSpPr>
          <p:nvPr>
            <p:ph type="title"/>
          </p:nvPr>
        </p:nvSpPr>
        <p:spPr>
          <a:xfrm>
            <a:off x="838200" y="681036"/>
            <a:ext cx="10515600" cy="299201"/>
          </a:xfrm>
        </p:spPr>
        <p:txBody>
          <a:bodyPr>
            <a:normAutofit fontScale="90000"/>
          </a:bodyPr>
          <a:lstStyle/>
          <a:p>
            <a:r>
              <a:rPr lang="en-US" sz="18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RAD model</a:t>
            </a: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like other process models map into the standard and major framework activities.</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pic>
        <p:nvPicPr>
          <p:cNvPr id="4" name="Content Placeholder 3" descr="RAD_Process">
            <a:extLst>
              <a:ext uri="{FF2B5EF4-FFF2-40B4-BE49-F238E27FC236}">
                <a16:creationId xmlns:a16="http://schemas.microsoft.com/office/drawing/2014/main" id="{A01CE085-5C8E-CDD3-E265-323C723DBB3B}"/>
              </a:ext>
            </a:extLst>
          </p:cNvPr>
          <p:cNvPicPr>
            <a:picLocks noGrp="1"/>
          </p:cNvPicPr>
          <p:nvPr>
            <p:ph idx="1"/>
          </p:nvPr>
        </p:nvPicPr>
        <p:blipFill>
          <a:blip r:embed="rId2"/>
          <a:srcRect/>
          <a:stretch>
            <a:fillRect/>
          </a:stretch>
        </p:blipFill>
        <p:spPr>
          <a:xfrm>
            <a:off x="1243584" y="1074738"/>
            <a:ext cx="9926725" cy="5102225"/>
          </a:xfrm>
          <a:prstGeom prst="rect">
            <a:avLst/>
          </a:prstGeom>
          <a:noFill/>
        </p:spPr>
      </p:pic>
    </p:spTree>
    <p:extLst>
      <p:ext uri="{BB962C8B-B14F-4D97-AF65-F5344CB8AC3E}">
        <p14:creationId xmlns:p14="http://schemas.microsoft.com/office/powerpoint/2010/main" val="36141651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C4FB91C-6358-E9EA-8E86-9FFB39B3246E}"/>
              </a:ext>
            </a:extLst>
          </p:cNvPr>
          <p:cNvSpPr>
            <a:spLocks noGrp="1"/>
          </p:cNvSpPr>
          <p:nvPr>
            <p:ph idx="1"/>
          </p:nvPr>
        </p:nvSpPr>
        <p:spPr>
          <a:xfrm>
            <a:off x="838200" y="490118"/>
            <a:ext cx="10515600" cy="5686845"/>
          </a:xfrm>
        </p:spPr>
        <p:txBody>
          <a:bodyPr>
            <a:normAutofit/>
          </a:bodyPr>
          <a:lstStyle/>
          <a:p>
            <a:pPr marL="0" marR="0" algn="l">
              <a:lnSpc>
                <a:spcPct val="115000"/>
              </a:lnSpc>
              <a:spcBef>
                <a:spcPts val="0"/>
              </a:spcBef>
              <a:spcAft>
                <a:spcPts val="1250"/>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Phases Of RAD Model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Communication</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an action which works to understand the business problem and the information characteristics that should be accommodated by the software.</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RAD model </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Planning</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is required because many software teams work in parallel on different system functions.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Modeling</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includes three major phases –</a:t>
            </a:r>
          </a:p>
          <a:p>
            <a:pPr marL="0" marR="0" indent="0" algn="l">
              <a:lnSpc>
                <a:spcPct val="115000"/>
              </a:lnSpc>
              <a:spcBef>
                <a:spcPts val="0"/>
              </a:spcBef>
              <a:spcAft>
                <a:spcPts val="2035"/>
              </a:spcAft>
              <a:buNone/>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1.Business modeling2. Data modeling</a:t>
            </a:r>
            <a:r>
              <a:rPr lang="en-US" sz="2000" dirty="0">
                <a:latin typeface="Times New Roman" panose="02020603050405020304" pitchFamily="18" charset="0"/>
                <a:ea typeface="Calibri" panose="020F0502020204030204" pitchFamily="34" charset="0"/>
                <a:cs typeface="Times New Roman" panose="02020603050405020304" pitchFamily="18" charset="0"/>
              </a:rPr>
              <a:t> 3. </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Process modeling</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Construction</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focuses mainly on the use of existing </a:t>
            </a:r>
            <a:r>
              <a:rPr lang="en-US" sz="2000" u="sng"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hlinkClick r:id="rId2"/>
              </a:rPr>
              <a:t>software components</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and the application of automatic code generation.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l">
              <a:lnSpc>
                <a:spcPct val="115000"/>
              </a:lnSpc>
              <a:spcBef>
                <a:spcPts val="0"/>
              </a:spcBef>
              <a:spcAft>
                <a:spcPts val="2035"/>
              </a:spcAft>
            </a:pP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In the last stage, </a:t>
            </a:r>
            <a:r>
              <a:rPr lang="en-US" sz="2000" b="1"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Deployment</a:t>
            </a:r>
            <a:r>
              <a:rPr lang="en-US" sz="20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 establishes a basis for subsequent iterations if necessary.</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7515874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RAD - Rapid Application Development - Model">
            <a:extLst>
              <a:ext uri="{FF2B5EF4-FFF2-40B4-BE49-F238E27FC236}">
                <a16:creationId xmlns:a16="http://schemas.microsoft.com/office/drawing/2014/main" id="{A02E9C2B-3E0B-67AB-1609-022E80BC6796}"/>
              </a:ext>
            </a:extLst>
          </p:cNvPr>
          <p:cNvPicPr>
            <a:picLocks noGrp="1" noChangeAspect="1"/>
          </p:cNvPicPr>
          <p:nvPr>
            <p:ph idx="1"/>
          </p:nvPr>
        </p:nvPicPr>
        <p:blipFill>
          <a:blip r:embed="rId2"/>
          <a:srcRect/>
          <a:stretch>
            <a:fillRect/>
          </a:stretch>
        </p:blipFill>
        <p:spPr bwMode="auto">
          <a:xfrm>
            <a:off x="1366458" y="423863"/>
            <a:ext cx="9459084" cy="5753100"/>
          </a:xfrm>
          <a:prstGeom prst="rect">
            <a:avLst/>
          </a:prstGeom>
          <a:noFill/>
          <a:ln w="9525">
            <a:noFill/>
            <a:miter lim="800000"/>
            <a:headEnd/>
            <a:tailEnd/>
          </a:ln>
        </p:spPr>
      </p:pic>
    </p:spTree>
    <p:extLst>
      <p:ext uri="{BB962C8B-B14F-4D97-AF65-F5344CB8AC3E}">
        <p14:creationId xmlns:p14="http://schemas.microsoft.com/office/powerpoint/2010/main" val="11494940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88C6FA1-D738-6CF4-B2BC-EED926ADA1BF}"/>
              </a:ext>
            </a:extLst>
          </p:cNvPr>
          <p:cNvSpPr>
            <a:spLocks noGrp="1"/>
          </p:cNvSpPr>
          <p:nvPr>
            <p:ph idx="1"/>
          </p:nvPr>
        </p:nvSpPr>
        <p:spPr>
          <a:xfrm>
            <a:off x="838200" y="314554"/>
            <a:ext cx="10515600" cy="5862409"/>
          </a:xfrm>
        </p:spPr>
        <p:txBody>
          <a:bodyPr>
            <a:normAutofit lnSpcReduction="10000"/>
          </a:bodyPr>
          <a:lstStyle/>
          <a:p>
            <a:pPr marL="0" marR="0" algn="just">
              <a:lnSpc>
                <a:spcPct val="115000"/>
              </a:lnSpc>
              <a:spcBef>
                <a:spcPts val="0"/>
              </a:spcBef>
              <a:spcAft>
                <a:spcPts val="1000"/>
              </a:spcAft>
            </a:pPr>
            <a:r>
              <a:rPr lang="en-US" sz="2400"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The various phases of RAD are as follows: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1. Business Modeling:</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 business modeling gather information from the customer and based on the information we divide the modules that means dividing various business modeling is called business modeling.</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2. Data Modeling:</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Information gathered from business modeling we can process the data in data modeling.</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3. Process Modeling:</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the process modeling the information is processed in data modeling the information to the customer; customer satisfaction go to the next level.</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4. Application Generation:</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Automated tools are used to facilitate the construction of the software; even if they use the 4th GL techniques.</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5. Testing &amp; Turnover:</a:t>
            </a: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 Many of the programming components have already been tested since RAD emphasizes reuse. This reduces the overall testing time. However the new part must be tested, and all interfaces must be fully exercised.</a:t>
            </a:r>
            <a:endParaRPr lang="en-US" sz="24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865809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DA514FA-629A-0F8B-4CB1-33C556712E9C}"/>
              </a:ext>
            </a:extLst>
          </p:cNvPr>
          <p:cNvSpPr>
            <a:spLocks noGrp="1"/>
          </p:cNvSpPr>
          <p:nvPr>
            <p:ph idx="1"/>
          </p:nvPr>
        </p:nvSpPr>
        <p:spPr>
          <a:xfrm>
            <a:off x="838200" y="658368"/>
            <a:ext cx="10515600" cy="5518595"/>
          </a:xfrm>
        </p:spPr>
        <p:txBody>
          <a:bodyPr>
            <a:normAutofit fontScale="92500"/>
          </a:bodyPr>
          <a:lstStyle/>
          <a:p>
            <a:pPr marL="0" marR="0" algn="just">
              <a:lnSpc>
                <a:spcPct val="115000"/>
              </a:lnSpc>
              <a:spcBef>
                <a:spcPts val="0"/>
              </a:spcBef>
              <a:spcAft>
                <a:spcPts val="1000"/>
              </a:spcAft>
            </a:pPr>
            <a:r>
              <a:rPr lang="en-US" sz="2400" b="1"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When to use RAD Model?</a:t>
            </a:r>
            <a:endParaRPr lang="en-US" sz="2400" b="1"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 system should need to create the project that modularizes in a short span time (2-3 months).</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 requirements are well-known.</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 technical risk is limited.</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When there's a necessity to make a system, which modularized in 2-3 months of period.</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endPar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should be used only if the budget allows the use of automatic code generating tools.</a:t>
            </a:r>
            <a:endParaRPr lang="en-US" sz="2400"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3207213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0CD2401-8D13-C2CF-8979-65BBD23703D3}"/>
              </a:ext>
            </a:extLst>
          </p:cNvPr>
          <p:cNvSpPr>
            <a:spLocks noGrp="1"/>
          </p:cNvSpPr>
          <p:nvPr>
            <p:ph idx="1"/>
          </p:nvPr>
        </p:nvSpPr>
        <p:spPr>
          <a:xfrm>
            <a:off x="838200" y="307238"/>
            <a:ext cx="10515600" cy="5869725"/>
          </a:xfrm>
        </p:spPr>
        <p:txBody>
          <a:bodyPr/>
          <a:lstStyle/>
          <a:p>
            <a:pPr marL="0" marR="0" algn="just">
              <a:lnSpc>
                <a:spcPct val="115000"/>
              </a:lnSpc>
              <a:spcBef>
                <a:spcPts val="0"/>
              </a:spcBef>
              <a:spcAft>
                <a:spcPts val="1000"/>
              </a:spcAft>
            </a:pPr>
            <a:r>
              <a:rPr lang="en-US" sz="2400" b="1"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Advantage of RAD Model</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This model is flexible for change.</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Each phase in RAD brings the highest priority functionality to the customer.</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reduced development time.</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increases the reusability of features.</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b="1" dirty="0">
                <a:solidFill>
                  <a:srgbClr val="610B38"/>
                </a:solidFill>
                <a:effectLst/>
                <a:latin typeface="Times New Roman" panose="02020603050405020304" pitchFamily="18" charset="0"/>
                <a:ea typeface="Times New Roman" panose="02020603050405020304" pitchFamily="18" charset="0"/>
                <a:cs typeface="Times New Roman" panose="02020603050405020304" pitchFamily="18" charset="0"/>
              </a:rPr>
              <a:t>Disadvantage of RAD Model</a:t>
            </a:r>
            <a:endParaRPr lang="en-US" sz="2400" b="1"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It required highly skilled designers.</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For smaller projects, we cannot use the RAD model.</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On the high technical risk, it's not suitable.</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ts val="1955"/>
              </a:lnSpc>
              <a:spcBef>
                <a:spcPts val="315"/>
              </a:spcBef>
              <a:spcAft>
                <a:spcPts val="1000"/>
              </a:spcAft>
              <a:buSzPts val="1000"/>
              <a:buFont typeface="Courier New" panose="02070309020205020404" pitchFamily="49" charset="0"/>
              <a:buChar char="o"/>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Required user involvement.</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904365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3622-5640-1A25-9B67-C44EAB867636}"/>
              </a:ext>
            </a:extLst>
          </p:cNvPr>
          <p:cNvSpPr>
            <a:spLocks noGrp="1"/>
          </p:cNvSpPr>
          <p:nvPr>
            <p:ph type="title"/>
          </p:nvPr>
        </p:nvSpPr>
        <p:spPr/>
        <p:txBody>
          <a:bodyPr>
            <a:normAutofit/>
          </a:bodyPr>
          <a:lstStyle/>
          <a:p>
            <a:r>
              <a:rPr lang="en-US" sz="4000" b="1" dirty="0">
                <a:latin typeface="Times New Roman" panose="02020603050405020304" pitchFamily="18" charset="0"/>
                <a:ea typeface="Calibri" panose="020F0502020204030204" pitchFamily="34" charset="0"/>
                <a:cs typeface="Times New Roman" panose="02020603050405020304" pitchFamily="18" charset="0"/>
              </a:rPr>
              <a:t>U</a:t>
            </a: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nified </a:t>
            </a:r>
            <a:r>
              <a:rPr lang="en-US" sz="4000" b="1" dirty="0">
                <a:latin typeface="Times New Roman" panose="02020603050405020304" pitchFamily="18" charset="0"/>
                <a:ea typeface="Calibri" panose="020F0502020204030204" pitchFamily="34" charset="0"/>
                <a:cs typeface="Times New Roman" panose="02020603050405020304" pitchFamily="18" charset="0"/>
              </a:rPr>
              <a:t>p</a:t>
            </a:r>
            <a:r>
              <a:rPr lang="en-US" sz="4000" b="1" dirty="0">
                <a:effectLst/>
                <a:latin typeface="Times New Roman" panose="02020603050405020304" pitchFamily="18" charset="0"/>
                <a:ea typeface="Calibri" panose="020F0502020204030204" pitchFamily="34" charset="0"/>
                <a:cs typeface="Times New Roman" panose="02020603050405020304" pitchFamily="18" charset="0"/>
              </a:rPr>
              <a:t>rocess Model</a:t>
            </a:r>
            <a:endParaRPr lang="en-US"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756C376-95BA-9B40-8C89-8B137195ED3D}"/>
              </a:ext>
            </a:extLst>
          </p:cNvPr>
          <p:cNvSpPr>
            <a:spLocks noGrp="1"/>
          </p:cNvSpPr>
          <p:nvPr>
            <p:ph idx="1"/>
          </p:nvPr>
        </p:nvSpPr>
        <p:spPr>
          <a:xfrm>
            <a:off x="838200" y="1448410"/>
            <a:ext cx="10515600" cy="4728553"/>
          </a:xfrm>
        </p:spPr>
        <p:txBody>
          <a:bodyPr>
            <a:normAutofit lnSpcReduction="10000"/>
          </a:bodyPr>
          <a:lstStyle/>
          <a:p>
            <a:pPr marL="0"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Unified Process (UP) is a software development framework used for object-oriented modeling. The framework is also known as Rational Unified Process (RUP) and the Open Unified Process (Open UP). Some of the key features of this process include: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 defines the order of phases.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 is component-based, meaning a software system is built as a set of software components. There must be well-defined interfaces between the components for smooth communication.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It follows an iterative, incremental, architecture-centric, and use-case driven approach.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59817623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 visual representation of the unified process ">
            <a:extLst>
              <a:ext uri="{FF2B5EF4-FFF2-40B4-BE49-F238E27FC236}">
                <a16:creationId xmlns:a16="http://schemas.microsoft.com/office/drawing/2014/main" id="{7A43B41A-F410-59B7-6386-0F4893FE6A59}"/>
              </a:ext>
            </a:extLst>
          </p:cNvPr>
          <p:cNvPicPr>
            <a:picLocks noGrp="1" noChangeAspect="1"/>
          </p:cNvPicPr>
          <p:nvPr>
            <p:ph idx="1"/>
          </p:nvPr>
        </p:nvPicPr>
        <p:blipFill>
          <a:blip r:embed="rId2" cstate="print">
            <a:extLst>
              <a:ext uri="{28A0092B-C50C-407E-A947-70E740481C1C}">
                <a14:useLocalDpi xmlns:a14="http://schemas.microsoft.com/office/drawing/2010/main" val="0"/>
              </a:ext>
            </a:extLst>
          </a:blip>
          <a:srcRect/>
          <a:stretch>
            <a:fillRect/>
          </a:stretch>
        </p:blipFill>
        <p:spPr bwMode="auto">
          <a:xfrm>
            <a:off x="1748333" y="1302106"/>
            <a:ext cx="8902597" cy="4111143"/>
          </a:xfrm>
          <a:prstGeom prst="rect">
            <a:avLst/>
          </a:prstGeom>
          <a:noFill/>
          <a:ln>
            <a:noFill/>
          </a:ln>
        </p:spPr>
      </p:pic>
      <p:sp>
        <p:nvSpPr>
          <p:cNvPr id="6" name="TextBox 5">
            <a:extLst>
              <a:ext uri="{FF2B5EF4-FFF2-40B4-BE49-F238E27FC236}">
                <a16:creationId xmlns:a16="http://schemas.microsoft.com/office/drawing/2014/main" id="{EE2C284A-8971-085E-76C5-57CF07A3C00D}"/>
              </a:ext>
            </a:extLst>
          </p:cNvPr>
          <p:cNvSpPr txBox="1"/>
          <p:nvPr/>
        </p:nvSpPr>
        <p:spPr>
          <a:xfrm>
            <a:off x="1945843" y="555955"/>
            <a:ext cx="7199985" cy="390684"/>
          </a:xfrm>
          <a:prstGeom prst="rect">
            <a:avLst/>
          </a:prstGeom>
          <a:noFill/>
        </p:spPr>
        <p:txBody>
          <a:bodyPr wrap="square">
            <a:spAutoFit/>
          </a:bodyPr>
          <a:lstStyle/>
          <a:p>
            <a:pPr marL="0" marR="0" algn="just">
              <a:lnSpc>
                <a:spcPct val="115000"/>
              </a:lnSpc>
              <a:spcBef>
                <a:spcPts val="0"/>
              </a:spcBef>
              <a:spcAft>
                <a:spcPts val="1000"/>
              </a:spcAf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A visual representation of the unified process</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48793700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5062B76-1C19-5446-3055-26F1DA2BD687}"/>
              </a:ext>
            </a:extLst>
          </p:cNvPr>
          <p:cNvSpPr>
            <a:spLocks noGrp="1"/>
          </p:cNvSpPr>
          <p:nvPr>
            <p:ph idx="1"/>
          </p:nvPr>
        </p:nvSpPr>
        <p:spPr>
          <a:xfrm>
            <a:off x="838200" y="460858"/>
            <a:ext cx="10515600" cy="5716105"/>
          </a:xfrm>
        </p:spPr>
        <p:txBody>
          <a:bodyPr>
            <a:normAutofit fontScale="92500" lnSpcReduction="20000"/>
          </a:bodyPr>
          <a:lstStyle/>
          <a:p>
            <a:pPr marL="0" marR="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Let's have a look at these approaches in detail.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case-driven approach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Use a case-driven approach that follows a set of actions performed by one or more entities. A use case refers to the process of the team performing the development work from the functional requirements. The functional requirements are made from the list of requirements that the client specified. For example, an online learning management system can be specified in terms of use cases such as "add a course," "delete a course," "pay fees," and so on.</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400" b="1" dirty="0">
                <a:effectLst/>
                <a:latin typeface="Times New Roman" panose="02020603050405020304" pitchFamily="18" charset="0"/>
                <a:ea typeface="Calibri" panose="020F0502020204030204" pitchFamily="34" charset="0"/>
                <a:cs typeface="Times New Roman" panose="02020603050405020304" pitchFamily="18" charset="0"/>
              </a:rPr>
              <a:t>The architecture-centric approach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architecture-centric approach defines the form of the system and how it should be structured to provide a specific functionality whereas the use case defines the functionality.</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iterative and incremental approach</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An iterative and incremental approach means that the product will be developed in multiple phases. During these phases, the developers evaluate and test.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8617470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45812F-EFD4-FEDC-B19F-12D51E424508}"/>
              </a:ext>
            </a:extLst>
          </p:cNvPr>
          <p:cNvSpPr>
            <a:spLocks noGrp="1"/>
          </p:cNvSpPr>
          <p:nvPr>
            <p:ph idx="1"/>
          </p:nvPr>
        </p:nvSpPr>
        <p:spPr>
          <a:xfrm>
            <a:off x="838200" y="431597"/>
            <a:ext cx="10515600" cy="5745366"/>
          </a:xfrm>
        </p:spPr>
        <p:txBody>
          <a:bodyPr/>
          <a:lstStyle/>
          <a:p>
            <a:pPr marL="0" marR="0" indent="0" algn="just">
              <a:lnSpc>
                <a:spcPct val="115000"/>
              </a:lnSpc>
              <a:spcBef>
                <a:spcPts val="0"/>
              </a:spcBef>
              <a:spcAft>
                <a:spcPts val="1000"/>
              </a:spcAft>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Phases</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We can represent a unified process model as a series of cycles. Each cycle ends with the release of a new system version for the customers. We have four phases in every cycle:</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Inception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Elaboration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Construction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1800" b="1" dirty="0">
                <a:effectLst/>
                <a:latin typeface="Times New Roman" panose="02020603050405020304" pitchFamily="18" charset="0"/>
                <a:ea typeface="Calibri" panose="020F0502020204030204" pitchFamily="34" charset="0"/>
                <a:cs typeface="Times New Roman" panose="02020603050405020304" pitchFamily="18" charset="0"/>
              </a:rPr>
              <a:t>Transition</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6" name="Picture 5" descr="The phases of the unified process">
            <a:extLst>
              <a:ext uri="{FF2B5EF4-FFF2-40B4-BE49-F238E27FC236}">
                <a16:creationId xmlns:a16="http://schemas.microsoft.com/office/drawing/2014/main" id="{B9EAC0CA-67D1-6748-7565-2E13D02C8A5D}"/>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1018" y="3613709"/>
            <a:ext cx="7326782" cy="2670047"/>
          </a:xfrm>
          <a:prstGeom prst="rect">
            <a:avLst/>
          </a:prstGeom>
          <a:noFill/>
          <a:ln>
            <a:noFill/>
          </a:ln>
        </p:spPr>
      </p:pic>
    </p:spTree>
    <p:extLst>
      <p:ext uri="{BB962C8B-B14F-4D97-AF65-F5344CB8AC3E}">
        <p14:creationId xmlns:p14="http://schemas.microsoft.com/office/powerpoint/2010/main" val="38463864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386EC5-28EA-5800-DA3C-1B9F8D38BC25}"/>
              </a:ext>
            </a:extLst>
          </p:cNvPr>
          <p:cNvSpPr>
            <a:spLocks noGrp="1"/>
          </p:cNvSpPr>
          <p:nvPr>
            <p:ph idx="1"/>
          </p:nvPr>
        </p:nvSpPr>
        <p:spPr>
          <a:xfrm>
            <a:off x="838200" y="563270"/>
            <a:ext cx="10515600" cy="5852160"/>
          </a:xfrm>
        </p:spPr>
        <p:txBody>
          <a:bodyPr>
            <a:normAutofit fontScale="32500" lnSpcReduction="20000"/>
          </a:bodyPr>
          <a:lstStyle/>
          <a:p>
            <a:pPr marL="0" marR="0" indent="0" algn="just">
              <a:lnSpc>
                <a:spcPct val="115000"/>
              </a:lnSpc>
              <a:spcBef>
                <a:spcPts val="0"/>
              </a:spcBef>
              <a:spcAft>
                <a:spcPts val="1000"/>
              </a:spcAft>
              <a:buNone/>
            </a:pPr>
            <a:r>
              <a:rPr lang="en-US" sz="6200" b="1" dirty="0">
                <a:effectLst/>
                <a:latin typeface="Times New Roman" panose="02020603050405020304" pitchFamily="18" charset="0"/>
                <a:ea typeface="Calibri" panose="020F0502020204030204" pitchFamily="34" charset="0"/>
                <a:cs typeface="Times New Roman" panose="02020603050405020304" pitchFamily="18" charset="0"/>
              </a:rPr>
              <a:t>Inception</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The main goal of this phase involves delimiting the project scope. This is where we define why we are making this product in the first place. It should have the following:</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What are the key features?</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How does this benefit the customers?</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Which methodology will we follow?</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What are the risks involved in executing the project?</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Schedule and cost estimates.</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6200" b="1" dirty="0">
                <a:effectLst/>
                <a:latin typeface="Times New Roman" panose="02020603050405020304" pitchFamily="18" charset="0"/>
                <a:ea typeface="Calibri" panose="020F0502020204030204" pitchFamily="34" charset="0"/>
                <a:cs typeface="Times New Roman" panose="02020603050405020304" pitchFamily="18" charset="0"/>
              </a:rPr>
              <a:t>Elaboration</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We build the system given the requirements, cost, and time constraints and all the risks involved. It should include the following:</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Develop with the majority of the functional requirements implemented.</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Finalize the methodology to be used.</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6200" dirty="0">
                <a:effectLst/>
                <a:latin typeface="Times New Roman" panose="02020603050405020304" pitchFamily="18" charset="0"/>
                <a:ea typeface="Calibri" panose="020F0502020204030204" pitchFamily="34" charset="0"/>
                <a:cs typeface="Times New Roman" panose="02020603050405020304" pitchFamily="18" charset="0"/>
              </a:rPr>
              <a:t>Deal with the significant risks involved.</a:t>
            </a:r>
            <a:endParaRPr lang="en-US" sz="62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8178502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FD686B-3B80-F9A3-A257-9DEF78E1C1E1}"/>
              </a:ext>
            </a:extLst>
          </p:cNvPr>
          <p:cNvSpPr>
            <a:spLocks noGrp="1"/>
          </p:cNvSpPr>
          <p:nvPr>
            <p:ph idx="1"/>
          </p:nvPr>
        </p:nvSpPr>
        <p:spPr>
          <a:xfrm>
            <a:off x="838200" y="1060704"/>
            <a:ext cx="10515600" cy="5116259"/>
          </a:xfrm>
        </p:spPr>
        <p:txBody>
          <a:bodyPr/>
          <a:lstStyle/>
          <a:p>
            <a:pPr marL="0" marR="0" indent="0" algn="just">
              <a:lnSpc>
                <a:spcPct val="115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Construction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phase is where the development, integration, and testing occur. We build the complete architecture in this phase and hand the final documentation to the client.</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indent="0" algn="just">
              <a:lnSpc>
                <a:spcPct val="115000"/>
              </a:lnSpc>
              <a:spcBef>
                <a:spcPts val="0"/>
              </a:spcBef>
              <a:spcAft>
                <a:spcPts val="1000"/>
              </a:spcAft>
              <a:buNone/>
            </a:pPr>
            <a:r>
              <a:rPr lang="en-US" sz="2800" b="1" dirty="0">
                <a:effectLst/>
                <a:latin typeface="Times New Roman" panose="02020603050405020304" pitchFamily="18" charset="0"/>
                <a:ea typeface="Calibri" panose="020F0502020204030204" pitchFamily="34" charset="0"/>
                <a:cs typeface="Times New Roman" panose="02020603050405020304" pitchFamily="18" charset="0"/>
              </a:rPr>
              <a:t>Transition</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800" dirty="0">
                <a:effectLst/>
                <a:latin typeface="Times New Roman" panose="02020603050405020304" pitchFamily="18" charset="0"/>
                <a:ea typeface="Calibri" panose="020F0502020204030204" pitchFamily="34" charset="0"/>
                <a:cs typeface="Times New Roman" panose="02020603050405020304" pitchFamily="18" charset="0"/>
              </a:rPr>
              <a:t>This phase involves the deployment, multiple iterations, beta releases, and software improvements. The users will test the software, which may raise potential issues. The development team will then fix those errors.</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67430766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FCB438-7A22-92B4-0319-B1C980F19E24}"/>
              </a:ext>
            </a:extLst>
          </p:cNvPr>
          <p:cNvSpPr>
            <a:spLocks noGrp="1"/>
          </p:cNvSpPr>
          <p:nvPr>
            <p:ph type="title"/>
          </p:nvPr>
        </p:nvSpPr>
        <p:spPr/>
        <p:txBody>
          <a:bodyPr>
            <a:normAutofit/>
          </a:bodyPr>
          <a:lstStyle/>
          <a:p>
            <a:r>
              <a:rPr lang="en-US" sz="2400" b="1" dirty="0">
                <a:solidFill>
                  <a:srgbClr val="000000"/>
                </a:solidFill>
                <a:effectLst/>
                <a:latin typeface="Times New Roman" panose="02020603050405020304" pitchFamily="18" charset="0"/>
                <a:ea typeface="Times New Roman" panose="02020603050405020304" pitchFamily="18" charset="0"/>
              </a:rPr>
              <a:t>Evolutionary Process Models</a:t>
            </a:r>
            <a:r>
              <a:rPr lang="en-US" sz="2400" b="1" dirty="0">
                <a:solidFill>
                  <a:srgbClr val="000000"/>
                </a:solidFill>
                <a:latin typeface="Times New Roman" panose="02020603050405020304" pitchFamily="18" charset="0"/>
                <a:ea typeface="Times New Roman" panose="02020603050405020304" pitchFamily="18" charset="0"/>
              </a:rPr>
              <a:t>:</a:t>
            </a:r>
            <a:endParaRPr lang="en-US" sz="2400" dirty="0"/>
          </a:p>
        </p:txBody>
      </p:sp>
      <p:sp>
        <p:nvSpPr>
          <p:cNvPr id="3" name="Content Placeholder 2">
            <a:extLst>
              <a:ext uri="{FF2B5EF4-FFF2-40B4-BE49-F238E27FC236}">
                <a16:creationId xmlns:a16="http://schemas.microsoft.com/office/drawing/2014/main" id="{749D0303-8DA0-075B-983D-72501A8EFCFB}"/>
              </a:ext>
            </a:extLst>
          </p:cNvPr>
          <p:cNvSpPr>
            <a:spLocks noGrp="1"/>
          </p:cNvSpPr>
          <p:nvPr>
            <p:ph idx="1"/>
          </p:nvPr>
        </p:nvSpPr>
        <p:spPr>
          <a:xfrm>
            <a:off x="838200" y="1338682"/>
            <a:ext cx="10515600" cy="4838281"/>
          </a:xfrm>
        </p:spPr>
        <p:txBody>
          <a:bodyPr/>
          <a:lstStyle/>
          <a:p>
            <a:pPr marL="0" indent="0">
              <a:buNone/>
            </a:pPr>
            <a:r>
              <a:rPr lang="en-US" sz="18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Prototyping Model:-</a:t>
            </a:r>
            <a:endParaRPr lang="en-US"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pic>
        <p:nvPicPr>
          <p:cNvPr id="4" name="Picture 3">
            <a:extLst>
              <a:ext uri="{FF2B5EF4-FFF2-40B4-BE49-F238E27FC236}">
                <a16:creationId xmlns:a16="http://schemas.microsoft.com/office/drawing/2014/main" id="{B3C8A6AE-BAD2-EDC5-AB45-2FF0BACF0419}"/>
              </a:ext>
            </a:extLst>
          </p:cNvPr>
          <p:cNvPicPr>
            <a:picLocks noChangeAspect="1"/>
          </p:cNvPicPr>
          <p:nvPr/>
        </p:nvPicPr>
        <p:blipFill>
          <a:blip r:embed="rId2"/>
          <a:srcRect/>
          <a:stretch>
            <a:fillRect/>
          </a:stretch>
        </p:blipFill>
        <p:spPr bwMode="auto">
          <a:xfrm>
            <a:off x="1792223" y="1941194"/>
            <a:ext cx="8990381" cy="3932911"/>
          </a:xfrm>
          <a:prstGeom prst="rect">
            <a:avLst/>
          </a:prstGeom>
          <a:noFill/>
          <a:ln w="9525">
            <a:noFill/>
            <a:miter lim="800000"/>
            <a:headEnd/>
            <a:tailEnd/>
          </a:ln>
        </p:spPr>
      </p:pic>
    </p:spTree>
    <p:extLst>
      <p:ext uri="{BB962C8B-B14F-4D97-AF65-F5344CB8AC3E}">
        <p14:creationId xmlns:p14="http://schemas.microsoft.com/office/powerpoint/2010/main" val="167448353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EC8786B-494B-9517-07DE-F598A74A2BA3}"/>
              </a:ext>
            </a:extLst>
          </p:cNvPr>
          <p:cNvSpPr>
            <a:spLocks noGrp="1"/>
          </p:cNvSpPr>
          <p:nvPr>
            <p:ph idx="1"/>
          </p:nvPr>
        </p:nvSpPr>
        <p:spPr>
          <a:xfrm>
            <a:off x="838200" y="365760"/>
            <a:ext cx="10515600" cy="5811203"/>
          </a:xfrm>
        </p:spPr>
        <p:txBody>
          <a:bodyPr>
            <a:normAutofit fontScale="92500" lnSpcReduction="10000"/>
          </a:bodyPr>
          <a:lstStyle/>
          <a:p>
            <a:pPr marL="0" marR="0" algn="ctr">
              <a:lnSpc>
                <a:spcPts val="1955"/>
              </a:lnSpc>
              <a:spcBef>
                <a:spcPts val="0"/>
              </a:spcBef>
              <a:spcAft>
                <a:spcPts val="600"/>
              </a:spcAft>
            </a:pPr>
            <a:r>
              <a:rPr lang="en-US" sz="24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Initial Requirements </a:t>
            </a:r>
          </a:p>
          <a:p>
            <a:pPr marL="0" marR="0" algn="ctr">
              <a:lnSpc>
                <a:spcPts val="1955"/>
              </a:lnSpc>
              <a:spcBef>
                <a:spcPts val="0"/>
              </a:spcBef>
              <a:spcAft>
                <a:spcPts val="600"/>
              </a:spcAft>
            </a:pP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sz="2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 prototyping model starts with requirement analysis. In this phase, the requirements of the system are defined in detail. During the process, the users of the system are interviewed to know what is their expectations from the system.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ts val="1955"/>
              </a:lnSpc>
              <a:spcBef>
                <a:spcPts val="0"/>
              </a:spcBef>
              <a:spcAft>
                <a:spcPts val="600"/>
              </a:spcAft>
            </a:pPr>
            <a:r>
              <a:rPr lang="en-US" sz="24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Design</a:t>
            </a:r>
          </a:p>
          <a:p>
            <a:pPr marL="0" marR="0" algn="ctr">
              <a:lnSpc>
                <a:spcPts val="1955"/>
              </a:lnSpc>
              <a:spcBef>
                <a:spcPts val="0"/>
              </a:spcBef>
              <a:spcAft>
                <a:spcPts val="600"/>
              </a:spcAft>
            </a:pP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sz="2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second phase is a preliminary design or a quick design. In this stage, a simple design of the system is created. However, it is not a complete design. It gives a brief idea of the system to the user. The quick design helps in developing the prototype.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ts val="1955"/>
              </a:lnSpc>
              <a:spcBef>
                <a:spcPts val="0"/>
              </a:spcBef>
              <a:spcAft>
                <a:spcPts val="600"/>
              </a:spcAft>
            </a:pPr>
            <a:r>
              <a:rPr lang="en-US" sz="24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Prototype</a:t>
            </a:r>
          </a:p>
          <a:p>
            <a:pPr marL="0" marR="0" algn="ctr">
              <a:lnSpc>
                <a:spcPts val="1955"/>
              </a:lnSpc>
              <a:spcBef>
                <a:spcPts val="0"/>
              </a:spcBef>
              <a:spcAft>
                <a:spcPts val="600"/>
              </a:spcAft>
            </a:pP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sz="2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In this phase, an actual prototype is designed based on the information gathered from the design. It is a small working model of the required system.</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ts val="1955"/>
              </a:lnSpc>
              <a:spcBef>
                <a:spcPts val="0"/>
              </a:spcBef>
              <a:spcAft>
                <a:spcPts val="600"/>
              </a:spcAft>
            </a:pPr>
            <a:r>
              <a:rPr lang="en-US" sz="24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User evaluation</a:t>
            </a:r>
          </a:p>
          <a:p>
            <a:pPr marL="0" marR="0" algn="ctr">
              <a:lnSpc>
                <a:spcPts val="1955"/>
              </a:lnSpc>
              <a:spcBef>
                <a:spcPts val="0"/>
              </a:spcBef>
              <a:spcAft>
                <a:spcPts val="600"/>
              </a:spcAft>
            </a:pPr>
            <a:endParaRPr lang="en-US" sz="2400"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sz="2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In this stage, the proposed system is presented to the client for an initial evaluation. It helps to find out the strengths and weaknesses of the working model. Comments and suggestion are collected from the customer and provided to the developer.</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35927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6A4450F-9C35-6FF3-0E20-A77D975CD9F0}"/>
              </a:ext>
            </a:extLst>
          </p:cNvPr>
          <p:cNvSpPr>
            <a:spLocks noGrp="1"/>
          </p:cNvSpPr>
          <p:nvPr>
            <p:ph idx="1"/>
          </p:nvPr>
        </p:nvSpPr>
        <p:spPr>
          <a:xfrm>
            <a:off x="838200" y="1002181"/>
            <a:ext cx="10515600" cy="5174781"/>
          </a:xfrm>
        </p:spPr>
        <p:txBody>
          <a:bodyPr>
            <a:normAutofit fontScale="92500"/>
          </a:bodyPr>
          <a:lstStyle/>
          <a:p>
            <a:pPr marL="0" marR="0" algn="ctr">
              <a:lnSpc>
                <a:spcPts val="1955"/>
              </a:lnSpc>
              <a:spcBef>
                <a:spcPts val="0"/>
              </a:spcBef>
              <a:spcAft>
                <a:spcPts val="600"/>
              </a:spcAft>
            </a:pPr>
            <a:r>
              <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Review &amp; </a:t>
            </a:r>
            <a:r>
              <a:rPr lang="en-US" b="1" dirty="0" err="1">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Updation</a:t>
            </a:r>
            <a:endParaRPr lang="en-US"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If the user is not happy with the current prototype, you need to refine the prototype according to the user’s feedback and suggestions.</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spcBef>
                <a:spcPts val="0"/>
              </a:spcBef>
            </a:pPr>
            <a:endPar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spcBef>
                <a:spcPts val="0"/>
              </a:spcBef>
            </a:pPr>
            <a:r>
              <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Development</a:t>
            </a:r>
          </a:p>
          <a:p>
            <a:pPr marL="0" marR="0" indent="0" algn="ctr">
              <a:spcBef>
                <a:spcPts val="0"/>
              </a:spcBef>
              <a:buNone/>
            </a:pP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This phase will not be over until all the requirements specified by the user are met. Once the user is satisfied with the developed prototype, a final system is developed based on the approved final prototype.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ts val="1955"/>
              </a:lnSpc>
              <a:spcBef>
                <a:spcPts val="0"/>
              </a:spcBef>
              <a:spcAft>
                <a:spcPts val="600"/>
              </a:spcAft>
            </a:pPr>
            <a:endPar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lgn="ctr">
              <a:lnSpc>
                <a:spcPts val="1955"/>
              </a:lnSpc>
              <a:spcBef>
                <a:spcPts val="0"/>
              </a:spcBef>
              <a:spcAft>
                <a:spcPts val="600"/>
              </a:spcAft>
            </a:pPr>
            <a:r>
              <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Implement Product and Maintain</a:t>
            </a:r>
            <a:endParaRPr lang="en-US" b="1" dirty="0">
              <a:solidFill>
                <a:srgbClr val="4F81BD"/>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Once the final system is developed based on the final prototype, it is thoroughly tested and deployed to production. The system undergoes routine maintenance to minimize downtime and prevent large-scale failures.</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316278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211B5D9-40CB-68A5-EA46-750DB1B963CB}"/>
              </a:ext>
            </a:extLst>
          </p:cNvPr>
          <p:cNvSpPr>
            <a:spLocks noGrp="1"/>
          </p:cNvSpPr>
          <p:nvPr>
            <p:ph idx="1"/>
          </p:nvPr>
        </p:nvSpPr>
        <p:spPr>
          <a:xfrm>
            <a:off x="838200" y="468173"/>
            <a:ext cx="10515600" cy="5708790"/>
          </a:xfrm>
        </p:spPr>
        <p:txBody>
          <a:bodyPr>
            <a:normAutofit/>
          </a:bodyPr>
          <a:lstStyle/>
          <a:p>
            <a:pPr marL="0" marR="0" indent="0">
              <a:spcBef>
                <a:spcPts val="0"/>
              </a:spcBef>
              <a:buNone/>
            </a:pPr>
            <a:r>
              <a:rPr lang="en-US"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When to use Prototyping Model?</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1. Long or Big Project.</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2. Requirements are not clear when we choose.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endPar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Advantages:-</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spcBef>
                <a:spcPts val="0"/>
              </a:spcBef>
              <a:spcAft>
                <a:spcPts val="500"/>
              </a:spcAft>
              <a:buFont typeface="+mj-lt"/>
              <a:buAutoNum type="arabicPeriod"/>
            </a:pPr>
            <a:r>
              <a:rPr lang="en-US" sz="2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Customer can see study progress.</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742950" marR="0" lvl="1" indent="-285750">
              <a:spcBef>
                <a:spcPts val="0"/>
              </a:spcBef>
              <a:spcAft>
                <a:spcPts val="500"/>
              </a:spcAft>
              <a:buFont typeface="+mj-lt"/>
              <a:buAutoNum type="arabicPeriod"/>
            </a:pPr>
            <a:r>
              <a:rPr lang="en-US" sz="28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This is useful when requirements are changing rapidly</a:t>
            </a:r>
            <a:endParaRPr lang="en-US" sz="28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endPar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indent="0">
              <a:spcBef>
                <a:spcPts val="0"/>
              </a:spcBef>
              <a:buNone/>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500"/>
              </a:spcAft>
              <a:buFont typeface="+mj-lt"/>
              <a:buAutoNum type="arabicPeriod"/>
            </a:pPr>
            <a:r>
              <a:rPr lang="en-US"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It is impossible to know how long it will take.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There is no way to know the no. of iterations will be required</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5609109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9B436F-7D29-B7DB-3BDD-D56D44938527}"/>
              </a:ext>
            </a:extLst>
          </p:cNvPr>
          <p:cNvSpPr>
            <a:spLocks noGrp="1"/>
          </p:cNvSpPr>
          <p:nvPr>
            <p:ph type="title"/>
          </p:nvPr>
        </p:nvSpPr>
        <p:spPr>
          <a:xfrm>
            <a:off x="838200" y="548640"/>
            <a:ext cx="10515600" cy="504750"/>
          </a:xfrm>
        </p:spPr>
        <p:txBody>
          <a:bodyPr>
            <a:normAutofit fontScale="90000"/>
          </a:bodyPr>
          <a:lstStyle/>
          <a:p>
            <a:r>
              <a:rPr lang="en-US" sz="3200" b="1" dirty="0">
                <a:solidFill>
                  <a:srgbClr val="222222"/>
                </a:solidFill>
                <a:effectLst/>
                <a:latin typeface="Times New Roman" panose="02020603050405020304" pitchFamily="18" charset="0"/>
                <a:ea typeface="Times New Roman" panose="02020603050405020304" pitchFamily="18" charset="0"/>
              </a:rPr>
              <a:t>Spiral Model</a:t>
            </a:r>
            <a:br>
              <a:rPr lang="en-US" sz="1800" dirty="0">
                <a:effectLst/>
                <a:latin typeface="Times New Roman" panose="02020603050405020304" pitchFamily="18" charset="0"/>
                <a:ea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8FAFFCF-C973-307B-EB2D-A4B0D6091305}"/>
              </a:ext>
            </a:extLst>
          </p:cNvPr>
          <p:cNvSpPr>
            <a:spLocks noGrp="1"/>
          </p:cNvSpPr>
          <p:nvPr>
            <p:ph idx="1"/>
          </p:nvPr>
        </p:nvSpPr>
        <p:spPr>
          <a:xfrm>
            <a:off x="838200" y="987552"/>
            <a:ext cx="10515600" cy="5189411"/>
          </a:xfrm>
        </p:spPr>
        <p:txBody>
          <a:bodyPr/>
          <a:lstStyle/>
          <a:p>
            <a:pPr marL="742950" marR="0" lvl="1" indent="-285750" algn="l">
              <a:lnSpc>
                <a:spcPct val="115000"/>
              </a:lnSpc>
              <a:spcBef>
                <a:spcPts val="0"/>
              </a:spcBef>
              <a:spcAft>
                <a:spcPts val="0"/>
              </a:spcAft>
              <a:buClr>
                <a:srgbClr val="4D5156"/>
              </a:buClr>
              <a:buFont typeface="+mj-lt"/>
              <a:buAutoNum type="arabicPeriod"/>
            </a:pPr>
            <a:r>
              <a:rPr lang="en-US" sz="2000" b="1"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Spiral Model</a:t>
            </a: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is a risk-driven software development process model. It is a combination of the waterfall model and the iterative model.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gn="l">
              <a:lnSpc>
                <a:spcPct val="115000"/>
              </a:lnSpc>
              <a:spcBef>
                <a:spcPts val="0"/>
              </a:spcBef>
              <a:spcAft>
                <a:spcPts val="0"/>
              </a:spcAft>
              <a:buClr>
                <a:srgbClr val="4D5156"/>
              </a:buClr>
              <a:buFont typeface="+mj-lt"/>
              <a:buAutoNum type="arabicPeriod"/>
            </a:pP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Spiral Model helps to adopt software development elements of multiple process models for the software project based on unique risk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914400" marR="0" algn="l">
              <a:lnSpc>
                <a:spcPct val="115000"/>
              </a:lnSpc>
              <a:spcBef>
                <a:spcPts val="0"/>
              </a:spcBef>
              <a:spcAft>
                <a:spcPts val="0"/>
              </a:spcAft>
            </a:pP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Patterns ensuring efficient development process.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gn="l">
              <a:lnSpc>
                <a:spcPct val="115000"/>
              </a:lnSpc>
              <a:spcBef>
                <a:spcPts val="0"/>
              </a:spcBef>
              <a:spcAft>
                <a:spcPts val="0"/>
              </a:spcAft>
            </a:pP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742950" marR="0" lvl="1" indent="-285750" algn="l">
              <a:lnSpc>
                <a:spcPct val="115000"/>
              </a:lnSpc>
              <a:spcBef>
                <a:spcPts val="0"/>
              </a:spcBef>
              <a:spcAft>
                <a:spcPts val="0"/>
              </a:spcAft>
              <a:buClr>
                <a:srgbClr val="4D5156"/>
              </a:buClr>
              <a:buFont typeface="+mj-lt"/>
              <a:buAutoNum type="arabicPeriod"/>
            </a:pP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Each phase of the spiral model in software engineering begins with a design goal and ends with the client reviewing the progress.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gn="l">
              <a:lnSpc>
                <a:spcPct val="115000"/>
              </a:lnSpc>
              <a:spcBef>
                <a:spcPts val="0"/>
              </a:spcBef>
              <a:spcAft>
                <a:spcPts val="1000"/>
              </a:spcAft>
            </a:pPr>
            <a:r>
              <a:rPr lang="en-US" sz="20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development process in the Spiral model in SDLC, starts with a small set of requirements and goes through each development phase for those set of requirements. The software engineering team adds functionality for the additional requirement in every-increasing spirals until the application is ready for the production phase.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419676584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439D62-EED7-A3D7-B61F-29BB59116021}"/>
              </a:ext>
            </a:extLst>
          </p:cNvPr>
          <p:cNvSpPr>
            <a:spLocks noGrp="1"/>
          </p:cNvSpPr>
          <p:nvPr>
            <p:ph type="title"/>
          </p:nvPr>
        </p:nvSpPr>
        <p:spPr>
          <a:xfrm>
            <a:off x="838200" y="365126"/>
            <a:ext cx="10515600" cy="834568"/>
          </a:xfrm>
        </p:spPr>
        <p:txBody>
          <a:bodyPr>
            <a:normAutofit fontScale="90000"/>
          </a:bodyPr>
          <a:lstStyle/>
          <a:p>
            <a:r>
              <a:rPr lang="en-US" sz="4400" dirty="0">
                <a:solidFill>
                  <a:srgbClr val="222222"/>
                </a:solidFill>
                <a:effectLst/>
                <a:latin typeface="Times New Roman" panose="02020603050405020304" pitchFamily="18" charset="0"/>
                <a:ea typeface="Times New Roman" panose="02020603050405020304" pitchFamily="18" charset="0"/>
                <a:cs typeface="Times New Roman" panose="02020603050405020304" pitchFamily="18" charset="0"/>
              </a:rPr>
              <a:t>The below figure very well explains Spiral Model:</a:t>
            </a:r>
            <a:endParaRPr lang="en-US" dirty="0"/>
          </a:p>
        </p:txBody>
      </p:sp>
      <p:pic>
        <p:nvPicPr>
          <p:cNvPr id="4" name="Content Placeholder 3" descr="spiral model">
            <a:extLst>
              <a:ext uri="{FF2B5EF4-FFF2-40B4-BE49-F238E27FC236}">
                <a16:creationId xmlns:a16="http://schemas.microsoft.com/office/drawing/2014/main" id="{FF4B8BD4-9A70-7121-7D48-B8B03C8F367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80006" y="2036763"/>
            <a:ext cx="8471001" cy="3390900"/>
          </a:xfrm>
          <a:prstGeom prst="rect">
            <a:avLst/>
          </a:prstGeom>
          <a:noFill/>
          <a:ln>
            <a:noFill/>
          </a:ln>
        </p:spPr>
      </p:pic>
    </p:spTree>
    <p:extLst>
      <p:ext uri="{BB962C8B-B14F-4D97-AF65-F5344CB8AC3E}">
        <p14:creationId xmlns:p14="http://schemas.microsoft.com/office/powerpoint/2010/main" val="417834690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2BCB969-24E4-8578-DC3F-DF3F68A27454}"/>
              </a:ext>
            </a:extLst>
          </p:cNvPr>
          <p:cNvSpPr>
            <a:spLocks noGrp="1"/>
          </p:cNvSpPr>
          <p:nvPr>
            <p:ph idx="1"/>
          </p:nvPr>
        </p:nvSpPr>
        <p:spPr>
          <a:xfrm>
            <a:off x="519379" y="651052"/>
            <a:ext cx="10834421" cy="5691225"/>
          </a:xfrm>
        </p:spPr>
        <p:txBody>
          <a:bodyPr/>
          <a:lstStyle/>
          <a:p>
            <a:pPr marL="914400" marR="0" algn="just">
              <a:spcBef>
                <a:spcPts val="500"/>
              </a:spcBef>
              <a:spcAft>
                <a:spcPts val="600"/>
              </a:spcAft>
            </a:pPr>
            <a:r>
              <a:rPr lang="en-US" sz="2400" b="1"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Concept development</a:t>
            </a:r>
            <a:r>
              <a:rPr lang="en-US" sz="2400" b="0"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 is the initial stage of software development, where you identify if there is a market for your product, study your target audience problems, build your value proposition, and prepare materials for testing it on your potential customers</a:t>
            </a: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algn="just">
              <a:spcBef>
                <a:spcPts val="500"/>
              </a:spcBef>
              <a:spcAft>
                <a:spcPts val="600"/>
              </a:spcAft>
            </a:pPr>
            <a:r>
              <a:rPr lang="en-US" sz="2400" b="1"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Systems development</a:t>
            </a:r>
            <a:r>
              <a:rPr lang="en-US" sz="2400" b="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 is </a:t>
            </a:r>
            <a:r>
              <a:rPr lang="en-US" sz="2400" b="0" dirty="0">
                <a:solidFill>
                  <a:srgbClr val="040C28"/>
                </a:solidFill>
                <a:effectLst/>
                <a:latin typeface="Times New Roman" panose="02020603050405020304" pitchFamily="18" charset="0"/>
                <a:ea typeface="Times New Roman" panose="02020603050405020304" pitchFamily="18" charset="0"/>
                <a:cs typeface="Times New Roman" panose="02020603050405020304" pitchFamily="18" charset="0"/>
              </a:rPr>
              <a:t>the process of defining, designing, testing, and implementing a new software application or program</a:t>
            </a:r>
            <a:r>
              <a:rPr lang="en-US" sz="2400" b="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 It could include the internal development of customized systems, the creation of database systems, or the acquisition of third party developed software</a:t>
            </a: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algn="just">
              <a:spcBef>
                <a:spcPts val="500"/>
              </a:spcBef>
              <a:spcAft>
                <a:spcPts val="600"/>
              </a:spcAft>
            </a:pPr>
            <a:r>
              <a:rPr lang="en-US" sz="2400" b="1"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System enhancement</a:t>
            </a:r>
            <a:r>
              <a:rPr lang="en-US" sz="2400" b="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 is </a:t>
            </a:r>
            <a:r>
              <a:rPr lang="en-US" sz="2400" b="0" dirty="0">
                <a:solidFill>
                  <a:srgbClr val="040C28"/>
                </a:solidFill>
                <a:effectLst/>
                <a:latin typeface="Times New Roman" panose="02020603050405020304" pitchFamily="18" charset="0"/>
                <a:ea typeface="Times New Roman" panose="02020603050405020304" pitchFamily="18" charset="0"/>
                <a:cs typeface="Times New Roman" panose="02020603050405020304" pitchFamily="18" charset="0"/>
              </a:rPr>
              <a:t>any product change or upgrade that increases software or hardware capabilities beyond original client specifications</a:t>
            </a:r>
            <a:r>
              <a:rPr lang="en-US" sz="2400" b="0" dirty="0">
                <a:solidFill>
                  <a:srgbClr val="202124"/>
                </a:solidFill>
                <a:effectLst/>
                <a:latin typeface="Times New Roman" panose="02020603050405020304" pitchFamily="18" charset="0"/>
                <a:ea typeface="Times New Roman" panose="02020603050405020304" pitchFamily="18" charset="0"/>
                <a:cs typeface="Times New Roman" panose="02020603050405020304" pitchFamily="18" charset="0"/>
              </a:rPr>
              <a:t>. Enhancements allow software and hardware product performance scalability.</a:t>
            </a: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914400" marR="0" algn="just">
              <a:spcBef>
                <a:spcPts val="500"/>
              </a:spcBef>
              <a:spcAft>
                <a:spcPts val="600"/>
              </a:spcAft>
            </a:pPr>
            <a:r>
              <a:rPr lang="en-US" sz="2400" b="1"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System maintenance</a:t>
            </a:r>
            <a:r>
              <a:rPr lang="en-US" sz="2400" b="0"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 phase, the customer </a:t>
            </a:r>
            <a:r>
              <a:rPr lang="en-US" sz="2400" b="0" dirty="0">
                <a:solidFill>
                  <a:srgbClr val="040C28"/>
                </a:solidFill>
                <a:effectLst/>
                <a:latin typeface="Times New Roman" panose="02020603050405020304" pitchFamily="18" charset="0"/>
                <a:ea typeface="Times New Roman" panose="02020603050405020304" pitchFamily="18" charset="0"/>
                <a:cs typeface="Times New Roman" panose="02020603050405020304" pitchFamily="18" charset="0"/>
              </a:rPr>
              <a:t>monitors the software to ensure it continues to operate according to the coding specifications</a:t>
            </a:r>
            <a:r>
              <a:rPr lang="en-US" sz="2400" b="0" dirty="0">
                <a:solidFill>
                  <a:srgbClr val="4D5156"/>
                </a:solidFill>
                <a:effectLst/>
                <a:latin typeface="Times New Roman" panose="02020603050405020304" pitchFamily="18" charset="0"/>
                <a:ea typeface="Times New Roman" panose="02020603050405020304" pitchFamily="18" charset="0"/>
                <a:cs typeface="Times New Roman" panose="02020603050405020304" pitchFamily="18" charset="0"/>
              </a:rPr>
              <a:t>. In addition to monitoring software functionality, the customer also repairs defects and upgrades software when necessary</a:t>
            </a:r>
            <a:endParaRPr lang="en-US" sz="2400" b="1"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7917984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75E4028-28CC-5018-D84E-F9AFF109DC3F}"/>
              </a:ext>
            </a:extLst>
          </p:cNvPr>
          <p:cNvSpPr>
            <a:spLocks noGrp="1"/>
          </p:cNvSpPr>
          <p:nvPr>
            <p:ph idx="1"/>
          </p:nvPr>
        </p:nvSpPr>
        <p:spPr>
          <a:xfrm>
            <a:off x="838200" y="892454"/>
            <a:ext cx="10515600" cy="5284509"/>
          </a:xfrm>
        </p:spPr>
        <p:txBody>
          <a:bodyPr/>
          <a:lstStyle/>
          <a:p>
            <a:pPr marL="0" marR="0">
              <a:spcAft>
                <a:spcPts val="600"/>
              </a:spcAft>
            </a:pPr>
            <a:r>
              <a:rPr lang="en-US" b="1" dirty="0">
                <a:solidFill>
                  <a:srgbClr val="222222"/>
                </a:solidFill>
                <a:effectLst/>
                <a:latin typeface="Times New Roman" panose="02020603050405020304" pitchFamily="18" charset="0"/>
                <a:ea typeface="Times New Roman" panose="02020603050405020304" pitchFamily="18" charset="0"/>
              </a:rPr>
              <a:t>When to use Spiral Model?</a:t>
            </a:r>
            <a:endParaRPr lang="en-US" b="1" dirty="0">
              <a:effectLst/>
              <a:latin typeface="Times New Roman" panose="02020603050405020304" pitchFamily="18" charset="0"/>
              <a:ea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A Spiral model in software engineering is used when project is large</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When releases are required to be frequent, spiral methodology is used</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When risk and costs evaluation is important</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Spiral methodology is useful for medium to high-risk projects</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When requirements are unclear and complex, Spiral model in </a:t>
            </a:r>
            <a:r>
              <a:rPr lang="en-US" u="sng" dirty="0">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hlinkClick r:id="rId2"/>
              </a:rPr>
              <a:t>SDLC</a:t>
            </a: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 is useful</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a:lnSpc>
                <a:spcPct val="115000"/>
              </a:lnSpc>
              <a:spcBef>
                <a:spcPts val="0"/>
              </a:spcBef>
              <a:spcAft>
                <a:spcPts val="1000"/>
              </a:spcAft>
              <a:buSzPts val="1000"/>
              <a:buFont typeface="Symbol" panose="05050102010706020507" pitchFamily="18" charset="2"/>
              <a:buChar char=""/>
              <a:tabLst>
                <a:tab pos="457200" algn="l"/>
              </a:tabLst>
            </a:pPr>
            <a:r>
              <a:rPr lang="en-US" dirty="0">
                <a:solidFill>
                  <a:srgbClr val="222222"/>
                </a:solidFill>
                <a:effectLst/>
                <a:latin typeface="Times New Roman" panose="02020603050405020304" pitchFamily="18" charset="0"/>
                <a:ea typeface="Calibri" panose="020F0502020204030204" pitchFamily="34" charset="0"/>
                <a:cs typeface="Times New Roman" panose="02020603050405020304" pitchFamily="18" charset="0"/>
              </a:rPr>
              <a:t>When changes may require at any time</a:t>
            </a:r>
            <a:endParaRPr lang="en-US" dirty="0">
              <a:solidFill>
                <a:srgbClr val="222222"/>
              </a:solidFill>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120575315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7DCAC1A-D614-BC7E-A4BA-CE1DA79EEF24}"/>
              </a:ext>
            </a:extLst>
          </p:cNvPr>
          <p:cNvSpPr>
            <a:spLocks noGrp="1"/>
          </p:cNvSpPr>
          <p:nvPr>
            <p:ph idx="1"/>
          </p:nvPr>
        </p:nvSpPr>
        <p:spPr>
          <a:xfrm>
            <a:off x="838200" y="621792"/>
            <a:ext cx="10515600" cy="5555171"/>
          </a:xfrm>
        </p:spPr>
        <p:txBody>
          <a:bodyPr>
            <a:normAutofit lnSpcReduction="10000"/>
          </a:bodyPr>
          <a:lstStyle/>
          <a:p>
            <a:pPr marL="0" marR="0" algn="l" fontAlgn="base">
              <a:lnSpc>
                <a:spcPct val="115000"/>
              </a:lnSpc>
              <a:spcBef>
                <a:spcPts val="0"/>
              </a:spcBef>
              <a:spcAft>
                <a:spcPts val="0"/>
              </a:spcAft>
            </a:pPr>
            <a:r>
              <a:rPr lang="en-US" sz="2400" b="1"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Advantages-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Fast development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Development of all phases is carried out in a controlled manner</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Customer feedback is taken into account for the modifications to be done accordingly in case required</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Suitable for large projects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Suitable for risky projects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Continuous risk analysis helps in better development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Useful in rapidly changing requirements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l" fontAlgn="base">
              <a:lnSpc>
                <a:spcPct val="115000"/>
              </a:lnSpc>
              <a:spcBef>
                <a:spcPts val="0"/>
              </a:spcBef>
              <a:spcAft>
                <a:spcPts val="0"/>
              </a:spcAft>
            </a:pPr>
            <a:r>
              <a:rPr lang="en-US" sz="2400" b="1"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Disadvantages-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Not suitable for smaller projects because of the high cost associated with the development process</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l" fontAlgn="base">
              <a:lnSpc>
                <a:spcPct val="115000"/>
              </a:lnSpc>
              <a:spcBef>
                <a:spcPts val="0"/>
              </a:spcBef>
              <a:spcAft>
                <a:spcPts val="0"/>
              </a:spcAft>
              <a:buSzPts val="1000"/>
              <a:buFont typeface="Symbol" panose="05050102010706020507" pitchFamily="18" charset="2"/>
              <a:buChar char=""/>
              <a:tabLst>
                <a:tab pos="457200" algn="l"/>
              </a:tabLst>
            </a:pPr>
            <a:r>
              <a:rPr lang="en-US" sz="2400" spc="15" dirty="0">
                <a:solidFill>
                  <a:srgbClr val="273239"/>
                </a:solidFill>
                <a:effectLst/>
                <a:latin typeface="Arial" panose="020B0604020202020204" pitchFamily="34" charset="0"/>
                <a:ea typeface="Times New Roman" panose="02020603050405020304" pitchFamily="18" charset="0"/>
                <a:cs typeface="Times New Roman" panose="02020603050405020304" pitchFamily="18" charset="0"/>
              </a:rPr>
              <a:t>High possibility of not meeting the set budget or time limit.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7969931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89247-D85B-A31F-73BE-95DD78C97E6D}"/>
              </a:ext>
            </a:extLst>
          </p:cNvPr>
          <p:cNvSpPr>
            <a:spLocks noGrp="1"/>
          </p:cNvSpPr>
          <p:nvPr>
            <p:ph type="title"/>
          </p:nvPr>
        </p:nvSpPr>
        <p:spPr>
          <a:xfrm>
            <a:off x="838200" y="365126"/>
            <a:ext cx="10515600" cy="871144"/>
          </a:xfrm>
        </p:spPr>
        <p:txBody>
          <a:bodyPr>
            <a:normAutofit/>
          </a:bodyPr>
          <a:lstStyle/>
          <a:p>
            <a:r>
              <a:rPr lang="en-US" sz="2800" b="1" dirty="0">
                <a:solidFill>
                  <a:srgbClr val="333333"/>
                </a:solidFill>
                <a:effectLst/>
                <a:latin typeface="Times New Roman" panose="02020603050405020304" pitchFamily="18" charset="0"/>
                <a:ea typeface="Calibri" panose="020F0502020204030204" pitchFamily="34" charset="0"/>
                <a:cs typeface="Times New Roman" panose="02020603050405020304" pitchFamily="18" charset="0"/>
              </a:rPr>
              <a:t>concurrent development model</a:t>
            </a:r>
            <a:endParaRPr lang="en-US" sz="2800" b="1"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7960B5E-CEB8-7FD5-7274-30D897233F7F}"/>
              </a:ext>
            </a:extLst>
          </p:cNvPr>
          <p:cNvSpPr>
            <a:spLocks noGrp="1"/>
          </p:cNvSpPr>
          <p:nvPr>
            <p:ph idx="1"/>
          </p:nvPr>
        </p:nvSpPr>
        <p:spPr>
          <a:xfrm>
            <a:off x="838200" y="1331366"/>
            <a:ext cx="10515600" cy="4845597"/>
          </a:xfrm>
        </p:spPr>
        <p:txBody>
          <a:bodyPr/>
          <a:lstStyle/>
          <a:p>
            <a:pPr marL="342900" marR="0" lvl="0" indent="-342900">
              <a:spcBef>
                <a:spcPts val="0"/>
              </a:spcBef>
              <a:spcAft>
                <a:spcPts val="785"/>
              </a:spcAft>
              <a:buSzPts val="1000"/>
              <a:buFont typeface="Symbol" panose="05050102010706020507" pitchFamily="18" charset="2"/>
              <a:buChar char=""/>
              <a:tabLst>
                <a:tab pos="4572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concurrent development model is called as concurrent model.</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communication activity has been completed in the first iteration and exits in the awaiting changes state.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modeling activity completed its initial communication and then go to the underdevelopment state.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If the customer specifies the change in the requirement, then the modeling activity moves from the under-development state into the awaiting change state.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The concurrent process model activities moving from one state to another state.</a:t>
            </a:r>
            <a:endParaRPr lang="en-US" dirty="0">
              <a:effectLst/>
              <a:latin typeface="Times New Roman" panose="02020603050405020304" pitchFamily="18" charset="0"/>
              <a:ea typeface="Times New Roman" panose="02020603050405020304" pitchFamily="18" charset="0"/>
              <a:cs typeface="Times New Roman" panose="02020603050405020304" pitchFamily="18" charset="0"/>
            </a:endParaRPr>
          </a:p>
          <a:p>
            <a:endParaRPr lang="en-US" dirty="0"/>
          </a:p>
        </p:txBody>
      </p:sp>
    </p:spTree>
    <p:extLst>
      <p:ext uri="{BB962C8B-B14F-4D97-AF65-F5344CB8AC3E}">
        <p14:creationId xmlns:p14="http://schemas.microsoft.com/office/powerpoint/2010/main" val="521343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Concurrent Process Model">
            <a:extLst>
              <a:ext uri="{FF2B5EF4-FFF2-40B4-BE49-F238E27FC236}">
                <a16:creationId xmlns:a16="http://schemas.microsoft.com/office/drawing/2014/main" id="{3FD0FC1D-12A3-6D6D-4F07-AB46ECDF498B}"/>
              </a:ext>
            </a:extLst>
          </p:cNvPr>
          <p:cNvPicPr>
            <a:picLocks noGrp="1" noChangeAspect="1"/>
          </p:cNvPicPr>
          <p:nvPr>
            <p:ph idx="1"/>
          </p:nvPr>
        </p:nvPicPr>
        <p:blipFill>
          <a:blip r:embed="rId2"/>
          <a:srcRect/>
          <a:stretch>
            <a:fillRect/>
          </a:stretch>
        </p:blipFill>
        <p:spPr bwMode="auto">
          <a:xfrm>
            <a:off x="994867" y="961231"/>
            <a:ext cx="9838944" cy="4467225"/>
          </a:xfrm>
          <a:prstGeom prst="rect">
            <a:avLst/>
          </a:prstGeom>
          <a:noFill/>
          <a:ln w="9525">
            <a:noFill/>
            <a:miter lim="800000"/>
            <a:headEnd/>
            <a:tailEnd/>
          </a:ln>
        </p:spPr>
      </p:pic>
    </p:spTree>
    <p:extLst>
      <p:ext uri="{BB962C8B-B14F-4D97-AF65-F5344CB8AC3E}">
        <p14:creationId xmlns:p14="http://schemas.microsoft.com/office/powerpoint/2010/main" val="203263369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5EE7C35-D61F-2ACF-2E0D-DDD74434CCA7}"/>
              </a:ext>
            </a:extLst>
          </p:cNvPr>
          <p:cNvSpPr>
            <a:spLocks noGrp="1"/>
          </p:cNvSpPr>
          <p:nvPr>
            <p:ph idx="1"/>
          </p:nvPr>
        </p:nvSpPr>
        <p:spPr>
          <a:xfrm>
            <a:off x="838200" y="731520"/>
            <a:ext cx="10515600" cy="5445443"/>
          </a:xfrm>
        </p:spPr>
        <p:txBody>
          <a:bodyPr/>
          <a:lstStyle/>
          <a:p>
            <a:pPr marL="0" marR="0">
              <a:spcBef>
                <a:spcPts val="0"/>
              </a:spcBef>
              <a:spcAft>
                <a:spcPts val="785"/>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Advantages of the concurrent development model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This model applies to all types of software development processes.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is easy to understand and use.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gives immediate feedback from testing.</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provides an accurate picture of the current state of a project.</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marR="0">
              <a:spcBef>
                <a:spcPts val="0"/>
              </a:spcBef>
              <a:spcAft>
                <a:spcPts val="785"/>
              </a:spcAft>
            </a:pPr>
            <a:r>
              <a:rPr lang="en-US" sz="2400" b="1"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Disadvantages of the concurrent development model</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needs better communication between the team members. This may not be achieved all the time.</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342900" marR="0" lvl="0" indent="-342900">
              <a:spcBef>
                <a:spcPts val="0"/>
              </a:spcBef>
              <a:spcAft>
                <a:spcPts val="785"/>
              </a:spcAft>
              <a:buSzPts val="1000"/>
              <a:buFont typeface="Symbol" panose="05050102010706020507" pitchFamily="18" charset="2"/>
              <a:buChar char=""/>
              <a:tabLst>
                <a:tab pos="457200" algn="l"/>
              </a:tabLst>
            </a:pPr>
            <a:r>
              <a:rPr lang="en-US" sz="2400" dirty="0">
                <a:solidFill>
                  <a:srgbClr val="333333"/>
                </a:solidFill>
                <a:effectLst/>
                <a:latin typeface="Times New Roman" panose="02020603050405020304" pitchFamily="18" charset="0"/>
                <a:ea typeface="Times New Roman" panose="02020603050405020304" pitchFamily="18" charset="0"/>
                <a:cs typeface="Times New Roman" panose="02020603050405020304" pitchFamily="18" charset="0"/>
              </a:rPr>
              <a:t>It requires to remember the status of the different activities.</a:t>
            </a:r>
            <a:endParaRPr lang="en-US"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05566317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1822DF-BC77-9732-0998-0869ED01625B}"/>
              </a:ext>
            </a:extLst>
          </p:cNvPr>
          <p:cNvSpPr>
            <a:spLocks noGrp="1"/>
          </p:cNvSpPr>
          <p:nvPr>
            <p:ph type="title"/>
          </p:nvPr>
        </p:nvSpPr>
        <p:spPr>
          <a:xfrm>
            <a:off x="838200" y="365126"/>
            <a:ext cx="10515600" cy="1032078"/>
          </a:xfrm>
        </p:spPr>
        <p:txBody>
          <a:bodyPr>
            <a:normAutofit fontScale="90000"/>
          </a:bodyPr>
          <a:lstStyle/>
          <a:p>
            <a:r>
              <a:rPr lang="en-US" b="1" dirty="0">
                <a:effectLst/>
                <a:latin typeface="Times New Roman" panose="02020603050405020304" pitchFamily="18" charset="0"/>
                <a:ea typeface="Calibri" panose="020F0502020204030204" pitchFamily="34" charset="0"/>
                <a:cs typeface="Times New Roman" panose="02020603050405020304" pitchFamily="18" charset="0"/>
              </a:rPr>
              <a:t>V-Model</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BAF27AA2-7536-1793-A3F0-070DA089BE05}"/>
              </a:ext>
            </a:extLst>
          </p:cNvPr>
          <p:cNvSpPr>
            <a:spLocks noGrp="1"/>
          </p:cNvSpPr>
          <p:nvPr>
            <p:ph idx="1"/>
          </p:nvPr>
        </p:nvSpPr>
        <p:spPr>
          <a:xfrm>
            <a:off x="838200" y="1309421"/>
            <a:ext cx="10515600" cy="4867542"/>
          </a:xfrm>
        </p:spPr>
        <p:txBody>
          <a:bodyPr/>
          <a:lstStyle/>
          <a:p>
            <a:pPr marL="0" indent="0" algn="just">
              <a:buNone/>
            </a:pPr>
            <a:r>
              <a:rPr lang="en-US" sz="4000" dirty="0">
                <a:effectLst/>
                <a:latin typeface="Times New Roman" panose="02020603050405020304" pitchFamily="18" charset="0"/>
                <a:ea typeface="Calibri" panose="020F0502020204030204" pitchFamily="34" charset="0"/>
                <a:cs typeface="Times New Roman" panose="02020603050405020304" pitchFamily="18" charset="0"/>
              </a:rPr>
              <a:t>V-Model is also referred to as the Verification and Validation Model. In this, each phase of SDLC must be completed before the next phase starts. It follows a sequential design process same as the waterfall model. Testing of the device is planned in parallel with a corresponding stage of development.</a:t>
            </a:r>
          </a:p>
          <a:p>
            <a:pPr marL="0" indent="0">
              <a:buNone/>
            </a:pPr>
            <a:endParaRPr lang="en-US" dirty="0"/>
          </a:p>
        </p:txBody>
      </p:sp>
    </p:spTree>
    <p:extLst>
      <p:ext uri="{BB962C8B-B14F-4D97-AF65-F5344CB8AC3E}">
        <p14:creationId xmlns:p14="http://schemas.microsoft.com/office/powerpoint/2010/main" val="174502354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V-model">
            <a:extLst>
              <a:ext uri="{FF2B5EF4-FFF2-40B4-BE49-F238E27FC236}">
                <a16:creationId xmlns:a16="http://schemas.microsoft.com/office/drawing/2014/main" id="{738B41ED-5217-06D5-5214-2E06F979EFDE}"/>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16813" y="768096"/>
            <a:ext cx="9875520" cy="5859475"/>
          </a:xfrm>
          <a:prstGeom prst="rect">
            <a:avLst/>
          </a:prstGeom>
          <a:noFill/>
          <a:ln>
            <a:noFill/>
          </a:ln>
        </p:spPr>
      </p:pic>
    </p:spTree>
    <p:extLst>
      <p:ext uri="{BB962C8B-B14F-4D97-AF65-F5344CB8AC3E}">
        <p14:creationId xmlns:p14="http://schemas.microsoft.com/office/powerpoint/2010/main" val="397196755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B51DF40-A664-37B1-ABBA-4AB6F79530BA}"/>
              </a:ext>
            </a:extLst>
          </p:cNvPr>
          <p:cNvSpPr>
            <a:spLocks noGrp="1"/>
          </p:cNvSpPr>
          <p:nvPr>
            <p:ph idx="1"/>
          </p:nvPr>
        </p:nvSpPr>
        <p:spPr>
          <a:xfrm>
            <a:off x="838200" y="950976"/>
            <a:ext cx="10515600" cy="5225987"/>
          </a:xfrm>
        </p:spPr>
        <p:txBody>
          <a:bodyPr>
            <a:normAutofit fontScale="92500"/>
          </a:bodyPr>
          <a:lstStyle/>
          <a:p>
            <a:pPr marL="0" marR="0" algn="just">
              <a:lnSpc>
                <a:spcPct val="115000"/>
              </a:lnSpc>
              <a:spcBef>
                <a:spcPts val="0"/>
              </a:spcBef>
              <a:spcAft>
                <a:spcPts val="10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Verification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It involves a static analysis method (review) done without executing code. It is the process of evaluation of the product development process to find whether specified requirements are met.</a:t>
            </a:r>
          </a:p>
          <a:p>
            <a:pPr marL="0" marR="0" algn="just">
              <a:lnSpc>
                <a:spcPct val="115000"/>
              </a:lnSpc>
              <a:spcBef>
                <a:spcPts val="0"/>
              </a:spcBef>
              <a:spcAft>
                <a:spcPts val="1000"/>
              </a:spcAft>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Validation</a:t>
            </a: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 It involves a dynamic analysis method (functional, non-functional), testing is done by executing code. Validation is the process of classifying the software after the completion of the development process to determine whether the software meets the customer’s expectations and requirements.</a:t>
            </a:r>
          </a:p>
          <a:p>
            <a:pPr marL="0" indent="0">
              <a:buNone/>
            </a:pPr>
            <a:endParaRPr lang="en-US" dirty="0"/>
          </a:p>
        </p:txBody>
      </p:sp>
    </p:spTree>
    <p:extLst>
      <p:ext uri="{BB962C8B-B14F-4D97-AF65-F5344CB8AC3E}">
        <p14:creationId xmlns:p14="http://schemas.microsoft.com/office/powerpoint/2010/main" val="348627774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169906-A488-0AA2-DD81-FB890B855EA1}"/>
              </a:ext>
            </a:extLst>
          </p:cNvPr>
          <p:cNvSpPr>
            <a:spLocks noGrp="1"/>
          </p:cNvSpPr>
          <p:nvPr>
            <p:ph idx="1"/>
          </p:nvPr>
        </p:nvSpPr>
        <p:spPr>
          <a:xfrm>
            <a:off x="838200" y="738835"/>
            <a:ext cx="10515600" cy="5438128"/>
          </a:xfrm>
        </p:spPr>
        <p:txBody>
          <a:bodyPr>
            <a:normAutofit/>
          </a:bodyPr>
          <a:lstStyle/>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So V-Model contains Verification phases on one side of the Validation phases on the other side. Verification and Validation process is joined by coding phase in V-shape. Thus it is known as V-Model.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There are the various phases of Verification Phase of V-model:</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 Business requirement analysis: This is the first step where product requirements understood from the customer's side. This phase contains detailed communication to understand customer's expectations and exact requirements.</a:t>
            </a:r>
          </a:p>
          <a:p>
            <a:pPr marL="0" indent="0" algn="just">
              <a:lnSpc>
                <a:spcPct val="115000"/>
              </a:lnSpc>
              <a:spcBef>
                <a:spcPts val="0"/>
              </a:spcBef>
              <a:spcAft>
                <a:spcPts val="1000"/>
              </a:spcAft>
              <a:buNone/>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2. System Design: In this stage system engineers analyze and interpret the business of the proposed system by studying the user requirements document.</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28621522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31D81F-2CD3-68B8-4E22-E97D5647838A}"/>
              </a:ext>
            </a:extLst>
          </p:cNvPr>
          <p:cNvSpPr>
            <a:spLocks noGrp="1"/>
          </p:cNvSpPr>
          <p:nvPr>
            <p:ph idx="1"/>
          </p:nvPr>
        </p:nvSpPr>
        <p:spPr>
          <a:xfrm>
            <a:off x="838200" y="577901"/>
            <a:ext cx="10515600" cy="5599062"/>
          </a:xfrm>
        </p:spPr>
        <p:txBody>
          <a:bodyPr>
            <a:normAutofit fontScale="92500" lnSpcReduction="20000"/>
          </a:bodyPr>
          <a:lstStyle/>
          <a:p>
            <a:pPr marL="0" marR="0" lvl="0" indent="0" algn="just">
              <a:lnSpc>
                <a:spcPct val="115000"/>
              </a:lnSpc>
              <a:spcBef>
                <a:spcPts val="0"/>
              </a:spcBef>
              <a:spcAft>
                <a:spcPts val="1000"/>
              </a:spcAft>
              <a:buNone/>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3. Architecture Design: The baseline in selecting the architecture is that it should understand all which typically consists of the list of modules, brief functionality of each module, their interface relationships, dependencies, database tables, architecture diagrams, technology detail, etc. The integration testing model is carried out in a particular phase.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tabLst>
                <a:tab pos="457200" algn="l"/>
              </a:tabLst>
            </a:pPr>
            <a:r>
              <a:rPr lang="en-US" dirty="0">
                <a:effectLst/>
                <a:latin typeface="Times New Roman" panose="02020603050405020304" pitchFamily="18" charset="0"/>
                <a:ea typeface="Calibri" panose="020F0502020204030204" pitchFamily="34" charset="0"/>
                <a:cs typeface="Times New Roman" panose="02020603050405020304" pitchFamily="18" charset="0"/>
              </a:rPr>
              <a:t>4. Module Design: In the module design phase, the system breaks down into small modules. The detailed design of the modules is specified, which is known as Low-Level Design</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marR="0" lvl="0" indent="0" algn="just">
              <a:lnSpc>
                <a:spcPct val="115000"/>
              </a:lnSpc>
              <a:spcBef>
                <a:spcPts val="0"/>
              </a:spcBef>
              <a:spcAft>
                <a:spcPts val="1000"/>
              </a:spcAft>
              <a:buNone/>
              <a:tabLst>
                <a:tab pos="457200" algn="l"/>
              </a:tabLst>
            </a:pPr>
            <a:r>
              <a:rPr lang="en-US">
                <a:effectLst/>
                <a:latin typeface="Times New Roman" panose="02020603050405020304" pitchFamily="18" charset="0"/>
                <a:ea typeface="Calibri" panose="020F0502020204030204" pitchFamily="34" charset="0"/>
                <a:cs typeface="Times New Roman" panose="02020603050405020304" pitchFamily="18" charset="0"/>
              </a:rPr>
              <a:t>5. Coding </a:t>
            </a:r>
            <a:r>
              <a:rPr lang="en-US" dirty="0">
                <a:effectLst/>
                <a:latin typeface="Times New Roman" panose="02020603050405020304" pitchFamily="18" charset="0"/>
                <a:ea typeface="Calibri" panose="020F0502020204030204" pitchFamily="34" charset="0"/>
                <a:cs typeface="Times New Roman" panose="02020603050405020304" pitchFamily="18" charset="0"/>
              </a:rPr>
              <a:t>Phase: After designing, the coding phase is started. Based on the requirements, a suitable programming language is decided. There are some guidelines and standards for coding. Before checking in the repository, the final build is optimized for better performance, and the code goes through many code reviews to check the performance.</a:t>
            </a:r>
            <a:endParaRPr lang="en-US"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9510785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546DFF-90FE-18C3-79C6-151C7B9E59E0}"/>
              </a:ext>
            </a:extLst>
          </p:cNvPr>
          <p:cNvSpPr>
            <a:spLocks noGrp="1"/>
          </p:cNvSpPr>
          <p:nvPr>
            <p:ph idx="1"/>
          </p:nvPr>
        </p:nvSpPr>
        <p:spPr>
          <a:xfrm>
            <a:off x="838200" y="899770"/>
            <a:ext cx="10515600" cy="5277193"/>
          </a:xfrm>
        </p:spPr>
        <p:txBody>
          <a:bodyPr/>
          <a:lstStyle/>
          <a:p>
            <a:pPr marL="0" marR="0" algn="just">
              <a:lnSpc>
                <a:spcPct val="115000"/>
              </a:lnSpc>
              <a:spcBef>
                <a:spcPts val="0"/>
              </a:spcBef>
              <a:spcAft>
                <a:spcPts val="1000"/>
              </a:spcAf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There are the various phases of Validation Phase of V-model:</a:t>
            </a:r>
          </a:p>
          <a:p>
            <a:pPr marL="0" marR="0" lvl="0" indent="0" algn="just">
              <a:lnSpc>
                <a:spcPct val="115000"/>
              </a:lnSpc>
              <a:spcBef>
                <a:spcPts val="0"/>
              </a:spcBef>
              <a:spcAft>
                <a:spcPts val="1000"/>
              </a:spcAft>
              <a:buNone/>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 Unit Testing: In the V-Model, Unit Test Plans (UTPs) are developed during the module design phase. These UTPs are executed to eliminate errors at the code level or unit level. A unit is the smallest entity that can independently exist, e.g., a program module. Unit testing verifies that the smallest entity can function correctly when isolated from the rest of the codes/ units.</a:t>
            </a:r>
          </a:p>
          <a:p>
            <a:pPr marL="0" marR="0" lvl="0" indent="0" algn="just">
              <a:lnSpc>
                <a:spcPct val="115000"/>
              </a:lnSpc>
              <a:spcBef>
                <a:spcPts val="0"/>
              </a:spcBef>
              <a:spcAft>
                <a:spcPts val="1000"/>
              </a:spcAft>
              <a:buNone/>
              <a:tabLst>
                <a:tab pos="457200" algn="l"/>
              </a:tabLst>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2. Integration Testing: Integration Test Plans are developed during the Architectural Design Phase. These tests verify that groups created and tested independently can coexist and communicate among themselves.</a:t>
            </a:r>
          </a:p>
          <a:p>
            <a:pPr marL="0" indent="0">
              <a:buNone/>
            </a:pPr>
            <a:endParaRPr lang="en-US" dirty="0"/>
          </a:p>
        </p:txBody>
      </p:sp>
    </p:spTree>
    <p:extLst>
      <p:ext uri="{BB962C8B-B14F-4D97-AF65-F5344CB8AC3E}">
        <p14:creationId xmlns:p14="http://schemas.microsoft.com/office/powerpoint/2010/main" val="7013242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F06A5EC-23BE-4FAD-93B7-57A989CF9C4A}"/>
              </a:ext>
            </a:extLst>
          </p:cNvPr>
          <p:cNvSpPr>
            <a:spLocks noGrp="1"/>
          </p:cNvSpPr>
          <p:nvPr>
            <p:ph idx="1"/>
          </p:nvPr>
        </p:nvSpPr>
        <p:spPr>
          <a:xfrm>
            <a:off x="838200" y="548640"/>
            <a:ext cx="10515600" cy="5628323"/>
          </a:xfrm>
        </p:spPr>
        <p:txBody>
          <a:bodyPr>
            <a:normAutofit lnSpcReduction="10000"/>
          </a:bodyPr>
          <a:lstStyle/>
          <a:p>
            <a:pPr marL="0" marR="0" lvl="0" indent="0" algn="just">
              <a:lnSpc>
                <a:spcPct val="115000"/>
              </a:lnSpc>
              <a:spcBef>
                <a:spcPts val="0"/>
              </a:spcBef>
              <a:spcAft>
                <a:spcPts val="10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3. System Testing: System Tests Plans are developed during System Design Phase. Unlike Unit and Integration Test Plans, System Tests Plans are composed by the </a:t>
            </a: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client?s</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business team. System Test ensures that expectations from an application developer are met.</a:t>
            </a:r>
          </a:p>
          <a:p>
            <a:pPr marL="0" marR="0" lvl="0" indent="0" algn="just">
              <a:lnSpc>
                <a:spcPct val="115000"/>
              </a:lnSpc>
              <a:spcBef>
                <a:spcPts val="0"/>
              </a:spcBef>
              <a:spcAft>
                <a:spcPts val="1000"/>
              </a:spcAft>
              <a:buNone/>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4. Acceptance Testing: Acceptance testing is related to the business requirement analysis part. It includes testing the software product in user atmosphere. Acceptance tests reveal the compatibility problems with the different systems, which is available within the user atmosphere. It conjointly discovers the non-functional problems like load and performance defects within the real user atmosphere.</a:t>
            </a:r>
          </a:p>
          <a:p>
            <a:pPr marL="0" marR="0" indent="0" algn="just">
              <a:lnSpc>
                <a:spcPct val="115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When to use V-Model?</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When the requirement is well defined and not ambiguous.</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V-shaped model should be used for small to medium-sized projects where requirements are clearly defined and fixed.</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V-shaped model should be chosen when sample technical resources are available with essential technical expertise.</a:t>
            </a:r>
          </a:p>
          <a:p>
            <a:pPr marL="0" indent="0">
              <a:buNone/>
            </a:pPr>
            <a:endParaRPr lang="en-US" dirty="0"/>
          </a:p>
        </p:txBody>
      </p:sp>
    </p:spTree>
    <p:extLst>
      <p:ext uri="{BB962C8B-B14F-4D97-AF65-F5344CB8AC3E}">
        <p14:creationId xmlns:p14="http://schemas.microsoft.com/office/powerpoint/2010/main" val="198781383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43E65B-B774-4EDC-A5F7-DCED4518BDDB}"/>
              </a:ext>
            </a:extLst>
          </p:cNvPr>
          <p:cNvSpPr>
            <a:spLocks noGrp="1"/>
          </p:cNvSpPr>
          <p:nvPr>
            <p:ph idx="1"/>
          </p:nvPr>
        </p:nvSpPr>
        <p:spPr>
          <a:xfrm>
            <a:off x="838200" y="482803"/>
            <a:ext cx="10515600" cy="5694160"/>
          </a:xfrm>
        </p:spPr>
        <p:txBody>
          <a:bodyPr>
            <a:normAutofit lnSpcReduction="10000"/>
          </a:bodyPr>
          <a:lstStyle/>
          <a:p>
            <a:pPr marL="0" marR="0" indent="0" algn="just">
              <a:lnSpc>
                <a:spcPct val="115000"/>
              </a:lnSpc>
              <a:spcBef>
                <a:spcPts val="0"/>
              </a:spcBef>
              <a:spcAft>
                <a:spcPts val="1000"/>
              </a:spcAft>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Advantage (Pros) of V-Model: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Easy to Understand.</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Testing Methods like planning, test designing happens well before coding.</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This saves a lot of time. Hence a higher chance of success over the waterfall model.</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Avoids the downward flow of the defects.</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Works well for small plans where requirements are easily understood.</a:t>
            </a:r>
          </a:p>
          <a:p>
            <a:pPr marL="0" marR="0" indent="0" algn="just">
              <a:lnSpc>
                <a:spcPct val="115000"/>
              </a:lnSpc>
              <a:spcBef>
                <a:spcPts val="0"/>
              </a:spcBef>
              <a:spcAft>
                <a:spcPts val="1000"/>
              </a:spcAft>
              <a:buNone/>
            </a:pPr>
            <a:r>
              <a:rPr lang="en-US" sz="2000" b="1" dirty="0">
                <a:effectLst/>
                <a:latin typeface="Times New Roman" panose="02020603050405020304" pitchFamily="18" charset="0"/>
                <a:ea typeface="Calibri" panose="020F0502020204030204" pitchFamily="34" charset="0"/>
                <a:cs typeface="Times New Roman" panose="02020603050405020304" pitchFamily="18" charset="0"/>
              </a:rPr>
              <a:t>Disadvantage (Cons) of V-Model:</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Very rigid and least flexible.</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Not a good for a complex project.</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Software is developed during the implementation stage, so no early prototypes of the software are produced.</a:t>
            </a:r>
          </a:p>
          <a:p>
            <a:pPr marL="342900" marR="0" lvl="0" indent="-342900" algn="just">
              <a:lnSpc>
                <a:spcPct val="115000"/>
              </a:lnSpc>
              <a:spcBef>
                <a:spcPts val="0"/>
              </a:spcBef>
              <a:spcAft>
                <a:spcPts val="1000"/>
              </a:spcAft>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If any changes happen in the midway, then the test documents along with the required documents, has to be updated.</a:t>
            </a:r>
          </a:p>
          <a:p>
            <a:pPr marL="0" indent="0">
              <a:buNone/>
            </a:pPr>
            <a:endParaRPr lang="en-US" dirty="0"/>
          </a:p>
        </p:txBody>
      </p:sp>
    </p:spTree>
    <p:extLst>
      <p:ext uri="{BB962C8B-B14F-4D97-AF65-F5344CB8AC3E}">
        <p14:creationId xmlns:p14="http://schemas.microsoft.com/office/powerpoint/2010/main" val="205706204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AF50D-D80D-D16D-7F18-A57C7C27B5C8}"/>
              </a:ext>
            </a:extLst>
          </p:cNvPr>
          <p:cNvSpPr>
            <a:spLocks noGrp="1"/>
          </p:cNvSpPr>
          <p:nvPr>
            <p:ph type="title"/>
          </p:nvPr>
        </p:nvSpPr>
        <p:spPr/>
        <p:txBody>
          <a:bodyPr/>
          <a:lstStyle/>
          <a:p>
            <a:r>
              <a:rPr lang="en-US" sz="3600" b="1" dirty="0">
                <a:effectLst/>
                <a:latin typeface="Times New Roman" panose="02020603050405020304" pitchFamily="18" charset="0"/>
                <a:ea typeface="Calibri" panose="020F0502020204030204" pitchFamily="34" charset="0"/>
                <a:cs typeface="Times New Roman" panose="02020603050405020304" pitchFamily="18" charset="0"/>
              </a:rPr>
              <a:t>Agile Model</a:t>
            </a:r>
            <a:br>
              <a:rPr lang="en-US" sz="1800" dirty="0">
                <a:effectLst/>
                <a:latin typeface="Calibri" panose="020F0502020204030204" pitchFamily="34" charset="0"/>
                <a:ea typeface="Calibri" panose="020F0502020204030204" pitchFamily="34" charset="0"/>
                <a:cs typeface="Times New Roman" panose="02020603050405020304" pitchFamily="18" charset="0"/>
              </a:rPr>
            </a:br>
            <a:endParaRPr lang="en-US" dirty="0"/>
          </a:p>
        </p:txBody>
      </p:sp>
      <p:sp>
        <p:nvSpPr>
          <p:cNvPr id="3" name="Content Placeholder 2">
            <a:extLst>
              <a:ext uri="{FF2B5EF4-FFF2-40B4-BE49-F238E27FC236}">
                <a16:creationId xmlns:a16="http://schemas.microsoft.com/office/drawing/2014/main" id="{9FC3AE4F-FA5C-5845-E31A-C51008CB6BEF}"/>
              </a:ext>
            </a:extLst>
          </p:cNvPr>
          <p:cNvSpPr>
            <a:spLocks noGrp="1"/>
          </p:cNvSpPr>
          <p:nvPr>
            <p:ph idx="1"/>
          </p:nvPr>
        </p:nvSpPr>
        <p:spPr>
          <a:xfrm>
            <a:off x="838200" y="1126541"/>
            <a:ext cx="10515600" cy="5050422"/>
          </a:xfrm>
        </p:spPr>
        <p:txBody>
          <a:bodyPr>
            <a:normAutofit fontScale="92500"/>
          </a:bodyPr>
          <a:lstStyle/>
          <a:p>
            <a:pPr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The meaning of Agile is swift or versatile. “Agile process model" refers to a software development approach based on iterative development. Agile methods break tasks into smaller iterations, or parts that do not directly involve long-term planning. The project scope and requirements are laid down at the beginning of the development process. Plans regarding the number of iterations, the duration, and the scope of each iteration are clearly defined in advance.</a:t>
            </a:r>
          </a:p>
          <a:p>
            <a:pPr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Each iteration is considered as a short time "frame" in the Agile process model, which typically lasts from one to four weeks. The division of the entire project into smaller parts helps to minimize the project risk and to reduce the overall project delivery time requirements. Each iteration involves a team working through a full software development life cycle including planning, requirements analysis, design, coding, and testing before a working product is demonstrated to the client.</a:t>
            </a:r>
          </a:p>
          <a:p>
            <a:pPr marL="0" indent="0">
              <a:buNone/>
            </a:pPr>
            <a:endParaRPr lang="en-US" dirty="0"/>
          </a:p>
        </p:txBody>
      </p:sp>
    </p:spTree>
    <p:extLst>
      <p:ext uri="{BB962C8B-B14F-4D97-AF65-F5344CB8AC3E}">
        <p14:creationId xmlns:p14="http://schemas.microsoft.com/office/powerpoint/2010/main" val="89585080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descr="Agile Model">
            <a:extLst>
              <a:ext uri="{FF2B5EF4-FFF2-40B4-BE49-F238E27FC236}">
                <a16:creationId xmlns:a16="http://schemas.microsoft.com/office/drawing/2014/main" id="{48286559-E7B3-8DA3-2193-95DCB62238A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43508" y="1111911"/>
            <a:ext cx="9048902" cy="4662368"/>
          </a:xfrm>
          <a:prstGeom prst="rect">
            <a:avLst/>
          </a:prstGeom>
          <a:noFill/>
          <a:ln>
            <a:noFill/>
          </a:ln>
        </p:spPr>
      </p:pic>
    </p:spTree>
    <p:extLst>
      <p:ext uri="{BB962C8B-B14F-4D97-AF65-F5344CB8AC3E}">
        <p14:creationId xmlns:p14="http://schemas.microsoft.com/office/powerpoint/2010/main" val="202683263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5DCC26-6776-60BF-57B4-2BD56A9F2C07}"/>
              </a:ext>
            </a:extLst>
          </p:cNvPr>
          <p:cNvSpPr>
            <a:spLocks noGrp="1"/>
          </p:cNvSpPr>
          <p:nvPr>
            <p:ph idx="1"/>
          </p:nvPr>
        </p:nvSpPr>
        <p:spPr>
          <a:xfrm>
            <a:off x="838200" y="643738"/>
            <a:ext cx="10515600" cy="5533225"/>
          </a:xfrm>
        </p:spPr>
        <p:txBody>
          <a:bodyPr>
            <a:normAutofit lnSpcReduction="10000"/>
          </a:bodyPr>
          <a:lstStyle/>
          <a:p>
            <a:pPr marR="0" indent="0" algn="just">
              <a:lnSpc>
                <a:spcPct val="115000"/>
              </a:lnSpc>
              <a:spcBef>
                <a:spcPts val="0"/>
              </a:spcBef>
              <a:spcAft>
                <a:spcPts val="1000"/>
              </a:spcAft>
              <a:buNone/>
            </a:pPr>
            <a:r>
              <a:rPr lang="en-US" sz="3200" b="1" dirty="0">
                <a:effectLst/>
                <a:latin typeface="Times New Roman" panose="02020603050405020304" pitchFamily="18" charset="0"/>
                <a:ea typeface="Calibri" panose="020F0502020204030204" pitchFamily="34" charset="0"/>
                <a:cs typeface="Times New Roman" panose="02020603050405020304" pitchFamily="18" charset="0"/>
              </a:rPr>
              <a:t>Phases of Agile Model:</a:t>
            </a:r>
            <a:endParaRPr lang="en-US" sz="32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Following are the phases in the Agile model are as follows:</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1. Requirements gathering</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2. Design the requirements</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3. Construction/ iteration</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4. Testing/ Quality assurance</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5. Deployment</a:t>
            </a:r>
          </a:p>
          <a:p>
            <a:pPr marL="0" marR="0" lvl="0" indent="0" algn="just">
              <a:lnSpc>
                <a:spcPct val="115000"/>
              </a:lnSpc>
              <a:spcBef>
                <a:spcPts val="0"/>
              </a:spcBef>
              <a:spcAft>
                <a:spcPts val="1000"/>
              </a:spcAft>
              <a:buNone/>
              <a:tabLst>
                <a:tab pos="457200" algn="l"/>
              </a:tabLst>
            </a:pPr>
            <a:r>
              <a:rPr lang="en-US" sz="3200" dirty="0">
                <a:effectLst/>
                <a:latin typeface="Times New Roman" panose="02020603050405020304" pitchFamily="18" charset="0"/>
                <a:ea typeface="Calibri" panose="020F0502020204030204" pitchFamily="34" charset="0"/>
                <a:cs typeface="Times New Roman" panose="02020603050405020304" pitchFamily="18" charset="0"/>
              </a:rPr>
              <a:t>6. Feedback</a:t>
            </a:r>
          </a:p>
          <a:p>
            <a:pPr marL="0" indent="0">
              <a:buNone/>
            </a:pPr>
            <a:endParaRPr lang="en-US" dirty="0"/>
          </a:p>
        </p:txBody>
      </p:sp>
    </p:spTree>
    <p:extLst>
      <p:ext uri="{BB962C8B-B14F-4D97-AF65-F5344CB8AC3E}">
        <p14:creationId xmlns:p14="http://schemas.microsoft.com/office/powerpoint/2010/main" val="14914107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47523C4-BCBC-2C15-AC52-A7EC5E67FB6C}"/>
              </a:ext>
            </a:extLst>
          </p:cNvPr>
          <p:cNvSpPr>
            <a:spLocks noGrp="1"/>
          </p:cNvSpPr>
          <p:nvPr>
            <p:ph idx="1"/>
          </p:nvPr>
        </p:nvSpPr>
        <p:spPr>
          <a:xfrm>
            <a:off x="838200" y="270662"/>
            <a:ext cx="10515600" cy="5906301"/>
          </a:xfrm>
        </p:spPr>
        <p:txBody>
          <a:bodyPr/>
          <a:lstStyle/>
          <a:p>
            <a:pPr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1. Requirements gathering: In this phase, you must define the requirements. You should explain business opportunities and plan the time and effort needed to build the project. Based on this information, you can evaluate technical and economic feasibility.</a:t>
            </a:r>
          </a:p>
          <a:p>
            <a:pPr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2. Design the requirements: When you have identified the project, work with stakeholders to define requirements. You can use the user flow diagram or the high-level UML diagram to show the work of new features and show how it will apply to your existing system.</a:t>
            </a:r>
          </a:p>
          <a:p>
            <a:pPr marR="0" indent="0" algn="just">
              <a:lnSpc>
                <a:spcPct val="115000"/>
              </a:lnSpc>
              <a:spcBef>
                <a:spcPts val="0"/>
              </a:spcBef>
              <a:spcAft>
                <a:spcPts val="1000"/>
              </a:spcAft>
              <a:buNone/>
            </a:pPr>
            <a:r>
              <a:rPr lang="en-US" sz="2400" dirty="0">
                <a:effectLst/>
                <a:latin typeface="Times New Roman" panose="02020603050405020304" pitchFamily="18" charset="0"/>
                <a:ea typeface="Calibri" panose="020F0502020204030204" pitchFamily="34" charset="0"/>
                <a:cs typeface="Times New Roman" panose="02020603050405020304" pitchFamily="18" charset="0"/>
              </a:rPr>
              <a:t>3. Construction/ iteration: When the team defines the requirements, the work begins. Designers and developers start working on their project, which aims to deploy a working product. The product will undergo various stages of improvement, so it includes simple, minimal functionality.</a:t>
            </a:r>
          </a:p>
          <a:p>
            <a:pPr marL="0" indent="0">
              <a:buNone/>
            </a:pPr>
            <a:endParaRPr lang="en-US" dirty="0"/>
          </a:p>
        </p:txBody>
      </p:sp>
    </p:spTree>
    <p:extLst>
      <p:ext uri="{BB962C8B-B14F-4D97-AF65-F5344CB8AC3E}">
        <p14:creationId xmlns:p14="http://schemas.microsoft.com/office/powerpoint/2010/main" val="262346946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C0BCBDC-DC33-1FDA-9BF0-97D5E31DAFFB}"/>
              </a:ext>
            </a:extLst>
          </p:cNvPr>
          <p:cNvSpPr>
            <a:spLocks noGrp="1"/>
          </p:cNvSpPr>
          <p:nvPr>
            <p:ph idx="1"/>
          </p:nvPr>
        </p:nvSpPr>
        <p:spPr>
          <a:xfrm>
            <a:off x="838200" y="680314"/>
            <a:ext cx="10515600" cy="5496649"/>
          </a:xfrm>
        </p:spPr>
        <p:txBody>
          <a:bodyPr>
            <a:normAutofit lnSpcReduction="10000"/>
          </a:bodyPr>
          <a:lstStyle/>
          <a:p>
            <a:pPr marR="0" indent="0" algn="just">
              <a:lnSpc>
                <a:spcPct val="115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4. Testing: In this phase, the Quality Assurance team examines the product's performance and looks for the bug.</a:t>
            </a:r>
          </a:p>
          <a:p>
            <a:pPr marR="0" indent="0" algn="just">
              <a:lnSpc>
                <a:spcPct val="115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5. Deployment: In this phase, the team issues a product for the user's work environment.</a:t>
            </a:r>
          </a:p>
          <a:p>
            <a:pPr marR="0" indent="0" algn="just">
              <a:lnSpc>
                <a:spcPct val="115000"/>
              </a:lnSpc>
              <a:spcBef>
                <a:spcPts val="0"/>
              </a:spcBef>
              <a:spcAft>
                <a:spcPts val="1000"/>
              </a:spcAft>
              <a:buNone/>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6. Feedback: After releasing the product, the last step is feedback. In this, the team receives feedback about the product and works through the feedback.</a:t>
            </a:r>
          </a:p>
          <a:p>
            <a:pPr marL="457200" marR="0" algn="just">
              <a:lnSpc>
                <a:spcPct val="115000"/>
              </a:lnSpc>
              <a:spcBef>
                <a:spcPts val="0"/>
              </a:spcBef>
              <a:spcAft>
                <a:spcPts val="1000"/>
              </a:spcAf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Agile Testing Methods:</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Scrum</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Crystal</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Dynamic Software Development Method(DSDM)</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Feature Driven Development(FDD)</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Lean Software Development</a:t>
            </a: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2000" dirty="0" err="1">
                <a:effectLst/>
                <a:latin typeface="Times New Roman" panose="02020603050405020304" pitchFamily="18" charset="0"/>
                <a:ea typeface="Calibri" panose="020F0502020204030204" pitchFamily="34" charset="0"/>
                <a:cs typeface="Times New Roman" panose="02020603050405020304" pitchFamily="18" charset="0"/>
              </a:rPr>
              <a:t>eXtreme</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 Programming(XP)</a:t>
            </a:r>
          </a:p>
          <a:p>
            <a:pPr marL="0" indent="0">
              <a:buNone/>
            </a:pPr>
            <a:endParaRPr lang="en-US" dirty="0"/>
          </a:p>
        </p:txBody>
      </p:sp>
    </p:spTree>
    <p:extLst>
      <p:ext uri="{BB962C8B-B14F-4D97-AF65-F5344CB8AC3E}">
        <p14:creationId xmlns:p14="http://schemas.microsoft.com/office/powerpoint/2010/main" val="251494788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70348A4-BCE9-56D5-0B8B-406E4C4333DB}"/>
              </a:ext>
            </a:extLst>
          </p:cNvPr>
          <p:cNvSpPr>
            <a:spLocks noGrp="1"/>
          </p:cNvSpPr>
          <p:nvPr>
            <p:ph idx="1"/>
          </p:nvPr>
        </p:nvSpPr>
        <p:spPr>
          <a:xfrm>
            <a:off x="838200" y="570586"/>
            <a:ext cx="10515600" cy="5606377"/>
          </a:xfrm>
        </p:spPr>
        <p:txBody>
          <a:bodyPr>
            <a:normAutofit fontScale="47500" lnSpcReduction="20000"/>
          </a:bodyPr>
          <a:lstStyle/>
          <a:p>
            <a:pPr marR="0" indent="0" algn="just">
              <a:lnSpc>
                <a:spcPct val="115000"/>
              </a:lnSpc>
              <a:spcBef>
                <a:spcPts val="0"/>
              </a:spcBef>
              <a:spcAft>
                <a:spcPts val="1000"/>
              </a:spcAft>
              <a:buNone/>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When to use the Agile Model?</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When frequent changes are required.</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When a highly qualified and experienced team is available.</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When a customer is ready to have a meeting with a software team all the time.</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buSzPts val="1000"/>
              <a:buFont typeface="Symbol" panose="05050102010706020507" pitchFamily="18" charset="2"/>
              <a:buChar char=""/>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When the project size is small.</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Advantage(Pros) of Agile Method:</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Frequent Delivery</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 Face-to-face communication with clients.</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Efficient design and fulfils business requirements.</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Anytime changes are acceptable.</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It reduces total development time.</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457200" marR="0" algn="just">
              <a:lnSpc>
                <a:spcPct val="115000"/>
              </a:lnSpc>
              <a:spcBef>
                <a:spcPts val="0"/>
              </a:spcBef>
              <a:spcAft>
                <a:spcPts val="1000"/>
              </a:spcAf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Disadvantages(Cons) of Agile Model:</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Due to the shortage of formal documents, it creates confusion and crucial decisions taken throughout various phases can be misinterpreted at any time by different team members.</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marR="0" lvl="0" indent="-342900" algn="just">
              <a:lnSpc>
                <a:spcPct val="115000"/>
              </a:lnSpc>
              <a:spcBef>
                <a:spcPts val="0"/>
              </a:spcBef>
              <a:spcAft>
                <a:spcPts val="1000"/>
              </a:spcAft>
              <a:tabLst>
                <a:tab pos="457200" algn="l"/>
              </a:tabLst>
            </a:pPr>
            <a:r>
              <a:rPr lang="en-US" sz="3300" b="1" dirty="0">
                <a:effectLst/>
                <a:latin typeface="Times New Roman" panose="02020603050405020304" pitchFamily="18" charset="0"/>
                <a:ea typeface="Calibri" panose="020F0502020204030204" pitchFamily="34" charset="0"/>
                <a:cs typeface="Times New Roman" panose="02020603050405020304" pitchFamily="18" charset="0"/>
              </a:rPr>
              <a:t>Due to the lack of proper documentation, once the project is completed and the developers are allotted to another project, maintenance of the finished project can become a difficulty.</a:t>
            </a:r>
            <a:endParaRPr lang="en-US" sz="3300" dirty="0">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dirty="0"/>
          </a:p>
        </p:txBody>
      </p:sp>
    </p:spTree>
    <p:extLst>
      <p:ext uri="{BB962C8B-B14F-4D97-AF65-F5344CB8AC3E}">
        <p14:creationId xmlns:p14="http://schemas.microsoft.com/office/powerpoint/2010/main" val="316746643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328</TotalTime>
  <Words>4739</Words>
  <Application>Microsoft Office PowerPoint</Application>
  <PresentationFormat>Widescreen</PresentationFormat>
  <Paragraphs>334</Paragraphs>
  <Slides>57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57</vt:i4>
      </vt:variant>
    </vt:vector>
  </HeadingPairs>
  <TitlesOfParts>
    <vt:vector size="67" baseType="lpstr">
      <vt:lpstr>Arial</vt:lpstr>
      <vt:lpstr>Calibri</vt:lpstr>
      <vt:lpstr>Calibri Light</vt:lpstr>
      <vt:lpstr>Cambria</vt:lpstr>
      <vt:lpstr>Courier New</vt:lpstr>
      <vt:lpstr>Nunito</vt:lpstr>
      <vt:lpstr>Symbol</vt:lpstr>
      <vt:lpstr>Times New Roman</vt:lpstr>
      <vt:lpstr>var(--font-family-heading-lesson-markdown)</vt:lpstr>
      <vt:lpstr>Office Theme</vt:lpstr>
      <vt:lpstr>Process Models</vt:lpstr>
      <vt:lpstr>What is a software process model? </vt:lpstr>
      <vt:lpstr>PowerPoint Presentation</vt:lpstr>
      <vt:lpstr>PowerPoint Presentation</vt:lpstr>
      <vt:lpstr>PowerPoint Presentation</vt:lpstr>
      <vt:lpstr>PowerPoint Presentation</vt:lpstr>
      <vt:lpstr>waterfall model </vt:lpstr>
      <vt:lpstr>PowerPoint Presentation</vt:lpstr>
      <vt:lpstr>5 Phases of the Waterfall Model: </vt:lpstr>
      <vt:lpstr>PowerPoint Presentation</vt:lpstr>
      <vt:lpstr>PowerPoint Presentation</vt:lpstr>
      <vt:lpstr>PowerPoint Presentation</vt:lpstr>
      <vt:lpstr>Incremental Process Model </vt:lpstr>
      <vt:lpstr>PowerPoint Presentation</vt:lpstr>
      <vt:lpstr>PowerPoint Presentation</vt:lpstr>
      <vt:lpstr>PowerPoint Presentation</vt:lpstr>
      <vt:lpstr>PowerPoint Presentation</vt:lpstr>
      <vt:lpstr>PowerPoint Presentation</vt:lpstr>
      <vt:lpstr>Rapid Application Development (RAD) Model: </vt:lpstr>
      <vt:lpstr>RAD model is like other process models map into the standard and major framework activities. </vt:lpstr>
      <vt:lpstr>PowerPoint Presentation</vt:lpstr>
      <vt:lpstr>PowerPoint Presentation</vt:lpstr>
      <vt:lpstr>PowerPoint Presentation</vt:lpstr>
      <vt:lpstr>PowerPoint Presentation</vt:lpstr>
      <vt:lpstr>PowerPoint Presentation</vt:lpstr>
      <vt:lpstr>Unified process Model</vt:lpstr>
      <vt:lpstr>PowerPoint Presentation</vt:lpstr>
      <vt:lpstr>PowerPoint Presentation</vt:lpstr>
      <vt:lpstr>PowerPoint Presentation</vt:lpstr>
      <vt:lpstr>PowerPoint Presentation</vt:lpstr>
      <vt:lpstr>PowerPoint Presentation</vt:lpstr>
      <vt:lpstr>Evolutionary Process Models:</vt:lpstr>
      <vt:lpstr>PowerPoint Presentation</vt:lpstr>
      <vt:lpstr>PowerPoint Presentation</vt:lpstr>
      <vt:lpstr>PowerPoint Presentation</vt:lpstr>
      <vt:lpstr>Spiral Model </vt:lpstr>
      <vt:lpstr>The below figure very well explains Spiral Model:</vt:lpstr>
      <vt:lpstr>PowerPoint Presentation</vt:lpstr>
      <vt:lpstr>PowerPoint Presentation</vt:lpstr>
      <vt:lpstr>PowerPoint Presentation</vt:lpstr>
      <vt:lpstr>concurrent development model</vt:lpstr>
      <vt:lpstr>PowerPoint Presentation</vt:lpstr>
      <vt:lpstr>PowerPoint Presentation</vt:lpstr>
      <vt:lpstr>V-Model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Agile Model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Pasam Ramu</dc:creator>
  <cp:lastModifiedBy>Pasam Ramu</cp:lastModifiedBy>
  <cp:revision>21</cp:revision>
  <dcterms:created xsi:type="dcterms:W3CDTF">2024-10-19T17:08:28Z</dcterms:created>
  <dcterms:modified xsi:type="dcterms:W3CDTF">2025-09-14T10:26:58Z</dcterms:modified>
</cp:coreProperties>
</file>