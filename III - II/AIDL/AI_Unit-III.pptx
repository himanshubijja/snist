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57" r:id="rId4"/>
    <p:sldId id="258" r:id="rId5"/>
    <p:sldId id="263" r:id="rId6"/>
    <p:sldId id="264" r:id="rId7"/>
    <p:sldId id="262" r:id="rId8"/>
    <p:sldId id="261" r:id="rId9"/>
    <p:sldId id="286" r:id="rId10"/>
    <p:sldId id="260" r:id="rId11"/>
    <p:sldId id="276" r:id="rId12"/>
    <p:sldId id="284" r:id="rId13"/>
    <p:sldId id="277" r:id="rId14"/>
    <p:sldId id="278" r:id="rId15"/>
    <p:sldId id="279" r:id="rId16"/>
    <p:sldId id="280" r:id="rId17"/>
    <p:sldId id="285" r:id="rId18"/>
    <p:sldId id="281" r:id="rId19"/>
    <p:sldId id="288" r:id="rId20"/>
    <p:sldId id="292" r:id="rId21"/>
    <p:sldId id="294" r:id="rId22"/>
    <p:sldId id="293" r:id="rId23"/>
    <p:sldId id="287" r:id="rId24"/>
    <p:sldId id="296" r:id="rId25"/>
    <p:sldId id="295" r:id="rId26"/>
    <p:sldId id="297" r:id="rId27"/>
    <p:sldId id="283" r:id="rId28"/>
    <p:sldId id="289" r:id="rId29"/>
    <p:sldId id="290" r:id="rId30"/>
    <p:sldId id="300" r:id="rId31"/>
    <p:sldId id="301" r:id="rId32"/>
    <p:sldId id="306" r:id="rId33"/>
    <p:sldId id="302" r:id="rId34"/>
    <p:sldId id="303" r:id="rId35"/>
    <p:sldId id="304" r:id="rId36"/>
    <p:sldId id="305" r:id="rId37"/>
    <p:sldId id="291" r:id="rId38"/>
    <p:sldId id="307" r:id="rId39"/>
    <p:sldId id="298" r:id="rId40"/>
    <p:sldId id="299" r:id="rId41"/>
    <p:sldId id="308" r:id="rId42"/>
    <p:sldId id="309" r:id="rId43"/>
    <p:sldId id="310" r:id="rId44"/>
    <p:sldId id="311" r:id="rId45"/>
    <p:sldId id="312" r:id="rId46"/>
    <p:sldId id="314" r:id="rId47"/>
    <p:sldId id="315" r:id="rId48"/>
    <p:sldId id="313" r:id="rId49"/>
    <p:sldId id="316" r:id="rId50"/>
    <p:sldId id="267" r:id="rId51"/>
    <p:sldId id="265" r:id="rId52"/>
    <p:sldId id="268" r:id="rId53"/>
    <p:sldId id="271" r:id="rId54"/>
    <p:sldId id="269" r:id="rId55"/>
    <p:sldId id="270" r:id="rId56"/>
    <p:sldId id="275" r:id="rId57"/>
    <p:sldId id="274" r:id="rId58"/>
    <p:sldId id="273" r:id="rId59"/>
    <p:sldId id="317" r:id="rId60"/>
    <p:sldId id="319" r:id="rId61"/>
    <p:sldId id="318" r:id="rId62"/>
    <p:sldId id="320" r:id="rId63"/>
    <p:sldId id="266" r:id="rId64"/>
    <p:sldId id="321" r:id="rId65"/>
    <p:sldId id="322" r:id="rId66"/>
    <p:sldId id="323" r:id="rId67"/>
    <p:sldId id="324" r:id="rId68"/>
    <p:sldId id="326" r:id="rId69"/>
    <p:sldId id="328" r:id="rId70"/>
    <p:sldId id="325" r:id="rId71"/>
    <p:sldId id="327" r:id="rId72"/>
    <p:sldId id="329" r:id="rId73"/>
    <p:sldId id="330" r:id="rId74"/>
    <p:sldId id="331"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7" d="100"/>
          <a:sy n="107" d="100"/>
        </p:scale>
        <p:origin x="-84"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813174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2052881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34344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211097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1757034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2660923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88625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215022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13136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1022544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extLst>
      <p:ext uri="{BB962C8B-B14F-4D97-AF65-F5344CB8AC3E}">
        <p14:creationId xmlns:p14="http://schemas.microsoft.com/office/powerpoint/2010/main" val="284000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F9FF86AB-76FD-4814-9D66-79FBC975F897}" type="datetimeFigureOut">
              <a:rPr lang="en-IN" smtClean="0"/>
              <a:pPr/>
              <a:t>06-04-2023</a:t>
            </a:fld>
            <a:endParaRPr lang="en-IN"/>
          </a:p>
        </p:txBody>
      </p:sp>
      <p:sp>
        <p:nvSpPr>
          <p:cNvPr id="17" name="Footer Placeholder 16"/>
          <p:cNvSpPr>
            <a:spLocks noGrp="1"/>
          </p:cNvSpPr>
          <p:nvPr>
            <p:ph type="ftr" sz="quarter" idx="11"/>
          </p:nvPr>
        </p:nvSpPr>
        <p:spPr>
          <a:xfrm>
            <a:off x="5410200" y="4205288"/>
            <a:ext cx="1295400" cy="457200"/>
          </a:xfrm>
        </p:spPr>
        <p:txBody>
          <a:bodyPr/>
          <a:lstStyle/>
          <a:p>
            <a:endParaRPr lang="en-IN"/>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6A4627C1-6092-446F-B5E4-C755456DCD9C}" type="slidenum">
              <a:rPr lang="en-IN" smtClean="0"/>
              <a:pPr/>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F9FF86AB-76FD-4814-9D66-79FBC975F897}" type="datetimeFigureOut">
              <a:rPr lang="en-IN" smtClean="0"/>
              <a:pPr/>
              <a:t>06-04-2023</a:t>
            </a:fld>
            <a:endParaRPr lang="en-IN"/>
          </a:p>
        </p:txBody>
      </p:sp>
      <p:sp>
        <p:nvSpPr>
          <p:cNvPr id="27" name="Slide Number Placeholder 26"/>
          <p:cNvSpPr>
            <a:spLocks noGrp="1"/>
          </p:cNvSpPr>
          <p:nvPr>
            <p:ph type="sldNum" sz="quarter" idx="11"/>
          </p:nvPr>
        </p:nvSpPr>
        <p:spPr/>
        <p:txBody>
          <a:bodyPr rtlCol="0"/>
          <a:lstStyle/>
          <a:p>
            <a:fld id="{6A4627C1-6092-446F-B5E4-C755456DCD9C}" type="slidenum">
              <a:rPr lang="en-IN" smtClean="0"/>
              <a:pPr/>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F9FF86AB-76FD-4814-9D66-79FBC975F897}" type="datetimeFigureOut">
              <a:rPr lang="en-IN" smtClean="0"/>
              <a:pPr/>
              <a:t>06-04-2023</a:t>
            </a:fld>
            <a:endParaRPr lang="en-IN"/>
          </a:p>
        </p:txBody>
      </p:sp>
      <p:sp>
        <p:nvSpPr>
          <p:cNvPr id="4" name="Footer Placeholder 3"/>
          <p:cNvSpPr>
            <a:spLocks noGrp="1"/>
          </p:cNvSpPr>
          <p:nvPr>
            <p:ph type="ftr" sz="quarter" idx="11"/>
          </p:nvPr>
        </p:nvSpPr>
        <p:spPr>
          <a:xfrm>
            <a:off x="5257800" y="612648"/>
            <a:ext cx="1325880" cy="457200"/>
          </a:xfrm>
        </p:spPr>
        <p:txBody>
          <a:bodyPr/>
          <a:lstStyle/>
          <a:p>
            <a:endParaRPr lang="en-IN"/>
          </a:p>
        </p:txBody>
      </p:sp>
      <p:sp>
        <p:nvSpPr>
          <p:cNvPr id="5" name="Slide Number Placeholder 4"/>
          <p:cNvSpPr>
            <a:spLocks noGrp="1"/>
          </p:cNvSpPr>
          <p:nvPr>
            <p:ph type="sldNum" sz="quarter" idx="12"/>
          </p:nvPr>
        </p:nvSpPr>
        <p:spPr>
          <a:xfrm>
            <a:off x="8174736" y="2272"/>
            <a:ext cx="762000" cy="365760"/>
          </a:xfrm>
        </p:spPr>
        <p:txBody>
          <a:bodyPr/>
          <a:lstStyle/>
          <a:p>
            <a:fld id="{6A4627C1-6092-446F-B5E4-C755456DCD9C}" type="slidenum">
              <a:rPr lang="en-IN" smtClean="0"/>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A4627C1-6092-446F-B5E4-C755456DCD9C}" type="slidenum">
              <a:rPr lang="en-IN" smtClean="0"/>
              <a:pPr/>
              <a:t>‹#›</a:t>
            </a:fld>
            <a:endParaRPr lang="en-IN"/>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fld id="{6A4627C1-6092-446F-B5E4-C755456DCD9C}" type="slidenum">
              <a:rPr lang="en-IN" smtClean="0"/>
              <a:pPr/>
              <a:t>‹#›</a:t>
            </a:fld>
            <a:endParaRPr lang="en-IN"/>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6A4627C1-6092-446F-B5E4-C755456DCD9C}" type="slidenum">
              <a:rPr lang="en-IN" smtClean="0"/>
              <a:pPr/>
              <a:t>‹#›</a:t>
            </a:fld>
            <a:endParaRPr lang="en-IN"/>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4627C1-6092-446F-B5E4-C755456DCD9C}" type="slidenum">
              <a:rPr lang="en-IN" smtClean="0"/>
              <a:pPr/>
              <a:t>‹#›</a:t>
            </a:fld>
            <a:endParaRPr lang="en-IN"/>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8" name="Footer Placeholder 7"/>
          <p:cNvSpPr>
            <a:spLocks noGrp="1"/>
          </p:cNvSpPr>
          <p:nvPr>
            <p:ph type="ftr" sz="quarter" idx="11"/>
          </p:nvPr>
        </p:nvSpPr>
        <p:spPr>
          <a:xfrm>
            <a:off x="304800" y="6409944"/>
            <a:ext cx="3581400" cy="365760"/>
          </a:xfrm>
        </p:spPr>
        <p:txBody>
          <a:bodyPr/>
          <a:lstStyle/>
          <a:p>
            <a:endParaRPr lang="en-IN"/>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6A4627C1-6092-446F-B5E4-C755456DCD9C}" type="slidenum">
              <a:rPr lang="en-IN" smtClean="0"/>
              <a:pPr/>
              <a:t>‹#›</a:t>
            </a:fld>
            <a:endParaRPr lang="en-IN"/>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4343400" y="1036020"/>
            <a:ext cx="457200" cy="441325"/>
          </a:xfrm>
        </p:spPr>
        <p:txBody>
          <a:bodyPr/>
          <a:lstStyle/>
          <a:p>
            <a:fld id="{6A4627C1-6092-446F-B5E4-C755456DCD9C}" type="slidenum">
              <a:rPr lang="en-IN" smtClean="0"/>
              <a:pPr/>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6A4627C1-6092-446F-B5E4-C755456DCD9C}" type="slidenum">
              <a:rPr lang="en-IN" smtClean="0"/>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6A4627C1-6092-446F-B5E4-C755456DCD9C}" type="slidenum">
              <a:rPr lang="en-IN" smtClean="0"/>
              <a:pPr/>
              <a:t>‹#›</a:t>
            </a:fld>
            <a:endParaRPr lang="en-IN"/>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a:xfrm>
            <a:off x="301752" y="6410848"/>
            <a:ext cx="338328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6A4627C1-6092-446F-B5E4-C755456DCD9C}" type="slidenum">
              <a:rPr lang="en-IN" smtClean="0"/>
              <a:pPr/>
              <a:t>‹#›</a:t>
            </a:fld>
            <a:endParaRPr lang="en-IN"/>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9FF86AB-76FD-4814-9D66-79FBC975F897}" type="datetimeFigureOut">
              <a:rPr lang="en-IN" smtClean="0"/>
              <a:pPr/>
              <a:t>06-04-2023</a:t>
            </a:fld>
            <a:endParaRPr lang="en-IN"/>
          </a:p>
        </p:txBody>
      </p:sp>
      <p:sp>
        <p:nvSpPr>
          <p:cNvPr id="6" name="Footer Placeholder 5"/>
          <p:cNvSpPr>
            <a:spLocks noGrp="1"/>
          </p:cNvSpPr>
          <p:nvPr>
            <p:ph type="ftr" sz="quarter" idx="11"/>
          </p:nvPr>
        </p:nvSpPr>
        <p:spPr>
          <a:xfrm>
            <a:off x="301752" y="6410848"/>
            <a:ext cx="3584448" cy="365760"/>
          </a:xfrm>
        </p:spPr>
        <p:txBody>
          <a:bodyPr/>
          <a:lstStyle/>
          <a:p>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4627C1-6092-446F-B5E4-C755456DCD9C}"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6A4627C1-6092-446F-B5E4-C755456DCD9C}" type="slidenum">
              <a:rPr lang="en-IN" smtClean="0"/>
              <a:pPr/>
              <a:t>‹#›</a:t>
            </a:fld>
            <a:endParaRPr lang="en-IN"/>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FF86AB-76FD-4814-9D66-79FBC975F897}" type="datetimeFigureOut">
              <a:rPr lang="en-IN" smtClean="0"/>
              <a:pPr/>
              <a:t>06-04-2023</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FF86AB-76FD-4814-9D66-79FBC975F897}" type="datetimeFigureOut">
              <a:rPr lang="en-IN" smtClean="0"/>
              <a:pPr/>
              <a:t>06-04-2023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4627C1-6092-446F-B5E4-C755456DCD9C}" type="slidenum">
              <a:rPr lang="en-IN" smtClean="0"/>
              <a:pPr/>
              <a:t>‹#›</a:t>
            </a:fld>
            <a:endParaRPr lang="en-IN"/>
          </a:p>
        </p:txBody>
      </p:sp>
    </p:spTree>
    <p:extLst>
      <p:ext uri="{BB962C8B-B14F-4D97-AF65-F5344CB8AC3E}">
        <p14:creationId xmlns:p14="http://schemas.microsoft.com/office/powerpoint/2010/main" val="114735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9FF86AB-76FD-4814-9D66-79FBC975F897}" type="datetimeFigureOut">
              <a:rPr lang="en-IN" smtClean="0"/>
              <a:pPr/>
              <a:t>06-04-2023</a:t>
            </a:fld>
            <a:endParaRPr lang="en-IN"/>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6A4627C1-6092-446F-B5E4-C755456DCD9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9FF86AB-76FD-4814-9D66-79FBC975F897}" type="datetimeFigureOut">
              <a:rPr lang="en-IN" smtClean="0"/>
              <a:pPr/>
              <a:t>06-04-2023</a:t>
            </a:fld>
            <a:endParaRPr lang="en-IN"/>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6A4627C1-6092-446F-B5E4-C755456DCD9C}" type="slidenum">
              <a:rPr lang="en-IN" smtClean="0"/>
              <a:pPr/>
              <a:t>‹#›</a:t>
            </a:fld>
            <a:endParaRPr lang="en-IN"/>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3528" y="116632"/>
            <a:ext cx="8420472" cy="2304256"/>
          </a:xfrm>
          <a:prstGeom prst="rect">
            <a:avLst/>
          </a:prstGeom>
          <a:solidFill>
            <a:schemeClr val="tx2">
              <a:lumMod val="40000"/>
              <a:lumOff val="60000"/>
            </a:schemeClr>
          </a:solidFill>
        </p:spPr>
        <p:txBody>
          <a:bodyPr>
            <a:noAutofit/>
          </a:bodyPr>
          <a:lstStyle/>
          <a:p>
            <a:pPr algn="ctr"/>
            <a:r>
              <a:rPr lang="en-US" sz="3600" b="1" dirty="0" smtClean="0">
                <a:solidFill>
                  <a:srgbClr val="002060"/>
                </a:solidFill>
              </a:rPr>
              <a:t>ARTIFICIAL  </a:t>
            </a:r>
            <a:r>
              <a:rPr lang="en-US" sz="3600" b="1" dirty="0" smtClean="0">
                <a:solidFill>
                  <a:srgbClr val="002060"/>
                </a:solidFill>
              </a:rPr>
              <a:t>INTELLIGENCE</a:t>
            </a:r>
          </a:p>
          <a:p>
            <a:pPr algn="ctr"/>
            <a:r>
              <a:rPr lang="en-IN" sz="3600" b="1" dirty="0" smtClean="0">
                <a:solidFill>
                  <a:srgbClr val="C00000"/>
                </a:solidFill>
                <a:latin typeface="Cambria" pitchFamily="18" charset="0"/>
                <a:ea typeface="Cambria" pitchFamily="18" charset="0"/>
              </a:rPr>
              <a:t>Unit-III:</a:t>
            </a:r>
            <a:r>
              <a:rPr lang="en-IN" sz="3600" b="1" dirty="0" smtClean="0">
                <a:solidFill>
                  <a:srgbClr val="FF0000"/>
                </a:solidFill>
                <a:latin typeface="Cambria" pitchFamily="18" charset="0"/>
                <a:ea typeface="Cambria" pitchFamily="18" charset="0"/>
              </a:rPr>
              <a:t> </a:t>
            </a:r>
            <a:r>
              <a:rPr lang="en-US" sz="4400" b="1" dirty="0" smtClean="0"/>
              <a:t>Knowledge </a:t>
            </a:r>
            <a:r>
              <a:rPr lang="en-US" sz="4400" b="1" dirty="0"/>
              <a:t>Representation and Reasoning</a:t>
            </a:r>
            <a:endParaRPr lang="en-IN" sz="4400" b="1" dirty="0">
              <a:solidFill>
                <a:srgbClr val="C00000"/>
              </a:solidFill>
              <a:latin typeface="Cambria" pitchFamily="18" charset="0"/>
              <a:ea typeface="Cambria" pitchFamily="18" charset="0"/>
            </a:endParaRPr>
          </a:p>
          <a:p>
            <a:pPr algn="ctr"/>
            <a:endParaRPr lang="en-IN" sz="3200" b="1" dirty="0" smtClean="0">
              <a:solidFill>
                <a:srgbClr val="002060"/>
              </a:solidFill>
              <a:latin typeface="Cambria" pitchFamily="18" charset="0"/>
              <a:ea typeface="Cambria"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IN" sz="4800" b="1" i="0" u="none" strike="noStrike" kern="1200" cap="none" spc="0" normalizeH="0" baseline="0" noProof="0" dirty="0">
              <a:ln>
                <a:noFill/>
              </a:ln>
              <a:solidFill>
                <a:srgbClr val="FF0000"/>
              </a:solidFill>
              <a:effectLst/>
              <a:uLnTx/>
              <a:uFillTx/>
              <a:latin typeface="AR CENA" pitchFamily="2" charset="0"/>
              <a:ea typeface="+mj-ea"/>
              <a:cs typeface="+mj-cs"/>
            </a:endParaRPr>
          </a:p>
        </p:txBody>
      </p:sp>
      <p:sp>
        <p:nvSpPr>
          <p:cNvPr id="5" name="Subtitle 2"/>
          <p:cNvSpPr txBox="1">
            <a:spLocks/>
          </p:cNvSpPr>
          <p:nvPr/>
        </p:nvSpPr>
        <p:spPr bwMode="auto">
          <a:xfrm>
            <a:off x="0" y="4005064"/>
            <a:ext cx="9194800" cy="663575"/>
          </a:xfrm>
          <a:prstGeom prst="rect">
            <a:avLst/>
          </a:prstGeom>
          <a:noFill/>
          <a:ln w="9525">
            <a:noFill/>
            <a:miter lim="800000"/>
            <a:headEnd/>
            <a:tailEnd/>
          </a:ln>
        </p:spPr>
        <p:txBody>
          <a:bodyPr/>
          <a:lstStyle/>
          <a:p>
            <a:pPr algn="ctr" defTabSz="457200">
              <a:buClr>
                <a:schemeClr val="accent1"/>
              </a:buClr>
              <a:buSzPct val="80000"/>
              <a:buFont typeface="Wingdings 3" pitchFamily="18" charset="2"/>
              <a:buNone/>
            </a:pPr>
            <a:endParaRPr lang="en-IN" sz="3200" b="1" dirty="0" smtClean="0">
              <a:solidFill>
                <a:srgbClr val="C00000"/>
              </a:solidFill>
              <a:latin typeface="Agency FB" pitchFamily="34" charset="0"/>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6927" y="2434754"/>
            <a:ext cx="2562225" cy="1858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420888"/>
            <a:ext cx="5616624"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10936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99844"/>
            <a:ext cx="8229600" cy="796908"/>
          </a:xfrm>
        </p:spPr>
        <p:txBody>
          <a:bodyPr>
            <a:normAutofit fontScale="90000"/>
          </a:bodyPr>
          <a:lstStyle/>
          <a:p>
            <a:r>
              <a:rPr lang="en-IN" b="1" dirty="0" smtClean="0"/>
              <a:t>Unit-III: </a:t>
            </a:r>
            <a:r>
              <a:rPr lang="en-US" b="1" dirty="0" smtClean="0"/>
              <a:t>Knowledge Representation and Reasoning</a:t>
            </a:r>
            <a:endParaRPr lang="en-IN" dirty="0"/>
          </a:p>
        </p:txBody>
      </p:sp>
      <p:sp>
        <p:nvSpPr>
          <p:cNvPr id="3" name="Content Placeholder 2"/>
          <p:cNvSpPr>
            <a:spLocks noGrp="1"/>
          </p:cNvSpPr>
          <p:nvPr>
            <p:ph sz="quarter" idx="1"/>
          </p:nvPr>
        </p:nvSpPr>
        <p:spPr>
          <a:xfrm>
            <a:off x="357158" y="1617681"/>
            <a:ext cx="8429684" cy="4525963"/>
          </a:xfrm>
        </p:spPr>
        <p:txBody>
          <a:bodyPr>
            <a:normAutofit/>
          </a:bodyPr>
          <a:lstStyle/>
          <a:p>
            <a:r>
              <a:rPr lang="en-US" dirty="0" smtClean="0"/>
              <a:t>Propositional Logic</a:t>
            </a:r>
          </a:p>
          <a:p>
            <a:r>
              <a:rPr lang="en-US" dirty="0" smtClean="0"/>
              <a:t>First-Order </a:t>
            </a:r>
            <a:r>
              <a:rPr lang="en-US" dirty="0"/>
              <a:t>Logic, Forward Chaining and Backward </a:t>
            </a:r>
            <a:r>
              <a:rPr lang="en-US" dirty="0" smtClean="0"/>
              <a:t>Chaining</a:t>
            </a:r>
          </a:p>
          <a:p>
            <a:r>
              <a:rPr lang="en-US" dirty="0" smtClean="0"/>
              <a:t>Introduction </a:t>
            </a:r>
            <a:r>
              <a:rPr lang="en-US" dirty="0"/>
              <a:t>to Probabilistic </a:t>
            </a:r>
            <a:r>
              <a:rPr lang="en-US" dirty="0" smtClean="0"/>
              <a:t>Reasoning</a:t>
            </a:r>
          </a:p>
          <a:p>
            <a:r>
              <a:rPr lang="en-US" dirty="0" smtClean="0"/>
              <a:t>Bayes Theorem</a:t>
            </a:r>
          </a:p>
          <a:p>
            <a:r>
              <a:rPr lang="en-US" dirty="0" smtClean="0"/>
              <a:t>Knowledge </a:t>
            </a:r>
            <a:r>
              <a:rPr lang="en-US" dirty="0"/>
              <a:t>Representation </a:t>
            </a:r>
            <a:r>
              <a:rPr lang="en-US" dirty="0" smtClean="0"/>
              <a:t>Issues</a:t>
            </a:r>
          </a:p>
          <a:p>
            <a:r>
              <a:rPr lang="en-US" dirty="0" smtClean="0"/>
              <a:t>Other </a:t>
            </a:r>
            <a:r>
              <a:rPr lang="en-US" dirty="0"/>
              <a:t>Knowledge Representation </a:t>
            </a:r>
            <a:r>
              <a:rPr lang="en-US" dirty="0" smtClean="0"/>
              <a:t>Schemes</a:t>
            </a:r>
            <a:endParaRPr lang="en-IN" dirty="0"/>
          </a:p>
          <a:p>
            <a:endParaRPr lang="en-IN" dirty="0"/>
          </a:p>
        </p:txBody>
      </p:sp>
      <p:cxnSp>
        <p:nvCxnSpPr>
          <p:cNvPr id="6" name="Straight Connector 5"/>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1637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Knowledge-Based Agent in Artificial intelligence</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An </a:t>
            </a:r>
            <a:r>
              <a:rPr lang="en-US" dirty="0"/>
              <a:t>intelligent agent needs </a:t>
            </a:r>
            <a:r>
              <a:rPr lang="en-US" b="1" dirty="0"/>
              <a:t>knowledge</a:t>
            </a:r>
            <a:r>
              <a:rPr lang="en-US" dirty="0"/>
              <a:t> about the </a:t>
            </a:r>
            <a:r>
              <a:rPr lang="en-US" dirty="0">
                <a:solidFill>
                  <a:srgbClr val="FF0000"/>
                </a:solidFill>
              </a:rPr>
              <a:t>real world </a:t>
            </a:r>
            <a:r>
              <a:rPr lang="en-US" dirty="0"/>
              <a:t>for taking decisions and </a:t>
            </a:r>
            <a:r>
              <a:rPr lang="en-US" b="1" dirty="0"/>
              <a:t>reasoning</a:t>
            </a:r>
            <a:r>
              <a:rPr lang="en-US" dirty="0"/>
              <a:t> to act efficiently. </a:t>
            </a:r>
            <a:endParaRPr lang="en-US" dirty="0" smtClean="0"/>
          </a:p>
          <a:p>
            <a:r>
              <a:rPr lang="en-US" dirty="0" smtClean="0"/>
              <a:t>Knowledge-based </a:t>
            </a:r>
            <a:r>
              <a:rPr lang="en-US" dirty="0"/>
              <a:t>agents are those agents who have the capability of maintaining an </a:t>
            </a:r>
            <a:r>
              <a:rPr lang="en-US" b="1" dirty="0"/>
              <a:t>internal state </a:t>
            </a:r>
            <a:r>
              <a:rPr lang="en-US" dirty="0"/>
              <a:t>of knowledge, </a:t>
            </a:r>
            <a:r>
              <a:rPr lang="en-US" b="1" dirty="0"/>
              <a:t>reason</a:t>
            </a:r>
            <a:r>
              <a:rPr lang="en-US" dirty="0"/>
              <a:t> over that knowledge, </a:t>
            </a:r>
            <a:r>
              <a:rPr lang="en-US" b="1" dirty="0"/>
              <a:t>update</a:t>
            </a:r>
            <a:r>
              <a:rPr lang="en-US" dirty="0"/>
              <a:t> their knowledge after observations and take actions. </a:t>
            </a:r>
            <a:endParaRPr lang="en-US" dirty="0" smtClean="0"/>
          </a:p>
          <a:p>
            <a:r>
              <a:rPr lang="en-US" dirty="0" smtClean="0"/>
              <a:t>These </a:t>
            </a:r>
            <a:r>
              <a:rPr lang="en-US" dirty="0"/>
              <a:t>agents can </a:t>
            </a:r>
            <a:r>
              <a:rPr lang="en-US" b="1" dirty="0"/>
              <a:t>represent</a:t>
            </a:r>
            <a:r>
              <a:rPr lang="en-US" dirty="0"/>
              <a:t> the world with some formal representation and act intelligently.</a:t>
            </a:r>
          </a:p>
          <a:p>
            <a:pPr marL="109728" indent="0">
              <a:buNone/>
            </a:pPr>
            <a:endParaRPr lang="en-US" dirty="0"/>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38365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3789041"/>
            <a:ext cx="5511552"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Knowledge-Based Agent in Artificial </a:t>
            </a:r>
            <a:r>
              <a:rPr lang="en-US" sz="3200" b="1" dirty="0" smtClean="0"/>
              <a:t>Intelligence</a:t>
            </a:r>
            <a:endParaRPr lang="en-US" sz="3200" b="1" dirty="0"/>
          </a:p>
        </p:txBody>
      </p:sp>
      <p:sp>
        <p:nvSpPr>
          <p:cNvPr id="13315" name="Rectangle 3"/>
          <p:cNvSpPr>
            <a:spLocks noGrp="1" noChangeArrowheads="1"/>
          </p:cNvSpPr>
          <p:nvPr>
            <p:ph idx="1"/>
          </p:nvPr>
        </p:nvSpPr>
        <p:spPr>
          <a:xfrm>
            <a:off x="285720" y="1512168"/>
            <a:ext cx="8572560" cy="1948407"/>
          </a:xfrm>
        </p:spPr>
        <p:txBody>
          <a:bodyPr>
            <a:noAutofit/>
          </a:bodyPr>
          <a:lstStyle/>
          <a:p>
            <a:r>
              <a:rPr lang="en-US" sz="2000" dirty="0" smtClean="0"/>
              <a:t>Knowledge-based </a:t>
            </a:r>
            <a:r>
              <a:rPr lang="en-US" sz="2000" dirty="0"/>
              <a:t>agents are composed of two main parts: </a:t>
            </a:r>
            <a:endParaRPr lang="en-US" sz="2000" dirty="0" smtClean="0"/>
          </a:p>
          <a:p>
            <a:pPr lvl="1"/>
            <a:r>
              <a:rPr lang="en-US" sz="2000" b="1" dirty="0" smtClean="0"/>
              <a:t>Knowledge-base </a:t>
            </a:r>
            <a:r>
              <a:rPr lang="en-US" sz="2000" b="1" dirty="0"/>
              <a:t>and</a:t>
            </a:r>
            <a:endParaRPr lang="en-US" sz="2000" dirty="0"/>
          </a:p>
          <a:p>
            <a:pPr lvl="1"/>
            <a:r>
              <a:rPr lang="en-US" sz="2000" b="1" dirty="0"/>
              <a:t>Inference </a:t>
            </a:r>
            <a:r>
              <a:rPr lang="en-US" sz="2000" b="1" dirty="0" smtClean="0"/>
              <a:t>system</a:t>
            </a:r>
            <a:endParaRPr lang="en-US" sz="2000" dirty="0" smtClean="0"/>
          </a:p>
          <a:p>
            <a:r>
              <a:rPr lang="en-US" sz="2400" dirty="0" smtClean="0"/>
              <a:t>knowledge-based </a:t>
            </a:r>
            <a:r>
              <a:rPr lang="en-US" sz="2400" dirty="0"/>
              <a:t>agent (KBA) take input from the environment by perceiving the environment.</a:t>
            </a:r>
          </a:p>
          <a:p>
            <a:pPr marL="411480" lvl="1" indent="0">
              <a:buNone/>
            </a:pPr>
            <a:endParaRPr lang="en-US" sz="2000" dirty="0" smtClean="0"/>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191709" y="3429000"/>
            <a:ext cx="3732219" cy="2538162"/>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2000" dirty="0" smtClean="0"/>
              <a:t>The </a:t>
            </a:r>
            <a:r>
              <a:rPr lang="en-US" sz="2000" dirty="0"/>
              <a:t>input is taken by the </a:t>
            </a:r>
            <a:r>
              <a:rPr lang="en-US" sz="2000" b="1" dirty="0"/>
              <a:t>inference</a:t>
            </a:r>
            <a:r>
              <a:rPr lang="en-US" sz="2000" dirty="0"/>
              <a:t> engine of the agent and which also </a:t>
            </a:r>
            <a:r>
              <a:rPr lang="en-US" sz="2000" b="1" dirty="0"/>
              <a:t>communicate</a:t>
            </a:r>
            <a:r>
              <a:rPr lang="en-US" sz="2000" dirty="0"/>
              <a:t> with KB to decide as per the knowledge store in KB. </a:t>
            </a:r>
            <a:endParaRPr lang="en-US" sz="2000" dirty="0" smtClean="0"/>
          </a:p>
          <a:p>
            <a:r>
              <a:rPr lang="en-US" sz="2000" dirty="0" smtClean="0"/>
              <a:t>The </a:t>
            </a:r>
            <a:r>
              <a:rPr lang="en-US" sz="2000" dirty="0"/>
              <a:t>learning element of KBA regularly </a:t>
            </a:r>
            <a:r>
              <a:rPr lang="en-US" sz="2000" b="1" dirty="0"/>
              <a:t>update</a:t>
            </a:r>
            <a:r>
              <a:rPr lang="en-US" sz="2000" dirty="0"/>
              <a:t>s the KB by learning </a:t>
            </a:r>
            <a:r>
              <a:rPr lang="en-US" sz="2000" dirty="0" smtClean="0"/>
              <a:t>new knowledge</a:t>
            </a:r>
            <a:endParaRPr lang="en-US" dirty="0"/>
          </a:p>
        </p:txBody>
      </p:sp>
    </p:spTree>
    <p:extLst>
      <p:ext uri="{BB962C8B-B14F-4D97-AF65-F5344CB8AC3E}">
        <p14:creationId xmlns:p14="http://schemas.microsoft.com/office/powerpoint/2010/main" val="29591655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Knowledge Representation</a:t>
            </a:r>
            <a:endParaRPr lang="en-US" sz="3200" b="1" dirty="0" smtClean="0"/>
          </a:p>
        </p:txBody>
      </p:sp>
      <p:sp>
        <p:nvSpPr>
          <p:cNvPr id="13315" name="Rectangle 3"/>
          <p:cNvSpPr>
            <a:spLocks noGrp="1" noChangeArrowheads="1"/>
          </p:cNvSpPr>
          <p:nvPr>
            <p:ph idx="1"/>
          </p:nvPr>
        </p:nvSpPr>
        <p:spPr>
          <a:xfrm>
            <a:off x="285720" y="1340768"/>
            <a:ext cx="8572560" cy="5229200"/>
          </a:xfrm>
        </p:spPr>
        <p:txBody>
          <a:bodyPr>
            <a:noAutofit/>
          </a:bodyPr>
          <a:lstStyle/>
          <a:p>
            <a:r>
              <a:rPr lang="en-US" dirty="0"/>
              <a:t>Knowledge Representation is a field of artificial intelligence that is concerned with presenting </a:t>
            </a:r>
            <a:r>
              <a:rPr lang="en-US" b="1" dirty="0"/>
              <a:t>real-world information</a:t>
            </a:r>
            <a:r>
              <a:rPr lang="en-US" dirty="0"/>
              <a:t> in a form that the computer can ‘understand’ and use to ‘solve’ </a:t>
            </a:r>
            <a:r>
              <a:rPr lang="en-US" b="1" dirty="0"/>
              <a:t>real-life problems</a:t>
            </a:r>
            <a:r>
              <a:rPr lang="en-US" dirty="0"/>
              <a:t> or ‘handle’ </a:t>
            </a:r>
            <a:r>
              <a:rPr lang="en-US" b="1" dirty="0"/>
              <a:t>real-life tasks</a:t>
            </a:r>
            <a:r>
              <a:rPr lang="en-US" dirty="0" smtClean="0"/>
              <a:t>.</a:t>
            </a:r>
          </a:p>
          <a:p>
            <a:endParaRPr lang="en-US" dirty="0"/>
          </a:p>
          <a:p>
            <a:r>
              <a:rPr lang="en-US" dirty="0"/>
              <a:t>The ability of machines to think and act like humans such as understanding, interpreting and reasoning constitute knowledge representation. It is related to designing agents that can think and ensure that such thinking can constructively contribute to the agent’s behavior. </a:t>
            </a:r>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10939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Knowledge Representation</a:t>
            </a:r>
            <a:endParaRPr lang="en-US" sz="3200" b="1" dirty="0" smtClean="0"/>
          </a:p>
        </p:txBody>
      </p:sp>
      <p:sp>
        <p:nvSpPr>
          <p:cNvPr id="13315" name="Rectangle 3"/>
          <p:cNvSpPr>
            <a:spLocks noGrp="1" noChangeArrowheads="1"/>
          </p:cNvSpPr>
          <p:nvPr>
            <p:ph idx="1"/>
          </p:nvPr>
        </p:nvSpPr>
        <p:spPr>
          <a:xfrm>
            <a:off x="285720" y="1500174"/>
            <a:ext cx="8572560" cy="5229200"/>
          </a:xfrm>
        </p:spPr>
        <p:txBody>
          <a:bodyPr>
            <a:noAutofit/>
          </a:bodyPr>
          <a:lstStyle/>
          <a:p>
            <a:pPr marL="109728" indent="0">
              <a:buNone/>
            </a:pPr>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524000"/>
            <a:ext cx="8208912" cy="5073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38730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Knowledge Representation</a:t>
            </a:r>
            <a:endParaRPr lang="en-US" sz="3200" b="1" dirty="0" smtClean="0"/>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In </a:t>
            </a:r>
            <a:r>
              <a:rPr lang="en-US" dirty="0"/>
              <a:t>simple words, knowledge representation allows machines to behave like humans by empowering an AI machine to learn from available information, experience or experts. </a:t>
            </a:r>
            <a:endParaRPr lang="en-US" dirty="0" smtClean="0"/>
          </a:p>
          <a:p>
            <a:r>
              <a:rPr lang="en-US" dirty="0" smtClean="0"/>
              <a:t>However</a:t>
            </a:r>
            <a:r>
              <a:rPr lang="en-US" dirty="0"/>
              <a:t>, it is important to choose the right type of knowledge representation if you want to ensure business success with AI.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15563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Propositional   Logic</a:t>
            </a:r>
          </a:p>
        </p:txBody>
      </p:sp>
      <p:sp>
        <p:nvSpPr>
          <p:cNvPr id="13315" name="Rectangle 3"/>
          <p:cNvSpPr>
            <a:spLocks noGrp="1" noChangeArrowheads="1"/>
          </p:cNvSpPr>
          <p:nvPr>
            <p:ph idx="1"/>
          </p:nvPr>
        </p:nvSpPr>
        <p:spPr>
          <a:xfrm>
            <a:off x="285720" y="1196752"/>
            <a:ext cx="8572560" cy="5229200"/>
          </a:xfrm>
        </p:spPr>
        <p:txBody>
          <a:bodyPr>
            <a:noAutofit/>
          </a:bodyPr>
          <a:lstStyle/>
          <a:p>
            <a:r>
              <a:rPr lang="en-US" dirty="0"/>
              <a:t>Propositional logic (PL) is the simplest form of logic where all the statements are made by </a:t>
            </a:r>
            <a:r>
              <a:rPr lang="en-US" b="1" dirty="0"/>
              <a:t>propositions</a:t>
            </a:r>
            <a:r>
              <a:rPr lang="en-US" dirty="0"/>
              <a:t>. </a:t>
            </a:r>
            <a:endParaRPr lang="en-US" dirty="0" smtClean="0"/>
          </a:p>
          <a:p>
            <a:r>
              <a:rPr lang="en-US" dirty="0" smtClean="0"/>
              <a:t>A </a:t>
            </a:r>
            <a:r>
              <a:rPr lang="en-US" dirty="0"/>
              <a:t>proposition is a declarative statement which is either </a:t>
            </a:r>
            <a:r>
              <a:rPr lang="en-US" b="1" dirty="0"/>
              <a:t>true</a:t>
            </a:r>
            <a:r>
              <a:rPr lang="en-US" dirty="0"/>
              <a:t> or </a:t>
            </a:r>
            <a:r>
              <a:rPr lang="en-US" b="1" dirty="0"/>
              <a:t>false</a:t>
            </a:r>
            <a:r>
              <a:rPr lang="en-US" dirty="0"/>
              <a:t>. </a:t>
            </a:r>
            <a:endParaRPr lang="en-US" dirty="0" smtClean="0"/>
          </a:p>
          <a:p>
            <a:r>
              <a:rPr lang="en-US" dirty="0" smtClean="0"/>
              <a:t>It </a:t>
            </a:r>
            <a:r>
              <a:rPr lang="en-US" dirty="0"/>
              <a:t>is a technique of knowledge representation in </a:t>
            </a:r>
            <a:r>
              <a:rPr lang="en-US" b="1" dirty="0"/>
              <a:t>logical</a:t>
            </a:r>
            <a:r>
              <a:rPr lang="en-US" dirty="0"/>
              <a:t> and </a:t>
            </a:r>
            <a:r>
              <a:rPr lang="en-US" b="1" dirty="0"/>
              <a:t>mathematical</a:t>
            </a:r>
            <a:r>
              <a:rPr lang="en-US" dirty="0"/>
              <a:t> form</a:t>
            </a:r>
            <a:r>
              <a:rPr lang="en-US" dirty="0" smtClean="0"/>
              <a:t>.</a:t>
            </a:r>
          </a:p>
          <a:p>
            <a:pPr marL="109728" indent="0">
              <a:buNone/>
            </a:pPr>
            <a:r>
              <a:rPr lang="en-US" b="1" dirty="0"/>
              <a:t>Example: </a:t>
            </a:r>
          </a:p>
          <a:p>
            <a:r>
              <a:rPr lang="en-US" dirty="0"/>
              <a:t>a) It is Sunday</a:t>
            </a:r>
          </a:p>
          <a:p>
            <a:r>
              <a:rPr lang="en-US" dirty="0"/>
              <a:t>b) The Sun rises from West (False proposition)  </a:t>
            </a:r>
          </a:p>
          <a:p>
            <a:r>
              <a:rPr lang="en-US" dirty="0"/>
              <a:t>c) 3+3= 7 (False proposition)  </a:t>
            </a:r>
          </a:p>
          <a:p>
            <a:r>
              <a:rPr lang="en-US" dirty="0"/>
              <a:t>d) 5 is a prime number. </a:t>
            </a:r>
          </a:p>
          <a:p>
            <a:endParaRPr lang="en-US" dirty="0" smtClean="0"/>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96899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Propositional   Logic (PL)</a:t>
            </a:r>
          </a:p>
        </p:txBody>
      </p:sp>
      <p:sp>
        <p:nvSpPr>
          <p:cNvPr id="13315" name="Rectangle 3"/>
          <p:cNvSpPr>
            <a:spLocks noGrp="1" noChangeArrowheads="1"/>
          </p:cNvSpPr>
          <p:nvPr>
            <p:ph idx="1"/>
          </p:nvPr>
        </p:nvSpPr>
        <p:spPr>
          <a:xfrm>
            <a:off x="285720" y="1268760"/>
            <a:ext cx="8750776" cy="5229200"/>
          </a:xfrm>
        </p:spPr>
        <p:txBody>
          <a:bodyPr>
            <a:noAutofit/>
          </a:bodyPr>
          <a:lstStyle/>
          <a:p>
            <a:r>
              <a:rPr lang="en-US" dirty="0"/>
              <a:t>Propositional logic is also called </a:t>
            </a:r>
            <a:r>
              <a:rPr lang="en-US" b="1" dirty="0"/>
              <a:t>Boolean</a:t>
            </a:r>
            <a:r>
              <a:rPr lang="en-US" dirty="0"/>
              <a:t> logic as it works on 0 and 1.</a:t>
            </a:r>
          </a:p>
          <a:p>
            <a:r>
              <a:rPr lang="en-US" dirty="0"/>
              <a:t>In </a:t>
            </a:r>
            <a:r>
              <a:rPr lang="en-US" dirty="0" smtClean="0"/>
              <a:t>PL, </a:t>
            </a:r>
            <a:r>
              <a:rPr lang="en-US" dirty="0"/>
              <a:t>we use symbolic variables to represent the logic, and we can use any symbol for a </a:t>
            </a:r>
            <a:r>
              <a:rPr lang="en-US" dirty="0" smtClean="0"/>
              <a:t>representing </a:t>
            </a:r>
            <a:r>
              <a:rPr lang="en-US" dirty="0"/>
              <a:t>a proposition, such A, B, C, P, Q, R, etc.</a:t>
            </a:r>
          </a:p>
          <a:p>
            <a:r>
              <a:rPr lang="en-US" dirty="0"/>
              <a:t>Propositions can be either </a:t>
            </a:r>
            <a:r>
              <a:rPr lang="en-US" b="1" dirty="0"/>
              <a:t>true</a:t>
            </a:r>
            <a:r>
              <a:rPr lang="en-US" dirty="0"/>
              <a:t> or </a:t>
            </a:r>
            <a:r>
              <a:rPr lang="en-US" b="1" dirty="0"/>
              <a:t>false</a:t>
            </a:r>
            <a:r>
              <a:rPr lang="en-US" dirty="0"/>
              <a:t>, but it cannot be both.</a:t>
            </a:r>
          </a:p>
          <a:p>
            <a:r>
              <a:rPr lang="en-US" dirty="0"/>
              <a:t>Propositional logic consists of an </a:t>
            </a:r>
            <a:r>
              <a:rPr lang="en-US" b="1" dirty="0"/>
              <a:t>object</a:t>
            </a:r>
            <a:r>
              <a:rPr lang="en-US" dirty="0"/>
              <a:t>, </a:t>
            </a:r>
            <a:r>
              <a:rPr lang="en-US" b="1" dirty="0"/>
              <a:t>relations</a:t>
            </a:r>
            <a:r>
              <a:rPr lang="en-US" dirty="0"/>
              <a:t> or function, and </a:t>
            </a:r>
            <a:r>
              <a:rPr lang="en-US" b="1" dirty="0"/>
              <a:t>logical connectives</a:t>
            </a:r>
            <a:r>
              <a:rPr lang="en-US" dirty="0"/>
              <a:t>.</a:t>
            </a:r>
          </a:p>
          <a:p>
            <a:r>
              <a:rPr lang="en-US" dirty="0"/>
              <a:t>These connectives are also called logical </a:t>
            </a:r>
            <a:r>
              <a:rPr lang="en-US" b="1" dirty="0" smtClean="0"/>
              <a:t>operators</a:t>
            </a:r>
            <a:endParaRPr lang="en-US" dirty="0" smtClean="0"/>
          </a:p>
          <a:p>
            <a:r>
              <a:rPr lang="en-US" dirty="0"/>
              <a:t>The propositions and connectives are the basic elements of the propositional logic.</a:t>
            </a:r>
          </a:p>
          <a:p>
            <a:endParaRPr lang="en-US" dirty="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39700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Propositional   Logic</a:t>
            </a:r>
          </a:p>
        </p:txBody>
      </p:sp>
      <p:sp>
        <p:nvSpPr>
          <p:cNvPr id="13315" name="Rectangle 3"/>
          <p:cNvSpPr>
            <a:spLocks noGrp="1" noChangeArrowheads="1"/>
          </p:cNvSpPr>
          <p:nvPr>
            <p:ph idx="1"/>
          </p:nvPr>
        </p:nvSpPr>
        <p:spPr>
          <a:xfrm>
            <a:off x="285720" y="1268760"/>
            <a:ext cx="8678768" cy="5229200"/>
          </a:xfrm>
        </p:spPr>
        <p:txBody>
          <a:bodyPr>
            <a:noAutofit/>
          </a:bodyPr>
          <a:lstStyle/>
          <a:p>
            <a:r>
              <a:rPr lang="en-US" dirty="0" smtClean="0"/>
              <a:t>Connectives </a:t>
            </a:r>
            <a:r>
              <a:rPr lang="en-US" dirty="0"/>
              <a:t>can be said as a logical operator which connects two sentences.</a:t>
            </a:r>
          </a:p>
          <a:p>
            <a:r>
              <a:rPr lang="en-US" dirty="0"/>
              <a:t>A proposition formula which is always true is called </a:t>
            </a:r>
            <a:r>
              <a:rPr lang="en-US" b="1" dirty="0"/>
              <a:t>tautology</a:t>
            </a:r>
            <a:r>
              <a:rPr lang="en-US" dirty="0"/>
              <a:t>, and it is also called a valid sentence.</a:t>
            </a:r>
          </a:p>
          <a:p>
            <a:r>
              <a:rPr lang="en-US" dirty="0"/>
              <a:t>A proposition formula which is always false is called </a:t>
            </a:r>
            <a:r>
              <a:rPr lang="en-US" b="1" dirty="0"/>
              <a:t>Contradiction</a:t>
            </a:r>
            <a:r>
              <a:rPr lang="en-US" dirty="0"/>
              <a:t>.</a:t>
            </a:r>
          </a:p>
          <a:p>
            <a:r>
              <a:rPr lang="en-US" dirty="0"/>
              <a:t>A proposition formula which has both true and false values is called </a:t>
            </a:r>
          </a:p>
          <a:p>
            <a:r>
              <a:rPr lang="en-US" dirty="0"/>
              <a:t>Statements which are questions, commands, or opinions are not propositions such as "</a:t>
            </a:r>
            <a:r>
              <a:rPr lang="en-US" b="1" dirty="0"/>
              <a:t>Where is </a:t>
            </a:r>
            <a:r>
              <a:rPr lang="en-US" b="1" dirty="0" err="1"/>
              <a:t>Rohini</a:t>
            </a:r>
            <a:r>
              <a:rPr lang="en-US" dirty="0"/>
              <a:t>", "</a:t>
            </a:r>
            <a:r>
              <a:rPr lang="en-US" b="1" dirty="0"/>
              <a:t>How are you</a:t>
            </a:r>
            <a:r>
              <a:rPr lang="en-US" dirty="0"/>
              <a:t>", "</a:t>
            </a:r>
            <a:r>
              <a:rPr lang="en-US" b="1" dirty="0"/>
              <a:t>What is your name</a:t>
            </a:r>
            <a:r>
              <a:rPr lang="en-US" dirty="0"/>
              <a:t>", are not propositions. </a:t>
            </a:r>
          </a:p>
          <a:p>
            <a:pPr marL="109728" indent="0">
              <a:buNone/>
            </a:pPr>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27967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Propositional   </a:t>
            </a:r>
            <a:r>
              <a:rPr lang="en-US" sz="3200" b="1" dirty="0"/>
              <a:t>Logic Formulae </a:t>
            </a:r>
            <a:endParaRPr lang="en-US" sz="3200" b="1" dirty="0" smtClean="0"/>
          </a:p>
        </p:txBody>
      </p:sp>
      <p:sp>
        <p:nvSpPr>
          <p:cNvPr id="13315" name="Rectangle 3"/>
          <p:cNvSpPr>
            <a:spLocks noGrp="1" noChangeArrowheads="1"/>
          </p:cNvSpPr>
          <p:nvPr>
            <p:ph idx="1"/>
          </p:nvPr>
        </p:nvSpPr>
        <p:spPr>
          <a:xfrm>
            <a:off x="285720" y="1412776"/>
            <a:ext cx="8572560" cy="5229200"/>
          </a:xfrm>
        </p:spPr>
        <p:txBody>
          <a:bodyPr>
            <a:noAutofit/>
          </a:bodyPr>
          <a:lstStyle/>
          <a:p>
            <a:pPr marL="109728" indent="0">
              <a:buNone/>
            </a:pPr>
            <a:r>
              <a:rPr lang="en-US" sz="2400" dirty="0" smtClean="0"/>
              <a:t>Formulae </a:t>
            </a:r>
            <a:r>
              <a:rPr lang="en-US" sz="2400" dirty="0"/>
              <a:t>in propositional logic are defined as follows:</a:t>
            </a:r>
          </a:p>
          <a:p>
            <a:pPr marL="109728" indent="0">
              <a:buNone/>
            </a:pPr>
            <a:r>
              <a:rPr lang="en-US" sz="2400" dirty="0"/>
              <a:t>Any propositional variable is a formula. </a:t>
            </a:r>
          </a:p>
          <a:p>
            <a:r>
              <a:rPr lang="en-US" sz="2400" b="1" dirty="0"/>
              <a:t>Conjunction</a:t>
            </a:r>
            <a:r>
              <a:rPr lang="en-US" sz="2400" dirty="0"/>
              <a:t>: If and are formulas, then (read as AND ) is a formula. </a:t>
            </a:r>
          </a:p>
          <a:p>
            <a:r>
              <a:rPr lang="en-US" sz="2400" b="1" dirty="0"/>
              <a:t>Disjunction</a:t>
            </a:r>
            <a:r>
              <a:rPr lang="en-US" sz="2400" dirty="0"/>
              <a:t>: If and are formulas, then (read as OR ) is a formula. </a:t>
            </a:r>
          </a:p>
          <a:p>
            <a:r>
              <a:rPr lang="en-US" sz="2400" b="1" dirty="0"/>
              <a:t>Negation</a:t>
            </a:r>
            <a:r>
              <a:rPr lang="en-US" sz="2400" dirty="0"/>
              <a:t>: If is a formula then (read as NOT ) is a formula. </a:t>
            </a:r>
          </a:p>
          <a:p>
            <a:pPr marL="109728" indent="0">
              <a:spcBef>
                <a:spcPts val="600"/>
              </a:spcBef>
              <a:buNone/>
            </a:pPr>
            <a:r>
              <a:rPr lang="en-US" sz="2400" b="1" dirty="0"/>
              <a:t>Caution on “OR” operator</a:t>
            </a:r>
            <a:endParaRPr lang="en-US" sz="2400" dirty="0"/>
          </a:p>
          <a:p>
            <a:r>
              <a:rPr lang="en-US" sz="2400" dirty="0"/>
              <a:t>When we say ‘‘Either OR is true’’, we mean that </a:t>
            </a:r>
            <a:r>
              <a:rPr lang="en-US" sz="2400" b="1" dirty="0"/>
              <a:t>at least</a:t>
            </a:r>
            <a:r>
              <a:rPr lang="en-US" sz="2400" dirty="0"/>
              <a:t> one of the two propositions , is true. It could be that both of and are true. (See the definition in the textbook.)</a:t>
            </a:r>
          </a:p>
          <a:p>
            <a:r>
              <a:rPr lang="en-US" sz="2400" dirty="0"/>
              <a:t>This is different from the </a:t>
            </a:r>
            <a:r>
              <a:rPr lang="en-US" sz="2400" b="1" dirty="0"/>
              <a:t>exclusive OR</a:t>
            </a:r>
            <a:r>
              <a:rPr lang="en-US" sz="2400" dirty="0"/>
              <a:t> (written as </a:t>
            </a:r>
            <a:r>
              <a:rPr lang="en-US" sz="2400" b="1" dirty="0"/>
              <a:t>XOR</a:t>
            </a:r>
            <a:r>
              <a:rPr lang="en-US" sz="2400" dirty="0"/>
              <a:t> or ). For any propositions and , means “either or , but not both”.</a:t>
            </a:r>
          </a:p>
          <a:p>
            <a:endParaRPr lang="en-US" sz="24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40396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Propositional   Logic</a:t>
            </a:r>
          </a:p>
        </p:txBody>
      </p:sp>
      <p:sp>
        <p:nvSpPr>
          <p:cNvPr id="13315" name="Rectangle 3"/>
          <p:cNvSpPr>
            <a:spLocks noGrp="1" noChangeArrowheads="1"/>
          </p:cNvSpPr>
          <p:nvPr>
            <p:ph idx="1"/>
          </p:nvPr>
        </p:nvSpPr>
        <p:spPr>
          <a:xfrm>
            <a:off x="285720" y="1500174"/>
            <a:ext cx="8572560" cy="5229200"/>
          </a:xfrm>
        </p:spPr>
        <p:txBody>
          <a:bodyPr>
            <a:noAutofit/>
          </a:bodyPr>
          <a:lstStyle/>
          <a:p>
            <a:pPr marL="109728" indent="0">
              <a:buNone/>
            </a:pPr>
            <a:r>
              <a:rPr lang="en-US" b="1" dirty="0"/>
              <a:t>Example</a:t>
            </a:r>
          </a:p>
          <a:p>
            <a:r>
              <a:rPr lang="en-US" dirty="0"/>
              <a:t>Consider the following two propositions:</a:t>
            </a:r>
          </a:p>
          <a:p>
            <a:pPr lvl="1"/>
            <a:r>
              <a:rPr lang="en-US" dirty="0" smtClean="0"/>
              <a:t>It </a:t>
            </a:r>
            <a:r>
              <a:rPr lang="en-US" dirty="0"/>
              <a:t>is rainy today.</a:t>
            </a:r>
          </a:p>
          <a:p>
            <a:pPr lvl="1"/>
            <a:r>
              <a:rPr lang="en-US" dirty="0" smtClean="0"/>
              <a:t>It </a:t>
            </a:r>
            <a:r>
              <a:rPr lang="en-US" dirty="0"/>
              <a:t>is sunny today.</a:t>
            </a:r>
          </a:p>
          <a:p>
            <a:pPr marL="109728" indent="0">
              <a:buNone/>
            </a:pPr>
            <a:r>
              <a:rPr lang="en-US" dirty="0"/>
              <a:t>Then:</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645024"/>
            <a:ext cx="3612257"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descr="The Difference In Weather Between Sunny And Rainy Day Vector.. Royalty Free  Cliparts, Vectors, And Stock Illustration. Image 161378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2564904"/>
            <a:ext cx="2895600"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6327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Truth </a:t>
            </a:r>
            <a:r>
              <a:rPr lang="en-US" sz="3200" b="1" dirty="0" smtClean="0"/>
              <a:t>table - Propositional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We </a:t>
            </a:r>
            <a:r>
              <a:rPr lang="en-US" dirty="0"/>
              <a:t>evaluate propositional formulae using </a:t>
            </a:r>
            <a:r>
              <a:rPr lang="en-US" i="1" dirty="0"/>
              <a:t>truth tables</a:t>
            </a:r>
            <a:r>
              <a:rPr lang="en-US" dirty="0"/>
              <a:t>. </a:t>
            </a:r>
            <a:endParaRPr lang="en-US" dirty="0" smtClean="0"/>
          </a:p>
          <a:p>
            <a:r>
              <a:rPr lang="en-US" dirty="0" smtClean="0"/>
              <a:t>For </a:t>
            </a:r>
            <a:r>
              <a:rPr lang="en-US" dirty="0"/>
              <a:t>any given proposition formula depending on </a:t>
            </a:r>
            <a:r>
              <a:rPr lang="en-US" b="1" dirty="0"/>
              <a:t>several</a:t>
            </a:r>
            <a:r>
              <a:rPr lang="en-US" dirty="0"/>
              <a:t> propositional variables, we can draw a truth table considering </a:t>
            </a:r>
            <a:r>
              <a:rPr lang="en-US" b="1" dirty="0"/>
              <a:t>all</a:t>
            </a:r>
            <a:r>
              <a:rPr lang="en-US" dirty="0"/>
              <a:t> possible </a:t>
            </a:r>
            <a:r>
              <a:rPr lang="en-US" b="1" dirty="0"/>
              <a:t>combinations</a:t>
            </a:r>
            <a:r>
              <a:rPr lang="en-US" dirty="0"/>
              <a:t> of </a:t>
            </a:r>
            <a:r>
              <a:rPr lang="en-US" b="1" dirty="0" err="1"/>
              <a:t>boolean</a:t>
            </a:r>
            <a:r>
              <a:rPr lang="en-US" dirty="0"/>
              <a:t> values that the variables can take, and in the table we evaluate the resulting </a:t>
            </a:r>
            <a:r>
              <a:rPr lang="en-US" b="1" dirty="0" err="1"/>
              <a:t>boolean</a:t>
            </a:r>
            <a:r>
              <a:rPr lang="en-US" dirty="0"/>
              <a:t> value of the proposition formula for each combination of </a:t>
            </a:r>
            <a:r>
              <a:rPr lang="en-US" dirty="0" err="1"/>
              <a:t>boolean</a:t>
            </a:r>
            <a:r>
              <a:rPr lang="en-US" dirty="0"/>
              <a:t> values.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17701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Truth Table for AND </a:t>
            </a:r>
            <a:endParaRPr lang="en-US" sz="3200" b="1" dirty="0" smtClean="0"/>
          </a:p>
        </p:txBody>
      </p:sp>
      <p:sp>
        <p:nvSpPr>
          <p:cNvPr id="13315" name="Rectangle 3"/>
          <p:cNvSpPr>
            <a:spLocks noGrp="1" noChangeArrowheads="1"/>
          </p:cNvSpPr>
          <p:nvPr>
            <p:ph idx="1"/>
          </p:nvPr>
        </p:nvSpPr>
        <p:spPr>
          <a:xfrm>
            <a:off x="285720" y="4437111"/>
            <a:ext cx="8572560" cy="2304255"/>
          </a:xfrm>
        </p:spPr>
        <p:txBody>
          <a:bodyPr>
            <a:noAutofit/>
          </a:bodyPr>
          <a:lstStyle/>
          <a:p>
            <a:endParaRPr lang="en-US" dirty="0" smtClean="0"/>
          </a:p>
          <a:p>
            <a:endParaRPr lang="en-US" dirty="0"/>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581894"/>
            <a:ext cx="2232248" cy="179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3"/>
          <p:cNvSpPr txBox="1">
            <a:spLocks noChangeArrowheads="1"/>
          </p:cNvSpPr>
          <p:nvPr/>
        </p:nvSpPr>
        <p:spPr>
          <a:xfrm>
            <a:off x="179512" y="1412776"/>
            <a:ext cx="7200800" cy="26146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dirty="0" smtClean="0"/>
              <a:t>Each row represents some kind of a </a:t>
            </a:r>
            <a:r>
              <a:rPr lang="en-US" i="1" dirty="0" smtClean="0"/>
              <a:t>situation</a:t>
            </a:r>
            <a:r>
              <a:rPr lang="en-US" dirty="0" smtClean="0"/>
              <a:t>. For example, the top most     row represents the situation when propositions </a:t>
            </a:r>
            <a:r>
              <a:rPr lang="en-US" i="1" dirty="0" smtClean="0"/>
              <a:t>p</a:t>
            </a:r>
            <a:r>
              <a:rPr lang="en-US" dirty="0" smtClean="0"/>
              <a:t> and </a:t>
            </a:r>
            <a:r>
              <a:rPr lang="en-US" i="1" dirty="0" smtClean="0"/>
              <a:t>q</a:t>
            </a:r>
            <a:r>
              <a:rPr lang="en-US" dirty="0" smtClean="0"/>
              <a:t> and are both     ’'true’’. </a:t>
            </a:r>
          </a:p>
          <a:p>
            <a:r>
              <a:rPr lang="en-US" dirty="0" smtClean="0"/>
              <a:t>Then we conclude that the formula          in this situation is also ’'true’’. </a:t>
            </a:r>
          </a:p>
          <a:p>
            <a:pPr marL="109728" indent="0">
              <a:buNone/>
            </a:pPr>
            <a:endParaRPr lang="en-US" dirty="0" smtClean="0"/>
          </a:p>
          <a:p>
            <a:pPr marL="109728" indent="0">
              <a:buNone/>
            </a:pPr>
            <a:r>
              <a:rPr lang="en-US" dirty="0" smtClean="0"/>
              <a:t>Logicians </a:t>
            </a:r>
            <a:r>
              <a:rPr lang="en-US" dirty="0"/>
              <a:t>call these situations </a:t>
            </a:r>
            <a:r>
              <a:rPr lang="en-US" i="1" dirty="0"/>
              <a:t>models</a:t>
            </a:r>
            <a:r>
              <a:rPr lang="en-US" dirty="0"/>
              <a:t>. In </a:t>
            </a:r>
            <a:r>
              <a:rPr lang="en-US" dirty="0" smtClean="0"/>
              <a:t>this </a:t>
            </a:r>
            <a:r>
              <a:rPr lang="en-US" dirty="0"/>
              <a:t>case, a Logician would say that the truth </a:t>
            </a:r>
            <a:r>
              <a:rPr lang="en-US" dirty="0" smtClean="0"/>
              <a:t>assignment </a:t>
            </a:r>
            <a:r>
              <a:rPr lang="en-US" i="1" dirty="0" smtClean="0"/>
              <a:t>p</a:t>
            </a:r>
            <a:r>
              <a:rPr lang="en-US" dirty="0" smtClean="0"/>
              <a:t> </a:t>
            </a:r>
            <a:r>
              <a:rPr lang="en-US" dirty="0" smtClean="0">
                <a:sym typeface="Wingdings" pitchFamily="2" charset="2"/>
              </a:rPr>
              <a:t> true, </a:t>
            </a:r>
            <a:r>
              <a:rPr lang="en-US" i="1" dirty="0" smtClean="0">
                <a:sym typeface="Wingdings" pitchFamily="2" charset="2"/>
              </a:rPr>
              <a:t>q</a:t>
            </a:r>
            <a:r>
              <a:rPr lang="en-US" dirty="0" smtClean="0">
                <a:sym typeface="Wingdings" pitchFamily="2" charset="2"/>
              </a:rPr>
              <a:t>  true is a model of the formula </a:t>
            </a:r>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3690098"/>
            <a:ext cx="576064" cy="405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6309320"/>
            <a:ext cx="576064" cy="405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77931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572" y="5247853"/>
            <a:ext cx="2142703" cy="1565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Truth Table for AND </a:t>
            </a:r>
            <a:endParaRPr lang="en-US" sz="3200" b="1" dirty="0" smtClean="0"/>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In </a:t>
            </a:r>
            <a:r>
              <a:rPr lang="en-US" dirty="0"/>
              <a:t>other words, if you imagine a situation wherein the proposition </a:t>
            </a:r>
            <a:r>
              <a:rPr lang="en-US" dirty="0" smtClean="0"/>
              <a:t> </a:t>
            </a:r>
            <a:r>
              <a:rPr lang="en-US" i="1" dirty="0" smtClean="0"/>
              <a:t>p</a:t>
            </a:r>
            <a:r>
              <a:rPr lang="en-US" dirty="0" smtClean="0"/>
              <a:t> is </a:t>
            </a:r>
            <a:r>
              <a:rPr lang="en-US" dirty="0"/>
              <a:t>true and the proposition </a:t>
            </a:r>
            <a:r>
              <a:rPr lang="en-US" i="1" dirty="0" smtClean="0"/>
              <a:t>q </a:t>
            </a:r>
            <a:r>
              <a:rPr lang="en-US" dirty="0" smtClean="0"/>
              <a:t>is </a:t>
            </a:r>
            <a:r>
              <a:rPr lang="en-US" dirty="0"/>
              <a:t>true then in that situation formula is </a:t>
            </a:r>
            <a:r>
              <a:rPr lang="en-US" dirty="0" smtClean="0"/>
              <a:t>        true</a:t>
            </a:r>
            <a:r>
              <a:rPr lang="en-US" dirty="0"/>
              <a:t>.</a:t>
            </a:r>
          </a:p>
          <a:p>
            <a:r>
              <a:rPr lang="en-US" dirty="0"/>
              <a:t>To avoid confusion let us use the term “situations” and “models”. </a:t>
            </a:r>
            <a:endParaRPr lang="en-US" dirty="0" smtClean="0"/>
          </a:p>
          <a:p>
            <a:r>
              <a:rPr lang="en-US" dirty="0" smtClean="0"/>
              <a:t>We </a:t>
            </a:r>
            <a:r>
              <a:rPr lang="en-US" dirty="0"/>
              <a:t>will formalize models later for first-order (predicate) logic.</a:t>
            </a:r>
          </a:p>
          <a:p>
            <a:pPr marL="109728" indent="0">
              <a:buNone/>
            </a:pPr>
            <a:r>
              <a:rPr lang="en-US" b="1" dirty="0" smtClean="0"/>
              <a:t>Truth </a:t>
            </a:r>
            <a:r>
              <a:rPr lang="en-US" b="1" dirty="0"/>
              <a:t>Table for OR </a:t>
            </a:r>
            <a:endParaRPr lang="en-US" b="1" dirty="0" smtClean="0"/>
          </a:p>
          <a:p>
            <a:pPr marL="109728" indent="0">
              <a:buNone/>
            </a:pPr>
            <a:r>
              <a:rPr lang="en-US" b="1" dirty="0"/>
              <a:t>Truth Table for </a:t>
            </a:r>
            <a:r>
              <a:rPr lang="en-US" b="1" dirty="0" smtClean="0"/>
              <a:t>NOT</a:t>
            </a:r>
            <a:endParaRPr lang="en-US" dirty="0"/>
          </a:p>
          <a:p>
            <a:pPr marL="109728" indent="0">
              <a:buNone/>
            </a:pPr>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8224" y="2420888"/>
            <a:ext cx="576064" cy="405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0275" y="4149080"/>
            <a:ext cx="2194173"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03438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endParaRPr lang="en-US" sz="3200" b="1" dirty="0" smtClean="0"/>
          </a:p>
        </p:txBody>
      </p:sp>
      <p:sp>
        <p:nvSpPr>
          <p:cNvPr id="13315" name="Rectangle 3"/>
          <p:cNvSpPr>
            <a:spLocks noGrp="1" noChangeArrowheads="1"/>
          </p:cNvSpPr>
          <p:nvPr>
            <p:ph idx="1"/>
          </p:nvPr>
        </p:nvSpPr>
        <p:spPr>
          <a:xfrm>
            <a:off x="285720" y="1500174"/>
            <a:ext cx="8572560" cy="5229200"/>
          </a:xfrm>
        </p:spPr>
        <p:txBody>
          <a:bodyPr>
            <a:noAutofit/>
          </a:bodyPr>
          <a:lstStyle/>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620688"/>
            <a:ext cx="8640960"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03947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340768"/>
            <a:ext cx="8572560" cy="5229200"/>
          </a:xfrm>
        </p:spPr>
        <p:txBody>
          <a:bodyPr>
            <a:noAutofit/>
          </a:bodyPr>
          <a:lstStyle/>
          <a:p>
            <a:r>
              <a:rPr lang="en-US" dirty="0"/>
              <a:t>In </a:t>
            </a:r>
            <a:r>
              <a:rPr lang="en-US" dirty="0" smtClean="0"/>
              <a:t>Propositional </a:t>
            </a:r>
            <a:r>
              <a:rPr lang="en-US" dirty="0"/>
              <a:t>logic, we have seen that how to represent statements using propositional logic. </a:t>
            </a:r>
            <a:endParaRPr lang="en-US" dirty="0" smtClean="0"/>
          </a:p>
          <a:p>
            <a:r>
              <a:rPr lang="en-US" dirty="0" smtClean="0"/>
              <a:t>But </a:t>
            </a:r>
            <a:r>
              <a:rPr lang="en-US" dirty="0"/>
              <a:t>unfortunately, in propositional logic, we can only represent the facts, which are either true or false. </a:t>
            </a:r>
            <a:endParaRPr lang="en-US" dirty="0" smtClean="0"/>
          </a:p>
          <a:p>
            <a:r>
              <a:rPr lang="en-US" dirty="0" smtClean="0"/>
              <a:t>PL </a:t>
            </a:r>
            <a:r>
              <a:rPr lang="en-US" dirty="0"/>
              <a:t>is not sufficient to represent the complex sentences or natural language statements. The propositional logic has very limited expressive power. Consider the following sentence, which we cannot represent using PL logic.</a:t>
            </a:r>
          </a:p>
          <a:p>
            <a:r>
              <a:rPr lang="en-US" b="1" dirty="0"/>
              <a:t>"Some humans are intelligent", or</a:t>
            </a:r>
            <a:endParaRPr lang="en-US" dirty="0"/>
          </a:p>
          <a:p>
            <a:r>
              <a:rPr lang="en-US" b="1" dirty="0"/>
              <a:t>"</a:t>
            </a:r>
            <a:r>
              <a:rPr lang="en-US" b="1" dirty="0" err="1"/>
              <a:t>Sachin</a:t>
            </a:r>
            <a:r>
              <a:rPr lang="en-US" b="1" dirty="0"/>
              <a:t> likes cricket."</a:t>
            </a:r>
            <a:endParaRPr lang="en-US" dirty="0"/>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29989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To </a:t>
            </a:r>
            <a:r>
              <a:rPr lang="en-US" dirty="0"/>
              <a:t>represent the above statements, PL logic is not sufficient, so we required some more powerful logic, such as first-order logic. </a:t>
            </a:r>
            <a:endParaRPr lang="en-US" dirty="0" smtClean="0"/>
          </a:p>
          <a:p>
            <a:pPr marL="109728" indent="0">
              <a:buNone/>
            </a:pPr>
            <a:endParaRPr lang="en-US" dirty="0" smtClean="0"/>
          </a:p>
          <a:p>
            <a:pPr marL="109728" indent="0">
              <a:buNone/>
            </a:pPr>
            <a:r>
              <a:rPr lang="en-US" b="1" dirty="0" smtClean="0"/>
              <a:t>First-Order </a:t>
            </a:r>
            <a:r>
              <a:rPr lang="en-US" b="1" dirty="0"/>
              <a:t>logic: </a:t>
            </a:r>
          </a:p>
          <a:p>
            <a:r>
              <a:rPr lang="en-US" dirty="0"/>
              <a:t>First-order logic is another way of knowledge representation in artificial intelligence. </a:t>
            </a:r>
            <a:endParaRPr lang="en-US" dirty="0" smtClean="0"/>
          </a:p>
          <a:p>
            <a:r>
              <a:rPr lang="en-US" dirty="0" smtClean="0"/>
              <a:t>It </a:t>
            </a:r>
            <a:r>
              <a:rPr lang="en-US" dirty="0"/>
              <a:t>is an extension to propositional logic.</a:t>
            </a:r>
          </a:p>
          <a:p>
            <a:r>
              <a:rPr lang="en-US" dirty="0"/>
              <a:t>FOL is sufficiently expressive to represent the </a:t>
            </a:r>
            <a:r>
              <a:rPr lang="en-US" b="1" dirty="0"/>
              <a:t>natural language </a:t>
            </a:r>
            <a:r>
              <a:rPr lang="en-US" dirty="0"/>
              <a:t>statements in a concise way</a:t>
            </a:r>
            <a:r>
              <a:rPr lang="en-US" dirty="0" smtClean="0"/>
              <a:t>.</a:t>
            </a:r>
            <a:endParaRPr lang="en-US" dirty="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81682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First-order </a:t>
            </a:r>
            <a:r>
              <a:rPr lang="en-US" dirty="0"/>
              <a:t>logic is also known as </a:t>
            </a:r>
            <a:r>
              <a:rPr lang="en-US" b="1" dirty="0"/>
              <a:t>Predicate logic or First-order predicate logic</a:t>
            </a:r>
            <a:r>
              <a:rPr lang="en-US" dirty="0"/>
              <a:t>. </a:t>
            </a:r>
            <a:endParaRPr lang="en-US" dirty="0" smtClean="0"/>
          </a:p>
          <a:p>
            <a:r>
              <a:rPr lang="en-US" dirty="0" smtClean="0"/>
              <a:t>First-order </a:t>
            </a:r>
            <a:r>
              <a:rPr lang="en-US" dirty="0"/>
              <a:t>logic is a powerful language that develops information about the objects in a more </a:t>
            </a:r>
            <a:r>
              <a:rPr lang="en-US" b="1" dirty="0"/>
              <a:t>easy way </a:t>
            </a:r>
            <a:r>
              <a:rPr lang="en-US" dirty="0"/>
              <a:t>and can also express the </a:t>
            </a:r>
            <a:r>
              <a:rPr lang="en-US" b="1" dirty="0"/>
              <a:t>relationship</a:t>
            </a:r>
            <a:r>
              <a:rPr lang="en-US" dirty="0"/>
              <a:t> between those objects</a:t>
            </a:r>
            <a:r>
              <a:rPr lang="en-US" dirty="0" smtClean="0"/>
              <a:t>.</a:t>
            </a:r>
          </a:p>
          <a:p>
            <a:endParaRPr lang="en-US" dirty="0"/>
          </a:p>
          <a:p>
            <a:r>
              <a:rPr lang="en-US" dirty="0"/>
              <a:t>First-order logic (like natural language) does </a:t>
            </a:r>
            <a:r>
              <a:rPr lang="en-US" b="1" dirty="0"/>
              <a:t>not</a:t>
            </a:r>
            <a:r>
              <a:rPr lang="en-US" dirty="0"/>
              <a:t> only assume that the world contains </a:t>
            </a:r>
            <a:r>
              <a:rPr lang="en-US" b="1" dirty="0"/>
              <a:t>facts</a:t>
            </a:r>
            <a:r>
              <a:rPr lang="en-US" dirty="0"/>
              <a:t> like propositional logic but also assumes the following things in the world: </a:t>
            </a:r>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83464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pPr lvl="1"/>
            <a:r>
              <a:rPr lang="en-US" b="1" dirty="0" smtClean="0">
                <a:solidFill>
                  <a:schemeClr val="tx1"/>
                </a:solidFill>
              </a:rPr>
              <a:t>Objects</a:t>
            </a:r>
            <a:r>
              <a:rPr lang="en-US" b="1" dirty="0">
                <a:solidFill>
                  <a:schemeClr val="tx1"/>
                </a:solidFill>
              </a:rPr>
              <a:t>:</a:t>
            </a:r>
            <a:r>
              <a:rPr lang="en-US" dirty="0">
                <a:solidFill>
                  <a:schemeClr val="tx1"/>
                </a:solidFill>
              </a:rPr>
              <a:t> A, B, people, numbers, colors, wars, theories, squares, pits, </a:t>
            </a:r>
            <a:r>
              <a:rPr lang="en-US" dirty="0" err="1">
                <a:solidFill>
                  <a:schemeClr val="tx1"/>
                </a:solidFill>
              </a:rPr>
              <a:t>wumpus</a:t>
            </a:r>
            <a:r>
              <a:rPr lang="en-US" dirty="0">
                <a:solidFill>
                  <a:schemeClr val="tx1"/>
                </a:solidFill>
              </a:rPr>
              <a:t>, ......</a:t>
            </a:r>
          </a:p>
          <a:p>
            <a:pPr lvl="1"/>
            <a:r>
              <a:rPr lang="en-US" b="1" dirty="0">
                <a:solidFill>
                  <a:schemeClr val="tx1"/>
                </a:solidFill>
              </a:rPr>
              <a:t>Relations:</a:t>
            </a:r>
            <a:r>
              <a:rPr lang="en-US" dirty="0">
                <a:solidFill>
                  <a:schemeClr val="tx1"/>
                </a:solidFill>
              </a:rPr>
              <a:t> </a:t>
            </a:r>
            <a:r>
              <a:rPr lang="en-US" b="1" dirty="0">
                <a:solidFill>
                  <a:schemeClr val="tx1"/>
                </a:solidFill>
              </a:rPr>
              <a:t>It can be unary relation such as:</a:t>
            </a:r>
            <a:r>
              <a:rPr lang="en-US" dirty="0">
                <a:solidFill>
                  <a:schemeClr val="tx1"/>
                </a:solidFill>
              </a:rPr>
              <a:t> red, round, is adjacent, </a:t>
            </a:r>
            <a:r>
              <a:rPr lang="en-US" b="1" dirty="0">
                <a:solidFill>
                  <a:schemeClr val="tx1"/>
                </a:solidFill>
              </a:rPr>
              <a:t>or n-any relation such as:</a:t>
            </a:r>
            <a:r>
              <a:rPr lang="en-US" dirty="0">
                <a:solidFill>
                  <a:schemeClr val="tx1"/>
                </a:solidFill>
              </a:rPr>
              <a:t> the sister of, brother of, has color, comes between</a:t>
            </a:r>
          </a:p>
          <a:p>
            <a:pPr lvl="1"/>
            <a:r>
              <a:rPr lang="en-US" b="1" dirty="0">
                <a:solidFill>
                  <a:schemeClr val="tx1"/>
                </a:solidFill>
              </a:rPr>
              <a:t>Function:</a:t>
            </a:r>
            <a:r>
              <a:rPr lang="en-US" dirty="0">
                <a:solidFill>
                  <a:schemeClr val="tx1"/>
                </a:solidFill>
              </a:rPr>
              <a:t> Father of, best friend, third inning of, end of, ......</a:t>
            </a:r>
          </a:p>
          <a:p>
            <a:r>
              <a:rPr lang="en-US" dirty="0"/>
              <a:t>As a natural language, first-order logic also has two main parts: </a:t>
            </a:r>
          </a:p>
          <a:p>
            <a:pPr lvl="1"/>
            <a:r>
              <a:rPr lang="en-US" b="1" dirty="0"/>
              <a:t>Syntax</a:t>
            </a:r>
            <a:endParaRPr lang="en-US" dirty="0"/>
          </a:p>
          <a:p>
            <a:pPr lvl="1"/>
            <a:r>
              <a:rPr lang="en-US" b="1" dirty="0"/>
              <a:t>Semantics</a:t>
            </a:r>
            <a:endParaRPr lang="en-US" dirty="0"/>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86384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10404" y="1412776"/>
            <a:ext cx="4790336" cy="5229200"/>
          </a:xfrm>
        </p:spPr>
        <p:txBody>
          <a:bodyPr>
            <a:noAutofit/>
          </a:bodyPr>
          <a:lstStyle/>
          <a:p>
            <a:r>
              <a:rPr lang="en-US" b="1" dirty="0"/>
              <a:t>Syntax of First-Order logic:</a:t>
            </a:r>
          </a:p>
          <a:p>
            <a:r>
              <a:rPr lang="en-US" dirty="0"/>
              <a:t>The syntax of FOL determines which collection of symbols is a logical expression in first-order logic. </a:t>
            </a:r>
            <a:endParaRPr lang="en-US" dirty="0" smtClean="0"/>
          </a:p>
          <a:p>
            <a:r>
              <a:rPr lang="en-US" dirty="0" smtClean="0"/>
              <a:t>The </a:t>
            </a:r>
            <a:r>
              <a:rPr lang="en-US" dirty="0"/>
              <a:t>basic syntactic elements of first-order logic are symbols. We write statements in short-hand notation in FOL.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764704"/>
            <a:ext cx="4537321"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27325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b="1" dirty="0"/>
              <a:t>Atomic sentences:</a:t>
            </a:r>
          </a:p>
          <a:p>
            <a:r>
              <a:rPr lang="en-US" dirty="0"/>
              <a:t>Atomic sentences are the most basic sentences of first-order logic. These sentences are formed from a predicate symbol followed by a parenthesis with a sequence of terms.</a:t>
            </a:r>
          </a:p>
          <a:p>
            <a:r>
              <a:rPr lang="en-US" dirty="0"/>
              <a:t>We can represent atomic sentences as </a:t>
            </a:r>
            <a:r>
              <a:rPr lang="en-US" b="1" dirty="0"/>
              <a:t>Predicate </a:t>
            </a:r>
            <a:r>
              <a:rPr lang="en-US" dirty="0"/>
              <a:t>(term1, term2, ......, term n</a:t>
            </a:r>
            <a:r>
              <a:rPr lang="en-US" dirty="0" smtClean="0"/>
              <a:t>).</a:t>
            </a:r>
          </a:p>
          <a:p>
            <a:endParaRPr lang="en-US" dirty="0"/>
          </a:p>
          <a:p>
            <a:r>
              <a:rPr lang="en-US" b="1" dirty="0"/>
              <a:t>Example: </a:t>
            </a:r>
            <a:r>
              <a:rPr lang="en-US" dirty="0"/>
              <a:t>Ravi and Ajay are brothers: =&gt; </a:t>
            </a:r>
            <a:endParaRPr lang="en-US" dirty="0" smtClean="0"/>
          </a:p>
          <a:p>
            <a:pPr marL="109728" indent="0">
              <a:buNone/>
            </a:pPr>
            <a:r>
              <a:rPr lang="en-US" dirty="0"/>
              <a:t> </a:t>
            </a:r>
            <a:r>
              <a:rPr lang="en-US" dirty="0" smtClean="0"/>
              <a:t>                                           Brothers(Ravi</a:t>
            </a:r>
            <a:r>
              <a:rPr lang="en-US" dirty="0"/>
              <a:t>, Ajay).</a:t>
            </a:r>
            <a:r>
              <a:rPr lang="en-US" b="1" dirty="0"/>
              <a:t/>
            </a:r>
            <a:br>
              <a:rPr lang="en-US" b="1" dirty="0"/>
            </a:br>
            <a:r>
              <a:rPr lang="en-US" dirty="0"/>
              <a:t>                </a:t>
            </a:r>
            <a:r>
              <a:rPr lang="en-US" dirty="0" err="1"/>
              <a:t>Chinky</a:t>
            </a:r>
            <a:r>
              <a:rPr lang="en-US" dirty="0"/>
              <a:t> is a cat: =&gt; cat (</a:t>
            </a:r>
            <a:r>
              <a:rPr lang="en-US" dirty="0" err="1"/>
              <a:t>Chinky</a:t>
            </a:r>
            <a:r>
              <a:rPr lang="en-US" dirty="0" smtClean="0"/>
              <a:t>).</a:t>
            </a:r>
            <a:endParaRPr lang="en-US" dirty="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1436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b="1" dirty="0" smtClean="0"/>
              <a:t>Complex </a:t>
            </a:r>
            <a:r>
              <a:rPr lang="en-US" b="1" dirty="0"/>
              <a:t>Sentences:</a:t>
            </a:r>
          </a:p>
          <a:p>
            <a:r>
              <a:rPr lang="en-US" dirty="0"/>
              <a:t>Complex sentences are made by combining atomic sentences using connectives.</a:t>
            </a:r>
          </a:p>
          <a:p>
            <a:pPr marL="109728" indent="0">
              <a:buNone/>
            </a:pPr>
            <a:endParaRPr lang="en-US" b="1" dirty="0" smtClean="0"/>
          </a:p>
          <a:p>
            <a:pPr marL="109728" indent="0">
              <a:buNone/>
            </a:pPr>
            <a:r>
              <a:rPr lang="en-US" b="1" dirty="0" smtClean="0"/>
              <a:t>First-order </a:t>
            </a:r>
            <a:r>
              <a:rPr lang="en-US" b="1" dirty="0"/>
              <a:t>logic statements can be divided into two parts:</a:t>
            </a:r>
            <a:endParaRPr lang="en-US" dirty="0"/>
          </a:p>
          <a:p>
            <a:r>
              <a:rPr lang="en-US" b="1" dirty="0"/>
              <a:t>Subject:</a:t>
            </a:r>
            <a:r>
              <a:rPr lang="en-US" dirty="0"/>
              <a:t> Subject is the main part of the statement. </a:t>
            </a:r>
          </a:p>
          <a:p>
            <a:r>
              <a:rPr lang="en-US" b="1" dirty="0"/>
              <a:t>Predicate:</a:t>
            </a:r>
            <a:r>
              <a:rPr lang="en-US" dirty="0"/>
              <a:t> A predicate can be defined as a relation, which binds two atoms together in a statement.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41365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First-Order Logic</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b="1" dirty="0" smtClean="0"/>
              <a:t>Consider </a:t>
            </a:r>
            <a:r>
              <a:rPr lang="en-US" b="1" dirty="0"/>
              <a:t>the statement: "x is an integer."</a:t>
            </a:r>
            <a:r>
              <a:rPr lang="en-US" dirty="0"/>
              <a:t>, it consists of two parts, the first part x is the subject of the statement and second part "is an integer," is known as a predicate.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7170" name="Picture 2" descr="First-Order Logic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501008"/>
            <a:ext cx="3398515"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73936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Chaining and Backward Chaining</a:t>
            </a:r>
          </a:p>
        </p:txBody>
      </p:sp>
      <p:sp>
        <p:nvSpPr>
          <p:cNvPr id="13315" name="Rectangle 3"/>
          <p:cNvSpPr>
            <a:spLocks noGrp="1" noChangeArrowheads="1"/>
          </p:cNvSpPr>
          <p:nvPr>
            <p:ph idx="1"/>
          </p:nvPr>
        </p:nvSpPr>
        <p:spPr>
          <a:xfrm>
            <a:off x="285720" y="1196752"/>
            <a:ext cx="8858280" cy="5229200"/>
          </a:xfrm>
        </p:spPr>
        <p:txBody>
          <a:bodyPr>
            <a:noAutofit/>
          </a:bodyPr>
          <a:lstStyle/>
          <a:p>
            <a:r>
              <a:rPr lang="en-US" sz="2400" dirty="0"/>
              <a:t>In artificial intelligence, forward and backward chaining is one of the important topics, but before understanding forward and backward chaining lets first understand that from where these two terms came.</a:t>
            </a:r>
          </a:p>
          <a:p>
            <a:pPr marL="109728" indent="0">
              <a:buNone/>
            </a:pPr>
            <a:r>
              <a:rPr lang="en-US" sz="2400" b="1" dirty="0"/>
              <a:t>Inference engine:</a:t>
            </a:r>
          </a:p>
          <a:p>
            <a:r>
              <a:rPr lang="en-US" sz="2400" dirty="0"/>
              <a:t>The inference engine is the component of the intelligent system in artificial intelligence, which applies </a:t>
            </a:r>
            <a:r>
              <a:rPr lang="en-US" sz="2400" b="1" dirty="0"/>
              <a:t>logical</a:t>
            </a:r>
            <a:r>
              <a:rPr lang="en-US" sz="2400" dirty="0"/>
              <a:t> </a:t>
            </a:r>
            <a:r>
              <a:rPr lang="en-US" sz="2400" b="1" dirty="0"/>
              <a:t>rules</a:t>
            </a:r>
            <a:r>
              <a:rPr lang="en-US" sz="2400" dirty="0"/>
              <a:t> to the </a:t>
            </a:r>
            <a:r>
              <a:rPr lang="en-US" sz="2400" b="1" dirty="0"/>
              <a:t>knowledge base </a:t>
            </a:r>
            <a:r>
              <a:rPr lang="en-US" sz="2400" dirty="0"/>
              <a:t>to infer new information from known facts. </a:t>
            </a:r>
            <a:endParaRPr lang="en-US" sz="2400" dirty="0" smtClean="0"/>
          </a:p>
          <a:p>
            <a:r>
              <a:rPr lang="en-US" sz="2400" dirty="0" smtClean="0"/>
              <a:t>The </a:t>
            </a:r>
            <a:r>
              <a:rPr lang="en-US" sz="2400" dirty="0"/>
              <a:t>first inference engine was part of the expert system. Inference engine commonly proceeds in two modes, which are:</a:t>
            </a:r>
          </a:p>
          <a:p>
            <a:r>
              <a:rPr lang="en-US" sz="2400" b="1" dirty="0"/>
              <a:t>Forward chaining</a:t>
            </a:r>
            <a:endParaRPr lang="en-US" sz="2400" dirty="0"/>
          </a:p>
          <a:p>
            <a:r>
              <a:rPr lang="en-US" sz="2400" b="1" dirty="0"/>
              <a:t>Backward chaining</a:t>
            </a:r>
            <a:endParaRPr lang="en-US" sz="2400" dirty="0"/>
          </a:p>
          <a:p>
            <a:endParaRPr lang="en-US" sz="24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13550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Horn Clause and Definite </a:t>
            </a:r>
            <a:r>
              <a:rPr lang="en-US" sz="3200" b="1" dirty="0" smtClean="0"/>
              <a:t>Clause</a:t>
            </a:r>
            <a:endParaRPr lang="en-US" sz="3200" b="1" dirty="0"/>
          </a:p>
        </p:txBody>
      </p:sp>
      <p:sp>
        <p:nvSpPr>
          <p:cNvPr id="13315" name="Rectangle 3"/>
          <p:cNvSpPr>
            <a:spLocks noGrp="1" noChangeArrowheads="1"/>
          </p:cNvSpPr>
          <p:nvPr>
            <p:ph idx="1"/>
          </p:nvPr>
        </p:nvSpPr>
        <p:spPr>
          <a:xfrm>
            <a:off x="285720" y="1268760"/>
            <a:ext cx="8572560" cy="5229200"/>
          </a:xfrm>
        </p:spPr>
        <p:txBody>
          <a:bodyPr>
            <a:noAutofit/>
          </a:bodyPr>
          <a:lstStyle/>
          <a:p>
            <a:r>
              <a:rPr lang="en-US" sz="2400" dirty="0" smtClean="0"/>
              <a:t>Horn </a:t>
            </a:r>
            <a:r>
              <a:rPr lang="en-US" sz="2400" dirty="0"/>
              <a:t>clause and definite clause are the forms of sentences, which enables knowledge base to use a more restricted and efficient inference algorithm. Logical inference algorithms use forward and backward chaining approaches, which require KB in the form of the first-order definite clause.</a:t>
            </a:r>
          </a:p>
          <a:p>
            <a:r>
              <a:rPr lang="en-US" sz="2400" b="1" dirty="0"/>
              <a:t>Definite clause:</a:t>
            </a:r>
            <a:r>
              <a:rPr lang="en-US" sz="2400" dirty="0"/>
              <a:t> A clause which is a disjunction of literals with </a:t>
            </a:r>
            <a:r>
              <a:rPr lang="en-US" sz="2400" b="1" dirty="0"/>
              <a:t>exactly one positive literal</a:t>
            </a:r>
            <a:r>
              <a:rPr lang="en-US" sz="2400" dirty="0"/>
              <a:t> is known as a definite clause or strict horn clause.</a:t>
            </a:r>
          </a:p>
          <a:p>
            <a:r>
              <a:rPr lang="en-US" sz="2400" b="1" dirty="0"/>
              <a:t>Horn clause:</a:t>
            </a:r>
            <a:r>
              <a:rPr lang="en-US" sz="2400" dirty="0"/>
              <a:t> A clause which is a disjunction of literals with </a:t>
            </a:r>
            <a:r>
              <a:rPr lang="en-US" sz="2400" b="1" dirty="0"/>
              <a:t>at most one positive literal</a:t>
            </a:r>
            <a:r>
              <a:rPr lang="en-US" sz="2400" dirty="0"/>
              <a:t> is known as horn clause. Hence all the definite clauses are horn clauses</a:t>
            </a:r>
            <a:r>
              <a:rPr lang="en-US" sz="2400" dirty="0" smtClean="0"/>
              <a:t>.</a:t>
            </a:r>
          </a:p>
          <a:p>
            <a:r>
              <a:rPr lang="en-US" sz="2400" b="1" dirty="0"/>
              <a:t>Example: (¬ p V ¬ q V k)</a:t>
            </a:r>
            <a:r>
              <a:rPr lang="en-US" sz="2400" dirty="0"/>
              <a:t>. It has only one positive literal k.</a:t>
            </a:r>
          </a:p>
          <a:p>
            <a:r>
              <a:rPr lang="en-US" sz="2400" dirty="0"/>
              <a:t>It is equivalent to p ∧ q → k.</a:t>
            </a:r>
          </a:p>
          <a:p>
            <a:endParaRPr lang="en-US" sz="24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0629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a:t>
            </a:r>
            <a:endParaRPr lang="en-US" sz="3200" b="1" dirty="0"/>
          </a:p>
        </p:txBody>
      </p:sp>
      <p:sp>
        <p:nvSpPr>
          <p:cNvPr id="13315" name="Rectangle 3"/>
          <p:cNvSpPr>
            <a:spLocks noGrp="1" noChangeArrowheads="1"/>
          </p:cNvSpPr>
          <p:nvPr>
            <p:ph idx="1"/>
          </p:nvPr>
        </p:nvSpPr>
        <p:spPr>
          <a:xfrm>
            <a:off x="285720" y="1124744"/>
            <a:ext cx="8572560" cy="5229200"/>
          </a:xfrm>
        </p:spPr>
        <p:txBody>
          <a:bodyPr>
            <a:noAutofit/>
          </a:bodyPr>
          <a:lstStyle/>
          <a:p>
            <a:r>
              <a:rPr lang="en-US" dirty="0"/>
              <a:t>Forward chaining is also known as a forward deduction or forward reasoning method when using an inference engine. </a:t>
            </a:r>
            <a:endParaRPr lang="en-US" dirty="0" smtClean="0"/>
          </a:p>
          <a:p>
            <a:r>
              <a:rPr lang="en-US" dirty="0" smtClean="0"/>
              <a:t>Forward </a:t>
            </a:r>
            <a:r>
              <a:rPr lang="en-US" dirty="0"/>
              <a:t>chaining is a form of reasoning which start with atomic sentences in the knowledge base and applies inference rules (Modus Ponens) in the </a:t>
            </a:r>
            <a:r>
              <a:rPr lang="en-US" b="1" dirty="0"/>
              <a:t>forward direction </a:t>
            </a:r>
            <a:r>
              <a:rPr lang="en-US" dirty="0"/>
              <a:t>to extract more data until a goal is </a:t>
            </a:r>
            <a:r>
              <a:rPr lang="en-US" b="1" dirty="0"/>
              <a:t>reached</a:t>
            </a:r>
            <a:r>
              <a:rPr lang="en-US" dirty="0"/>
              <a:t>.</a:t>
            </a:r>
          </a:p>
          <a:p>
            <a:r>
              <a:rPr lang="en-US" dirty="0"/>
              <a:t>The Forward-chaining algorithm starts from </a:t>
            </a:r>
            <a:r>
              <a:rPr lang="en-US" b="1" dirty="0"/>
              <a:t>known facts</a:t>
            </a:r>
            <a:r>
              <a:rPr lang="en-US" dirty="0"/>
              <a:t>, triggers all rules whose premises are satisfied, and add their conclusion to the known facts. This process repeats until the problem is solved.</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80018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a:t>
            </a:r>
            <a:endParaRPr lang="en-US" sz="3200" b="1" dirty="0"/>
          </a:p>
        </p:txBody>
      </p:sp>
      <p:sp>
        <p:nvSpPr>
          <p:cNvPr id="13315" name="Rectangle 3"/>
          <p:cNvSpPr>
            <a:spLocks noGrp="1" noChangeArrowheads="1"/>
          </p:cNvSpPr>
          <p:nvPr>
            <p:ph idx="1"/>
          </p:nvPr>
        </p:nvSpPr>
        <p:spPr>
          <a:xfrm>
            <a:off x="285720" y="1268760"/>
            <a:ext cx="8572560" cy="5229200"/>
          </a:xfrm>
        </p:spPr>
        <p:txBody>
          <a:bodyPr>
            <a:noAutofit/>
          </a:bodyPr>
          <a:lstStyle/>
          <a:p>
            <a:pPr marL="109728" indent="0">
              <a:buNone/>
            </a:pPr>
            <a:r>
              <a:rPr lang="en-US" b="1" dirty="0" smtClean="0"/>
              <a:t>Properties </a:t>
            </a:r>
            <a:r>
              <a:rPr lang="en-US" b="1" dirty="0"/>
              <a:t>of Forward-Chaining: </a:t>
            </a:r>
            <a:endParaRPr lang="en-US" b="1" dirty="0" smtClean="0"/>
          </a:p>
          <a:p>
            <a:r>
              <a:rPr lang="en-US" dirty="0" smtClean="0"/>
              <a:t>It </a:t>
            </a:r>
            <a:r>
              <a:rPr lang="en-US" dirty="0"/>
              <a:t>is a down-up approach, as it moves from bottom to top.</a:t>
            </a:r>
          </a:p>
          <a:p>
            <a:r>
              <a:rPr lang="en-US" dirty="0"/>
              <a:t>It is a process of making a conclusion based on known facts or data, by starting from the initial state and reaches the goal state.</a:t>
            </a:r>
          </a:p>
          <a:p>
            <a:r>
              <a:rPr lang="en-US" dirty="0"/>
              <a:t>Forward-chaining approach is also called as data-driven as we reach to the goal using available data.</a:t>
            </a:r>
          </a:p>
          <a:p>
            <a:r>
              <a:rPr lang="en-US" dirty="0"/>
              <a:t>Forward -chaining approach is commonly used in the expert system, such as CLIPS, business, and production rule systems.</a:t>
            </a:r>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04732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a:t>
            </a:r>
            <a:endParaRPr lang="en-US" sz="3200" b="1" dirty="0"/>
          </a:p>
        </p:txBody>
      </p:sp>
      <p:sp>
        <p:nvSpPr>
          <p:cNvPr id="13315" name="Rectangle 3"/>
          <p:cNvSpPr>
            <a:spLocks noGrp="1" noChangeArrowheads="1"/>
          </p:cNvSpPr>
          <p:nvPr>
            <p:ph idx="1"/>
          </p:nvPr>
        </p:nvSpPr>
        <p:spPr>
          <a:xfrm>
            <a:off x="285720" y="1124744"/>
            <a:ext cx="8572560" cy="5229200"/>
          </a:xfrm>
        </p:spPr>
        <p:txBody>
          <a:bodyPr>
            <a:noAutofit/>
          </a:bodyPr>
          <a:lstStyle/>
          <a:p>
            <a:pPr marL="109728" indent="0">
              <a:buNone/>
            </a:pPr>
            <a:r>
              <a:rPr lang="en-US" dirty="0"/>
              <a:t>Consider the following famous example which we will use in both approaches:</a:t>
            </a:r>
          </a:p>
          <a:p>
            <a:pPr marL="109728" indent="0">
              <a:buNone/>
            </a:pPr>
            <a:r>
              <a:rPr lang="en-US" b="1" dirty="0"/>
              <a:t>Example: </a:t>
            </a:r>
          </a:p>
          <a:p>
            <a:r>
              <a:rPr lang="en-US" dirty="0"/>
              <a:t>"As per the law, it is a crime for an American to sell weapons to hostile nations. Country A, an enemy of America, has some missiles, and all the missiles were sold to it by Robert, who is an American citizen."</a:t>
            </a:r>
          </a:p>
          <a:p>
            <a:r>
              <a:rPr lang="en-US" dirty="0"/>
              <a:t>Prove that </a:t>
            </a:r>
            <a:r>
              <a:rPr lang="en-US" b="1" dirty="0"/>
              <a:t>"Robert is criminal."</a:t>
            </a:r>
            <a:endParaRPr lang="en-US" dirty="0"/>
          </a:p>
          <a:p>
            <a:r>
              <a:rPr lang="en-US" dirty="0"/>
              <a:t>To solve the above problem, first, we will convert all the above facts into first-order definite clauses, and then we will use a forward-chaining algorithm to reach the goal.</a:t>
            </a:r>
          </a:p>
          <a:p>
            <a:endParaRPr lang="en-US" dirty="0" smtClean="0"/>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72660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Facts Conversion into FOL</a:t>
            </a:r>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2" name="Content Placeholder 1"/>
          <p:cNvSpPr>
            <a:spLocks noGrp="1"/>
          </p:cNvSpPr>
          <p:nvPr>
            <p:ph idx="1"/>
          </p:nvPr>
        </p:nvSpPr>
        <p:spPr/>
        <p:txBody>
          <a:bodyPr/>
          <a:lstStyle/>
          <a:p>
            <a:endParaRPr lang="en-IN"/>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57858"/>
            <a:ext cx="8280919" cy="5511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1434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 Proof</a:t>
            </a:r>
            <a:endParaRPr lang="en-US" sz="3200" b="1" dirty="0"/>
          </a:p>
        </p:txBody>
      </p:sp>
      <p:sp>
        <p:nvSpPr>
          <p:cNvPr id="13315" name="Rectangle 3"/>
          <p:cNvSpPr>
            <a:spLocks noGrp="1" noChangeArrowheads="1"/>
          </p:cNvSpPr>
          <p:nvPr>
            <p:ph idx="1"/>
          </p:nvPr>
        </p:nvSpPr>
        <p:spPr>
          <a:xfrm>
            <a:off x="285720" y="1124744"/>
            <a:ext cx="8572560" cy="5229200"/>
          </a:xfrm>
        </p:spPr>
        <p:txBody>
          <a:bodyPr>
            <a:noAutofit/>
          </a:bodyPr>
          <a:lstStyle/>
          <a:p>
            <a:r>
              <a:rPr lang="en-US" b="1" dirty="0"/>
              <a:t>Step-1:</a:t>
            </a:r>
            <a:endParaRPr lang="en-US" dirty="0"/>
          </a:p>
          <a:p>
            <a:r>
              <a:rPr lang="en-US" dirty="0"/>
              <a:t>In the first step we will start with the known facts and will choose the sentences which do not have implications, such as: </a:t>
            </a:r>
            <a:r>
              <a:rPr lang="en-US" b="1" dirty="0"/>
              <a:t>American(Robert), Enemy(A, America), Owns(A, T1), and Missile(T1)</a:t>
            </a:r>
            <a:r>
              <a:rPr lang="en-US" dirty="0"/>
              <a:t>. All these facts will be represented as below.</a:t>
            </a:r>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8194"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4725144"/>
            <a:ext cx="5349070" cy="1152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18871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 Proof</a:t>
            </a:r>
            <a:endParaRPr lang="en-US" sz="3200" b="1" dirty="0"/>
          </a:p>
        </p:txBody>
      </p:sp>
      <p:sp>
        <p:nvSpPr>
          <p:cNvPr id="13315" name="Rectangle 3"/>
          <p:cNvSpPr>
            <a:spLocks noGrp="1" noChangeArrowheads="1"/>
          </p:cNvSpPr>
          <p:nvPr>
            <p:ph idx="1"/>
          </p:nvPr>
        </p:nvSpPr>
        <p:spPr>
          <a:xfrm>
            <a:off x="285720" y="1124744"/>
            <a:ext cx="8678768" cy="5229200"/>
          </a:xfrm>
        </p:spPr>
        <p:txBody>
          <a:bodyPr>
            <a:noAutofit/>
          </a:bodyPr>
          <a:lstStyle/>
          <a:p>
            <a:pPr marL="109728" indent="0">
              <a:buNone/>
            </a:pPr>
            <a:r>
              <a:rPr lang="en-US" b="1" dirty="0" smtClean="0"/>
              <a:t>Step-2:</a:t>
            </a:r>
            <a:endParaRPr lang="en-US" dirty="0"/>
          </a:p>
          <a:p>
            <a:r>
              <a:rPr lang="en-US" dirty="0"/>
              <a:t>At the second step, we will see those facts which infer from available facts and with satisfied premises.</a:t>
            </a:r>
          </a:p>
          <a:p>
            <a:r>
              <a:rPr lang="en-US" dirty="0"/>
              <a:t>Rule-(1) does not satisfy premises, so it will not be added in the first iteration.</a:t>
            </a:r>
          </a:p>
          <a:p>
            <a:r>
              <a:rPr lang="en-US" dirty="0"/>
              <a:t>Rule-(2) and (3) are already added.</a:t>
            </a:r>
          </a:p>
          <a:p>
            <a:r>
              <a:rPr lang="en-US" dirty="0"/>
              <a:t>Rule-(4) satisfy with the substitution {p/T1}, </a:t>
            </a:r>
            <a:r>
              <a:rPr lang="en-US" b="1" dirty="0"/>
              <a:t>so Sells (Robert, T1, A)</a:t>
            </a:r>
            <a:r>
              <a:rPr lang="en-US" dirty="0"/>
              <a:t> is added, which infers from the conjunction of Rule (2) and (3).</a:t>
            </a:r>
          </a:p>
          <a:p>
            <a:r>
              <a:rPr lang="en-US" dirty="0"/>
              <a:t>Rule-(6) is satisfied with the substitution(p/A), so Hostile(A) is added and which infers from Rule-(7).</a:t>
            </a:r>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26262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 Proof</a:t>
            </a:r>
            <a:endParaRPr lang="en-US" sz="3200" b="1" dirty="0"/>
          </a:p>
        </p:txBody>
      </p:sp>
      <p:sp>
        <p:nvSpPr>
          <p:cNvPr id="13315" name="Rectangle 3"/>
          <p:cNvSpPr>
            <a:spLocks noGrp="1" noChangeArrowheads="1"/>
          </p:cNvSpPr>
          <p:nvPr>
            <p:ph idx="1"/>
          </p:nvPr>
        </p:nvSpPr>
        <p:spPr>
          <a:xfrm>
            <a:off x="285720" y="1124744"/>
            <a:ext cx="8572560" cy="5229200"/>
          </a:xfrm>
        </p:spPr>
        <p:txBody>
          <a:bodyPr>
            <a:noAutofit/>
          </a:bodyPr>
          <a:lstStyle/>
          <a:p>
            <a:r>
              <a:rPr lang="en-US" b="1" dirty="0" smtClean="0"/>
              <a:t>Step-2:</a:t>
            </a:r>
            <a:endParaRPr lang="en-US" dirty="0"/>
          </a:p>
          <a:p>
            <a:endParaRPr lang="en-US" dirty="0" smtClean="0"/>
          </a:p>
          <a:p>
            <a:endParaRPr lang="en-US" dirty="0"/>
          </a:p>
          <a:p>
            <a:endParaRPr lang="en-US" dirty="0" smtClean="0"/>
          </a:p>
          <a:p>
            <a:endParaRPr lang="en-US" dirty="0"/>
          </a:p>
          <a:p>
            <a:r>
              <a:rPr lang="en-US" b="1" dirty="0" smtClean="0"/>
              <a:t>Step-3:</a:t>
            </a:r>
            <a:endParaRPr lang="en-US" dirty="0"/>
          </a:p>
          <a:p>
            <a:r>
              <a:rPr lang="en-US" dirty="0"/>
              <a:t>At step-3, as we can check Rule-(1) is satisfied with the substitution </a:t>
            </a:r>
            <a:r>
              <a:rPr lang="en-US" b="1" dirty="0"/>
              <a:t>{p/Robert, q/T1, r/A}, so we can add Criminal(Robert)</a:t>
            </a:r>
            <a:r>
              <a:rPr lang="en-US" dirty="0"/>
              <a:t> which infers all the available facts. And hence we reached our goal statement. </a:t>
            </a:r>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10242"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1484784"/>
            <a:ext cx="4762500"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1511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Forward </a:t>
            </a:r>
            <a:r>
              <a:rPr lang="en-US" sz="3200" b="1" dirty="0" smtClean="0"/>
              <a:t>Chaining Proof</a:t>
            </a:r>
            <a:endParaRPr lang="en-US" sz="3200" b="1" dirty="0"/>
          </a:p>
        </p:txBody>
      </p:sp>
      <p:sp>
        <p:nvSpPr>
          <p:cNvPr id="13315" name="Rectangle 3"/>
          <p:cNvSpPr>
            <a:spLocks noGrp="1" noChangeArrowheads="1"/>
          </p:cNvSpPr>
          <p:nvPr>
            <p:ph idx="1"/>
          </p:nvPr>
        </p:nvSpPr>
        <p:spPr>
          <a:xfrm>
            <a:off x="285720" y="1124744"/>
            <a:ext cx="8572560" cy="5229200"/>
          </a:xfrm>
        </p:spPr>
        <p:txBody>
          <a:bodyPr>
            <a:noAutofit/>
          </a:bodyPr>
          <a:lstStyle/>
          <a:p>
            <a:r>
              <a:rPr lang="en-US" b="1" dirty="0" smtClean="0"/>
              <a:t>Step-3:</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dirty="0" smtClean="0"/>
          </a:p>
          <a:p>
            <a:r>
              <a:rPr lang="en-US" dirty="0"/>
              <a:t>Hence it is proved that Robert is Criminal using forward chaining approach.</a:t>
            </a:r>
          </a:p>
          <a:p>
            <a:endParaRPr lang="en-US"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9218"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1412776"/>
            <a:ext cx="5621610"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98098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a:t>
            </a:r>
            <a:r>
              <a:rPr lang="en-US" sz="3200" b="1" dirty="0"/>
              <a:t>Chaining</a:t>
            </a:r>
          </a:p>
        </p:txBody>
      </p:sp>
      <p:sp>
        <p:nvSpPr>
          <p:cNvPr id="13315" name="Rectangle 3"/>
          <p:cNvSpPr>
            <a:spLocks noGrp="1" noChangeArrowheads="1"/>
          </p:cNvSpPr>
          <p:nvPr>
            <p:ph idx="1"/>
          </p:nvPr>
        </p:nvSpPr>
        <p:spPr>
          <a:xfrm>
            <a:off x="285720" y="1196752"/>
            <a:ext cx="8572560" cy="5229200"/>
          </a:xfrm>
        </p:spPr>
        <p:txBody>
          <a:bodyPr>
            <a:noAutofit/>
          </a:bodyPr>
          <a:lstStyle/>
          <a:p>
            <a:r>
              <a:rPr lang="en-US" dirty="0"/>
              <a:t>Backward-chaining is also known as a backward deduction or backward reasoning method when using an inference engine. A backward chaining algorithm is a form of reasoning, which starts with the goal and works backward, chaining through rules to find known facts that support the goal.</a:t>
            </a:r>
          </a:p>
          <a:p>
            <a:r>
              <a:rPr lang="en-US" b="1" dirty="0"/>
              <a:t>Properties of backward chaining:</a:t>
            </a:r>
            <a:endParaRPr lang="en-US" dirty="0"/>
          </a:p>
          <a:p>
            <a:r>
              <a:rPr lang="en-US" dirty="0"/>
              <a:t>It is known as a top-down approach.</a:t>
            </a:r>
          </a:p>
          <a:p>
            <a:r>
              <a:rPr lang="en-US" dirty="0"/>
              <a:t>Backward-chaining is based on modus ponens inference rule.</a:t>
            </a:r>
          </a:p>
          <a:p>
            <a:r>
              <a:rPr lang="en-US" dirty="0"/>
              <a:t>In backward chaining, the goal is broken into sub-goal or sub-goals to prove the facts true.</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80764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a:t>
            </a:r>
            <a:r>
              <a:rPr lang="en-US" sz="3200" b="1" dirty="0"/>
              <a:t>Chaining</a:t>
            </a:r>
          </a:p>
        </p:txBody>
      </p:sp>
      <p:sp>
        <p:nvSpPr>
          <p:cNvPr id="13315" name="Rectangle 3"/>
          <p:cNvSpPr>
            <a:spLocks noGrp="1" noChangeArrowheads="1"/>
          </p:cNvSpPr>
          <p:nvPr>
            <p:ph idx="1"/>
          </p:nvPr>
        </p:nvSpPr>
        <p:spPr>
          <a:xfrm>
            <a:off x="285720" y="1412776"/>
            <a:ext cx="8572560" cy="5229200"/>
          </a:xfrm>
        </p:spPr>
        <p:txBody>
          <a:bodyPr>
            <a:noAutofit/>
          </a:bodyPr>
          <a:lstStyle/>
          <a:p>
            <a:r>
              <a:rPr lang="en-US" dirty="0" smtClean="0"/>
              <a:t>It </a:t>
            </a:r>
            <a:r>
              <a:rPr lang="en-US" dirty="0"/>
              <a:t>is called a goal-driven approach, as a list of goals decides which rules are selected and used.</a:t>
            </a:r>
          </a:p>
          <a:p>
            <a:r>
              <a:rPr lang="en-US" dirty="0"/>
              <a:t>Backward -chaining algorithm is used in game theory, automated theorem proving tools, inference engines, proof assistants, and various AI applications.</a:t>
            </a:r>
          </a:p>
          <a:p>
            <a:r>
              <a:rPr lang="en-US" dirty="0"/>
              <a:t>The backward-chaining method mostly used a </a:t>
            </a:r>
            <a:r>
              <a:rPr lang="en-US" b="1" dirty="0"/>
              <a:t>depth-first search</a:t>
            </a:r>
            <a:r>
              <a:rPr lang="en-US" dirty="0"/>
              <a:t> strategy for proof.</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82849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a:t>
            </a:r>
            <a:r>
              <a:rPr lang="en-US" sz="3200" b="1" dirty="0"/>
              <a:t>Chaining</a:t>
            </a:r>
          </a:p>
        </p:txBody>
      </p:sp>
      <p:sp>
        <p:nvSpPr>
          <p:cNvPr id="13315" name="Rectangle 3"/>
          <p:cNvSpPr>
            <a:spLocks noGrp="1" noChangeArrowheads="1"/>
          </p:cNvSpPr>
          <p:nvPr>
            <p:ph idx="1"/>
          </p:nvPr>
        </p:nvSpPr>
        <p:spPr>
          <a:xfrm>
            <a:off x="285720" y="1500174"/>
            <a:ext cx="8572560" cy="5229200"/>
          </a:xfrm>
        </p:spPr>
        <p:txBody>
          <a:bodyPr>
            <a:noAutofit/>
          </a:bodyPr>
          <a:lstStyle/>
          <a:p>
            <a:pPr marL="109728" indent="0">
              <a:buNone/>
            </a:pPr>
            <a:r>
              <a:rPr lang="en-US" b="1" dirty="0"/>
              <a:t>Example:</a:t>
            </a:r>
          </a:p>
          <a:p>
            <a:r>
              <a:rPr lang="en-US" dirty="0"/>
              <a:t>In backward-chaining, we will use the same above example, and will rewrite all the rules.</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7824" y="2863205"/>
            <a:ext cx="6524575" cy="38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64707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Chaining Proof</a:t>
            </a:r>
            <a:endParaRPr lang="en-US" sz="3200" b="1" dirty="0"/>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a:t>In Backward chaining, we will start with our goal predicate, which is </a:t>
            </a:r>
            <a:r>
              <a:rPr lang="en-US" b="1" dirty="0"/>
              <a:t>Criminal(Robert)</a:t>
            </a:r>
            <a:r>
              <a:rPr lang="en-US" dirty="0"/>
              <a:t>, and then infer further rules</a:t>
            </a:r>
            <a:r>
              <a:rPr lang="en-US" dirty="0" smtClean="0"/>
              <a:t>.</a:t>
            </a:r>
          </a:p>
          <a:p>
            <a:endParaRPr lang="en-US" dirty="0"/>
          </a:p>
          <a:p>
            <a:r>
              <a:rPr lang="en-US" b="1" dirty="0"/>
              <a:t>Step-1:</a:t>
            </a:r>
            <a:endParaRPr lang="en-US" dirty="0"/>
          </a:p>
          <a:p>
            <a:r>
              <a:rPr lang="en-US" dirty="0"/>
              <a:t>At the first step, we will take the goal fact. And from the goal fact, we will infer other facts, and at last, we will prove those facts true. So our goal fact is "Robert is Criminal," so following is the predicate of it.</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14338"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5703912"/>
            <a:ext cx="2235696" cy="89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040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Chaining Proof</a:t>
            </a:r>
            <a:endParaRPr lang="en-US" sz="3200" b="1" dirty="0"/>
          </a:p>
        </p:txBody>
      </p:sp>
      <p:sp>
        <p:nvSpPr>
          <p:cNvPr id="13315" name="Rectangle 3"/>
          <p:cNvSpPr>
            <a:spLocks noGrp="1" noChangeArrowheads="1"/>
          </p:cNvSpPr>
          <p:nvPr>
            <p:ph idx="1"/>
          </p:nvPr>
        </p:nvSpPr>
        <p:spPr>
          <a:xfrm>
            <a:off x="285720" y="1196752"/>
            <a:ext cx="8572560" cy="5229200"/>
          </a:xfrm>
        </p:spPr>
        <p:txBody>
          <a:bodyPr>
            <a:noAutofit/>
          </a:bodyPr>
          <a:lstStyle/>
          <a:p>
            <a:r>
              <a:rPr lang="en-US" b="1" dirty="0"/>
              <a:t>Step-2:</a:t>
            </a:r>
            <a:endParaRPr lang="en-US" dirty="0"/>
          </a:p>
          <a:p>
            <a:r>
              <a:rPr lang="en-US" dirty="0"/>
              <a:t>At the second step, we will infer other facts form goal fact which satisfies the rules. So as we can see in Rule-1, the goal predicate Criminal (Robert) is present with substitution {Robert/P}. So we will add all the conjunctive facts below the first level and will replace p with Robert.</a:t>
            </a:r>
          </a:p>
          <a:p>
            <a:r>
              <a:rPr lang="en-US" dirty="0"/>
              <a:t>Here we can see American (Robert) is a fact, so it is proved here.</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4680520"/>
            <a:ext cx="5256584" cy="22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0465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Chaining Proof</a:t>
            </a:r>
            <a:endParaRPr lang="en-US" sz="3200" b="1" dirty="0"/>
          </a:p>
        </p:txBody>
      </p:sp>
      <p:sp>
        <p:nvSpPr>
          <p:cNvPr id="13315" name="Rectangle 3"/>
          <p:cNvSpPr>
            <a:spLocks noGrp="1" noChangeArrowheads="1"/>
          </p:cNvSpPr>
          <p:nvPr>
            <p:ph idx="1"/>
          </p:nvPr>
        </p:nvSpPr>
        <p:spPr>
          <a:xfrm>
            <a:off x="179512" y="1164961"/>
            <a:ext cx="8572560" cy="3228366"/>
          </a:xfrm>
        </p:spPr>
        <p:txBody>
          <a:bodyPr>
            <a:noAutofit/>
          </a:bodyPr>
          <a:lstStyle/>
          <a:p>
            <a:r>
              <a:rPr lang="en-US" b="1" dirty="0"/>
              <a:t>Step-3:</a:t>
            </a:r>
            <a:r>
              <a:rPr lang="en-US" dirty="0"/>
              <a:t>t At step-3, we will extract further fact Missile(q) which infer from Weapon(q), as it satisfies Rule-(5). Weapon (q) is also true with the substitution of a constant T1 at q.</a:t>
            </a:r>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15364" name="Picture 4"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3212976"/>
            <a:ext cx="4762500" cy="3400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7974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Chaining Proof</a:t>
            </a:r>
            <a:endParaRPr lang="en-US" sz="3200" b="1" dirty="0"/>
          </a:p>
        </p:txBody>
      </p:sp>
      <p:sp>
        <p:nvSpPr>
          <p:cNvPr id="13315" name="Rectangle 3"/>
          <p:cNvSpPr>
            <a:spLocks noGrp="1" noChangeArrowheads="1"/>
          </p:cNvSpPr>
          <p:nvPr>
            <p:ph idx="1"/>
          </p:nvPr>
        </p:nvSpPr>
        <p:spPr>
          <a:xfrm>
            <a:off x="285720" y="1268760"/>
            <a:ext cx="8572560" cy="5229200"/>
          </a:xfrm>
        </p:spPr>
        <p:txBody>
          <a:bodyPr>
            <a:noAutofit/>
          </a:bodyPr>
          <a:lstStyle/>
          <a:p>
            <a:r>
              <a:rPr lang="en-US" b="1" dirty="0"/>
              <a:t>Step-4:</a:t>
            </a:r>
            <a:endParaRPr lang="en-US" dirty="0"/>
          </a:p>
          <a:p>
            <a:r>
              <a:rPr lang="en-US" dirty="0"/>
              <a:t>At step-4, we can infer facts Missile(T1) and Owns(A, T1) form Sells(Robert, T1, r) which satisfies the </a:t>
            </a:r>
            <a:r>
              <a:rPr lang="en-US" b="1" dirty="0"/>
              <a:t>Rule- 4</a:t>
            </a:r>
            <a:r>
              <a:rPr lang="en-US" dirty="0"/>
              <a:t>, with the substitution of A in place of r. So these two statements are proved here.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17410"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12" y="3457525"/>
            <a:ext cx="5256584" cy="3355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4980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Forward Chaining and backward chaining in 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048000"/>
            <a:ext cx="4762500" cy="3810000"/>
          </a:xfrm>
          <a:prstGeom prst="rect">
            <a:avLst/>
          </a:prstGeom>
          <a:noFill/>
          <a:extLst>
            <a:ext uri="{909E8E84-426E-40DD-AFC4-6F175D3DCCD1}">
              <a14:hiddenFill xmlns:a14="http://schemas.microsoft.com/office/drawing/2010/main">
                <a:solidFill>
                  <a:srgbClr val="FFFFFF"/>
                </a:solidFill>
              </a14:hiddenFill>
            </a:ext>
          </a:extLst>
        </p:spPr>
      </p:pic>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smtClean="0"/>
              <a:t>Backward Chaining Proof</a:t>
            </a:r>
            <a:endParaRPr lang="en-US" sz="3200" b="1" dirty="0"/>
          </a:p>
        </p:txBody>
      </p:sp>
      <p:sp>
        <p:nvSpPr>
          <p:cNvPr id="13315" name="Rectangle 3"/>
          <p:cNvSpPr>
            <a:spLocks noGrp="1" noChangeArrowheads="1"/>
          </p:cNvSpPr>
          <p:nvPr>
            <p:ph idx="1"/>
          </p:nvPr>
        </p:nvSpPr>
        <p:spPr>
          <a:xfrm>
            <a:off x="285720" y="1268760"/>
            <a:ext cx="8572560" cy="5229200"/>
          </a:xfrm>
        </p:spPr>
        <p:txBody>
          <a:bodyPr>
            <a:noAutofit/>
          </a:bodyPr>
          <a:lstStyle/>
          <a:p>
            <a:r>
              <a:rPr lang="en-US" b="1" dirty="0"/>
              <a:t>Step-5: </a:t>
            </a:r>
            <a:endParaRPr lang="en-US" dirty="0"/>
          </a:p>
          <a:p>
            <a:r>
              <a:rPr lang="en-US" dirty="0"/>
              <a:t>At step-5, we can infer the fact </a:t>
            </a:r>
            <a:r>
              <a:rPr lang="en-US" b="1" dirty="0"/>
              <a:t>Enemy(A, America)</a:t>
            </a:r>
            <a:r>
              <a:rPr lang="en-US" dirty="0"/>
              <a:t> from </a:t>
            </a:r>
            <a:r>
              <a:rPr lang="en-US" b="1" dirty="0"/>
              <a:t>Hostile(A)</a:t>
            </a:r>
            <a:r>
              <a:rPr lang="en-US" dirty="0"/>
              <a:t> which satisfies Rule- 6. And hence all the statements are proved true using backward chaining. </a:t>
            </a:r>
          </a:p>
          <a:p>
            <a:endParaRPr lang="en-US" sz="2800" dirty="0" smtClean="0"/>
          </a:p>
        </p:txBody>
      </p:sp>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80626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Difference between backward chaining and forward chaining</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sz="2600" dirty="0" smtClean="0"/>
              <a:t>Forward </a:t>
            </a:r>
            <a:r>
              <a:rPr lang="en-US" sz="2600" dirty="0"/>
              <a:t>chaining as the name suggests, start from the known facts and move forward by applying inference rules to extract more data, and it continues until it reaches to the goal, whereas backward chaining starts from the goal, move backward by using inference rules to determine the facts that satisfy the goal.</a:t>
            </a:r>
          </a:p>
          <a:p>
            <a:r>
              <a:rPr lang="en-US" sz="2600" dirty="0"/>
              <a:t>Forward chaining is called a </a:t>
            </a:r>
            <a:r>
              <a:rPr lang="en-US" sz="2600" b="1" dirty="0"/>
              <a:t>data-driven</a:t>
            </a:r>
            <a:r>
              <a:rPr lang="en-US" sz="2600" dirty="0"/>
              <a:t> inference technique, whereas backward chaining is called a </a:t>
            </a:r>
            <a:r>
              <a:rPr lang="en-US" sz="2600" b="1" dirty="0"/>
              <a:t>goal-driven</a:t>
            </a:r>
            <a:r>
              <a:rPr lang="en-US" sz="2600" dirty="0"/>
              <a:t> inference technique.</a:t>
            </a:r>
          </a:p>
          <a:p>
            <a:r>
              <a:rPr lang="en-US" sz="2600" dirty="0"/>
              <a:t>Forward chaining is known as the </a:t>
            </a:r>
            <a:r>
              <a:rPr lang="en-US" sz="2600" b="1" dirty="0"/>
              <a:t>down-up</a:t>
            </a:r>
            <a:r>
              <a:rPr lang="en-US" sz="2600" dirty="0"/>
              <a:t> approach, whereas backward chaining is known as a </a:t>
            </a:r>
            <a:r>
              <a:rPr lang="en-US" sz="2600" b="1" dirty="0"/>
              <a:t>top-down</a:t>
            </a:r>
            <a:r>
              <a:rPr lang="en-US" sz="2600" dirty="0"/>
              <a:t> approach</a:t>
            </a:r>
            <a:r>
              <a:rPr lang="en-US" sz="2600" dirty="0" smtClean="0"/>
              <a:t>.</a:t>
            </a:r>
            <a:endParaRPr lang="en-US" sz="2600" dirty="0"/>
          </a:p>
        </p:txBody>
      </p:sp>
      <p:cxnSp>
        <p:nvCxnSpPr>
          <p:cNvPr id="5" name="Straight Connector 4"/>
          <p:cNvCxnSpPr/>
          <p:nvPr/>
        </p:nvCxnSpPr>
        <p:spPr>
          <a:xfrm>
            <a:off x="0" y="133918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260995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Difference between backward chaining and forward chaining</a:t>
            </a:r>
          </a:p>
        </p:txBody>
      </p:sp>
      <p:sp>
        <p:nvSpPr>
          <p:cNvPr id="13315" name="Rectangle 3"/>
          <p:cNvSpPr>
            <a:spLocks noGrp="1" noChangeArrowheads="1"/>
          </p:cNvSpPr>
          <p:nvPr>
            <p:ph idx="1"/>
          </p:nvPr>
        </p:nvSpPr>
        <p:spPr>
          <a:xfrm>
            <a:off x="285720" y="1584176"/>
            <a:ext cx="8572560" cy="5229200"/>
          </a:xfrm>
        </p:spPr>
        <p:txBody>
          <a:bodyPr>
            <a:noAutofit/>
          </a:bodyPr>
          <a:lstStyle/>
          <a:p>
            <a:r>
              <a:rPr lang="en-US" dirty="0" smtClean="0"/>
              <a:t>Forward </a:t>
            </a:r>
            <a:r>
              <a:rPr lang="en-US" dirty="0"/>
              <a:t>chaining uses </a:t>
            </a:r>
            <a:r>
              <a:rPr lang="en-US" b="1" dirty="0"/>
              <a:t>breadth-first search</a:t>
            </a:r>
            <a:r>
              <a:rPr lang="en-US" dirty="0"/>
              <a:t> strategy, whereas backward chaining uses </a:t>
            </a:r>
            <a:r>
              <a:rPr lang="en-US" b="1" dirty="0"/>
              <a:t>depth-first search</a:t>
            </a:r>
            <a:r>
              <a:rPr lang="en-US" dirty="0"/>
              <a:t> strategy.</a:t>
            </a:r>
          </a:p>
          <a:p>
            <a:r>
              <a:rPr lang="en-US" dirty="0"/>
              <a:t>Forward and backward chaining both applies </a:t>
            </a:r>
            <a:r>
              <a:rPr lang="en-US" b="1" dirty="0"/>
              <a:t>Modus ponens</a:t>
            </a:r>
            <a:r>
              <a:rPr lang="en-US" dirty="0"/>
              <a:t> inference rule.</a:t>
            </a:r>
          </a:p>
          <a:p>
            <a:r>
              <a:rPr lang="en-US" dirty="0"/>
              <a:t>Forward chaining can be used for tasks such as </a:t>
            </a:r>
            <a:r>
              <a:rPr lang="en-US" b="1" dirty="0"/>
              <a:t>planning, design process monitoring, diagnosis, and classification</a:t>
            </a:r>
            <a:r>
              <a:rPr lang="en-US" dirty="0"/>
              <a:t>, whereas backward chaining can be used for </a:t>
            </a:r>
            <a:r>
              <a:rPr lang="en-US" b="1" dirty="0"/>
              <a:t>classification and diagnosis tasks</a:t>
            </a:r>
            <a:r>
              <a:rPr lang="en-US" dirty="0"/>
              <a:t>.</a:t>
            </a:r>
          </a:p>
          <a:p>
            <a:endParaRPr lang="en-US" sz="2800" dirty="0" smtClean="0"/>
          </a:p>
        </p:txBody>
      </p:sp>
      <p:cxnSp>
        <p:nvCxnSpPr>
          <p:cNvPr id="5" name="Straight Connector 4"/>
          <p:cNvCxnSpPr/>
          <p:nvPr/>
        </p:nvCxnSpPr>
        <p:spPr>
          <a:xfrm>
            <a:off x="0" y="133918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4601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US" sz="3200" b="1" dirty="0"/>
              <a:t>Difference between backward chaining and forward chaining</a:t>
            </a:r>
          </a:p>
        </p:txBody>
      </p:sp>
      <p:sp>
        <p:nvSpPr>
          <p:cNvPr id="13315" name="Rectangle 3"/>
          <p:cNvSpPr>
            <a:spLocks noGrp="1" noChangeArrowheads="1"/>
          </p:cNvSpPr>
          <p:nvPr>
            <p:ph idx="1"/>
          </p:nvPr>
        </p:nvSpPr>
        <p:spPr>
          <a:xfrm>
            <a:off x="285720" y="1500174"/>
            <a:ext cx="8572560" cy="5229200"/>
          </a:xfrm>
        </p:spPr>
        <p:txBody>
          <a:bodyPr>
            <a:noAutofit/>
          </a:bodyPr>
          <a:lstStyle/>
          <a:p>
            <a:r>
              <a:rPr lang="en-US" dirty="0" smtClean="0"/>
              <a:t>Forward </a:t>
            </a:r>
            <a:r>
              <a:rPr lang="en-US" dirty="0"/>
              <a:t>chaining can be like an exhaustive search, whereas backward chaining tries to avoid the unnecessary path of reasoning.</a:t>
            </a:r>
          </a:p>
          <a:p>
            <a:r>
              <a:rPr lang="en-US" dirty="0"/>
              <a:t>In forward-chaining there can be various ASK questions from the knowledge base, whereas in backward chaining there can be fewer ASK questions.</a:t>
            </a:r>
          </a:p>
          <a:p>
            <a:r>
              <a:rPr lang="en-US" dirty="0"/>
              <a:t>Forward chaining is slow as it checks for all the rules, whereas backward chaining is fast as it checks few required rules only. </a:t>
            </a:r>
          </a:p>
          <a:p>
            <a:endParaRPr lang="en-US" sz="2800" dirty="0" smtClean="0"/>
          </a:p>
        </p:txBody>
      </p:sp>
      <p:cxnSp>
        <p:nvCxnSpPr>
          <p:cNvPr id="5" name="Straight Connector 4"/>
          <p:cNvCxnSpPr/>
          <p:nvPr/>
        </p:nvCxnSpPr>
        <p:spPr>
          <a:xfrm>
            <a:off x="0" y="133918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99468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IN" sz="3200" dirty="0"/>
              <a:t>Forward Chaining Vs. Backward </a:t>
            </a:r>
            <a:r>
              <a:rPr lang="en-IN" sz="3200" dirty="0" smtClean="0"/>
              <a:t>Chaining</a:t>
            </a:r>
            <a:endParaRPr lang="en-US" sz="3200" b="1"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6781784"/>
              </p:ext>
            </p:extLst>
          </p:nvPr>
        </p:nvGraphicFramePr>
        <p:xfrm>
          <a:off x="457200" y="3931920"/>
          <a:ext cx="8229600" cy="365760"/>
        </p:xfrm>
        <a:graphic>
          <a:graphicData uri="http://schemas.openxmlformats.org/drawingml/2006/table">
            <a:tbl>
              <a:tblPr/>
              <a:tblGrid>
                <a:gridCol w="4114800"/>
                <a:gridCol w="4114800"/>
              </a:tblGrid>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r>
            </a:tbl>
          </a:graphicData>
        </a:graphic>
      </p:graphicFrame>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extLst>
              <p:ext uri="{D42A27DB-BD31-4B8C-83A1-F6EECF244321}">
                <p14:modId xmlns:p14="http://schemas.microsoft.com/office/powerpoint/2010/main" val="2501110405"/>
              </p:ext>
            </p:extLst>
          </p:nvPr>
        </p:nvGraphicFramePr>
        <p:xfrm>
          <a:off x="395534" y="1412776"/>
          <a:ext cx="8496945" cy="5112568"/>
        </p:xfrm>
        <a:graphic>
          <a:graphicData uri="http://schemas.openxmlformats.org/drawingml/2006/table">
            <a:tbl>
              <a:tblPr/>
              <a:tblGrid>
                <a:gridCol w="585997"/>
                <a:gridCol w="3515976"/>
                <a:gridCol w="4394972"/>
              </a:tblGrid>
              <a:tr h="649234">
                <a:tc>
                  <a:txBody>
                    <a:bodyPr/>
                    <a:lstStyle/>
                    <a:p>
                      <a:r>
                        <a:rPr lang="en-IN" sz="1800" b="1" dirty="0">
                          <a:latin typeface="+mj-lt"/>
                        </a:rPr>
                        <a:t>S. No.</a:t>
                      </a:r>
                    </a:p>
                  </a:txBody>
                  <a:tcPr marL="36647" marR="36647" marT="18324" marB="18324" anchor="ctr">
                    <a:lnL>
                      <a:noFill/>
                    </a:lnL>
                    <a:lnR>
                      <a:noFill/>
                    </a:lnR>
                    <a:lnT>
                      <a:noFill/>
                    </a:lnT>
                    <a:lnB>
                      <a:noFill/>
                    </a:lnB>
                    <a:solidFill>
                      <a:schemeClr val="accent6">
                        <a:lumMod val="40000"/>
                        <a:lumOff val="60000"/>
                      </a:schemeClr>
                    </a:solidFill>
                  </a:tcPr>
                </a:tc>
                <a:tc>
                  <a:txBody>
                    <a:bodyPr/>
                    <a:lstStyle/>
                    <a:p>
                      <a:r>
                        <a:rPr lang="en-IN" sz="1800" b="1" dirty="0">
                          <a:latin typeface="+mj-lt"/>
                        </a:rPr>
                        <a:t>Forward Chaining</a:t>
                      </a:r>
                    </a:p>
                  </a:txBody>
                  <a:tcPr marL="36647" marR="36647" marT="18324" marB="18324" anchor="ctr">
                    <a:lnL>
                      <a:noFill/>
                    </a:lnL>
                    <a:lnR>
                      <a:noFill/>
                    </a:lnR>
                    <a:lnT>
                      <a:noFill/>
                    </a:lnT>
                    <a:lnB>
                      <a:noFill/>
                    </a:lnB>
                    <a:solidFill>
                      <a:schemeClr val="accent6">
                        <a:lumMod val="40000"/>
                        <a:lumOff val="60000"/>
                      </a:schemeClr>
                    </a:solidFill>
                  </a:tcPr>
                </a:tc>
                <a:tc>
                  <a:txBody>
                    <a:bodyPr/>
                    <a:lstStyle/>
                    <a:p>
                      <a:r>
                        <a:rPr lang="en-IN" sz="1800" b="1" dirty="0">
                          <a:latin typeface="+mj-lt"/>
                        </a:rPr>
                        <a:t>Backward Chaining</a:t>
                      </a:r>
                    </a:p>
                  </a:txBody>
                  <a:tcPr marL="36647" marR="36647" marT="18324" marB="18324" anchor="ctr">
                    <a:lnL>
                      <a:noFill/>
                    </a:lnL>
                    <a:lnR>
                      <a:noFill/>
                    </a:lnR>
                    <a:lnT>
                      <a:noFill/>
                    </a:lnT>
                    <a:lnB>
                      <a:noFill/>
                    </a:lnB>
                    <a:solidFill>
                      <a:schemeClr val="accent6">
                        <a:lumMod val="40000"/>
                        <a:lumOff val="60000"/>
                      </a:schemeClr>
                    </a:solidFill>
                  </a:tcPr>
                </a:tc>
              </a:tr>
              <a:tr h="1257816">
                <a:tc>
                  <a:txBody>
                    <a:bodyPr/>
                    <a:lstStyle/>
                    <a:p>
                      <a:r>
                        <a:rPr lang="en-IN" sz="1800">
                          <a:latin typeface="+mj-lt"/>
                        </a:rPr>
                        <a:t>1.</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Forward chaining starts from known facts and applies inference rule to extract more data unit it reaches to the goal.</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Backward chaining starts from the goal and works backward through inference rules to find the required facts that support the goal.</a:t>
                      </a:r>
                    </a:p>
                  </a:txBody>
                  <a:tcPr marL="36647" marR="36647" marT="18324" marB="18324" anchor="ctr">
                    <a:lnL>
                      <a:noFill/>
                    </a:lnL>
                    <a:lnR>
                      <a:noFill/>
                    </a:lnR>
                    <a:lnT>
                      <a:noFill/>
                    </a:lnT>
                    <a:lnB>
                      <a:noFill/>
                    </a:lnB>
                    <a:solidFill>
                      <a:schemeClr val="tx2">
                        <a:lumMod val="20000"/>
                        <a:lumOff val="80000"/>
                      </a:schemeClr>
                    </a:solidFill>
                  </a:tcPr>
                </a:tc>
              </a:tr>
              <a:tr h="344943">
                <a:tc>
                  <a:txBody>
                    <a:bodyPr/>
                    <a:lstStyle/>
                    <a:p>
                      <a:r>
                        <a:rPr lang="en-IN" sz="1800">
                          <a:latin typeface="+mj-lt"/>
                        </a:rPr>
                        <a:t>2.</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It is a bottom-up approach</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It is a top-down approach</a:t>
                      </a:r>
                    </a:p>
                  </a:txBody>
                  <a:tcPr marL="36647" marR="36647" marT="18324" marB="18324" anchor="ctr">
                    <a:lnL>
                      <a:noFill/>
                    </a:lnL>
                    <a:lnR>
                      <a:noFill/>
                    </a:lnR>
                    <a:lnT>
                      <a:noFill/>
                    </a:lnT>
                    <a:lnB>
                      <a:noFill/>
                    </a:lnB>
                    <a:solidFill>
                      <a:schemeClr val="tx2">
                        <a:lumMod val="20000"/>
                        <a:lumOff val="80000"/>
                      </a:schemeClr>
                    </a:solidFill>
                  </a:tcPr>
                </a:tc>
              </a:tr>
              <a:tr h="1257816">
                <a:tc>
                  <a:txBody>
                    <a:bodyPr/>
                    <a:lstStyle/>
                    <a:p>
                      <a:r>
                        <a:rPr lang="en-IN" sz="1800">
                          <a:latin typeface="+mj-lt"/>
                        </a:rPr>
                        <a:t>3.</a:t>
                      </a:r>
                    </a:p>
                  </a:txBody>
                  <a:tcPr marL="36647" marR="36647" marT="18324" marB="18324" anchor="ctr">
                    <a:lnL>
                      <a:noFill/>
                    </a:lnL>
                    <a:lnR>
                      <a:noFill/>
                    </a:lnR>
                    <a:lnT>
                      <a:noFill/>
                    </a:lnT>
                    <a:lnB>
                      <a:noFill/>
                    </a:lnB>
                  </a:tcPr>
                </a:tc>
                <a:tc>
                  <a:txBody>
                    <a:bodyPr/>
                    <a:lstStyle/>
                    <a:p>
                      <a:pPr>
                        <a:spcAft>
                          <a:spcPts val="600"/>
                        </a:spcAft>
                      </a:pPr>
                      <a:r>
                        <a:rPr lang="en-US" sz="1800" b="0">
                          <a:latin typeface="Arial" pitchFamily="34" charset="0"/>
                          <a:cs typeface="Arial" pitchFamily="34" charset="0"/>
                        </a:rPr>
                        <a:t>Forward chaining is known as data-driven inference technique as we reach to the goal using the available data.</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Backward chaining is known as goal-driven technique as we start from the goal and divide into sub-goal to extract the facts.</a:t>
                      </a:r>
                    </a:p>
                  </a:txBody>
                  <a:tcPr marL="36647" marR="36647" marT="18324" marB="18324" anchor="ctr">
                    <a:lnL>
                      <a:noFill/>
                    </a:lnL>
                    <a:lnR>
                      <a:noFill/>
                    </a:lnR>
                    <a:lnT>
                      <a:noFill/>
                    </a:lnT>
                    <a:lnB>
                      <a:noFill/>
                    </a:lnB>
                    <a:solidFill>
                      <a:schemeClr val="tx2">
                        <a:lumMod val="20000"/>
                        <a:lumOff val="80000"/>
                      </a:schemeClr>
                    </a:solidFill>
                  </a:tcPr>
                </a:tc>
              </a:tr>
              <a:tr h="953525">
                <a:tc>
                  <a:txBody>
                    <a:bodyPr/>
                    <a:lstStyle/>
                    <a:p>
                      <a:r>
                        <a:rPr lang="en-IN" sz="1800">
                          <a:latin typeface="+mj-lt"/>
                        </a:rPr>
                        <a:t>4.</a:t>
                      </a:r>
                    </a:p>
                  </a:txBody>
                  <a:tcPr marL="36647" marR="36647" marT="18324" marB="18324" anchor="ctr">
                    <a:lnL>
                      <a:noFill/>
                    </a:lnL>
                    <a:lnR>
                      <a:noFill/>
                    </a:lnR>
                    <a:lnT>
                      <a:noFill/>
                    </a:lnT>
                    <a:lnB>
                      <a:noFill/>
                    </a:lnB>
                  </a:tcPr>
                </a:tc>
                <a:tc>
                  <a:txBody>
                    <a:bodyPr/>
                    <a:lstStyle/>
                    <a:p>
                      <a:pPr>
                        <a:spcAft>
                          <a:spcPts val="600"/>
                        </a:spcAft>
                      </a:pPr>
                      <a:r>
                        <a:rPr lang="en-US" sz="1800" b="0">
                          <a:latin typeface="Arial" pitchFamily="34" charset="0"/>
                          <a:cs typeface="Arial" pitchFamily="34" charset="0"/>
                        </a:rPr>
                        <a:t>Forward chaining reasoning applies a breadth-first search strategy.</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Backward chaining reasoning applies a depth-first search strategy.</a:t>
                      </a:r>
                    </a:p>
                  </a:txBody>
                  <a:tcPr marL="36647" marR="36647" marT="18324" marB="18324" anchor="ctr">
                    <a:lnL>
                      <a:noFill/>
                    </a:lnL>
                    <a:lnR>
                      <a:noFill/>
                    </a:lnR>
                    <a:lnT>
                      <a:noFill/>
                    </a:lnT>
                    <a:lnB>
                      <a:noFill/>
                    </a:lnB>
                    <a:solidFill>
                      <a:schemeClr val="tx2">
                        <a:lumMod val="20000"/>
                        <a:lumOff val="80000"/>
                      </a:schemeClr>
                    </a:solidFill>
                  </a:tcPr>
                </a:tc>
              </a:tr>
              <a:tr h="649234">
                <a:tc>
                  <a:txBody>
                    <a:bodyPr/>
                    <a:lstStyle/>
                    <a:p>
                      <a:r>
                        <a:rPr lang="en-IN" sz="1800">
                          <a:latin typeface="+mj-lt"/>
                        </a:rPr>
                        <a:t>5.</a:t>
                      </a:r>
                    </a:p>
                  </a:txBody>
                  <a:tcPr marL="36647" marR="36647" marT="18324" marB="18324" anchor="ctr">
                    <a:lnL>
                      <a:noFill/>
                    </a:lnL>
                    <a:lnR>
                      <a:noFill/>
                    </a:lnR>
                    <a:lnT>
                      <a:noFill/>
                    </a:lnT>
                    <a:lnB>
                      <a:noFill/>
                    </a:lnB>
                  </a:tcPr>
                </a:tc>
                <a:tc>
                  <a:txBody>
                    <a:bodyPr/>
                    <a:lstStyle/>
                    <a:p>
                      <a:pPr>
                        <a:spcAft>
                          <a:spcPts val="600"/>
                        </a:spcAft>
                      </a:pPr>
                      <a:r>
                        <a:rPr lang="en-US" sz="1800" b="0">
                          <a:latin typeface="Arial" pitchFamily="34" charset="0"/>
                          <a:cs typeface="Arial" pitchFamily="34" charset="0"/>
                        </a:rPr>
                        <a:t>Forward chaining tests for all the available rules</a:t>
                      </a:r>
                    </a:p>
                  </a:txBody>
                  <a:tcPr marL="36647" marR="36647" marT="18324" marB="18324" anchor="ctr">
                    <a:lnL>
                      <a:noFill/>
                    </a:lnL>
                    <a:lnR>
                      <a:noFill/>
                    </a:lnR>
                    <a:lnT>
                      <a:noFill/>
                    </a:lnT>
                    <a:lnB>
                      <a:noFill/>
                    </a:lnB>
                  </a:tcPr>
                </a:tc>
                <a:tc>
                  <a:txBody>
                    <a:bodyPr/>
                    <a:lstStyle/>
                    <a:p>
                      <a:pPr>
                        <a:spcAft>
                          <a:spcPts val="600"/>
                        </a:spcAft>
                      </a:pPr>
                      <a:r>
                        <a:rPr lang="en-US" sz="1800" b="0" dirty="0">
                          <a:latin typeface="Arial" pitchFamily="34" charset="0"/>
                          <a:cs typeface="Arial" pitchFamily="34" charset="0"/>
                        </a:rPr>
                        <a:t>Backward chaining only tests for few required rules.</a:t>
                      </a:r>
                    </a:p>
                  </a:txBody>
                  <a:tcPr marL="36647" marR="36647" marT="18324" marB="18324" anchor="ctr">
                    <a:lnL>
                      <a:noFill/>
                    </a:lnL>
                    <a:lnR>
                      <a:noFill/>
                    </a:lnR>
                    <a:lnT>
                      <a:noFill/>
                    </a:lnT>
                    <a:lnB>
                      <a:noFill/>
                    </a:lnB>
                    <a:solidFill>
                      <a:schemeClr val="tx2">
                        <a:lumMod val="20000"/>
                        <a:lumOff val="80000"/>
                      </a:schemeClr>
                    </a:solidFill>
                  </a:tcPr>
                </a:tc>
              </a:tr>
            </a:tbl>
          </a:graphicData>
        </a:graphic>
      </p:graphicFrame>
    </p:spTree>
    <p:extLst>
      <p:ext uri="{BB962C8B-B14F-4D97-AF65-F5344CB8AC3E}">
        <p14:creationId xmlns:p14="http://schemas.microsoft.com/office/powerpoint/2010/main" val="30110826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229600" cy="334962"/>
          </a:xfrm>
        </p:spPr>
        <p:txBody>
          <a:bodyPr>
            <a:noAutofit/>
          </a:bodyPr>
          <a:lstStyle/>
          <a:p>
            <a:r>
              <a:rPr lang="en-IN" sz="3200" dirty="0"/>
              <a:t>Forward Chaining Vs. Backward </a:t>
            </a:r>
            <a:r>
              <a:rPr lang="en-IN" sz="3200" dirty="0" smtClean="0"/>
              <a:t>Chaining</a:t>
            </a:r>
            <a:endParaRPr lang="en-US" sz="3200" b="1" dirty="0"/>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14779411"/>
              </p:ext>
            </p:extLst>
          </p:nvPr>
        </p:nvGraphicFramePr>
        <p:xfrm>
          <a:off x="457200" y="3931920"/>
          <a:ext cx="8229600" cy="365760"/>
        </p:xfrm>
        <a:graphic>
          <a:graphicData uri="http://schemas.openxmlformats.org/drawingml/2006/table">
            <a:tbl>
              <a:tblPr/>
              <a:tblGrid>
                <a:gridCol w="4114800"/>
                <a:gridCol w="4114800"/>
              </a:tblGrid>
              <a:tr h="0">
                <a:tc>
                  <a:txBody>
                    <a:bodyPr/>
                    <a:lstStyle/>
                    <a:p>
                      <a:endParaRPr lang="en-IN" dirty="0"/>
                    </a:p>
                  </a:txBody>
                  <a:tcPr anchor="ctr">
                    <a:lnL>
                      <a:noFill/>
                    </a:lnL>
                    <a:lnR>
                      <a:noFill/>
                    </a:lnR>
                    <a:lnT>
                      <a:noFill/>
                    </a:lnT>
                    <a:lnB>
                      <a:noFill/>
                    </a:lnB>
                  </a:tcPr>
                </a:tc>
                <a:tc>
                  <a:txBody>
                    <a:bodyPr/>
                    <a:lstStyle/>
                    <a:p>
                      <a:endParaRPr lang="en-IN" dirty="0"/>
                    </a:p>
                  </a:txBody>
                  <a:tcPr anchor="ctr">
                    <a:lnL>
                      <a:noFill/>
                    </a:lnL>
                    <a:lnR>
                      <a:noFill/>
                    </a:lnR>
                    <a:lnT>
                      <a:noFill/>
                    </a:lnT>
                    <a:lnB>
                      <a:noFill/>
                    </a:lnB>
                  </a:tcPr>
                </a:tc>
              </a:tr>
            </a:tbl>
          </a:graphicData>
        </a:graphic>
      </p:graphicFrame>
      <p:cxnSp>
        <p:nvCxnSpPr>
          <p:cNvPr id="5" name="Straight Connector 4"/>
          <p:cNvCxnSpPr/>
          <p:nvPr/>
        </p:nvCxnSpPr>
        <p:spPr>
          <a:xfrm>
            <a:off x="0" y="1142984"/>
            <a:ext cx="9144000" cy="1588"/>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extLst>
              <p:ext uri="{D42A27DB-BD31-4B8C-83A1-F6EECF244321}">
                <p14:modId xmlns:p14="http://schemas.microsoft.com/office/powerpoint/2010/main" val="1143976224"/>
              </p:ext>
            </p:extLst>
          </p:nvPr>
        </p:nvGraphicFramePr>
        <p:xfrm>
          <a:off x="395535" y="1484784"/>
          <a:ext cx="8352930" cy="4511591"/>
        </p:xfrm>
        <a:graphic>
          <a:graphicData uri="http://schemas.openxmlformats.org/drawingml/2006/table">
            <a:tbl>
              <a:tblPr/>
              <a:tblGrid>
                <a:gridCol w="576065"/>
                <a:gridCol w="3456384"/>
                <a:gridCol w="4320481"/>
              </a:tblGrid>
              <a:tr h="719397">
                <a:tc>
                  <a:txBody>
                    <a:bodyPr/>
                    <a:lstStyle/>
                    <a:p>
                      <a:r>
                        <a:rPr lang="en-IN" sz="1800" b="1" dirty="0">
                          <a:latin typeface="+mj-lt"/>
                        </a:rPr>
                        <a:t>S. No.</a:t>
                      </a:r>
                    </a:p>
                  </a:txBody>
                  <a:tcPr marL="36647" marR="36647" marT="18324" marB="18324" anchor="ctr">
                    <a:lnL>
                      <a:noFill/>
                    </a:lnL>
                    <a:lnR>
                      <a:noFill/>
                    </a:lnR>
                    <a:lnT>
                      <a:noFill/>
                    </a:lnT>
                    <a:lnB>
                      <a:noFill/>
                    </a:lnB>
                    <a:solidFill>
                      <a:schemeClr val="accent6">
                        <a:lumMod val="40000"/>
                        <a:lumOff val="60000"/>
                      </a:schemeClr>
                    </a:solidFill>
                  </a:tcPr>
                </a:tc>
                <a:tc>
                  <a:txBody>
                    <a:bodyPr/>
                    <a:lstStyle/>
                    <a:p>
                      <a:r>
                        <a:rPr lang="en-IN" sz="1800" b="1" dirty="0">
                          <a:latin typeface="+mj-lt"/>
                        </a:rPr>
                        <a:t>Forward Chaining</a:t>
                      </a:r>
                    </a:p>
                  </a:txBody>
                  <a:tcPr marL="36647" marR="36647" marT="18324" marB="18324" anchor="ctr">
                    <a:lnL>
                      <a:noFill/>
                    </a:lnL>
                    <a:lnR>
                      <a:noFill/>
                    </a:lnR>
                    <a:lnT>
                      <a:noFill/>
                    </a:lnT>
                    <a:lnB>
                      <a:noFill/>
                    </a:lnB>
                    <a:solidFill>
                      <a:schemeClr val="accent6">
                        <a:lumMod val="40000"/>
                        <a:lumOff val="60000"/>
                      </a:schemeClr>
                    </a:solidFill>
                  </a:tcPr>
                </a:tc>
                <a:tc>
                  <a:txBody>
                    <a:bodyPr/>
                    <a:lstStyle/>
                    <a:p>
                      <a:r>
                        <a:rPr lang="en-IN" sz="1800" b="1" dirty="0">
                          <a:latin typeface="+mj-lt"/>
                        </a:rPr>
                        <a:t>Backward Chaining</a:t>
                      </a:r>
                    </a:p>
                  </a:txBody>
                  <a:tcPr marL="36647" marR="36647" marT="18324" marB="18324" anchor="ctr">
                    <a:lnL>
                      <a:noFill/>
                    </a:lnL>
                    <a:lnR>
                      <a:noFill/>
                    </a:lnR>
                    <a:lnT>
                      <a:noFill/>
                    </a:lnT>
                    <a:lnB>
                      <a:noFill/>
                    </a:lnB>
                    <a:solidFill>
                      <a:schemeClr val="accent6">
                        <a:lumMod val="40000"/>
                        <a:lumOff val="60000"/>
                      </a:schemeClr>
                    </a:solidFill>
                  </a:tcPr>
                </a:tc>
              </a:tr>
              <a:tr h="1296827">
                <a:tc>
                  <a:txBody>
                    <a:bodyPr/>
                    <a:lstStyle/>
                    <a:p>
                      <a:r>
                        <a:rPr lang="en-IN" sz="1800" dirty="0">
                          <a:latin typeface="+mj-lt"/>
                        </a:rPr>
                        <a:t>6.</a:t>
                      </a:r>
                    </a:p>
                  </a:txBody>
                  <a:tcPr marL="36647" marR="36647" marT="18324" marB="18324" anchor="ctr">
                    <a:lnL>
                      <a:noFill/>
                    </a:lnL>
                    <a:lnR>
                      <a:noFill/>
                    </a:lnR>
                    <a:lnT>
                      <a:noFill/>
                    </a:lnT>
                    <a:lnB>
                      <a:noFill/>
                    </a:lnB>
                  </a:tcPr>
                </a:tc>
                <a:tc>
                  <a:txBody>
                    <a:bodyPr/>
                    <a:lstStyle/>
                    <a:p>
                      <a:r>
                        <a:rPr lang="en-US" sz="1800" b="0" dirty="0">
                          <a:latin typeface="Arial" pitchFamily="34" charset="0"/>
                          <a:cs typeface="Arial" pitchFamily="34" charset="0"/>
                        </a:rPr>
                        <a:t>Forward chaining is suitable for the planning, monitoring, control, and interpretation application.</a:t>
                      </a:r>
                    </a:p>
                  </a:txBody>
                  <a:tcPr marL="36647" marR="36647" marT="18324" marB="18324" anchor="ctr">
                    <a:lnL>
                      <a:noFill/>
                    </a:lnL>
                    <a:lnR>
                      <a:noFill/>
                    </a:lnR>
                    <a:lnT>
                      <a:noFill/>
                    </a:lnT>
                    <a:lnB>
                      <a:noFill/>
                    </a:lnB>
                  </a:tcPr>
                </a:tc>
                <a:tc>
                  <a:txBody>
                    <a:bodyPr/>
                    <a:lstStyle/>
                    <a:p>
                      <a:r>
                        <a:rPr lang="en-US" sz="1800" b="0" dirty="0">
                          <a:latin typeface="Arial" pitchFamily="34" charset="0"/>
                          <a:cs typeface="Arial" pitchFamily="34" charset="0"/>
                        </a:rPr>
                        <a:t>Backward chaining is suitable for diagnostic, prescription, and debugging application.</a:t>
                      </a:r>
                    </a:p>
                  </a:txBody>
                  <a:tcPr marL="36647" marR="36647" marT="18324" marB="18324" anchor="ctr">
                    <a:lnL>
                      <a:noFill/>
                    </a:lnL>
                    <a:lnR>
                      <a:noFill/>
                    </a:lnR>
                    <a:lnT>
                      <a:noFill/>
                    </a:lnT>
                    <a:lnB>
                      <a:noFill/>
                    </a:lnB>
                    <a:solidFill>
                      <a:schemeClr val="tx2">
                        <a:lumMod val="20000"/>
                        <a:lumOff val="80000"/>
                      </a:schemeClr>
                    </a:solidFill>
                  </a:tcPr>
                </a:tc>
              </a:tr>
              <a:tr h="1056573">
                <a:tc>
                  <a:txBody>
                    <a:bodyPr/>
                    <a:lstStyle/>
                    <a:p>
                      <a:r>
                        <a:rPr lang="en-IN" sz="1800">
                          <a:latin typeface="+mj-lt"/>
                        </a:rPr>
                        <a:t>7.</a:t>
                      </a:r>
                    </a:p>
                  </a:txBody>
                  <a:tcPr marL="36647" marR="36647" marT="18324" marB="18324" anchor="ctr">
                    <a:lnL>
                      <a:noFill/>
                    </a:lnL>
                    <a:lnR>
                      <a:noFill/>
                    </a:lnR>
                    <a:lnT>
                      <a:noFill/>
                    </a:lnT>
                    <a:lnB>
                      <a:noFill/>
                    </a:lnB>
                  </a:tcPr>
                </a:tc>
                <a:tc>
                  <a:txBody>
                    <a:bodyPr/>
                    <a:lstStyle/>
                    <a:p>
                      <a:r>
                        <a:rPr lang="en-US" sz="1800" b="0">
                          <a:latin typeface="Arial" pitchFamily="34" charset="0"/>
                          <a:cs typeface="Arial" pitchFamily="34" charset="0"/>
                        </a:rPr>
                        <a:t>Forward chaining can generate an infinite number of possible conclusions.</a:t>
                      </a:r>
                    </a:p>
                  </a:txBody>
                  <a:tcPr marL="36647" marR="36647" marT="18324" marB="18324" anchor="ctr">
                    <a:lnL>
                      <a:noFill/>
                    </a:lnL>
                    <a:lnR>
                      <a:noFill/>
                    </a:lnR>
                    <a:lnT>
                      <a:noFill/>
                    </a:lnT>
                    <a:lnB>
                      <a:noFill/>
                    </a:lnB>
                  </a:tcPr>
                </a:tc>
                <a:tc>
                  <a:txBody>
                    <a:bodyPr/>
                    <a:lstStyle/>
                    <a:p>
                      <a:r>
                        <a:rPr lang="en-US" sz="1800" b="0" dirty="0">
                          <a:latin typeface="Arial" pitchFamily="34" charset="0"/>
                          <a:cs typeface="Arial" pitchFamily="34" charset="0"/>
                        </a:rPr>
                        <a:t>Backward chaining generates a finite number of possible conclusions.</a:t>
                      </a:r>
                    </a:p>
                  </a:txBody>
                  <a:tcPr marL="36647" marR="36647" marT="18324" marB="18324" anchor="ctr">
                    <a:lnL>
                      <a:noFill/>
                    </a:lnL>
                    <a:lnR>
                      <a:noFill/>
                    </a:lnR>
                    <a:lnT>
                      <a:noFill/>
                    </a:lnT>
                    <a:lnB>
                      <a:noFill/>
                    </a:lnB>
                    <a:solidFill>
                      <a:schemeClr val="tx2">
                        <a:lumMod val="20000"/>
                        <a:lumOff val="80000"/>
                      </a:schemeClr>
                    </a:solidFill>
                  </a:tcPr>
                </a:tc>
              </a:tr>
              <a:tr h="719397">
                <a:tc>
                  <a:txBody>
                    <a:bodyPr/>
                    <a:lstStyle/>
                    <a:p>
                      <a:r>
                        <a:rPr lang="en-IN" sz="1800">
                          <a:latin typeface="+mj-lt"/>
                        </a:rPr>
                        <a:t>8.</a:t>
                      </a:r>
                    </a:p>
                  </a:txBody>
                  <a:tcPr marL="36647" marR="36647" marT="18324" marB="18324" anchor="ctr">
                    <a:lnL>
                      <a:noFill/>
                    </a:lnL>
                    <a:lnR>
                      <a:noFill/>
                    </a:lnR>
                    <a:lnT>
                      <a:noFill/>
                    </a:lnT>
                    <a:lnB>
                      <a:noFill/>
                    </a:lnB>
                  </a:tcPr>
                </a:tc>
                <a:tc>
                  <a:txBody>
                    <a:bodyPr/>
                    <a:lstStyle/>
                    <a:p>
                      <a:r>
                        <a:rPr lang="en-US" sz="1800" b="0">
                          <a:latin typeface="Arial" pitchFamily="34" charset="0"/>
                          <a:cs typeface="Arial" pitchFamily="34" charset="0"/>
                        </a:rPr>
                        <a:t>It operates in the forward direction.</a:t>
                      </a:r>
                    </a:p>
                  </a:txBody>
                  <a:tcPr marL="36647" marR="36647" marT="18324" marB="18324" anchor="ctr">
                    <a:lnL>
                      <a:noFill/>
                    </a:lnL>
                    <a:lnR>
                      <a:noFill/>
                    </a:lnR>
                    <a:lnT>
                      <a:noFill/>
                    </a:lnT>
                    <a:lnB>
                      <a:noFill/>
                    </a:lnB>
                  </a:tcPr>
                </a:tc>
                <a:tc>
                  <a:txBody>
                    <a:bodyPr/>
                    <a:lstStyle/>
                    <a:p>
                      <a:r>
                        <a:rPr lang="en-US" sz="1800" b="0" dirty="0">
                          <a:latin typeface="Arial" pitchFamily="34" charset="0"/>
                          <a:cs typeface="Arial" pitchFamily="34" charset="0"/>
                        </a:rPr>
                        <a:t>It operates in the backward direction.</a:t>
                      </a:r>
                    </a:p>
                  </a:txBody>
                  <a:tcPr marL="36647" marR="36647" marT="18324" marB="18324" anchor="ctr">
                    <a:lnL>
                      <a:noFill/>
                    </a:lnL>
                    <a:lnR>
                      <a:noFill/>
                    </a:lnR>
                    <a:lnT>
                      <a:noFill/>
                    </a:lnT>
                    <a:lnB>
                      <a:noFill/>
                    </a:lnB>
                    <a:solidFill>
                      <a:schemeClr val="tx2">
                        <a:lumMod val="20000"/>
                        <a:lumOff val="80000"/>
                      </a:schemeClr>
                    </a:solidFill>
                  </a:tcPr>
                </a:tc>
              </a:tr>
              <a:tr h="719397">
                <a:tc>
                  <a:txBody>
                    <a:bodyPr/>
                    <a:lstStyle/>
                    <a:p>
                      <a:r>
                        <a:rPr lang="en-IN" sz="1800">
                          <a:latin typeface="+mj-lt"/>
                        </a:rPr>
                        <a:t>9.</a:t>
                      </a:r>
                    </a:p>
                  </a:txBody>
                  <a:tcPr marL="36647" marR="36647" marT="18324" marB="18324" anchor="ctr">
                    <a:lnL>
                      <a:noFill/>
                    </a:lnL>
                    <a:lnR>
                      <a:noFill/>
                    </a:lnR>
                    <a:lnT>
                      <a:noFill/>
                    </a:lnT>
                    <a:lnB>
                      <a:noFill/>
                    </a:lnB>
                  </a:tcPr>
                </a:tc>
                <a:tc>
                  <a:txBody>
                    <a:bodyPr/>
                    <a:lstStyle/>
                    <a:p>
                      <a:r>
                        <a:rPr lang="en-US" sz="1800" b="0">
                          <a:latin typeface="Arial" pitchFamily="34" charset="0"/>
                          <a:cs typeface="Arial" pitchFamily="34" charset="0"/>
                        </a:rPr>
                        <a:t>Forward chaining is aimed for any conclusion.</a:t>
                      </a:r>
                    </a:p>
                  </a:txBody>
                  <a:tcPr marL="36647" marR="36647" marT="18324" marB="18324" anchor="ctr">
                    <a:lnL>
                      <a:noFill/>
                    </a:lnL>
                    <a:lnR>
                      <a:noFill/>
                    </a:lnR>
                    <a:lnT>
                      <a:noFill/>
                    </a:lnT>
                    <a:lnB>
                      <a:noFill/>
                    </a:lnB>
                  </a:tcPr>
                </a:tc>
                <a:tc>
                  <a:txBody>
                    <a:bodyPr/>
                    <a:lstStyle/>
                    <a:p>
                      <a:r>
                        <a:rPr lang="en-US" sz="1800" b="0" dirty="0">
                          <a:latin typeface="Arial" pitchFamily="34" charset="0"/>
                          <a:cs typeface="Arial" pitchFamily="34" charset="0"/>
                        </a:rPr>
                        <a:t>Backward chaining is only aimed for the required data.</a:t>
                      </a:r>
                    </a:p>
                  </a:txBody>
                  <a:tcPr marL="36647" marR="36647" marT="18324" marB="18324" anchor="ctr">
                    <a:lnL>
                      <a:noFill/>
                    </a:lnL>
                    <a:lnR>
                      <a:noFill/>
                    </a:lnR>
                    <a:lnT>
                      <a:noFill/>
                    </a:lnT>
                    <a:lnB>
                      <a:noFill/>
                    </a:lnB>
                    <a:solidFill>
                      <a:schemeClr val="tx2">
                        <a:lumMod val="20000"/>
                        <a:lumOff val="80000"/>
                      </a:schemeClr>
                    </a:solidFill>
                  </a:tcPr>
                </a:tc>
              </a:tr>
            </a:tbl>
          </a:graphicData>
        </a:graphic>
      </p:graphicFrame>
    </p:spTree>
    <p:extLst>
      <p:ext uri="{BB962C8B-B14F-4D97-AF65-F5344CB8AC3E}">
        <p14:creationId xmlns:p14="http://schemas.microsoft.com/office/powerpoint/2010/main" val="101945677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 : </a:t>
            </a:r>
            <a:r>
              <a:rPr lang="en-US" sz="3200" b="1" dirty="0" smtClean="0"/>
              <a:t>Uncertainty</a:t>
            </a:r>
            <a:endParaRPr lang="en-US" sz="3200" b="1" dirty="0"/>
          </a:p>
        </p:txBody>
      </p:sp>
      <p:sp>
        <p:nvSpPr>
          <p:cNvPr id="13315" name="Rectangle 3"/>
          <p:cNvSpPr>
            <a:spLocks noGrp="1" noChangeArrowheads="1"/>
          </p:cNvSpPr>
          <p:nvPr>
            <p:ph idx="1"/>
          </p:nvPr>
        </p:nvSpPr>
        <p:spPr>
          <a:xfrm>
            <a:off x="319920" y="1368152"/>
            <a:ext cx="8572560" cy="5229200"/>
          </a:xfrm>
        </p:spPr>
        <p:txBody>
          <a:bodyPr>
            <a:noAutofit/>
          </a:bodyPr>
          <a:lstStyle/>
          <a:p>
            <a:r>
              <a:rPr lang="en-US" sz="2600" dirty="0" smtClean="0"/>
              <a:t>Till </a:t>
            </a:r>
            <a:r>
              <a:rPr lang="en-US" sz="2600" dirty="0"/>
              <a:t>now, we have learned knowledge representation using first-order logic and </a:t>
            </a:r>
            <a:r>
              <a:rPr lang="en-US" sz="2600" b="1" dirty="0"/>
              <a:t>propositional logic </a:t>
            </a:r>
            <a:r>
              <a:rPr lang="en-US" sz="2600" dirty="0"/>
              <a:t>with certainty, which means we were sure about the predicates. </a:t>
            </a:r>
            <a:endParaRPr lang="en-US" sz="2600" dirty="0" smtClean="0"/>
          </a:p>
          <a:p>
            <a:r>
              <a:rPr lang="en-US" sz="2600" dirty="0" smtClean="0"/>
              <a:t>With </a:t>
            </a:r>
            <a:r>
              <a:rPr lang="en-US" sz="2600" dirty="0"/>
              <a:t>this knowledge representation, we might write A→B, which means if A is true then B is true, but consider a situation where we are </a:t>
            </a:r>
            <a:r>
              <a:rPr lang="en-US" sz="2600" b="1" dirty="0"/>
              <a:t>not</a:t>
            </a:r>
            <a:r>
              <a:rPr lang="en-US" sz="2600" dirty="0"/>
              <a:t> </a:t>
            </a:r>
            <a:r>
              <a:rPr lang="en-US" sz="2600" b="1" dirty="0"/>
              <a:t>sure</a:t>
            </a:r>
            <a:r>
              <a:rPr lang="en-US" sz="2600" dirty="0"/>
              <a:t> about whether A is </a:t>
            </a:r>
            <a:r>
              <a:rPr lang="en-US" sz="2600" b="1" dirty="0"/>
              <a:t>true</a:t>
            </a:r>
            <a:r>
              <a:rPr lang="en-US" sz="2600" dirty="0"/>
              <a:t> or </a:t>
            </a:r>
            <a:r>
              <a:rPr lang="en-US" sz="2600" b="1" dirty="0"/>
              <a:t>not</a:t>
            </a:r>
            <a:r>
              <a:rPr lang="en-US" sz="2600" dirty="0"/>
              <a:t> then we cannot express this statement, this situation is called </a:t>
            </a:r>
            <a:r>
              <a:rPr lang="en-US" sz="2600" b="1" dirty="0"/>
              <a:t>uncertainty</a:t>
            </a:r>
            <a:r>
              <a:rPr lang="en-US" sz="2600" dirty="0"/>
              <a:t>. </a:t>
            </a:r>
            <a:endParaRPr lang="en-US" sz="2600" dirty="0" smtClean="0"/>
          </a:p>
          <a:p>
            <a:r>
              <a:rPr lang="en-US" sz="2600" dirty="0"/>
              <a:t>So to represent </a:t>
            </a:r>
            <a:r>
              <a:rPr lang="en-US" sz="2600" b="1" dirty="0"/>
              <a:t>uncertain</a:t>
            </a:r>
            <a:r>
              <a:rPr lang="en-US" sz="2600" dirty="0"/>
              <a:t> knowledge, where we are </a:t>
            </a:r>
            <a:r>
              <a:rPr lang="en-US" sz="2600" b="1" dirty="0"/>
              <a:t>not sure </a:t>
            </a:r>
            <a:r>
              <a:rPr lang="en-US" sz="2600" dirty="0"/>
              <a:t>about the </a:t>
            </a:r>
            <a:r>
              <a:rPr lang="en-US" sz="2600" b="1" dirty="0"/>
              <a:t>predicates</a:t>
            </a:r>
            <a:r>
              <a:rPr lang="en-US" sz="2600" dirty="0"/>
              <a:t>, we need uncertain reasoning or </a:t>
            </a:r>
            <a:r>
              <a:rPr lang="en-US" sz="2600" b="1" dirty="0"/>
              <a:t>probabilistic reasoning</a:t>
            </a:r>
            <a:endParaRPr lang="en-US" sz="2600" dirty="0"/>
          </a:p>
          <a:p>
            <a:pPr marL="109728" indent="0">
              <a:buNone/>
            </a:pPr>
            <a:r>
              <a:rPr lang="en-US" dirty="0" smtClean="0"/>
              <a:t> </a:t>
            </a: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88200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85720" y="1512168"/>
            <a:ext cx="8572560" cy="5229200"/>
          </a:xfrm>
        </p:spPr>
        <p:txBody>
          <a:bodyPr>
            <a:noAutofit/>
          </a:bodyPr>
          <a:lstStyle/>
          <a:p>
            <a:pPr marL="109728" indent="0">
              <a:buNone/>
            </a:pPr>
            <a:r>
              <a:rPr lang="en-IN" b="1" dirty="0" smtClean="0"/>
              <a:t>Causes </a:t>
            </a:r>
            <a:r>
              <a:rPr lang="en-IN" b="1" dirty="0"/>
              <a:t>of uncertainty</a:t>
            </a:r>
            <a:r>
              <a:rPr lang="en-IN" b="1" dirty="0" smtClean="0"/>
              <a:t>:</a:t>
            </a:r>
          </a:p>
          <a:p>
            <a:pPr marL="109728" indent="0">
              <a:buNone/>
            </a:pPr>
            <a:r>
              <a:rPr lang="en-US" dirty="0" smtClean="0"/>
              <a:t>The following </a:t>
            </a:r>
            <a:r>
              <a:rPr lang="en-US" dirty="0"/>
              <a:t>are some leading causes of uncertainty to occur in the real world</a:t>
            </a:r>
            <a:r>
              <a:rPr lang="en-US" dirty="0" smtClean="0"/>
              <a:t>.</a:t>
            </a:r>
          </a:p>
          <a:p>
            <a:pPr marL="109728" indent="0">
              <a:buNone/>
            </a:pPr>
            <a:endParaRPr lang="en-US" dirty="0"/>
          </a:p>
          <a:p>
            <a:pPr marL="639763" indent="-285750"/>
            <a:r>
              <a:rPr lang="en-US" dirty="0"/>
              <a:t>Information occurred from </a:t>
            </a:r>
            <a:r>
              <a:rPr lang="en-US" b="1" dirty="0"/>
              <a:t>unreliable</a:t>
            </a:r>
            <a:r>
              <a:rPr lang="en-US" dirty="0"/>
              <a:t> </a:t>
            </a:r>
            <a:r>
              <a:rPr lang="en-US" dirty="0" smtClean="0"/>
              <a:t>sources </a:t>
            </a:r>
            <a:endParaRPr lang="en-US" dirty="0"/>
          </a:p>
          <a:p>
            <a:pPr marL="639763" indent="-285750"/>
            <a:r>
              <a:rPr lang="en-US" dirty="0"/>
              <a:t>Experimental </a:t>
            </a:r>
            <a:r>
              <a:rPr lang="en-US" b="1" dirty="0"/>
              <a:t>Errors</a:t>
            </a:r>
          </a:p>
          <a:p>
            <a:pPr marL="639763" indent="-285750"/>
            <a:r>
              <a:rPr lang="en-US" dirty="0"/>
              <a:t>Equipment </a:t>
            </a:r>
            <a:r>
              <a:rPr lang="en-US" b="1" dirty="0"/>
              <a:t>fault</a:t>
            </a:r>
          </a:p>
          <a:p>
            <a:pPr marL="639763" indent="-285750"/>
            <a:r>
              <a:rPr lang="en-US" dirty="0"/>
              <a:t>Temperature </a:t>
            </a:r>
            <a:r>
              <a:rPr lang="en-US" b="1" dirty="0"/>
              <a:t>variation</a:t>
            </a:r>
          </a:p>
          <a:p>
            <a:pPr marL="639763" indent="-285750"/>
            <a:r>
              <a:rPr lang="en-US" b="1" dirty="0"/>
              <a:t>Climate</a:t>
            </a:r>
            <a:r>
              <a:rPr lang="en-US" dirty="0"/>
              <a:t> change. </a:t>
            </a:r>
          </a:p>
          <a:p>
            <a:pPr marL="639763" indent="-285750">
              <a:buNone/>
            </a:pPr>
            <a:endParaRPr lang="en-IN" b="1" dirty="0"/>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2"/>
          <p:cNvSpPr txBox="1">
            <a:spLocks noChangeArrowheads="1"/>
          </p:cNvSpPr>
          <p:nvPr/>
        </p:nvSpPr>
        <p:spPr>
          <a:xfrm>
            <a:off x="467544" y="692696"/>
            <a:ext cx="8496944" cy="36004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sz="3200" b="1" smtClean="0"/>
              <a:t>Uncertainty:  Probabilistic Reasoning</a:t>
            </a:r>
            <a:endParaRPr lang="en-US" sz="3200" b="1" dirty="0"/>
          </a:p>
        </p:txBody>
      </p:sp>
    </p:spTree>
    <p:extLst>
      <p:ext uri="{BB962C8B-B14F-4D97-AF65-F5344CB8AC3E}">
        <p14:creationId xmlns:p14="http://schemas.microsoft.com/office/powerpoint/2010/main" val="25406429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Probabilistic </a:t>
            </a:r>
            <a:r>
              <a:rPr lang="en-US" dirty="0"/>
              <a:t>reasoning is a way of knowledge representation where we apply the concept of </a:t>
            </a:r>
            <a:r>
              <a:rPr lang="en-US" b="1" dirty="0"/>
              <a:t>probability</a:t>
            </a:r>
            <a:r>
              <a:rPr lang="en-US" dirty="0"/>
              <a:t> to indicate the </a:t>
            </a:r>
            <a:r>
              <a:rPr lang="en-US" b="1" dirty="0"/>
              <a:t>uncertainty</a:t>
            </a:r>
            <a:r>
              <a:rPr lang="en-US" dirty="0"/>
              <a:t> in knowledge. </a:t>
            </a:r>
            <a:endParaRPr lang="en-US" dirty="0" smtClean="0"/>
          </a:p>
          <a:p>
            <a:r>
              <a:rPr lang="en-US" dirty="0" smtClean="0"/>
              <a:t>In </a:t>
            </a:r>
            <a:r>
              <a:rPr lang="en-US" dirty="0"/>
              <a:t>probabilistic reasoning, we </a:t>
            </a:r>
            <a:r>
              <a:rPr lang="en-US" b="1" dirty="0"/>
              <a:t>combine</a:t>
            </a:r>
            <a:r>
              <a:rPr lang="en-US" dirty="0"/>
              <a:t> </a:t>
            </a:r>
            <a:r>
              <a:rPr lang="en-US" b="1" dirty="0">
                <a:solidFill>
                  <a:srgbClr val="FF0000"/>
                </a:solidFill>
              </a:rPr>
              <a:t>probability theory </a:t>
            </a:r>
            <a:r>
              <a:rPr lang="en-US" dirty="0"/>
              <a:t>with </a:t>
            </a:r>
            <a:r>
              <a:rPr lang="en-US" b="1" dirty="0"/>
              <a:t>logic</a:t>
            </a:r>
            <a:r>
              <a:rPr lang="en-US" dirty="0"/>
              <a:t> to handle the uncertainty.</a:t>
            </a:r>
          </a:p>
          <a:p>
            <a:r>
              <a:rPr lang="en-US" dirty="0"/>
              <a:t>We use probability in probabilistic reasoning because it provides a way to </a:t>
            </a:r>
            <a:r>
              <a:rPr lang="en-US" b="1" dirty="0"/>
              <a:t>handle</a:t>
            </a:r>
            <a:r>
              <a:rPr lang="en-US" dirty="0"/>
              <a:t> the uncertainty that is the result of someone's laziness and ignorance. </a:t>
            </a:r>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300285752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In </a:t>
            </a:r>
            <a:r>
              <a:rPr lang="en-US" dirty="0"/>
              <a:t>the real world, there are lots of scenarios, where the certainty of something is not confirmed, such as "</a:t>
            </a:r>
            <a:r>
              <a:rPr lang="en-US" b="1" dirty="0"/>
              <a:t>It will rain today</a:t>
            </a:r>
            <a:r>
              <a:rPr lang="en-US" dirty="0"/>
              <a:t>," "behavior of someone for some situations," "</a:t>
            </a:r>
            <a:r>
              <a:rPr lang="en-US" dirty="0">
                <a:solidFill>
                  <a:srgbClr val="FF0000"/>
                </a:solidFill>
              </a:rPr>
              <a:t>A match between two teams or two players</a:t>
            </a:r>
            <a:r>
              <a:rPr lang="en-US" dirty="0"/>
              <a:t>." </a:t>
            </a:r>
            <a:endParaRPr lang="en-US" dirty="0" smtClean="0"/>
          </a:p>
          <a:p>
            <a:r>
              <a:rPr lang="en-US" dirty="0" smtClean="0"/>
              <a:t>These </a:t>
            </a:r>
            <a:r>
              <a:rPr lang="en-US" dirty="0"/>
              <a:t>are probable sentences for which we can assume that it will </a:t>
            </a:r>
            <a:r>
              <a:rPr lang="en-US" b="1" dirty="0"/>
              <a:t>happen</a:t>
            </a:r>
            <a:r>
              <a:rPr lang="en-US" dirty="0"/>
              <a:t> but </a:t>
            </a:r>
            <a:r>
              <a:rPr lang="en-US" b="1" dirty="0"/>
              <a:t>not</a:t>
            </a:r>
            <a:r>
              <a:rPr lang="en-US" dirty="0"/>
              <a:t> sure about it, so here we use probabilistic reasoning. </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24501379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a:t>
            </a:r>
          </a:p>
        </p:txBody>
      </p:sp>
      <p:sp>
        <p:nvSpPr>
          <p:cNvPr id="13315" name="Rectangle 3"/>
          <p:cNvSpPr>
            <a:spLocks noGrp="1" noChangeArrowheads="1"/>
          </p:cNvSpPr>
          <p:nvPr>
            <p:ph idx="1"/>
          </p:nvPr>
        </p:nvSpPr>
        <p:spPr>
          <a:xfrm>
            <a:off x="285720" y="1512168"/>
            <a:ext cx="8572560" cy="5229200"/>
          </a:xfrm>
        </p:spPr>
        <p:txBody>
          <a:bodyPr>
            <a:noAutofit/>
          </a:bodyPr>
          <a:lstStyle/>
          <a:p>
            <a:pPr marL="109728" indent="0">
              <a:spcAft>
                <a:spcPts val="1200"/>
              </a:spcAft>
              <a:buNone/>
            </a:pPr>
            <a:r>
              <a:rPr lang="en-US" b="1" dirty="0"/>
              <a:t>Need of probabilistic reasoning in AI</a:t>
            </a:r>
            <a:r>
              <a:rPr lang="en-US" b="1" dirty="0" smtClean="0"/>
              <a:t>:</a:t>
            </a:r>
          </a:p>
          <a:p>
            <a:r>
              <a:rPr lang="en-US" dirty="0" smtClean="0"/>
              <a:t>When </a:t>
            </a:r>
            <a:r>
              <a:rPr lang="en-US" dirty="0"/>
              <a:t>there are </a:t>
            </a:r>
            <a:r>
              <a:rPr lang="en-US" b="1" dirty="0"/>
              <a:t>unpredictable</a:t>
            </a:r>
            <a:r>
              <a:rPr lang="en-US" dirty="0"/>
              <a:t> outcomes. </a:t>
            </a:r>
          </a:p>
          <a:p>
            <a:r>
              <a:rPr lang="en-US" dirty="0"/>
              <a:t>When specifications or </a:t>
            </a:r>
            <a:r>
              <a:rPr lang="en-US" b="1" dirty="0"/>
              <a:t>possibilities</a:t>
            </a:r>
            <a:r>
              <a:rPr lang="en-US" dirty="0"/>
              <a:t> of predicates becomes too </a:t>
            </a:r>
            <a:r>
              <a:rPr lang="en-US" b="1" dirty="0"/>
              <a:t>large</a:t>
            </a:r>
            <a:r>
              <a:rPr lang="en-US" dirty="0"/>
              <a:t> to handle.</a:t>
            </a:r>
          </a:p>
          <a:p>
            <a:r>
              <a:rPr lang="en-US" dirty="0"/>
              <a:t>When an unknown </a:t>
            </a:r>
            <a:r>
              <a:rPr lang="en-US" b="1" dirty="0"/>
              <a:t>error</a:t>
            </a:r>
            <a:r>
              <a:rPr lang="en-US" dirty="0"/>
              <a:t> occurs during an experiment.</a:t>
            </a:r>
          </a:p>
          <a:p>
            <a:pPr marL="639763" indent="-285750">
              <a:buNone/>
            </a:pPr>
            <a:endParaRPr lang="en-IN" b="1" dirty="0" smtClean="0"/>
          </a:p>
          <a:p>
            <a:r>
              <a:rPr lang="en-US" dirty="0"/>
              <a:t>In probabilistic reasoning, there are two ways to solve problems with uncertain knowledge:</a:t>
            </a:r>
          </a:p>
          <a:p>
            <a:pPr marL="1082675" indent="-285750"/>
            <a:r>
              <a:rPr lang="en-US" b="1" dirty="0"/>
              <a:t>Bayes' rule</a:t>
            </a:r>
            <a:endParaRPr lang="en-US" dirty="0"/>
          </a:p>
          <a:p>
            <a:pPr marL="1082675" indent="-285750"/>
            <a:r>
              <a:rPr lang="en-US" b="1" dirty="0"/>
              <a:t>Bayesian Statistics</a:t>
            </a:r>
            <a:endParaRPr lang="en-US" dirty="0"/>
          </a:p>
          <a:p>
            <a:pPr marL="1082675" indent="-285750">
              <a:buNone/>
            </a:pPr>
            <a:endParaRPr lang="en-IN" b="1" dirty="0"/>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12581096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a:t>
            </a:r>
          </a:p>
        </p:txBody>
      </p:sp>
      <p:sp>
        <p:nvSpPr>
          <p:cNvPr id="13315" name="Rectangle 3"/>
          <p:cNvSpPr>
            <a:spLocks noGrp="1" noChangeArrowheads="1"/>
          </p:cNvSpPr>
          <p:nvPr>
            <p:ph idx="1"/>
          </p:nvPr>
        </p:nvSpPr>
        <p:spPr>
          <a:xfrm>
            <a:off x="285720" y="1512168"/>
            <a:ext cx="8572560" cy="5229200"/>
          </a:xfrm>
        </p:spPr>
        <p:txBody>
          <a:bodyPr>
            <a:noAutofit/>
          </a:bodyPr>
          <a:lstStyle/>
          <a:p>
            <a:pPr marL="109728" indent="0">
              <a:buNone/>
            </a:pPr>
            <a:r>
              <a:rPr lang="en-US" dirty="0" smtClean="0"/>
              <a:t>Some </a:t>
            </a:r>
            <a:r>
              <a:rPr lang="en-US" dirty="0"/>
              <a:t>common terms:</a:t>
            </a:r>
          </a:p>
          <a:p>
            <a:r>
              <a:rPr lang="en-US" b="1" dirty="0"/>
              <a:t>Probability:</a:t>
            </a:r>
            <a:r>
              <a:rPr lang="en-US" dirty="0"/>
              <a:t> Probability can be defined as a chance that an uncertain event will occur. It is the numerical measure of the likelihood that an event will occur. The value of probability always remains between 0 and 1 that represent ideal uncertainties.</a:t>
            </a:r>
          </a:p>
          <a:p>
            <a:pPr marL="633413" indent="-279400">
              <a:spcBef>
                <a:spcPts val="1200"/>
              </a:spcBef>
            </a:pPr>
            <a:r>
              <a:rPr lang="en-US" i="1" dirty="0"/>
              <a:t>0 ≤ P(A) ≤ </a:t>
            </a:r>
            <a:r>
              <a:rPr lang="en-US" i="1" dirty="0" smtClean="0"/>
              <a:t>1    </a:t>
            </a:r>
          </a:p>
          <a:p>
            <a:pPr marL="633413" indent="-279400">
              <a:buNone/>
            </a:pPr>
            <a:r>
              <a:rPr lang="en-US" i="1" dirty="0"/>
              <a:t> </a:t>
            </a:r>
            <a:r>
              <a:rPr lang="en-US" i="1" dirty="0" smtClean="0"/>
              <a:t>      where</a:t>
            </a:r>
            <a:r>
              <a:rPr lang="en-US" i="1" dirty="0"/>
              <a:t> P(A) is the probability of an event A.  </a:t>
            </a:r>
          </a:p>
          <a:p>
            <a:pPr marL="633413" indent="-279400"/>
            <a:r>
              <a:rPr lang="en-US" i="1" dirty="0"/>
              <a:t>P(A) = </a:t>
            </a:r>
            <a:r>
              <a:rPr lang="en-US" i="1" dirty="0" smtClean="0"/>
              <a:t>0</a:t>
            </a:r>
          </a:p>
          <a:p>
            <a:pPr marL="354013" indent="0">
              <a:buNone/>
            </a:pPr>
            <a:r>
              <a:rPr lang="en-US" i="1" dirty="0"/>
              <a:t> </a:t>
            </a:r>
            <a:r>
              <a:rPr lang="en-US" i="1" dirty="0" smtClean="0"/>
              <a:t>           indicates</a:t>
            </a:r>
            <a:r>
              <a:rPr lang="en-US" i="1" dirty="0"/>
              <a:t> total uncertainty in an event A.   </a:t>
            </a:r>
          </a:p>
          <a:p>
            <a:pPr marL="633413" indent="-279400"/>
            <a:r>
              <a:rPr lang="en-US" i="1" dirty="0"/>
              <a:t>P(A) =1, indicates total certainty in an event A.  </a:t>
            </a:r>
            <a:r>
              <a:rPr lang="en-US" dirty="0"/>
              <a:t>  </a:t>
            </a:r>
          </a:p>
          <a:p>
            <a:pPr marL="639763" indent="-285750">
              <a:buNone/>
            </a:pPr>
            <a:endParaRPr lang="en-IN" b="1" dirty="0"/>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77302787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Probabilistic reasoning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6544" y="404664"/>
            <a:ext cx="3171960" cy="2497460"/>
          </a:xfrm>
          <a:prstGeom prst="rect">
            <a:avLst/>
          </a:prstGeom>
          <a:noFill/>
          <a:extLst>
            <a:ext uri="{909E8E84-426E-40DD-AFC4-6F175D3DCCD1}">
              <a14:hiddenFill xmlns:a14="http://schemas.microsoft.com/office/drawing/2010/main">
                <a:solidFill>
                  <a:srgbClr val="FFFFFF"/>
                </a:solidFill>
              </a14:hiddenFill>
            </a:ext>
          </a:extLst>
        </p:spPr>
      </p:pic>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Reasoning</a:t>
            </a:r>
          </a:p>
        </p:txBody>
      </p:sp>
      <p:sp>
        <p:nvSpPr>
          <p:cNvPr id="13315" name="Rectangle 3"/>
          <p:cNvSpPr>
            <a:spLocks noGrp="1" noChangeArrowheads="1"/>
          </p:cNvSpPr>
          <p:nvPr>
            <p:ph idx="1"/>
          </p:nvPr>
        </p:nvSpPr>
        <p:spPr>
          <a:xfrm>
            <a:off x="285720" y="1512168"/>
            <a:ext cx="8572560" cy="5229200"/>
          </a:xfrm>
        </p:spPr>
        <p:txBody>
          <a:bodyPr>
            <a:noAutofit/>
          </a:bodyPr>
          <a:lstStyle/>
          <a:p>
            <a:pPr marL="109728" indent="0">
              <a:buNone/>
            </a:pPr>
            <a:r>
              <a:rPr lang="en-US" dirty="0" smtClean="0"/>
              <a:t>We </a:t>
            </a:r>
            <a:r>
              <a:rPr lang="en-US" dirty="0"/>
              <a:t>can find the probability of an </a:t>
            </a:r>
            <a:r>
              <a:rPr lang="en-US" dirty="0" smtClean="0"/>
              <a:t>                          uncertain </a:t>
            </a:r>
            <a:r>
              <a:rPr lang="en-US" dirty="0"/>
              <a:t>event by using the below </a:t>
            </a:r>
            <a:r>
              <a:rPr lang="en-US" dirty="0" smtClean="0"/>
              <a:t>                         formula</a:t>
            </a:r>
            <a:r>
              <a:rPr lang="en-US" dirty="0"/>
              <a:t>.</a:t>
            </a:r>
          </a:p>
          <a:p>
            <a:pPr marL="109728" indent="0">
              <a:buNone/>
            </a:pPr>
            <a:endParaRPr lang="en-US" dirty="0" smtClean="0"/>
          </a:p>
          <a:p>
            <a:pPr>
              <a:spcBef>
                <a:spcPts val="1200"/>
              </a:spcBef>
            </a:pPr>
            <a:r>
              <a:rPr lang="en-US" dirty="0" smtClean="0"/>
              <a:t>Let's </a:t>
            </a:r>
            <a:r>
              <a:rPr lang="en-US" dirty="0"/>
              <a:t>suppose, we want to calculate the event A when event B has already occurred, "the probability of A under the conditions of B", it can be written as</a:t>
            </a:r>
            <a:r>
              <a:rPr lang="en-US" dirty="0" smtClean="0"/>
              <a:t>:</a:t>
            </a:r>
          </a:p>
          <a:p>
            <a:endParaRPr lang="en-US" dirty="0"/>
          </a:p>
          <a:p>
            <a:pPr marL="722313" lvl="1" indent="0">
              <a:buNone/>
            </a:pPr>
            <a:r>
              <a:rPr lang="en-US" dirty="0"/>
              <a:t>Where P(</a:t>
            </a:r>
            <a:r>
              <a:rPr lang="en-US" i="1" dirty="0"/>
              <a:t>A</a:t>
            </a:r>
            <a:r>
              <a:rPr lang="en-US" dirty="0"/>
              <a:t>⋀</a:t>
            </a:r>
            <a:r>
              <a:rPr lang="en-US" i="1" dirty="0"/>
              <a:t>B</a:t>
            </a:r>
            <a:r>
              <a:rPr lang="en-US" dirty="0"/>
              <a:t>)= Joint probability of a and B</a:t>
            </a:r>
          </a:p>
          <a:p>
            <a:pPr marL="722313" lvl="1" indent="0">
              <a:buNone/>
            </a:pPr>
            <a:r>
              <a:rPr lang="en-US" dirty="0"/>
              <a:t>P(B)= Marginal probability of B. </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pic>
        <p:nvPicPr>
          <p:cNvPr id="2050" name="Picture 2" descr="Probabilistic reasoning in Artificial intelli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492896"/>
            <a:ext cx="4152900"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babilistic reasoning in Artificial intellige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9082" y="5228746"/>
            <a:ext cx="1598290" cy="61607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708038" y="404664"/>
            <a:ext cx="1628972" cy="369332"/>
          </a:xfrm>
          <a:prstGeom prst="rect">
            <a:avLst/>
          </a:prstGeom>
          <a:noFill/>
        </p:spPr>
        <p:txBody>
          <a:bodyPr wrap="none" rtlCol="0">
            <a:spAutoFit/>
          </a:bodyPr>
          <a:lstStyle/>
          <a:p>
            <a:r>
              <a:rPr lang="en-IN" dirty="0"/>
              <a:t>Venn diagram</a:t>
            </a:r>
          </a:p>
        </p:txBody>
      </p:sp>
    </p:spTree>
    <p:extLst>
      <p:ext uri="{BB962C8B-B14F-4D97-AF65-F5344CB8AC3E}">
        <p14:creationId xmlns:p14="http://schemas.microsoft.com/office/powerpoint/2010/main" val="80577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nodeType="withEffect">
                                  <p:stCondLst>
                                    <p:cond delay="0"/>
                                  </p:stCondLst>
                                  <p:childTnLst>
                                    <p:set>
                                      <p:cBhvr>
                                        <p:cTn id="9" dur="1" fill="hold">
                                          <p:stCondLst>
                                            <p:cond delay="0"/>
                                          </p:stCondLst>
                                        </p:cTn>
                                        <p:tgtEl>
                                          <p:spTgt spid="2054"/>
                                        </p:tgtEl>
                                        <p:attrNameLst>
                                          <p:attrName>style.visibility</p:attrName>
                                        </p:attrNameLst>
                                      </p:cBhvr>
                                      <p:to>
                                        <p:strVal val="visible"/>
                                      </p:to>
                                    </p:set>
                                    <p:animEffect transition="in" filter="wipe(down)">
                                      <p:cBhvr>
                                        <p:cTn id="10"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Probabilistic </a:t>
            </a:r>
            <a:r>
              <a:rPr lang="en-US" sz="3200" b="1" dirty="0" smtClean="0"/>
              <a:t>Reasoning : </a:t>
            </a:r>
            <a:r>
              <a:rPr lang="en-US" sz="3200" b="1" dirty="0"/>
              <a:t>Example</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sz="2400" dirty="0" smtClean="0"/>
              <a:t>In </a:t>
            </a:r>
            <a:r>
              <a:rPr lang="en-US" sz="2400" dirty="0"/>
              <a:t>a class, there are 70% of the students who like English and 40% of the students who likes English and mathematics, and then what is the percent of students those who like English also like mathematics?</a:t>
            </a:r>
          </a:p>
          <a:p>
            <a:r>
              <a:rPr lang="en-US" b="1" dirty="0"/>
              <a:t>Solution:</a:t>
            </a:r>
            <a:endParaRPr lang="en-US" dirty="0"/>
          </a:p>
          <a:p>
            <a:r>
              <a:rPr lang="en-US" dirty="0"/>
              <a:t>Let, A is an event that a student likes Mathematics</a:t>
            </a:r>
          </a:p>
          <a:p>
            <a:r>
              <a:rPr lang="en-US" dirty="0"/>
              <a:t>B is an event that a student likes English. </a:t>
            </a:r>
            <a:endParaRPr lang="en-US" dirty="0" smtClean="0"/>
          </a:p>
          <a:p>
            <a:endParaRPr lang="en-US" dirty="0"/>
          </a:p>
          <a:p>
            <a:endParaRPr lang="en-US" dirty="0" smtClean="0"/>
          </a:p>
          <a:p>
            <a:r>
              <a:rPr lang="en-US" dirty="0" smtClean="0"/>
              <a:t>Hence</a:t>
            </a:r>
            <a:r>
              <a:rPr lang="en-US" dirty="0"/>
              <a:t>, 57% are the students who like English also like Mathematics. </a:t>
            </a:r>
          </a:p>
          <a:p>
            <a:pPr marL="639763" indent="-285750">
              <a:buNone/>
            </a:pPr>
            <a:endParaRPr lang="en-IN" b="1" dirty="0"/>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pic>
        <p:nvPicPr>
          <p:cNvPr id="3074" name="Picture 2" descr="Probabilistic reasoning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599409"/>
            <a:ext cx="2664296" cy="845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5855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Bayes' </a:t>
            </a:r>
            <a:r>
              <a:rPr lang="en-US" sz="3200" b="1" dirty="0" smtClean="0"/>
              <a:t> Theorem </a:t>
            </a:r>
            <a:endParaRPr lang="en-US" sz="3200" b="1" dirty="0"/>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Bayes</a:t>
            </a:r>
            <a:r>
              <a:rPr lang="en-US" dirty="0"/>
              <a:t>' theorem is also known as </a:t>
            </a:r>
            <a:r>
              <a:rPr lang="en-US" b="1" dirty="0"/>
              <a:t>Bayes' rule, Bayes' law</a:t>
            </a:r>
            <a:r>
              <a:rPr lang="en-US" dirty="0"/>
              <a:t>, or </a:t>
            </a:r>
            <a:r>
              <a:rPr lang="en-US" b="1" dirty="0"/>
              <a:t>Bayesian reasoning</a:t>
            </a:r>
            <a:r>
              <a:rPr lang="en-US" dirty="0"/>
              <a:t>, which determines the </a:t>
            </a:r>
            <a:r>
              <a:rPr lang="en-US" b="1" dirty="0"/>
              <a:t>probability</a:t>
            </a:r>
            <a:r>
              <a:rPr lang="en-US" dirty="0"/>
              <a:t> of an </a:t>
            </a:r>
            <a:r>
              <a:rPr lang="en-US" b="1" dirty="0"/>
              <a:t>event</a:t>
            </a:r>
            <a:r>
              <a:rPr lang="en-US" dirty="0"/>
              <a:t> with </a:t>
            </a:r>
            <a:r>
              <a:rPr lang="en-US" b="1" dirty="0"/>
              <a:t>uncertain</a:t>
            </a:r>
            <a:r>
              <a:rPr lang="en-US" dirty="0"/>
              <a:t> knowledge.</a:t>
            </a:r>
          </a:p>
          <a:p>
            <a:r>
              <a:rPr lang="en-US" dirty="0"/>
              <a:t>In probability theory, it relates the </a:t>
            </a:r>
            <a:r>
              <a:rPr lang="en-US" b="1" dirty="0"/>
              <a:t>conditional</a:t>
            </a:r>
            <a:r>
              <a:rPr lang="en-US" dirty="0"/>
              <a:t> probability and </a:t>
            </a:r>
            <a:r>
              <a:rPr lang="en-US" b="1" dirty="0"/>
              <a:t>marginal</a:t>
            </a:r>
            <a:r>
              <a:rPr lang="en-US" dirty="0"/>
              <a:t> probabilities of two random events. </a:t>
            </a:r>
          </a:p>
          <a:p>
            <a:r>
              <a:rPr lang="en-US" dirty="0"/>
              <a:t>Bayes' theorem was named after the British mathematician </a:t>
            </a:r>
            <a:r>
              <a:rPr lang="en-US" b="1" dirty="0"/>
              <a:t>Thomas Bayes</a:t>
            </a:r>
            <a:r>
              <a:rPr lang="en-US" dirty="0"/>
              <a:t>. </a:t>
            </a:r>
            <a:endParaRPr lang="en-US" dirty="0" smtClean="0"/>
          </a:p>
          <a:p>
            <a:r>
              <a:rPr lang="en-US" dirty="0" smtClean="0"/>
              <a:t>The </a:t>
            </a:r>
            <a:r>
              <a:rPr lang="en-US" b="1" dirty="0"/>
              <a:t>Bayesian inference</a:t>
            </a:r>
            <a:r>
              <a:rPr lang="en-US" dirty="0"/>
              <a:t> is an application of Bayes' theorem, which is fundamental to Bayesian statistics. </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29603073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Bayes' </a:t>
            </a:r>
            <a:r>
              <a:rPr lang="en-US" sz="3200" b="1" dirty="0" smtClean="0"/>
              <a:t> Theorem </a:t>
            </a:r>
            <a:endParaRPr lang="en-US" sz="3200" b="1" dirty="0"/>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a:t>It is a way to calculate the value of P(B|A) with the knowledge of P(A|B). </a:t>
            </a:r>
            <a:r>
              <a:rPr lang="en-US" dirty="0" smtClean="0"/>
              <a:t>  </a:t>
            </a:r>
            <a:r>
              <a:rPr lang="en-US" sz="1800" i="1" dirty="0" smtClean="0">
                <a:solidFill>
                  <a:srgbClr val="FF0000"/>
                </a:solidFill>
              </a:rPr>
              <a:t>probability </a:t>
            </a:r>
            <a:r>
              <a:rPr lang="en-US" sz="1800" i="1" dirty="0">
                <a:solidFill>
                  <a:srgbClr val="FF0000"/>
                </a:solidFill>
              </a:rPr>
              <a:t>of B given </a:t>
            </a:r>
            <a:r>
              <a:rPr lang="en-US" sz="1800" i="1" dirty="0" smtClean="0">
                <a:solidFill>
                  <a:srgbClr val="FF0000"/>
                </a:solidFill>
              </a:rPr>
              <a:t>A </a:t>
            </a:r>
            <a:r>
              <a:rPr lang="en-US" sz="1800" i="1" dirty="0">
                <a:solidFill>
                  <a:srgbClr val="FF0000"/>
                </a:solidFill>
                <a:sym typeface="Wingdings" pitchFamily="2" charset="2"/>
              </a:rPr>
              <a:t> </a:t>
            </a:r>
            <a:r>
              <a:rPr lang="en-US" sz="1800" i="1" dirty="0" smtClean="0">
                <a:solidFill>
                  <a:srgbClr val="FF0000"/>
                </a:solidFill>
                <a:sym typeface="Wingdings" pitchFamily="2" charset="2"/>
              </a:rPr>
              <a:t> A|B</a:t>
            </a:r>
            <a:endParaRPr lang="en-US" sz="1800" i="1" dirty="0">
              <a:solidFill>
                <a:srgbClr val="FF0000"/>
              </a:solidFill>
            </a:endParaRPr>
          </a:p>
          <a:p>
            <a:r>
              <a:rPr lang="en-US" dirty="0"/>
              <a:t>Bayes' theorem allows updating the probability </a:t>
            </a:r>
            <a:r>
              <a:rPr lang="en-US" b="1" dirty="0"/>
              <a:t>prediction</a:t>
            </a:r>
            <a:r>
              <a:rPr lang="en-US" dirty="0"/>
              <a:t> of an event by observing new information of the real world. </a:t>
            </a:r>
          </a:p>
          <a:p>
            <a:pPr marL="109728" indent="0">
              <a:buNone/>
            </a:pPr>
            <a:r>
              <a:rPr lang="en-US" b="1" dirty="0" smtClean="0"/>
              <a:t>Example</a:t>
            </a:r>
            <a:r>
              <a:rPr lang="en-US" dirty="0"/>
              <a:t>: </a:t>
            </a:r>
            <a:endParaRPr lang="en-US" dirty="0" smtClean="0"/>
          </a:p>
          <a:p>
            <a:r>
              <a:rPr lang="en-US" dirty="0" smtClean="0"/>
              <a:t>If </a:t>
            </a:r>
            <a:r>
              <a:rPr lang="en-US" dirty="0"/>
              <a:t>cancer corresponds to one's age then by using Bayes' theorem, we can determine the probability of cancer more accurately with the help of </a:t>
            </a:r>
            <a:r>
              <a:rPr lang="en-US" dirty="0" smtClean="0"/>
              <a:t>age.</a:t>
            </a:r>
          </a:p>
          <a:p>
            <a:r>
              <a:rPr lang="en-US" dirty="0"/>
              <a:t>Bayes' theorem can be derived using product rule and conditional probability of event A with known event B:</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85128256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Bayes' </a:t>
            </a:r>
            <a:r>
              <a:rPr lang="en-US" sz="3200" b="1" dirty="0" smtClean="0"/>
              <a:t> Theorem </a:t>
            </a:r>
            <a:endParaRPr lang="en-US" sz="3200" b="1" dirty="0"/>
          </a:p>
        </p:txBody>
      </p:sp>
      <p:sp>
        <p:nvSpPr>
          <p:cNvPr id="13315" name="Rectangle 3"/>
          <p:cNvSpPr>
            <a:spLocks noGrp="1" noChangeArrowheads="1"/>
          </p:cNvSpPr>
          <p:nvPr>
            <p:ph idx="1"/>
          </p:nvPr>
        </p:nvSpPr>
        <p:spPr>
          <a:xfrm>
            <a:off x="285720" y="1512168"/>
            <a:ext cx="8572560" cy="5229200"/>
          </a:xfrm>
        </p:spPr>
        <p:txBody>
          <a:bodyPr>
            <a:noAutofit/>
          </a:bodyPr>
          <a:lstStyle/>
          <a:p>
            <a:pPr marL="109728" indent="0">
              <a:buNone/>
            </a:pPr>
            <a:r>
              <a:rPr lang="en-US" dirty="0"/>
              <a:t>As from product rule we can write:</a:t>
            </a:r>
          </a:p>
          <a:p>
            <a:r>
              <a:rPr lang="en-US" dirty="0"/>
              <a:t>P(A ⋀ B)= P(A|B) P(B) or  </a:t>
            </a:r>
          </a:p>
          <a:p>
            <a:pPr marL="109728" indent="0">
              <a:buNone/>
            </a:pPr>
            <a:r>
              <a:rPr lang="en-US" dirty="0"/>
              <a:t>Similarly, the probability of event B with known event A:</a:t>
            </a:r>
          </a:p>
          <a:p>
            <a:r>
              <a:rPr lang="en-US" dirty="0"/>
              <a:t>P(A ⋀ B)= P(B|A) P(A)</a:t>
            </a:r>
          </a:p>
          <a:p>
            <a:pPr marL="109728" indent="0">
              <a:buNone/>
            </a:pPr>
            <a:r>
              <a:rPr lang="en-US" dirty="0"/>
              <a:t>Equating right hand side of both the equations, we will get</a:t>
            </a:r>
            <a:r>
              <a:rPr lang="en-US" dirty="0" smtClean="0"/>
              <a:t>:</a:t>
            </a:r>
          </a:p>
          <a:p>
            <a:pPr marL="109728" indent="0">
              <a:buNone/>
            </a:pPr>
            <a:endParaRPr lang="en-US" dirty="0"/>
          </a:p>
          <a:p>
            <a:pPr marL="109728" indent="0">
              <a:spcBef>
                <a:spcPts val="1200"/>
              </a:spcBef>
              <a:buNone/>
            </a:pPr>
            <a:r>
              <a:rPr lang="en-US" dirty="0" smtClean="0"/>
              <a:t>The </a:t>
            </a:r>
            <a:r>
              <a:rPr lang="en-US" dirty="0"/>
              <a:t>above equation (a) is called as </a:t>
            </a:r>
            <a:r>
              <a:rPr lang="en-US" b="1" dirty="0"/>
              <a:t>Bayes' rule</a:t>
            </a:r>
            <a:r>
              <a:rPr lang="en-US" dirty="0"/>
              <a:t> or</a:t>
            </a:r>
            <a:r>
              <a:rPr lang="en-US" b="1" dirty="0"/>
              <a:t> Bayes' theorem</a:t>
            </a:r>
            <a:r>
              <a:rPr lang="en-US" dirty="0"/>
              <a:t>. This equation is basic of most modern AI systems for </a:t>
            </a:r>
            <a:r>
              <a:rPr lang="en-US" b="1" dirty="0"/>
              <a:t>probabilistic inference</a:t>
            </a:r>
            <a:r>
              <a:rPr lang="en-US" dirty="0"/>
              <a:t>.</a:t>
            </a:r>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pic>
        <p:nvPicPr>
          <p:cNvPr id="20482" name="Picture 2" descr="Bayes theorem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4263752"/>
            <a:ext cx="3257550" cy="1109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2471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Bayes' </a:t>
            </a:r>
            <a:r>
              <a:rPr lang="en-US" sz="3200" b="1" dirty="0" smtClean="0"/>
              <a:t> Theorem </a:t>
            </a:r>
            <a:endParaRPr lang="en-US" sz="3200" b="1" dirty="0"/>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a:t>It shows the simple relationship between joint and conditional probabilities. Here, </a:t>
            </a:r>
          </a:p>
          <a:p>
            <a:r>
              <a:rPr lang="en-US" dirty="0"/>
              <a:t>P(A|B) is known as </a:t>
            </a:r>
            <a:r>
              <a:rPr lang="en-US" b="1" dirty="0"/>
              <a:t>posterior</a:t>
            </a:r>
            <a:r>
              <a:rPr lang="en-US" dirty="0"/>
              <a:t>, which we need to calculate, and it will be read as Probability of hypothesis A when we have occurred an evidence B. </a:t>
            </a:r>
          </a:p>
          <a:p>
            <a:r>
              <a:rPr lang="en-US" dirty="0"/>
              <a:t>P(B|A) is called the likelihood, in which we consider that hypothesis is true, then we calculate the probability of evidence. P(A) is called the </a:t>
            </a:r>
            <a:r>
              <a:rPr lang="en-US" b="1" dirty="0"/>
              <a:t>prior probability</a:t>
            </a:r>
            <a:r>
              <a:rPr lang="en-US" dirty="0"/>
              <a:t>, probability of hypothesis before considering the evidence</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Tree>
    <p:extLst>
      <p:ext uri="{BB962C8B-B14F-4D97-AF65-F5344CB8AC3E}">
        <p14:creationId xmlns:p14="http://schemas.microsoft.com/office/powerpoint/2010/main" val="39389894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Bayes' </a:t>
            </a:r>
            <a:r>
              <a:rPr lang="en-US" sz="3200" b="1" dirty="0" smtClean="0"/>
              <a:t> Theorem </a:t>
            </a:r>
            <a:endParaRPr lang="en-US" sz="3200" b="1" dirty="0"/>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P(B</a:t>
            </a:r>
            <a:r>
              <a:rPr lang="en-US" dirty="0"/>
              <a:t>) is called </a:t>
            </a:r>
            <a:r>
              <a:rPr lang="en-US" b="1" dirty="0"/>
              <a:t>marginal probability</a:t>
            </a:r>
            <a:r>
              <a:rPr lang="en-US" dirty="0"/>
              <a:t>, pure probability of an evidence. </a:t>
            </a:r>
          </a:p>
          <a:p>
            <a:r>
              <a:rPr lang="en-US" dirty="0"/>
              <a:t>In the equation (a), in general, we can write P (B) = P(A)*P(</a:t>
            </a:r>
            <a:r>
              <a:rPr lang="en-US" dirty="0" err="1"/>
              <a:t>B|Ai</a:t>
            </a:r>
            <a:r>
              <a:rPr lang="en-US" dirty="0"/>
              <a:t>), hence the Bayes' rule can be written as</a:t>
            </a:r>
            <a:r>
              <a:rPr lang="en-US" dirty="0" smtClean="0"/>
              <a:t>:</a:t>
            </a:r>
          </a:p>
          <a:p>
            <a:endParaRPr lang="en-US" dirty="0"/>
          </a:p>
          <a:p>
            <a:endParaRPr lang="en-US" dirty="0" smtClean="0"/>
          </a:p>
          <a:p>
            <a:r>
              <a:rPr lang="en-US" dirty="0"/>
              <a:t>Where A</a:t>
            </a:r>
            <a:r>
              <a:rPr lang="en-US" baseline="-25000" dirty="0"/>
              <a:t>1</a:t>
            </a:r>
            <a:r>
              <a:rPr lang="en-US" dirty="0"/>
              <a:t>, A</a:t>
            </a:r>
            <a:r>
              <a:rPr lang="en-US" baseline="-25000" dirty="0"/>
              <a:t>2</a:t>
            </a:r>
            <a:r>
              <a:rPr lang="en-US" dirty="0"/>
              <a:t>, A</a:t>
            </a:r>
            <a:r>
              <a:rPr lang="en-US" baseline="-25000" dirty="0"/>
              <a:t>3</a:t>
            </a:r>
            <a:r>
              <a:rPr lang="en-US" dirty="0"/>
              <a:t>,........, A</a:t>
            </a:r>
            <a:r>
              <a:rPr lang="en-US" baseline="-25000" dirty="0"/>
              <a:t>n</a:t>
            </a:r>
            <a:r>
              <a:rPr lang="en-US" dirty="0"/>
              <a:t> is a set of mutually exclusive and exhaustive events.</a:t>
            </a:r>
          </a:p>
          <a:p>
            <a:pPr marL="109728" indent="0">
              <a:buNone/>
            </a:pP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6" name="Rectangle 3"/>
          <p:cNvSpPr txBox="1">
            <a:spLocks noChangeArrowheads="1"/>
          </p:cNvSpPr>
          <p:nvPr/>
        </p:nvSpPr>
        <p:spPr>
          <a:xfrm>
            <a:off x="395536" y="1412776"/>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sp>
        <p:nvSpPr>
          <p:cNvPr id="7" name="Rectangle 3"/>
          <p:cNvSpPr txBox="1">
            <a:spLocks noChangeArrowheads="1"/>
          </p:cNvSpPr>
          <p:nvPr/>
        </p:nvSpPr>
        <p:spPr>
          <a:xfrm>
            <a:off x="251520" y="1484784"/>
            <a:ext cx="8572560" cy="5229200"/>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Font typeface="Georgia"/>
              <a:buNone/>
            </a:pPr>
            <a:endParaRPr lang="en-US" dirty="0"/>
          </a:p>
        </p:txBody>
      </p:sp>
      <p:pic>
        <p:nvPicPr>
          <p:cNvPr id="22530" name="Picture 2" descr="Bayes theorem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966" y="3293950"/>
            <a:ext cx="3589282" cy="1359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998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Applying Bayes' rule</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Bayes</a:t>
            </a:r>
            <a:r>
              <a:rPr lang="en-US" dirty="0"/>
              <a:t>' rule allows us to compute the single term P(B|A) in terms of P(A|B), P(</a:t>
            </a:r>
            <a:r>
              <a:rPr lang="en-US" i="1" dirty="0"/>
              <a:t>B</a:t>
            </a:r>
            <a:r>
              <a:rPr lang="en-US" dirty="0"/>
              <a:t>), and P(A). This is very useful in cases where we have a good probability of these three terms and want to determine the fourth one. </a:t>
            </a:r>
            <a:endParaRPr lang="en-US" dirty="0" smtClean="0"/>
          </a:p>
          <a:p>
            <a:r>
              <a:rPr lang="en-US" dirty="0" smtClean="0"/>
              <a:t>Suppose </a:t>
            </a:r>
            <a:r>
              <a:rPr lang="en-US" dirty="0"/>
              <a:t>we want to perceive the effect of some unknown cause, and want to compute that cause, then the Bayes' rule becomes:</a:t>
            </a: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3554" name="Picture 2" descr="Bayes theorem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5085184"/>
            <a:ext cx="4104456" cy="1171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22949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Applying Bayes' rule</a:t>
            </a:r>
          </a:p>
        </p:txBody>
      </p:sp>
      <p:sp>
        <p:nvSpPr>
          <p:cNvPr id="13315" name="Rectangle 3"/>
          <p:cNvSpPr>
            <a:spLocks noGrp="1" noChangeArrowheads="1"/>
          </p:cNvSpPr>
          <p:nvPr>
            <p:ph idx="1"/>
          </p:nvPr>
        </p:nvSpPr>
        <p:spPr>
          <a:xfrm>
            <a:off x="285720" y="1340768"/>
            <a:ext cx="8572560" cy="5229200"/>
          </a:xfrm>
        </p:spPr>
        <p:txBody>
          <a:bodyPr>
            <a:noAutofit/>
          </a:bodyPr>
          <a:lstStyle/>
          <a:p>
            <a:pPr marL="109728" indent="0">
              <a:buNone/>
            </a:pPr>
            <a:r>
              <a:rPr lang="en-US" b="1" dirty="0"/>
              <a:t>Example-1:</a:t>
            </a:r>
            <a:endParaRPr lang="en-US" dirty="0"/>
          </a:p>
          <a:p>
            <a:r>
              <a:rPr lang="en-US" dirty="0"/>
              <a:t>Question: what is the probability that a patient has diseases meningitis with a stiff neck?</a:t>
            </a:r>
          </a:p>
          <a:p>
            <a:r>
              <a:rPr lang="en-US" b="1" dirty="0"/>
              <a:t>Given Data:</a:t>
            </a:r>
            <a:endParaRPr lang="en-US" dirty="0"/>
          </a:p>
          <a:p>
            <a:r>
              <a:rPr lang="en-US" dirty="0"/>
              <a:t>A doctor is aware that disease meningitis causes a patient to have a stiff neck, and it occurs 80% of the time. He is also aware of some more facts, which are given as follows:</a:t>
            </a:r>
          </a:p>
          <a:p>
            <a:r>
              <a:rPr lang="en-US" dirty="0"/>
              <a:t>The Known probability that a patient has meningitis disease is 1/30,000.</a:t>
            </a:r>
          </a:p>
          <a:p>
            <a:r>
              <a:rPr lang="en-US" dirty="0"/>
              <a:t>The Known probability that a patient has a stiff neck is 2</a:t>
            </a:r>
            <a:r>
              <a:rPr lang="en-US" dirty="0" smtClean="0"/>
              <a:t>%.</a:t>
            </a:r>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264225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Applying Bayes' rule</a:t>
            </a:r>
          </a:p>
        </p:txBody>
      </p:sp>
      <p:sp>
        <p:nvSpPr>
          <p:cNvPr id="13315" name="Rectangle 3"/>
          <p:cNvSpPr>
            <a:spLocks noGrp="1" noChangeArrowheads="1"/>
          </p:cNvSpPr>
          <p:nvPr>
            <p:ph idx="1"/>
          </p:nvPr>
        </p:nvSpPr>
        <p:spPr>
          <a:xfrm>
            <a:off x="285720" y="1512168"/>
            <a:ext cx="8572560" cy="5229200"/>
          </a:xfrm>
        </p:spPr>
        <p:txBody>
          <a:bodyPr>
            <a:noAutofit/>
          </a:bodyPr>
          <a:lstStyle/>
          <a:p>
            <a:r>
              <a:rPr lang="en-US" dirty="0" smtClean="0"/>
              <a:t>Let </a:t>
            </a:r>
            <a:r>
              <a:rPr lang="en-US" dirty="0"/>
              <a:t>a be the proposition that patient has stiff neck and b be the proposition that patient has meningitis. , so we can calculate the following as:</a:t>
            </a:r>
          </a:p>
          <a:p>
            <a:r>
              <a:rPr lang="en-US" dirty="0"/>
              <a:t>P(</a:t>
            </a:r>
            <a:r>
              <a:rPr lang="en-US" dirty="0" err="1"/>
              <a:t>a|b</a:t>
            </a:r>
            <a:r>
              <a:rPr lang="en-US" dirty="0"/>
              <a:t>) = </a:t>
            </a:r>
            <a:r>
              <a:rPr lang="en-US" dirty="0" smtClean="0"/>
              <a:t>0.8</a:t>
            </a:r>
          </a:p>
          <a:p>
            <a:r>
              <a:rPr lang="en-US" dirty="0"/>
              <a:t>P(b) = 1/30000</a:t>
            </a:r>
          </a:p>
          <a:p>
            <a:r>
              <a:rPr lang="en-US" dirty="0"/>
              <a:t>P(a)= .</a:t>
            </a:r>
            <a:r>
              <a:rPr lang="en-US" dirty="0" smtClean="0"/>
              <a:t>02</a:t>
            </a:r>
          </a:p>
          <a:p>
            <a:endParaRPr lang="en-US" dirty="0"/>
          </a:p>
          <a:p>
            <a:endParaRPr lang="en-US" dirty="0"/>
          </a:p>
          <a:p>
            <a:r>
              <a:rPr lang="en-US" dirty="0"/>
              <a:t>Hence, we can assume that 1 patient out of 750 patients has meningitis disease with a stiff neck. </a:t>
            </a:r>
          </a:p>
          <a:p>
            <a:endParaRPr lang="en-US" dirty="0"/>
          </a:p>
          <a:p>
            <a:endParaRPr lang="en-US" dirty="0"/>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4578" name="Picture 2" descr="Bayes theorem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861048"/>
            <a:ext cx="3970015" cy="1368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58915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Bayes theorem in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3068960"/>
            <a:ext cx="3238500" cy="864096"/>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Bayes theorem in Artificial intelli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7398" y="5949280"/>
            <a:ext cx="6268938" cy="861386"/>
          </a:xfrm>
          <a:prstGeom prst="rect">
            <a:avLst/>
          </a:prstGeom>
          <a:noFill/>
          <a:extLst>
            <a:ext uri="{909E8E84-426E-40DD-AFC4-6F175D3DCCD1}">
              <a14:hiddenFill xmlns:a14="http://schemas.microsoft.com/office/drawing/2010/main">
                <a:solidFill>
                  <a:srgbClr val="FFFFFF"/>
                </a:solidFill>
              </a14:hiddenFill>
            </a:ext>
          </a:extLst>
        </p:spPr>
      </p:pic>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Applying Bayes' rule</a:t>
            </a:r>
          </a:p>
        </p:txBody>
      </p:sp>
      <p:sp>
        <p:nvSpPr>
          <p:cNvPr id="13315" name="Rectangle 3"/>
          <p:cNvSpPr>
            <a:spLocks noGrp="1" noChangeArrowheads="1"/>
          </p:cNvSpPr>
          <p:nvPr>
            <p:ph idx="1"/>
          </p:nvPr>
        </p:nvSpPr>
        <p:spPr>
          <a:xfrm>
            <a:off x="285720" y="1340768"/>
            <a:ext cx="8572560" cy="5229200"/>
          </a:xfrm>
        </p:spPr>
        <p:txBody>
          <a:bodyPr>
            <a:noAutofit/>
          </a:bodyPr>
          <a:lstStyle/>
          <a:p>
            <a:pPr marL="109728" indent="0">
              <a:buNone/>
            </a:pPr>
            <a:r>
              <a:rPr lang="en-US" sz="2400" b="1" dirty="0"/>
              <a:t>Example-2:</a:t>
            </a:r>
            <a:endParaRPr lang="en-US" sz="2400" dirty="0"/>
          </a:p>
          <a:p>
            <a:r>
              <a:rPr lang="en-US" sz="2400" i="1" dirty="0"/>
              <a:t>Question: From a standard deck of playing cards, a single card is drawn. The probability that the card is king is 4/52, then calculate posterior probability P(</a:t>
            </a:r>
            <a:r>
              <a:rPr lang="en-US" sz="2400" i="1" dirty="0" err="1"/>
              <a:t>King|Face</a:t>
            </a:r>
            <a:r>
              <a:rPr lang="en-US" sz="2400" i="1" dirty="0"/>
              <a:t>), which means the drawn face card is a king card</a:t>
            </a:r>
            <a:r>
              <a:rPr lang="en-US" sz="2400" i="1" dirty="0" smtClean="0"/>
              <a:t>.</a:t>
            </a:r>
          </a:p>
          <a:p>
            <a:endParaRPr lang="en-US" i="1" dirty="0"/>
          </a:p>
          <a:p>
            <a:pPr>
              <a:spcBef>
                <a:spcPts val="1200"/>
              </a:spcBef>
            </a:pPr>
            <a:r>
              <a:rPr lang="en-US" sz="2400" dirty="0" smtClean="0"/>
              <a:t>P(king</a:t>
            </a:r>
            <a:r>
              <a:rPr lang="en-US" sz="2400" dirty="0"/>
              <a:t>): probability that the card is King= 4/52= 1/13</a:t>
            </a:r>
          </a:p>
          <a:p>
            <a:r>
              <a:rPr lang="en-US" sz="2400" dirty="0"/>
              <a:t>P(face): probability that a card is a face card= 3/13 </a:t>
            </a:r>
          </a:p>
          <a:p>
            <a:r>
              <a:rPr lang="en-US" sz="2400" dirty="0"/>
              <a:t>P(</a:t>
            </a:r>
            <a:r>
              <a:rPr lang="en-US" sz="2400" dirty="0" err="1"/>
              <a:t>Face|King</a:t>
            </a:r>
            <a:r>
              <a:rPr lang="en-US" sz="2400" dirty="0"/>
              <a:t>): probability of face card when we assume it is a king = 1</a:t>
            </a:r>
          </a:p>
          <a:p>
            <a:r>
              <a:rPr lang="en-US" i="1" dirty="0" smtClean="0"/>
              <a:t> </a:t>
            </a:r>
            <a:r>
              <a:rPr lang="en-US" sz="2400" dirty="0"/>
              <a:t>Putting all values in equation (i) we will get:</a:t>
            </a:r>
            <a:endParaRPr lang="en-US" sz="2400" i="1" dirty="0"/>
          </a:p>
          <a:p>
            <a:endParaRPr lang="en-US" dirty="0"/>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044201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764704"/>
            <a:ext cx="8496944" cy="360040"/>
          </a:xfrm>
        </p:spPr>
        <p:txBody>
          <a:bodyPr>
            <a:noAutofit/>
          </a:bodyPr>
          <a:lstStyle/>
          <a:p>
            <a:r>
              <a:rPr lang="en-US" sz="3200" b="1" dirty="0"/>
              <a:t>Application of Bayes' theorem in Artificial </a:t>
            </a:r>
            <a:r>
              <a:rPr lang="en-US" sz="3200" b="1" dirty="0" smtClean="0"/>
              <a:t>Intelligence</a:t>
            </a:r>
            <a:endParaRPr lang="en-US" sz="3200" b="1" dirty="0"/>
          </a:p>
        </p:txBody>
      </p:sp>
      <p:sp>
        <p:nvSpPr>
          <p:cNvPr id="13315" name="Rectangle 3"/>
          <p:cNvSpPr>
            <a:spLocks noGrp="1" noChangeArrowheads="1"/>
          </p:cNvSpPr>
          <p:nvPr>
            <p:ph idx="1"/>
          </p:nvPr>
        </p:nvSpPr>
        <p:spPr>
          <a:xfrm>
            <a:off x="357728" y="1556792"/>
            <a:ext cx="8102704" cy="5229200"/>
          </a:xfrm>
        </p:spPr>
        <p:txBody>
          <a:bodyPr>
            <a:noAutofit/>
          </a:bodyPr>
          <a:lstStyle/>
          <a:p>
            <a:pPr marL="109728" indent="0">
              <a:buNone/>
            </a:pPr>
            <a:r>
              <a:rPr lang="en-US" sz="2400" b="1" dirty="0" smtClean="0"/>
              <a:t>Following </a:t>
            </a:r>
            <a:r>
              <a:rPr lang="en-US" sz="2400" b="1" dirty="0"/>
              <a:t>are some applications of Bayes' theorem:</a:t>
            </a:r>
            <a:endParaRPr lang="en-US" sz="2400" dirty="0"/>
          </a:p>
          <a:p>
            <a:r>
              <a:rPr lang="en-US" sz="2400" dirty="0"/>
              <a:t>It is used to calculate the next step of the robot when the already executed step is given. </a:t>
            </a:r>
          </a:p>
          <a:p>
            <a:r>
              <a:rPr lang="en-US" sz="2400" dirty="0"/>
              <a:t>Bayes' theorem is helpful in weather forecasting.</a:t>
            </a:r>
          </a:p>
          <a:p>
            <a:r>
              <a:rPr lang="en-US" sz="2400" dirty="0"/>
              <a:t>It can solve the Monty Hall problem. </a:t>
            </a:r>
          </a:p>
          <a:p>
            <a:endParaRPr lang="en-US" dirty="0"/>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754" y="5013176"/>
            <a:ext cx="3714750"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62302" y="4077072"/>
            <a:ext cx="4896544" cy="3139321"/>
          </a:xfrm>
          <a:prstGeom prst="rect">
            <a:avLst/>
          </a:prstGeom>
          <a:noFill/>
        </p:spPr>
        <p:txBody>
          <a:bodyPr wrap="square" rtlCol="0">
            <a:spAutoFit/>
          </a:bodyPr>
          <a:lstStyle/>
          <a:p>
            <a:r>
              <a:rPr lang="en-US" dirty="0"/>
              <a:t>The Monty Hall problem is a counter-intuitive statistics puzzle:</a:t>
            </a:r>
          </a:p>
          <a:p>
            <a:r>
              <a:rPr lang="en-US" dirty="0"/>
              <a:t>There are 3 doors, behind which are two goats and a car.</a:t>
            </a:r>
          </a:p>
          <a:p>
            <a:r>
              <a:rPr lang="en-US" dirty="0"/>
              <a:t>You pick a door (call it door A). You’re hoping for the car of course.</a:t>
            </a:r>
          </a:p>
          <a:p>
            <a:r>
              <a:rPr lang="en-US" dirty="0"/>
              <a:t>Monty Hall, the game show host, examines the other doors (B &amp; C) and opens one with a goat. (If both doors have goats, he picks randomly.)</a:t>
            </a:r>
          </a:p>
          <a:p>
            <a:endParaRPr lang="en-IN" dirty="0"/>
          </a:p>
        </p:txBody>
      </p:sp>
    </p:spTree>
    <p:extLst>
      <p:ext uri="{BB962C8B-B14F-4D97-AF65-F5344CB8AC3E}">
        <p14:creationId xmlns:p14="http://schemas.microsoft.com/office/powerpoint/2010/main" val="69514452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 Representation Issues</a:t>
            </a:r>
          </a:p>
        </p:txBody>
      </p:sp>
      <p:sp>
        <p:nvSpPr>
          <p:cNvPr id="13315" name="Rectangle 3"/>
          <p:cNvSpPr>
            <a:spLocks noGrp="1" noChangeArrowheads="1"/>
          </p:cNvSpPr>
          <p:nvPr>
            <p:ph idx="1"/>
          </p:nvPr>
        </p:nvSpPr>
        <p:spPr>
          <a:xfrm>
            <a:off x="285720" y="1484784"/>
            <a:ext cx="8572560" cy="5229200"/>
          </a:xfrm>
        </p:spPr>
        <p:txBody>
          <a:bodyPr>
            <a:noAutofit/>
          </a:bodyPr>
          <a:lstStyle/>
          <a:p>
            <a:pPr marL="109728" indent="0">
              <a:buNone/>
            </a:pPr>
            <a:r>
              <a:rPr lang="en-US" dirty="0"/>
              <a:t>The main objective of knowledge representation is to draw the conclusions from the knowledge, but there are many issues associated with the use of knowledge representation techniques.</a:t>
            </a:r>
          </a:p>
          <a:p>
            <a:pPr marL="109728" indent="0">
              <a:buNone/>
            </a:pPr>
            <a:endParaRPr lang="en-US" dirty="0" smtClean="0"/>
          </a:p>
          <a:p>
            <a:pPr marL="109728" indent="0">
              <a:buNone/>
            </a:pPr>
            <a:r>
              <a:rPr lang="en-US" dirty="0" smtClean="0"/>
              <a:t>Issues </a:t>
            </a:r>
            <a:r>
              <a:rPr lang="en-US" dirty="0"/>
              <a:t>that arises while KR techniques</a:t>
            </a:r>
            <a:r>
              <a:rPr lang="en-US" dirty="0" smtClean="0"/>
              <a:t>:  </a:t>
            </a:r>
          </a:p>
          <a:p>
            <a:pPr marL="690563" indent="-514350">
              <a:buFont typeface="+mj-lt"/>
              <a:buAutoNum type="arabicPeriod"/>
            </a:pPr>
            <a:r>
              <a:rPr lang="en-US" dirty="0"/>
              <a:t> </a:t>
            </a:r>
            <a:r>
              <a:rPr lang="en-US" dirty="0" smtClean="0"/>
              <a:t>Important Attributes </a:t>
            </a:r>
          </a:p>
          <a:p>
            <a:pPr marL="690563" indent="-514350">
              <a:buFont typeface="+mj-lt"/>
              <a:buAutoNum type="arabicPeriod"/>
            </a:pPr>
            <a:r>
              <a:rPr lang="en-US" dirty="0" smtClean="0"/>
              <a:t>Relationships </a:t>
            </a:r>
            <a:r>
              <a:rPr lang="en-US" dirty="0"/>
              <a:t>among </a:t>
            </a:r>
            <a:r>
              <a:rPr lang="en-US" dirty="0" smtClean="0"/>
              <a:t>Attributes</a:t>
            </a:r>
          </a:p>
          <a:p>
            <a:pPr marL="690563" indent="-514350">
              <a:buFont typeface="+mj-lt"/>
              <a:buAutoNum type="arabicPeriod"/>
            </a:pPr>
            <a:r>
              <a:rPr lang="en-US" dirty="0" smtClean="0"/>
              <a:t>Choosing </a:t>
            </a:r>
            <a:r>
              <a:rPr lang="en-US" dirty="0"/>
              <a:t>the granularity of </a:t>
            </a:r>
            <a:r>
              <a:rPr lang="en-US" dirty="0" smtClean="0"/>
              <a:t>Representation</a:t>
            </a:r>
          </a:p>
          <a:p>
            <a:pPr marL="690563" indent="-514350">
              <a:buFont typeface="+mj-lt"/>
              <a:buAutoNum type="arabicPeriod"/>
            </a:pPr>
            <a:r>
              <a:rPr lang="en-US" dirty="0" smtClean="0"/>
              <a:t>Representing </a:t>
            </a:r>
            <a:r>
              <a:rPr lang="en-US" dirty="0"/>
              <a:t>Sets of </a:t>
            </a:r>
            <a:r>
              <a:rPr lang="en-US" dirty="0" smtClean="0"/>
              <a:t>Objects</a:t>
            </a:r>
          </a:p>
          <a:p>
            <a:pPr marL="690563" indent="-514350">
              <a:buFont typeface="+mj-lt"/>
              <a:buAutoNum type="arabicPeriod"/>
            </a:pPr>
            <a:r>
              <a:rPr lang="en-US" dirty="0" smtClean="0"/>
              <a:t>Finding </a:t>
            </a:r>
            <a:r>
              <a:rPr lang="en-US" dirty="0"/>
              <a:t>the Right structures as Needed</a:t>
            </a: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99405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 Representation Issues</a:t>
            </a:r>
          </a:p>
        </p:txBody>
      </p:sp>
      <p:sp>
        <p:nvSpPr>
          <p:cNvPr id="13315" name="Rectangle 3"/>
          <p:cNvSpPr>
            <a:spLocks noGrp="1" noChangeArrowheads="1"/>
          </p:cNvSpPr>
          <p:nvPr>
            <p:ph idx="1"/>
          </p:nvPr>
        </p:nvSpPr>
        <p:spPr>
          <a:xfrm>
            <a:off x="285720" y="1484784"/>
            <a:ext cx="8572560" cy="5229200"/>
          </a:xfrm>
        </p:spPr>
        <p:txBody>
          <a:bodyPr>
            <a:noAutofit/>
          </a:bodyPr>
          <a:lstStyle/>
          <a:p>
            <a:r>
              <a:rPr lang="en-US" b="1" dirty="0" smtClean="0"/>
              <a:t>Important </a:t>
            </a:r>
            <a:r>
              <a:rPr lang="en-US" b="1" dirty="0"/>
              <a:t>attributes</a:t>
            </a:r>
            <a:r>
              <a:rPr lang="en-US" dirty="0"/>
              <a:t/>
            </a:r>
            <a:br>
              <a:rPr lang="en-US" dirty="0"/>
            </a:br>
            <a:r>
              <a:rPr lang="en-US" dirty="0"/>
              <a:t>There are two </a:t>
            </a:r>
            <a:r>
              <a:rPr lang="en-US" dirty="0" smtClean="0"/>
              <a:t>attributes</a:t>
            </a:r>
            <a:r>
              <a:rPr lang="en-US" b="1" dirty="0" smtClean="0"/>
              <a:t> </a:t>
            </a:r>
            <a:r>
              <a:rPr lang="en-US" b="1" dirty="0"/>
              <a:t>instance</a:t>
            </a:r>
            <a:r>
              <a:rPr lang="en-US" dirty="0"/>
              <a:t> and</a:t>
            </a:r>
            <a:r>
              <a:rPr lang="en-US" b="1" dirty="0"/>
              <a:t> </a:t>
            </a:r>
            <a:r>
              <a:rPr lang="en-US" b="1" dirty="0" err="1" smtClean="0"/>
              <a:t>isa</a:t>
            </a:r>
            <a:r>
              <a:rPr lang="en-US" b="1" dirty="0" smtClean="0"/>
              <a:t> </a:t>
            </a:r>
            <a:r>
              <a:rPr lang="en-US" dirty="0" smtClean="0"/>
              <a:t>that are of general  importance</a:t>
            </a:r>
            <a:r>
              <a:rPr lang="en-US" b="1" dirty="0" smtClean="0"/>
              <a:t>.</a:t>
            </a:r>
            <a:r>
              <a:rPr lang="en-US" dirty="0" smtClean="0"/>
              <a:t> </a:t>
            </a:r>
            <a:r>
              <a:rPr lang="en-US" dirty="0"/>
              <a:t>Since these attributes support property of </a:t>
            </a:r>
            <a:r>
              <a:rPr lang="en-US" b="1" dirty="0" smtClean="0"/>
              <a:t>inheritance</a:t>
            </a:r>
            <a:r>
              <a:rPr lang="en-US" dirty="0" smtClean="0"/>
              <a:t>. </a:t>
            </a:r>
          </a:p>
          <a:p>
            <a:pPr marL="109728" indent="0">
              <a:buNone/>
            </a:pPr>
            <a:r>
              <a:rPr lang="en-US" b="1" dirty="0" smtClean="0"/>
              <a:t>2. Relationships </a:t>
            </a:r>
            <a:r>
              <a:rPr lang="en-US" b="1" dirty="0"/>
              <a:t>among </a:t>
            </a:r>
            <a:r>
              <a:rPr lang="en-US" b="1" dirty="0" smtClean="0"/>
              <a:t>attributes</a:t>
            </a:r>
            <a:endParaRPr lang="en-US" dirty="0" smtClean="0"/>
          </a:p>
          <a:p>
            <a:r>
              <a:rPr lang="en-US" sz="2400" dirty="0" smtClean="0"/>
              <a:t>The </a:t>
            </a:r>
            <a:r>
              <a:rPr lang="en-US" sz="2400" dirty="0"/>
              <a:t>attributes to describe objects are themselves entities they represent.</a:t>
            </a:r>
          </a:p>
          <a:p>
            <a:r>
              <a:rPr lang="en-US" b="1" i="1" dirty="0"/>
              <a:t> </a:t>
            </a:r>
            <a:r>
              <a:rPr lang="en-US" sz="2400" dirty="0" smtClean="0"/>
              <a:t>The </a:t>
            </a:r>
            <a:r>
              <a:rPr lang="en-US" sz="2400" dirty="0"/>
              <a:t>relationship between the attributes of an object, independent of specific knowledge they encode, may hold properties like</a:t>
            </a:r>
            <a:r>
              <a:rPr lang="en-US" sz="2400" dirty="0" smtClean="0"/>
              <a:t>:</a:t>
            </a:r>
            <a:r>
              <a:rPr lang="en-US" sz="2400" b="1" i="1" dirty="0"/>
              <a:t> </a:t>
            </a:r>
            <a:endParaRPr lang="en-US" sz="2400" dirty="0"/>
          </a:p>
          <a:p>
            <a:r>
              <a:rPr lang="en-US" sz="2400" i="1" dirty="0" smtClean="0"/>
              <a:t>Inverses, existence in an </a:t>
            </a:r>
            <a:r>
              <a:rPr lang="en-US" sz="2400" i="1" dirty="0" err="1" smtClean="0"/>
              <a:t>isa</a:t>
            </a:r>
            <a:r>
              <a:rPr lang="en-US" sz="2400" i="1" dirty="0" smtClean="0"/>
              <a:t>  </a:t>
            </a:r>
            <a:r>
              <a:rPr lang="en-US" sz="2400" i="1" dirty="0" err="1" smtClean="0"/>
              <a:t>hierachy</a:t>
            </a:r>
            <a:r>
              <a:rPr lang="en-US" sz="2400" i="1" dirty="0" smtClean="0"/>
              <a:t>, techniques for reasoning about values and single valued attributes</a:t>
            </a:r>
            <a:r>
              <a:rPr lang="en-US" sz="2400" dirty="0" smtClean="0"/>
              <a:t>.</a:t>
            </a:r>
          </a:p>
          <a:p>
            <a:pPr marL="109728" indent="0">
              <a:buNone/>
            </a:pPr>
            <a:r>
              <a:rPr lang="en-US" dirty="0"/>
              <a:t/>
            </a:r>
            <a:br>
              <a:rPr lang="en-US" dirty="0"/>
            </a:br>
            <a:endParaRPr lang="en-US" dirty="0"/>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29351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 Representation Issues</a:t>
            </a:r>
          </a:p>
        </p:txBody>
      </p:sp>
      <p:sp>
        <p:nvSpPr>
          <p:cNvPr id="13315" name="Rectangle 3"/>
          <p:cNvSpPr>
            <a:spLocks noGrp="1" noChangeArrowheads="1"/>
          </p:cNvSpPr>
          <p:nvPr>
            <p:ph idx="1"/>
          </p:nvPr>
        </p:nvSpPr>
        <p:spPr>
          <a:xfrm>
            <a:off x="285720" y="1484784"/>
            <a:ext cx="8572560" cy="5229200"/>
          </a:xfrm>
        </p:spPr>
        <p:txBody>
          <a:bodyPr>
            <a:noAutofit/>
          </a:bodyPr>
          <a:lstStyle/>
          <a:p>
            <a:pPr marL="109728" indent="0">
              <a:buNone/>
            </a:pPr>
            <a:r>
              <a:rPr lang="en-US" sz="2400" b="1" dirty="0" smtClean="0"/>
              <a:t>3</a:t>
            </a:r>
            <a:r>
              <a:rPr lang="en-US" sz="2400" b="1" dirty="0"/>
              <a:t>. Choosing the granularity of representation</a:t>
            </a:r>
            <a:r>
              <a:rPr lang="en-US" sz="2400" dirty="0"/>
              <a:t/>
            </a:r>
            <a:br>
              <a:rPr lang="en-US" sz="2400" dirty="0"/>
            </a:br>
            <a:endParaRPr lang="en-US" sz="2400" dirty="0" smtClean="0"/>
          </a:p>
          <a:p>
            <a:pPr marL="109728" indent="0">
              <a:buNone/>
            </a:pPr>
            <a:r>
              <a:rPr lang="en-US" sz="2400" dirty="0" smtClean="0"/>
              <a:t>While </a:t>
            </a:r>
            <a:r>
              <a:rPr lang="en-US" sz="2400" dirty="0"/>
              <a:t>deciding the granularity of representation, it is necessary to know the following</a:t>
            </a:r>
            <a:r>
              <a:rPr lang="en-US" dirty="0" smtClean="0"/>
              <a:t>:</a:t>
            </a:r>
          </a:p>
          <a:p>
            <a:pPr marL="636588" lvl="1" indent="-282575">
              <a:buNone/>
              <a:tabLst>
                <a:tab pos="530225" algn="l"/>
              </a:tabLst>
            </a:pPr>
            <a:r>
              <a:rPr lang="en-US" b="1" dirty="0" err="1" smtClean="0"/>
              <a:t>i.</a:t>
            </a:r>
            <a:r>
              <a:rPr lang="en-US" dirty="0" err="1" smtClean="0"/>
              <a:t>What</a:t>
            </a:r>
            <a:r>
              <a:rPr lang="en-US" dirty="0" smtClean="0"/>
              <a:t> </a:t>
            </a:r>
            <a:r>
              <a:rPr lang="en-US" dirty="0"/>
              <a:t>are the primitives and at what level should the knowledge be represented</a:t>
            </a:r>
            <a:r>
              <a:rPr lang="en-US" dirty="0" smtClean="0"/>
              <a:t>?</a:t>
            </a:r>
          </a:p>
          <a:p>
            <a:pPr marL="636588" lvl="1" indent="-282575">
              <a:buNone/>
              <a:tabLst>
                <a:tab pos="530225" algn="l"/>
              </a:tabLst>
            </a:pPr>
            <a:r>
              <a:rPr lang="en-US" b="1" dirty="0" smtClean="0"/>
              <a:t>ii</a:t>
            </a:r>
            <a:r>
              <a:rPr lang="en-US" b="1" dirty="0"/>
              <a:t>.</a:t>
            </a:r>
            <a:r>
              <a:rPr lang="en-US" dirty="0"/>
              <a:t> What should be the number (small or large) of low-level primitives or high-level </a:t>
            </a:r>
            <a:r>
              <a:rPr lang="en-US" dirty="0" smtClean="0"/>
              <a:t>facts?</a:t>
            </a:r>
          </a:p>
          <a:p>
            <a:pPr marL="0" lvl="1" indent="0">
              <a:buNone/>
              <a:tabLst>
                <a:tab pos="530225" algn="l"/>
              </a:tabLst>
            </a:pPr>
            <a:endParaRPr lang="en-US" sz="2400" dirty="0" smtClean="0">
              <a:solidFill>
                <a:schemeClr val="tx1"/>
              </a:solidFill>
            </a:endParaRPr>
          </a:p>
          <a:p>
            <a:pPr marL="0" lvl="1" indent="0">
              <a:buNone/>
              <a:tabLst>
                <a:tab pos="530225" algn="l"/>
              </a:tabLst>
            </a:pPr>
            <a:r>
              <a:rPr lang="en-US" sz="2400" dirty="0" smtClean="0">
                <a:solidFill>
                  <a:schemeClr val="tx1"/>
                </a:solidFill>
              </a:rPr>
              <a:t>High-level </a:t>
            </a:r>
            <a:r>
              <a:rPr lang="en-US" sz="2400" dirty="0">
                <a:solidFill>
                  <a:schemeClr val="tx1"/>
                </a:solidFill>
              </a:rPr>
              <a:t>facts may be insufficient to draw the conclusion while Low-level primitives may require a lot of storage.</a:t>
            </a: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762783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b="1" dirty="0"/>
              <a:t>Knowledge Representation Issues</a:t>
            </a:r>
          </a:p>
        </p:txBody>
      </p:sp>
      <p:sp>
        <p:nvSpPr>
          <p:cNvPr id="13315" name="Rectangle 3"/>
          <p:cNvSpPr>
            <a:spLocks noGrp="1" noChangeArrowheads="1"/>
          </p:cNvSpPr>
          <p:nvPr>
            <p:ph idx="1"/>
          </p:nvPr>
        </p:nvSpPr>
        <p:spPr>
          <a:xfrm>
            <a:off x="285720" y="1297732"/>
            <a:ext cx="8572560" cy="5443636"/>
          </a:xfrm>
        </p:spPr>
        <p:txBody>
          <a:bodyPr>
            <a:noAutofit/>
          </a:bodyPr>
          <a:lstStyle/>
          <a:p>
            <a:pPr marL="109728" indent="0">
              <a:buNone/>
            </a:pPr>
            <a:r>
              <a:rPr lang="en-US" sz="2400" b="1" dirty="0"/>
              <a:t>4. Representing sets of objects.</a:t>
            </a:r>
            <a:r>
              <a:rPr lang="en-US" sz="2400" dirty="0"/>
              <a:t/>
            </a:r>
            <a:br>
              <a:rPr lang="en-US" sz="2400" dirty="0"/>
            </a:br>
            <a:r>
              <a:rPr lang="en-US" sz="2400" dirty="0"/>
              <a:t>There are some properties of objects which satisfy the condition of a set together but not as individual; </a:t>
            </a:r>
            <a:br>
              <a:rPr lang="en-US" sz="2400" dirty="0"/>
            </a:br>
            <a:r>
              <a:rPr lang="en-US" sz="2400" b="1" dirty="0" smtClean="0"/>
              <a:t>Example</a:t>
            </a:r>
            <a:r>
              <a:rPr lang="en-US" sz="2400" b="1" dirty="0"/>
              <a:t>: Consider the assertion made in the sentences: </a:t>
            </a:r>
            <a:endParaRPr lang="en-US" sz="2400" b="1" dirty="0" smtClean="0"/>
          </a:p>
          <a:p>
            <a:pPr marL="109728" indent="0">
              <a:buNone/>
            </a:pPr>
            <a:r>
              <a:rPr lang="en-US" sz="2400" dirty="0" smtClean="0"/>
              <a:t>"</a:t>
            </a:r>
            <a:r>
              <a:rPr lang="en-US" sz="2400" dirty="0"/>
              <a:t>There are more sheep than people in Australia", and "English speakers can be found all over the world." </a:t>
            </a:r>
            <a:br>
              <a:rPr lang="en-US" sz="2400" dirty="0"/>
            </a:br>
            <a:r>
              <a:rPr lang="en-US" sz="2400" dirty="0"/>
              <a:t>These facts can be described by including an assertion to the sets representing people, sheep, and English</a:t>
            </a:r>
            <a:r>
              <a:rPr lang="en-US" sz="2400" dirty="0" smtClean="0"/>
              <a:t>.</a:t>
            </a:r>
          </a:p>
          <a:p>
            <a:pPr marL="109728" indent="0">
              <a:buNone/>
            </a:pPr>
            <a:r>
              <a:rPr lang="en-US" sz="2400" b="1" dirty="0"/>
              <a:t>5. Finding the right structure as needed</a:t>
            </a:r>
            <a:r>
              <a:rPr lang="en-US" sz="2400" dirty="0"/>
              <a:t> </a:t>
            </a:r>
            <a:br>
              <a:rPr lang="en-US" sz="2400" dirty="0"/>
            </a:br>
            <a:r>
              <a:rPr lang="en-US" sz="2400" dirty="0"/>
              <a:t>To describe a particular situation, it is always important to find the access of right structure. This can be done by selecting an initial structure and then revising the choice.</a:t>
            </a:r>
          </a:p>
          <a:p>
            <a:pPr marL="109728" indent="0">
              <a:buNone/>
            </a:pPr>
            <a:endParaRPr lang="en-US" sz="2400" dirty="0">
              <a:solidFill>
                <a:schemeClr val="tx1"/>
              </a:solidFill>
            </a:endParaRPr>
          </a:p>
        </p:txBody>
      </p:sp>
      <p:cxnSp>
        <p:nvCxnSpPr>
          <p:cNvPr id="5" name="Straight Connector 4"/>
          <p:cNvCxnSpPr/>
          <p:nvPr/>
        </p:nvCxnSpPr>
        <p:spPr>
          <a:xfrm>
            <a:off x="0" y="1268760"/>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058408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dirty="0"/>
              <a:t>K</a:t>
            </a:r>
            <a:r>
              <a:rPr lang="en-US" sz="3200" dirty="0" smtClean="0"/>
              <a:t>nowledge </a:t>
            </a:r>
            <a:r>
              <a:rPr lang="en-US" sz="3200" dirty="0"/>
              <a:t>Representation </a:t>
            </a:r>
            <a:r>
              <a:rPr lang="en-US" sz="3200" dirty="0" smtClean="0"/>
              <a:t>Schemes/</a:t>
            </a:r>
            <a:r>
              <a:rPr lang="en-US" sz="3200" b="1" dirty="0" smtClean="0"/>
              <a:t>Approaches</a:t>
            </a:r>
            <a:endParaRPr lang="en-IN" sz="3200" b="1" dirty="0"/>
          </a:p>
        </p:txBody>
      </p:sp>
      <p:sp>
        <p:nvSpPr>
          <p:cNvPr id="13315" name="Rectangle 3"/>
          <p:cNvSpPr>
            <a:spLocks noGrp="1" noChangeArrowheads="1"/>
          </p:cNvSpPr>
          <p:nvPr>
            <p:ph idx="1"/>
          </p:nvPr>
        </p:nvSpPr>
        <p:spPr>
          <a:xfrm>
            <a:off x="285720" y="1484784"/>
            <a:ext cx="8572560" cy="5229200"/>
          </a:xfrm>
        </p:spPr>
        <p:txBody>
          <a:bodyPr>
            <a:noAutofit/>
          </a:bodyPr>
          <a:lstStyle/>
          <a:p>
            <a:pPr marL="109728" indent="0">
              <a:buNone/>
            </a:pPr>
            <a:r>
              <a:rPr lang="en-US" sz="2400" dirty="0"/>
              <a:t>There are </a:t>
            </a:r>
            <a:r>
              <a:rPr lang="en-US" sz="2400" u="sng" dirty="0"/>
              <a:t>f</a:t>
            </a:r>
            <a:r>
              <a:rPr lang="en-US" sz="2400" dirty="0"/>
              <a:t>our types of Knowledge </a:t>
            </a:r>
            <a:r>
              <a:rPr lang="en-US" sz="2400" dirty="0" smtClean="0"/>
              <a:t>representation schemes / </a:t>
            </a:r>
            <a:r>
              <a:rPr lang="en-US" sz="2400" b="1" dirty="0" smtClean="0"/>
              <a:t>Approaches</a:t>
            </a:r>
            <a:r>
              <a:rPr lang="en-US" sz="2400" dirty="0" smtClean="0"/>
              <a:t>:</a:t>
            </a:r>
            <a:endParaRPr lang="en-US" sz="2400" dirty="0"/>
          </a:p>
          <a:p>
            <a:pPr marL="109728" indent="0">
              <a:buNone/>
            </a:pPr>
            <a:endParaRPr lang="en-US" sz="2400" dirty="0"/>
          </a:p>
          <a:p>
            <a:r>
              <a:rPr lang="en-US" sz="2400" i="1" dirty="0" smtClean="0"/>
              <a:t>Relational </a:t>
            </a:r>
            <a:r>
              <a:rPr lang="en-US" sz="2400" dirty="0"/>
              <a:t>Knowledge </a:t>
            </a:r>
            <a:endParaRPr lang="en-US" sz="2400" i="1" dirty="0" smtClean="0"/>
          </a:p>
          <a:p>
            <a:r>
              <a:rPr lang="en-US" sz="2400" i="1" dirty="0" smtClean="0"/>
              <a:t>Inheritable </a:t>
            </a:r>
            <a:r>
              <a:rPr lang="en-US" sz="2400" dirty="0"/>
              <a:t>Knowledge </a:t>
            </a:r>
            <a:endParaRPr lang="en-US" sz="2400" i="1" dirty="0" smtClean="0"/>
          </a:p>
          <a:p>
            <a:r>
              <a:rPr lang="en-US" sz="2400" i="1" dirty="0" smtClean="0"/>
              <a:t>Inferential </a:t>
            </a:r>
            <a:r>
              <a:rPr lang="en-US" sz="2400" dirty="0"/>
              <a:t>Knowledge</a:t>
            </a:r>
            <a:r>
              <a:rPr lang="en-US" sz="2400" i="1" dirty="0" smtClean="0"/>
              <a:t> and </a:t>
            </a:r>
          </a:p>
          <a:p>
            <a:r>
              <a:rPr lang="en-US" sz="2400" i="1" smtClean="0"/>
              <a:t>Procedural </a:t>
            </a:r>
            <a:r>
              <a:rPr lang="en-US" sz="2400" dirty="0"/>
              <a:t>Knowledge </a:t>
            </a:r>
          </a:p>
          <a:p>
            <a:pPr marL="109728" indent="0">
              <a:buNone/>
            </a:pPr>
            <a:endParaRPr lang="en-US" sz="2400" i="1" dirty="0" smtClean="0"/>
          </a:p>
          <a:p>
            <a:pPr marL="109728" indent="0">
              <a:buNone/>
            </a:pPr>
            <a:r>
              <a:rPr lang="en-US" sz="2400" b="1" i="1" dirty="0" smtClean="0"/>
              <a:t>Relational </a:t>
            </a:r>
            <a:r>
              <a:rPr lang="en-US" sz="2400" b="1" dirty="0"/>
              <a:t>Knowledge </a:t>
            </a:r>
            <a:endParaRPr lang="en-US" sz="2400" b="1" i="1" dirty="0"/>
          </a:p>
          <a:p>
            <a:r>
              <a:rPr lang="en-US" sz="2400" dirty="0"/>
              <a:t>provides a framework to compare two objects based on equivalent attributes.</a:t>
            </a:r>
          </a:p>
          <a:p>
            <a:r>
              <a:rPr lang="en-US" sz="2400" dirty="0"/>
              <a:t> </a:t>
            </a:r>
            <a:r>
              <a:rPr lang="en-US" sz="2400" dirty="0" smtClean="0"/>
              <a:t>any </a:t>
            </a:r>
            <a:r>
              <a:rPr lang="en-US" sz="2400" dirty="0"/>
              <a:t>instance in which two different objects are compared is a relational type of knowledge.</a:t>
            </a:r>
          </a:p>
          <a:p>
            <a:pPr marL="109728" indent="0">
              <a:buNone/>
            </a:pPr>
            <a:endParaRPr lang="en-US" sz="2400" dirty="0">
              <a:solidFill>
                <a:schemeClr val="tx1"/>
              </a:solidFill>
            </a:endParaRP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442521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dirty="0"/>
              <a:t>Other Knowledge Representation Schemes</a:t>
            </a:r>
            <a:endParaRPr lang="en-IN" sz="3200" dirty="0"/>
          </a:p>
        </p:txBody>
      </p:sp>
      <p:sp>
        <p:nvSpPr>
          <p:cNvPr id="13315" name="Rectangle 3"/>
          <p:cNvSpPr>
            <a:spLocks noGrp="1" noChangeArrowheads="1"/>
          </p:cNvSpPr>
          <p:nvPr>
            <p:ph idx="1"/>
          </p:nvPr>
        </p:nvSpPr>
        <p:spPr>
          <a:xfrm>
            <a:off x="285720" y="1484784"/>
            <a:ext cx="8572560" cy="5229200"/>
          </a:xfrm>
        </p:spPr>
        <p:txBody>
          <a:bodyPr>
            <a:noAutofit/>
          </a:bodyPr>
          <a:lstStyle/>
          <a:p>
            <a:pPr marL="109728" indent="0">
              <a:buNone/>
            </a:pPr>
            <a:r>
              <a:rPr lang="en-US" sz="2400" b="1" i="1" dirty="0" smtClean="0"/>
              <a:t>Inheritable </a:t>
            </a:r>
            <a:r>
              <a:rPr lang="en-US" sz="2400" b="1" dirty="0"/>
              <a:t>Knowledge </a:t>
            </a:r>
            <a:endParaRPr lang="en-US" sz="2400" b="1" i="1" dirty="0" smtClean="0"/>
          </a:p>
          <a:p>
            <a:r>
              <a:rPr lang="en-US" sz="2400" dirty="0"/>
              <a:t>is obtained from associated objects</a:t>
            </a:r>
            <a:r>
              <a:rPr lang="en-US" sz="2400" dirty="0" smtClean="0"/>
              <a:t>.</a:t>
            </a:r>
            <a:endParaRPr lang="en-US" sz="2400" dirty="0"/>
          </a:p>
          <a:p>
            <a:r>
              <a:rPr lang="en-US" sz="2400" dirty="0"/>
              <a:t>it prescribes a structure in which new objects are created which may inherit all or a subset of attributes from existing objects.</a:t>
            </a:r>
          </a:p>
          <a:p>
            <a:endParaRPr lang="en-US" sz="2400" i="1" dirty="0"/>
          </a:p>
          <a:p>
            <a:pPr marL="109728" indent="0">
              <a:buNone/>
            </a:pPr>
            <a:r>
              <a:rPr lang="en-US" sz="2400" b="1" i="1" dirty="0" smtClean="0"/>
              <a:t>Inferential  </a:t>
            </a:r>
            <a:r>
              <a:rPr lang="en-US" sz="2400" b="1" dirty="0" smtClean="0"/>
              <a:t>Knowledge </a:t>
            </a:r>
            <a:endParaRPr lang="en-US" sz="2400" b="1" i="1" dirty="0"/>
          </a:p>
          <a:p>
            <a:r>
              <a:rPr lang="en-US" sz="2400" dirty="0"/>
              <a:t>is inferred from objects through relations among objects.</a:t>
            </a:r>
          </a:p>
          <a:p>
            <a:r>
              <a:rPr lang="en-US" sz="2400" dirty="0" smtClean="0"/>
              <a:t>e.g</a:t>
            </a:r>
            <a:r>
              <a:rPr lang="en-US" sz="2400" dirty="0"/>
              <a:t>., a word alone is a simple syntax, but with the help of other words in phrase the reader may infer more from a word; this inference within linguistic is called semantics.</a:t>
            </a:r>
          </a:p>
          <a:p>
            <a:pPr marL="109728" indent="0">
              <a:buNone/>
            </a:pPr>
            <a:endParaRPr lang="en-US" sz="2400" dirty="0">
              <a:solidFill>
                <a:schemeClr val="tx1"/>
              </a:solidFill>
            </a:endParaRP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322533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544" y="692696"/>
            <a:ext cx="8496944" cy="360040"/>
          </a:xfrm>
        </p:spPr>
        <p:txBody>
          <a:bodyPr>
            <a:noAutofit/>
          </a:bodyPr>
          <a:lstStyle/>
          <a:p>
            <a:r>
              <a:rPr lang="en-US" sz="3200" dirty="0"/>
              <a:t>Other Knowledge Representation Schemes</a:t>
            </a:r>
            <a:endParaRPr lang="en-IN" sz="3200" dirty="0"/>
          </a:p>
        </p:txBody>
      </p:sp>
      <p:sp>
        <p:nvSpPr>
          <p:cNvPr id="13315" name="Rectangle 3"/>
          <p:cNvSpPr>
            <a:spLocks noGrp="1" noChangeArrowheads="1"/>
          </p:cNvSpPr>
          <p:nvPr>
            <p:ph idx="1"/>
          </p:nvPr>
        </p:nvSpPr>
        <p:spPr>
          <a:xfrm>
            <a:off x="285720" y="1484784"/>
            <a:ext cx="8572560" cy="5229200"/>
          </a:xfrm>
        </p:spPr>
        <p:txBody>
          <a:bodyPr>
            <a:noAutofit/>
          </a:bodyPr>
          <a:lstStyle/>
          <a:p>
            <a:pPr marL="109728" indent="0">
              <a:buNone/>
            </a:pPr>
            <a:r>
              <a:rPr lang="en-US" sz="2400" b="1" dirty="0" smtClean="0"/>
              <a:t>Procedural  Knowledge </a:t>
            </a:r>
            <a:endParaRPr lang="en-US" sz="2400" b="1" i="1" dirty="0" smtClean="0"/>
          </a:p>
          <a:p>
            <a:r>
              <a:rPr lang="en-US" sz="2400" dirty="0"/>
              <a:t>A representation in which the control information, to use the knowledge, is embedded in the knowledge itself. For example, computer programs, directions, and recipes; these indicate specific use or implementation;</a:t>
            </a:r>
          </a:p>
          <a:p>
            <a:pPr marL="109728" indent="0">
              <a:buNone/>
            </a:pPr>
            <a:endParaRPr lang="en-US" sz="2400" dirty="0">
              <a:solidFill>
                <a:schemeClr val="tx1"/>
              </a:solidFill>
            </a:endParaRPr>
          </a:p>
        </p:txBody>
      </p:sp>
      <p:cxnSp>
        <p:nvCxnSpPr>
          <p:cNvPr id="5" name="Straight Connector 4"/>
          <p:cNvCxnSpPr/>
          <p:nvPr/>
        </p:nvCxnSpPr>
        <p:spPr>
          <a:xfrm>
            <a:off x="0" y="1411188"/>
            <a:ext cx="9144000" cy="1588"/>
          </a:xfrm>
          <a:prstGeom prst="line">
            <a:avLst/>
          </a:prstGeom>
        </p:spPr>
        <p:style>
          <a:lnRef idx="2">
            <a:schemeClr val="accent1"/>
          </a:lnRef>
          <a:fillRef idx="0">
            <a:schemeClr val="accent1"/>
          </a:fillRef>
          <a:effectRef idx="1">
            <a:schemeClr val="accent1"/>
          </a:effectRef>
          <a:fontRef idx="minor">
            <a:schemeClr val="tx1"/>
          </a:fontRef>
        </p:style>
      </p:cxnSp>
      <p:pic>
        <p:nvPicPr>
          <p:cNvPr id="29698" name="Picture 2" descr="https://img.brainkart.com/extra/OguXrt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9925" y="3374850"/>
            <a:ext cx="5934075" cy="343852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a:xfrm>
            <a:off x="251521" y="3573016"/>
            <a:ext cx="3096344" cy="1984051"/>
          </a:xfrm>
          <a:prstGeom prst="rect">
            <a:avLst/>
          </a:prstGeom>
        </p:spPr>
        <p:txBody>
          <a:bodyPr vert="horz">
            <a:no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2400" dirty="0" smtClean="0"/>
              <a:t>Knowledge is encoded in some procedures, small programs that know how to do specific things, how to proceed.</a:t>
            </a:r>
          </a:p>
          <a:p>
            <a:endParaRPr lang="en-US" sz="2400" i="1" dirty="0" smtClean="0"/>
          </a:p>
          <a:p>
            <a:pPr marL="109728" indent="0">
              <a:buFont typeface="Georgia"/>
              <a:buNone/>
            </a:pPr>
            <a:endParaRPr lang="en-US" sz="2400" dirty="0"/>
          </a:p>
        </p:txBody>
      </p:sp>
    </p:spTree>
    <p:extLst>
      <p:ext uri="{BB962C8B-B14F-4D97-AF65-F5344CB8AC3E}">
        <p14:creationId xmlns:p14="http://schemas.microsoft.com/office/powerpoint/2010/main" val="3944397135"/>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4808</Words>
  <Application>Microsoft Office PowerPoint</Application>
  <PresentationFormat>On-screen Show (4:3)</PresentationFormat>
  <Paragraphs>429</Paragraphs>
  <Slides>72</Slides>
  <Notes>0</Notes>
  <HiddenSlides>0</HiddenSlides>
  <MMClips>0</MMClips>
  <ScaleCrop>false</ScaleCrop>
  <HeadingPairs>
    <vt:vector size="4" baseType="variant">
      <vt:variant>
        <vt:lpstr>Theme</vt:lpstr>
      </vt:variant>
      <vt:variant>
        <vt:i4>3</vt:i4>
      </vt:variant>
      <vt:variant>
        <vt:lpstr>Slide Titles</vt:lpstr>
      </vt:variant>
      <vt:variant>
        <vt:i4>72</vt:i4>
      </vt:variant>
    </vt:vector>
  </HeadingPairs>
  <TitlesOfParts>
    <vt:vector size="75" baseType="lpstr">
      <vt:lpstr>Office Theme</vt:lpstr>
      <vt:lpstr>Urban</vt:lpstr>
      <vt:lpstr>Civic</vt:lpstr>
      <vt:lpstr>PowerPoint Presentation</vt:lpstr>
      <vt:lpstr>Unit-III: Knowledge Representation and Reasoning</vt:lpstr>
      <vt:lpstr>Knowledge-Based Agent in Artificial intelligence</vt:lpstr>
      <vt:lpstr>Knowledge-Based Agent in Artificial Intelligence</vt:lpstr>
      <vt:lpstr>Knowledge Representation</vt:lpstr>
      <vt:lpstr>Knowledge Representation</vt:lpstr>
      <vt:lpstr>Knowledge Representation</vt:lpstr>
      <vt:lpstr>Propositional   Logic</vt:lpstr>
      <vt:lpstr>Propositional   Logic (PL)</vt:lpstr>
      <vt:lpstr>Propositional   Logic</vt:lpstr>
      <vt:lpstr>Propositional   Logic Formulae </vt:lpstr>
      <vt:lpstr>Propositional   Logic</vt:lpstr>
      <vt:lpstr>Truth table - Propositional   Logic</vt:lpstr>
      <vt:lpstr>Truth Table for AND </vt:lpstr>
      <vt:lpstr>Truth Table for AND </vt:lpstr>
      <vt:lpstr>PowerPoint Presentation</vt:lpstr>
      <vt:lpstr>First-Order Logic</vt:lpstr>
      <vt:lpstr>First-Order Logic</vt:lpstr>
      <vt:lpstr>First-Order Logic</vt:lpstr>
      <vt:lpstr>First-Order Logic</vt:lpstr>
      <vt:lpstr>First-Order Logic</vt:lpstr>
      <vt:lpstr>First-Order Logic</vt:lpstr>
      <vt:lpstr>First-Order Logic</vt:lpstr>
      <vt:lpstr>First-Order Logic</vt:lpstr>
      <vt:lpstr>Forward Chaining and Backward Chaining</vt:lpstr>
      <vt:lpstr>Horn Clause and Definite Clause</vt:lpstr>
      <vt:lpstr>Forward Chaining</vt:lpstr>
      <vt:lpstr>Forward Chaining</vt:lpstr>
      <vt:lpstr>Forward Chaining</vt:lpstr>
      <vt:lpstr>Facts Conversion into FOL</vt:lpstr>
      <vt:lpstr>Forward Chaining Proof</vt:lpstr>
      <vt:lpstr>Forward Chaining Proof</vt:lpstr>
      <vt:lpstr>Forward Chaining Proof</vt:lpstr>
      <vt:lpstr>Forward Chaining Proof</vt:lpstr>
      <vt:lpstr>Backward Chaining</vt:lpstr>
      <vt:lpstr>Backward Chaining</vt:lpstr>
      <vt:lpstr>Backward Chaining</vt:lpstr>
      <vt:lpstr>Backward Chaining Proof</vt:lpstr>
      <vt:lpstr>Backward Chaining Proof</vt:lpstr>
      <vt:lpstr>Backward Chaining Proof</vt:lpstr>
      <vt:lpstr>Backward Chaining Proof</vt:lpstr>
      <vt:lpstr>Backward Chaining Proof</vt:lpstr>
      <vt:lpstr>Difference between backward chaining and forward chaining</vt:lpstr>
      <vt:lpstr>Difference between backward chaining and forward chaining</vt:lpstr>
      <vt:lpstr>Difference between backward chaining and forward chaining</vt:lpstr>
      <vt:lpstr>Forward Chaining Vs. Backward Chaining</vt:lpstr>
      <vt:lpstr>Forward Chaining Vs. Backward Chaining</vt:lpstr>
      <vt:lpstr>Probabilistic Reasoning : Uncertainty</vt:lpstr>
      <vt:lpstr>PowerPoint Presentation</vt:lpstr>
      <vt:lpstr>Probabilistic Reasoning</vt:lpstr>
      <vt:lpstr>Probabilistic Reasoning</vt:lpstr>
      <vt:lpstr>Probabilistic Reasoning</vt:lpstr>
      <vt:lpstr>Probabilistic Reasoning</vt:lpstr>
      <vt:lpstr>Probabilistic Reasoning</vt:lpstr>
      <vt:lpstr>Probabilistic Reasoning : Example</vt:lpstr>
      <vt:lpstr>Bayes'  Theorem </vt:lpstr>
      <vt:lpstr>Bayes'  Theorem </vt:lpstr>
      <vt:lpstr>Bayes'  Theorem </vt:lpstr>
      <vt:lpstr>Bayes'  Theorem </vt:lpstr>
      <vt:lpstr>Bayes'  Theorem </vt:lpstr>
      <vt:lpstr>Applying Bayes' rule</vt:lpstr>
      <vt:lpstr>Applying Bayes' rule</vt:lpstr>
      <vt:lpstr>Applying Bayes' rule</vt:lpstr>
      <vt:lpstr>Applying Bayes' rule</vt:lpstr>
      <vt:lpstr>Application of Bayes' theorem in Artificial Intelligence</vt:lpstr>
      <vt:lpstr>Knowledge Representation Issues</vt:lpstr>
      <vt:lpstr>Knowledge Representation Issues</vt:lpstr>
      <vt:lpstr>Knowledge Representation Issues</vt:lpstr>
      <vt:lpstr>Knowledge Representation Issues</vt:lpstr>
      <vt:lpstr>Knowledge Representation Schemes/Approaches</vt:lpstr>
      <vt:lpstr>Other Knowledge Representation Schemes</vt:lpstr>
      <vt:lpstr>Other Knowledge Representation Schemes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Dr.Vijay</dc:creator>
  <cp:lastModifiedBy>Admin</cp:lastModifiedBy>
  <cp:revision>92</cp:revision>
  <dcterms:created xsi:type="dcterms:W3CDTF">2021-06-01T09:45:14Z</dcterms:created>
  <dcterms:modified xsi:type="dcterms:W3CDTF">2023-04-06T09:48:51Z</dcterms:modified>
</cp:coreProperties>
</file>