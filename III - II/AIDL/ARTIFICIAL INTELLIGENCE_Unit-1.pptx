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4" r:id="rId18"/>
    <p:sldId id="275" r:id="rId19"/>
    <p:sldId id="276" r:id="rId20"/>
    <p:sldId id="277" r:id="rId21"/>
    <p:sldId id="278" r:id="rId22"/>
    <p:sldId id="279" r:id="rId23"/>
    <p:sldId id="281" r:id="rId24"/>
    <p:sldId id="282" r:id="rId25"/>
    <p:sldId id="283" r:id="rId26"/>
    <p:sldId id="284" r:id="rId27"/>
    <p:sldId id="287" r:id="rId28"/>
    <p:sldId id="288" r:id="rId29"/>
    <p:sldId id="289" r:id="rId30"/>
    <p:sldId id="290" r:id="rId31"/>
    <p:sldId id="291" r:id="rId32"/>
    <p:sldId id="292" r:id="rId33"/>
    <p:sldId id="293" r:id="rId34"/>
    <p:sldId id="294" r:id="rId35"/>
    <p:sldId id="295" r:id="rId36"/>
    <p:sldId id="296"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hirendra siddharth" initials="ds" lastIdx="1" clrIdx="0">
    <p:extLst>
      <p:ext uri="{19B8F6BF-5375-455C-9EA6-DF929625EA0E}">
        <p15:presenceInfo xmlns:p15="http://schemas.microsoft.com/office/powerpoint/2012/main" xmlns="" userId="e4557646ab2d648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7" d="100"/>
          <a:sy n="107" d="100"/>
        </p:scale>
        <p:origin x="-78"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89804DF9-6A4A-49B2-81CD-5702EB3BF1D3}" type="datetimeFigureOut">
              <a:rPr lang="en-US" smtClean="0"/>
              <a:pPr/>
              <a:t>2/13/2023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0BD865B6-1940-4C94-8F0C-841BF4891486}"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9804DF9-6A4A-49B2-81CD-5702EB3BF1D3}" type="datetimeFigureOut">
              <a:rPr lang="en-US" smtClean="0"/>
              <a:pPr/>
              <a:t>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D865B6-1940-4C94-8F0C-841BF489148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89804DF9-6A4A-49B2-81CD-5702EB3BF1D3}" type="datetimeFigureOut">
              <a:rPr lang="en-US" smtClean="0"/>
              <a:pPr/>
              <a:t>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D865B6-1940-4C94-8F0C-841BF4891486}"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9804DF9-6A4A-49B2-81CD-5702EB3BF1D3}" type="datetimeFigureOut">
              <a:rPr lang="en-US" smtClean="0"/>
              <a:pPr/>
              <a:t>2/13/2023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D865B6-1940-4C94-8F0C-841BF489148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9804DF9-6A4A-49B2-81CD-5702EB3BF1D3}" type="datetimeFigureOut">
              <a:rPr lang="en-US" smtClean="0"/>
              <a:pPr/>
              <a:t>2/13/2023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D865B6-1940-4C94-8F0C-841BF489148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89804DF9-6A4A-49B2-81CD-5702EB3BF1D3}" type="datetimeFigureOut">
              <a:rPr lang="en-US" smtClean="0"/>
              <a:pPr/>
              <a:t>2/13/2023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D865B6-1940-4C94-8F0C-841BF489148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804DF9-6A4A-49B2-81CD-5702EB3BF1D3}" type="datetimeFigureOut">
              <a:rPr lang="en-US" smtClean="0"/>
              <a:pPr/>
              <a:t>2/13/2023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D865B6-1940-4C94-8F0C-841BF489148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9804DF9-6A4A-49B2-81CD-5702EB3BF1D3}" type="datetimeFigureOut">
              <a:rPr lang="en-US" smtClean="0"/>
              <a:pPr/>
              <a:t>2/13/2023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D865B6-1940-4C94-8F0C-841BF489148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9804DF9-6A4A-49B2-81CD-5702EB3BF1D3}" type="datetimeFigureOut">
              <a:rPr lang="en-US" smtClean="0"/>
              <a:pPr/>
              <a:t>2/13/2023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0BD865B6-1940-4C94-8F0C-841BF4891486}"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9804DF9-6A4A-49B2-81CD-5702EB3BF1D3}" type="datetimeFigureOut">
              <a:rPr lang="en-US" smtClean="0"/>
              <a:pPr/>
              <a:t>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D865B6-1940-4C94-8F0C-841BF489148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9804DF9-6A4A-49B2-81CD-5702EB3BF1D3}" type="datetimeFigureOut">
              <a:rPr lang="en-US" smtClean="0"/>
              <a:pPr/>
              <a:t>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D865B6-1940-4C94-8F0C-841BF489148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89804DF9-6A4A-49B2-81CD-5702EB3BF1D3}" type="datetimeFigureOut">
              <a:rPr lang="en-US" smtClean="0"/>
              <a:pPr/>
              <a:t>2/13/2023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0BD865B6-1940-4C94-8F0C-841BF4891486}"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noGrp="1"/>
          </p:cNvSpPr>
          <p:nvPr>
            <p:ph type="ctrTitle"/>
          </p:nvPr>
        </p:nvSpPr>
        <p:spPr bwMode="auto">
          <a:xfrm>
            <a:off x="609600" y="1295400"/>
            <a:ext cx="7851775" cy="1295400"/>
          </a:xfrm>
          <a:prstGeom prst="rect">
            <a:avLst/>
          </a:prstGeom>
          <a:noFill/>
          <a:ln w="9525">
            <a:noFill/>
            <a:miter lim="800000"/>
            <a:headEnd/>
            <a:tailEnd/>
          </a:ln>
        </p:spPr>
        <p:txBody>
          <a:bodyPr anchor="ctr"/>
          <a:lstStyle/>
          <a:p>
            <a:pPr algn="ctr">
              <a:defRPr/>
            </a:pPr>
            <a:r>
              <a:rPr lang="en-US" sz="2800" dirty="0">
                <a:solidFill>
                  <a:schemeClr val="bg1"/>
                </a:solidFill>
                <a:latin typeface="Candara" pitchFamily="34" charset="0"/>
                <a:ea typeface="+mj-ea"/>
                <a:cs typeface="Times New Roman" pitchFamily="18" charset="0"/>
              </a:rPr>
              <a:t>ARTIFICIAL INTELLIGENCE</a:t>
            </a:r>
          </a:p>
          <a:p>
            <a:pPr algn="ctr">
              <a:defRPr/>
            </a:pPr>
            <a:r>
              <a:rPr lang="en-US" sz="2800" dirty="0">
                <a:solidFill>
                  <a:schemeClr val="bg1"/>
                </a:solidFill>
                <a:latin typeface="Candara" pitchFamily="34" charset="0"/>
                <a:ea typeface="+mj-ea"/>
                <a:cs typeface="Times New Roman" pitchFamily="18" charset="0"/>
              </a:rPr>
              <a:t>LECTURE-</a:t>
            </a:r>
            <a:r>
              <a:rPr lang="en-US" sz="2800" dirty="0">
                <a:solidFill>
                  <a:schemeClr val="bg1"/>
                </a:solidFill>
                <a:latin typeface="Times New Roman" pitchFamily="18" charset="0"/>
                <a:ea typeface="+mj-ea"/>
                <a:cs typeface="Times New Roman" pitchFamily="18" charset="0"/>
              </a:rPr>
              <a:t>01</a:t>
            </a:r>
          </a:p>
        </p:txBody>
      </p:sp>
      <p:sp>
        <p:nvSpPr>
          <p:cNvPr id="10" name="Title 1"/>
          <p:cNvSpPr txBox="1">
            <a:spLocks/>
          </p:cNvSpPr>
          <p:nvPr/>
        </p:nvSpPr>
        <p:spPr bwMode="auto">
          <a:xfrm>
            <a:off x="2057400" y="3429000"/>
            <a:ext cx="5105400" cy="1295400"/>
          </a:xfrm>
          <a:prstGeom prst="rect">
            <a:avLst/>
          </a:prstGeom>
          <a:noFill/>
          <a:ln w="9525">
            <a:noFill/>
            <a:miter lim="800000"/>
            <a:headEnd/>
            <a:tailEnd/>
          </a:ln>
        </p:spPr>
        <p:txBody>
          <a:bodyPr anchor="ctr"/>
          <a:lstStyle/>
          <a:p>
            <a:pPr algn="ctr">
              <a:defRPr/>
            </a:pPr>
            <a:r>
              <a:rPr lang="en-US" sz="2800" b="1" dirty="0">
                <a:solidFill>
                  <a:schemeClr val="bg1"/>
                </a:solidFill>
                <a:latin typeface="Candara" pitchFamily="34" charset="0"/>
                <a:ea typeface="+mj-ea"/>
                <a:cs typeface="Times New Roman" pitchFamily="18" charset="0"/>
              </a:rPr>
              <a:t>Mr. </a:t>
            </a:r>
            <a:r>
              <a:rPr lang="en-US" sz="2800" b="1" dirty="0" smtClean="0">
                <a:solidFill>
                  <a:schemeClr val="bg1"/>
                </a:solidFill>
                <a:latin typeface="Candara" pitchFamily="34" charset="0"/>
                <a:ea typeface="+mj-ea"/>
                <a:cs typeface="Times New Roman" pitchFamily="18" charset="0"/>
              </a:rPr>
              <a:t>B.VASUNDHARA DEVI</a:t>
            </a:r>
            <a:endParaRPr lang="en-US" sz="2800" b="1" dirty="0">
              <a:solidFill>
                <a:schemeClr val="bg1"/>
              </a:solidFill>
              <a:latin typeface="Candara" pitchFamily="34" charset="0"/>
              <a:ea typeface="+mj-ea"/>
              <a:cs typeface="Times New Roman" pitchFamily="18" charset="0"/>
            </a:endParaRPr>
          </a:p>
          <a:p>
            <a:pPr algn="ctr">
              <a:defRPr/>
            </a:pPr>
            <a:r>
              <a:rPr lang="en-US" sz="1600" b="1" dirty="0">
                <a:solidFill>
                  <a:schemeClr val="bg1"/>
                </a:solidFill>
                <a:latin typeface="Candara" pitchFamily="34" charset="0"/>
                <a:ea typeface="+mj-ea"/>
                <a:cs typeface="Times New Roman" pitchFamily="18" charset="0"/>
              </a:rPr>
              <a:t>Assistant Professor</a:t>
            </a:r>
          </a:p>
          <a:p>
            <a:pPr algn="ctr">
              <a:defRPr/>
            </a:pPr>
            <a:r>
              <a:rPr lang="en-US" sz="1600" b="1" dirty="0">
                <a:solidFill>
                  <a:schemeClr val="bg1"/>
                </a:solidFill>
                <a:latin typeface="Candara" pitchFamily="34" charset="0"/>
                <a:ea typeface="+mj-ea"/>
                <a:cs typeface="Times New Roman" pitchFamily="18" charset="0"/>
              </a:rPr>
              <a:t>Computer Science &amp;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fontScale="90000"/>
          </a:bodyPr>
          <a:lstStyle/>
          <a:p>
            <a:r>
              <a:rPr lang="en-US" dirty="0"/>
              <a:t>Artificial Intelligence</a:t>
            </a:r>
          </a:p>
        </p:txBody>
      </p:sp>
      <p:sp>
        <p:nvSpPr>
          <p:cNvPr id="3" name="Content Placeholder 2"/>
          <p:cNvSpPr>
            <a:spLocks noGrp="1"/>
          </p:cNvSpPr>
          <p:nvPr>
            <p:ph idx="1"/>
          </p:nvPr>
        </p:nvSpPr>
        <p:spPr>
          <a:xfrm>
            <a:off x="457200" y="1600200"/>
            <a:ext cx="8229600" cy="4724400"/>
          </a:xfrm>
        </p:spPr>
        <p:txBody>
          <a:bodyPr>
            <a:normAutofit fontScale="92500" lnSpcReduction="10000"/>
          </a:bodyPr>
          <a:lstStyle/>
          <a:p>
            <a:pPr algn="just">
              <a:lnSpc>
                <a:spcPct val="150000"/>
              </a:lnSpc>
            </a:pPr>
            <a:r>
              <a:rPr lang="en-US" sz="2000" dirty="0">
                <a:latin typeface="Times New Roman" pitchFamily="18" charset="0"/>
                <a:cs typeface="Times New Roman" pitchFamily="18" charset="0"/>
              </a:rPr>
              <a:t>In today's world, technology is </a:t>
            </a:r>
            <a:r>
              <a:rPr lang="en-US" sz="2000" b="1" dirty="0">
                <a:solidFill>
                  <a:srgbClr val="FF0000"/>
                </a:solidFill>
                <a:latin typeface="Times New Roman" pitchFamily="18" charset="0"/>
                <a:cs typeface="Times New Roman" pitchFamily="18" charset="0"/>
              </a:rPr>
              <a:t>growing very fast</a:t>
            </a:r>
            <a:r>
              <a:rPr lang="en-US" sz="2000" dirty="0">
                <a:latin typeface="Times New Roman" pitchFamily="18" charset="0"/>
                <a:cs typeface="Times New Roman" pitchFamily="18" charset="0"/>
              </a:rPr>
              <a:t>, and we are getting in touch with different new technologies day by day.</a:t>
            </a:r>
          </a:p>
          <a:p>
            <a:pPr algn="just">
              <a:lnSpc>
                <a:spcPct val="150000"/>
              </a:lnSpc>
            </a:pPr>
            <a:r>
              <a:rPr lang="en-US" sz="2000" dirty="0">
                <a:latin typeface="Times New Roman" pitchFamily="18" charset="0"/>
                <a:cs typeface="Times New Roman" pitchFamily="18" charset="0"/>
              </a:rPr>
              <a:t>Here, one of the booming technologies of computer science is Artificial Intelligence which is ready to create a </a:t>
            </a:r>
            <a:r>
              <a:rPr lang="en-US" sz="2000" b="1" dirty="0">
                <a:solidFill>
                  <a:srgbClr val="FF0000"/>
                </a:solidFill>
                <a:latin typeface="Times New Roman" pitchFamily="18" charset="0"/>
                <a:cs typeface="Times New Roman" pitchFamily="18" charset="0"/>
              </a:rPr>
              <a:t>new revolution in the world by making intelligent machines.</a:t>
            </a:r>
            <a:r>
              <a:rPr lang="en-US" sz="2000" dirty="0">
                <a:solidFill>
                  <a:srgbClr val="FF0000"/>
                </a:solidFill>
                <a:latin typeface="Times New Roman" pitchFamily="18" charset="0"/>
                <a:cs typeface="Times New Roman" pitchFamily="18" charset="0"/>
              </a:rPr>
              <a:t> </a:t>
            </a:r>
          </a:p>
          <a:p>
            <a:pPr algn="just">
              <a:lnSpc>
                <a:spcPct val="150000"/>
              </a:lnSpc>
            </a:pPr>
            <a:r>
              <a:rPr lang="en-US" sz="2000" dirty="0">
                <a:latin typeface="Times New Roman" pitchFamily="18" charset="0"/>
                <a:cs typeface="Times New Roman" pitchFamily="18" charset="0"/>
              </a:rPr>
              <a:t>The Artificial Intelligence is now all around us. It is currently working with a variety of subfields, ranging from general to specific, such as </a:t>
            </a:r>
            <a:r>
              <a:rPr lang="en-US" sz="2000" b="1" dirty="0">
                <a:solidFill>
                  <a:srgbClr val="FF0000"/>
                </a:solidFill>
                <a:latin typeface="Times New Roman" pitchFamily="18" charset="0"/>
                <a:cs typeface="Times New Roman" pitchFamily="18" charset="0"/>
              </a:rPr>
              <a:t>self-driving cars, playing chess, proving theorems, playing music, Painting, etc.</a:t>
            </a:r>
          </a:p>
          <a:p>
            <a:pPr algn="just">
              <a:lnSpc>
                <a:spcPct val="150000"/>
              </a:lnSpc>
            </a:pPr>
            <a:r>
              <a:rPr lang="en-US" sz="2000" dirty="0">
                <a:latin typeface="Times New Roman" pitchFamily="18" charset="0"/>
                <a:cs typeface="Times New Roman" pitchFamily="18" charset="0"/>
              </a:rPr>
              <a:t>AI is one of the fascinating and universal fields of Computer science which has a great scope in future. </a:t>
            </a:r>
            <a:r>
              <a:rPr lang="en-US" sz="2000" b="1" dirty="0">
                <a:solidFill>
                  <a:srgbClr val="FF0000"/>
                </a:solidFill>
                <a:latin typeface="Times New Roman" pitchFamily="18" charset="0"/>
                <a:cs typeface="Times New Roman" pitchFamily="18" charset="0"/>
              </a:rPr>
              <a:t>AI holds a tendency to cause a machine to work as a human.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dirty="0"/>
              <a:t>Artificial Intelligence</a:t>
            </a:r>
          </a:p>
        </p:txBody>
      </p:sp>
      <p:sp>
        <p:nvSpPr>
          <p:cNvPr id="3" name="Content Placeholder 2"/>
          <p:cNvSpPr>
            <a:spLocks noGrp="1"/>
          </p:cNvSpPr>
          <p:nvPr>
            <p:ph idx="1"/>
          </p:nvPr>
        </p:nvSpPr>
        <p:spPr>
          <a:xfrm>
            <a:off x="457200" y="1219200"/>
            <a:ext cx="8229600" cy="5334000"/>
          </a:xfrm>
        </p:spPr>
        <p:txBody>
          <a:bodyPr>
            <a:noAutofit/>
          </a:bodyPr>
          <a:lstStyle/>
          <a:p>
            <a:pPr algn="just">
              <a:lnSpc>
                <a:spcPct val="170000"/>
              </a:lnSpc>
            </a:pPr>
            <a:r>
              <a:rPr lang="en-US" sz="1600" dirty="0">
                <a:latin typeface="Times New Roman" pitchFamily="18" charset="0"/>
                <a:cs typeface="Times New Roman" pitchFamily="18" charset="0"/>
              </a:rPr>
              <a:t>Artificial Intelligence is composed of two words </a:t>
            </a:r>
            <a:r>
              <a:rPr lang="en-US" sz="1600" b="1" dirty="0">
                <a:latin typeface="Times New Roman" pitchFamily="18" charset="0"/>
                <a:cs typeface="Times New Roman" pitchFamily="18" charset="0"/>
              </a:rPr>
              <a:t>Artificial</a:t>
            </a:r>
            <a:r>
              <a:rPr lang="en-US" sz="1600" dirty="0">
                <a:latin typeface="Times New Roman" pitchFamily="18" charset="0"/>
                <a:cs typeface="Times New Roman" pitchFamily="18" charset="0"/>
              </a:rPr>
              <a:t> and </a:t>
            </a:r>
            <a:r>
              <a:rPr lang="en-US" sz="1600" b="1" dirty="0">
                <a:latin typeface="Times New Roman" pitchFamily="18" charset="0"/>
                <a:cs typeface="Times New Roman" pitchFamily="18" charset="0"/>
              </a:rPr>
              <a:t>Intelligence</a:t>
            </a:r>
            <a:r>
              <a:rPr lang="en-US" sz="1600" dirty="0">
                <a:latin typeface="Times New Roman" pitchFamily="18" charset="0"/>
                <a:cs typeface="Times New Roman" pitchFamily="18" charset="0"/>
              </a:rPr>
              <a:t>, where Artificial defines </a:t>
            </a:r>
            <a:r>
              <a:rPr lang="en-US" sz="1600" i="1" dirty="0">
                <a:latin typeface="Times New Roman" pitchFamily="18" charset="0"/>
                <a:cs typeface="Times New Roman" pitchFamily="18" charset="0"/>
              </a:rPr>
              <a:t>"man-made,"</a:t>
            </a:r>
            <a:r>
              <a:rPr lang="en-US" sz="1600" dirty="0">
                <a:latin typeface="Times New Roman" pitchFamily="18" charset="0"/>
                <a:cs typeface="Times New Roman" pitchFamily="18" charset="0"/>
              </a:rPr>
              <a:t> and intelligence defines </a:t>
            </a:r>
            <a:r>
              <a:rPr lang="en-US" sz="1600" i="1" dirty="0">
                <a:latin typeface="Times New Roman" pitchFamily="18" charset="0"/>
                <a:cs typeface="Times New Roman" pitchFamily="18" charset="0"/>
              </a:rPr>
              <a:t>"thinking power"</a:t>
            </a:r>
            <a:r>
              <a:rPr lang="en-US" sz="1600" dirty="0">
                <a:latin typeface="Times New Roman" pitchFamily="18" charset="0"/>
                <a:cs typeface="Times New Roman" pitchFamily="18" charset="0"/>
              </a:rPr>
              <a:t>, hence AI means </a:t>
            </a:r>
            <a:r>
              <a:rPr lang="en-US" sz="1600" i="1" dirty="0">
                <a:latin typeface="Times New Roman" pitchFamily="18" charset="0"/>
                <a:cs typeface="Times New Roman" pitchFamily="18" charset="0"/>
              </a:rPr>
              <a:t>"a man-made thinking power.“</a:t>
            </a:r>
          </a:p>
          <a:p>
            <a:pPr algn="just">
              <a:lnSpc>
                <a:spcPct val="170000"/>
              </a:lnSpc>
            </a:pPr>
            <a:r>
              <a:rPr lang="en-US" sz="1600" dirty="0">
                <a:latin typeface="Times New Roman" pitchFamily="18" charset="0"/>
                <a:cs typeface="Times New Roman" pitchFamily="18" charset="0"/>
              </a:rPr>
              <a:t>So, we can define AI as:</a:t>
            </a:r>
          </a:p>
          <a:p>
            <a:pPr algn="ctr">
              <a:lnSpc>
                <a:spcPct val="170000"/>
              </a:lnSpc>
              <a:buNone/>
            </a:pPr>
            <a:r>
              <a:rPr lang="en-US" sz="1600" dirty="0">
                <a:latin typeface="Times New Roman" pitchFamily="18" charset="0"/>
                <a:cs typeface="Times New Roman" pitchFamily="18" charset="0"/>
              </a:rPr>
              <a:t> </a:t>
            </a:r>
            <a:r>
              <a:rPr lang="en-US" sz="1600" b="1" dirty="0">
                <a:latin typeface="Times New Roman" pitchFamily="18" charset="0"/>
                <a:cs typeface="Times New Roman" pitchFamily="18" charset="0"/>
              </a:rPr>
              <a:t>"It is a branch of computer science by which we can create intelligent machines which can behave like a human, think like humans, and able to make decisions."</a:t>
            </a:r>
            <a:r>
              <a:rPr lang="en-US" sz="1600" dirty="0">
                <a:latin typeface="Times New Roman" pitchFamily="18" charset="0"/>
                <a:cs typeface="Times New Roman" pitchFamily="18" charset="0"/>
              </a:rPr>
              <a:t> </a:t>
            </a:r>
          </a:p>
          <a:p>
            <a:pPr>
              <a:lnSpc>
                <a:spcPct val="170000"/>
              </a:lnSpc>
            </a:pPr>
            <a:r>
              <a:rPr lang="en-US" sz="1600" dirty="0"/>
              <a:t>Artificial Intelligence exists when a machine can have </a:t>
            </a:r>
            <a:r>
              <a:rPr lang="en-US" sz="1600" b="1" dirty="0"/>
              <a:t>human based skills such as learning, reasoning, and solving problems</a:t>
            </a:r>
          </a:p>
          <a:p>
            <a:pPr>
              <a:lnSpc>
                <a:spcPct val="170000"/>
              </a:lnSpc>
            </a:pPr>
            <a:r>
              <a:rPr lang="en-US" sz="1600" dirty="0"/>
              <a:t>With Artificial Intelligence </a:t>
            </a:r>
            <a:r>
              <a:rPr lang="en-US" sz="1600" b="1" dirty="0"/>
              <a:t>you do not need to preprogram a machine to do some work, </a:t>
            </a:r>
            <a:r>
              <a:rPr lang="en-US" sz="1600" dirty="0"/>
              <a:t>despite that you can create a machine with </a:t>
            </a:r>
            <a:r>
              <a:rPr lang="en-US" sz="1600" b="1" dirty="0"/>
              <a:t>programmed algorithms which can work with own intelligence</a:t>
            </a:r>
            <a:r>
              <a:rPr lang="en-US" sz="1600" dirty="0"/>
              <a:t>, and that is the awesomeness of AI.</a:t>
            </a:r>
          </a:p>
          <a:p>
            <a:pPr algn="just">
              <a:lnSpc>
                <a:spcPct val="170000"/>
              </a:lnSpc>
              <a:buNone/>
            </a:pPr>
            <a:endParaRPr lang="en-US" sz="16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fontScale="90000"/>
          </a:bodyPr>
          <a:lstStyle/>
          <a:p>
            <a:r>
              <a:rPr lang="en-US" dirty="0"/>
              <a:t>Advantages of Artificial Intelligence</a:t>
            </a:r>
          </a:p>
        </p:txBody>
      </p:sp>
      <p:sp>
        <p:nvSpPr>
          <p:cNvPr id="3" name="Content Placeholder 2"/>
          <p:cNvSpPr>
            <a:spLocks noGrp="1"/>
          </p:cNvSpPr>
          <p:nvPr>
            <p:ph idx="1"/>
          </p:nvPr>
        </p:nvSpPr>
        <p:spPr>
          <a:xfrm>
            <a:off x="457200" y="1447800"/>
            <a:ext cx="8229600" cy="4389120"/>
          </a:xfrm>
        </p:spPr>
        <p:txBody>
          <a:bodyPr>
            <a:noAutofit/>
          </a:bodyPr>
          <a:lstStyle/>
          <a:p>
            <a:pPr>
              <a:lnSpc>
                <a:spcPct val="170000"/>
              </a:lnSpc>
            </a:pPr>
            <a:r>
              <a:rPr lang="en-US" sz="2000" b="1" dirty="0"/>
              <a:t>High Accuracy with less errors:</a:t>
            </a:r>
            <a:r>
              <a:rPr lang="en-US" sz="2000" dirty="0"/>
              <a:t> AI machines or systems are prone to less errors and high accuracy </a:t>
            </a:r>
            <a:r>
              <a:rPr lang="en-US" sz="2000" i="1" dirty="0">
                <a:solidFill>
                  <a:srgbClr val="FF0000"/>
                </a:solidFill>
              </a:rPr>
              <a:t>as it takes decisions as per pre-experience or information.</a:t>
            </a:r>
          </a:p>
          <a:p>
            <a:pPr>
              <a:lnSpc>
                <a:spcPct val="170000"/>
              </a:lnSpc>
            </a:pPr>
            <a:r>
              <a:rPr lang="en-US" sz="2000" b="1" dirty="0"/>
              <a:t>High-Speed:</a:t>
            </a:r>
            <a:r>
              <a:rPr lang="en-US" sz="2000" dirty="0"/>
              <a:t> AI systems can be of very </a:t>
            </a:r>
            <a:r>
              <a:rPr lang="en-US" sz="2000" i="1" dirty="0">
                <a:solidFill>
                  <a:srgbClr val="FF0000"/>
                </a:solidFill>
              </a:rPr>
              <a:t>high-speed and fast-decision </a:t>
            </a:r>
            <a:r>
              <a:rPr lang="en-US" sz="2000" dirty="0"/>
              <a:t>making, because of that </a:t>
            </a:r>
            <a:r>
              <a:rPr lang="en-US" sz="2000" i="1" dirty="0">
                <a:solidFill>
                  <a:srgbClr val="FF0000"/>
                </a:solidFill>
              </a:rPr>
              <a:t>AI systems can beat a chess champion in the Chess game.</a:t>
            </a:r>
          </a:p>
          <a:p>
            <a:pPr>
              <a:lnSpc>
                <a:spcPct val="170000"/>
              </a:lnSpc>
            </a:pPr>
            <a:r>
              <a:rPr lang="en-US" sz="2000" b="1" dirty="0"/>
              <a:t>High reliability:</a:t>
            </a:r>
            <a:r>
              <a:rPr lang="en-US" sz="2000" dirty="0"/>
              <a:t> AI machines are highly reliable and can perform the </a:t>
            </a:r>
            <a:r>
              <a:rPr lang="en-US" sz="2000" i="1" dirty="0">
                <a:solidFill>
                  <a:srgbClr val="FF0000"/>
                </a:solidFill>
              </a:rPr>
              <a:t>same action multiple times with high accuracy</a:t>
            </a:r>
            <a:r>
              <a:rPr lang="en-US" sz="2000" dirty="0"/>
              <a:t>.</a:t>
            </a:r>
          </a:p>
          <a:p>
            <a:pPr>
              <a:lnSpc>
                <a:spcPct val="170000"/>
              </a:lnSpc>
            </a:pP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fontScale="90000"/>
          </a:bodyPr>
          <a:lstStyle/>
          <a:p>
            <a:r>
              <a:rPr lang="en-US" dirty="0"/>
              <a:t>Advantages of Artificial Intelligence</a:t>
            </a:r>
          </a:p>
        </p:txBody>
      </p:sp>
      <p:sp>
        <p:nvSpPr>
          <p:cNvPr id="3" name="Content Placeholder 2"/>
          <p:cNvSpPr>
            <a:spLocks noGrp="1"/>
          </p:cNvSpPr>
          <p:nvPr>
            <p:ph idx="1"/>
          </p:nvPr>
        </p:nvSpPr>
        <p:spPr/>
        <p:txBody>
          <a:bodyPr>
            <a:normAutofit fontScale="62500" lnSpcReduction="20000"/>
          </a:bodyPr>
          <a:lstStyle/>
          <a:p>
            <a:pPr>
              <a:lnSpc>
                <a:spcPct val="170000"/>
              </a:lnSpc>
            </a:pPr>
            <a:r>
              <a:rPr lang="en-US" sz="2800" b="1" dirty="0"/>
              <a:t>Useful for risky areas:</a:t>
            </a:r>
            <a:r>
              <a:rPr lang="en-US" sz="2800" dirty="0"/>
              <a:t> AI machines can be helpful in situations such as </a:t>
            </a:r>
            <a:r>
              <a:rPr lang="en-US" sz="2800" i="1" dirty="0">
                <a:solidFill>
                  <a:srgbClr val="FF0000"/>
                </a:solidFill>
              </a:rPr>
              <a:t>defusing a bomb, exploring the ocean floor, where to employ a human can be risky.</a:t>
            </a:r>
          </a:p>
          <a:p>
            <a:pPr>
              <a:lnSpc>
                <a:spcPct val="170000"/>
              </a:lnSpc>
            </a:pPr>
            <a:r>
              <a:rPr lang="en-US" sz="2800" b="1" dirty="0"/>
              <a:t>Digital Assistant:</a:t>
            </a:r>
            <a:r>
              <a:rPr lang="en-US" sz="2800" dirty="0"/>
              <a:t> AI can be very useful to provide digital assistant to the users such as AI technology is currently used by various </a:t>
            </a:r>
            <a:r>
              <a:rPr lang="en-US" sz="2800" i="1" dirty="0">
                <a:solidFill>
                  <a:srgbClr val="FF0000"/>
                </a:solidFill>
              </a:rPr>
              <a:t>E-commerce websites to show the products as per customer requirement.</a:t>
            </a:r>
          </a:p>
          <a:p>
            <a:pPr>
              <a:lnSpc>
                <a:spcPct val="170000"/>
              </a:lnSpc>
            </a:pPr>
            <a:r>
              <a:rPr lang="en-US" sz="2800" b="1" dirty="0"/>
              <a:t>Useful as a public utility:</a:t>
            </a:r>
            <a:r>
              <a:rPr lang="en-US" sz="2800" dirty="0"/>
              <a:t> AI can be very useful for public utilities such as a </a:t>
            </a:r>
            <a:r>
              <a:rPr lang="en-US" sz="2800" i="1" dirty="0">
                <a:solidFill>
                  <a:srgbClr val="FF0000"/>
                </a:solidFill>
              </a:rPr>
              <a:t>self-driving car which can make our journey safer and hassle-free, facial recognition for security purpose, Natural language processing to communicate with the human in human-language, etc.</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4000" dirty="0"/>
              <a:t>Disadvantages of Artificial Intelligence</a:t>
            </a:r>
          </a:p>
        </p:txBody>
      </p:sp>
      <p:sp>
        <p:nvSpPr>
          <p:cNvPr id="3" name="Content Placeholder 2"/>
          <p:cNvSpPr>
            <a:spLocks noGrp="1"/>
          </p:cNvSpPr>
          <p:nvPr>
            <p:ph idx="1"/>
          </p:nvPr>
        </p:nvSpPr>
        <p:spPr/>
        <p:txBody>
          <a:bodyPr>
            <a:noAutofit/>
          </a:bodyPr>
          <a:lstStyle/>
          <a:p>
            <a:pPr algn="just">
              <a:lnSpc>
                <a:spcPct val="170000"/>
              </a:lnSpc>
            </a:pPr>
            <a:r>
              <a:rPr lang="en-US" sz="1800" b="1" dirty="0"/>
              <a:t>High Cost:</a:t>
            </a:r>
            <a:r>
              <a:rPr lang="en-US" sz="1800" dirty="0"/>
              <a:t> The </a:t>
            </a:r>
            <a:r>
              <a:rPr lang="en-US" sz="1800" i="1" dirty="0">
                <a:solidFill>
                  <a:srgbClr val="FF0000"/>
                </a:solidFill>
              </a:rPr>
              <a:t>hardware and software requirement of AI is very costly </a:t>
            </a:r>
            <a:r>
              <a:rPr lang="en-US" sz="1800" dirty="0"/>
              <a:t>as it </a:t>
            </a:r>
            <a:r>
              <a:rPr lang="en-US" sz="1800" dirty="0">
                <a:solidFill>
                  <a:srgbClr val="FF0000"/>
                </a:solidFill>
              </a:rPr>
              <a:t>requires lots of maintenance </a:t>
            </a:r>
            <a:r>
              <a:rPr lang="en-US" sz="1800" dirty="0"/>
              <a:t>to meet current world requirements.</a:t>
            </a:r>
          </a:p>
          <a:p>
            <a:pPr algn="just">
              <a:lnSpc>
                <a:spcPct val="170000"/>
              </a:lnSpc>
            </a:pPr>
            <a:r>
              <a:rPr lang="en-US" sz="1800" b="1" dirty="0"/>
              <a:t>Can't think out of the box:</a:t>
            </a:r>
            <a:r>
              <a:rPr lang="en-US" sz="1800" dirty="0"/>
              <a:t> Even we are making smarter machines with AI, but still they cannot work out of the box, as the robot will only </a:t>
            </a:r>
            <a:r>
              <a:rPr lang="en-US" sz="1800" i="1" dirty="0">
                <a:solidFill>
                  <a:srgbClr val="FF0000"/>
                </a:solidFill>
              </a:rPr>
              <a:t>do that work for which they are trained, or programmed</a:t>
            </a:r>
            <a:r>
              <a:rPr lang="en-US" sz="1800" dirty="0"/>
              <a:t>.</a:t>
            </a:r>
          </a:p>
          <a:p>
            <a:pPr algn="just">
              <a:lnSpc>
                <a:spcPct val="170000"/>
              </a:lnSpc>
            </a:pPr>
            <a:r>
              <a:rPr lang="en-US" sz="1800" b="1" dirty="0"/>
              <a:t>No feelings and emotions:</a:t>
            </a:r>
            <a:r>
              <a:rPr lang="en-US" sz="1800" dirty="0"/>
              <a:t> AI machines can be an outstanding performer, but still </a:t>
            </a:r>
            <a:r>
              <a:rPr lang="en-US" sz="1800" i="1" dirty="0">
                <a:solidFill>
                  <a:srgbClr val="FF0000"/>
                </a:solidFill>
              </a:rPr>
              <a:t>it does not have the feeling </a:t>
            </a:r>
            <a:r>
              <a:rPr lang="en-US" sz="1800" dirty="0"/>
              <a:t>so it cannot make any kind of emotional attachment with human, and </a:t>
            </a:r>
            <a:r>
              <a:rPr lang="en-US" sz="1800" i="1" dirty="0">
                <a:solidFill>
                  <a:srgbClr val="FF0000"/>
                </a:solidFill>
              </a:rPr>
              <a:t>may sometime be harmful for users if the proper care is not taken.</a:t>
            </a:r>
          </a:p>
          <a:p>
            <a:pPr algn="just">
              <a:lnSpc>
                <a:spcPct val="170000"/>
              </a:lnSpc>
            </a:pP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4000" dirty="0"/>
              <a:t>Disadvantages of Artificial Intelligence</a:t>
            </a:r>
          </a:p>
        </p:txBody>
      </p:sp>
      <p:sp>
        <p:nvSpPr>
          <p:cNvPr id="3" name="Content Placeholder 2"/>
          <p:cNvSpPr>
            <a:spLocks noGrp="1"/>
          </p:cNvSpPr>
          <p:nvPr>
            <p:ph idx="1"/>
          </p:nvPr>
        </p:nvSpPr>
        <p:spPr/>
        <p:txBody>
          <a:bodyPr>
            <a:normAutofit/>
          </a:bodyPr>
          <a:lstStyle/>
          <a:p>
            <a:pPr algn="just">
              <a:lnSpc>
                <a:spcPct val="170000"/>
              </a:lnSpc>
            </a:pPr>
            <a:r>
              <a:rPr lang="en-US" sz="1800" b="1" dirty="0"/>
              <a:t>Increase dependency on machines:</a:t>
            </a:r>
            <a:r>
              <a:rPr lang="en-US" sz="2800" dirty="0"/>
              <a:t> </a:t>
            </a:r>
            <a:r>
              <a:rPr lang="en-US" sz="2100" dirty="0"/>
              <a:t>With the increment of technology, </a:t>
            </a:r>
            <a:r>
              <a:rPr lang="en-US" sz="2100" dirty="0">
                <a:solidFill>
                  <a:srgbClr val="FF0000"/>
                </a:solidFill>
              </a:rPr>
              <a:t>people are getting more dependent on devices and hence they are losing their mental capabilities</a:t>
            </a:r>
            <a:r>
              <a:rPr lang="en-US" sz="2100" dirty="0"/>
              <a:t>.</a:t>
            </a:r>
          </a:p>
          <a:p>
            <a:pPr algn="just">
              <a:lnSpc>
                <a:spcPct val="170000"/>
              </a:lnSpc>
            </a:pPr>
            <a:r>
              <a:rPr lang="en-US" sz="1800" b="1" dirty="0"/>
              <a:t>No Original Creativity: </a:t>
            </a:r>
            <a:r>
              <a:rPr lang="en-US" sz="2100" dirty="0"/>
              <a:t>As humans are so creative and can imagine some new ideas but still </a:t>
            </a:r>
            <a:r>
              <a:rPr lang="en-US" sz="2100" dirty="0">
                <a:solidFill>
                  <a:srgbClr val="FF0000"/>
                </a:solidFill>
              </a:rPr>
              <a:t>AI machines cannot beat this power of human intelligence and cannot be creative and imaginative</a:t>
            </a:r>
            <a:r>
              <a:rPr lang="en-US" sz="2100" dirty="0"/>
              <a:t>.</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a:bodyPr>
          <a:lstStyle/>
          <a:p>
            <a:r>
              <a:rPr lang="en-US" sz="4000" dirty="0"/>
              <a:t>Application of AI</a:t>
            </a:r>
          </a:p>
        </p:txBody>
      </p:sp>
      <p:pic>
        <p:nvPicPr>
          <p:cNvPr id="4" name="Picture 7" descr="Application of AI"/>
          <p:cNvPicPr>
            <a:picLocks noGrp="1" noChangeAspect="1" noChangeArrowheads="1"/>
          </p:cNvPicPr>
          <p:nvPr>
            <p:ph idx="1"/>
          </p:nvPr>
        </p:nvPicPr>
        <p:blipFill>
          <a:blip r:embed="rId2"/>
          <a:srcRect/>
          <a:stretch>
            <a:fillRect/>
          </a:stretch>
        </p:blipFill>
        <p:spPr bwMode="auto">
          <a:xfrm>
            <a:off x="1066801" y="1524000"/>
            <a:ext cx="6934200" cy="4777581"/>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sz="5400" dirty="0"/>
              <a:t>Application of AI</a:t>
            </a:r>
            <a:endParaRPr lang="en-US" dirty="0"/>
          </a:p>
        </p:txBody>
      </p:sp>
      <p:sp>
        <p:nvSpPr>
          <p:cNvPr id="3" name="Content Placeholder 2"/>
          <p:cNvSpPr>
            <a:spLocks noGrp="1"/>
          </p:cNvSpPr>
          <p:nvPr>
            <p:ph idx="1"/>
          </p:nvPr>
        </p:nvSpPr>
        <p:spPr>
          <a:xfrm>
            <a:off x="457200" y="1447800"/>
            <a:ext cx="8229600" cy="4876800"/>
          </a:xfrm>
        </p:spPr>
        <p:txBody>
          <a:bodyPr>
            <a:noAutofit/>
          </a:bodyPr>
          <a:lstStyle/>
          <a:p>
            <a:pPr algn="just">
              <a:lnSpc>
                <a:spcPct val="200000"/>
              </a:lnSpc>
              <a:buFont typeface="Wingdings" pitchFamily="2" charset="2"/>
              <a:buChar char="§"/>
            </a:pPr>
            <a:r>
              <a:rPr lang="en-US" sz="1400" b="1" dirty="0">
                <a:solidFill>
                  <a:srgbClr val="1E4679"/>
                </a:solidFill>
              </a:rPr>
              <a:t>AI in Astronomy </a:t>
            </a:r>
            <a:r>
              <a:rPr lang="en-US" sz="1400" dirty="0"/>
              <a:t>Artificial Intelligence can be very useful to </a:t>
            </a:r>
            <a:r>
              <a:rPr lang="en-US" sz="1400" dirty="0">
                <a:solidFill>
                  <a:srgbClr val="FF0000"/>
                </a:solidFill>
              </a:rPr>
              <a:t>solve complex universe problems</a:t>
            </a:r>
            <a:r>
              <a:rPr lang="en-US" sz="1400" dirty="0"/>
              <a:t>. AI technology can be helpful for </a:t>
            </a:r>
            <a:r>
              <a:rPr lang="en-US" sz="1400" dirty="0">
                <a:solidFill>
                  <a:srgbClr val="FF0000"/>
                </a:solidFill>
              </a:rPr>
              <a:t>understanding the universe such as how it works, origin, etc</a:t>
            </a:r>
            <a:r>
              <a:rPr lang="en-US" sz="1400" dirty="0"/>
              <a:t>.</a:t>
            </a:r>
          </a:p>
          <a:p>
            <a:pPr algn="just">
              <a:lnSpc>
                <a:spcPct val="200000"/>
              </a:lnSpc>
              <a:buFont typeface="Wingdings" pitchFamily="2" charset="2"/>
              <a:buChar char="§"/>
            </a:pPr>
            <a:r>
              <a:rPr lang="en-US" sz="1400" b="1" dirty="0">
                <a:solidFill>
                  <a:srgbClr val="1E4679"/>
                </a:solidFill>
              </a:rPr>
              <a:t> AI in Healthcare </a:t>
            </a:r>
            <a:r>
              <a:rPr lang="en-US" sz="1400" dirty="0"/>
              <a:t>In the last, five to ten years, AI becoming more advantageous for the healthcare industry and going to have a significant impact on this industry.</a:t>
            </a:r>
          </a:p>
          <a:p>
            <a:pPr algn="just">
              <a:lnSpc>
                <a:spcPct val="200000"/>
              </a:lnSpc>
              <a:buFont typeface="Wingdings" pitchFamily="2" charset="2"/>
              <a:buChar char="§"/>
            </a:pPr>
            <a:r>
              <a:rPr lang="en-US" sz="1400" dirty="0"/>
              <a:t>Healthcare Industries are applying AI to make a better and faster diagnosis than humans. AI can help doctors with </a:t>
            </a:r>
            <a:r>
              <a:rPr lang="en-US" sz="1400" dirty="0">
                <a:solidFill>
                  <a:srgbClr val="FF0000"/>
                </a:solidFill>
              </a:rPr>
              <a:t>diagnoses and can inform when patients are worsening so that medical help can reach to the patient before hospitalization.</a:t>
            </a:r>
          </a:p>
          <a:p>
            <a:pPr algn="just">
              <a:lnSpc>
                <a:spcPct val="200000"/>
              </a:lnSpc>
              <a:buFont typeface="Wingdings" pitchFamily="2" charset="2"/>
              <a:buChar char="§"/>
            </a:pPr>
            <a:r>
              <a:rPr lang="en-US" sz="1400" b="1" dirty="0">
                <a:solidFill>
                  <a:srgbClr val="1E4679"/>
                </a:solidFill>
              </a:rPr>
              <a:t>AI in Gaming </a:t>
            </a:r>
            <a:r>
              <a:rPr lang="en-US" sz="1400" dirty="0"/>
              <a:t>AI can be used for gaming purpose. The AI machines can play strategic games like </a:t>
            </a:r>
            <a:r>
              <a:rPr lang="en-US" sz="1400" dirty="0">
                <a:solidFill>
                  <a:srgbClr val="FF0000"/>
                </a:solidFill>
              </a:rPr>
              <a:t>chess, where the machine needs to think of a large number of possible places</a:t>
            </a:r>
            <a:r>
              <a:rPr lang="en-US" sz="1400" dirty="0"/>
              <a:t>.</a:t>
            </a:r>
          </a:p>
          <a:p>
            <a:pPr algn="just">
              <a:lnSpc>
                <a:spcPct val="200000"/>
              </a:lnSpc>
              <a:buFont typeface="Wingdings" pitchFamily="2" charset="2"/>
              <a:buChar char="§"/>
            </a:pPr>
            <a:r>
              <a:rPr lang="en-US" sz="1400" b="1" dirty="0">
                <a:solidFill>
                  <a:srgbClr val="1E4679"/>
                </a:solidFill>
              </a:rPr>
              <a:t>AI in Finance </a:t>
            </a:r>
            <a:r>
              <a:rPr lang="en-US" sz="1400" dirty="0"/>
              <a:t>AI and finance industries are the best matches for each other. The finance industry is </a:t>
            </a:r>
            <a:r>
              <a:rPr lang="en-US" sz="1400" dirty="0">
                <a:solidFill>
                  <a:srgbClr val="FF0000"/>
                </a:solidFill>
              </a:rPr>
              <a:t>implementing automation, Chabot, adaptive intelligence, algorithm trading, and machine learning into financial processes.</a:t>
            </a:r>
          </a:p>
          <a:p>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sz="4800" dirty="0"/>
              <a:t>Application of AI</a:t>
            </a:r>
            <a:endParaRPr lang="en-US" dirty="0"/>
          </a:p>
        </p:txBody>
      </p:sp>
      <p:sp>
        <p:nvSpPr>
          <p:cNvPr id="3" name="Content Placeholder 2"/>
          <p:cNvSpPr>
            <a:spLocks noGrp="1"/>
          </p:cNvSpPr>
          <p:nvPr>
            <p:ph idx="1"/>
          </p:nvPr>
        </p:nvSpPr>
        <p:spPr>
          <a:xfrm>
            <a:off x="457200" y="1524000"/>
            <a:ext cx="8229600" cy="4389120"/>
          </a:xfrm>
        </p:spPr>
        <p:txBody>
          <a:bodyPr>
            <a:normAutofit fontScale="92500"/>
          </a:bodyPr>
          <a:lstStyle/>
          <a:p>
            <a:pPr algn="just">
              <a:lnSpc>
                <a:spcPct val="200000"/>
              </a:lnSpc>
              <a:buFont typeface="Wingdings" pitchFamily="2" charset="2"/>
              <a:buChar char="§"/>
            </a:pPr>
            <a:r>
              <a:rPr lang="en-US" sz="1400" b="1" dirty="0">
                <a:solidFill>
                  <a:srgbClr val="1E4679"/>
                </a:solidFill>
                <a:latin typeface="Times New Roman" pitchFamily="18" charset="0"/>
                <a:cs typeface="Times New Roman" pitchFamily="18" charset="0"/>
              </a:rPr>
              <a:t>AI in Data Security </a:t>
            </a:r>
            <a:r>
              <a:rPr lang="en-US" sz="1400" dirty="0">
                <a:latin typeface="Times New Roman" pitchFamily="18" charset="0"/>
                <a:cs typeface="Times New Roman" pitchFamily="18" charset="0"/>
              </a:rPr>
              <a:t>The</a:t>
            </a:r>
            <a:r>
              <a:rPr lang="en-US" sz="1400" b="1" dirty="0">
                <a:solidFill>
                  <a:srgbClr val="1E4679"/>
                </a:solidFill>
                <a:latin typeface="Times New Roman" pitchFamily="18" charset="0"/>
                <a:cs typeface="Times New Roman" pitchFamily="18" charset="0"/>
              </a:rPr>
              <a:t> </a:t>
            </a:r>
            <a:r>
              <a:rPr lang="en-US" sz="1400" dirty="0">
                <a:latin typeface="Times New Roman" pitchFamily="18" charset="0"/>
                <a:cs typeface="Times New Roman" pitchFamily="18" charset="0"/>
              </a:rPr>
              <a:t>security of data is crucial for every company and cyber-attacks are growing very rapidly in the digital world. AI can be used to make your data more safe and secure. Some examples such as </a:t>
            </a:r>
            <a:r>
              <a:rPr lang="en-US" sz="1400" dirty="0">
                <a:solidFill>
                  <a:srgbClr val="FF0000"/>
                </a:solidFill>
                <a:latin typeface="Times New Roman" pitchFamily="18" charset="0"/>
                <a:cs typeface="Times New Roman" pitchFamily="18" charset="0"/>
              </a:rPr>
              <a:t>AEG </a:t>
            </a:r>
            <a:r>
              <a:rPr lang="en-US" sz="1400" dirty="0" err="1">
                <a:solidFill>
                  <a:srgbClr val="FF0000"/>
                </a:solidFill>
                <a:latin typeface="Times New Roman" pitchFamily="18" charset="0"/>
                <a:cs typeface="Times New Roman" pitchFamily="18" charset="0"/>
              </a:rPr>
              <a:t>bot</a:t>
            </a:r>
            <a:r>
              <a:rPr lang="en-US" sz="1400" dirty="0">
                <a:solidFill>
                  <a:srgbClr val="FF0000"/>
                </a:solidFill>
                <a:latin typeface="Times New Roman" pitchFamily="18" charset="0"/>
                <a:cs typeface="Times New Roman" pitchFamily="18" charset="0"/>
              </a:rPr>
              <a:t>, AI2 Platform, are used to determine software bug and cyber-attacks in a better way.</a:t>
            </a:r>
          </a:p>
          <a:p>
            <a:pPr algn="just">
              <a:lnSpc>
                <a:spcPct val="200000"/>
              </a:lnSpc>
              <a:buFont typeface="Wingdings" pitchFamily="2" charset="2"/>
              <a:buChar char="§"/>
            </a:pPr>
            <a:r>
              <a:rPr lang="en-US" sz="1400" b="1" dirty="0">
                <a:solidFill>
                  <a:srgbClr val="1E4679"/>
                </a:solidFill>
                <a:latin typeface="Times New Roman" pitchFamily="18" charset="0"/>
                <a:cs typeface="Times New Roman" pitchFamily="18" charset="0"/>
              </a:rPr>
              <a:t>AI in Social Media </a:t>
            </a:r>
            <a:r>
              <a:rPr lang="en-US" sz="1400" dirty="0">
                <a:latin typeface="Times New Roman" pitchFamily="18" charset="0"/>
                <a:cs typeface="Times New Roman" pitchFamily="18" charset="0"/>
              </a:rPr>
              <a:t>Social Media sites such as </a:t>
            </a:r>
            <a:r>
              <a:rPr lang="en-US" sz="1400" dirty="0" err="1">
                <a:solidFill>
                  <a:srgbClr val="FF0000"/>
                </a:solidFill>
                <a:latin typeface="Times New Roman" pitchFamily="18" charset="0"/>
                <a:cs typeface="Times New Roman" pitchFamily="18" charset="0"/>
              </a:rPr>
              <a:t>Facebook</a:t>
            </a:r>
            <a:r>
              <a:rPr lang="en-US" sz="1400" dirty="0">
                <a:solidFill>
                  <a:srgbClr val="FF0000"/>
                </a:solidFill>
                <a:latin typeface="Times New Roman" pitchFamily="18" charset="0"/>
                <a:cs typeface="Times New Roman" pitchFamily="18" charset="0"/>
              </a:rPr>
              <a:t>, Twitter, and </a:t>
            </a:r>
            <a:r>
              <a:rPr lang="en-US" sz="1400" dirty="0" err="1">
                <a:solidFill>
                  <a:srgbClr val="FF0000"/>
                </a:solidFill>
                <a:latin typeface="Times New Roman" pitchFamily="18" charset="0"/>
                <a:cs typeface="Times New Roman" pitchFamily="18" charset="0"/>
              </a:rPr>
              <a:t>Snapchat</a:t>
            </a:r>
            <a:r>
              <a:rPr lang="en-US" sz="1400" dirty="0">
                <a:solidFill>
                  <a:srgbClr val="FF0000"/>
                </a:solidFill>
                <a:latin typeface="Times New Roman" pitchFamily="18" charset="0"/>
                <a:cs typeface="Times New Roman" pitchFamily="18" charset="0"/>
              </a:rPr>
              <a:t> contain billions of user profiles</a:t>
            </a:r>
            <a:r>
              <a:rPr lang="en-US" sz="1400" dirty="0">
                <a:latin typeface="Times New Roman" pitchFamily="18" charset="0"/>
                <a:cs typeface="Times New Roman" pitchFamily="18" charset="0"/>
              </a:rPr>
              <a:t>, which need to be stored and managed in a very efficient way. AI can organize and manage massive amounts of data. AI can analyze lots of data to identify the latest trends, </a:t>
            </a:r>
            <a:r>
              <a:rPr lang="en-US" sz="1400" dirty="0" err="1">
                <a:latin typeface="Times New Roman" pitchFamily="18" charset="0"/>
                <a:cs typeface="Times New Roman" pitchFamily="18" charset="0"/>
              </a:rPr>
              <a:t>hashtag</a:t>
            </a:r>
            <a:r>
              <a:rPr lang="en-US" sz="1400" dirty="0">
                <a:latin typeface="Times New Roman" pitchFamily="18" charset="0"/>
                <a:cs typeface="Times New Roman" pitchFamily="18" charset="0"/>
              </a:rPr>
              <a:t>, and requirement of different users.</a:t>
            </a:r>
          </a:p>
          <a:p>
            <a:pPr algn="just">
              <a:lnSpc>
                <a:spcPct val="200000"/>
              </a:lnSpc>
              <a:buFont typeface="Wingdings" pitchFamily="2" charset="2"/>
              <a:buChar char="§"/>
            </a:pPr>
            <a:r>
              <a:rPr lang="en-US" sz="1400" b="1" dirty="0">
                <a:solidFill>
                  <a:srgbClr val="1E4679"/>
                </a:solidFill>
                <a:latin typeface="Times New Roman" pitchFamily="18" charset="0"/>
                <a:cs typeface="Times New Roman" pitchFamily="18" charset="0"/>
              </a:rPr>
              <a:t>AI in Travel &amp; Transport </a:t>
            </a:r>
            <a:r>
              <a:rPr lang="en-US" sz="1400" dirty="0">
                <a:latin typeface="Times New Roman" pitchFamily="18" charset="0"/>
                <a:cs typeface="Times New Roman" pitchFamily="18" charset="0"/>
              </a:rPr>
              <a:t>AI is becoming highly demanding for travel industries. AI is capable of doing various travel related works such as from making travel arrangement to suggesting the </a:t>
            </a:r>
            <a:r>
              <a:rPr lang="en-US" sz="1400" dirty="0">
                <a:solidFill>
                  <a:srgbClr val="FF0000"/>
                </a:solidFill>
                <a:latin typeface="Times New Roman" pitchFamily="18" charset="0"/>
                <a:cs typeface="Times New Roman" pitchFamily="18" charset="0"/>
              </a:rPr>
              <a:t>hotels, flights, and best routes to the customers</a:t>
            </a:r>
            <a:r>
              <a:rPr lang="en-US" sz="1400" dirty="0">
                <a:latin typeface="Times New Roman" pitchFamily="18" charset="0"/>
                <a:cs typeface="Times New Roman" pitchFamily="18" charset="0"/>
              </a:rPr>
              <a:t>. Travel industries are using AI-powered chat bots which can make human-like interaction with customers for better and fast response.</a:t>
            </a:r>
          </a:p>
          <a:p>
            <a:pPr algn="just">
              <a:lnSpc>
                <a:spcPct val="200000"/>
              </a:lnSpc>
            </a:pPr>
            <a:endParaRPr lang="en-US" sz="1200" dirty="0"/>
          </a:p>
          <a:p>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sz="5400" dirty="0"/>
              <a:t>Application of AI</a:t>
            </a:r>
            <a:endParaRPr lang="en-US" dirty="0"/>
          </a:p>
        </p:txBody>
      </p:sp>
      <p:sp>
        <p:nvSpPr>
          <p:cNvPr id="3" name="Content Placeholder 2"/>
          <p:cNvSpPr>
            <a:spLocks noGrp="1"/>
          </p:cNvSpPr>
          <p:nvPr>
            <p:ph idx="1"/>
          </p:nvPr>
        </p:nvSpPr>
        <p:spPr>
          <a:xfrm>
            <a:off x="457200" y="1447800"/>
            <a:ext cx="8229600" cy="4389120"/>
          </a:xfrm>
        </p:spPr>
        <p:txBody>
          <a:bodyPr>
            <a:normAutofit fontScale="55000" lnSpcReduction="20000"/>
          </a:bodyPr>
          <a:lstStyle/>
          <a:p>
            <a:pPr algn="just">
              <a:lnSpc>
                <a:spcPct val="170000"/>
              </a:lnSpc>
            </a:pPr>
            <a:r>
              <a:rPr lang="en-US" sz="3600" b="1" dirty="0">
                <a:solidFill>
                  <a:srgbClr val="1E4679"/>
                </a:solidFill>
              </a:rPr>
              <a:t>AI in Automotive Industry </a:t>
            </a:r>
            <a:r>
              <a:rPr lang="en-US" sz="2800" dirty="0"/>
              <a:t>Some Automotive industries are using AI to provide </a:t>
            </a:r>
            <a:r>
              <a:rPr lang="en-US" sz="2800" dirty="0">
                <a:solidFill>
                  <a:srgbClr val="FF0000"/>
                </a:solidFill>
              </a:rPr>
              <a:t>virtual assistant to their user for better performance</a:t>
            </a:r>
            <a:r>
              <a:rPr lang="en-US" sz="2800" dirty="0"/>
              <a:t>. Such as </a:t>
            </a:r>
            <a:r>
              <a:rPr lang="en-US" sz="2800" dirty="0">
                <a:solidFill>
                  <a:srgbClr val="FF0000"/>
                </a:solidFill>
              </a:rPr>
              <a:t>Tesla has introduced </a:t>
            </a:r>
            <a:r>
              <a:rPr lang="en-US" sz="2800" dirty="0" err="1">
                <a:solidFill>
                  <a:srgbClr val="FF0000"/>
                </a:solidFill>
              </a:rPr>
              <a:t>TeslaBot</a:t>
            </a:r>
            <a:r>
              <a:rPr lang="en-US" sz="2800" dirty="0">
                <a:solidFill>
                  <a:srgbClr val="FF0000"/>
                </a:solidFill>
              </a:rPr>
              <a:t>, an intelligent virtual assistant.</a:t>
            </a:r>
            <a:r>
              <a:rPr lang="en-US" sz="2800" dirty="0"/>
              <a:t> Various Industries are currently working for developing </a:t>
            </a:r>
            <a:r>
              <a:rPr lang="en-US" sz="2800" dirty="0">
                <a:solidFill>
                  <a:srgbClr val="FF0000"/>
                </a:solidFill>
              </a:rPr>
              <a:t>self-driven cars which can make your journey more safe and secure</a:t>
            </a:r>
            <a:r>
              <a:rPr lang="en-US" sz="2800" dirty="0"/>
              <a:t>.</a:t>
            </a:r>
          </a:p>
          <a:p>
            <a:pPr algn="just">
              <a:lnSpc>
                <a:spcPct val="170000"/>
              </a:lnSpc>
            </a:pPr>
            <a:r>
              <a:rPr lang="en-US" sz="3600" b="1" dirty="0">
                <a:solidFill>
                  <a:srgbClr val="1E4679"/>
                </a:solidFill>
              </a:rPr>
              <a:t>AI in Robotics </a:t>
            </a:r>
            <a:r>
              <a:rPr lang="en-US" sz="2800" dirty="0"/>
              <a:t>Artificial Intelligence has a remarkable role in Robotics. Usually, general robots are programmed such that they can perform some repetitive task, but with the help of AI, we can create intelligent robots which can </a:t>
            </a:r>
            <a:r>
              <a:rPr lang="en-US" sz="2800" dirty="0">
                <a:solidFill>
                  <a:srgbClr val="FF0000"/>
                </a:solidFill>
              </a:rPr>
              <a:t>perform tasks with their own experiences without pre-programmed.</a:t>
            </a:r>
            <a:r>
              <a:rPr lang="en-US" sz="2800" dirty="0"/>
              <a:t> </a:t>
            </a:r>
            <a:r>
              <a:rPr lang="en-US" sz="2800" dirty="0">
                <a:solidFill>
                  <a:srgbClr val="FF0000"/>
                </a:solidFill>
              </a:rPr>
              <a:t>Humanoid Robots are best examples for AI in robotics</a:t>
            </a:r>
            <a:r>
              <a:rPr lang="en-US" sz="2800" dirty="0"/>
              <a:t>, recently the intelligent </a:t>
            </a:r>
            <a:r>
              <a:rPr lang="en-US" sz="2800" dirty="0">
                <a:solidFill>
                  <a:srgbClr val="FF0000"/>
                </a:solidFill>
              </a:rPr>
              <a:t>Humanoid robot named as Erica and Sophia has been developed which can talk and behave like humans.</a:t>
            </a:r>
          </a:p>
          <a:p>
            <a:pPr algn="just">
              <a:lnSpc>
                <a:spcPct val="170000"/>
              </a:lnSpc>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sz="5400" dirty="0"/>
              <a:t>Application of AI</a:t>
            </a:r>
            <a:endParaRPr lang="en-US" dirty="0"/>
          </a:p>
        </p:txBody>
      </p:sp>
      <p:sp>
        <p:nvSpPr>
          <p:cNvPr id="3" name="Content Placeholder 2"/>
          <p:cNvSpPr>
            <a:spLocks noGrp="1"/>
          </p:cNvSpPr>
          <p:nvPr>
            <p:ph idx="1"/>
          </p:nvPr>
        </p:nvSpPr>
        <p:spPr>
          <a:xfrm>
            <a:off x="457200" y="1447800"/>
            <a:ext cx="8229600" cy="4389120"/>
          </a:xfrm>
        </p:spPr>
        <p:txBody>
          <a:bodyPr>
            <a:noAutofit/>
          </a:bodyPr>
          <a:lstStyle/>
          <a:p>
            <a:pPr algn="just">
              <a:lnSpc>
                <a:spcPct val="170000"/>
              </a:lnSpc>
            </a:pPr>
            <a:r>
              <a:rPr lang="en-US" sz="1400" b="1" dirty="0">
                <a:solidFill>
                  <a:srgbClr val="1E4679"/>
                </a:solidFill>
                <a:latin typeface="Times New Roman" pitchFamily="18" charset="0"/>
                <a:cs typeface="Times New Roman" pitchFamily="18" charset="0"/>
              </a:rPr>
              <a:t>AI in Entertainment </a:t>
            </a:r>
            <a:r>
              <a:rPr lang="en-US" sz="1400" dirty="0">
                <a:latin typeface="Times New Roman" pitchFamily="18" charset="0"/>
                <a:cs typeface="Times New Roman" pitchFamily="18" charset="0"/>
              </a:rPr>
              <a:t>We are currently using some AI based applications in our daily life with some entertainment services such as </a:t>
            </a:r>
            <a:r>
              <a:rPr lang="en-US" sz="1400" dirty="0">
                <a:solidFill>
                  <a:srgbClr val="FF0000"/>
                </a:solidFill>
                <a:latin typeface="Times New Roman" pitchFamily="18" charset="0"/>
                <a:cs typeface="Times New Roman" pitchFamily="18" charset="0"/>
              </a:rPr>
              <a:t>Netflix or Amazon</a:t>
            </a:r>
            <a:r>
              <a:rPr lang="en-US" sz="1400" dirty="0">
                <a:latin typeface="Times New Roman" pitchFamily="18" charset="0"/>
                <a:cs typeface="Times New Roman" pitchFamily="18" charset="0"/>
              </a:rPr>
              <a:t>. With the help of ML/AI algorithms, these services show the recommendations for programs or shows.</a:t>
            </a:r>
          </a:p>
          <a:p>
            <a:pPr algn="just">
              <a:lnSpc>
                <a:spcPct val="170000"/>
              </a:lnSpc>
            </a:pPr>
            <a:r>
              <a:rPr lang="en-US" sz="1400" b="1" dirty="0">
                <a:solidFill>
                  <a:srgbClr val="1E4679"/>
                </a:solidFill>
                <a:latin typeface="Times New Roman" pitchFamily="18" charset="0"/>
                <a:cs typeface="Times New Roman" pitchFamily="18" charset="0"/>
              </a:rPr>
              <a:t>AI in Agriculture  </a:t>
            </a:r>
            <a:r>
              <a:rPr lang="en-US" sz="1400" dirty="0" err="1">
                <a:latin typeface="Times New Roman" pitchFamily="18" charset="0"/>
                <a:cs typeface="Times New Roman" pitchFamily="18" charset="0"/>
              </a:rPr>
              <a:t>Agriculture</a:t>
            </a:r>
            <a:r>
              <a:rPr lang="en-US" sz="1400" dirty="0">
                <a:latin typeface="Times New Roman" pitchFamily="18" charset="0"/>
                <a:cs typeface="Times New Roman" pitchFamily="18" charset="0"/>
              </a:rPr>
              <a:t> is an area which requires various resources, labor, money, and time for best result. Now a day's agriculture is becoming digital, and AI is emerging in this field. Agriculture is applying </a:t>
            </a:r>
            <a:r>
              <a:rPr lang="en-US" sz="1400" dirty="0">
                <a:solidFill>
                  <a:srgbClr val="FF0000"/>
                </a:solidFill>
                <a:latin typeface="Times New Roman" pitchFamily="18" charset="0"/>
                <a:cs typeface="Times New Roman" pitchFamily="18" charset="0"/>
              </a:rPr>
              <a:t>AI as agriculture robotics, solid and crop monitoring</a:t>
            </a:r>
            <a:r>
              <a:rPr lang="en-US" sz="1400" dirty="0">
                <a:latin typeface="Times New Roman" pitchFamily="18" charset="0"/>
                <a:cs typeface="Times New Roman" pitchFamily="18" charset="0"/>
              </a:rPr>
              <a:t>, predictive analysis. AI in agriculture can be very helpful for farmers.</a:t>
            </a:r>
          </a:p>
          <a:p>
            <a:pPr algn="just">
              <a:lnSpc>
                <a:spcPct val="170000"/>
              </a:lnSpc>
            </a:pPr>
            <a:r>
              <a:rPr lang="en-US" sz="1400" b="1" dirty="0">
                <a:solidFill>
                  <a:srgbClr val="1E4679"/>
                </a:solidFill>
                <a:latin typeface="Times New Roman" pitchFamily="18" charset="0"/>
                <a:cs typeface="Times New Roman" pitchFamily="18" charset="0"/>
              </a:rPr>
              <a:t>AI in E-commerce  </a:t>
            </a:r>
            <a:r>
              <a:rPr lang="en-US" sz="1400" dirty="0">
                <a:latin typeface="Times New Roman" pitchFamily="18" charset="0"/>
                <a:cs typeface="Times New Roman" pitchFamily="18" charset="0"/>
              </a:rPr>
              <a:t>AI is providing a </a:t>
            </a:r>
            <a:r>
              <a:rPr lang="en-US" sz="1400" dirty="0">
                <a:solidFill>
                  <a:srgbClr val="FF0000"/>
                </a:solidFill>
                <a:latin typeface="Times New Roman" pitchFamily="18" charset="0"/>
                <a:cs typeface="Times New Roman" pitchFamily="18" charset="0"/>
              </a:rPr>
              <a:t>competitive edge to the e-commerce industry</a:t>
            </a:r>
            <a:r>
              <a:rPr lang="en-US" sz="1400" dirty="0">
                <a:latin typeface="Times New Roman" pitchFamily="18" charset="0"/>
                <a:cs typeface="Times New Roman" pitchFamily="18" charset="0"/>
              </a:rPr>
              <a:t>, and it is becoming more demanding in the e-commerce business. AI is helping shoppers to discover associated products with recommended size, color, or even brand.</a:t>
            </a:r>
          </a:p>
          <a:p>
            <a:pPr algn="just">
              <a:lnSpc>
                <a:spcPct val="170000"/>
              </a:lnSpc>
            </a:pPr>
            <a:r>
              <a:rPr lang="en-US" sz="1400" b="1" dirty="0">
                <a:solidFill>
                  <a:srgbClr val="1E4679"/>
                </a:solidFill>
                <a:latin typeface="Times New Roman" pitchFamily="18" charset="0"/>
                <a:cs typeface="Times New Roman" pitchFamily="18" charset="0"/>
              </a:rPr>
              <a:t>AI in education: </a:t>
            </a:r>
            <a:r>
              <a:rPr lang="en-US" sz="1400" dirty="0">
                <a:latin typeface="Times New Roman" pitchFamily="18" charset="0"/>
                <a:cs typeface="Times New Roman" pitchFamily="18" charset="0"/>
              </a:rPr>
              <a:t>AI can automate grading so that the tutor can have more time to teach. AI </a:t>
            </a:r>
            <a:r>
              <a:rPr lang="en-US" sz="1400" dirty="0" err="1">
                <a:solidFill>
                  <a:srgbClr val="FF0000"/>
                </a:solidFill>
                <a:latin typeface="Times New Roman" pitchFamily="18" charset="0"/>
                <a:cs typeface="Times New Roman" pitchFamily="18" charset="0"/>
              </a:rPr>
              <a:t>chatbot</a:t>
            </a:r>
            <a:r>
              <a:rPr lang="en-US" sz="1400" dirty="0">
                <a:latin typeface="Times New Roman" pitchFamily="18" charset="0"/>
                <a:cs typeface="Times New Roman" pitchFamily="18" charset="0"/>
              </a:rPr>
              <a:t> can </a:t>
            </a:r>
            <a:r>
              <a:rPr lang="en-US" sz="1400" dirty="0">
                <a:solidFill>
                  <a:srgbClr val="FF0000"/>
                </a:solidFill>
                <a:latin typeface="Times New Roman" pitchFamily="18" charset="0"/>
                <a:cs typeface="Times New Roman" pitchFamily="18" charset="0"/>
              </a:rPr>
              <a:t>communicate with students as a teaching assistant</a:t>
            </a:r>
            <a:r>
              <a:rPr lang="en-US" sz="1400" dirty="0">
                <a:latin typeface="Times New Roman" pitchFamily="18" charset="0"/>
                <a:cs typeface="Times New Roman" pitchFamily="18" charset="0"/>
              </a:rPr>
              <a:t>. AI in the future can be work as a personal </a:t>
            </a:r>
            <a:r>
              <a:rPr lang="en-US" sz="1400" dirty="0">
                <a:solidFill>
                  <a:srgbClr val="FF0000"/>
                </a:solidFill>
                <a:latin typeface="Times New Roman" pitchFamily="18" charset="0"/>
                <a:cs typeface="Times New Roman" pitchFamily="18" charset="0"/>
              </a:rPr>
              <a:t>virtual tutor for students,</a:t>
            </a:r>
            <a:r>
              <a:rPr lang="en-US" sz="1400" dirty="0">
                <a:latin typeface="Times New Roman" pitchFamily="18" charset="0"/>
                <a:cs typeface="Times New Roman" pitchFamily="18" charset="0"/>
              </a:rPr>
              <a:t> which will be accessible easily at any time and any place.</a:t>
            </a:r>
          </a:p>
          <a:p>
            <a:pPr algn="just">
              <a:lnSpc>
                <a:spcPct val="170000"/>
              </a:lnSpc>
            </a:pPr>
            <a:endParaRPr lang="en-US" sz="14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lstStyle/>
          <a:p>
            <a:r>
              <a:rPr lang="en-US" dirty="0"/>
              <a:t>AGENT</a:t>
            </a:r>
          </a:p>
        </p:txBody>
      </p:sp>
      <p:sp>
        <p:nvSpPr>
          <p:cNvPr id="3" name="Content Placeholder 2"/>
          <p:cNvSpPr>
            <a:spLocks noGrp="1"/>
          </p:cNvSpPr>
          <p:nvPr>
            <p:ph idx="1"/>
          </p:nvPr>
        </p:nvSpPr>
        <p:spPr>
          <a:xfrm>
            <a:off x="457200" y="1676400"/>
            <a:ext cx="8229600" cy="4389120"/>
          </a:xfrm>
        </p:spPr>
        <p:txBody>
          <a:bodyPr>
            <a:noAutofit/>
          </a:bodyPr>
          <a:lstStyle/>
          <a:p>
            <a:pPr algn="just">
              <a:lnSpc>
                <a:spcPct val="200000"/>
              </a:lnSpc>
              <a:buFont typeface="Arial" charset="0"/>
              <a:buChar char="•"/>
            </a:pPr>
            <a:r>
              <a:rPr lang="en-US" sz="1400" dirty="0">
                <a:latin typeface="Times New Roman" pitchFamily="18" charset="0"/>
                <a:cs typeface="Times New Roman" pitchFamily="18" charset="0"/>
              </a:rPr>
              <a:t>An agent can be anything that </a:t>
            </a:r>
            <a:r>
              <a:rPr lang="en-US" sz="1400" dirty="0">
                <a:solidFill>
                  <a:srgbClr val="FF0000"/>
                </a:solidFill>
                <a:latin typeface="Times New Roman" pitchFamily="18" charset="0"/>
                <a:cs typeface="Times New Roman" pitchFamily="18" charset="0"/>
              </a:rPr>
              <a:t>perceive its environment through sensors </a:t>
            </a:r>
            <a:r>
              <a:rPr lang="en-US" sz="1400" dirty="0">
                <a:latin typeface="Times New Roman" pitchFamily="18" charset="0"/>
                <a:cs typeface="Times New Roman" pitchFamily="18" charset="0"/>
              </a:rPr>
              <a:t>and </a:t>
            </a:r>
            <a:r>
              <a:rPr lang="en-US" sz="1400" dirty="0">
                <a:solidFill>
                  <a:srgbClr val="FF0000"/>
                </a:solidFill>
                <a:latin typeface="Times New Roman" pitchFamily="18" charset="0"/>
                <a:cs typeface="Times New Roman" pitchFamily="18" charset="0"/>
              </a:rPr>
              <a:t>act upon that environment through actuators. </a:t>
            </a:r>
            <a:r>
              <a:rPr lang="en-US" sz="1400" dirty="0">
                <a:latin typeface="Times New Roman" pitchFamily="18" charset="0"/>
                <a:cs typeface="Times New Roman" pitchFamily="18" charset="0"/>
              </a:rPr>
              <a:t>An Agent runs in the cycle of perceiving, thinking, and  acting. An agent can be:</a:t>
            </a:r>
          </a:p>
          <a:p>
            <a:pPr lvl="1" algn="just">
              <a:lnSpc>
                <a:spcPct val="200000"/>
              </a:lnSpc>
              <a:buFont typeface="Wingdings" pitchFamily="2" charset="2"/>
              <a:buChar char="q"/>
            </a:pPr>
            <a:r>
              <a:rPr lang="en-US" sz="1400" b="1" dirty="0">
                <a:solidFill>
                  <a:srgbClr val="1E4679"/>
                </a:solidFill>
                <a:latin typeface="Times New Roman" pitchFamily="18" charset="0"/>
                <a:cs typeface="Times New Roman" pitchFamily="18" charset="0"/>
              </a:rPr>
              <a:t>Human-Agent:</a:t>
            </a:r>
            <a:r>
              <a:rPr lang="en-US" sz="1400" dirty="0">
                <a:latin typeface="Times New Roman" pitchFamily="18" charset="0"/>
                <a:cs typeface="Times New Roman" pitchFamily="18" charset="0"/>
              </a:rPr>
              <a:t> A </a:t>
            </a:r>
            <a:r>
              <a:rPr lang="en-US" sz="1400" dirty="0">
                <a:solidFill>
                  <a:srgbClr val="FF0000"/>
                </a:solidFill>
                <a:latin typeface="Times New Roman" pitchFamily="18" charset="0"/>
                <a:cs typeface="Times New Roman" pitchFamily="18" charset="0"/>
              </a:rPr>
              <a:t>human agent has eyes, ears, and other organs </a:t>
            </a:r>
            <a:r>
              <a:rPr lang="en-US" sz="1400" dirty="0">
                <a:latin typeface="Times New Roman" pitchFamily="18" charset="0"/>
                <a:cs typeface="Times New Roman" pitchFamily="18" charset="0"/>
              </a:rPr>
              <a:t>which work for </a:t>
            </a:r>
            <a:r>
              <a:rPr lang="en-US" sz="1400" dirty="0">
                <a:solidFill>
                  <a:srgbClr val="FF0000"/>
                </a:solidFill>
                <a:latin typeface="Times New Roman" pitchFamily="18" charset="0"/>
                <a:cs typeface="Times New Roman" pitchFamily="18" charset="0"/>
              </a:rPr>
              <a:t>sensors</a:t>
            </a:r>
            <a:r>
              <a:rPr lang="en-US" sz="1400" dirty="0">
                <a:latin typeface="Times New Roman" pitchFamily="18" charset="0"/>
                <a:cs typeface="Times New Roman" pitchFamily="18" charset="0"/>
              </a:rPr>
              <a:t> and </a:t>
            </a:r>
            <a:r>
              <a:rPr lang="en-US" sz="1400" dirty="0">
                <a:solidFill>
                  <a:srgbClr val="FF0000"/>
                </a:solidFill>
                <a:latin typeface="Times New Roman" pitchFamily="18" charset="0"/>
                <a:cs typeface="Times New Roman" pitchFamily="18" charset="0"/>
              </a:rPr>
              <a:t>hand, legs, vocal tract work for actuators.</a:t>
            </a:r>
          </a:p>
          <a:p>
            <a:pPr lvl="1" algn="just">
              <a:lnSpc>
                <a:spcPct val="200000"/>
              </a:lnSpc>
              <a:buFont typeface="Wingdings" pitchFamily="2" charset="2"/>
              <a:buChar char="q"/>
            </a:pPr>
            <a:r>
              <a:rPr lang="en-US" sz="1400" b="1" dirty="0">
                <a:solidFill>
                  <a:srgbClr val="1E4679"/>
                </a:solidFill>
                <a:latin typeface="Times New Roman" pitchFamily="18" charset="0"/>
                <a:cs typeface="Times New Roman" pitchFamily="18" charset="0"/>
              </a:rPr>
              <a:t>Robotic Agent:</a:t>
            </a:r>
            <a:r>
              <a:rPr lang="en-US" sz="1400" dirty="0">
                <a:latin typeface="Times New Roman" pitchFamily="18" charset="0"/>
                <a:cs typeface="Times New Roman" pitchFamily="18" charset="0"/>
              </a:rPr>
              <a:t> A robotic agent can have </a:t>
            </a:r>
            <a:r>
              <a:rPr lang="en-US" sz="1400" dirty="0">
                <a:solidFill>
                  <a:srgbClr val="FF0000"/>
                </a:solidFill>
                <a:latin typeface="Times New Roman" pitchFamily="18" charset="0"/>
                <a:cs typeface="Times New Roman" pitchFamily="18" charset="0"/>
              </a:rPr>
              <a:t>cameras, infrared range finder, NLP for sensors </a:t>
            </a:r>
            <a:r>
              <a:rPr lang="en-US" sz="1400" dirty="0">
                <a:latin typeface="Times New Roman" pitchFamily="18" charset="0"/>
                <a:cs typeface="Times New Roman" pitchFamily="18" charset="0"/>
              </a:rPr>
              <a:t>and various </a:t>
            </a:r>
            <a:r>
              <a:rPr lang="en-US" sz="1400" dirty="0">
                <a:solidFill>
                  <a:srgbClr val="FF0000"/>
                </a:solidFill>
                <a:latin typeface="Times New Roman" pitchFamily="18" charset="0"/>
                <a:cs typeface="Times New Roman" pitchFamily="18" charset="0"/>
              </a:rPr>
              <a:t>motors for actuators.</a:t>
            </a:r>
          </a:p>
          <a:p>
            <a:pPr lvl="1" algn="just">
              <a:lnSpc>
                <a:spcPct val="200000"/>
              </a:lnSpc>
              <a:buFont typeface="Wingdings" pitchFamily="2" charset="2"/>
              <a:buChar char="q"/>
            </a:pPr>
            <a:r>
              <a:rPr lang="en-US" sz="1400" b="1" dirty="0">
                <a:solidFill>
                  <a:srgbClr val="1E4679"/>
                </a:solidFill>
                <a:latin typeface="Times New Roman" pitchFamily="18" charset="0"/>
                <a:cs typeface="Times New Roman" pitchFamily="18" charset="0"/>
              </a:rPr>
              <a:t>Software Agent: </a:t>
            </a:r>
            <a:r>
              <a:rPr lang="en-US" sz="1400" dirty="0">
                <a:latin typeface="Times New Roman" pitchFamily="18" charset="0"/>
                <a:cs typeface="Times New Roman" pitchFamily="18" charset="0"/>
              </a:rPr>
              <a:t>Software agent can have </a:t>
            </a:r>
            <a:r>
              <a:rPr lang="en-US" sz="1400" dirty="0">
                <a:solidFill>
                  <a:srgbClr val="FF0000"/>
                </a:solidFill>
                <a:latin typeface="Times New Roman" pitchFamily="18" charset="0"/>
                <a:cs typeface="Times New Roman" pitchFamily="18" charset="0"/>
              </a:rPr>
              <a:t>keystrokes</a:t>
            </a:r>
            <a:r>
              <a:rPr lang="en-US" sz="1400" dirty="0">
                <a:latin typeface="Times New Roman" pitchFamily="18" charset="0"/>
                <a:cs typeface="Times New Roman" pitchFamily="18" charset="0"/>
              </a:rPr>
              <a:t>, file contents as </a:t>
            </a:r>
            <a:r>
              <a:rPr lang="en-US" sz="1400" dirty="0">
                <a:solidFill>
                  <a:srgbClr val="FF0000"/>
                </a:solidFill>
                <a:latin typeface="Times New Roman" pitchFamily="18" charset="0"/>
                <a:cs typeface="Times New Roman" pitchFamily="18" charset="0"/>
              </a:rPr>
              <a:t>sensory input and act on those inputs and display output on the screen.</a:t>
            </a:r>
          </a:p>
          <a:p>
            <a:pPr algn="just">
              <a:lnSpc>
                <a:spcPct val="200000"/>
              </a:lnSpc>
              <a:buFont typeface="Arial" charset="0"/>
              <a:buChar char="•"/>
            </a:pPr>
            <a:r>
              <a:rPr lang="en-US" sz="1400" dirty="0">
                <a:latin typeface="Times New Roman" pitchFamily="18" charset="0"/>
                <a:cs typeface="Times New Roman" pitchFamily="18" charset="0"/>
              </a:rPr>
              <a:t>Hence the world around us is full of agents such as thermostat, </a:t>
            </a:r>
            <a:r>
              <a:rPr lang="en-US" sz="1400" dirty="0" err="1">
                <a:latin typeface="Times New Roman" pitchFamily="18" charset="0"/>
                <a:cs typeface="Times New Roman" pitchFamily="18" charset="0"/>
              </a:rPr>
              <a:t>cellphone</a:t>
            </a:r>
            <a:r>
              <a:rPr lang="en-US" sz="1400" dirty="0">
                <a:latin typeface="Times New Roman" pitchFamily="18" charset="0"/>
                <a:cs typeface="Times New Roman" pitchFamily="18" charset="0"/>
              </a:rPr>
              <a:t>, camera, and even we are also agents.</a:t>
            </a:r>
          </a:p>
          <a:p>
            <a:endParaRPr lang="en-US" sz="1400"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a:t>AGENT</a:t>
            </a:r>
          </a:p>
        </p:txBody>
      </p:sp>
      <p:sp>
        <p:nvSpPr>
          <p:cNvPr id="4" name="Content Placeholder 3"/>
          <p:cNvSpPr>
            <a:spLocks noGrp="1" noChangeArrowheads="1"/>
          </p:cNvSpPr>
          <p:nvPr>
            <p:ph idx="1"/>
          </p:nvPr>
        </p:nvSpPr>
        <p:spPr bwMode="auto">
          <a:xfrm>
            <a:off x="533400" y="1219200"/>
            <a:ext cx="8229600" cy="2776145"/>
          </a:xfrm>
          <a:prstGeom prst="rect">
            <a:avLst/>
          </a:prstGeom>
          <a:noFill/>
          <a:ln w="9525">
            <a:noFill/>
            <a:miter lim="800000"/>
            <a:headEnd/>
            <a:tailEnd/>
          </a:ln>
        </p:spPr>
        <p:txBody>
          <a:bodyPr wrap="square">
            <a:spAutoFit/>
          </a:bodyPr>
          <a:lstStyle/>
          <a:p>
            <a:pPr algn="just">
              <a:lnSpc>
                <a:spcPct val="150000"/>
              </a:lnSpc>
            </a:pPr>
            <a:r>
              <a:rPr lang="en-US" sz="1600" b="1" dirty="0">
                <a:solidFill>
                  <a:srgbClr val="1E4679"/>
                </a:solidFill>
                <a:latin typeface="Times New Roman" pitchFamily="18" charset="0"/>
                <a:cs typeface="Times New Roman" pitchFamily="18" charset="0"/>
              </a:rPr>
              <a:t>Sensor:</a:t>
            </a:r>
            <a:r>
              <a:rPr lang="en-US" sz="1600" dirty="0">
                <a:latin typeface="Times New Roman" pitchFamily="18" charset="0"/>
                <a:cs typeface="Times New Roman" pitchFamily="18" charset="0"/>
              </a:rPr>
              <a:t> Sensor is a device which </a:t>
            </a:r>
            <a:r>
              <a:rPr lang="en-US" sz="1600" dirty="0">
                <a:solidFill>
                  <a:srgbClr val="FF0000"/>
                </a:solidFill>
                <a:latin typeface="Times New Roman" pitchFamily="18" charset="0"/>
                <a:cs typeface="Times New Roman" pitchFamily="18" charset="0"/>
              </a:rPr>
              <a:t>detects the change in the environment and sends the information to other electronic devices</a:t>
            </a:r>
            <a:r>
              <a:rPr lang="en-US" sz="1600" dirty="0">
                <a:latin typeface="Times New Roman" pitchFamily="18" charset="0"/>
                <a:cs typeface="Times New Roman" pitchFamily="18" charset="0"/>
              </a:rPr>
              <a:t>. An agent </a:t>
            </a:r>
            <a:r>
              <a:rPr lang="en-US" sz="1600" dirty="0">
                <a:solidFill>
                  <a:srgbClr val="FF0000"/>
                </a:solidFill>
                <a:latin typeface="Times New Roman" pitchFamily="18" charset="0"/>
                <a:cs typeface="Times New Roman" pitchFamily="18" charset="0"/>
              </a:rPr>
              <a:t>observes its environment through sensors</a:t>
            </a:r>
            <a:r>
              <a:rPr lang="en-US" sz="1600" dirty="0">
                <a:latin typeface="Times New Roman" pitchFamily="18" charset="0"/>
                <a:cs typeface="Times New Roman" pitchFamily="18" charset="0"/>
              </a:rPr>
              <a:t>.</a:t>
            </a:r>
          </a:p>
          <a:p>
            <a:pPr algn="just">
              <a:lnSpc>
                <a:spcPct val="150000"/>
              </a:lnSpc>
            </a:pPr>
            <a:r>
              <a:rPr lang="en-US" sz="1600" b="1" dirty="0">
                <a:solidFill>
                  <a:srgbClr val="1E4679"/>
                </a:solidFill>
                <a:latin typeface="Times New Roman" pitchFamily="18" charset="0"/>
                <a:cs typeface="Times New Roman" pitchFamily="18" charset="0"/>
              </a:rPr>
              <a:t>Actuators:</a:t>
            </a:r>
            <a:r>
              <a:rPr lang="en-US" sz="1600" dirty="0">
                <a:latin typeface="Times New Roman" pitchFamily="18" charset="0"/>
                <a:cs typeface="Times New Roman" pitchFamily="18" charset="0"/>
              </a:rPr>
              <a:t> Actuators are the component of machines that converts energy into motion. The actuators are only </a:t>
            </a:r>
            <a:r>
              <a:rPr lang="en-US" sz="1600" dirty="0">
                <a:solidFill>
                  <a:srgbClr val="FF0000"/>
                </a:solidFill>
                <a:latin typeface="Times New Roman" pitchFamily="18" charset="0"/>
                <a:cs typeface="Times New Roman" pitchFamily="18" charset="0"/>
              </a:rPr>
              <a:t>responsible</a:t>
            </a:r>
            <a:r>
              <a:rPr lang="en-US" sz="1600" dirty="0">
                <a:latin typeface="Times New Roman" pitchFamily="18" charset="0"/>
                <a:cs typeface="Times New Roman" pitchFamily="18" charset="0"/>
              </a:rPr>
              <a:t> </a:t>
            </a:r>
            <a:r>
              <a:rPr lang="en-US" sz="1600" dirty="0">
                <a:solidFill>
                  <a:srgbClr val="FF0000"/>
                </a:solidFill>
                <a:latin typeface="Times New Roman" pitchFamily="18" charset="0"/>
                <a:cs typeface="Times New Roman" pitchFamily="18" charset="0"/>
              </a:rPr>
              <a:t>for moving and controlling a system</a:t>
            </a:r>
            <a:r>
              <a:rPr lang="en-US" sz="1600" dirty="0">
                <a:latin typeface="Times New Roman" pitchFamily="18" charset="0"/>
                <a:cs typeface="Times New Roman" pitchFamily="18" charset="0"/>
              </a:rPr>
              <a:t>. An actuator can be an </a:t>
            </a:r>
            <a:r>
              <a:rPr lang="en-US" sz="1600" dirty="0">
                <a:solidFill>
                  <a:srgbClr val="FF0000"/>
                </a:solidFill>
                <a:latin typeface="Times New Roman" pitchFamily="18" charset="0"/>
                <a:cs typeface="Times New Roman" pitchFamily="18" charset="0"/>
              </a:rPr>
              <a:t>electric motor, gears, rails, etc</a:t>
            </a:r>
            <a:r>
              <a:rPr lang="en-US" sz="1600" dirty="0">
                <a:latin typeface="Times New Roman" pitchFamily="18" charset="0"/>
                <a:cs typeface="Times New Roman" pitchFamily="18" charset="0"/>
              </a:rPr>
              <a:t>.</a:t>
            </a:r>
          </a:p>
          <a:p>
            <a:pPr algn="just">
              <a:lnSpc>
                <a:spcPct val="150000"/>
              </a:lnSpc>
            </a:pPr>
            <a:r>
              <a:rPr lang="en-US" sz="1600" b="1" dirty="0">
                <a:solidFill>
                  <a:srgbClr val="1E4679"/>
                </a:solidFill>
                <a:latin typeface="Times New Roman" pitchFamily="18" charset="0"/>
                <a:cs typeface="Times New Roman" pitchFamily="18" charset="0"/>
              </a:rPr>
              <a:t>Effectors:</a:t>
            </a:r>
            <a:r>
              <a:rPr lang="en-US" sz="1600" dirty="0">
                <a:latin typeface="Times New Roman" pitchFamily="18" charset="0"/>
                <a:cs typeface="Times New Roman" pitchFamily="18" charset="0"/>
              </a:rPr>
              <a:t> Effectors are the devices which affect the environment. </a:t>
            </a:r>
            <a:r>
              <a:rPr lang="en-US" sz="1600" dirty="0">
                <a:solidFill>
                  <a:srgbClr val="FF0000"/>
                </a:solidFill>
                <a:latin typeface="Times New Roman" pitchFamily="18" charset="0"/>
                <a:cs typeface="Times New Roman" pitchFamily="18" charset="0"/>
              </a:rPr>
              <a:t>Effectors can be legs, wheels, arms, fingers, wings, fins, and display screen.</a:t>
            </a:r>
          </a:p>
        </p:txBody>
      </p:sp>
      <p:pic>
        <p:nvPicPr>
          <p:cNvPr id="5" name="Picture 5" descr="Agents in AI"/>
          <p:cNvPicPr>
            <a:picLocks noChangeAspect="1" noChangeArrowheads="1"/>
          </p:cNvPicPr>
          <p:nvPr/>
        </p:nvPicPr>
        <p:blipFill>
          <a:blip r:embed="rId2"/>
          <a:srcRect/>
          <a:stretch>
            <a:fillRect/>
          </a:stretch>
        </p:blipFill>
        <p:spPr bwMode="auto">
          <a:xfrm>
            <a:off x="2590800" y="4114800"/>
            <a:ext cx="3886200" cy="25908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Intelligent Agent</a:t>
            </a:r>
          </a:p>
        </p:txBody>
      </p:sp>
      <p:sp>
        <p:nvSpPr>
          <p:cNvPr id="3" name="Content Placeholder 2"/>
          <p:cNvSpPr>
            <a:spLocks noGrp="1"/>
          </p:cNvSpPr>
          <p:nvPr>
            <p:ph idx="1"/>
          </p:nvPr>
        </p:nvSpPr>
        <p:spPr/>
        <p:txBody>
          <a:bodyPr>
            <a:normAutofit/>
          </a:bodyPr>
          <a:lstStyle/>
          <a:p>
            <a:pPr algn="just">
              <a:lnSpc>
                <a:spcPct val="200000"/>
              </a:lnSpc>
            </a:pPr>
            <a:r>
              <a:rPr lang="en-US" sz="1600" dirty="0">
                <a:latin typeface="Times New Roman" pitchFamily="18" charset="0"/>
                <a:cs typeface="Times New Roman" pitchFamily="18" charset="0"/>
              </a:rPr>
              <a:t>An intelligent agent is an autonomous entity which act upon an environment using sensors and actuators for achieving goals. An intelligent agent may learn from the environment to achieve their goals. A thermostat is an example of an intelligent agent.</a:t>
            </a:r>
          </a:p>
          <a:p>
            <a:pPr algn="just">
              <a:lnSpc>
                <a:spcPct val="200000"/>
              </a:lnSpc>
            </a:pPr>
            <a:r>
              <a:rPr lang="en-US" sz="1600" dirty="0">
                <a:latin typeface="Times New Roman" pitchFamily="18" charset="0"/>
                <a:cs typeface="Times New Roman" pitchFamily="18" charset="0"/>
              </a:rPr>
              <a:t>Following are the main four rules for an AI agent:</a:t>
            </a:r>
          </a:p>
          <a:p>
            <a:pPr lvl="1" algn="just">
              <a:lnSpc>
                <a:spcPct val="200000"/>
              </a:lnSpc>
              <a:buFont typeface="Arial" charset="0"/>
              <a:buChar char="•"/>
            </a:pPr>
            <a:r>
              <a:rPr lang="en-US" sz="1600" dirty="0">
                <a:latin typeface="Times New Roman" pitchFamily="18" charset="0"/>
                <a:cs typeface="Times New Roman" pitchFamily="18" charset="0"/>
              </a:rPr>
              <a:t>Rule 1: An AI agent must have the ability to perceive the environment.</a:t>
            </a:r>
          </a:p>
          <a:p>
            <a:pPr lvl="1" algn="just">
              <a:lnSpc>
                <a:spcPct val="200000"/>
              </a:lnSpc>
              <a:buFont typeface="Arial" charset="0"/>
              <a:buChar char="•"/>
            </a:pPr>
            <a:r>
              <a:rPr lang="en-US" sz="1600" dirty="0">
                <a:latin typeface="Times New Roman" pitchFamily="18" charset="0"/>
                <a:cs typeface="Times New Roman" pitchFamily="18" charset="0"/>
              </a:rPr>
              <a:t>Rule 2: The observation must be used to make decisions.</a:t>
            </a:r>
          </a:p>
          <a:p>
            <a:pPr lvl="1" algn="just">
              <a:lnSpc>
                <a:spcPct val="200000"/>
              </a:lnSpc>
              <a:buFont typeface="Arial" charset="0"/>
              <a:buChar char="•"/>
            </a:pPr>
            <a:r>
              <a:rPr lang="en-US" sz="1600" dirty="0">
                <a:latin typeface="Times New Roman" pitchFamily="18" charset="0"/>
                <a:cs typeface="Times New Roman" pitchFamily="18" charset="0"/>
              </a:rPr>
              <a:t>Rule 3: Decision should result in an action.</a:t>
            </a:r>
          </a:p>
          <a:p>
            <a:pPr lvl="1" algn="just">
              <a:lnSpc>
                <a:spcPct val="200000"/>
              </a:lnSpc>
              <a:buFont typeface="Arial" charset="0"/>
              <a:buChar char="•"/>
            </a:pPr>
            <a:r>
              <a:rPr lang="en-US" sz="1600" dirty="0">
                <a:latin typeface="Times New Roman" pitchFamily="18" charset="0"/>
                <a:cs typeface="Times New Roman" pitchFamily="18" charset="0"/>
              </a:rPr>
              <a:t>Rule 4: The action taken by an AI agent must be a rational action.</a:t>
            </a:r>
          </a:p>
          <a:p>
            <a:endParaRPr lang="en-US" sz="16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Rational Agent</a:t>
            </a:r>
          </a:p>
        </p:txBody>
      </p:sp>
      <p:sp>
        <p:nvSpPr>
          <p:cNvPr id="3" name="Content Placeholder 2"/>
          <p:cNvSpPr>
            <a:spLocks noGrp="1"/>
          </p:cNvSpPr>
          <p:nvPr>
            <p:ph idx="1"/>
          </p:nvPr>
        </p:nvSpPr>
        <p:spPr/>
        <p:txBody>
          <a:bodyPr>
            <a:normAutofit fontScale="92500"/>
          </a:bodyPr>
          <a:lstStyle/>
          <a:p>
            <a:pPr algn="just"/>
            <a:r>
              <a:rPr lang="en-US" dirty="0"/>
              <a:t>A rational agent is an agent which has </a:t>
            </a:r>
            <a:r>
              <a:rPr lang="en-US" b="1" dirty="0"/>
              <a:t>clear preference, models uncertainty, and acts in a way to maximize its performance measure with all possible actions.</a:t>
            </a:r>
          </a:p>
          <a:p>
            <a:pPr algn="just"/>
            <a:r>
              <a:rPr lang="en-US" dirty="0"/>
              <a:t>A rational agent is said to </a:t>
            </a:r>
            <a:r>
              <a:rPr lang="en-US" b="1" dirty="0"/>
              <a:t>perform the right things</a:t>
            </a:r>
            <a:r>
              <a:rPr lang="en-US" dirty="0"/>
              <a:t>. AI is about creating rational agents to use for </a:t>
            </a:r>
            <a:r>
              <a:rPr lang="en-US" b="1" dirty="0"/>
              <a:t>game theory and decision theory for various real-world scenarios.</a:t>
            </a:r>
          </a:p>
          <a:p>
            <a:pPr algn="just"/>
            <a:r>
              <a:rPr lang="en-US" dirty="0"/>
              <a:t>For an AI agent, the rational action is most important because in AI reinforcement learning algorithm, for each best possible action, agent gets the positive reward and for each wrong action, an agent gets a negative reward.</a:t>
            </a:r>
          </a:p>
          <a:p>
            <a:pPr algn="just"/>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Structure of an AI Agent</a:t>
            </a:r>
          </a:p>
        </p:txBody>
      </p:sp>
      <p:sp>
        <p:nvSpPr>
          <p:cNvPr id="3" name="Content Placeholder 2"/>
          <p:cNvSpPr>
            <a:spLocks noGrp="1"/>
          </p:cNvSpPr>
          <p:nvPr>
            <p:ph idx="1"/>
          </p:nvPr>
        </p:nvSpPr>
        <p:spPr/>
        <p:txBody>
          <a:bodyPr>
            <a:normAutofit fontScale="85000" lnSpcReduction="20000"/>
          </a:bodyPr>
          <a:lstStyle/>
          <a:p>
            <a:pPr algn="just"/>
            <a:r>
              <a:rPr lang="en-US" dirty="0"/>
              <a:t>The task of AI is to design an agent program which implements the agent function. The structure of an intelligent agent is a combination of architecture and agent program. It can be viewed as:</a:t>
            </a:r>
          </a:p>
          <a:p>
            <a:pPr algn="just">
              <a:buNone/>
            </a:pPr>
            <a:r>
              <a:rPr lang="en-US" dirty="0"/>
              <a:t>		</a:t>
            </a:r>
            <a:r>
              <a:rPr lang="en-US" b="1" dirty="0"/>
              <a:t>Agent = Architecture + Agent program  </a:t>
            </a:r>
          </a:p>
          <a:p>
            <a:pPr algn="just">
              <a:buNone/>
            </a:pPr>
            <a:r>
              <a:rPr lang="en-US" dirty="0"/>
              <a:t>Following are the main three terms involved in the structure of an </a:t>
            </a:r>
          </a:p>
          <a:p>
            <a:pPr algn="just">
              <a:buNone/>
            </a:pPr>
            <a:r>
              <a:rPr lang="en-US" dirty="0"/>
              <a:t>AI agent:</a:t>
            </a:r>
          </a:p>
          <a:p>
            <a:pPr algn="just"/>
            <a:r>
              <a:rPr lang="en-US" b="1" dirty="0"/>
              <a:t>Architecture:</a:t>
            </a:r>
            <a:r>
              <a:rPr lang="en-US" dirty="0"/>
              <a:t> Architecture is machinery that an AI agent executes on.</a:t>
            </a:r>
          </a:p>
          <a:p>
            <a:pPr algn="just"/>
            <a:r>
              <a:rPr lang="en-US" b="1" dirty="0"/>
              <a:t>Agent Function:</a:t>
            </a:r>
            <a:r>
              <a:rPr lang="en-US" dirty="0"/>
              <a:t> Agent function is used to map a percept to an action.</a:t>
            </a:r>
          </a:p>
          <a:p>
            <a:pPr algn="just"/>
            <a:r>
              <a:rPr lang="en-US" b="1" dirty="0"/>
              <a:t>Agent program:</a:t>
            </a:r>
            <a:r>
              <a:rPr lang="en-US" dirty="0"/>
              <a:t> Agent program is an implementation of agent function. An agent program executes on the physical architecture to produce function .</a:t>
            </a:r>
          </a:p>
          <a:p>
            <a:pPr algn="just"/>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PEAS Representation</a:t>
            </a:r>
          </a:p>
        </p:txBody>
      </p:sp>
      <p:sp>
        <p:nvSpPr>
          <p:cNvPr id="3" name="Content Placeholder 2"/>
          <p:cNvSpPr>
            <a:spLocks noGrp="1"/>
          </p:cNvSpPr>
          <p:nvPr>
            <p:ph idx="1"/>
          </p:nvPr>
        </p:nvSpPr>
        <p:spPr/>
        <p:txBody>
          <a:bodyPr/>
          <a:lstStyle/>
          <a:p>
            <a:pPr algn="just">
              <a:buNone/>
            </a:pPr>
            <a:r>
              <a:rPr lang="en-US" dirty="0"/>
              <a:t>PEAS is a type of model on which an AI agent works upon. When we define an AI agent or rational agent, then we can group its properties under PEAS representation model. It is made up of four words:</a:t>
            </a:r>
          </a:p>
          <a:p>
            <a:pPr lvl="2" algn="just"/>
            <a:r>
              <a:rPr lang="en-US" b="1" dirty="0"/>
              <a:t>P:</a:t>
            </a:r>
            <a:r>
              <a:rPr lang="en-US" dirty="0"/>
              <a:t> Performance measure</a:t>
            </a:r>
          </a:p>
          <a:p>
            <a:pPr lvl="2"/>
            <a:r>
              <a:rPr lang="en-US" b="1" dirty="0"/>
              <a:t>E:</a:t>
            </a:r>
            <a:r>
              <a:rPr lang="en-US" dirty="0"/>
              <a:t> Environment</a:t>
            </a:r>
          </a:p>
          <a:p>
            <a:pPr lvl="2"/>
            <a:r>
              <a:rPr lang="en-US" b="1" dirty="0"/>
              <a:t>A:</a:t>
            </a:r>
            <a:r>
              <a:rPr lang="en-US" dirty="0"/>
              <a:t> Actuators</a:t>
            </a:r>
          </a:p>
          <a:p>
            <a:pPr lvl="2"/>
            <a:r>
              <a:rPr lang="en-US" b="1" dirty="0"/>
              <a:t>S:</a:t>
            </a:r>
            <a:r>
              <a:rPr lang="en-US" dirty="0"/>
              <a:t> Sensors</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PEAS for self-driving cars</a:t>
            </a:r>
          </a:p>
        </p:txBody>
      </p:sp>
      <p:pic>
        <p:nvPicPr>
          <p:cNvPr id="1026" name="Picture 2"/>
          <p:cNvPicPr>
            <a:picLocks noGrp="1" noChangeAspect="1" noChangeArrowheads="1"/>
          </p:cNvPicPr>
          <p:nvPr>
            <p:ph idx="1"/>
          </p:nvPr>
        </p:nvPicPr>
        <p:blipFill>
          <a:blip r:embed="rId2" cstate="print"/>
          <a:srcRect/>
          <a:stretch>
            <a:fillRect/>
          </a:stretch>
        </p:blipFill>
        <p:spPr bwMode="auto">
          <a:xfrm>
            <a:off x="338890" y="2209800"/>
            <a:ext cx="8399721" cy="38100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Self-driving cars</a:t>
            </a:r>
          </a:p>
        </p:txBody>
      </p:sp>
      <p:sp>
        <p:nvSpPr>
          <p:cNvPr id="3" name="Content Placeholder 2"/>
          <p:cNvSpPr>
            <a:spLocks noGrp="1"/>
          </p:cNvSpPr>
          <p:nvPr>
            <p:ph idx="1"/>
          </p:nvPr>
        </p:nvSpPr>
        <p:spPr/>
        <p:txBody>
          <a:bodyPr/>
          <a:lstStyle/>
          <a:p>
            <a:pPr algn="just">
              <a:buNone/>
            </a:pPr>
            <a:r>
              <a:rPr lang="en-US" dirty="0"/>
              <a:t>Let's suppose a self-driving car then PEAS representation will be:</a:t>
            </a:r>
          </a:p>
          <a:p>
            <a:pPr lvl="1" algn="just"/>
            <a:r>
              <a:rPr lang="en-US" b="1" dirty="0"/>
              <a:t>Performance:</a:t>
            </a:r>
            <a:r>
              <a:rPr lang="en-US" dirty="0"/>
              <a:t> Safety, time, legal drive, comfort</a:t>
            </a:r>
          </a:p>
          <a:p>
            <a:pPr lvl="1" algn="just"/>
            <a:r>
              <a:rPr lang="en-US" b="1" dirty="0"/>
              <a:t>Environment:</a:t>
            </a:r>
            <a:r>
              <a:rPr lang="en-US" dirty="0"/>
              <a:t> Roads, other vehicles, road signs</a:t>
            </a:r>
          </a:p>
          <a:p>
            <a:pPr lvl="1" algn="just"/>
            <a:r>
              <a:rPr lang="en-US" b="1" dirty="0"/>
              <a:t>Actuators:</a:t>
            </a:r>
            <a:r>
              <a:rPr lang="en-US" dirty="0"/>
              <a:t> Steering, accelerator, brake, signal, horn</a:t>
            </a:r>
          </a:p>
          <a:p>
            <a:pPr lvl="1" algn="just"/>
            <a:r>
              <a:rPr lang="en-US" b="1" dirty="0"/>
              <a:t>Sensors:</a:t>
            </a:r>
            <a:r>
              <a:rPr lang="en-US" dirty="0"/>
              <a:t> Camera, GPS, speedometer, odometer, accelerometer, sonar.</a:t>
            </a:r>
          </a:p>
          <a:p>
            <a:pPr algn="just"/>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Example of Agents with their PEAS representation</a:t>
            </a:r>
          </a:p>
        </p:txBody>
      </p:sp>
      <p:pic>
        <p:nvPicPr>
          <p:cNvPr id="2050" name="Picture 2"/>
          <p:cNvPicPr>
            <a:picLocks noGrp="1" noChangeAspect="1" noChangeArrowheads="1"/>
          </p:cNvPicPr>
          <p:nvPr>
            <p:ph idx="1"/>
          </p:nvPr>
        </p:nvPicPr>
        <p:blipFill>
          <a:blip r:embed="rId2" cstate="print"/>
          <a:srcRect/>
          <a:stretch>
            <a:fillRect/>
          </a:stretch>
        </p:blipFill>
        <p:spPr bwMode="auto">
          <a:xfrm>
            <a:off x="457200" y="1935163"/>
            <a:ext cx="8153400" cy="4389437"/>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Search Algorithms in Artificial Intelligence</a:t>
            </a:r>
          </a:p>
        </p:txBody>
      </p:sp>
      <p:sp>
        <p:nvSpPr>
          <p:cNvPr id="3" name="Content Placeholder 2"/>
          <p:cNvSpPr>
            <a:spLocks noGrp="1"/>
          </p:cNvSpPr>
          <p:nvPr>
            <p:ph idx="1"/>
          </p:nvPr>
        </p:nvSpPr>
        <p:spPr/>
        <p:txBody>
          <a:bodyPr/>
          <a:lstStyle/>
          <a:p>
            <a:pPr algn="just">
              <a:buNone/>
            </a:pPr>
            <a:r>
              <a:rPr lang="en-US" b="1" dirty="0"/>
              <a:t>Problem-solving agents:</a:t>
            </a:r>
          </a:p>
          <a:p>
            <a:pPr algn="just"/>
            <a:r>
              <a:rPr lang="en-US" dirty="0"/>
              <a:t>In Artificial Intelligence, Search techniques are universal problem-solving methods. </a:t>
            </a:r>
            <a:r>
              <a:rPr lang="en-US" b="1" dirty="0"/>
              <a:t>Rational agents</a:t>
            </a:r>
            <a:r>
              <a:rPr lang="en-US" dirty="0"/>
              <a:t> or </a:t>
            </a:r>
            <a:r>
              <a:rPr lang="en-US" b="1" dirty="0"/>
              <a:t>Problem-solving agents</a:t>
            </a:r>
            <a:r>
              <a:rPr lang="en-US" dirty="0"/>
              <a:t> in AI mostly used these search strategies or algorithms to solve a specific problem and provide the best result. </a:t>
            </a:r>
          </a:p>
          <a:p>
            <a:pPr algn="just"/>
            <a:r>
              <a:rPr lang="en-US" dirty="0"/>
              <a:t>Problem-solving agents are the goal-based agents and use atomic representation. In this topic, we will learn various problem-solving search algorithms.</a:t>
            </a:r>
          </a:p>
          <a:p>
            <a:pPr algn="just"/>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300" dirty="0"/>
              <a:t>Search Algorithms in Artificial Intelligence</a:t>
            </a:r>
          </a:p>
        </p:txBody>
      </p:sp>
      <p:sp>
        <p:nvSpPr>
          <p:cNvPr id="3" name="Content Placeholder 2"/>
          <p:cNvSpPr>
            <a:spLocks noGrp="1"/>
          </p:cNvSpPr>
          <p:nvPr>
            <p:ph idx="1"/>
          </p:nvPr>
        </p:nvSpPr>
        <p:spPr/>
        <p:txBody>
          <a:bodyPr>
            <a:normAutofit fontScale="92500"/>
          </a:bodyPr>
          <a:lstStyle/>
          <a:p>
            <a:r>
              <a:rPr lang="en-US" b="1" dirty="0"/>
              <a:t>Search:</a:t>
            </a:r>
            <a:r>
              <a:rPr lang="en-US" dirty="0"/>
              <a:t> Searching is a step by step procedure to solve a search-problem in a given search space. A search problem can have three main factors:</a:t>
            </a:r>
          </a:p>
          <a:p>
            <a:pPr lvl="1"/>
            <a:r>
              <a:rPr lang="en-US" b="1" dirty="0"/>
              <a:t>Search Space:</a:t>
            </a:r>
            <a:r>
              <a:rPr lang="en-US" dirty="0"/>
              <a:t> Search space represents a set of possible solutions, which a system may have.</a:t>
            </a:r>
          </a:p>
          <a:p>
            <a:pPr lvl="1"/>
            <a:r>
              <a:rPr lang="en-US" b="1" dirty="0"/>
              <a:t>Start State:</a:t>
            </a:r>
            <a:r>
              <a:rPr lang="en-US" dirty="0"/>
              <a:t> It is a state from where agent begins </a:t>
            </a:r>
            <a:r>
              <a:rPr lang="en-US" b="1" dirty="0"/>
              <a:t>the search</a:t>
            </a:r>
            <a:r>
              <a:rPr lang="en-US" dirty="0"/>
              <a:t>.</a:t>
            </a:r>
          </a:p>
          <a:p>
            <a:pPr lvl="1"/>
            <a:r>
              <a:rPr lang="en-US" b="1" dirty="0"/>
              <a:t>Goal test:</a:t>
            </a:r>
            <a:r>
              <a:rPr lang="en-US" dirty="0"/>
              <a:t> It is a function which observe the current state and returns whether the goal state is achieved or not.</a:t>
            </a:r>
          </a:p>
          <a:p>
            <a:r>
              <a:rPr lang="en-US" b="1" dirty="0"/>
              <a:t>Search tree:</a:t>
            </a:r>
            <a:r>
              <a:rPr lang="en-US" dirty="0"/>
              <a:t> A tree representation of search problem is called Search tree. The root of the search tree is the root node which is corresponding to the initial state.</a:t>
            </a:r>
          </a:p>
          <a:p>
            <a:endParaRPr lang="en-US" dirty="0"/>
          </a:p>
        </p:txBody>
      </p:sp>
      <p:sp>
        <p:nvSpPr>
          <p:cNvPr id="4" name="Title 1">
            <a:extLst>
              <a:ext uri="{FF2B5EF4-FFF2-40B4-BE49-F238E27FC236}">
                <a16:creationId xmlns:a16="http://schemas.microsoft.com/office/drawing/2014/main" xmlns="" id="{5CF15528-027B-307E-2FEE-F5F20EC5BF37}"/>
              </a:ext>
            </a:extLst>
          </p:cNvPr>
          <p:cNvSpPr txBox="1">
            <a:spLocks/>
          </p:cNvSpPr>
          <p:nvPr/>
        </p:nvSpPr>
        <p:spPr>
          <a:xfrm>
            <a:off x="457200" y="228600"/>
            <a:ext cx="8229600" cy="914400"/>
          </a:xfrm>
          <a:prstGeom prst="rect">
            <a:avLst/>
          </a:prstGeom>
        </p:spPr>
        <p:txBody>
          <a:bodyPr vert="horz" lIns="0" rIns="0" bIns="0" anchor="b">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US"/>
              <a:t>Search Algorithm Terminologies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300" dirty="0">
                <a:solidFill>
                  <a:srgbClr val="04617B"/>
                </a:solidFill>
              </a:rPr>
              <a:t>Search Algorithms in Artificial Intelligence</a:t>
            </a:r>
            <a:endParaRPr lang="en-US" dirty="0"/>
          </a:p>
        </p:txBody>
      </p:sp>
      <p:sp>
        <p:nvSpPr>
          <p:cNvPr id="3" name="Content Placeholder 2"/>
          <p:cNvSpPr>
            <a:spLocks noGrp="1"/>
          </p:cNvSpPr>
          <p:nvPr>
            <p:ph idx="1"/>
          </p:nvPr>
        </p:nvSpPr>
        <p:spPr/>
        <p:txBody>
          <a:bodyPr/>
          <a:lstStyle/>
          <a:p>
            <a:r>
              <a:rPr lang="en-US" b="1" dirty="0"/>
              <a:t>Actions:</a:t>
            </a:r>
            <a:r>
              <a:rPr lang="en-US" dirty="0"/>
              <a:t> It gives the description of all the available actions to the agent.</a:t>
            </a:r>
          </a:p>
          <a:p>
            <a:r>
              <a:rPr lang="en-US" b="1" dirty="0"/>
              <a:t>Transition model:</a:t>
            </a:r>
            <a:r>
              <a:rPr lang="en-US" dirty="0"/>
              <a:t> A description of what each action do, can be represented as a transition model.</a:t>
            </a:r>
          </a:p>
          <a:p>
            <a:r>
              <a:rPr lang="en-US" b="1" dirty="0"/>
              <a:t>Path Cost:</a:t>
            </a:r>
            <a:r>
              <a:rPr lang="en-US" dirty="0"/>
              <a:t> It is a function which assigns a numeric cost to each path.</a:t>
            </a:r>
          </a:p>
          <a:p>
            <a:r>
              <a:rPr lang="en-US" b="1" dirty="0"/>
              <a:t>Solution:</a:t>
            </a:r>
            <a:r>
              <a:rPr lang="en-US" dirty="0"/>
              <a:t> It is an action sequence which leads from the start node to the goal node.</a:t>
            </a:r>
          </a:p>
          <a:p>
            <a:r>
              <a:rPr lang="en-US" b="1" dirty="0"/>
              <a:t>Optimal Solution:</a:t>
            </a:r>
            <a:r>
              <a:rPr lang="en-US" dirty="0"/>
              <a:t> If a solution has the lowest cost among all solutions.</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Properties of Search Algorithms</a:t>
            </a:r>
          </a:p>
        </p:txBody>
      </p:sp>
      <p:sp>
        <p:nvSpPr>
          <p:cNvPr id="3" name="Content Placeholder 2"/>
          <p:cNvSpPr>
            <a:spLocks noGrp="1"/>
          </p:cNvSpPr>
          <p:nvPr>
            <p:ph idx="1"/>
          </p:nvPr>
        </p:nvSpPr>
        <p:spPr/>
        <p:txBody>
          <a:bodyPr>
            <a:normAutofit fontScale="92500" lnSpcReduction="10000"/>
          </a:bodyPr>
          <a:lstStyle/>
          <a:p>
            <a:pPr algn="just"/>
            <a:r>
              <a:rPr lang="en-US" b="1" dirty="0"/>
              <a:t>Completeness:</a:t>
            </a:r>
            <a:r>
              <a:rPr lang="en-US" dirty="0"/>
              <a:t> A search algorithm is said to be complete if it guarantees to return a solution if at least any solution exists for any random input.</a:t>
            </a:r>
          </a:p>
          <a:p>
            <a:pPr algn="just"/>
            <a:r>
              <a:rPr lang="en-US" b="1" dirty="0"/>
              <a:t>Optimality:</a:t>
            </a:r>
            <a:r>
              <a:rPr lang="en-US" dirty="0"/>
              <a:t> If a solution found for an algorithm is guaranteed to be the best solution (lowest path cost) among all other solutions, then such a solution for is said to be an optimal solution.</a:t>
            </a:r>
          </a:p>
          <a:p>
            <a:pPr algn="just"/>
            <a:r>
              <a:rPr lang="en-US" b="1" dirty="0"/>
              <a:t>Time Complexity:</a:t>
            </a:r>
            <a:r>
              <a:rPr lang="en-US" dirty="0"/>
              <a:t> Time complexity is a measure of time for an algorithm to complete its task.</a:t>
            </a:r>
          </a:p>
          <a:p>
            <a:pPr algn="just"/>
            <a:r>
              <a:rPr lang="en-US" b="1" dirty="0"/>
              <a:t>Space Complexity:</a:t>
            </a:r>
            <a:r>
              <a:rPr lang="en-US" dirty="0"/>
              <a:t> It is the maximum storage space required at any point during the search, as the complexity of the problem.</a:t>
            </a:r>
          </a:p>
          <a:p>
            <a:pPr algn="just"/>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Types of search algorithms</a:t>
            </a:r>
          </a:p>
        </p:txBody>
      </p:sp>
      <p:sp>
        <p:nvSpPr>
          <p:cNvPr id="3" name="Content Placeholder 2"/>
          <p:cNvSpPr>
            <a:spLocks noGrp="1"/>
          </p:cNvSpPr>
          <p:nvPr>
            <p:ph idx="1"/>
          </p:nvPr>
        </p:nvSpPr>
        <p:spPr>
          <a:xfrm>
            <a:off x="457200" y="1935480"/>
            <a:ext cx="8229600" cy="1264920"/>
          </a:xfrm>
        </p:spPr>
        <p:txBody>
          <a:bodyPr>
            <a:normAutofit/>
          </a:bodyPr>
          <a:lstStyle/>
          <a:p>
            <a:pPr algn="just"/>
            <a:r>
              <a:rPr lang="en-US" sz="1800" b="1" dirty="0"/>
              <a:t>Based on the search problems we can classify the search algorithms into uninformed (Blind search) search and informed search (Heuristic search) algorithms.</a:t>
            </a:r>
          </a:p>
          <a:p>
            <a:pPr algn="just"/>
            <a:endParaRPr lang="en-US" sz="1800" b="1" dirty="0"/>
          </a:p>
          <a:p>
            <a:pPr algn="just"/>
            <a:endParaRPr lang="en-US" sz="1800" dirty="0"/>
          </a:p>
        </p:txBody>
      </p:sp>
      <p:pic>
        <p:nvPicPr>
          <p:cNvPr id="1028" name="Picture 4"/>
          <p:cNvPicPr>
            <a:picLocks noChangeAspect="1" noChangeArrowheads="1"/>
          </p:cNvPicPr>
          <p:nvPr/>
        </p:nvPicPr>
        <p:blipFill>
          <a:blip r:embed="rId2" cstate="print"/>
          <a:srcRect/>
          <a:stretch>
            <a:fillRect/>
          </a:stretch>
        </p:blipFill>
        <p:spPr bwMode="auto">
          <a:xfrm>
            <a:off x="1752600" y="2819400"/>
            <a:ext cx="5486400" cy="373380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0" i="0" dirty="0">
                <a:solidFill>
                  <a:srgbClr val="610B4B"/>
                </a:solidFill>
                <a:effectLst/>
                <a:latin typeface="erdana"/>
              </a:rPr>
              <a:t>Example of BFS algorithm</a:t>
            </a:r>
            <a:endParaRPr lang="en-US" dirty="0"/>
          </a:p>
        </p:txBody>
      </p:sp>
      <p:pic>
        <p:nvPicPr>
          <p:cNvPr id="13" name="Content Placeholder 12">
            <a:extLst>
              <a:ext uri="{FF2B5EF4-FFF2-40B4-BE49-F238E27FC236}">
                <a16:creationId xmlns:a16="http://schemas.microsoft.com/office/drawing/2014/main" xmlns="" id="{2CE93783-60B2-209C-1887-FAFA35EFFD23}"/>
              </a:ext>
            </a:extLst>
          </p:cNvPr>
          <p:cNvPicPr>
            <a:picLocks noGrp="1" noChangeAspect="1"/>
          </p:cNvPicPr>
          <p:nvPr>
            <p:ph sz="half" idx="1"/>
          </p:nvPr>
        </p:nvPicPr>
        <p:blipFill>
          <a:blip r:embed="rId2"/>
          <a:stretch>
            <a:fillRect/>
          </a:stretch>
        </p:blipFill>
        <p:spPr>
          <a:xfrm>
            <a:off x="515972" y="2441338"/>
            <a:ext cx="2057400" cy="838200"/>
          </a:xfrm>
        </p:spPr>
      </p:pic>
      <p:pic>
        <p:nvPicPr>
          <p:cNvPr id="11" name="Content Placeholder 10">
            <a:extLst>
              <a:ext uri="{FF2B5EF4-FFF2-40B4-BE49-F238E27FC236}">
                <a16:creationId xmlns:a16="http://schemas.microsoft.com/office/drawing/2014/main" xmlns="" id="{1359CB26-52CC-0A53-5FCC-B90B8F9B821F}"/>
              </a:ext>
            </a:extLst>
          </p:cNvPr>
          <p:cNvPicPr>
            <a:picLocks noGrp="1" noChangeAspect="1"/>
          </p:cNvPicPr>
          <p:nvPr>
            <p:ph sz="half" idx="2"/>
          </p:nvPr>
        </p:nvPicPr>
        <p:blipFill>
          <a:blip r:embed="rId3"/>
          <a:stretch>
            <a:fillRect/>
          </a:stretch>
        </p:blipFill>
        <p:spPr>
          <a:xfrm>
            <a:off x="3886200" y="2362200"/>
            <a:ext cx="4800600" cy="2895600"/>
          </a:xfrm>
        </p:spPr>
      </p:pic>
      <p:pic>
        <p:nvPicPr>
          <p:cNvPr id="15" name="Picture 14">
            <a:extLst>
              <a:ext uri="{FF2B5EF4-FFF2-40B4-BE49-F238E27FC236}">
                <a16:creationId xmlns:a16="http://schemas.microsoft.com/office/drawing/2014/main" xmlns="" id="{D14D2A3B-73E9-0B85-8F1F-6C71356FC743}"/>
              </a:ext>
            </a:extLst>
          </p:cNvPr>
          <p:cNvPicPr>
            <a:picLocks noChangeAspect="1"/>
          </p:cNvPicPr>
          <p:nvPr/>
        </p:nvPicPr>
        <p:blipFill>
          <a:blip r:embed="rId4"/>
          <a:stretch>
            <a:fillRect/>
          </a:stretch>
        </p:blipFill>
        <p:spPr>
          <a:xfrm>
            <a:off x="498543" y="3567113"/>
            <a:ext cx="2057400" cy="942975"/>
          </a:xfrm>
          <a:prstGeom prst="rect">
            <a:avLst/>
          </a:prstGeom>
        </p:spPr>
      </p:pic>
      <p:pic>
        <p:nvPicPr>
          <p:cNvPr id="17" name="Picture 16">
            <a:extLst>
              <a:ext uri="{FF2B5EF4-FFF2-40B4-BE49-F238E27FC236}">
                <a16:creationId xmlns:a16="http://schemas.microsoft.com/office/drawing/2014/main" xmlns="" id="{0EDB8FA9-6383-8549-FE8C-02B8D28933C3}"/>
              </a:ext>
            </a:extLst>
          </p:cNvPr>
          <p:cNvPicPr>
            <a:picLocks noChangeAspect="1"/>
          </p:cNvPicPr>
          <p:nvPr/>
        </p:nvPicPr>
        <p:blipFill>
          <a:blip r:embed="rId5"/>
          <a:stretch>
            <a:fillRect/>
          </a:stretch>
        </p:blipFill>
        <p:spPr>
          <a:xfrm>
            <a:off x="517595" y="4841437"/>
            <a:ext cx="2055778" cy="9525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D8ADC2-1C93-A4C3-4521-879DB6DA0309}"/>
              </a:ext>
            </a:extLst>
          </p:cNvPr>
          <p:cNvSpPr>
            <a:spLocks noGrp="1"/>
          </p:cNvSpPr>
          <p:nvPr>
            <p:ph type="title"/>
          </p:nvPr>
        </p:nvSpPr>
        <p:spPr>
          <a:xfrm>
            <a:off x="457200" y="346752"/>
            <a:ext cx="8229600" cy="1143000"/>
          </a:xfrm>
        </p:spPr>
        <p:txBody>
          <a:bodyPr/>
          <a:lstStyle/>
          <a:p>
            <a:r>
              <a:rPr lang="en-IN" b="0" i="0" dirty="0">
                <a:solidFill>
                  <a:srgbClr val="610B4B"/>
                </a:solidFill>
                <a:effectLst/>
                <a:latin typeface="erdana"/>
              </a:rPr>
              <a:t>Example of BFS algorithm</a:t>
            </a:r>
            <a:endParaRPr lang="en-IN" dirty="0"/>
          </a:p>
        </p:txBody>
      </p:sp>
      <p:pic>
        <p:nvPicPr>
          <p:cNvPr id="6" name="Content Placeholder 5">
            <a:extLst>
              <a:ext uri="{FF2B5EF4-FFF2-40B4-BE49-F238E27FC236}">
                <a16:creationId xmlns:a16="http://schemas.microsoft.com/office/drawing/2014/main" xmlns="" id="{E96175CD-27E4-C769-02EC-1512D0B359FF}"/>
              </a:ext>
            </a:extLst>
          </p:cNvPr>
          <p:cNvPicPr>
            <a:picLocks noGrp="1" noChangeAspect="1"/>
          </p:cNvPicPr>
          <p:nvPr>
            <p:ph sz="half" idx="1"/>
          </p:nvPr>
        </p:nvPicPr>
        <p:blipFill>
          <a:blip r:embed="rId2"/>
          <a:stretch>
            <a:fillRect/>
          </a:stretch>
        </p:blipFill>
        <p:spPr>
          <a:xfrm>
            <a:off x="554477" y="1842178"/>
            <a:ext cx="2257425" cy="933450"/>
          </a:xfrm>
        </p:spPr>
      </p:pic>
      <p:pic>
        <p:nvPicPr>
          <p:cNvPr id="7" name="Content Placeholder 10">
            <a:extLst>
              <a:ext uri="{FF2B5EF4-FFF2-40B4-BE49-F238E27FC236}">
                <a16:creationId xmlns:a16="http://schemas.microsoft.com/office/drawing/2014/main" xmlns="" id="{889FAE2D-65F0-A217-63D9-08E8716F5C5A}"/>
              </a:ext>
            </a:extLst>
          </p:cNvPr>
          <p:cNvPicPr>
            <a:picLocks noGrp="1" noChangeAspect="1"/>
          </p:cNvPicPr>
          <p:nvPr>
            <p:ph sz="half" idx="2"/>
          </p:nvPr>
        </p:nvPicPr>
        <p:blipFill>
          <a:blip r:embed="rId3"/>
          <a:stretch>
            <a:fillRect/>
          </a:stretch>
        </p:blipFill>
        <p:spPr>
          <a:xfrm>
            <a:off x="3962400" y="2286000"/>
            <a:ext cx="4724400" cy="2525786"/>
          </a:xfrm>
        </p:spPr>
      </p:pic>
      <p:pic>
        <p:nvPicPr>
          <p:cNvPr id="9" name="Picture 8">
            <a:extLst>
              <a:ext uri="{FF2B5EF4-FFF2-40B4-BE49-F238E27FC236}">
                <a16:creationId xmlns:a16="http://schemas.microsoft.com/office/drawing/2014/main" xmlns="" id="{232ADE99-B154-2195-0ABE-4CADA7487473}"/>
              </a:ext>
            </a:extLst>
          </p:cNvPr>
          <p:cNvPicPr>
            <a:picLocks noChangeAspect="1"/>
          </p:cNvPicPr>
          <p:nvPr/>
        </p:nvPicPr>
        <p:blipFill>
          <a:blip r:embed="rId4"/>
          <a:stretch>
            <a:fillRect/>
          </a:stretch>
        </p:blipFill>
        <p:spPr>
          <a:xfrm>
            <a:off x="570690" y="3060317"/>
            <a:ext cx="2257425" cy="952500"/>
          </a:xfrm>
          <a:prstGeom prst="rect">
            <a:avLst/>
          </a:prstGeom>
        </p:spPr>
      </p:pic>
      <p:pic>
        <p:nvPicPr>
          <p:cNvPr id="11" name="Picture 10">
            <a:extLst>
              <a:ext uri="{FF2B5EF4-FFF2-40B4-BE49-F238E27FC236}">
                <a16:creationId xmlns:a16="http://schemas.microsoft.com/office/drawing/2014/main" xmlns="" id="{EF2446DF-D1DA-7910-E29A-FE377CB2E5D1}"/>
              </a:ext>
            </a:extLst>
          </p:cNvPr>
          <p:cNvPicPr>
            <a:picLocks noChangeAspect="1"/>
          </p:cNvPicPr>
          <p:nvPr/>
        </p:nvPicPr>
        <p:blipFill>
          <a:blip r:embed="rId5"/>
          <a:stretch>
            <a:fillRect/>
          </a:stretch>
        </p:blipFill>
        <p:spPr>
          <a:xfrm>
            <a:off x="573933" y="4346193"/>
            <a:ext cx="2254182" cy="962025"/>
          </a:xfrm>
          <a:prstGeom prst="rect">
            <a:avLst/>
          </a:prstGeom>
        </p:spPr>
      </p:pic>
      <p:pic>
        <p:nvPicPr>
          <p:cNvPr id="13" name="Picture 12">
            <a:extLst>
              <a:ext uri="{FF2B5EF4-FFF2-40B4-BE49-F238E27FC236}">
                <a16:creationId xmlns:a16="http://schemas.microsoft.com/office/drawing/2014/main" xmlns="" id="{783B1434-67E4-384C-C591-2F63ABA1371E}"/>
              </a:ext>
            </a:extLst>
          </p:cNvPr>
          <p:cNvPicPr>
            <a:picLocks noChangeAspect="1"/>
          </p:cNvPicPr>
          <p:nvPr/>
        </p:nvPicPr>
        <p:blipFill>
          <a:blip r:embed="rId6"/>
          <a:stretch>
            <a:fillRect/>
          </a:stretch>
        </p:blipFill>
        <p:spPr>
          <a:xfrm>
            <a:off x="554477" y="5583382"/>
            <a:ext cx="2341124" cy="971550"/>
          </a:xfrm>
          <a:prstGeom prst="rect">
            <a:avLst/>
          </a:prstGeom>
        </p:spPr>
      </p:pic>
      <p:sp>
        <p:nvSpPr>
          <p:cNvPr id="14" name="Title 1">
            <a:extLst>
              <a:ext uri="{FF2B5EF4-FFF2-40B4-BE49-F238E27FC236}">
                <a16:creationId xmlns:a16="http://schemas.microsoft.com/office/drawing/2014/main" xmlns="" id="{E942D494-0669-8D2D-18CE-FB24D9A035C0}"/>
              </a:ext>
            </a:extLst>
          </p:cNvPr>
          <p:cNvSpPr txBox="1">
            <a:spLocks/>
          </p:cNvSpPr>
          <p:nvPr/>
        </p:nvSpPr>
        <p:spPr>
          <a:xfrm>
            <a:off x="3200400" y="5308218"/>
            <a:ext cx="5257800" cy="1143000"/>
          </a:xfrm>
          <a:prstGeom prst="rect">
            <a:avLst/>
          </a:prstGeom>
        </p:spPr>
        <p:txBody>
          <a:bodyPr vert="horz" lIns="0" rIns="0" bIns="0" anchor="b">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US" sz="2800" dirty="0">
                <a:solidFill>
                  <a:srgbClr val="FF0000"/>
                </a:solidFill>
                <a:highlight>
                  <a:srgbClr val="FFFF00"/>
                </a:highlight>
                <a:latin typeface="Times New Roman" panose="02020603050405020304" pitchFamily="18" charset="0"/>
                <a:cs typeface="Times New Roman" panose="02020603050405020304" pitchFamily="18" charset="0"/>
              </a:rPr>
              <a:t>Result</a:t>
            </a:r>
            <a:r>
              <a:rPr lang="en-IN" sz="2800" dirty="0">
                <a:solidFill>
                  <a:srgbClr val="FF0000"/>
                </a:solidFill>
                <a:highlight>
                  <a:srgbClr val="FFFF00"/>
                </a:highlight>
                <a:latin typeface="Times New Roman" panose="02020603050405020304" pitchFamily="18" charset="0"/>
                <a:cs typeface="Times New Roman" panose="02020603050405020304" pitchFamily="18" charset="0"/>
              </a:rPr>
              <a:t>: ABDCFEG</a:t>
            </a:r>
          </a:p>
        </p:txBody>
      </p:sp>
    </p:spTree>
    <p:extLst>
      <p:ext uri="{BB962C8B-B14F-4D97-AF65-F5344CB8AC3E}">
        <p14:creationId xmlns:p14="http://schemas.microsoft.com/office/powerpoint/2010/main" val="38987954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4AE97D-7834-B88F-B692-969DF33EB28C}"/>
              </a:ext>
            </a:extLst>
          </p:cNvPr>
          <p:cNvSpPr>
            <a:spLocks noGrp="1"/>
          </p:cNvSpPr>
          <p:nvPr>
            <p:ph type="title"/>
          </p:nvPr>
        </p:nvSpPr>
        <p:spPr/>
        <p:txBody>
          <a:bodyPr>
            <a:normAutofit fontScale="90000"/>
          </a:bodyPr>
          <a:lstStyle/>
          <a:p>
            <a:r>
              <a:rPr lang="en-US" b="0" i="0" dirty="0">
                <a:solidFill>
                  <a:srgbClr val="610B38"/>
                </a:solidFill>
                <a:effectLst/>
                <a:latin typeface="erdana"/>
              </a:rPr>
              <a:t>DFS (Depth First Search) algorithm</a:t>
            </a:r>
            <a:endParaRPr lang="en-IN" dirty="0"/>
          </a:p>
        </p:txBody>
      </p:sp>
      <p:pic>
        <p:nvPicPr>
          <p:cNvPr id="6" name="Content Placeholder 5">
            <a:extLst>
              <a:ext uri="{FF2B5EF4-FFF2-40B4-BE49-F238E27FC236}">
                <a16:creationId xmlns:a16="http://schemas.microsoft.com/office/drawing/2014/main" xmlns="" id="{35DA51DC-DB43-E82E-1199-82DBAB7C9CF0}"/>
              </a:ext>
            </a:extLst>
          </p:cNvPr>
          <p:cNvPicPr>
            <a:picLocks noGrp="1" noChangeAspect="1"/>
          </p:cNvPicPr>
          <p:nvPr>
            <p:ph sz="half" idx="2"/>
          </p:nvPr>
        </p:nvPicPr>
        <p:blipFill>
          <a:blip r:embed="rId2"/>
          <a:stretch>
            <a:fillRect/>
          </a:stretch>
        </p:blipFill>
        <p:spPr>
          <a:xfrm>
            <a:off x="4648200" y="2057400"/>
            <a:ext cx="4038600" cy="3352799"/>
          </a:xfrm>
        </p:spPr>
      </p:pic>
      <p:sp>
        <p:nvSpPr>
          <p:cNvPr id="7" name="Rectangle 1">
            <a:extLst>
              <a:ext uri="{FF2B5EF4-FFF2-40B4-BE49-F238E27FC236}">
                <a16:creationId xmlns:a16="http://schemas.microsoft.com/office/drawing/2014/main" xmlns="" id="{A00683DA-8B1E-0538-2562-23B05921BD6D}"/>
              </a:ext>
            </a:extLst>
          </p:cNvPr>
          <p:cNvSpPr>
            <a:spLocks noGrp="1" noChangeArrowheads="1"/>
          </p:cNvSpPr>
          <p:nvPr>
            <p:ph sz="half" idx="1"/>
          </p:nvPr>
        </p:nvSpPr>
        <p:spPr bwMode="auto">
          <a:xfrm>
            <a:off x="457200" y="1829181"/>
            <a:ext cx="3733800" cy="461664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Step 1</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 H  </a:t>
            </a:r>
            <a:endPar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Step 2</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1.Print: 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 A  </a:t>
            </a:r>
            <a:endPar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Step 3</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Print: A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 B, D  </a:t>
            </a:r>
            <a:endPar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Step 4</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Print: D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 B, F  </a:t>
            </a:r>
            <a:endPar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Step 5</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Print: F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 B  </a:t>
            </a:r>
            <a:endPar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13718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7A9CAD-29FF-D04E-1930-25AC25412E0D}"/>
              </a:ext>
            </a:extLst>
          </p:cNvPr>
          <p:cNvSpPr>
            <a:spLocks noGrp="1"/>
          </p:cNvSpPr>
          <p:nvPr>
            <p:ph type="title"/>
          </p:nvPr>
        </p:nvSpPr>
        <p:spPr/>
        <p:txBody>
          <a:bodyPr>
            <a:normAutofit fontScale="90000"/>
          </a:bodyPr>
          <a:lstStyle/>
          <a:p>
            <a:r>
              <a:rPr lang="en-US" b="0" i="0" dirty="0">
                <a:solidFill>
                  <a:srgbClr val="610B38"/>
                </a:solidFill>
                <a:effectLst/>
                <a:latin typeface="erdana"/>
              </a:rPr>
              <a:t>DFS (Depth First Search) algorithm</a:t>
            </a:r>
            <a:endParaRPr lang="en-IN" dirty="0"/>
          </a:p>
        </p:txBody>
      </p:sp>
      <p:sp>
        <p:nvSpPr>
          <p:cNvPr id="3" name="Content Placeholder 2">
            <a:extLst>
              <a:ext uri="{FF2B5EF4-FFF2-40B4-BE49-F238E27FC236}">
                <a16:creationId xmlns:a16="http://schemas.microsoft.com/office/drawing/2014/main" xmlns="" id="{C203394A-860C-1816-DFCA-FD9B80EB0FF7}"/>
              </a:ext>
            </a:extLst>
          </p:cNvPr>
          <p:cNvSpPr>
            <a:spLocks noGrp="1"/>
          </p:cNvSpPr>
          <p:nvPr>
            <p:ph sz="half"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Step 6</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Print: B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 C  </a:t>
            </a:r>
            <a:endPar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Step 7</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Print: C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 E, G  </a:t>
            </a:r>
            <a:endPar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Step 8</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Print: G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 E  </a:t>
            </a:r>
            <a:endPar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Step 9</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Print: E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FF0000"/>
                </a:solidFill>
                <a:effectLst/>
                <a:highlight>
                  <a:srgbClr val="FFFF00"/>
                </a:highlight>
                <a:latin typeface="Times New Roman" panose="02020603050405020304" pitchFamily="18" charset="0"/>
                <a:cs typeface="Times New Roman" panose="02020603050405020304" pitchFamily="18" charset="0"/>
              </a:rPr>
              <a:t>Output: HADFBCGE</a:t>
            </a:r>
          </a:p>
          <a:p>
            <a:endParaRPr lang="en-IN" sz="2000" dirty="0">
              <a:latin typeface="Times New Roman" panose="02020603050405020304" pitchFamily="18" charset="0"/>
              <a:cs typeface="Times New Roman" panose="02020603050405020304" pitchFamily="18" charset="0"/>
            </a:endParaRPr>
          </a:p>
        </p:txBody>
      </p:sp>
      <p:pic>
        <p:nvPicPr>
          <p:cNvPr id="5" name="Content Placeholder 5">
            <a:extLst>
              <a:ext uri="{FF2B5EF4-FFF2-40B4-BE49-F238E27FC236}">
                <a16:creationId xmlns:a16="http://schemas.microsoft.com/office/drawing/2014/main" xmlns="" id="{83E68B11-8B56-73F2-50EA-87EE74C36942}"/>
              </a:ext>
            </a:extLst>
          </p:cNvPr>
          <p:cNvPicPr>
            <a:picLocks noGrp="1" noChangeAspect="1"/>
          </p:cNvPicPr>
          <p:nvPr>
            <p:ph sz="half" idx="2"/>
          </p:nvPr>
        </p:nvPicPr>
        <p:blipFill>
          <a:blip r:embed="rId2"/>
          <a:stretch>
            <a:fillRect/>
          </a:stretch>
        </p:blipFill>
        <p:spPr>
          <a:xfrm>
            <a:off x="4648200" y="2133601"/>
            <a:ext cx="4038600" cy="2818726"/>
          </a:xfrm>
        </p:spPr>
      </p:pic>
    </p:spTree>
    <p:extLst>
      <p:ext uri="{BB962C8B-B14F-4D97-AF65-F5344CB8AC3E}">
        <p14:creationId xmlns:p14="http://schemas.microsoft.com/office/powerpoint/2010/main" val="3509020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30E685-86D0-55C9-7F65-2F16F9F0DD28}"/>
              </a:ext>
            </a:extLst>
          </p:cNvPr>
          <p:cNvSpPr>
            <a:spLocks noGrp="1"/>
          </p:cNvSpPr>
          <p:nvPr>
            <p:ph type="title"/>
          </p:nvPr>
        </p:nvSpPr>
        <p:spPr>
          <a:xfrm>
            <a:off x="457200" y="457200"/>
            <a:ext cx="8229600" cy="856488"/>
          </a:xfrm>
        </p:spPr>
        <p:txBody>
          <a:bodyPr>
            <a:normAutofit/>
          </a:bodyPr>
          <a:lstStyle/>
          <a:p>
            <a:r>
              <a:rPr lang="en-IN" b="0" i="0" dirty="0">
                <a:solidFill>
                  <a:srgbClr val="610B38"/>
                </a:solidFill>
                <a:effectLst/>
                <a:latin typeface="erdana"/>
              </a:rPr>
              <a:t>Hill Climbing Algorithm</a:t>
            </a:r>
            <a:endParaRPr lang="en-IN" dirty="0"/>
          </a:p>
        </p:txBody>
      </p:sp>
      <p:sp>
        <p:nvSpPr>
          <p:cNvPr id="3" name="Content Placeholder 2">
            <a:extLst>
              <a:ext uri="{FF2B5EF4-FFF2-40B4-BE49-F238E27FC236}">
                <a16:creationId xmlns:a16="http://schemas.microsoft.com/office/drawing/2014/main" xmlns="" id="{1579328D-6D34-EADE-C11D-3A8E762B68AB}"/>
              </a:ext>
            </a:extLst>
          </p:cNvPr>
          <p:cNvSpPr>
            <a:spLocks noGrp="1"/>
          </p:cNvSpPr>
          <p:nvPr>
            <p:ph sz="half" idx="1"/>
          </p:nvPr>
        </p:nvSpPr>
        <p:spPr/>
        <p:txBody>
          <a:bodyPr>
            <a:normAutofit fontScale="92500" lnSpcReduction="10000"/>
          </a:bodyPr>
          <a:lstStyle/>
          <a:p>
            <a:pPr algn="just"/>
            <a:r>
              <a:rPr lang="en-US" b="0" i="0" dirty="0">
                <a:solidFill>
                  <a:srgbClr val="000000"/>
                </a:solidFill>
                <a:effectLst/>
                <a:latin typeface="inter-regular"/>
              </a:rPr>
              <a:t>Hill climbing algorithm is a local search algorithm which continuously moves in the direction of increasing elevation/value to find the peak of the mountain or best solution to the problem. It terminates when it reaches a peak value where no neighbor has a higher value.</a:t>
            </a:r>
          </a:p>
          <a:p>
            <a:pPr algn="just"/>
            <a:endParaRPr lang="en-IN" dirty="0"/>
          </a:p>
        </p:txBody>
      </p:sp>
      <p:pic>
        <p:nvPicPr>
          <p:cNvPr id="6" name="Content Placeholder 5">
            <a:extLst>
              <a:ext uri="{FF2B5EF4-FFF2-40B4-BE49-F238E27FC236}">
                <a16:creationId xmlns:a16="http://schemas.microsoft.com/office/drawing/2014/main" xmlns="" id="{2B87DB55-A8F8-76E0-1AC7-1E1DD07976E0}"/>
              </a:ext>
            </a:extLst>
          </p:cNvPr>
          <p:cNvPicPr>
            <a:picLocks noGrp="1" noChangeAspect="1"/>
          </p:cNvPicPr>
          <p:nvPr>
            <p:ph sz="half" idx="2"/>
          </p:nvPr>
        </p:nvPicPr>
        <p:blipFill>
          <a:blip r:embed="rId2"/>
          <a:stretch>
            <a:fillRect/>
          </a:stretch>
        </p:blipFill>
        <p:spPr>
          <a:xfrm>
            <a:off x="4648200" y="1600200"/>
            <a:ext cx="4038600" cy="4495800"/>
          </a:xfrm>
        </p:spPr>
      </p:pic>
    </p:spTree>
    <p:extLst>
      <p:ext uri="{BB962C8B-B14F-4D97-AF65-F5344CB8AC3E}">
        <p14:creationId xmlns:p14="http://schemas.microsoft.com/office/powerpoint/2010/main" val="558856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470700D7-D671-9E00-04CF-34001DACF2D1}"/>
              </a:ext>
            </a:extLst>
          </p:cNvPr>
          <p:cNvSpPr>
            <a:spLocks noGrp="1"/>
          </p:cNvSpPr>
          <p:nvPr>
            <p:ph type="title"/>
          </p:nvPr>
        </p:nvSpPr>
        <p:spPr/>
        <p:txBody>
          <a:bodyPr>
            <a:normAutofit/>
          </a:bodyPr>
          <a:lstStyle/>
          <a:p>
            <a:r>
              <a:rPr lang="en-US" b="0" i="0" dirty="0">
                <a:solidFill>
                  <a:srgbClr val="610B38"/>
                </a:solidFill>
                <a:effectLst/>
                <a:latin typeface="erdana"/>
              </a:rPr>
              <a:t>Features of Hill Climbing:</a:t>
            </a:r>
            <a:endParaRPr lang="en-IN" dirty="0"/>
          </a:p>
        </p:txBody>
      </p:sp>
      <p:sp>
        <p:nvSpPr>
          <p:cNvPr id="6" name="Content Placeholder 5">
            <a:extLst>
              <a:ext uri="{FF2B5EF4-FFF2-40B4-BE49-F238E27FC236}">
                <a16:creationId xmlns:a16="http://schemas.microsoft.com/office/drawing/2014/main" xmlns="" id="{84C6A449-2D76-711A-4E27-4EE959092ED6}"/>
              </a:ext>
            </a:extLst>
          </p:cNvPr>
          <p:cNvSpPr>
            <a:spLocks noGrp="1"/>
          </p:cNvSpPr>
          <p:nvPr>
            <p:ph idx="1"/>
          </p:nvPr>
        </p:nvSpPr>
        <p:spPr/>
        <p:txBody>
          <a:bodyPr>
            <a:normAutofit/>
          </a:bodyPr>
          <a:lstStyle/>
          <a:p>
            <a:pPr algn="just">
              <a:buFont typeface="Arial" panose="020B0604020202020204" pitchFamily="34" charset="0"/>
              <a:buChar char="•"/>
            </a:pPr>
            <a:r>
              <a:rPr lang="en-US" b="1" i="0" dirty="0">
                <a:solidFill>
                  <a:srgbClr val="000000"/>
                </a:solidFill>
                <a:effectLst/>
                <a:latin typeface="inter-bold"/>
              </a:rPr>
              <a:t>Generate and Test variant:</a:t>
            </a:r>
            <a:r>
              <a:rPr lang="en-US" b="0" i="0" dirty="0">
                <a:solidFill>
                  <a:srgbClr val="000000"/>
                </a:solidFill>
                <a:effectLst/>
                <a:latin typeface="inter-regular"/>
              </a:rPr>
              <a:t> Hill Climbing is the variant of Generate and Test method. The Generate and Test method produce feedback which helps to decide which direction to move in the search space.</a:t>
            </a:r>
          </a:p>
          <a:p>
            <a:pPr algn="just">
              <a:buFont typeface="Arial" panose="020B0604020202020204" pitchFamily="34" charset="0"/>
              <a:buChar char="•"/>
            </a:pPr>
            <a:r>
              <a:rPr lang="en-US" b="1" i="0" dirty="0">
                <a:solidFill>
                  <a:srgbClr val="000000"/>
                </a:solidFill>
                <a:effectLst/>
                <a:latin typeface="inter-bold"/>
              </a:rPr>
              <a:t>Greedy approach:</a:t>
            </a:r>
            <a:r>
              <a:rPr lang="en-US" b="0" i="0" dirty="0">
                <a:solidFill>
                  <a:srgbClr val="000000"/>
                </a:solidFill>
                <a:effectLst/>
                <a:latin typeface="inter-regular"/>
              </a:rPr>
              <a:t> Hill-climbing algorithm search moves in the direction which optimizes the cost.</a:t>
            </a:r>
          </a:p>
          <a:p>
            <a:pPr algn="just">
              <a:buFont typeface="Arial" panose="020B0604020202020204" pitchFamily="34" charset="0"/>
              <a:buChar char="•"/>
            </a:pPr>
            <a:r>
              <a:rPr lang="en-US" b="1" i="0" dirty="0">
                <a:solidFill>
                  <a:srgbClr val="000000"/>
                </a:solidFill>
                <a:effectLst/>
                <a:latin typeface="inter-bold"/>
              </a:rPr>
              <a:t>No backtracking:</a:t>
            </a:r>
            <a:r>
              <a:rPr lang="en-US" b="0" i="0" dirty="0">
                <a:solidFill>
                  <a:srgbClr val="000000"/>
                </a:solidFill>
                <a:effectLst/>
                <a:latin typeface="inter-regular"/>
              </a:rPr>
              <a:t> It does not backtrack the search space, as it does not remember the previous states.</a:t>
            </a:r>
          </a:p>
          <a:p>
            <a:endParaRPr lang="en-IN" dirty="0"/>
          </a:p>
        </p:txBody>
      </p:sp>
    </p:spTree>
    <p:extLst>
      <p:ext uri="{BB962C8B-B14F-4D97-AF65-F5344CB8AC3E}">
        <p14:creationId xmlns:p14="http://schemas.microsoft.com/office/powerpoint/2010/main" val="24145325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931FDD57-BD57-A42A-E6B2-B5A40E43C430}"/>
              </a:ext>
            </a:extLst>
          </p:cNvPr>
          <p:cNvSpPr>
            <a:spLocks noGrp="1"/>
          </p:cNvSpPr>
          <p:nvPr>
            <p:ph type="title"/>
          </p:nvPr>
        </p:nvSpPr>
        <p:spPr>
          <a:xfrm>
            <a:off x="433377" y="304800"/>
            <a:ext cx="8229600" cy="1143000"/>
          </a:xfrm>
        </p:spPr>
        <p:txBody>
          <a:bodyPr>
            <a:normAutofit/>
          </a:bodyPr>
          <a:lstStyle/>
          <a:p>
            <a:r>
              <a:rPr lang="en-IN" b="0" i="0" dirty="0">
                <a:solidFill>
                  <a:srgbClr val="610B38"/>
                </a:solidFill>
                <a:effectLst/>
                <a:latin typeface="erdana"/>
              </a:rPr>
              <a:t>Best-first Search Algorithm</a:t>
            </a:r>
            <a:endParaRPr lang="en-IN" dirty="0"/>
          </a:p>
        </p:txBody>
      </p:sp>
      <p:pic>
        <p:nvPicPr>
          <p:cNvPr id="8" name="Content Placeholder 7">
            <a:extLst>
              <a:ext uri="{FF2B5EF4-FFF2-40B4-BE49-F238E27FC236}">
                <a16:creationId xmlns:a16="http://schemas.microsoft.com/office/drawing/2014/main" xmlns="" id="{DA104FF0-6124-8944-56C6-2954A06D4AC6}"/>
              </a:ext>
            </a:extLst>
          </p:cNvPr>
          <p:cNvPicPr>
            <a:picLocks noGrp="1" noChangeAspect="1"/>
          </p:cNvPicPr>
          <p:nvPr>
            <p:ph sz="half" idx="2"/>
          </p:nvPr>
        </p:nvPicPr>
        <p:blipFill>
          <a:blip r:embed="rId2"/>
          <a:stretch>
            <a:fillRect/>
          </a:stretch>
        </p:blipFill>
        <p:spPr>
          <a:xfrm>
            <a:off x="4648200" y="2133600"/>
            <a:ext cx="4419600" cy="3355803"/>
          </a:xfrm>
        </p:spPr>
      </p:pic>
      <p:sp>
        <p:nvSpPr>
          <p:cNvPr id="9" name="Rectangle 1">
            <a:extLst>
              <a:ext uri="{FF2B5EF4-FFF2-40B4-BE49-F238E27FC236}">
                <a16:creationId xmlns:a16="http://schemas.microsoft.com/office/drawing/2014/main" xmlns="" id="{6D9A085E-05AB-FA22-4D40-89DFFAA84932}"/>
              </a:ext>
            </a:extLst>
          </p:cNvPr>
          <p:cNvSpPr>
            <a:spLocks noGrp="1" noChangeArrowheads="1"/>
          </p:cNvSpPr>
          <p:nvPr>
            <p:ph sz="half" idx="1"/>
          </p:nvPr>
        </p:nvSpPr>
        <p:spPr bwMode="auto">
          <a:xfrm>
            <a:off x="433377" y="2159080"/>
            <a:ext cx="4086247" cy="395685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16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Initialization:</a:t>
            </a:r>
            <a:r>
              <a:rPr kumimoji="0" lang="en-US" altLang="en-US" sz="16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Open [A, B], Closed [S]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16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Iteration 1:</a:t>
            </a:r>
            <a:r>
              <a:rPr kumimoji="0" lang="en-US" altLang="en-US" sz="16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Open [A], Closed [S, B]</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16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Iteration 2:</a:t>
            </a:r>
            <a:r>
              <a:rPr kumimoji="0" lang="en-US" altLang="en-US" sz="16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Open [E, F, A], Closed [S, B]</a:t>
            </a:r>
            <a:br>
              <a:rPr kumimoji="0" lang="en-US" altLang="en-US" sz="16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 Open [E, A], Closed [S, B, F]</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16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Iteration 3:</a:t>
            </a:r>
            <a:r>
              <a:rPr kumimoji="0" lang="en-US" altLang="en-US" sz="16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Open [I, G, E, A], Closed [S, B, F]</a:t>
            </a:r>
            <a:br>
              <a:rPr kumimoji="0" lang="en-US" altLang="en-US" sz="16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 Open [I, E, A], Closed [S, B, F, G]</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16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Hence the final solution path will be: </a:t>
            </a:r>
          </a:p>
          <a:p>
            <a:pPr marL="0" marR="0" lvl="0" indent="0" algn="ctr" defTabSz="914400" rtl="0" eaLnBrk="0" fontAlgn="base" latinLnBrk="0" hangingPunct="0">
              <a:lnSpc>
                <a:spcPct val="200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highlight>
                  <a:srgbClr val="FFFF00"/>
                </a:highlight>
                <a:latin typeface="Times New Roman" panose="02020603050405020304" pitchFamily="18" charset="0"/>
                <a:cs typeface="Times New Roman" panose="02020603050405020304" pitchFamily="18" charset="0"/>
              </a:rPr>
              <a:t>S----&gt; B-----&gt;F----&gt; G</a:t>
            </a:r>
            <a:endParaRPr kumimoji="0" lang="en-US" altLang="en-US" sz="1600" b="0" i="0" u="none" strike="noStrike" cap="none" normalizeH="0" baseline="0" dirty="0">
              <a:ln>
                <a:noFill/>
              </a:ln>
              <a:solidFill>
                <a:srgbClr val="FF0000"/>
              </a:solidFill>
              <a:effectLst/>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37169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87E742-D538-8C9D-45A6-C8A1ACC35AB6}"/>
              </a:ext>
            </a:extLst>
          </p:cNvPr>
          <p:cNvSpPr>
            <a:spLocks noGrp="1"/>
          </p:cNvSpPr>
          <p:nvPr>
            <p:ph type="title"/>
          </p:nvPr>
        </p:nvSpPr>
        <p:spPr/>
        <p:txBody>
          <a:bodyPr>
            <a:normAutofit/>
          </a:bodyPr>
          <a:lstStyle/>
          <a:p>
            <a:r>
              <a:rPr lang="en-IN" b="0" i="0" dirty="0">
                <a:solidFill>
                  <a:srgbClr val="610B38"/>
                </a:solidFill>
                <a:effectLst/>
                <a:latin typeface="erdana"/>
              </a:rPr>
              <a:t>A* Search Algorithm</a:t>
            </a:r>
            <a:endParaRPr lang="en-IN" dirty="0"/>
          </a:p>
        </p:txBody>
      </p:sp>
      <p:sp>
        <p:nvSpPr>
          <p:cNvPr id="5" name="Content Placeholder 4">
            <a:extLst>
              <a:ext uri="{FF2B5EF4-FFF2-40B4-BE49-F238E27FC236}">
                <a16:creationId xmlns:a16="http://schemas.microsoft.com/office/drawing/2014/main" xmlns="" id="{976E5ADC-8E84-3D0D-04F0-3C4C3A9DC812}"/>
              </a:ext>
            </a:extLst>
          </p:cNvPr>
          <p:cNvSpPr>
            <a:spLocks noGrp="1"/>
          </p:cNvSpPr>
          <p:nvPr>
            <p:ph idx="1"/>
          </p:nvPr>
        </p:nvSpPr>
        <p:spPr/>
        <p:txBody>
          <a:bodyPr>
            <a:normAutofit/>
          </a:bodyPr>
          <a:lstStyle/>
          <a:p>
            <a:pPr algn="just"/>
            <a:r>
              <a:rPr lang="en-US" sz="1800" b="0" i="0" dirty="0">
                <a:solidFill>
                  <a:srgbClr val="333333"/>
                </a:solidFill>
                <a:effectLst/>
                <a:latin typeface="Times New Roman" panose="02020603050405020304" pitchFamily="18" charset="0"/>
                <a:cs typeface="Times New Roman" panose="02020603050405020304" pitchFamily="18" charset="0"/>
              </a:rPr>
              <a:t>A* search is the most commonly known form of best-first search. It uses heuristic function h(n), and cost to reach the node n from the start state g(n). It has combined features of UCS and greedy best-first search, by which it solve the problem efficiently. A* search algorithm finds the shortest path through the search space using the heuristic function. This search algorithm expands less search tree and provides optimal result faster. A* algorithm is similar to UCS except that it uses g(n)+h(n) instead of g(n).</a:t>
            </a:r>
            <a:endParaRPr lang="en-IN" sz="1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xmlns="" id="{998715FA-3592-AB9F-CCEA-A6D3B0F1613D}"/>
              </a:ext>
            </a:extLst>
          </p:cNvPr>
          <p:cNvPicPr>
            <a:picLocks noChangeAspect="1"/>
          </p:cNvPicPr>
          <p:nvPr/>
        </p:nvPicPr>
        <p:blipFill>
          <a:blip r:embed="rId2"/>
          <a:stretch>
            <a:fillRect/>
          </a:stretch>
        </p:blipFill>
        <p:spPr>
          <a:xfrm>
            <a:off x="1143000" y="4212717"/>
            <a:ext cx="6619875" cy="2200275"/>
          </a:xfrm>
          <a:prstGeom prst="rect">
            <a:avLst/>
          </a:prstGeom>
        </p:spPr>
      </p:pic>
    </p:spTree>
    <p:extLst>
      <p:ext uri="{BB962C8B-B14F-4D97-AF65-F5344CB8AC3E}">
        <p14:creationId xmlns:p14="http://schemas.microsoft.com/office/powerpoint/2010/main" val="21384387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71092023-7A30-5719-5AFA-09B7926E2B9C}"/>
              </a:ext>
            </a:extLst>
          </p:cNvPr>
          <p:cNvSpPr>
            <a:spLocks noGrp="1"/>
          </p:cNvSpPr>
          <p:nvPr>
            <p:ph type="title"/>
          </p:nvPr>
        </p:nvSpPr>
        <p:spPr/>
        <p:txBody>
          <a:bodyPr/>
          <a:lstStyle/>
          <a:p>
            <a:r>
              <a:rPr lang="en-IN" b="0" i="0" dirty="0">
                <a:solidFill>
                  <a:srgbClr val="610B38"/>
                </a:solidFill>
                <a:effectLst/>
                <a:latin typeface="erdana"/>
              </a:rPr>
              <a:t>A* Search Algorithm</a:t>
            </a:r>
            <a:endParaRPr lang="en-IN" dirty="0"/>
          </a:p>
        </p:txBody>
      </p:sp>
      <p:sp>
        <p:nvSpPr>
          <p:cNvPr id="5" name="Content Placeholder 4">
            <a:extLst>
              <a:ext uri="{FF2B5EF4-FFF2-40B4-BE49-F238E27FC236}">
                <a16:creationId xmlns:a16="http://schemas.microsoft.com/office/drawing/2014/main" xmlns="" id="{3C953AE2-9C38-14AB-E2EA-247DAA8F6BAC}"/>
              </a:ext>
            </a:extLst>
          </p:cNvPr>
          <p:cNvSpPr>
            <a:spLocks noGrp="1"/>
          </p:cNvSpPr>
          <p:nvPr>
            <p:ph sz="half" idx="1"/>
          </p:nvPr>
        </p:nvSpPr>
        <p:spPr/>
        <p:txBody>
          <a:bodyPr>
            <a:normAutofit fontScale="92500" lnSpcReduction="20000"/>
          </a:bodyPr>
          <a:lstStyle/>
          <a:p>
            <a:pPr algn="just">
              <a:lnSpc>
                <a:spcPct val="200000"/>
              </a:lnSpc>
            </a:pPr>
            <a:r>
              <a:rPr lang="en-US" sz="1600" b="1" i="0" dirty="0">
                <a:solidFill>
                  <a:srgbClr val="333333"/>
                </a:solidFill>
                <a:effectLst/>
                <a:latin typeface="inter-bold"/>
              </a:rPr>
              <a:t>Initialization:</a:t>
            </a:r>
            <a:r>
              <a:rPr lang="en-US" sz="1600" b="0" i="0" dirty="0">
                <a:solidFill>
                  <a:srgbClr val="333333"/>
                </a:solidFill>
                <a:effectLst/>
                <a:latin typeface="inter-regular"/>
              </a:rPr>
              <a:t> {(S, 5)}</a:t>
            </a:r>
          </a:p>
          <a:p>
            <a:pPr algn="just">
              <a:lnSpc>
                <a:spcPct val="200000"/>
              </a:lnSpc>
            </a:pPr>
            <a:r>
              <a:rPr lang="en-US" sz="1600" b="1" i="0" dirty="0">
                <a:solidFill>
                  <a:srgbClr val="333333"/>
                </a:solidFill>
                <a:effectLst/>
                <a:latin typeface="inter-bold"/>
              </a:rPr>
              <a:t>Iteration1:</a:t>
            </a:r>
            <a:r>
              <a:rPr lang="en-US" sz="1600" b="0" i="0" dirty="0">
                <a:solidFill>
                  <a:srgbClr val="333333"/>
                </a:solidFill>
                <a:effectLst/>
                <a:latin typeface="inter-regular"/>
              </a:rPr>
              <a:t> {(S--&gt; A, 4), (S--&gt;G, 10)}</a:t>
            </a:r>
          </a:p>
          <a:p>
            <a:pPr algn="just">
              <a:lnSpc>
                <a:spcPct val="200000"/>
              </a:lnSpc>
            </a:pPr>
            <a:r>
              <a:rPr lang="en-US" sz="1600" b="1" i="0" dirty="0">
                <a:solidFill>
                  <a:srgbClr val="333333"/>
                </a:solidFill>
                <a:effectLst/>
                <a:latin typeface="inter-bold"/>
              </a:rPr>
              <a:t>Iteration2:</a:t>
            </a:r>
            <a:r>
              <a:rPr lang="en-US" sz="1600" b="0" i="0" dirty="0">
                <a:solidFill>
                  <a:srgbClr val="333333"/>
                </a:solidFill>
                <a:effectLst/>
                <a:latin typeface="inter-regular"/>
              </a:rPr>
              <a:t> {(S--&gt; A--&gt;C, 4), (S--&gt; A--&gt;B, 7), (S--&gt;G, 10)}</a:t>
            </a:r>
          </a:p>
          <a:p>
            <a:pPr algn="just">
              <a:lnSpc>
                <a:spcPct val="200000"/>
              </a:lnSpc>
            </a:pPr>
            <a:r>
              <a:rPr lang="en-US" sz="1600" b="1" i="0" dirty="0">
                <a:solidFill>
                  <a:srgbClr val="333333"/>
                </a:solidFill>
                <a:effectLst/>
                <a:latin typeface="inter-bold"/>
              </a:rPr>
              <a:t>Iteration3:</a:t>
            </a:r>
            <a:r>
              <a:rPr lang="en-US" sz="1600" b="0" i="0" dirty="0">
                <a:solidFill>
                  <a:srgbClr val="333333"/>
                </a:solidFill>
                <a:effectLst/>
                <a:latin typeface="inter-regular"/>
              </a:rPr>
              <a:t> {(S--&gt; A--&gt;C---&gt;G, 6), (S--&gt; A--&gt;C---&gt;D, 11), (S--&gt; A--&gt;B, 7), (S--&gt;G, 10)}</a:t>
            </a:r>
          </a:p>
          <a:p>
            <a:pPr algn="just">
              <a:lnSpc>
                <a:spcPct val="200000"/>
              </a:lnSpc>
            </a:pPr>
            <a:r>
              <a:rPr lang="en-US" sz="1600" b="1" i="0" dirty="0">
                <a:solidFill>
                  <a:srgbClr val="333333"/>
                </a:solidFill>
                <a:effectLst/>
                <a:latin typeface="inter-bold"/>
              </a:rPr>
              <a:t>Iteration 4</a:t>
            </a:r>
            <a:r>
              <a:rPr lang="en-US" sz="1600" b="0" i="0" dirty="0">
                <a:solidFill>
                  <a:srgbClr val="333333"/>
                </a:solidFill>
                <a:effectLst/>
                <a:latin typeface="inter-regular"/>
              </a:rPr>
              <a:t> will give the final result, as </a:t>
            </a:r>
            <a:r>
              <a:rPr lang="en-US" sz="1600" b="1" i="0" dirty="0">
                <a:solidFill>
                  <a:srgbClr val="333333"/>
                </a:solidFill>
                <a:effectLst/>
                <a:latin typeface="inter-bold"/>
              </a:rPr>
              <a:t>S---&gt;A---&gt;C---&gt;G</a:t>
            </a:r>
            <a:r>
              <a:rPr lang="en-US" sz="1600" b="0" i="0" dirty="0">
                <a:solidFill>
                  <a:srgbClr val="333333"/>
                </a:solidFill>
                <a:effectLst/>
                <a:latin typeface="inter-regular"/>
              </a:rPr>
              <a:t> it provides the optimal path with cost 6.</a:t>
            </a:r>
          </a:p>
          <a:p>
            <a:pPr marL="0" indent="0">
              <a:lnSpc>
                <a:spcPct val="200000"/>
              </a:lnSpc>
              <a:buNone/>
            </a:pPr>
            <a:endParaRPr lang="en-IN" sz="1600" dirty="0"/>
          </a:p>
        </p:txBody>
      </p:sp>
      <p:pic>
        <p:nvPicPr>
          <p:cNvPr id="8" name="Content Placeholder 7">
            <a:extLst>
              <a:ext uri="{FF2B5EF4-FFF2-40B4-BE49-F238E27FC236}">
                <a16:creationId xmlns:a16="http://schemas.microsoft.com/office/drawing/2014/main" xmlns="" id="{71CF07E3-FC21-B136-1702-3B0FB1BC6DD0}"/>
              </a:ext>
            </a:extLst>
          </p:cNvPr>
          <p:cNvPicPr>
            <a:picLocks noGrp="1" noChangeAspect="1"/>
          </p:cNvPicPr>
          <p:nvPr>
            <p:ph sz="half" idx="2"/>
          </p:nvPr>
        </p:nvPicPr>
        <p:blipFill>
          <a:blip r:embed="rId2"/>
          <a:stretch>
            <a:fillRect/>
          </a:stretch>
        </p:blipFill>
        <p:spPr>
          <a:xfrm>
            <a:off x="4648200" y="2057400"/>
            <a:ext cx="4038600" cy="3581400"/>
          </a:xfrm>
        </p:spPr>
      </p:pic>
    </p:spTree>
    <p:extLst>
      <p:ext uri="{BB962C8B-B14F-4D97-AF65-F5344CB8AC3E}">
        <p14:creationId xmlns:p14="http://schemas.microsoft.com/office/powerpoint/2010/main" val="14970673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EB3F0E0D-2149-2911-B784-09C82916CCAA}"/>
              </a:ext>
            </a:extLst>
          </p:cNvPr>
          <p:cNvSpPr>
            <a:spLocks noGrp="1"/>
          </p:cNvSpPr>
          <p:nvPr>
            <p:ph type="title"/>
          </p:nvPr>
        </p:nvSpPr>
        <p:spPr>
          <a:xfrm>
            <a:off x="457200" y="704088"/>
            <a:ext cx="8305800" cy="3944112"/>
          </a:xfrm>
        </p:spPr>
        <p:txBody>
          <a:bodyPr>
            <a:normAutofit/>
          </a:bodyPr>
          <a:lstStyle/>
          <a:p>
            <a:pPr algn="ctr"/>
            <a:r>
              <a:rPr lang="en-US" dirty="0"/>
              <a:t>UNIT-1 End</a:t>
            </a:r>
            <a:br>
              <a:rPr lang="en-US" dirty="0"/>
            </a:br>
            <a:r>
              <a:rPr lang="en-US" dirty="0"/>
              <a:t>Thank you</a:t>
            </a:r>
            <a:endParaRPr lang="en-IN" dirty="0"/>
          </a:p>
        </p:txBody>
      </p:sp>
    </p:spTree>
    <p:extLst>
      <p:ext uri="{BB962C8B-B14F-4D97-AF65-F5344CB8AC3E}">
        <p14:creationId xmlns:p14="http://schemas.microsoft.com/office/powerpoint/2010/main" val="30930116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209</TotalTime>
  <Words>1494</Words>
  <Application>Microsoft Office PowerPoint</Application>
  <PresentationFormat>On-screen Show (4:3)</PresentationFormat>
  <Paragraphs>171</Paragraphs>
  <Slides>36</Slides>
  <Notes>0</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Flow</vt:lpstr>
      <vt:lpstr>ARTIFICIAL INTELLIGENCE LECTURE-01</vt:lpstr>
      <vt:lpstr>Artificial Intelligence</vt:lpstr>
      <vt:lpstr>Artificial Intelligence</vt:lpstr>
      <vt:lpstr>Advantages of Artificial Intelligence</vt:lpstr>
      <vt:lpstr>Advantages of Artificial Intelligence</vt:lpstr>
      <vt:lpstr>Disadvantages of Artificial Intelligence</vt:lpstr>
      <vt:lpstr>Disadvantages of Artificial Intelligence</vt:lpstr>
      <vt:lpstr>Application of AI</vt:lpstr>
      <vt:lpstr>Application of AI</vt:lpstr>
      <vt:lpstr>Application of AI</vt:lpstr>
      <vt:lpstr>Application of AI</vt:lpstr>
      <vt:lpstr>Application of AI</vt:lpstr>
      <vt:lpstr>AGENT</vt:lpstr>
      <vt:lpstr>AGENT</vt:lpstr>
      <vt:lpstr>Intelligent Agent</vt:lpstr>
      <vt:lpstr>Rational Agent</vt:lpstr>
      <vt:lpstr>Structure of an AI Agent</vt:lpstr>
      <vt:lpstr>PEAS Representation</vt:lpstr>
      <vt:lpstr>PEAS for self-driving cars</vt:lpstr>
      <vt:lpstr>Self-driving cars</vt:lpstr>
      <vt:lpstr>Example of Agents with their PEAS representation</vt:lpstr>
      <vt:lpstr>Search Algorithms in Artificial Intelligence</vt:lpstr>
      <vt:lpstr>Search Algorithms in Artificial Intelligence</vt:lpstr>
      <vt:lpstr>Search Algorithms in Artificial Intelligence</vt:lpstr>
      <vt:lpstr>Properties of Search Algorithms</vt:lpstr>
      <vt:lpstr>Types of search algorithms</vt:lpstr>
      <vt:lpstr>Example of BFS algorithm</vt:lpstr>
      <vt:lpstr>Example of BFS algorithm</vt:lpstr>
      <vt:lpstr>DFS (Depth First Search) algorithm</vt:lpstr>
      <vt:lpstr>DFS (Depth First Search) algorithm</vt:lpstr>
      <vt:lpstr>Hill Climbing Algorithm</vt:lpstr>
      <vt:lpstr>Features of Hill Climbing:</vt:lpstr>
      <vt:lpstr>Best-first Search Algorithm</vt:lpstr>
      <vt:lpstr>A* Search Algorithm</vt:lpstr>
      <vt:lpstr>A* Search Algorithm</vt:lpstr>
      <vt:lpstr>UNIT-1 End Thank you</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LECTURE-01</dc:title>
  <dc:creator>Student</dc:creator>
  <cp:lastModifiedBy>Admin</cp:lastModifiedBy>
  <cp:revision>52</cp:revision>
  <dcterms:created xsi:type="dcterms:W3CDTF">2022-09-01T04:57:14Z</dcterms:created>
  <dcterms:modified xsi:type="dcterms:W3CDTF">2023-02-13T08:41:08Z</dcterms:modified>
</cp:coreProperties>
</file>