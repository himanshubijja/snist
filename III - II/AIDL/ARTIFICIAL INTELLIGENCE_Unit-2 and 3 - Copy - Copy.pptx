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8" r:id="rId2"/>
    <p:sldId id="259" r:id="rId3"/>
    <p:sldId id="260" r:id="rId4"/>
    <p:sldId id="261" r:id="rId5"/>
    <p:sldId id="262" r:id="rId6"/>
    <p:sldId id="263" r:id="rId7"/>
    <p:sldId id="264" r:id="rId8"/>
    <p:sldId id="265" r:id="rId9"/>
    <p:sldId id="267" r:id="rId10"/>
    <p:sldId id="266"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81" d="100"/>
          <a:sy n="81" d="100"/>
        </p:scale>
        <p:origin x="-78" y="-70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BBDB9E4-C8EC-4FB7-9048-444BAD392A3E}" type="datetimeFigureOut">
              <a:rPr lang="en-IN" smtClean="0"/>
              <a:pPr/>
              <a:t>28-02-2023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AB211F-6791-4968-8BFC-E493C9040F13}" type="slidenum">
              <a:rPr lang="en-IN" smtClean="0"/>
              <a:pPr/>
              <a:t>‹#›</a:t>
            </a:fld>
            <a:endParaRPr lang="en-IN"/>
          </a:p>
        </p:txBody>
      </p:sp>
    </p:spTree>
    <p:extLst>
      <p:ext uri="{BB962C8B-B14F-4D97-AF65-F5344CB8AC3E}">
        <p14:creationId xmlns:p14="http://schemas.microsoft.com/office/powerpoint/2010/main" val="32530453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BBDB9E4-C8EC-4FB7-9048-444BAD392A3E}" type="datetimeFigureOut">
              <a:rPr lang="en-IN" smtClean="0"/>
              <a:pPr/>
              <a:t>28-02-2023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AB211F-6791-4968-8BFC-E493C9040F13}" type="slidenum">
              <a:rPr lang="en-IN" smtClean="0"/>
              <a:pPr/>
              <a:t>‹#›</a:t>
            </a:fld>
            <a:endParaRPr lang="en-IN"/>
          </a:p>
        </p:txBody>
      </p:sp>
    </p:spTree>
    <p:extLst>
      <p:ext uri="{BB962C8B-B14F-4D97-AF65-F5344CB8AC3E}">
        <p14:creationId xmlns:p14="http://schemas.microsoft.com/office/powerpoint/2010/main" val="321501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BBDB9E4-C8EC-4FB7-9048-444BAD392A3E}" type="datetimeFigureOut">
              <a:rPr lang="en-IN" smtClean="0"/>
              <a:pPr/>
              <a:t>28-02-2023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AB211F-6791-4968-8BFC-E493C9040F13}" type="slidenum">
              <a:rPr lang="en-IN" smtClean="0"/>
              <a:pPr/>
              <a:t>‹#›</a:t>
            </a:fld>
            <a:endParaRPr lang="en-IN"/>
          </a:p>
        </p:txBody>
      </p:sp>
    </p:spTree>
    <p:extLst>
      <p:ext uri="{BB962C8B-B14F-4D97-AF65-F5344CB8AC3E}">
        <p14:creationId xmlns:p14="http://schemas.microsoft.com/office/powerpoint/2010/main" val="2458927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BBDB9E4-C8EC-4FB7-9048-444BAD392A3E}" type="datetimeFigureOut">
              <a:rPr lang="en-IN" smtClean="0"/>
              <a:pPr/>
              <a:t>28-02-2023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5AB211F-6791-4968-8BFC-E493C9040F13}" type="slidenum">
              <a:rPr lang="en-IN" smtClean="0"/>
              <a:pPr/>
              <a:t>‹#›</a:t>
            </a:fld>
            <a:endParaRPr lang="en-IN"/>
          </a:p>
        </p:txBody>
      </p:sp>
    </p:spTree>
    <p:extLst>
      <p:ext uri="{BB962C8B-B14F-4D97-AF65-F5344CB8AC3E}">
        <p14:creationId xmlns:p14="http://schemas.microsoft.com/office/powerpoint/2010/main" val="8069364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BBDB9E4-C8EC-4FB7-9048-444BAD392A3E}" type="datetimeFigureOut">
              <a:rPr lang="en-IN" smtClean="0"/>
              <a:pPr/>
              <a:t>28-02-2023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5AB211F-6791-4968-8BFC-E493C9040F13}" type="slidenum">
              <a:rPr lang="en-IN" smtClean="0"/>
              <a:pPr/>
              <a:t>‹#›</a:t>
            </a:fld>
            <a:endParaRPr lang="en-IN"/>
          </a:p>
        </p:txBody>
      </p:sp>
    </p:spTree>
    <p:extLst>
      <p:ext uri="{BB962C8B-B14F-4D97-AF65-F5344CB8AC3E}">
        <p14:creationId xmlns:p14="http://schemas.microsoft.com/office/powerpoint/2010/main" val="34556629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BBDB9E4-C8EC-4FB7-9048-444BAD392A3E}" type="datetimeFigureOut">
              <a:rPr lang="en-IN" smtClean="0"/>
              <a:pPr/>
              <a:t>28-02-2023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5AB211F-6791-4968-8BFC-E493C9040F13}" type="slidenum">
              <a:rPr lang="en-IN" smtClean="0"/>
              <a:pPr/>
              <a:t>‹#›</a:t>
            </a:fld>
            <a:endParaRPr lang="en-IN"/>
          </a:p>
        </p:txBody>
      </p:sp>
    </p:spTree>
    <p:extLst>
      <p:ext uri="{BB962C8B-B14F-4D97-AF65-F5344CB8AC3E}">
        <p14:creationId xmlns:p14="http://schemas.microsoft.com/office/powerpoint/2010/main" val="10363853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BBDB9E4-C8EC-4FB7-9048-444BAD392A3E}" type="datetimeFigureOut">
              <a:rPr lang="en-IN" smtClean="0"/>
              <a:pPr/>
              <a:t>28-02-2023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5AB211F-6791-4968-8BFC-E493C9040F13}" type="slidenum">
              <a:rPr lang="en-IN" smtClean="0"/>
              <a:pPr/>
              <a:t>‹#›</a:t>
            </a:fld>
            <a:endParaRPr lang="en-IN"/>
          </a:p>
        </p:txBody>
      </p:sp>
    </p:spTree>
    <p:extLst>
      <p:ext uri="{BB962C8B-B14F-4D97-AF65-F5344CB8AC3E}">
        <p14:creationId xmlns:p14="http://schemas.microsoft.com/office/powerpoint/2010/main" val="1663086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BBDB9E4-C8EC-4FB7-9048-444BAD392A3E}" type="datetimeFigureOut">
              <a:rPr lang="en-IN" smtClean="0"/>
              <a:pPr/>
              <a:t>28-02-2023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5AB211F-6791-4968-8BFC-E493C9040F13}" type="slidenum">
              <a:rPr lang="en-IN" smtClean="0"/>
              <a:pPr/>
              <a:t>‹#›</a:t>
            </a:fld>
            <a:endParaRPr lang="en-IN"/>
          </a:p>
        </p:txBody>
      </p:sp>
    </p:spTree>
    <p:extLst>
      <p:ext uri="{BB962C8B-B14F-4D97-AF65-F5344CB8AC3E}">
        <p14:creationId xmlns:p14="http://schemas.microsoft.com/office/powerpoint/2010/main" val="20868021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BBDB9E4-C8EC-4FB7-9048-444BAD392A3E}" type="datetimeFigureOut">
              <a:rPr lang="en-IN" smtClean="0"/>
              <a:pPr/>
              <a:t>28-02-2023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5AB211F-6791-4968-8BFC-E493C9040F13}" type="slidenum">
              <a:rPr lang="en-IN" smtClean="0"/>
              <a:pPr/>
              <a:t>‹#›</a:t>
            </a:fld>
            <a:endParaRPr lang="en-IN"/>
          </a:p>
        </p:txBody>
      </p:sp>
    </p:spTree>
    <p:extLst>
      <p:ext uri="{BB962C8B-B14F-4D97-AF65-F5344CB8AC3E}">
        <p14:creationId xmlns:p14="http://schemas.microsoft.com/office/powerpoint/2010/main" val="327052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BBDB9E4-C8EC-4FB7-9048-444BAD392A3E}" type="datetimeFigureOut">
              <a:rPr lang="en-IN" smtClean="0"/>
              <a:pPr/>
              <a:t>28-02-2023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AB211F-6791-4968-8BFC-E493C9040F13}" type="slidenum">
              <a:rPr lang="en-IN" smtClean="0"/>
              <a:pPr/>
              <a:t>‹#›</a:t>
            </a:fld>
            <a:endParaRPr lang="en-IN"/>
          </a:p>
        </p:txBody>
      </p:sp>
    </p:spTree>
    <p:extLst>
      <p:ext uri="{BB962C8B-B14F-4D97-AF65-F5344CB8AC3E}">
        <p14:creationId xmlns:p14="http://schemas.microsoft.com/office/powerpoint/2010/main" val="68638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BBDB9E4-C8EC-4FB7-9048-444BAD392A3E}" type="datetimeFigureOut">
              <a:rPr lang="en-IN" smtClean="0"/>
              <a:pPr/>
              <a:t>28-02-2023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AB211F-6791-4968-8BFC-E493C9040F13}" type="slidenum">
              <a:rPr lang="en-IN" smtClean="0"/>
              <a:pPr/>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8608612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BBDB9E4-C8EC-4FB7-9048-444BAD392A3E}" type="datetimeFigureOut">
              <a:rPr lang="en-IN" smtClean="0"/>
              <a:pPr/>
              <a:t>28-02-2023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AB211F-6791-4968-8BFC-E493C9040F13}" type="slidenum">
              <a:rPr lang="en-IN" smtClean="0"/>
              <a:pPr/>
              <a:t>‹#›</a:t>
            </a:fld>
            <a:endParaRPr lang="en-IN"/>
          </a:p>
        </p:txBody>
      </p:sp>
    </p:spTree>
    <p:extLst>
      <p:ext uri="{BB962C8B-B14F-4D97-AF65-F5344CB8AC3E}">
        <p14:creationId xmlns:p14="http://schemas.microsoft.com/office/powerpoint/2010/main" val="14220369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BBDB9E4-C8EC-4FB7-9048-444BAD392A3E}" type="datetimeFigureOut">
              <a:rPr lang="en-IN" smtClean="0"/>
              <a:pPr/>
              <a:t>28-02-2023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AB211F-6791-4968-8BFC-E493C9040F13}" type="slidenum">
              <a:rPr lang="en-IN" smtClean="0"/>
              <a:pPr/>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7252218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BBDB9E4-C8EC-4FB7-9048-444BAD392A3E}" type="datetimeFigureOut">
              <a:rPr lang="en-IN" smtClean="0"/>
              <a:pPr/>
              <a:t>28-02-2023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AB211F-6791-4968-8BFC-E493C9040F13}" type="slidenum">
              <a:rPr lang="en-IN" smtClean="0"/>
              <a:pPr/>
              <a:t>‹#›</a:t>
            </a:fld>
            <a:endParaRPr lang="en-IN"/>
          </a:p>
        </p:txBody>
      </p:sp>
    </p:spTree>
    <p:extLst>
      <p:ext uri="{BB962C8B-B14F-4D97-AF65-F5344CB8AC3E}">
        <p14:creationId xmlns:p14="http://schemas.microsoft.com/office/powerpoint/2010/main" val="30000159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BBDB9E4-C8EC-4FB7-9048-444BAD392A3E}" type="datetimeFigureOut">
              <a:rPr lang="en-IN" smtClean="0"/>
              <a:pPr/>
              <a:t>28-02-2023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AB211F-6791-4968-8BFC-E493C9040F13}" type="slidenum">
              <a:rPr lang="en-IN" smtClean="0"/>
              <a:pPr/>
              <a:t>‹#›</a:t>
            </a:fld>
            <a:endParaRPr lang="en-IN"/>
          </a:p>
        </p:txBody>
      </p:sp>
    </p:spTree>
    <p:extLst>
      <p:ext uri="{BB962C8B-B14F-4D97-AF65-F5344CB8AC3E}">
        <p14:creationId xmlns:p14="http://schemas.microsoft.com/office/powerpoint/2010/main" val="25990652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BBDB9E4-C8EC-4FB7-9048-444BAD392A3E}" type="datetimeFigureOut">
              <a:rPr lang="en-IN" smtClean="0"/>
              <a:pPr/>
              <a:t>28-02-2023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AB211F-6791-4968-8BFC-E493C9040F13}" type="slidenum">
              <a:rPr lang="en-IN" smtClean="0"/>
              <a:pPr/>
              <a:t>‹#›</a:t>
            </a:fld>
            <a:endParaRPr lang="en-IN"/>
          </a:p>
        </p:txBody>
      </p:sp>
    </p:spTree>
    <p:extLst>
      <p:ext uri="{BB962C8B-B14F-4D97-AF65-F5344CB8AC3E}">
        <p14:creationId xmlns:p14="http://schemas.microsoft.com/office/powerpoint/2010/main" val="13421971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BBDB9E4-C8EC-4FB7-9048-444BAD392A3E}" type="datetimeFigureOut">
              <a:rPr lang="en-IN" smtClean="0"/>
              <a:pPr/>
              <a:t>28-02-2023</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5AB211F-6791-4968-8BFC-E493C9040F13}" type="slidenum">
              <a:rPr lang="en-IN" smtClean="0"/>
              <a:pPr/>
              <a:t>‹#›</a:t>
            </a:fld>
            <a:endParaRPr lang="en-IN"/>
          </a:p>
        </p:txBody>
      </p:sp>
    </p:spTree>
    <p:extLst>
      <p:ext uri="{BB962C8B-B14F-4D97-AF65-F5344CB8AC3E}">
        <p14:creationId xmlns:p14="http://schemas.microsoft.com/office/powerpoint/2010/main" val="2388366841"/>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ww.cs.cmu.edu/~ggordon/780/slides/csps.ppt"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A82F1CF-735C-7266-9A8A-9E78F69519EA}"/>
              </a:ext>
            </a:extLst>
          </p:cNvPr>
          <p:cNvSpPr>
            <a:spLocks noGrp="1"/>
          </p:cNvSpPr>
          <p:nvPr>
            <p:ph type="title"/>
          </p:nvPr>
        </p:nvSpPr>
        <p:spPr/>
        <p:txBody>
          <a:bodyPr/>
          <a:lstStyle/>
          <a:p>
            <a:r>
              <a:rPr lang="en-IN" b="0" i="0" u="sng" strike="noStrike" dirty="0">
                <a:solidFill>
                  <a:srgbClr val="1A0DAB"/>
                </a:solidFill>
                <a:effectLst/>
                <a:latin typeface="arial" panose="020B0604020202020204" pitchFamily="34" charset="0"/>
                <a:hlinkClick r:id="rId2"/>
              </a:rPr>
              <a:t>Constraint Satisfaction Problems</a:t>
            </a:r>
            <a:r>
              <a:rPr lang="en-IN" b="0" i="0" u="sng" strike="noStrike" dirty="0">
                <a:solidFill>
                  <a:srgbClr val="1A0DAB"/>
                </a:solidFill>
                <a:effectLst/>
                <a:latin typeface="arial" panose="020B0604020202020204" pitchFamily="34" charset="0"/>
              </a:rPr>
              <a:t/>
            </a:r>
            <a:br>
              <a:rPr lang="en-IN" b="0" i="0" u="sng" strike="noStrike" dirty="0">
                <a:solidFill>
                  <a:srgbClr val="1A0DAB"/>
                </a:solidFill>
                <a:effectLst/>
                <a:latin typeface="arial" panose="020B0604020202020204" pitchFamily="34" charset="0"/>
              </a:rPr>
            </a:br>
            <a:endParaRPr lang="en-IN" u="sng" dirty="0"/>
          </a:p>
        </p:txBody>
      </p:sp>
      <p:sp>
        <p:nvSpPr>
          <p:cNvPr id="3" name="Content Placeholder 2">
            <a:extLst>
              <a:ext uri="{FF2B5EF4-FFF2-40B4-BE49-F238E27FC236}">
                <a16:creationId xmlns="" xmlns:a16="http://schemas.microsoft.com/office/drawing/2014/main" id="{B3EF71BC-1F3B-8F23-CF78-5AE8EDED9E5E}"/>
              </a:ext>
            </a:extLst>
          </p:cNvPr>
          <p:cNvSpPr>
            <a:spLocks noGrp="1"/>
          </p:cNvSpPr>
          <p:nvPr>
            <p:ph idx="1"/>
          </p:nvPr>
        </p:nvSpPr>
        <p:spPr/>
        <p:txBody>
          <a:bodyPr/>
          <a:lstStyle/>
          <a:p>
            <a:r>
              <a:rPr lang="en-US" dirty="0"/>
              <a:t>CSP Consists of three component V,D,C</a:t>
            </a:r>
          </a:p>
          <a:p>
            <a:r>
              <a:rPr lang="en-US" dirty="0"/>
              <a:t>V is set of variables {v1,v2,v3,………………….</a:t>
            </a:r>
            <a:r>
              <a:rPr lang="en-US" dirty="0" err="1"/>
              <a:t>vn</a:t>
            </a:r>
            <a:r>
              <a:rPr lang="en-US" dirty="0"/>
              <a:t>}</a:t>
            </a:r>
          </a:p>
          <a:p>
            <a:r>
              <a:rPr lang="en-US" dirty="0"/>
              <a:t>D is the set of domains {D1,D2…………………..</a:t>
            </a:r>
            <a:r>
              <a:rPr lang="en-US" dirty="0" err="1"/>
              <a:t>Dn</a:t>
            </a:r>
            <a:r>
              <a:rPr lang="en-US" dirty="0"/>
              <a:t>} one for each variable.</a:t>
            </a:r>
          </a:p>
          <a:p>
            <a:r>
              <a:rPr lang="en-US" dirty="0"/>
              <a:t>Cis set of Constraints that specify allowable combination of values.</a:t>
            </a:r>
          </a:p>
          <a:p>
            <a:pPr marL="0" indent="0">
              <a:buNone/>
            </a:pPr>
            <a:r>
              <a:rPr lang="en-US" dirty="0"/>
              <a:t>	Ci =(Scope, </a:t>
            </a:r>
            <a:r>
              <a:rPr lang="en-US" dirty="0" err="1"/>
              <a:t>rel</a:t>
            </a:r>
            <a:r>
              <a:rPr lang="en-US" dirty="0"/>
              <a:t>)</a:t>
            </a:r>
          </a:p>
          <a:p>
            <a:pPr marL="0" indent="0">
              <a:buNone/>
            </a:pPr>
            <a:r>
              <a:rPr lang="en-US" dirty="0"/>
              <a:t>Where Scope is set of variables that participate in constraint</a:t>
            </a:r>
          </a:p>
          <a:p>
            <a:pPr marL="0" indent="0">
              <a:buNone/>
            </a:pPr>
            <a:r>
              <a:rPr lang="en-US" dirty="0"/>
              <a:t>And Rel is relation that define the values that variable can take.</a:t>
            </a:r>
            <a:endParaRPr lang="en-IN" dirty="0"/>
          </a:p>
        </p:txBody>
      </p:sp>
    </p:spTree>
    <p:extLst>
      <p:ext uri="{BB962C8B-B14F-4D97-AF65-F5344CB8AC3E}">
        <p14:creationId xmlns:p14="http://schemas.microsoft.com/office/powerpoint/2010/main" val="5439795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56C30F8-3CB2-6DE1-50AB-2B6B7144C13F}"/>
              </a:ext>
            </a:extLst>
          </p:cNvPr>
          <p:cNvSpPr>
            <a:spLocks noGrp="1"/>
          </p:cNvSpPr>
          <p:nvPr>
            <p:ph type="title"/>
          </p:nvPr>
        </p:nvSpPr>
        <p:spPr/>
        <p:txBody>
          <a:bodyPr/>
          <a:lstStyle/>
          <a:p>
            <a:r>
              <a:rPr lang="en-US" dirty="0"/>
              <a:t>Example</a:t>
            </a:r>
            <a:endParaRPr lang="en-IN" dirty="0"/>
          </a:p>
        </p:txBody>
      </p:sp>
      <p:sp>
        <p:nvSpPr>
          <p:cNvPr id="3" name="Content Placeholder 2">
            <a:extLst>
              <a:ext uri="{FF2B5EF4-FFF2-40B4-BE49-F238E27FC236}">
                <a16:creationId xmlns="" xmlns:a16="http://schemas.microsoft.com/office/drawing/2014/main" id="{98377F62-D459-851A-0D73-224EC6D798F0}"/>
              </a:ext>
            </a:extLst>
          </p:cNvPr>
          <p:cNvSpPr>
            <a:spLocks noGrp="1"/>
          </p:cNvSpPr>
          <p:nvPr>
            <p:ph idx="1"/>
          </p:nvPr>
        </p:nvSpPr>
        <p:spPr/>
        <p:txBody>
          <a:bodyPr/>
          <a:lstStyle/>
          <a:p>
            <a:r>
              <a:rPr lang="en-US" dirty="0"/>
              <a:t>V={v1,v2}</a:t>
            </a:r>
          </a:p>
          <a:p>
            <a:r>
              <a:rPr lang="en-US" dirty="0"/>
              <a:t>D={d1,d2}  where d1=(1,2) and d2= (2,4)</a:t>
            </a:r>
          </a:p>
          <a:p>
            <a:r>
              <a:rPr lang="en-US" dirty="0"/>
              <a:t>C=(v1,v2) ,(d1,d2) (v1 is not equal to v2)</a:t>
            </a:r>
          </a:p>
          <a:p>
            <a:r>
              <a:rPr lang="en-US" dirty="0"/>
              <a:t>Answer:</a:t>
            </a:r>
          </a:p>
          <a:p>
            <a:r>
              <a:rPr lang="en-US" dirty="0"/>
              <a:t>C1=(v1,v2)   (1,2),(1,4), (2,4) </a:t>
            </a:r>
          </a:p>
          <a:p>
            <a:endParaRPr lang="en-IN" dirty="0"/>
          </a:p>
        </p:txBody>
      </p:sp>
    </p:spTree>
    <p:extLst>
      <p:ext uri="{BB962C8B-B14F-4D97-AF65-F5344CB8AC3E}">
        <p14:creationId xmlns:p14="http://schemas.microsoft.com/office/powerpoint/2010/main" val="16258869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146D3FA-2E8E-37A9-E831-A67846893E24}"/>
              </a:ext>
            </a:extLst>
          </p:cNvPr>
          <p:cNvSpPr>
            <a:spLocks noGrp="1"/>
          </p:cNvSpPr>
          <p:nvPr>
            <p:ph type="title"/>
          </p:nvPr>
        </p:nvSpPr>
        <p:spPr/>
        <p:txBody>
          <a:bodyPr/>
          <a:lstStyle/>
          <a:p>
            <a:r>
              <a:rPr lang="en-US" dirty="0"/>
              <a:t>How Constraint Satisfaction Algorithm Works</a:t>
            </a:r>
            <a:endParaRPr lang="en-IN" dirty="0"/>
          </a:p>
        </p:txBody>
      </p:sp>
      <p:sp>
        <p:nvSpPr>
          <p:cNvPr id="3" name="Content Placeholder 2">
            <a:extLst>
              <a:ext uri="{FF2B5EF4-FFF2-40B4-BE49-F238E27FC236}">
                <a16:creationId xmlns="" xmlns:a16="http://schemas.microsoft.com/office/drawing/2014/main" id="{A8E87977-B37A-C894-4EF5-39402DEF5617}"/>
              </a:ext>
            </a:extLst>
          </p:cNvPr>
          <p:cNvSpPr>
            <a:spLocks noGrp="1"/>
          </p:cNvSpPr>
          <p:nvPr>
            <p:ph idx="1"/>
          </p:nvPr>
        </p:nvSpPr>
        <p:spPr>
          <a:xfrm>
            <a:off x="677334" y="2167754"/>
            <a:ext cx="8596668" cy="3880773"/>
          </a:xfrm>
        </p:spPr>
        <p:txBody>
          <a:bodyPr/>
          <a:lstStyle/>
          <a:p>
            <a:r>
              <a:rPr lang="en-US" dirty="0"/>
              <a:t>V={1,2,3,4}</a:t>
            </a:r>
          </a:p>
          <a:p>
            <a:r>
              <a:rPr lang="en-US" dirty="0"/>
              <a:t>D={Red, Green, Blue}</a:t>
            </a:r>
          </a:p>
          <a:p>
            <a:r>
              <a:rPr lang="en-US" dirty="0"/>
              <a:t>C= {1 is not equal to 2}</a:t>
            </a:r>
          </a:p>
          <a:p>
            <a:pPr marL="0" indent="0">
              <a:buNone/>
            </a:pPr>
            <a:r>
              <a:rPr lang="en-IN" dirty="0"/>
              <a:t>	</a:t>
            </a:r>
            <a:r>
              <a:rPr lang="en-US" dirty="0"/>
              <a:t> {1 is not equal to 3}</a:t>
            </a:r>
            <a:endParaRPr lang="en-IN" dirty="0"/>
          </a:p>
          <a:p>
            <a:pPr marL="0" indent="0">
              <a:buNone/>
            </a:pPr>
            <a:r>
              <a:rPr lang="en-IN" dirty="0"/>
              <a:t>	</a:t>
            </a:r>
            <a:r>
              <a:rPr lang="en-US" dirty="0"/>
              <a:t> {1 is not equal to 4}</a:t>
            </a:r>
            <a:endParaRPr lang="en-IN" dirty="0"/>
          </a:p>
          <a:p>
            <a:pPr marL="0" indent="0">
              <a:buNone/>
            </a:pPr>
            <a:r>
              <a:rPr lang="en-IN" dirty="0"/>
              <a:t>	</a:t>
            </a:r>
            <a:r>
              <a:rPr lang="en-US" dirty="0"/>
              <a:t> {2 is not equal to 4}</a:t>
            </a:r>
            <a:endParaRPr lang="en-IN" dirty="0"/>
          </a:p>
          <a:p>
            <a:pPr marL="0" indent="0">
              <a:buNone/>
            </a:pPr>
            <a:r>
              <a:rPr lang="en-IN" dirty="0"/>
              <a:t>	</a:t>
            </a:r>
            <a:r>
              <a:rPr lang="en-US" dirty="0"/>
              <a:t> {3 is not equal to 4}</a:t>
            </a:r>
          </a:p>
        </p:txBody>
      </p:sp>
      <p:sp>
        <p:nvSpPr>
          <p:cNvPr id="4" name="Oval 3">
            <a:extLst>
              <a:ext uri="{FF2B5EF4-FFF2-40B4-BE49-F238E27FC236}">
                <a16:creationId xmlns="" xmlns:a16="http://schemas.microsoft.com/office/drawing/2014/main" id="{FE5C5A54-9B6D-5F79-21BF-79D5786740DD}"/>
              </a:ext>
            </a:extLst>
          </p:cNvPr>
          <p:cNvSpPr/>
          <p:nvPr/>
        </p:nvSpPr>
        <p:spPr>
          <a:xfrm>
            <a:off x="6249880" y="2601157"/>
            <a:ext cx="390617" cy="45276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1</a:t>
            </a:r>
            <a:endParaRPr lang="en-IN" dirty="0"/>
          </a:p>
        </p:txBody>
      </p:sp>
      <p:sp>
        <p:nvSpPr>
          <p:cNvPr id="5" name="Oval 4">
            <a:extLst>
              <a:ext uri="{FF2B5EF4-FFF2-40B4-BE49-F238E27FC236}">
                <a16:creationId xmlns="" xmlns:a16="http://schemas.microsoft.com/office/drawing/2014/main" id="{0DA608B9-B827-9931-1D10-CBCABA55A895}"/>
              </a:ext>
            </a:extLst>
          </p:cNvPr>
          <p:cNvSpPr/>
          <p:nvPr/>
        </p:nvSpPr>
        <p:spPr>
          <a:xfrm>
            <a:off x="8225162" y="3655380"/>
            <a:ext cx="390617" cy="45276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4</a:t>
            </a:r>
            <a:endParaRPr lang="en-IN" dirty="0"/>
          </a:p>
        </p:txBody>
      </p:sp>
      <p:sp>
        <p:nvSpPr>
          <p:cNvPr id="6" name="Oval 5">
            <a:extLst>
              <a:ext uri="{FF2B5EF4-FFF2-40B4-BE49-F238E27FC236}">
                <a16:creationId xmlns="" xmlns:a16="http://schemas.microsoft.com/office/drawing/2014/main" id="{CF4208D4-E484-3C88-7A6F-7C7E31E8D29F}"/>
              </a:ext>
            </a:extLst>
          </p:cNvPr>
          <p:cNvSpPr/>
          <p:nvPr/>
        </p:nvSpPr>
        <p:spPr>
          <a:xfrm>
            <a:off x="6249880" y="3655380"/>
            <a:ext cx="390617" cy="45276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3</a:t>
            </a:r>
            <a:endParaRPr lang="en-IN" dirty="0"/>
          </a:p>
        </p:txBody>
      </p:sp>
      <p:sp>
        <p:nvSpPr>
          <p:cNvPr id="7" name="Oval 6">
            <a:extLst>
              <a:ext uri="{FF2B5EF4-FFF2-40B4-BE49-F238E27FC236}">
                <a16:creationId xmlns="" xmlns:a16="http://schemas.microsoft.com/office/drawing/2014/main" id="{1E8A9971-BD18-85A3-9186-8E27B48CB0E5}"/>
              </a:ext>
            </a:extLst>
          </p:cNvPr>
          <p:cNvSpPr/>
          <p:nvPr/>
        </p:nvSpPr>
        <p:spPr>
          <a:xfrm>
            <a:off x="8225162" y="2601156"/>
            <a:ext cx="390617" cy="45276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2</a:t>
            </a:r>
            <a:endParaRPr lang="en-IN" dirty="0"/>
          </a:p>
        </p:txBody>
      </p:sp>
      <p:cxnSp>
        <p:nvCxnSpPr>
          <p:cNvPr id="9" name="Straight Connector 8">
            <a:extLst>
              <a:ext uri="{FF2B5EF4-FFF2-40B4-BE49-F238E27FC236}">
                <a16:creationId xmlns="" xmlns:a16="http://schemas.microsoft.com/office/drawing/2014/main" id="{B9B4F2CD-5BCE-3BCF-C6CF-F8F7589E8128}"/>
              </a:ext>
            </a:extLst>
          </p:cNvPr>
          <p:cNvCxnSpPr>
            <a:stCxn id="4" idx="6"/>
            <a:endCxn id="7" idx="2"/>
          </p:cNvCxnSpPr>
          <p:nvPr/>
        </p:nvCxnSpPr>
        <p:spPr>
          <a:xfrm flipV="1">
            <a:off x="6640497" y="2827537"/>
            <a:ext cx="1584665"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 xmlns:a16="http://schemas.microsoft.com/office/drawing/2014/main" id="{7F5141A5-3DA9-8020-235A-D61BFFFA10CE}"/>
              </a:ext>
            </a:extLst>
          </p:cNvPr>
          <p:cNvCxnSpPr>
            <a:cxnSpLocks/>
            <a:stCxn id="5" idx="0"/>
          </p:cNvCxnSpPr>
          <p:nvPr/>
        </p:nvCxnSpPr>
        <p:spPr>
          <a:xfrm flipH="1" flipV="1">
            <a:off x="8420470" y="3023444"/>
            <a:ext cx="1" cy="63193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 xmlns:a16="http://schemas.microsoft.com/office/drawing/2014/main" id="{94AA4827-58BA-8DD5-7166-25061AFAE85C}"/>
              </a:ext>
            </a:extLst>
          </p:cNvPr>
          <p:cNvCxnSpPr>
            <a:cxnSpLocks/>
            <a:endCxn id="4" idx="4"/>
          </p:cNvCxnSpPr>
          <p:nvPr/>
        </p:nvCxnSpPr>
        <p:spPr>
          <a:xfrm flipV="1">
            <a:off x="6445188" y="3053918"/>
            <a:ext cx="1" cy="5833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 xmlns:a16="http://schemas.microsoft.com/office/drawing/2014/main" id="{F0AC6B02-E6A2-04C5-19BF-32F3C29EAB98}"/>
              </a:ext>
            </a:extLst>
          </p:cNvPr>
          <p:cNvCxnSpPr/>
          <p:nvPr/>
        </p:nvCxnSpPr>
        <p:spPr>
          <a:xfrm flipV="1">
            <a:off x="6645676" y="3878063"/>
            <a:ext cx="1584665"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 xmlns:a16="http://schemas.microsoft.com/office/drawing/2014/main" id="{63585CA8-C9B5-D9D6-CE36-2F19446D3B37}"/>
              </a:ext>
            </a:extLst>
          </p:cNvPr>
          <p:cNvCxnSpPr>
            <a:cxnSpLocks/>
          </p:cNvCxnSpPr>
          <p:nvPr/>
        </p:nvCxnSpPr>
        <p:spPr>
          <a:xfrm>
            <a:off x="6581992" y="2987612"/>
            <a:ext cx="1700375" cy="73407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83723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AA2DD12-4725-B1E6-ABBF-EDB43E56FEF8}"/>
              </a:ext>
            </a:extLst>
          </p:cNvPr>
          <p:cNvSpPr>
            <a:spLocks noGrp="1"/>
          </p:cNvSpPr>
          <p:nvPr>
            <p:ph type="title"/>
          </p:nvPr>
        </p:nvSpPr>
        <p:spPr/>
        <p:txBody>
          <a:bodyPr/>
          <a:lstStyle/>
          <a:p>
            <a:r>
              <a:rPr lang="en-US" dirty="0"/>
              <a:t>How Constraint Satisfaction Algorithm Works</a:t>
            </a:r>
            <a:endParaRPr lang="en-IN" dirty="0"/>
          </a:p>
        </p:txBody>
      </p:sp>
      <p:graphicFrame>
        <p:nvGraphicFramePr>
          <p:cNvPr id="35" name="Table 35">
            <a:extLst>
              <a:ext uri="{FF2B5EF4-FFF2-40B4-BE49-F238E27FC236}">
                <a16:creationId xmlns="" xmlns:a16="http://schemas.microsoft.com/office/drawing/2014/main" id="{3310256B-8C6E-16F1-3AC6-6865B61B48BE}"/>
              </a:ext>
            </a:extLst>
          </p:cNvPr>
          <p:cNvGraphicFramePr>
            <a:graphicFrameLocks noGrp="1"/>
          </p:cNvGraphicFramePr>
          <p:nvPr>
            <p:ph sz="half" idx="1"/>
            <p:extLst>
              <p:ext uri="{D42A27DB-BD31-4B8C-83A1-F6EECF244321}">
                <p14:modId xmlns:p14="http://schemas.microsoft.com/office/powerpoint/2010/main" val="1994347942"/>
              </p:ext>
            </p:extLst>
          </p:nvPr>
        </p:nvGraphicFramePr>
        <p:xfrm>
          <a:off x="504825" y="2160589"/>
          <a:ext cx="4518184" cy="2814320"/>
        </p:xfrm>
        <a:graphic>
          <a:graphicData uri="http://schemas.openxmlformats.org/drawingml/2006/table">
            <a:tbl>
              <a:tblPr firstRow="1" bandRow="1">
                <a:tableStyleId>{5C22544A-7EE6-4342-B048-85BDC9FD1C3A}</a:tableStyleId>
              </a:tblPr>
              <a:tblGrid>
                <a:gridCol w="1200150">
                  <a:extLst>
                    <a:ext uri="{9D8B030D-6E8A-4147-A177-3AD203B41FA5}">
                      <a16:colId xmlns="" xmlns:a16="http://schemas.microsoft.com/office/drawing/2014/main" val="612956705"/>
                    </a:ext>
                  </a:extLst>
                </a:gridCol>
                <a:gridCol w="742950">
                  <a:extLst>
                    <a:ext uri="{9D8B030D-6E8A-4147-A177-3AD203B41FA5}">
                      <a16:colId xmlns="" xmlns:a16="http://schemas.microsoft.com/office/drawing/2014/main" val="981557698"/>
                    </a:ext>
                  </a:extLst>
                </a:gridCol>
                <a:gridCol w="657225">
                  <a:extLst>
                    <a:ext uri="{9D8B030D-6E8A-4147-A177-3AD203B41FA5}">
                      <a16:colId xmlns="" xmlns:a16="http://schemas.microsoft.com/office/drawing/2014/main" val="282877477"/>
                    </a:ext>
                  </a:extLst>
                </a:gridCol>
                <a:gridCol w="733425">
                  <a:extLst>
                    <a:ext uri="{9D8B030D-6E8A-4147-A177-3AD203B41FA5}">
                      <a16:colId xmlns="" xmlns:a16="http://schemas.microsoft.com/office/drawing/2014/main" val="551747506"/>
                    </a:ext>
                  </a:extLst>
                </a:gridCol>
                <a:gridCol w="650817">
                  <a:extLst>
                    <a:ext uri="{9D8B030D-6E8A-4147-A177-3AD203B41FA5}">
                      <a16:colId xmlns="" xmlns:a16="http://schemas.microsoft.com/office/drawing/2014/main" val="3311996225"/>
                    </a:ext>
                  </a:extLst>
                </a:gridCol>
                <a:gridCol w="533617">
                  <a:extLst>
                    <a:ext uri="{9D8B030D-6E8A-4147-A177-3AD203B41FA5}">
                      <a16:colId xmlns="" xmlns:a16="http://schemas.microsoft.com/office/drawing/2014/main" val="3146726685"/>
                    </a:ext>
                  </a:extLst>
                </a:gridCol>
              </a:tblGrid>
              <a:tr h="370840">
                <a:tc>
                  <a:txBody>
                    <a:bodyPr/>
                    <a:lstStyle/>
                    <a:p>
                      <a:endParaRPr lang="en-IN" sz="1400" dirty="0"/>
                    </a:p>
                  </a:txBody>
                  <a:tcPr/>
                </a:tc>
                <a:tc>
                  <a:txBody>
                    <a:bodyPr/>
                    <a:lstStyle/>
                    <a:p>
                      <a:endParaRPr lang="en-IN" sz="1400" dirty="0"/>
                    </a:p>
                  </a:txBody>
                  <a:tcPr/>
                </a:tc>
                <a:tc>
                  <a:txBody>
                    <a:bodyPr/>
                    <a:lstStyle/>
                    <a:p>
                      <a:r>
                        <a:rPr lang="en-US" sz="1400" dirty="0"/>
                        <a:t>1</a:t>
                      </a:r>
                      <a:endParaRPr lang="en-IN" sz="1400" dirty="0"/>
                    </a:p>
                  </a:txBody>
                  <a:tcPr/>
                </a:tc>
                <a:tc>
                  <a:txBody>
                    <a:bodyPr/>
                    <a:lstStyle/>
                    <a:p>
                      <a:r>
                        <a:rPr lang="en-US" sz="1400" dirty="0"/>
                        <a:t>2</a:t>
                      </a:r>
                      <a:endParaRPr lang="en-IN" sz="1400" dirty="0"/>
                    </a:p>
                  </a:txBody>
                  <a:tcPr/>
                </a:tc>
                <a:tc>
                  <a:txBody>
                    <a:bodyPr/>
                    <a:lstStyle/>
                    <a:p>
                      <a:r>
                        <a:rPr lang="en-US" sz="1400" dirty="0"/>
                        <a:t>3</a:t>
                      </a:r>
                      <a:endParaRPr lang="en-IN" sz="1400" dirty="0"/>
                    </a:p>
                  </a:txBody>
                  <a:tcPr/>
                </a:tc>
                <a:tc>
                  <a:txBody>
                    <a:bodyPr/>
                    <a:lstStyle/>
                    <a:p>
                      <a:r>
                        <a:rPr lang="en-US" sz="1400" dirty="0"/>
                        <a:t>4</a:t>
                      </a:r>
                      <a:endParaRPr lang="en-IN" sz="1400" dirty="0"/>
                    </a:p>
                  </a:txBody>
                  <a:tcPr/>
                </a:tc>
                <a:extLst>
                  <a:ext uri="{0D108BD9-81ED-4DB2-BD59-A6C34878D82A}">
                    <a16:rowId xmlns="" xmlns:a16="http://schemas.microsoft.com/office/drawing/2014/main" val="2660617777"/>
                  </a:ext>
                </a:extLst>
              </a:tr>
              <a:tr h="370840">
                <a:tc>
                  <a:txBody>
                    <a:bodyPr/>
                    <a:lstStyle/>
                    <a:p>
                      <a:r>
                        <a:rPr lang="en-US" sz="1400" dirty="0"/>
                        <a:t>Step1</a:t>
                      </a:r>
                      <a:endParaRPr lang="en-IN" sz="1400" dirty="0"/>
                    </a:p>
                  </a:txBody>
                  <a:tcPr/>
                </a:tc>
                <a:tc>
                  <a:txBody>
                    <a:bodyPr/>
                    <a:lstStyle/>
                    <a:p>
                      <a:r>
                        <a:rPr lang="en-US" sz="1400" dirty="0"/>
                        <a:t>Initial</a:t>
                      </a:r>
                      <a:endParaRPr lang="en-IN" sz="1400" dirty="0"/>
                    </a:p>
                  </a:txBody>
                  <a:tcPr/>
                </a:tc>
                <a:tc>
                  <a:txBody>
                    <a:bodyPr/>
                    <a:lstStyle/>
                    <a:p>
                      <a:r>
                        <a:rPr lang="en-US" sz="1400" dirty="0"/>
                        <a:t>RGB</a:t>
                      </a:r>
                      <a:endParaRPr lang="en-IN" sz="1400" dirty="0"/>
                    </a:p>
                  </a:txBody>
                  <a:tcPr/>
                </a:tc>
                <a:tc>
                  <a:txBody>
                    <a:bodyPr/>
                    <a:lstStyle/>
                    <a:p>
                      <a:r>
                        <a:rPr lang="en-US" sz="1400" dirty="0"/>
                        <a:t>RGB</a:t>
                      </a:r>
                      <a:endParaRPr lang="en-IN" sz="1400" dirty="0"/>
                    </a:p>
                  </a:txBody>
                  <a:tcPr/>
                </a:tc>
                <a:tc>
                  <a:txBody>
                    <a:bodyPr/>
                    <a:lstStyle/>
                    <a:p>
                      <a:r>
                        <a:rPr lang="en-US" sz="1400" dirty="0"/>
                        <a:t>RGB</a:t>
                      </a:r>
                      <a:endParaRPr lang="en-IN" sz="1400" dirty="0"/>
                    </a:p>
                  </a:txBody>
                  <a:tcPr/>
                </a:tc>
                <a:tc>
                  <a:txBody>
                    <a:bodyPr/>
                    <a:lstStyle/>
                    <a:p>
                      <a:r>
                        <a:rPr lang="en-US" sz="1400" dirty="0"/>
                        <a:t>RGB</a:t>
                      </a:r>
                      <a:endParaRPr lang="en-IN" sz="1400" dirty="0"/>
                    </a:p>
                  </a:txBody>
                  <a:tcPr/>
                </a:tc>
                <a:extLst>
                  <a:ext uri="{0D108BD9-81ED-4DB2-BD59-A6C34878D82A}">
                    <a16:rowId xmlns="" xmlns:a16="http://schemas.microsoft.com/office/drawing/2014/main" val="112346180"/>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dirty="0"/>
                        <a:t>Step2</a:t>
                      </a:r>
                      <a:endParaRPr lang="en-IN" sz="1400" dirty="0"/>
                    </a:p>
                    <a:p>
                      <a:endParaRPr lang="en-IN" sz="1400" dirty="0"/>
                    </a:p>
                  </a:txBody>
                  <a:tcPr/>
                </a:tc>
                <a:tc>
                  <a:txBody>
                    <a:bodyPr/>
                    <a:lstStyle/>
                    <a:p>
                      <a:r>
                        <a:rPr lang="en-US" sz="1400" dirty="0"/>
                        <a:t>1=R</a:t>
                      </a:r>
                      <a:endParaRPr lang="en-IN" sz="1400" dirty="0"/>
                    </a:p>
                  </a:txBody>
                  <a:tcPr/>
                </a:tc>
                <a:tc>
                  <a:txBody>
                    <a:bodyPr/>
                    <a:lstStyle/>
                    <a:p>
                      <a:r>
                        <a:rPr lang="en-US" sz="1400" dirty="0"/>
                        <a:t>R</a:t>
                      </a:r>
                      <a:endParaRPr lang="en-IN" sz="1400" dirty="0"/>
                    </a:p>
                  </a:txBody>
                  <a:tcPr/>
                </a:tc>
                <a:tc>
                  <a:txBody>
                    <a:bodyPr/>
                    <a:lstStyle/>
                    <a:p>
                      <a:r>
                        <a:rPr lang="en-US" sz="1400" dirty="0"/>
                        <a:t>GB</a:t>
                      </a:r>
                      <a:endParaRPr lang="en-IN" sz="1400" dirty="0"/>
                    </a:p>
                  </a:txBody>
                  <a:tcPr/>
                </a:tc>
                <a:tc>
                  <a:txBody>
                    <a:bodyPr/>
                    <a:lstStyle/>
                    <a:p>
                      <a:r>
                        <a:rPr lang="en-US" sz="1400" dirty="0"/>
                        <a:t>GB</a:t>
                      </a:r>
                      <a:endParaRPr lang="en-IN" sz="1400" dirty="0"/>
                    </a:p>
                  </a:txBody>
                  <a:tcPr/>
                </a:tc>
                <a:tc>
                  <a:txBody>
                    <a:bodyPr/>
                    <a:lstStyle/>
                    <a:p>
                      <a:r>
                        <a:rPr lang="en-US" sz="1400" dirty="0"/>
                        <a:t>GB</a:t>
                      </a:r>
                      <a:endParaRPr lang="en-IN" sz="1400" dirty="0"/>
                    </a:p>
                  </a:txBody>
                  <a:tcPr/>
                </a:tc>
                <a:extLst>
                  <a:ext uri="{0D108BD9-81ED-4DB2-BD59-A6C34878D82A}">
                    <a16:rowId xmlns="" xmlns:a16="http://schemas.microsoft.com/office/drawing/2014/main" val="3196652008"/>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dirty="0"/>
                        <a:t>Step3</a:t>
                      </a:r>
                      <a:endParaRPr lang="en-IN" sz="1400" dirty="0"/>
                    </a:p>
                    <a:p>
                      <a:endParaRPr lang="en-IN" sz="1400" dirty="0"/>
                    </a:p>
                  </a:txBody>
                  <a:tcPr/>
                </a:tc>
                <a:tc>
                  <a:txBody>
                    <a:bodyPr/>
                    <a:lstStyle/>
                    <a:p>
                      <a:r>
                        <a:rPr lang="en-US" sz="1400" dirty="0"/>
                        <a:t>2=G</a:t>
                      </a:r>
                      <a:endParaRPr lang="en-IN" sz="1400" dirty="0"/>
                    </a:p>
                  </a:txBody>
                  <a:tcPr/>
                </a:tc>
                <a:tc>
                  <a:txBody>
                    <a:bodyPr/>
                    <a:lstStyle/>
                    <a:p>
                      <a:r>
                        <a:rPr lang="en-US" sz="1400" dirty="0"/>
                        <a:t>R</a:t>
                      </a:r>
                      <a:endParaRPr lang="en-IN" sz="1400" dirty="0"/>
                    </a:p>
                  </a:txBody>
                  <a:tcPr/>
                </a:tc>
                <a:tc>
                  <a:txBody>
                    <a:bodyPr/>
                    <a:lstStyle/>
                    <a:p>
                      <a:r>
                        <a:rPr lang="en-US" sz="1400" dirty="0"/>
                        <a:t>G</a:t>
                      </a:r>
                      <a:endParaRPr lang="en-IN" sz="1400" dirty="0"/>
                    </a:p>
                  </a:txBody>
                  <a:tcPr/>
                </a:tc>
                <a:tc>
                  <a:txBody>
                    <a:bodyPr/>
                    <a:lstStyle/>
                    <a:p>
                      <a:r>
                        <a:rPr lang="en-US" sz="1400" dirty="0"/>
                        <a:t>GB</a:t>
                      </a:r>
                      <a:endParaRPr lang="en-IN" sz="1400" dirty="0"/>
                    </a:p>
                  </a:txBody>
                  <a:tcPr/>
                </a:tc>
                <a:tc>
                  <a:txBody>
                    <a:bodyPr/>
                    <a:lstStyle/>
                    <a:p>
                      <a:r>
                        <a:rPr lang="en-US" sz="1400" dirty="0"/>
                        <a:t>B</a:t>
                      </a:r>
                      <a:endParaRPr lang="en-IN" sz="1400" dirty="0"/>
                    </a:p>
                  </a:txBody>
                  <a:tcPr/>
                </a:tc>
                <a:extLst>
                  <a:ext uri="{0D108BD9-81ED-4DB2-BD59-A6C34878D82A}">
                    <a16:rowId xmlns="" xmlns:a16="http://schemas.microsoft.com/office/drawing/2014/main" val="3033321319"/>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dirty="0"/>
                        <a:t>Step3</a:t>
                      </a:r>
                      <a:endParaRPr lang="en-IN" sz="1400" dirty="0"/>
                    </a:p>
                    <a:p>
                      <a:r>
                        <a:rPr lang="en-US" sz="1400" dirty="0"/>
                        <a:t>Backtracking</a:t>
                      </a:r>
                      <a:endParaRPr lang="en-IN" sz="1400" dirty="0"/>
                    </a:p>
                  </a:txBody>
                  <a:tcPr/>
                </a:tc>
                <a:tc>
                  <a:txBody>
                    <a:bodyPr/>
                    <a:lstStyle/>
                    <a:p>
                      <a:r>
                        <a:rPr lang="en-US" sz="1400" dirty="0"/>
                        <a:t>3=B </a:t>
                      </a:r>
                      <a:endParaRPr lang="en-IN" sz="1400" dirty="0"/>
                    </a:p>
                  </a:txBody>
                  <a:tcPr/>
                </a:tc>
                <a:tc>
                  <a:txBody>
                    <a:bodyPr/>
                    <a:lstStyle/>
                    <a:p>
                      <a:r>
                        <a:rPr lang="en-US" sz="1400" dirty="0"/>
                        <a:t>R</a:t>
                      </a:r>
                      <a:endParaRPr lang="en-IN" sz="1400" dirty="0"/>
                    </a:p>
                  </a:txBody>
                  <a:tcPr/>
                </a:tc>
                <a:tc>
                  <a:txBody>
                    <a:bodyPr/>
                    <a:lstStyle/>
                    <a:p>
                      <a:r>
                        <a:rPr lang="en-US" sz="1400" dirty="0"/>
                        <a:t>G</a:t>
                      </a:r>
                      <a:endParaRPr lang="en-IN" sz="1400" dirty="0"/>
                    </a:p>
                  </a:txBody>
                  <a:tcPr/>
                </a:tc>
                <a:tc>
                  <a:txBody>
                    <a:bodyPr/>
                    <a:lstStyle/>
                    <a:p>
                      <a:r>
                        <a:rPr lang="en-US" sz="1400" dirty="0"/>
                        <a:t>B</a:t>
                      </a:r>
                      <a:endParaRPr lang="en-IN" sz="1400" dirty="0"/>
                    </a:p>
                  </a:txBody>
                  <a:tcPr/>
                </a:tc>
                <a:tc>
                  <a:txBody>
                    <a:bodyPr/>
                    <a:lstStyle/>
                    <a:p>
                      <a:r>
                        <a:rPr lang="en-US" sz="1400" dirty="0"/>
                        <a:t>B</a:t>
                      </a:r>
                      <a:endParaRPr lang="en-IN" sz="1400" dirty="0"/>
                    </a:p>
                  </a:txBody>
                  <a:tcPr/>
                </a:tc>
                <a:extLst>
                  <a:ext uri="{0D108BD9-81ED-4DB2-BD59-A6C34878D82A}">
                    <a16:rowId xmlns="" xmlns:a16="http://schemas.microsoft.com/office/drawing/2014/main" val="3679020723"/>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dirty="0"/>
                        <a:t>Step4</a:t>
                      </a:r>
                      <a:endParaRPr lang="en-IN" sz="1400" dirty="0"/>
                    </a:p>
                    <a:p>
                      <a:endParaRPr lang="en-IN" sz="1400" dirty="0"/>
                    </a:p>
                  </a:txBody>
                  <a:tcPr/>
                </a:tc>
                <a:tc>
                  <a:txBody>
                    <a:bodyPr/>
                    <a:lstStyle/>
                    <a:p>
                      <a:r>
                        <a:rPr lang="en-US" sz="1400" dirty="0"/>
                        <a:t>3=G</a:t>
                      </a:r>
                      <a:endParaRPr lang="en-IN" sz="1400" dirty="0"/>
                    </a:p>
                  </a:txBody>
                  <a:tcPr/>
                </a:tc>
                <a:tc>
                  <a:txBody>
                    <a:bodyPr/>
                    <a:lstStyle/>
                    <a:p>
                      <a:r>
                        <a:rPr lang="en-US" sz="1400" dirty="0"/>
                        <a:t>R</a:t>
                      </a:r>
                      <a:endParaRPr lang="en-IN" sz="1400" dirty="0"/>
                    </a:p>
                  </a:txBody>
                  <a:tcPr/>
                </a:tc>
                <a:tc>
                  <a:txBody>
                    <a:bodyPr/>
                    <a:lstStyle/>
                    <a:p>
                      <a:r>
                        <a:rPr lang="en-US" sz="1400" dirty="0"/>
                        <a:t>G</a:t>
                      </a:r>
                      <a:endParaRPr lang="en-IN" sz="1400" dirty="0"/>
                    </a:p>
                  </a:txBody>
                  <a:tcPr/>
                </a:tc>
                <a:tc>
                  <a:txBody>
                    <a:bodyPr/>
                    <a:lstStyle/>
                    <a:p>
                      <a:r>
                        <a:rPr lang="en-US" sz="1400" dirty="0"/>
                        <a:t>G</a:t>
                      </a:r>
                      <a:endParaRPr lang="en-IN" sz="1400" dirty="0"/>
                    </a:p>
                  </a:txBody>
                  <a:tcPr/>
                </a:tc>
                <a:tc>
                  <a:txBody>
                    <a:bodyPr/>
                    <a:lstStyle/>
                    <a:p>
                      <a:r>
                        <a:rPr lang="en-US" sz="1400" dirty="0"/>
                        <a:t>B</a:t>
                      </a:r>
                      <a:endParaRPr lang="en-IN" sz="1400" dirty="0"/>
                    </a:p>
                  </a:txBody>
                  <a:tcPr/>
                </a:tc>
                <a:extLst>
                  <a:ext uri="{0D108BD9-81ED-4DB2-BD59-A6C34878D82A}">
                    <a16:rowId xmlns="" xmlns:a16="http://schemas.microsoft.com/office/drawing/2014/main" val="2296673662"/>
                  </a:ext>
                </a:extLst>
              </a:tr>
            </a:tbl>
          </a:graphicData>
        </a:graphic>
      </p:graphicFrame>
      <p:sp>
        <p:nvSpPr>
          <p:cNvPr id="6" name="Content Placeholder 5">
            <a:extLst>
              <a:ext uri="{FF2B5EF4-FFF2-40B4-BE49-F238E27FC236}">
                <a16:creationId xmlns="" xmlns:a16="http://schemas.microsoft.com/office/drawing/2014/main" id="{80C42550-36D5-E790-D358-2D23D66D9203}"/>
              </a:ext>
            </a:extLst>
          </p:cNvPr>
          <p:cNvSpPr>
            <a:spLocks noGrp="1"/>
          </p:cNvSpPr>
          <p:nvPr>
            <p:ph sz="half" idx="2"/>
          </p:nvPr>
        </p:nvSpPr>
        <p:spPr>
          <a:xfrm>
            <a:off x="5089969" y="2160589"/>
            <a:ext cx="5473255" cy="3880773"/>
          </a:xfrm>
        </p:spPr>
        <p:txBody>
          <a:bodyPr/>
          <a:lstStyle/>
          <a:p>
            <a:endParaRPr lang="en-US" dirty="0"/>
          </a:p>
          <a:p>
            <a:endParaRPr lang="en-US" dirty="0"/>
          </a:p>
          <a:p>
            <a:r>
              <a:rPr lang="en-US" dirty="0"/>
              <a:t>Wrong</a:t>
            </a:r>
          </a:p>
          <a:p>
            <a:endParaRPr lang="en-US" dirty="0"/>
          </a:p>
          <a:p>
            <a:endParaRPr lang="en-US" dirty="0"/>
          </a:p>
          <a:p>
            <a:endParaRPr lang="en-US" dirty="0"/>
          </a:p>
          <a:p>
            <a:endParaRPr lang="en-US" dirty="0"/>
          </a:p>
          <a:p>
            <a:r>
              <a:rPr lang="en-US" dirty="0"/>
              <a:t>Right</a:t>
            </a:r>
          </a:p>
        </p:txBody>
      </p:sp>
      <p:sp>
        <p:nvSpPr>
          <p:cNvPr id="7" name="Oval 6">
            <a:extLst>
              <a:ext uri="{FF2B5EF4-FFF2-40B4-BE49-F238E27FC236}">
                <a16:creationId xmlns="" xmlns:a16="http://schemas.microsoft.com/office/drawing/2014/main" id="{2BCBB57C-66FD-2500-6C47-E696778B3E16}"/>
              </a:ext>
            </a:extLst>
          </p:cNvPr>
          <p:cNvSpPr/>
          <p:nvPr/>
        </p:nvSpPr>
        <p:spPr>
          <a:xfrm>
            <a:off x="6241002" y="2601156"/>
            <a:ext cx="399495" cy="452761"/>
          </a:xfrm>
          <a:prstGeom prst="ellipse">
            <a:avLst/>
          </a:prstGeom>
          <a:solidFill>
            <a:schemeClr val="accent4"/>
          </a:solidFill>
        </p:spPr>
        <p:style>
          <a:lnRef idx="2">
            <a:schemeClr val="dk1"/>
          </a:lnRef>
          <a:fillRef idx="1">
            <a:schemeClr val="lt1"/>
          </a:fillRef>
          <a:effectRef idx="0">
            <a:schemeClr val="dk1"/>
          </a:effectRef>
          <a:fontRef idx="minor">
            <a:schemeClr val="dk1"/>
          </a:fontRef>
        </p:style>
        <p:txBody>
          <a:bodyPr rtlCol="0" anchor="ctr"/>
          <a:lstStyle/>
          <a:p>
            <a:pPr algn="ctr"/>
            <a:r>
              <a:rPr lang="en-US" dirty="0"/>
              <a:t>1</a:t>
            </a:r>
            <a:endParaRPr lang="en-IN" dirty="0"/>
          </a:p>
        </p:txBody>
      </p:sp>
      <p:sp>
        <p:nvSpPr>
          <p:cNvPr id="8" name="Oval 7">
            <a:extLst>
              <a:ext uri="{FF2B5EF4-FFF2-40B4-BE49-F238E27FC236}">
                <a16:creationId xmlns="" xmlns:a16="http://schemas.microsoft.com/office/drawing/2014/main" id="{F3AC8058-588A-ECC4-2802-697EDFC006A7}"/>
              </a:ext>
            </a:extLst>
          </p:cNvPr>
          <p:cNvSpPr/>
          <p:nvPr/>
        </p:nvSpPr>
        <p:spPr>
          <a:xfrm>
            <a:off x="8225162" y="3655380"/>
            <a:ext cx="390617" cy="452761"/>
          </a:xfrm>
          <a:prstGeom prst="ellipse">
            <a:avLst/>
          </a:prstGeom>
          <a:solidFill>
            <a:srgbClr val="00B0F0"/>
          </a:solidFill>
        </p:spPr>
        <p:style>
          <a:lnRef idx="2">
            <a:schemeClr val="dk1"/>
          </a:lnRef>
          <a:fillRef idx="1">
            <a:schemeClr val="lt1"/>
          </a:fillRef>
          <a:effectRef idx="0">
            <a:schemeClr val="dk1"/>
          </a:effectRef>
          <a:fontRef idx="minor">
            <a:schemeClr val="dk1"/>
          </a:fontRef>
        </p:style>
        <p:txBody>
          <a:bodyPr rtlCol="0" anchor="ctr"/>
          <a:lstStyle/>
          <a:p>
            <a:pPr algn="ctr"/>
            <a:r>
              <a:rPr lang="en-US" dirty="0"/>
              <a:t>4</a:t>
            </a:r>
            <a:endParaRPr lang="en-IN" dirty="0"/>
          </a:p>
        </p:txBody>
      </p:sp>
      <p:sp>
        <p:nvSpPr>
          <p:cNvPr id="9" name="Oval 8">
            <a:extLst>
              <a:ext uri="{FF2B5EF4-FFF2-40B4-BE49-F238E27FC236}">
                <a16:creationId xmlns="" xmlns:a16="http://schemas.microsoft.com/office/drawing/2014/main" id="{9A794F31-DCCE-80F2-F7AD-D09E283287E4}"/>
              </a:ext>
            </a:extLst>
          </p:cNvPr>
          <p:cNvSpPr/>
          <p:nvPr/>
        </p:nvSpPr>
        <p:spPr>
          <a:xfrm>
            <a:off x="6249880" y="3655380"/>
            <a:ext cx="390617" cy="452761"/>
          </a:xfrm>
          <a:prstGeom prst="ellipse">
            <a:avLst/>
          </a:prstGeom>
          <a:solidFill>
            <a:srgbClr val="00B0F0"/>
          </a:solidFill>
        </p:spPr>
        <p:style>
          <a:lnRef idx="2">
            <a:schemeClr val="dk1"/>
          </a:lnRef>
          <a:fillRef idx="1">
            <a:schemeClr val="lt1"/>
          </a:fillRef>
          <a:effectRef idx="0">
            <a:schemeClr val="dk1"/>
          </a:effectRef>
          <a:fontRef idx="minor">
            <a:schemeClr val="dk1"/>
          </a:fontRef>
        </p:style>
        <p:txBody>
          <a:bodyPr rtlCol="0" anchor="ctr"/>
          <a:lstStyle/>
          <a:p>
            <a:pPr algn="ctr"/>
            <a:r>
              <a:rPr lang="en-US" dirty="0"/>
              <a:t>3</a:t>
            </a:r>
            <a:endParaRPr lang="en-IN" dirty="0"/>
          </a:p>
        </p:txBody>
      </p:sp>
      <p:sp>
        <p:nvSpPr>
          <p:cNvPr id="10" name="Oval 9">
            <a:extLst>
              <a:ext uri="{FF2B5EF4-FFF2-40B4-BE49-F238E27FC236}">
                <a16:creationId xmlns="" xmlns:a16="http://schemas.microsoft.com/office/drawing/2014/main" id="{0473D6DC-0CBB-9B30-F97A-5D1AEAE90E49}"/>
              </a:ext>
            </a:extLst>
          </p:cNvPr>
          <p:cNvSpPr/>
          <p:nvPr/>
        </p:nvSpPr>
        <p:spPr>
          <a:xfrm>
            <a:off x="8225162" y="2601156"/>
            <a:ext cx="390617" cy="452761"/>
          </a:xfrm>
          <a:prstGeom prst="ellipse">
            <a:avLst/>
          </a:prstGeom>
          <a:solidFill>
            <a:schemeClr val="accent2"/>
          </a:solidFill>
        </p:spPr>
        <p:style>
          <a:lnRef idx="2">
            <a:schemeClr val="dk1"/>
          </a:lnRef>
          <a:fillRef idx="1">
            <a:schemeClr val="lt1"/>
          </a:fillRef>
          <a:effectRef idx="0">
            <a:schemeClr val="dk1"/>
          </a:effectRef>
          <a:fontRef idx="minor">
            <a:schemeClr val="dk1"/>
          </a:fontRef>
        </p:style>
        <p:txBody>
          <a:bodyPr rtlCol="0" anchor="ctr"/>
          <a:lstStyle/>
          <a:p>
            <a:pPr algn="ctr"/>
            <a:r>
              <a:rPr lang="en-US" dirty="0"/>
              <a:t>2</a:t>
            </a:r>
            <a:endParaRPr lang="en-IN" dirty="0"/>
          </a:p>
        </p:txBody>
      </p:sp>
      <p:cxnSp>
        <p:nvCxnSpPr>
          <p:cNvPr id="11" name="Straight Connector 10">
            <a:extLst>
              <a:ext uri="{FF2B5EF4-FFF2-40B4-BE49-F238E27FC236}">
                <a16:creationId xmlns="" xmlns:a16="http://schemas.microsoft.com/office/drawing/2014/main" id="{4ECA6280-F1CE-8E6A-4091-7131D4CA26A9}"/>
              </a:ext>
            </a:extLst>
          </p:cNvPr>
          <p:cNvCxnSpPr>
            <a:cxnSpLocks/>
            <a:stCxn id="7" idx="6"/>
            <a:endCxn id="10" idx="2"/>
          </p:cNvCxnSpPr>
          <p:nvPr/>
        </p:nvCxnSpPr>
        <p:spPr>
          <a:xfrm>
            <a:off x="6640497" y="2827537"/>
            <a:ext cx="158466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 xmlns:a16="http://schemas.microsoft.com/office/drawing/2014/main" id="{98CC433A-533A-4CCB-AF34-DE58460360A2}"/>
              </a:ext>
            </a:extLst>
          </p:cNvPr>
          <p:cNvCxnSpPr>
            <a:cxnSpLocks/>
            <a:stCxn id="8" idx="0"/>
          </p:cNvCxnSpPr>
          <p:nvPr/>
        </p:nvCxnSpPr>
        <p:spPr>
          <a:xfrm flipH="1" flipV="1">
            <a:off x="8420470" y="3023444"/>
            <a:ext cx="1" cy="631936"/>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 xmlns:a16="http://schemas.microsoft.com/office/drawing/2014/main" id="{3BB26F09-92B5-5E6D-5CA1-FD99924411A5}"/>
              </a:ext>
            </a:extLst>
          </p:cNvPr>
          <p:cNvCxnSpPr>
            <a:cxnSpLocks/>
            <a:endCxn id="7" idx="4"/>
          </p:cNvCxnSpPr>
          <p:nvPr/>
        </p:nvCxnSpPr>
        <p:spPr>
          <a:xfrm flipH="1" flipV="1">
            <a:off x="6440750" y="3053917"/>
            <a:ext cx="4438" cy="5833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 xmlns:a16="http://schemas.microsoft.com/office/drawing/2014/main" id="{A9D26592-29AA-973D-D151-A19DFD9F0704}"/>
              </a:ext>
            </a:extLst>
          </p:cNvPr>
          <p:cNvCxnSpPr/>
          <p:nvPr/>
        </p:nvCxnSpPr>
        <p:spPr>
          <a:xfrm flipV="1">
            <a:off x="6645676" y="3878063"/>
            <a:ext cx="1584665"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 xmlns:a16="http://schemas.microsoft.com/office/drawing/2014/main" id="{AD81821E-59CF-6B89-20AC-D580C78C4D52}"/>
              </a:ext>
            </a:extLst>
          </p:cNvPr>
          <p:cNvCxnSpPr>
            <a:cxnSpLocks/>
            <a:stCxn id="7" idx="5"/>
            <a:endCxn id="8" idx="1"/>
          </p:cNvCxnSpPr>
          <p:nvPr/>
        </p:nvCxnSpPr>
        <p:spPr>
          <a:xfrm>
            <a:off x="6581992" y="2987612"/>
            <a:ext cx="1700375" cy="734073"/>
          </a:xfrm>
          <a:prstGeom prst="line">
            <a:avLst/>
          </a:prstGeom>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 xmlns:a16="http://schemas.microsoft.com/office/drawing/2014/main" id="{4852B494-B447-4027-3586-1562015CD346}"/>
              </a:ext>
            </a:extLst>
          </p:cNvPr>
          <p:cNvSpPr/>
          <p:nvPr/>
        </p:nvSpPr>
        <p:spPr>
          <a:xfrm>
            <a:off x="6191375" y="4483224"/>
            <a:ext cx="390617" cy="452761"/>
          </a:xfrm>
          <a:prstGeom prst="ellipse">
            <a:avLst/>
          </a:prstGeom>
          <a:solidFill>
            <a:schemeClr val="accent5"/>
          </a:solidFill>
          <a:ln>
            <a:solidFill>
              <a:schemeClr val="accent5"/>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t>1</a:t>
            </a:r>
            <a:endParaRPr lang="en-IN" dirty="0"/>
          </a:p>
        </p:txBody>
      </p:sp>
      <p:sp>
        <p:nvSpPr>
          <p:cNvPr id="27" name="Oval 26">
            <a:extLst>
              <a:ext uri="{FF2B5EF4-FFF2-40B4-BE49-F238E27FC236}">
                <a16:creationId xmlns="" xmlns:a16="http://schemas.microsoft.com/office/drawing/2014/main" id="{8989F756-0A8A-3F98-2DF4-E5F5171E398D}"/>
              </a:ext>
            </a:extLst>
          </p:cNvPr>
          <p:cNvSpPr/>
          <p:nvPr/>
        </p:nvSpPr>
        <p:spPr>
          <a:xfrm>
            <a:off x="8166657" y="5537447"/>
            <a:ext cx="390617" cy="452761"/>
          </a:xfrm>
          <a:prstGeom prst="ellipse">
            <a:avLst/>
          </a:prstGeom>
          <a:solidFill>
            <a:srgbClr val="00B0F0"/>
          </a:solidFill>
        </p:spPr>
        <p:style>
          <a:lnRef idx="2">
            <a:schemeClr val="dk1"/>
          </a:lnRef>
          <a:fillRef idx="1">
            <a:schemeClr val="lt1"/>
          </a:fillRef>
          <a:effectRef idx="0">
            <a:schemeClr val="dk1"/>
          </a:effectRef>
          <a:fontRef idx="minor">
            <a:schemeClr val="dk1"/>
          </a:fontRef>
        </p:style>
        <p:txBody>
          <a:bodyPr rtlCol="0" anchor="ctr"/>
          <a:lstStyle/>
          <a:p>
            <a:pPr algn="ctr"/>
            <a:r>
              <a:rPr lang="en-US" dirty="0"/>
              <a:t>4</a:t>
            </a:r>
            <a:endParaRPr lang="en-IN" dirty="0"/>
          </a:p>
        </p:txBody>
      </p:sp>
      <p:sp>
        <p:nvSpPr>
          <p:cNvPr id="28" name="Oval 27">
            <a:extLst>
              <a:ext uri="{FF2B5EF4-FFF2-40B4-BE49-F238E27FC236}">
                <a16:creationId xmlns="" xmlns:a16="http://schemas.microsoft.com/office/drawing/2014/main" id="{25D89A52-9D27-3D17-B40B-B79A184E3B3E}"/>
              </a:ext>
            </a:extLst>
          </p:cNvPr>
          <p:cNvSpPr/>
          <p:nvPr/>
        </p:nvSpPr>
        <p:spPr>
          <a:xfrm>
            <a:off x="6191375" y="5537447"/>
            <a:ext cx="390617" cy="452761"/>
          </a:xfrm>
          <a:prstGeom prst="ellipse">
            <a:avLst/>
          </a:prstGeom>
          <a:solidFill>
            <a:schemeClr val="accent1"/>
          </a:solidFill>
        </p:spPr>
        <p:style>
          <a:lnRef idx="2">
            <a:schemeClr val="dk1"/>
          </a:lnRef>
          <a:fillRef idx="1">
            <a:schemeClr val="lt1"/>
          </a:fillRef>
          <a:effectRef idx="0">
            <a:schemeClr val="dk1"/>
          </a:effectRef>
          <a:fontRef idx="minor">
            <a:schemeClr val="dk1"/>
          </a:fontRef>
        </p:style>
        <p:txBody>
          <a:bodyPr rtlCol="0" anchor="ctr"/>
          <a:lstStyle/>
          <a:p>
            <a:pPr algn="ctr"/>
            <a:r>
              <a:rPr lang="en-US" dirty="0"/>
              <a:t>3</a:t>
            </a:r>
            <a:endParaRPr lang="en-IN" dirty="0"/>
          </a:p>
        </p:txBody>
      </p:sp>
      <p:sp>
        <p:nvSpPr>
          <p:cNvPr id="29" name="Oval 28">
            <a:extLst>
              <a:ext uri="{FF2B5EF4-FFF2-40B4-BE49-F238E27FC236}">
                <a16:creationId xmlns="" xmlns:a16="http://schemas.microsoft.com/office/drawing/2014/main" id="{D23F7E30-E2BE-3545-74A1-0D70B6A351DB}"/>
              </a:ext>
            </a:extLst>
          </p:cNvPr>
          <p:cNvSpPr/>
          <p:nvPr/>
        </p:nvSpPr>
        <p:spPr>
          <a:xfrm>
            <a:off x="8166657" y="4483223"/>
            <a:ext cx="390617" cy="452761"/>
          </a:xfrm>
          <a:prstGeom prst="ellipse">
            <a:avLst/>
          </a:prstGeom>
          <a:solidFill>
            <a:schemeClr val="accent2"/>
          </a:solidFill>
        </p:spPr>
        <p:style>
          <a:lnRef idx="2">
            <a:schemeClr val="dk1"/>
          </a:lnRef>
          <a:fillRef idx="1">
            <a:schemeClr val="lt1"/>
          </a:fillRef>
          <a:effectRef idx="0">
            <a:schemeClr val="dk1"/>
          </a:effectRef>
          <a:fontRef idx="minor">
            <a:schemeClr val="dk1"/>
          </a:fontRef>
        </p:style>
        <p:txBody>
          <a:bodyPr rtlCol="0" anchor="ctr"/>
          <a:lstStyle/>
          <a:p>
            <a:pPr algn="ctr"/>
            <a:r>
              <a:rPr lang="en-US" dirty="0"/>
              <a:t>2</a:t>
            </a:r>
            <a:endParaRPr lang="en-IN" dirty="0"/>
          </a:p>
        </p:txBody>
      </p:sp>
      <p:cxnSp>
        <p:nvCxnSpPr>
          <p:cNvPr id="30" name="Straight Connector 29">
            <a:extLst>
              <a:ext uri="{FF2B5EF4-FFF2-40B4-BE49-F238E27FC236}">
                <a16:creationId xmlns="" xmlns:a16="http://schemas.microsoft.com/office/drawing/2014/main" id="{58C9FC89-3D83-0137-8B74-C88138715257}"/>
              </a:ext>
            </a:extLst>
          </p:cNvPr>
          <p:cNvCxnSpPr>
            <a:cxnSpLocks/>
            <a:stCxn id="26" idx="6"/>
            <a:endCxn id="29" idx="2"/>
          </p:cNvCxnSpPr>
          <p:nvPr/>
        </p:nvCxnSpPr>
        <p:spPr>
          <a:xfrm flipV="1">
            <a:off x="6581992" y="4709604"/>
            <a:ext cx="1584665"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 xmlns:a16="http://schemas.microsoft.com/office/drawing/2014/main" id="{A001CFAE-3F43-83F6-9C50-C02EF4112CE6}"/>
              </a:ext>
            </a:extLst>
          </p:cNvPr>
          <p:cNvCxnSpPr>
            <a:cxnSpLocks/>
            <a:stCxn id="27" idx="0"/>
          </p:cNvCxnSpPr>
          <p:nvPr/>
        </p:nvCxnSpPr>
        <p:spPr>
          <a:xfrm flipH="1" flipV="1">
            <a:off x="8361965" y="4905511"/>
            <a:ext cx="1" cy="631936"/>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 xmlns:a16="http://schemas.microsoft.com/office/drawing/2014/main" id="{2EC880FB-06C5-0407-1EC9-169318201969}"/>
              </a:ext>
            </a:extLst>
          </p:cNvPr>
          <p:cNvCxnSpPr>
            <a:cxnSpLocks/>
            <a:endCxn id="26" idx="4"/>
          </p:cNvCxnSpPr>
          <p:nvPr/>
        </p:nvCxnSpPr>
        <p:spPr>
          <a:xfrm flipV="1">
            <a:off x="6386683" y="4935985"/>
            <a:ext cx="1" cy="583337"/>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 xmlns:a16="http://schemas.microsoft.com/office/drawing/2014/main" id="{A655E87E-F957-74AA-82D9-0114F4EBD58A}"/>
              </a:ext>
            </a:extLst>
          </p:cNvPr>
          <p:cNvCxnSpPr/>
          <p:nvPr/>
        </p:nvCxnSpPr>
        <p:spPr>
          <a:xfrm flipV="1">
            <a:off x="6587171" y="5760130"/>
            <a:ext cx="1584665"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 xmlns:a16="http://schemas.microsoft.com/office/drawing/2014/main" id="{4FC111E2-27DF-349E-D794-E200773EFCB1}"/>
              </a:ext>
            </a:extLst>
          </p:cNvPr>
          <p:cNvCxnSpPr>
            <a:cxnSpLocks/>
          </p:cNvCxnSpPr>
          <p:nvPr/>
        </p:nvCxnSpPr>
        <p:spPr>
          <a:xfrm>
            <a:off x="6523487" y="4869679"/>
            <a:ext cx="1700375" cy="73407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98512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E10268E-4411-F64F-C739-73180F7C4994}"/>
              </a:ext>
            </a:extLst>
          </p:cNvPr>
          <p:cNvSpPr>
            <a:spLocks noGrp="1"/>
          </p:cNvSpPr>
          <p:nvPr>
            <p:ph type="title"/>
          </p:nvPr>
        </p:nvSpPr>
        <p:spPr/>
        <p:txBody>
          <a:bodyPr/>
          <a:lstStyle/>
          <a:p>
            <a:r>
              <a:rPr lang="en-US" b="0" i="0" dirty="0">
                <a:solidFill>
                  <a:srgbClr val="610B4B"/>
                </a:solidFill>
                <a:effectLst/>
                <a:latin typeface="erdana"/>
              </a:rPr>
              <a:t>Binary Search tree</a:t>
            </a:r>
            <a:br>
              <a:rPr lang="en-US" b="0" i="0" dirty="0">
                <a:solidFill>
                  <a:srgbClr val="610B4B"/>
                </a:solidFill>
                <a:effectLst/>
                <a:latin typeface="erdana"/>
              </a:rPr>
            </a:br>
            <a:endParaRPr lang="en-IN" dirty="0"/>
          </a:p>
        </p:txBody>
      </p:sp>
      <p:sp>
        <p:nvSpPr>
          <p:cNvPr id="6" name="Content Placeholder 5">
            <a:extLst>
              <a:ext uri="{FF2B5EF4-FFF2-40B4-BE49-F238E27FC236}">
                <a16:creationId xmlns="" xmlns:a16="http://schemas.microsoft.com/office/drawing/2014/main" id="{BCFAF290-8DED-999A-E11A-BDA18E2506C1}"/>
              </a:ext>
            </a:extLst>
          </p:cNvPr>
          <p:cNvSpPr>
            <a:spLocks noGrp="1"/>
          </p:cNvSpPr>
          <p:nvPr>
            <p:ph idx="1"/>
          </p:nvPr>
        </p:nvSpPr>
        <p:spPr/>
        <p:txBody>
          <a:bodyPr>
            <a:normAutofit/>
          </a:bodyPr>
          <a:lstStyle/>
          <a:p>
            <a:pPr algn="just"/>
            <a:r>
              <a:rPr lang="en-US" sz="2000" b="1" dirty="0">
                <a:solidFill>
                  <a:srgbClr val="610B4B"/>
                </a:solidFill>
                <a:latin typeface="Times New Roman" panose="02020603050405020304" pitchFamily="18" charset="0"/>
                <a:cs typeface="Times New Roman" panose="02020603050405020304" pitchFamily="18" charset="0"/>
              </a:rPr>
              <a:t>T</a:t>
            </a:r>
            <a:r>
              <a:rPr lang="en-US" sz="2000" b="1" i="0" dirty="0">
                <a:solidFill>
                  <a:srgbClr val="610B4B"/>
                </a:solidFill>
                <a:effectLst/>
                <a:latin typeface="Times New Roman" panose="02020603050405020304" pitchFamily="18" charset="0"/>
                <a:cs typeface="Times New Roman" panose="02020603050405020304" pitchFamily="18" charset="0"/>
              </a:rPr>
              <a:t>ree</a:t>
            </a:r>
          </a:p>
          <a:p>
            <a:pPr algn="just"/>
            <a:r>
              <a:rPr lang="en-US" b="0" i="0" dirty="0">
                <a:solidFill>
                  <a:srgbClr val="333333"/>
                </a:solidFill>
                <a:effectLst/>
                <a:latin typeface="Times New Roman" panose="02020603050405020304" pitchFamily="18" charset="0"/>
                <a:cs typeface="Times New Roman" panose="02020603050405020304" pitchFamily="18" charset="0"/>
              </a:rPr>
              <a:t>A tree is a kind of data structure that is used to represent the data in hierarchical form. It can be defined as a collection of objects or entities called as nodes that are linked together to simulate a hierarchy. Tree is a non-linear data structure as the data in a tree is not stored linearly or sequentially.</a:t>
            </a:r>
          </a:p>
          <a:p>
            <a:pPr algn="just"/>
            <a:r>
              <a:rPr lang="en-US" sz="2000" b="1" i="0" dirty="0">
                <a:solidFill>
                  <a:srgbClr val="610B4B"/>
                </a:solidFill>
                <a:effectLst/>
                <a:latin typeface="Times New Roman" panose="02020603050405020304" pitchFamily="18" charset="0"/>
                <a:cs typeface="Times New Roman" panose="02020603050405020304" pitchFamily="18" charset="0"/>
              </a:rPr>
              <a:t>Binary Search tree</a:t>
            </a:r>
          </a:p>
          <a:p>
            <a:pPr algn="just"/>
            <a:r>
              <a:rPr lang="en-US" b="0" i="0" dirty="0">
                <a:solidFill>
                  <a:srgbClr val="333333"/>
                </a:solidFill>
                <a:effectLst/>
                <a:latin typeface="Times New Roman" panose="02020603050405020304" pitchFamily="18" charset="0"/>
                <a:cs typeface="Times New Roman" panose="02020603050405020304" pitchFamily="18" charset="0"/>
              </a:rPr>
              <a:t>A binary search tree follows some order to arrange the elements. In a Binary search tree, the value of left node must be smaller than the parent node, and the value of right node must be greater than the parent node. This rule is applied recursively to the left and right subtrees of the root.</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27057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C633053-C616-9B2C-4FE0-3D39B6AC8918}"/>
              </a:ext>
            </a:extLst>
          </p:cNvPr>
          <p:cNvSpPr>
            <a:spLocks noGrp="1"/>
          </p:cNvSpPr>
          <p:nvPr>
            <p:ph type="title"/>
          </p:nvPr>
        </p:nvSpPr>
        <p:spPr/>
        <p:txBody>
          <a:bodyPr/>
          <a:lstStyle/>
          <a:p>
            <a:pPr algn="just"/>
            <a:r>
              <a:rPr lang="en-US" b="0" i="0" dirty="0">
                <a:solidFill>
                  <a:srgbClr val="610B4B"/>
                </a:solidFill>
                <a:effectLst/>
                <a:latin typeface="erdana"/>
              </a:rPr>
              <a:t>Example of creating a binary search tree</a:t>
            </a:r>
          </a:p>
        </p:txBody>
      </p:sp>
      <p:sp>
        <p:nvSpPr>
          <p:cNvPr id="3" name="Content Placeholder 2">
            <a:extLst>
              <a:ext uri="{FF2B5EF4-FFF2-40B4-BE49-F238E27FC236}">
                <a16:creationId xmlns="" xmlns:a16="http://schemas.microsoft.com/office/drawing/2014/main" id="{E814A574-DAA4-6FEC-4A9D-56FE65713830}"/>
              </a:ext>
            </a:extLst>
          </p:cNvPr>
          <p:cNvSpPr>
            <a:spLocks noGrp="1"/>
          </p:cNvSpPr>
          <p:nvPr>
            <p:ph idx="1"/>
          </p:nvPr>
        </p:nvSpPr>
        <p:spPr/>
        <p:txBody>
          <a:bodyPr>
            <a:normAutofit/>
          </a:bodyPr>
          <a:lstStyle/>
          <a:p>
            <a:pPr algn="just"/>
            <a:r>
              <a:rPr lang="en-US" sz="2000" b="0" i="0" dirty="0">
                <a:solidFill>
                  <a:srgbClr val="333333"/>
                </a:solidFill>
                <a:effectLst/>
                <a:latin typeface="inter-regular"/>
              </a:rPr>
              <a:t>Suppose the data elements are </a:t>
            </a:r>
            <a:r>
              <a:rPr lang="en-US" sz="2000" b="1" i="0" dirty="0">
                <a:solidFill>
                  <a:srgbClr val="333333"/>
                </a:solidFill>
                <a:effectLst/>
                <a:latin typeface="inter-bold"/>
              </a:rPr>
              <a:t>- 45, 15, 79, 90, 10, 55, 12, 20, 50</a:t>
            </a:r>
            <a:endParaRPr lang="en-US" sz="2000" b="0" i="0" dirty="0">
              <a:solidFill>
                <a:srgbClr val="333333"/>
              </a:solidFill>
              <a:effectLst/>
              <a:latin typeface="inter-regular"/>
            </a:endParaRPr>
          </a:p>
          <a:p>
            <a:pPr lvl="1" algn="just">
              <a:buFont typeface="Arial" panose="020B0604020202020204" pitchFamily="34" charset="0"/>
              <a:buChar char="•"/>
            </a:pPr>
            <a:r>
              <a:rPr lang="en-US" sz="2000" b="0" i="0" dirty="0">
                <a:solidFill>
                  <a:srgbClr val="000000"/>
                </a:solidFill>
                <a:effectLst/>
                <a:latin typeface="inter-regular"/>
              </a:rPr>
              <a:t>First, we have to insert </a:t>
            </a:r>
            <a:r>
              <a:rPr lang="en-US" sz="2000" b="1" i="0" dirty="0">
                <a:solidFill>
                  <a:srgbClr val="000000"/>
                </a:solidFill>
                <a:effectLst/>
                <a:latin typeface="inter-bold"/>
              </a:rPr>
              <a:t>45</a:t>
            </a:r>
            <a:r>
              <a:rPr lang="en-US" sz="2000" b="0" i="0" dirty="0">
                <a:solidFill>
                  <a:srgbClr val="000000"/>
                </a:solidFill>
                <a:effectLst/>
                <a:latin typeface="inter-regular"/>
              </a:rPr>
              <a:t> into the tree as the root of the tree.</a:t>
            </a:r>
          </a:p>
          <a:p>
            <a:pPr lvl="1" algn="just">
              <a:buFont typeface="Arial" panose="020B0604020202020204" pitchFamily="34" charset="0"/>
              <a:buChar char="•"/>
            </a:pPr>
            <a:r>
              <a:rPr lang="en-US" sz="2000" b="0" i="0" dirty="0">
                <a:solidFill>
                  <a:srgbClr val="000000"/>
                </a:solidFill>
                <a:effectLst/>
                <a:latin typeface="inter-regular"/>
              </a:rPr>
              <a:t>Then, read the next element; if it is smaller than the root node, insert it as the root of the left subtree, and move to the next element.</a:t>
            </a:r>
          </a:p>
          <a:p>
            <a:pPr lvl="1" algn="just">
              <a:buFont typeface="Arial" panose="020B0604020202020204" pitchFamily="34" charset="0"/>
              <a:buChar char="•"/>
            </a:pPr>
            <a:r>
              <a:rPr lang="en-US" sz="2000" b="0" i="0" dirty="0">
                <a:solidFill>
                  <a:srgbClr val="000000"/>
                </a:solidFill>
                <a:effectLst/>
                <a:latin typeface="inter-regular"/>
              </a:rPr>
              <a:t>Otherwise, if the element is larger than the root node, then insert it as the root of the right subtree.</a:t>
            </a:r>
          </a:p>
          <a:p>
            <a:endParaRPr lang="en-IN" sz="2000" dirty="0"/>
          </a:p>
        </p:txBody>
      </p:sp>
    </p:spTree>
    <p:extLst>
      <p:ext uri="{BB962C8B-B14F-4D97-AF65-F5344CB8AC3E}">
        <p14:creationId xmlns:p14="http://schemas.microsoft.com/office/powerpoint/2010/main" val="18835142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8448CE53-7B6A-C124-ECF5-5AECE5658269}"/>
              </a:ext>
            </a:extLst>
          </p:cNvPr>
          <p:cNvPicPr>
            <a:picLocks noChangeAspect="1"/>
          </p:cNvPicPr>
          <p:nvPr/>
        </p:nvPicPr>
        <p:blipFill>
          <a:blip r:embed="rId2"/>
          <a:stretch>
            <a:fillRect/>
          </a:stretch>
        </p:blipFill>
        <p:spPr>
          <a:xfrm>
            <a:off x="328517" y="1345672"/>
            <a:ext cx="1296097" cy="1457324"/>
          </a:xfrm>
          <a:prstGeom prst="rect">
            <a:avLst/>
          </a:prstGeom>
        </p:spPr>
      </p:pic>
      <p:pic>
        <p:nvPicPr>
          <p:cNvPr id="9" name="Picture 8">
            <a:extLst>
              <a:ext uri="{FF2B5EF4-FFF2-40B4-BE49-F238E27FC236}">
                <a16:creationId xmlns="" xmlns:a16="http://schemas.microsoft.com/office/drawing/2014/main" id="{188E30AC-C62C-854E-3A13-F454FE344969}"/>
              </a:ext>
            </a:extLst>
          </p:cNvPr>
          <p:cNvPicPr>
            <a:picLocks noChangeAspect="1"/>
          </p:cNvPicPr>
          <p:nvPr/>
        </p:nvPicPr>
        <p:blipFill>
          <a:blip r:embed="rId3" cstate="print"/>
          <a:stretch>
            <a:fillRect/>
          </a:stretch>
        </p:blipFill>
        <p:spPr>
          <a:xfrm>
            <a:off x="1770817" y="1498154"/>
            <a:ext cx="1152895" cy="1304841"/>
          </a:xfrm>
          <a:prstGeom prst="rect">
            <a:avLst/>
          </a:prstGeom>
        </p:spPr>
      </p:pic>
      <p:pic>
        <p:nvPicPr>
          <p:cNvPr id="11" name="Picture 10">
            <a:extLst>
              <a:ext uri="{FF2B5EF4-FFF2-40B4-BE49-F238E27FC236}">
                <a16:creationId xmlns="" xmlns:a16="http://schemas.microsoft.com/office/drawing/2014/main" id="{171BB370-A2A0-18D3-5247-2F62E2884343}"/>
              </a:ext>
            </a:extLst>
          </p:cNvPr>
          <p:cNvPicPr>
            <a:picLocks noChangeAspect="1"/>
          </p:cNvPicPr>
          <p:nvPr/>
        </p:nvPicPr>
        <p:blipFill>
          <a:blip r:embed="rId4"/>
          <a:stretch>
            <a:fillRect/>
          </a:stretch>
        </p:blipFill>
        <p:spPr>
          <a:xfrm>
            <a:off x="2989720" y="1498154"/>
            <a:ext cx="1442300" cy="1304841"/>
          </a:xfrm>
          <a:prstGeom prst="rect">
            <a:avLst/>
          </a:prstGeom>
        </p:spPr>
      </p:pic>
      <p:pic>
        <p:nvPicPr>
          <p:cNvPr id="13" name="Picture 12">
            <a:extLst>
              <a:ext uri="{FF2B5EF4-FFF2-40B4-BE49-F238E27FC236}">
                <a16:creationId xmlns="" xmlns:a16="http://schemas.microsoft.com/office/drawing/2014/main" id="{420A4F48-9E77-54C4-1CB6-7F7D440D51BD}"/>
              </a:ext>
            </a:extLst>
          </p:cNvPr>
          <p:cNvPicPr>
            <a:picLocks noChangeAspect="1"/>
          </p:cNvPicPr>
          <p:nvPr/>
        </p:nvPicPr>
        <p:blipFill>
          <a:blip r:embed="rId5"/>
          <a:stretch>
            <a:fillRect/>
          </a:stretch>
        </p:blipFill>
        <p:spPr>
          <a:xfrm>
            <a:off x="4901232" y="1498154"/>
            <a:ext cx="1771638" cy="1766460"/>
          </a:xfrm>
          <a:prstGeom prst="rect">
            <a:avLst/>
          </a:prstGeom>
        </p:spPr>
      </p:pic>
      <p:pic>
        <p:nvPicPr>
          <p:cNvPr id="15" name="Picture 14">
            <a:extLst>
              <a:ext uri="{FF2B5EF4-FFF2-40B4-BE49-F238E27FC236}">
                <a16:creationId xmlns="" xmlns:a16="http://schemas.microsoft.com/office/drawing/2014/main" id="{233BA132-C847-CFDD-02A6-860E3DD679A8}"/>
              </a:ext>
            </a:extLst>
          </p:cNvPr>
          <p:cNvPicPr>
            <a:picLocks noChangeAspect="1"/>
          </p:cNvPicPr>
          <p:nvPr/>
        </p:nvPicPr>
        <p:blipFill>
          <a:blip r:embed="rId6"/>
          <a:stretch>
            <a:fillRect/>
          </a:stretch>
        </p:blipFill>
        <p:spPr>
          <a:xfrm>
            <a:off x="7127070" y="1345672"/>
            <a:ext cx="2141218" cy="1766460"/>
          </a:xfrm>
          <a:prstGeom prst="rect">
            <a:avLst/>
          </a:prstGeom>
        </p:spPr>
      </p:pic>
      <p:pic>
        <p:nvPicPr>
          <p:cNvPr id="17" name="Picture 16">
            <a:extLst>
              <a:ext uri="{FF2B5EF4-FFF2-40B4-BE49-F238E27FC236}">
                <a16:creationId xmlns="" xmlns:a16="http://schemas.microsoft.com/office/drawing/2014/main" id="{572A1CBB-2AB9-4864-4451-0B96948FB3A2}"/>
              </a:ext>
            </a:extLst>
          </p:cNvPr>
          <p:cNvPicPr>
            <a:picLocks noChangeAspect="1"/>
          </p:cNvPicPr>
          <p:nvPr/>
        </p:nvPicPr>
        <p:blipFill>
          <a:blip r:embed="rId7"/>
          <a:stretch>
            <a:fillRect/>
          </a:stretch>
        </p:blipFill>
        <p:spPr>
          <a:xfrm>
            <a:off x="9722489" y="1351836"/>
            <a:ext cx="2306754" cy="1766460"/>
          </a:xfrm>
          <a:prstGeom prst="rect">
            <a:avLst/>
          </a:prstGeom>
        </p:spPr>
      </p:pic>
      <p:pic>
        <p:nvPicPr>
          <p:cNvPr id="19" name="Picture 18">
            <a:extLst>
              <a:ext uri="{FF2B5EF4-FFF2-40B4-BE49-F238E27FC236}">
                <a16:creationId xmlns="" xmlns:a16="http://schemas.microsoft.com/office/drawing/2014/main" id="{07AAA965-72FB-B079-E4D7-6B11C47BC718}"/>
              </a:ext>
            </a:extLst>
          </p:cNvPr>
          <p:cNvPicPr>
            <a:picLocks noChangeAspect="1"/>
          </p:cNvPicPr>
          <p:nvPr/>
        </p:nvPicPr>
        <p:blipFill>
          <a:blip r:embed="rId8"/>
          <a:stretch>
            <a:fillRect/>
          </a:stretch>
        </p:blipFill>
        <p:spPr>
          <a:xfrm>
            <a:off x="9805317" y="4461497"/>
            <a:ext cx="2141098" cy="1994625"/>
          </a:xfrm>
          <a:prstGeom prst="rect">
            <a:avLst/>
          </a:prstGeom>
        </p:spPr>
      </p:pic>
      <p:pic>
        <p:nvPicPr>
          <p:cNvPr id="21" name="Picture 20">
            <a:extLst>
              <a:ext uri="{FF2B5EF4-FFF2-40B4-BE49-F238E27FC236}">
                <a16:creationId xmlns="" xmlns:a16="http://schemas.microsoft.com/office/drawing/2014/main" id="{A146077B-325A-5BCF-DBD5-92FE9ADE9C09}"/>
              </a:ext>
            </a:extLst>
          </p:cNvPr>
          <p:cNvPicPr>
            <a:picLocks noChangeAspect="1"/>
          </p:cNvPicPr>
          <p:nvPr/>
        </p:nvPicPr>
        <p:blipFill>
          <a:blip r:embed="rId9"/>
          <a:stretch>
            <a:fillRect/>
          </a:stretch>
        </p:blipFill>
        <p:spPr>
          <a:xfrm>
            <a:off x="5885157" y="4344384"/>
            <a:ext cx="2433638" cy="2228850"/>
          </a:xfrm>
          <a:prstGeom prst="rect">
            <a:avLst/>
          </a:prstGeom>
        </p:spPr>
      </p:pic>
      <p:pic>
        <p:nvPicPr>
          <p:cNvPr id="23" name="Picture 22">
            <a:extLst>
              <a:ext uri="{FF2B5EF4-FFF2-40B4-BE49-F238E27FC236}">
                <a16:creationId xmlns="" xmlns:a16="http://schemas.microsoft.com/office/drawing/2014/main" id="{88E0FE97-0ECC-6949-7B7A-B09289302232}"/>
              </a:ext>
            </a:extLst>
          </p:cNvPr>
          <p:cNvPicPr>
            <a:picLocks noChangeAspect="1"/>
          </p:cNvPicPr>
          <p:nvPr/>
        </p:nvPicPr>
        <p:blipFill>
          <a:blip r:embed="rId10"/>
          <a:stretch>
            <a:fillRect/>
          </a:stretch>
        </p:blipFill>
        <p:spPr>
          <a:xfrm>
            <a:off x="1180730" y="3429000"/>
            <a:ext cx="3508534" cy="3045270"/>
          </a:xfrm>
          <a:prstGeom prst="rect">
            <a:avLst/>
          </a:prstGeom>
        </p:spPr>
      </p:pic>
      <p:pic>
        <p:nvPicPr>
          <p:cNvPr id="25" name="Picture 24">
            <a:extLst>
              <a:ext uri="{FF2B5EF4-FFF2-40B4-BE49-F238E27FC236}">
                <a16:creationId xmlns="" xmlns:a16="http://schemas.microsoft.com/office/drawing/2014/main" id="{814D167F-2E98-72B5-A586-7FE9658551C0}"/>
              </a:ext>
            </a:extLst>
          </p:cNvPr>
          <p:cNvPicPr>
            <a:picLocks noChangeAspect="1"/>
          </p:cNvPicPr>
          <p:nvPr/>
        </p:nvPicPr>
        <p:blipFill>
          <a:blip r:embed="rId11"/>
          <a:stretch>
            <a:fillRect/>
          </a:stretch>
        </p:blipFill>
        <p:spPr>
          <a:xfrm>
            <a:off x="232761" y="538817"/>
            <a:ext cx="4819650" cy="476250"/>
          </a:xfrm>
          <a:prstGeom prst="rect">
            <a:avLst/>
          </a:prstGeom>
        </p:spPr>
      </p:pic>
      <p:sp>
        <p:nvSpPr>
          <p:cNvPr id="26" name="Arrow: Down 25">
            <a:extLst>
              <a:ext uri="{FF2B5EF4-FFF2-40B4-BE49-F238E27FC236}">
                <a16:creationId xmlns="" xmlns:a16="http://schemas.microsoft.com/office/drawing/2014/main" id="{D6DD4A97-C06C-4262-7F07-755F6C72369A}"/>
              </a:ext>
            </a:extLst>
          </p:cNvPr>
          <p:cNvSpPr/>
          <p:nvPr/>
        </p:nvSpPr>
        <p:spPr>
          <a:xfrm>
            <a:off x="10582183" y="3346882"/>
            <a:ext cx="736846" cy="923277"/>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8253143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B85E81E-2916-3F68-8516-7DA684521454}"/>
              </a:ext>
            </a:extLst>
          </p:cNvPr>
          <p:cNvSpPr>
            <a:spLocks noGrp="1"/>
          </p:cNvSpPr>
          <p:nvPr>
            <p:ph type="title"/>
          </p:nvPr>
        </p:nvSpPr>
        <p:spPr/>
        <p:txBody>
          <a:bodyPr/>
          <a:lstStyle/>
          <a:p>
            <a:r>
              <a:rPr lang="en-US" b="0" i="0" dirty="0">
                <a:solidFill>
                  <a:srgbClr val="610B38"/>
                </a:solidFill>
                <a:effectLst/>
                <a:latin typeface="erdana"/>
              </a:rPr>
              <a:t>Searching in Binary search tree</a:t>
            </a:r>
            <a:br>
              <a:rPr lang="en-US" b="0" i="0" dirty="0">
                <a:solidFill>
                  <a:srgbClr val="610B38"/>
                </a:solidFill>
                <a:effectLst/>
                <a:latin typeface="erdana"/>
              </a:rPr>
            </a:br>
            <a:endParaRPr lang="en-IN" dirty="0"/>
          </a:p>
        </p:txBody>
      </p:sp>
      <p:sp>
        <p:nvSpPr>
          <p:cNvPr id="3" name="Content Placeholder 2">
            <a:extLst>
              <a:ext uri="{FF2B5EF4-FFF2-40B4-BE49-F238E27FC236}">
                <a16:creationId xmlns="" xmlns:a16="http://schemas.microsoft.com/office/drawing/2014/main" id="{29896A7B-F118-0CBA-F616-F89791383C0D}"/>
              </a:ext>
            </a:extLst>
          </p:cNvPr>
          <p:cNvSpPr>
            <a:spLocks noGrp="1"/>
          </p:cNvSpPr>
          <p:nvPr>
            <p:ph idx="1"/>
          </p:nvPr>
        </p:nvSpPr>
        <p:spPr/>
        <p:txBody>
          <a:bodyPr/>
          <a:lstStyle/>
          <a:p>
            <a:pPr algn="just">
              <a:buFont typeface="+mj-lt"/>
              <a:buAutoNum type="arabicPeriod"/>
            </a:pPr>
            <a:r>
              <a:rPr lang="en-US" b="0" i="0" dirty="0">
                <a:solidFill>
                  <a:srgbClr val="000000"/>
                </a:solidFill>
                <a:effectLst/>
                <a:latin typeface="inter-regular"/>
              </a:rPr>
              <a:t>First, compare the element to be searched with the root element of the tree.</a:t>
            </a:r>
          </a:p>
          <a:p>
            <a:pPr algn="just">
              <a:buFont typeface="+mj-lt"/>
              <a:buAutoNum type="arabicPeriod"/>
            </a:pPr>
            <a:r>
              <a:rPr lang="en-US" b="0" i="0" dirty="0">
                <a:solidFill>
                  <a:srgbClr val="000000"/>
                </a:solidFill>
                <a:effectLst/>
                <a:latin typeface="inter-regular"/>
              </a:rPr>
              <a:t>If root is matched with the target element, then return the node's location.</a:t>
            </a:r>
          </a:p>
          <a:p>
            <a:pPr algn="just">
              <a:buFont typeface="+mj-lt"/>
              <a:buAutoNum type="arabicPeriod"/>
            </a:pPr>
            <a:r>
              <a:rPr lang="en-US" b="0" i="0" dirty="0">
                <a:solidFill>
                  <a:srgbClr val="000000"/>
                </a:solidFill>
                <a:effectLst/>
                <a:latin typeface="inter-regular"/>
              </a:rPr>
              <a:t>If it is not matched, then check whether the item is less than the root element, if it is smaller than the root element, then move to the left subtree.</a:t>
            </a:r>
          </a:p>
          <a:p>
            <a:pPr algn="just">
              <a:buFont typeface="+mj-lt"/>
              <a:buAutoNum type="arabicPeriod"/>
            </a:pPr>
            <a:r>
              <a:rPr lang="en-US" b="0" i="0" dirty="0">
                <a:solidFill>
                  <a:srgbClr val="000000"/>
                </a:solidFill>
                <a:effectLst/>
                <a:latin typeface="inter-regular"/>
              </a:rPr>
              <a:t>If it is larger than the root element, then move to the right subtree.</a:t>
            </a:r>
          </a:p>
          <a:p>
            <a:pPr algn="just">
              <a:buFont typeface="+mj-lt"/>
              <a:buAutoNum type="arabicPeriod"/>
            </a:pPr>
            <a:r>
              <a:rPr lang="en-US" b="0" i="0" dirty="0">
                <a:solidFill>
                  <a:srgbClr val="000000"/>
                </a:solidFill>
                <a:effectLst/>
                <a:latin typeface="inter-regular"/>
              </a:rPr>
              <a:t>Repeat the above procedure recursively until the match is found.</a:t>
            </a:r>
          </a:p>
          <a:p>
            <a:pPr algn="just">
              <a:buFont typeface="+mj-lt"/>
              <a:buAutoNum type="arabicPeriod"/>
            </a:pPr>
            <a:r>
              <a:rPr lang="en-US" b="0" i="0" dirty="0">
                <a:solidFill>
                  <a:srgbClr val="000000"/>
                </a:solidFill>
                <a:effectLst/>
                <a:latin typeface="inter-regular"/>
              </a:rPr>
              <a:t>If the element is not found or not present in the tree, then return NULL.</a:t>
            </a:r>
          </a:p>
        </p:txBody>
      </p:sp>
    </p:spTree>
    <p:extLst>
      <p:ext uri="{BB962C8B-B14F-4D97-AF65-F5344CB8AC3E}">
        <p14:creationId xmlns:p14="http://schemas.microsoft.com/office/powerpoint/2010/main" val="40266715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4C177AA-2EA3-3F2C-8A9F-0659BD3AC132}"/>
              </a:ext>
            </a:extLst>
          </p:cNvPr>
          <p:cNvSpPr>
            <a:spLocks noGrp="1"/>
          </p:cNvSpPr>
          <p:nvPr>
            <p:ph type="title"/>
          </p:nvPr>
        </p:nvSpPr>
        <p:spPr/>
        <p:txBody>
          <a:bodyPr/>
          <a:lstStyle/>
          <a:p>
            <a:r>
              <a:rPr lang="en-IN" b="0" i="0" dirty="0">
                <a:solidFill>
                  <a:srgbClr val="610B38"/>
                </a:solidFill>
                <a:effectLst/>
                <a:latin typeface="erdana"/>
              </a:rPr>
              <a:t>Mini-Max Algorithm</a:t>
            </a:r>
            <a:br>
              <a:rPr lang="en-IN" b="0" i="0" dirty="0">
                <a:solidFill>
                  <a:srgbClr val="610B38"/>
                </a:solidFill>
                <a:effectLst/>
                <a:latin typeface="erdana"/>
              </a:rPr>
            </a:br>
            <a:endParaRPr lang="en-IN" dirty="0"/>
          </a:p>
        </p:txBody>
      </p:sp>
      <p:sp>
        <p:nvSpPr>
          <p:cNvPr id="3" name="Content Placeholder 2">
            <a:extLst>
              <a:ext uri="{FF2B5EF4-FFF2-40B4-BE49-F238E27FC236}">
                <a16:creationId xmlns="" xmlns:a16="http://schemas.microsoft.com/office/drawing/2014/main" id="{0436BA58-FAC7-B76C-30B6-857D63650899}"/>
              </a:ext>
            </a:extLst>
          </p:cNvPr>
          <p:cNvSpPr>
            <a:spLocks noGrp="1"/>
          </p:cNvSpPr>
          <p:nvPr>
            <p:ph idx="1"/>
          </p:nvPr>
        </p:nvSpPr>
        <p:spPr/>
        <p:txBody>
          <a:bodyPr>
            <a:normAutofit fontScale="77500" lnSpcReduction="20000"/>
          </a:bodyPr>
          <a:lstStyle/>
          <a:p>
            <a:pPr algn="just">
              <a:buFont typeface="Arial" panose="020B0604020202020204" pitchFamily="34" charset="0"/>
              <a:buChar char="•"/>
            </a:pPr>
            <a:r>
              <a:rPr lang="en-US" b="0" i="0" dirty="0">
                <a:solidFill>
                  <a:srgbClr val="000000"/>
                </a:solidFill>
                <a:effectLst/>
                <a:latin typeface="inter-regular"/>
              </a:rPr>
              <a:t>Mini-max algorithm is a recursive or backtracking algorithm which is used in decision-making and game theory. It provides an optimal move for the player assuming that opponent is also playing optimally.</a:t>
            </a:r>
          </a:p>
          <a:p>
            <a:pPr algn="just">
              <a:buFont typeface="Arial" panose="020B0604020202020204" pitchFamily="34" charset="0"/>
              <a:buChar char="•"/>
            </a:pPr>
            <a:r>
              <a:rPr lang="en-US" b="0" i="0" dirty="0">
                <a:solidFill>
                  <a:srgbClr val="000000"/>
                </a:solidFill>
                <a:effectLst/>
                <a:latin typeface="inter-regular"/>
              </a:rPr>
              <a:t>Mini-Max algorithm uses recursion to search through the game-tree.</a:t>
            </a:r>
          </a:p>
          <a:p>
            <a:pPr algn="just">
              <a:buFont typeface="Arial" panose="020B0604020202020204" pitchFamily="34" charset="0"/>
              <a:buChar char="•"/>
            </a:pPr>
            <a:r>
              <a:rPr lang="en-US" b="0" i="0" dirty="0">
                <a:solidFill>
                  <a:srgbClr val="000000"/>
                </a:solidFill>
                <a:effectLst/>
                <a:latin typeface="inter-regular"/>
              </a:rPr>
              <a:t>Min-Max algorithm is mostly used for game playing in AI. Such as Chess, Checkers, tic-tac-toe, go, and various tow-players game. This Algorithm computes the minimax decision for the current state.</a:t>
            </a:r>
          </a:p>
          <a:p>
            <a:pPr algn="just">
              <a:buFont typeface="Arial" panose="020B0604020202020204" pitchFamily="34" charset="0"/>
              <a:buChar char="•"/>
            </a:pPr>
            <a:r>
              <a:rPr lang="en-US" b="0" i="0" dirty="0">
                <a:solidFill>
                  <a:srgbClr val="000000"/>
                </a:solidFill>
                <a:effectLst/>
                <a:latin typeface="inter-regular"/>
              </a:rPr>
              <a:t>In this algorithm two players play the game, one is called MAX and other is called MIN.</a:t>
            </a:r>
          </a:p>
          <a:p>
            <a:pPr algn="just">
              <a:buFont typeface="Arial" panose="020B0604020202020204" pitchFamily="34" charset="0"/>
              <a:buChar char="•"/>
            </a:pPr>
            <a:r>
              <a:rPr lang="en-US" b="0" i="0" dirty="0">
                <a:solidFill>
                  <a:srgbClr val="000000"/>
                </a:solidFill>
                <a:effectLst/>
                <a:latin typeface="inter-regular"/>
              </a:rPr>
              <a:t>Both the players fight it as the opponent player gets the minimum benefit while they get the maximum benefit.</a:t>
            </a:r>
          </a:p>
          <a:p>
            <a:pPr algn="just">
              <a:buFont typeface="Arial" panose="020B0604020202020204" pitchFamily="34" charset="0"/>
              <a:buChar char="•"/>
            </a:pPr>
            <a:r>
              <a:rPr lang="en-US" b="0" i="0" dirty="0">
                <a:solidFill>
                  <a:srgbClr val="000000"/>
                </a:solidFill>
                <a:effectLst/>
                <a:latin typeface="inter-regular"/>
              </a:rPr>
              <a:t>Both Players of the game are opponent of each other, where MAX will select the maximized value and MIN will select the minimized value.</a:t>
            </a:r>
          </a:p>
          <a:p>
            <a:pPr algn="just">
              <a:buFont typeface="Arial" panose="020B0604020202020204" pitchFamily="34" charset="0"/>
              <a:buChar char="•"/>
            </a:pPr>
            <a:r>
              <a:rPr lang="en-US" b="0" i="0" dirty="0">
                <a:solidFill>
                  <a:srgbClr val="000000"/>
                </a:solidFill>
                <a:effectLst/>
                <a:latin typeface="inter-regular"/>
              </a:rPr>
              <a:t>The minimax algorithm performs a depth-first search algorithm for the exploration of the complete game tree.</a:t>
            </a:r>
          </a:p>
          <a:p>
            <a:pPr algn="just">
              <a:buFont typeface="Arial" panose="020B0604020202020204" pitchFamily="34" charset="0"/>
              <a:buChar char="•"/>
            </a:pPr>
            <a:r>
              <a:rPr lang="en-US" b="0" i="0" dirty="0">
                <a:solidFill>
                  <a:srgbClr val="000000"/>
                </a:solidFill>
                <a:effectLst/>
                <a:latin typeface="inter-regular"/>
              </a:rPr>
              <a:t>The minimax algorithm proceeds all the way down to the terminal node of the tree, then backtrack the tree as the recursion.</a:t>
            </a:r>
          </a:p>
          <a:p>
            <a:endParaRPr lang="en-IN" dirty="0"/>
          </a:p>
        </p:txBody>
      </p:sp>
    </p:spTree>
    <p:extLst>
      <p:ext uri="{BB962C8B-B14F-4D97-AF65-F5344CB8AC3E}">
        <p14:creationId xmlns:p14="http://schemas.microsoft.com/office/powerpoint/2010/main" val="29562944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 xmlns:a16="http://schemas.microsoft.com/office/drawing/2014/main" id="{4AA4168D-32D0-44BB-914F-E4A31502B77A}"/>
              </a:ext>
            </a:extLst>
          </p:cNvPr>
          <p:cNvSpPr>
            <a:spLocks noGrp="1"/>
          </p:cNvSpPr>
          <p:nvPr>
            <p:ph type="title"/>
          </p:nvPr>
        </p:nvSpPr>
        <p:spPr/>
        <p:txBody>
          <a:bodyPr/>
          <a:lstStyle/>
          <a:p>
            <a:r>
              <a:rPr lang="en-IN" b="0" i="0" dirty="0">
                <a:solidFill>
                  <a:srgbClr val="610B38"/>
                </a:solidFill>
                <a:effectLst/>
                <a:latin typeface="erdana"/>
              </a:rPr>
              <a:t>Mini-Max Algorithm</a:t>
            </a:r>
            <a:br>
              <a:rPr lang="en-IN" b="0" i="0" dirty="0">
                <a:solidFill>
                  <a:srgbClr val="610B38"/>
                </a:solidFill>
                <a:effectLst/>
                <a:latin typeface="erdana"/>
              </a:rPr>
            </a:br>
            <a:endParaRPr lang="en-IN" dirty="0"/>
          </a:p>
        </p:txBody>
      </p:sp>
      <p:sp>
        <p:nvSpPr>
          <p:cNvPr id="11" name="Content Placeholder 10">
            <a:extLst>
              <a:ext uri="{FF2B5EF4-FFF2-40B4-BE49-F238E27FC236}">
                <a16:creationId xmlns="" xmlns:a16="http://schemas.microsoft.com/office/drawing/2014/main" id="{7CE40C00-A9F4-E2A2-7488-83603FCA6EF4}"/>
              </a:ext>
            </a:extLst>
          </p:cNvPr>
          <p:cNvSpPr>
            <a:spLocks noGrp="1"/>
          </p:cNvSpPr>
          <p:nvPr>
            <p:ph sz="half" idx="1"/>
          </p:nvPr>
        </p:nvSpPr>
        <p:spPr/>
        <p:txBody>
          <a:bodyPr/>
          <a:lstStyle/>
          <a:p>
            <a:pPr>
              <a:lnSpc>
                <a:spcPct val="150000"/>
              </a:lnSpc>
            </a:pPr>
            <a:r>
              <a:rPr lang="en-US" dirty="0"/>
              <a:t>Backtracking algorithm used</a:t>
            </a:r>
          </a:p>
          <a:p>
            <a:pPr>
              <a:lnSpc>
                <a:spcPct val="150000"/>
              </a:lnSpc>
            </a:pPr>
            <a:r>
              <a:rPr lang="en-US" dirty="0"/>
              <a:t>Best move strategy used</a:t>
            </a:r>
          </a:p>
          <a:p>
            <a:pPr>
              <a:lnSpc>
                <a:spcPct val="150000"/>
              </a:lnSpc>
            </a:pPr>
            <a:r>
              <a:rPr lang="en-US" dirty="0"/>
              <a:t>Max will try to maximize its utility(Best move)</a:t>
            </a:r>
          </a:p>
          <a:p>
            <a:pPr>
              <a:lnSpc>
                <a:spcPct val="150000"/>
              </a:lnSpc>
            </a:pPr>
            <a:r>
              <a:rPr lang="en-US" dirty="0"/>
              <a:t>Min will try to minimize Utility(Worst move)</a:t>
            </a:r>
            <a:endParaRPr lang="en-IN" dirty="0"/>
          </a:p>
        </p:txBody>
      </p:sp>
      <p:pic>
        <p:nvPicPr>
          <p:cNvPr id="15" name="Content Placeholder 14">
            <a:extLst>
              <a:ext uri="{FF2B5EF4-FFF2-40B4-BE49-F238E27FC236}">
                <a16:creationId xmlns="" xmlns:a16="http://schemas.microsoft.com/office/drawing/2014/main" id="{18F527B8-0824-CFE7-6D83-E18991E384B0}"/>
              </a:ext>
            </a:extLst>
          </p:cNvPr>
          <p:cNvPicPr>
            <a:picLocks noGrp="1" noChangeAspect="1"/>
          </p:cNvPicPr>
          <p:nvPr>
            <p:ph sz="half" idx="2"/>
          </p:nvPr>
        </p:nvPicPr>
        <p:blipFill>
          <a:blip r:embed="rId2"/>
          <a:stretch>
            <a:fillRect/>
          </a:stretch>
        </p:blipFill>
        <p:spPr>
          <a:xfrm>
            <a:off x="4749553" y="1198486"/>
            <a:ext cx="6667130" cy="5049914"/>
          </a:xfrm>
        </p:spPr>
      </p:pic>
    </p:spTree>
    <p:extLst>
      <p:ext uri="{BB962C8B-B14F-4D97-AF65-F5344CB8AC3E}">
        <p14:creationId xmlns:p14="http://schemas.microsoft.com/office/powerpoint/2010/main" val="553532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5FF79880-8235-22D9-68FD-2D0C38229C32}"/>
              </a:ext>
            </a:extLst>
          </p:cNvPr>
          <p:cNvSpPr>
            <a:spLocks noGrp="1"/>
          </p:cNvSpPr>
          <p:nvPr>
            <p:ph type="title"/>
          </p:nvPr>
        </p:nvSpPr>
        <p:spPr/>
        <p:txBody>
          <a:bodyPr/>
          <a:lstStyle/>
          <a:p>
            <a:r>
              <a:rPr lang="en-IN" b="0" i="0" dirty="0">
                <a:solidFill>
                  <a:srgbClr val="610B38"/>
                </a:solidFill>
                <a:effectLst/>
                <a:latin typeface="erdana"/>
              </a:rPr>
              <a:t>Alpha-Beta Pruning</a:t>
            </a:r>
            <a:br>
              <a:rPr lang="en-IN" b="0" i="0" dirty="0">
                <a:solidFill>
                  <a:srgbClr val="610B38"/>
                </a:solidFill>
                <a:effectLst/>
                <a:latin typeface="erdana"/>
              </a:rPr>
            </a:br>
            <a:endParaRPr lang="en-IN" dirty="0"/>
          </a:p>
        </p:txBody>
      </p:sp>
      <p:sp>
        <p:nvSpPr>
          <p:cNvPr id="6" name="Content Placeholder 5">
            <a:extLst>
              <a:ext uri="{FF2B5EF4-FFF2-40B4-BE49-F238E27FC236}">
                <a16:creationId xmlns="" xmlns:a16="http://schemas.microsoft.com/office/drawing/2014/main" id="{611551BE-51DB-7215-D8B9-3B5028B6070E}"/>
              </a:ext>
            </a:extLst>
          </p:cNvPr>
          <p:cNvSpPr>
            <a:spLocks noGrp="1"/>
          </p:cNvSpPr>
          <p:nvPr>
            <p:ph idx="1"/>
          </p:nvPr>
        </p:nvSpPr>
        <p:spPr>
          <a:xfrm>
            <a:off x="677334" y="2160589"/>
            <a:ext cx="8596668" cy="4087811"/>
          </a:xfrm>
        </p:spPr>
        <p:txBody>
          <a:bodyPr>
            <a:normAutofit fontScale="77500" lnSpcReduction="20000"/>
          </a:bodyPr>
          <a:lstStyle/>
          <a:p>
            <a:pPr algn="just">
              <a:buFont typeface="Arial" panose="020B0604020202020204" pitchFamily="34" charset="0"/>
              <a:buChar char="•"/>
            </a:pPr>
            <a:r>
              <a:rPr lang="en-US" b="0" i="0" dirty="0">
                <a:solidFill>
                  <a:srgbClr val="000000"/>
                </a:solidFill>
                <a:effectLst/>
                <a:latin typeface="inter-regular"/>
              </a:rPr>
              <a:t>Alpha-beta pruning is a modified version of the minimax algorithm. It is an optimization technique for the minimax algorithm.</a:t>
            </a:r>
          </a:p>
          <a:p>
            <a:pPr algn="just">
              <a:buFont typeface="Arial" panose="020B0604020202020204" pitchFamily="34" charset="0"/>
              <a:buChar char="•"/>
            </a:pPr>
            <a:r>
              <a:rPr lang="en-US" b="0" i="0" dirty="0">
                <a:solidFill>
                  <a:srgbClr val="000000"/>
                </a:solidFill>
                <a:effectLst/>
                <a:latin typeface="inter-regular"/>
              </a:rPr>
              <a:t>As we have seen in the minimax search algorithm that the number of game states it has to examine are exponential in depth of the tree. Since we cannot eliminate the exponent, but we can cut it to half. Hence there is a technique by which without checking each node of the game tree we can compute the correct minimax decision, and this technique is called </a:t>
            </a:r>
            <a:r>
              <a:rPr lang="en-US" b="1" i="0" dirty="0">
                <a:solidFill>
                  <a:srgbClr val="000000"/>
                </a:solidFill>
                <a:effectLst/>
                <a:latin typeface="inter-bold"/>
              </a:rPr>
              <a:t>pruning</a:t>
            </a:r>
            <a:r>
              <a:rPr lang="en-US" b="0" i="0" dirty="0">
                <a:solidFill>
                  <a:srgbClr val="000000"/>
                </a:solidFill>
                <a:effectLst/>
                <a:latin typeface="inter-regular"/>
              </a:rPr>
              <a:t>. This involves two threshold parameter Alpha and beta for future expansion, so it is called </a:t>
            </a:r>
            <a:r>
              <a:rPr lang="en-US" b="1" i="0" dirty="0">
                <a:solidFill>
                  <a:srgbClr val="000000"/>
                </a:solidFill>
                <a:effectLst/>
                <a:latin typeface="inter-bold"/>
              </a:rPr>
              <a:t>alpha-beta pruning</a:t>
            </a:r>
            <a:r>
              <a:rPr lang="en-US" b="0" i="0" dirty="0">
                <a:solidFill>
                  <a:srgbClr val="000000"/>
                </a:solidFill>
                <a:effectLst/>
                <a:latin typeface="inter-regular"/>
              </a:rPr>
              <a:t>. It is also called as </a:t>
            </a:r>
            <a:r>
              <a:rPr lang="en-US" b="1" i="0" dirty="0">
                <a:solidFill>
                  <a:srgbClr val="000000"/>
                </a:solidFill>
                <a:effectLst/>
                <a:latin typeface="inter-bold"/>
              </a:rPr>
              <a:t>Alpha-Beta Algorithm</a:t>
            </a:r>
            <a:r>
              <a:rPr lang="en-US" b="0" i="0" dirty="0">
                <a:solidFill>
                  <a:srgbClr val="000000"/>
                </a:solidFill>
                <a:effectLst/>
                <a:latin typeface="inter-regular"/>
              </a:rPr>
              <a:t>.</a:t>
            </a:r>
          </a:p>
          <a:p>
            <a:pPr algn="just">
              <a:buFont typeface="Arial" panose="020B0604020202020204" pitchFamily="34" charset="0"/>
              <a:buChar char="•"/>
            </a:pPr>
            <a:r>
              <a:rPr lang="en-US" b="0" i="0" dirty="0">
                <a:solidFill>
                  <a:srgbClr val="000000"/>
                </a:solidFill>
                <a:effectLst/>
                <a:latin typeface="inter-regular"/>
              </a:rPr>
              <a:t>Alpha-beta pruning can be applied at any depth of a tree, and sometimes it not only prune the tree leaves but also entire sub-tree.</a:t>
            </a:r>
          </a:p>
          <a:p>
            <a:pPr algn="just">
              <a:buFont typeface="Arial" panose="020B0604020202020204" pitchFamily="34" charset="0"/>
              <a:buChar char="•"/>
            </a:pPr>
            <a:r>
              <a:rPr lang="en-US" b="0" i="0" dirty="0">
                <a:solidFill>
                  <a:srgbClr val="000000"/>
                </a:solidFill>
                <a:effectLst/>
                <a:latin typeface="inter-regular"/>
              </a:rPr>
              <a:t>The two-parameter can be defined as:</a:t>
            </a:r>
          </a:p>
          <a:p>
            <a:pPr marL="742950" lvl="1" indent="-285750" algn="just">
              <a:buFont typeface="Arial" panose="020B0604020202020204" pitchFamily="34" charset="0"/>
              <a:buChar char="•"/>
            </a:pPr>
            <a:r>
              <a:rPr lang="en-US" b="1" i="0" dirty="0">
                <a:solidFill>
                  <a:srgbClr val="000000"/>
                </a:solidFill>
                <a:effectLst/>
                <a:latin typeface="inter-bold"/>
              </a:rPr>
              <a:t>Alpha:</a:t>
            </a:r>
            <a:r>
              <a:rPr lang="en-US" b="0" i="0" dirty="0">
                <a:solidFill>
                  <a:srgbClr val="000000"/>
                </a:solidFill>
                <a:effectLst/>
                <a:latin typeface="inter-regular"/>
              </a:rPr>
              <a:t> The best (highest-value) choice we have found so far at any point along the path of Maximizer. The initial value of alpha is </a:t>
            </a:r>
            <a:r>
              <a:rPr lang="en-US" b="1" i="0" dirty="0">
                <a:solidFill>
                  <a:srgbClr val="000000"/>
                </a:solidFill>
                <a:effectLst/>
                <a:latin typeface="inter-bold"/>
              </a:rPr>
              <a:t>-∞</a:t>
            </a:r>
            <a:r>
              <a:rPr lang="en-US" b="0" i="0" dirty="0">
                <a:solidFill>
                  <a:srgbClr val="000000"/>
                </a:solidFill>
                <a:effectLst/>
                <a:latin typeface="inter-regular"/>
              </a:rPr>
              <a:t>.</a:t>
            </a:r>
          </a:p>
          <a:p>
            <a:pPr marL="742950" lvl="1" indent="-285750" algn="just">
              <a:buFont typeface="Arial" panose="020B0604020202020204" pitchFamily="34" charset="0"/>
              <a:buChar char="•"/>
            </a:pPr>
            <a:r>
              <a:rPr lang="en-US" b="1" i="0" dirty="0">
                <a:solidFill>
                  <a:srgbClr val="000000"/>
                </a:solidFill>
                <a:effectLst/>
                <a:latin typeface="inter-bold"/>
              </a:rPr>
              <a:t>Beta:</a:t>
            </a:r>
            <a:r>
              <a:rPr lang="en-US" b="0" i="0" dirty="0">
                <a:solidFill>
                  <a:srgbClr val="000000"/>
                </a:solidFill>
                <a:effectLst/>
                <a:latin typeface="inter-regular"/>
              </a:rPr>
              <a:t> The best (lowest-value) choice we have found so far at any point along the path of Minimizer. The initial value of beta is </a:t>
            </a:r>
            <a:r>
              <a:rPr lang="en-US" b="1" i="0" dirty="0">
                <a:solidFill>
                  <a:srgbClr val="000000"/>
                </a:solidFill>
                <a:effectLst/>
                <a:latin typeface="inter-bold"/>
              </a:rPr>
              <a:t>+∞</a:t>
            </a:r>
            <a:r>
              <a:rPr lang="en-US" b="0" i="0" dirty="0">
                <a:solidFill>
                  <a:srgbClr val="000000"/>
                </a:solidFill>
                <a:effectLst/>
                <a:latin typeface="inter-regular"/>
              </a:rPr>
              <a:t>.</a:t>
            </a:r>
          </a:p>
          <a:p>
            <a:pPr algn="just">
              <a:buFont typeface="Arial" panose="020B0604020202020204" pitchFamily="34" charset="0"/>
              <a:buChar char="•"/>
            </a:pPr>
            <a:r>
              <a:rPr lang="en-US" b="0" i="0" dirty="0">
                <a:solidFill>
                  <a:srgbClr val="000000"/>
                </a:solidFill>
                <a:effectLst/>
                <a:latin typeface="inter-regular"/>
              </a:rPr>
              <a:t>The Alpha-beta pruning to a standard minimax algorithm returns the same move as the standard algorithm does, but it removes all the nodes which are not really affecting the final decision but making algorithm slow. Hence by pruning these nodes, it makes the algorithm fast.</a:t>
            </a:r>
          </a:p>
          <a:p>
            <a:endParaRPr lang="en-IN" dirty="0"/>
          </a:p>
        </p:txBody>
      </p:sp>
    </p:spTree>
    <p:extLst>
      <p:ext uri="{BB962C8B-B14F-4D97-AF65-F5344CB8AC3E}">
        <p14:creationId xmlns:p14="http://schemas.microsoft.com/office/powerpoint/2010/main" val="81383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786CE8FC-ECAD-9DB7-3345-E9E7F7B15A19}"/>
              </a:ext>
            </a:extLst>
          </p:cNvPr>
          <p:cNvSpPr>
            <a:spLocks noGrp="1"/>
          </p:cNvSpPr>
          <p:nvPr>
            <p:ph type="title"/>
          </p:nvPr>
        </p:nvSpPr>
        <p:spPr/>
        <p:txBody>
          <a:bodyPr/>
          <a:lstStyle/>
          <a:p>
            <a:r>
              <a:rPr lang="en-IN" b="0" i="0" dirty="0">
                <a:solidFill>
                  <a:srgbClr val="610B38"/>
                </a:solidFill>
                <a:effectLst/>
                <a:latin typeface="erdana"/>
              </a:rPr>
              <a:t>Alpha-Beta Pruning</a:t>
            </a:r>
            <a:endParaRPr lang="en-IN" dirty="0"/>
          </a:p>
        </p:txBody>
      </p:sp>
      <p:sp>
        <p:nvSpPr>
          <p:cNvPr id="5" name="Content Placeholder 4">
            <a:extLst>
              <a:ext uri="{FF2B5EF4-FFF2-40B4-BE49-F238E27FC236}">
                <a16:creationId xmlns="" xmlns:a16="http://schemas.microsoft.com/office/drawing/2014/main" id="{1B8B4226-3C87-490D-AA18-FAB04284A434}"/>
              </a:ext>
            </a:extLst>
          </p:cNvPr>
          <p:cNvSpPr>
            <a:spLocks noGrp="1"/>
          </p:cNvSpPr>
          <p:nvPr>
            <p:ph sz="half" idx="1"/>
          </p:nvPr>
        </p:nvSpPr>
        <p:spPr/>
        <p:txBody>
          <a:bodyPr>
            <a:normAutofit lnSpcReduction="10000"/>
          </a:bodyPr>
          <a:lstStyle/>
          <a:p>
            <a:pPr algn="just"/>
            <a:r>
              <a:rPr lang="en-US" b="0" i="0" dirty="0">
                <a:solidFill>
                  <a:srgbClr val="610B38"/>
                </a:solidFill>
                <a:effectLst/>
                <a:latin typeface="erdana"/>
              </a:rPr>
              <a:t>Key points about alpha-beta pruning:</a:t>
            </a:r>
          </a:p>
          <a:p>
            <a:pPr algn="just">
              <a:buFont typeface="Arial" panose="020B0604020202020204" pitchFamily="34" charset="0"/>
              <a:buChar char="•"/>
            </a:pPr>
            <a:r>
              <a:rPr lang="en-US" b="0" i="0" dirty="0">
                <a:solidFill>
                  <a:srgbClr val="000000"/>
                </a:solidFill>
                <a:effectLst/>
                <a:latin typeface="inter-regular"/>
              </a:rPr>
              <a:t>The Max player will only update the value of alpha.</a:t>
            </a:r>
          </a:p>
          <a:p>
            <a:pPr algn="just">
              <a:buFont typeface="Arial" panose="020B0604020202020204" pitchFamily="34" charset="0"/>
              <a:buChar char="•"/>
            </a:pPr>
            <a:r>
              <a:rPr lang="en-US" b="0" i="0" dirty="0">
                <a:solidFill>
                  <a:srgbClr val="000000"/>
                </a:solidFill>
                <a:effectLst/>
                <a:latin typeface="inter-regular"/>
              </a:rPr>
              <a:t>The Min player will only update the value of beta.</a:t>
            </a:r>
          </a:p>
          <a:p>
            <a:pPr algn="just">
              <a:buFont typeface="Arial" panose="020B0604020202020204" pitchFamily="34" charset="0"/>
              <a:buChar char="•"/>
            </a:pPr>
            <a:r>
              <a:rPr lang="en-US" b="0" i="0" dirty="0">
                <a:solidFill>
                  <a:srgbClr val="000000"/>
                </a:solidFill>
                <a:effectLst/>
                <a:latin typeface="inter-regular"/>
              </a:rPr>
              <a:t>While backtracking the tree, the node values will be passed to upper nodes instead of values of alpha and beta.</a:t>
            </a:r>
          </a:p>
          <a:p>
            <a:pPr algn="just">
              <a:buFont typeface="Arial" panose="020B0604020202020204" pitchFamily="34" charset="0"/>
              <a:buChar char="•"/>
            </a:pPr>
            <a:r>
              <a:rPr lang="en-US" b="0" i="0" dirty="0">
                <a:solidFill>
                  <a:srgbClr val="000000"/>
                </a:solidFill>
                <a:effectLst/>
                <a:latin typeface="inter-regular"/>
              </a:rPr>
              <a:t>We will only pass the alpha, beta values to the child nodes.</a:t>
            </a:r>
          </a:p>
          <a:p>
            <a:endParaRPr lang="en-IN" dirty="0"/>
          </a:p>
        </p:txBody>
      </p:sp>
      <p:pic>
        <p:nvPicPr>
          <p:cNvPr id="8" name="Content Placeholder 7">
            <a:extLst>
              <a:ext uri="{FF2B5EF4-FFF2-40B4-BE49-F238E27FC236}">
                <a16:creationId xmlns="" xmlns:a16="http://schemas.microsoft.com/office/drawing/2014/main" id="{4DFB6B9F-E33D-CBCA-2250-9C52D3519EDB}"/>
              </a:ext>
            </a:extLst>
          </p:cNvPr>
          <p:cNvPicPr>
            <a:picLocks noGrp="1" noChangeAspect="1"/>
          </p:cNvPicPr>
          <p:nvPr>
            <p:ph sz="half" idx="2"/>
          </p:nvPr>
        </p:nvPicPr>
        <p:blipFill>
          <a:blip r:embed="rId2"/>
          <a:stretch>
            <a:fillRect/>
          </a:stretch>
        </p:blipFill>
        <p:spPr>
          <a:xfrm>
            <a:off x="5089525" y="1411887"/>
            <a:ext cx="6425141" cy="4442072"/>
          </a:xfrm>
        </p:spPr>
      </p:pic>
    </p:spTree>
    <p:extLst>
      <p:ext uri="{BB962C8B-B14F-4D97-AF65-F5344CB8AC3E}">
        <p14:creationId xmlns:p14="http://schemas.microsoft.com/office/powerpoint/2010/main" val="10377011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0AD2A5D-E93D-34F5-18BF-53893409F854}"/>
              </a:ext>
            </a:extLst>
          </p:cNvPr>
          <p:cNvSpPr>
            <a:spLocks noGrp="1"/>
          </p:cNvSpPr>
          <p:nvPr>
            <p:ph type="title"/>
          </p:nvPr>
        </p:nvSpPr>
        <p:spPr>
          <a:xfrm>
            <a:off x="677334" y="609600"/>
            <a:ext cx="8596668" cy="801950"/>
          </a:xfrm>
        </p:spPr>
        <p:txBody>
          <a:bodyPr>
            <a:normAutofit fontScale="90000"/>
          </a:bodyPr>
          <a:lstStyle/>
          <a:p>
            <a:r>
              <a:rPr lang="en-IN" b="0" i="0" dirty="0">
                <a:solidFill>
                  <a:srgbClr val="610B38"/>
                </a:solidFill>
                <a:effectLst/>
                <a:latin typeface="erdana"/>
              </a:rPr>
              <a:t>Propositional logic in Artificial intelligence</a:t>
            </a:r>
            <a:br>
              <a:rPr lang="en-IN" b="0" i="0" dirty="0">
                <a:solidFill>
                  <a:srgbClr val="610B38"/>
                </a:solidFill>
                <a:effectLst/>
                <a:latin typeface="erdana"/>
              </a:rPr>
            </a:br>
            <a:r>
              <a:rPr lang="en-IN" dirty="0"/>
              <a:t/>
            </a:r>
            <a:br>
              <a:rPr lang="en-IN" dirty="0"/>
            </a:br>
            <a:endParaRPr lang="en-IN" dirty="0"/>
          </a:p>
        </p:txBody>
      </p:sp>
      <p:sp>
        <p:nvSpPr>
          <p:cNvPr id="6" name="Content Placeholder 5">
            <a:extLst>
              <a:ext uri="{FF2B5EF4-FFF2-40B4-BE49-F238E27FC236}">
                <a16:creationId xmlns="" xmlns:a16="http://schemas.microsoft.com/office/drawing/2014/main" id="{51E8F76E-EEBA-E39A-F4D2-7B5244307443}"/>
              </a:ext>
            </a:extLst>
          </p:cNvPr>
          <p:cNvSpPr>
            <a:spLocks noGrp="1"/>
          </p:cNvSpPr>
          <p:nvPr>
            <p:ph idx="1"/>
          </p:nvPr>
        </p:nvSpPr>
        <p:spPr>
          <a:xfrm>
            <a:off x="677334" y="1704513"/>
            <a:ext cx="8596668" cy="4336849"/>
          </a:xfrm>
        </p:spPr>
        <p:txBody>
          <a:bodyPr>
            <a:normAutofit fontScale="85000" lnSpcReduction="10000"/>
          </a:bodyPr>
          <a:lstStyle/>
          <a:p>
            <a:pPr algn="just"/>
            <a:r>
              <a:rPr lang="en-US" b="0" i="0" dirty="0">
                <a:solidFill>
                  <a:srgbClr val="333333"/>
                </a:solidFill>
                <a:effectLst/>
                <a:latin typeface="inter-regular"/>
              </a:rPr>
              <a:t>Propositional logic (PL) is the simplest form of logic where all the statements are made by propositions. A proposition is a declarative statement which is either true or false. It is a technique of knowledge representation in logical and mathematical form.</a:t>
            </a:r>
          </a:p>
          <a:p>
            <a:pPr algn="just"/>
            <a:r>
              <a:rPr lang="en-US" b="0" i="0" dirty="0">
                <a:solidFill>
                  <a:srgbClr val="610B4B"/>
                </a:solidFill>
                <a:effectLst/>
                <a:latin typeface="erdana"/>
              </a:rPr>
              <a:t>Example:</a:t>
            </a:r>
          </a:p>
          <a:p>
            <a:pPr algn="just">
              <a:buFont typeface="+mj-lt"/>
              <a:buAutoNum type="arabicPeriod"/>
            </a:pPr>
            <a:r>
              <a:rPr lang="en-US" b="0" i="0" dirty="0">
                <a:solidFill>
                  <a:srgbClr val="000000"/>
                </a:solidFill>
                <a:effectLst/>
                <a:latin typeface="inter-regular"/>
              </a:rPr>
              <a:t>a) It is Sunday.  </a:t>
            </a:r>
          </a:p>
          <a:p>
            <a:pPr algn="just">
              <a:buFont typeface="+mj-lt"/>
              <a:buAutoNum type="arabicPeriod"/>
            </a:pPr>
            <a:r>
              <a:rPr lang="en-US" b="0" i="0" dirty="0">
                <a:solidFill>
                  <a:srgbClr val="000000"/>
                </a:solidFill>
                <a:effectLst/>
                <a:latin typeface="inter-regular"/>
              </a:rPr>
              <a:t>b) The Sun rises from West (False proposition)  </a:t>
            </a:r>
          </a:p>
          <a:p>
            <a:pPr algn="just">
              <a:buFont typeface="+mj-lt"/>
              <a:buAutoNum type="arabicPeriod"/>
            </a:pPr>
            <a:r>
              <a:rPr lang="en-US" b="0" i="0" dirty="0">
                <a:solidFill>
                  <a:srgbClr val="000000"/>
                </a:solidFill>
                <a:effectLst/>
                <a:latin typeface="inter-regular"/>
              </a:rPr>
              <a:t>c) </a:t>
            </a:r>
            <a:r>
              <a:rPr lang="en-US" b="0" i="0" dirty="0">
                <a:solidFill>
                  <a:srgbClr val="C00000"/>
                </a:solidFill>
                <a:effectLst/>
                <a:latin typeface="inter-regular"/>
              </a:rPr>
              <a:t>3</a:t>
            </a:r>
            <a:r>
              <a:rPr lang="en-US" b="0" i="0" dirty="0">
                <a:solidFill>
                  <a:srgbClr val="000000"/>
                </a:solidFill>
                <a:effectLst/>
                <a:latin typeface="inter-regular"/>
              </a:rPr>
              <a:t>+</a:t>
            </a:r>
            <a:r>
              <a:rPr lang="en-US" b="0" i="0" dirty="0">
                <a:solidFill>
                  <a:srgbClr val="C00000"/>
                </a:solidFill>
                <a:effectLst/>
                <a:latin typeface="inter-regular"/>
              </a:rPr>
              <a:t>3</a:t>
            </a:r>
            <a:r>
              <a:rPr lang="en-US" b="0" i="0" dirty="0">
                <a:solidFill>
                  <a:srgbClr val="000000"/>
                </a:solidFill>
                <a:effectLst/>
                <a:latin typeface="inter-regular"/>
              </a:rPr>
              <a:t>= </a:t>
            </a:r>
            <a:r>
              <a:rPr lang="en-US" b="0" i="0" dirty="0">
                <a:solidFill>
                  <a:srgbClr val="C00000"/>
                </a:solidFill>
                <a:effectLst/>
                <a:latin typeface="inter-regular"/>
              </a:rPr>
              <a:t>7</a:t>
            </a:r>
            <a:r>
              <a:rPr lang="en-US" b="0" i="0" dirty="0">
                <a:solidFill>
                  <a:srgbClr val="000000"/>
                </a:solidFill>
                <a:effectLst/>
                <a:latin typeface="inter-regular"/>
              </a:rPr>
              <a:t>(False proposition)  </a:t>
            </a:r>
          </a:p>
          <a:p>
            <a:pPr algn="just">
              <a:buFont typeface="+mj-lt"/>
              <a:buAutoNum type="arabicPeriod"/>
            </a:pPr>
            <a:r>
              <a:rPr lang="en-US" b="0" i="0" dirty="0">
                <a:solidFill>
                  <a:srgbClr val="000000"/>
                </a:solidFill>
                <a:effectLst/>
                <a:latin typeface="inter-regular"/>
              </a:rPr>
              <a:t>d) </a:t>
            </a:r>
            <a:r>
              <a:rPr lang="en-US" b="0" i="0" dirty="0">
                <a:solidFill>
                  <a:srgbClr val="C00000"/>
                </a:solidFill>
                <a:effectLst/>
                <a:latin typeface="inter-regular"/>
              </a:rPr>
              <a:t>5</a:t>
            </a:r>
            <a:r>
              <a:rPr lang="en-US" b="0" i="0" dirty="0">
                <a:solidFill>
                  <a:srgbClr val="000000"/>
                </a:solidFill>
                <a:effectLst/>
                <a:latin typeface="inter-regular"/>
              </a:rPr>
              <a:t> is a prime number.   </a:t>
            </a:r>
          </a:p>
          <a:p>
            <a:pPr algn="just"/>
            <a:r>
              <a:rPr lang="en-US" b="1" i="0" dirty="0">
                <a:solidFill>
                  <a:srgbClr val="333333"/>
                </a:solidFill>
                <a:effectLst/>
                <a:latin typeface="inter-bold"/>
              </a:rPr>
              <a:t>Following are some basic facts about propositional logic:</a:t>
            </a:r>
            <a:endParaRPr lang="en-US" b="0" i="0" dirty="0">
              <a:solidFill>
                <a:srgbClr val="333333"/>
              </a:solidFill>
              <a:effectLst/>
              <a:latin typeface="inter-regular"/>
            </a:endParaRPr>
          </a:p>
          <a:p>
            <a:pPr algn="just">
              <a:buFont typeface="Arial" panose="020B0604020202020204" pitchFamily="34" charset="0"/>
              <a:buChar char="•"/>
            </a:pPr>
            <a:r>
              <a:rPr lang="en-US" b="0" i="0" dirty="0">
                <a:solidFill>
                  <a:srgbClr val="000000"/>
                </a:solidFill>
                <a:effectLst/>
                <a:latin typeface="inter-regular"/>
              </a:rPr>
              <a:t>Propositional logic is also called Boolean logic as it works on 0 and 1.</a:t>
            </a:r>
          </a:p>
          <a:p>
            <a:pPr algn="just">
              <a:buFont typeface="Arial" panose="020B0604020202020204" pitchFamily="34" charset="0"/>
              <a:buChar char="•"/>
            </a:pPr>
            <a:r>
              <a:rPr lang="en-US" b="0" i="0" dirty="0">
                <a:solidFill>
                  <a:srgbClr val="000000"/>
                </a:solidFill>
                <a:effectLst/>
                <a:latin typeface="inter-regular"/>
              </a:rPr>
              <a:t>In propositional logic, we use symbolic variables to represent the logic, and we can use any symbol for a representing a proposition, such A, B, C, P, Q, R, etc.</a:t>
            </a:r>
          </a:p>
          <a:p>
            <a:pPr algn="just">
              <a:buFont typeface="Arial" panose="020B0604020202020204" pitchFamily="34" charset="0"/>
              <a:buChar char="•"/>
            </a:pPr>
            <a:r>
              <a:rPr lang="en-US" b="0" i="0" dirty="0">
                <a:solidFill>
                  <a:srgbClr val="000000"/>
                </a:solidFill>
                <a:effectLst/>
                <a:latin typeface="inter-regular"/>
              </a:rPr>
              <a:t>Propositions can be either true or false, but it cannot be both.</a:t>
            </a:r>
          </a:p>
          <a:p>
            <a:pPr algn="just">
              <a:buFont typeface="Arial" panose="020B0604020202020204" pitchFamily="34" charset="0"/>
              <a:buChar char="•"/>
            </a:pPr>
            <a:r>
              <a:rPr lang="en-US" b="0" i="0" dirty="0">
                <a:solidFill>
                  <a:srgbClr val="000000"/>
                </a:solidFill>
                <a:effectLst/>
                <a:latin typeface="inter-regular"/>
              </a:rPr>
              <a:t>Propositional logic consists of an object, relations or function, and </a:t>
            </a:r>
            <a:r>
              <a:rPr lang="en-US" b="1" i="0" dirty="0">
                <a:solidFill>
                  <a:srgbClr val="000000"/>
                </a:solidFill>
                <a:effectLst/>
                <a:latin typeface="inter-bold"/>
              </a:rPr>
              <a:t>logical connectives</a:t>
            </a:r>
            <a:r>
              <a:rPr lang="en-US" b="0" i="0" dirty="0">
                <a:solidFill>
                  <a:srgbClr val="000000"/>
                </a:solidFill>
                <a:effectLst/>
                <a:latin typeface="inter-regular"/>
              </a:rPr>
              <a:t>.</a:t>
            </a:r>
          </a:p>
          <a:p>
            <a:endParaRPr lang="en-IN" dirty="0"/>
          </a:p>
        </p:txBody>
      </p:sp>
    </p:spTree>
    <p:extLst>
      <p:ext uri="{BB962C8B-B14F-4D97-AF65-F5344CB8AC3E}">
        <p14:creationId xmlns:p14="http://schemas.microsoft.com/office/powerpoint/2010/main" val="30067877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F251D57-FB87-09F9-BBAD-90C26B4BD32D}"/>
              </a:ext>
            </a:extLst>
          </p:cNvPr>
          <p:cNvSpPr>
            <a:spLocks noGrp="1"/>
          </p:cNvSpPr>
          <p:nvPr>
            <p:ph type="title"/>
          </p:nvPr>
        </p:nvSpPr>
        <p:spPr/>
        <p:txBody>
          <a:bodyPr/>
          <a:lstStyle/>
          <a:p>
            <a:endParaRPr lang="en-IN"/>
          </a:p>
        </p:txBody>
      </p:sp>
      <p:sp>
        <p:nvSpPr>
          <p:cNvPr id="3" name="Content Placeholder 2">
            <a:extLst>
              <a:ext uri="{FF2B5EF4-FFF2-40B4-BE49-F238E27FC236}">
                <a16:creationId xmlns="" xmlns:a16="http://schemas.microsoft.com/office/drawing/2014/main" id="{3D5C3B3F-8B55-B032-415A-9CBCC12CB312}"/>
              </a:ext>
            </a:extLst>
          </p:cNvPr>
          <p:cNvSpPr>
            <a:spLocks noGrp="1"/>
          </p:cNvSpPr>
          <p:nvPr>
            <p:ph idx="1"/>
          </p:nvPr>
        </p:nvSpPr>
        <p:spPr/>
        <p:txBody>
          <a:bodyPr/>
          <a:lstStyle/>
          <a:p>
            <a:pPr algn="just">
              <a:buFont typeface="Arial" panose="020B0604020202020204" pitchFamily="34" charset="0"/>
              <a:buChar char="•"/>
            </a:pPr>
            <a:r>
              <a:rPr lang="en-US" b="0" i="0" dirty="0">
                <a:solidFill>
                  <a:srgbClr val="000000"/>
                </a:solidFill>
                <a:effectLst/>
                <a:latin typeface="inter-regular"/>
              </a:rPr>
              <a:t>These connectives are also called logical operators.</a:t>
            </a:r>
          </a:p>
          <a:p>
            <a:pPr algn="just">
              <a:buFont typeface="Arial" panose="020B0604020202020204" pitchFamily="34" charset="0"/>
              <a:buChar char="•"/>
            </a:pPr>
            <a:r>
              <a:rPr lang="en-US" b="0" i="0" dirty="0">
                <a:solidFill>
                  <a:srgbClr val="000000"/>
                </a:solidFill>
                <a:effectLst/>
                <a:latin typeface="inter-regular"/>
              </a:rPr>
              <a:t>The propositions and connectives are the basic elements of the propositional logic.</a:t>
            </a:r>
          </a:p>
          <a:p>
            <a:pPr algn="just">
              <a:buFont typeface="Arial" panose="020B0604020202020204" pitchFamily="34" charset="0"/>
              <a:buChar char="•"/>
            </a:pPr>
            <a:r>
              <a:rPr lang="en-US" b="0" i="0" dirty="0">
                <a:solidFill>
                  <a:srgbClr val="000000"/>
                </a:solidFill>
                <a:effectLst/>
                <a:latin typeface="inter-regular"/>
              </a:rPr>
              <a:t>Connectives can be said as a logical operator which connects two sentences.</a:t>
            </a:r>
          </a:p>
          <a:p>
            <a:pPr algn="just">
              <a:buFont typeface="Arial" panose="020B0604020202020204" pitchFamily="34" charset="0"/>
              <a:buChar char="•"/>
            </a:pPr>
            <a:r>
              <a:rPr lang="en-US" b="0" i="0" dirty="0">
                <a:solidFill>
                  <a:srgbClr val="000000"/>
                </a:solidFill>
                <a:effectLst/>
                <a:latin typeface="inter-regular"/>
              </a:rPr>
              <a:t>A proposition formula which is always true is called </a:t>
            </a:r>
            <a:r>
              <a:rPr lang="en-US" b="1" i="0" dirty="0">
                <a:solidFill>
                  <a:srgbClr val="000000"/>
                </a:solidFill>
                <a:effectLst/>
                <a:latin typeface="inter-bold"/>
              </a:rPr>
              <a:t>tautology</a:t>
            </a:r>
            <a:r>
              <a:rPr lang="en-US" b="0" i="0" dirty="0">
                <a:solidFill>
                  <a:srgbClr val="000000"/>
                </a:solidFill>
                <a:effectLst/>
                <a:latin typeface="inter-regular"/>
              </a:rPr>
              <a:t>, and it is also called a valid sentence.</a:t>
            </a:r>
          </a:p>
          <a:p>
            <a:pPr algn="just">
              <a:buFont typeface="Arial" panose="020B0604020202020204" pitchFamily="34" charset="0"/>
              <a:buChar char="•"/>
            </a:pPr>
            <a:r>
              <a:rPr lang="en-US" b="0" i="0" dirty="0">
                <a:solidFill>
                  <a:srgbClr val="000000"/>
                </a:solidFill>
                <a:effectLst/>
                <a:latin typeface="inter-regular"/>
              </a:rPr>
              <a:t>A proposition formula which is always false is called </a:t>
            </a:r>
            <a:r>
              <a:rPr lang="en-US" b="1" i="0" dirty="0">
                <a:solidFill>
                  <a:srgbClr val="000000"/>
                </a:solidFill>
                <a:effectLst/>
                <a:latin typeface="inter-bold"/>
              </a:rPr>
              <a:t>Contradiction</a:t>
            </a:r>
            <a:r>
              <a:rPr lang="en-US" b="0" i="0" dirty="0">
                <a:solidFill>
                  <a:srgbClr val="000000"/>
                </a:solidFill>
                <a:effectLst/>
                <a:latin typeface="inter-regular"/>
              </a:rPr>
              <a:t>.</a:t>
            </a:r>
          </a:p>
          <a:p>
            <a:pPr algn="just">
              <a:buFont typeface="Arial" panose="020B0604020202020204" pitchFamily="34" charset="0"/>
              <a:buChar char="•"/>
            </a:pPr>
            <a:r>
              <a:rPr lang="en-US" b="0" i="0" dirty="0">
                <a:solidFill>
                  <a:srgbClr val="000000"/>
                </a:solidFill>
                <a:effectLst/>
                <a:latin typeface="inter-regular"/>
              </a:rPr>
              <a:t>Statements which are questions, commands, or opinions are not propositions such as "</a:t>
            </a:r>
            <a:r>
              <a:rPr lang="en-US" b="1" i="0" dirty="0">
                <a:solidFill>
                  <a:srgbClr val="000000"/>
                </a:solidFill>
                <a:effectLst/>
                <a:latin typeface="inter-bold"/>
              </a:rPr>
              <a:t>Where is Rohini</a:t>
            </a:r>
            <a:r>
              <a:rPr lang="en-US" b="0" i="0" dirty="0">
                <a:solidFill>
                  <a:srgbClr val="000000"/>
                </a:solidFill>
                <a:effectLst/>
                <a:latin typeface="inter-regular"/>
              </a:rPr>
              <a:t>", "</a:t>
            </a:r>
            <a:r>
              <a:rPr lang="en-US" b="1" i="0" dirty="0">
                <a:solidFill>
                  <a:srgbClr val="000000"/>
                </a:solidFill>
                <a:effectLst/>
                <a:latin typeface="inter-bold"/>
              </a:rPr>
              <a:t>How are you</a:t>
            </a:r>
            <a:r>
              <a:rPr lang="en-US" b="0" i="0" dirty="0">
                <a:solidFill>
                  <a:srgbClr val="000000"/>
                </a:solidFill>
                <a:effectLst/>
                <a:latin typeface="inter-regular"/>
              </a:rPr>
              <a:t>", "</a:t>
            </a:r>
            <a:r>
              <a:rPr lang="en-US" b="1" i="0" dirty="0">
                <a:solidFill>
                  <a:srgbClr val="000000"/>
                </a:solidFill>
                <a:effectLst/>
                <a:latin typeface="inter-bold"/>
              </a:rPr>
              <a:t>What is your name</a:t>
            </a:r>
            <a:r>
              <a:rPr lang="en-US" b="0" i="0" dirty="0">
                <a:solidFill>
                  <a:srgbClr val="000000"/>
                </a:solidFill>
                <a:effectLst/>
                <a:latin typeface="inter-regular"/>
              </a:rPr>
              <a:t>", are not propositions.</a:t>
            </a:r>
          </a:p>
          <a:p>
            <a:endParaRPr lang="en-IN" dirty="0"/>
          </a:p>
        </p:txBody>
      </p:sp>
    </p:spTree>
    <p:extLst>
      <p:ext uri="{BB962C8B-B14F-4D97-AF65-F5344CB8AC3E}">
        <p14:creationId xmlns:p14="http://schemas.microsoft.com/office/powerpoint/2010/main" val="2550438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33C713C-49C9-6710-18D2-B8ABC7EA5770}"/>
              </a:ext>
            </a:extLst>
          </p:cNvPr>
          <p:cNvSpPr>
            <a:spLocks noGrp="1"/>
          </p:cNvSpPr>
          <p:nvPr>
            <p:ph type="title"/>
          </p:nvPr>
        </p:nvSpPr>
        <p:spPr/>
        <p:txBody>
          <a:bodyPr>
            <a:normAutofit fontScale="90000"/>
          </a:bodyPr>
          <a:lstStyle/>
          <a:p>
            <a:r>
              <a:rPr lang="en-IN" b="0" i="0" dirty="0">
                <a:solidFill>
                  <a:srgbClr val="610B4B"/>
                </a:solidFill>
                <a:effectLst/>
                <a:latin typeface="erdana"/>
              </a:rPr>
              <a:t>Syntax of propositional logic:</a:t>
            </a:r>
            <a:br>
              <a:rPr lang="en-IN" b="0" i="0" dirty="0">
                <a:solidFill>
                  <a:srgbClr val="610B4B"/>
                </a:solidFill>
                <a:effectLst/>
                <a:latin typeface="erdana"/>
              </a:rPr>
            </a:br>
            <a:r>
              <a:rPr lang="en-IN" dirty="0"/>
              <a:t/>
            </a:r>
            <a:br>
              <a:rPr lang="en-IN" dirty="0"/>
            </a:br>
            <a:endParaRPr lang="en-IN" dirty="0"/>
          </a:p>
        </p:txBody>
      </p:sp>
      <p:sp>
        <p:nvSpPr>
          <p:cNvPr id="3" name="Content Placeholder 2">
            <a:extLst>
              <a:ext uri="{FF2B5EF4-FFF2-40B4-BE49-F238E27FC236}">
                <a16:creationId xmlns="" xmlns:a16="http://schemas.microsoft.com/office/drawing/2014/main" id="{4DC7C868-3F68-82F0-33E2-454371F75D4A}"/>
              </a:ext>
            </a:extLst>
          </p:cNvPr>
          <p:cNvSpPr>
            <a:spLocks noGrp="1"/>
          </p:cNvSpPr>
          <p:nvPr>
            <p:ph idx="1"/>
          </p:nvPr>
        </p:nvSpPr>
        <p:spPr>
          <a:xfrm>
            <a:off x="677334" y="1615737"/>
            <a:ext cx="8596668" cy="4425626"/>
          </a:xfrm>
        </p:spPr>
        <p:txBody>
          <a:bodyPr>
            <a:normAutofit fontScale="92500" lnSpcReduction="20000"/>
          </a:bodyPr>
          <a:lstStyle/>
          <a:p>
            <a:pPr algn="just"/>
            <a:r>
              <a:rPr lang="en-US" b="0" i="0" dirty="0">
                <a:solidFill>
                  <a:srgbClr val="333333"/>
                </a:solidFill>
                <a:effectLst/>
                <a:latin typeface="inter-regular"/>
              </a:rPr>
              <a:t>The syntax of propositional logic defines the allowable sentences for the knowledge representation. There are two types of Propositions:</a:t>
            </a:r>
          </a:p>
          <a:p>
            <a:pPr algn="just">
              <a:buFont typeface="+mj-lt"/>
              <a:buAutoNum type="arabicPeriod"/>
            </a:pPr>
            <a:r>
              <a:rPr lang="en-US" b="1" i="0" dirty="0">
                <a:solidFill>
                  <a:srgbClr val="000000"/>
                </a:solidFill>
                <a:effectLst/>
                <a:latin typeface="inter-bold"/>
              </a:rPr>
              <a:t>Atomic Propositions</a:t>
            </a:r>
            <a:endParaRPr lang="en-US" b="0" i="0" dirty="0">
              <a:solidFill>
                <a:srgbClr val="000000"/>
              </a:solidFill>
              <a:effectLst/>
              <a:latin typeface="inter-regular"/>
            </a:endParaRPr>
          </a:p>
          <a:p>
            <a:pPr algn="just">
              <a:buFont typeface="+mj-lt"/>
              <a:buAutoNum type="arabicPeriod"/>
            </a:pPr>
            <a:r>
              <a:rPr lang="en-US" b="1" i="0" dirty="0">
                <a:solidFill>
                  <a:srgbClr val="000000"/>
                </a:solidFill>
                <a:effectLst/>
                <a:latin typeface="inter-bold"/>
              </a:rPr>
              <a:t>Compound propositions</a:t>
            </a:r>
            <a:endParaRPr lang="en-US" b="0" i="0" dirty="0">
              <a:solidFill>
                <a:srgbClr val="000000"/>
              </a:solidFill>
              <a:effectLst/>
              <a:latin typeface="inter-regular"/>
            </a:endParaRPr>
          </a:p>
          <a:p>
            <a:pPr algn="just">
              <a:buFont typeface="Arial" panose="020B0604020202020204" pitchFamily="34" charset="0"/>
              <a:buChar char="•"/>
            </a:pPr>
            <a:r>
              <a:rPr lang="en-US" b="1" i="0" dirty="0">
                <a:solidFill>
                  <a:srgbClr val="000000"/>
                </a:solidFill>
                <a:effectLst/>
                <a:latin typeface="inter-bold"/>
              </a:rPr>
              <a:t>Atomic Proposition:</a:t>
            </a:r>
            <a:r>
              <a:rPr lang="en-US" b="0" i="0" dirty="0">
                <a:solidFill>
                  <a:srgbClr val="000000"/>
                </a:solidFill>
                <a:effectLst/>
                <a:latin typeface="inter-regular"/>
              </a:rPr>
              <a:t> Atomic propositions are the simple propositions. It consists of a single proposition symbol. These are the sentences which must be either true or false.</a:t>
            </a:r>
          </a:p>
          <a:p>
            <a:pPr lvl="1" algn="just"/>
            <a:r>
              <a:rPr lang="en-US" b="1" i="0" dirty="0">
                <a:solidFill>
                  <a:srgbClr val="333333"/>
                </a:solidFill>
                <a:effectLst/>
                <a:latin typeface="inter-bold"/>
              </a:rPr>
              <a:t>Example:</a:t>
            </a:r>
            <a:endParaRPr lang="en-US" b="0" i="0" dirty="0">
              <a:solidFill>
                <a:srgbClr val="333333"/>
              </a:solidFill>
              <a:effectLst/>
              <a:latin typeface="inter-regular"/>
            </a:endParaRPr>
          </a:p>
          <a:p>
            <a:pPr lvl="1" algn="just">
              <a:buFont typeface="+mj-lt"/>
              <a:buAutoNum type="arabicPeriod"/>
            </a:pPr>
            <a:r>
              <a:rPr lang="en-US" b="0" i="0" dirty="0">
                <a:solidFill>
                  <a:srgbClr val="000000"/>
                </a:solidFill>
                <a:effectLst/>
                <a:latin typeface="inter-regular"/>
              </a:rPr>
              <a:t>a) </a:t>
            </a:r>
            <a:r>
              <a:rPr lang="en-US" b="0" i="0" dirty="0">
                <a:solidFill>
                  <a:srgbClr val="C00000"/>
                </a:solidFill>
                <a:effectLst/>
                <a:latin typeface="inter-regular"/>
              </a:rPr>
              <a:t>2</a:t>
            </a:r>
            <a:r>
              <a:rPr lang="en-US" b="0" i="0" dirty="0">
                <a:solidFill>
                  <a:srgbClr val="000000"/>
                </a:solidFill>
                <a:effectLst/>
                <a:latin typeface="inter-regular"/>
              </a:rPr>
              <a:t>+</a:t>
            </a:r>
            <a:r>
              <a:rPr lang="en-US" b="0" i="0" dirty="0">
                <a:solidFill>
                  <a:srgbClr val="C00000"/>
                </a:solidFill>
                <a:effectLst/>
                <a:latin typeface="inter-regular"/>
              </a:rPr>
              <a:t>2</a:t>
            </a:r>
            <a:r>
              <a:rPr lang="en-US" b="0" i="0" dirty="0">
                <a:solidFill>
                  <a:srgbClr val="000000"/>
                </a:solidFill>
                <a:effectLst/>
                <a:latin typeface="inter-regular"/>
              </a:rPr>
              <a:t> is </a:t>
            </a:r>
            <a:r>
              <a:rPr lang="en-US" b="0" i="0" dirty="0">
                <a:solidFill>
                  <a:srgbClr val="C00000"/>
                </a:solidFill>
                <a:effectLst/>
                <a:latin typeface="inter-regular"/>
              </a:rPr>
              <a:t>4</a:t>
            </a:r>
            <a:r>
              <a:rPr lang="en-US" b="0" i="0" dirty="0">
                <a:solidFill>
                  <a:srgbClr val="000000"/>
                </a:solidFill>
                <a:effectLst/>
                <a:latin typeface="inter-regular"/>
              </a:rPr>
              <a:t>, it is an atomic proposition as it is a </a:t>
            </a:r>
            <a:r>
              <a:rPr lang="en-US" b="1" i="0" dirty="0">
                <a:solidFill>
                  <a:srgbClr val="006699"/>
                </a:solidFill>
                <a:effectLst/>
                <a:latin typeface="inter-regular"/>
              </a:rPr>
              <a:t>true</a:t>
            </a:r>
            <a:r>
              <a:rPr lang="en-US" b="0" i="0" dirty="0">
                <a:solidFill>
                  <a:srgbClr val="000000"/>
                </a:solidFill>
                <a:effectLst/>
                <a:latin typeface="inter-regular"/>
              </a:rPr>
              <a:t> fact.  </a:t>
            </a:r>
          </a:p>
          <a:p>
            <a:pPr lvl="1" algn="just">
              <a:buFont typeface="+mj-lt"/>
              <a:buAutoNum type="arabicPeriod"/>
            </a:pPr>
            <a:r>
              <a:rPr lang="en-US" b="0" i="0" dirty="0">
                <a:solidFill>
                  <a:srgbClr val="000000"/>
                </a:solidFill>
                <a:effectLst/>
                <a:latin typeface="inter-regular"/>
              </a:rPr>
              <a:t>b) </a:t>
            </a:r>
            <a:r>
              <a:rPr lang="en-US" b="0" i="0" dirty="0">
                <a:solidFill>
                  <a:srgbClr val="0000FF"/>
                </a:solidFill>
                <a:effectLst/>
                <a:latin typeface="inter-regular"/>
              </a:rPr>
              <a:t>"The Sun is cold"</a:t>
            </a:r>
            <a:r>
              <a:rPr lang="en-US" b="0" i="0" dirty="0">
                <a:solidFill>
                  <a:srgbClr val="000000"/>
                </a:solidFill>
                <a:effectLst/>
                <a:latin typeface="inter-regular"/>
              </a:rPr>
              <a:t> is also a proposition as it is a </a:t>
            </a:r>
            <a:r>
              <a:rPr lang="en-US" b="1" i="0" dirty="0">
                <a:solidFill>
                  <a:srgbClr val="006699"/>
                </a:solidFill>
                <a:effectLst/>
                <a:latin typeface="inter-regular"/>
              </a:rPr>
              <a:t>false</a:t>
            </a:r>
            <a:r>
              <a:rPr lang="en-US" b="0" i="0" dirty="0">
                <a:solidFill>
                  <a:srgbClr val="000000"/>
                </a:solidFill>
                <a:effectLst/>
                <a:latin typeface="inter-regular"/>
              </a:rPr>
              <a:t> fact.   </a:t>
            </a:r>
          </a:p>
          <a:p>
            <a:pPr algn="just">
              <a:buFont typeface="Arial" panose="020B0604020202020204" pitchFamily="34" charset="0"/>
              <a:buChar char="•"/>
            </a:pPr>
            <a:r>
              <a:rPr lang="en-US" b="1" i="0" dirty="0">
                <a:solidFill>
                  <a:srgbClr val="000000"/>
                </a:solidFill>
                <a:effectLst/>
                <a:latin typeface="inter-bold"/>
              </a:rPr>
              <a:t>Compound proposition:</a:t>
            </a:r>
            <a:r>
              <a:rPr lang="en-US" b="0" i="0" dirty="0">
                <a:solidFill>
                  <a:srgbClr val="000000"/>
                </a:solidFill>
                <a:effectLst/>
                <a:latin typeface="inter-regular"/>
              </a:rPr>
              <a:t> Compound propositions are constructed by combining simpler or atomic propositions, using parenthesis and logical connectives.</a:t>
            </a:r>
          </a:p>
          <a:p>
            <a:pPr lvl="1" algn="just"/>
            <a:r>
              <a:rPr lang="en-US" b="1" i="0" dirty="0">
                <a:solidFill>
                  <a:srgbClr val="333333"/>
                </a:solidFill>
                <a:effectLst/>
                <a:latin typeface="inter-bold"/>
              </a:rPr>
              <a:t>Example:</a:t>
            </a:r>
            <a:endParaRPr lang="en-US" b="0" i="0" dirty="0">
              <a:solidFill>
                <a:srgbClr val="333333"/>
              </a:solidFill>
              <a:effectLst/>
              <a:latin typeface="inter-regular"/>
            </a:endParaRPr>
          </a:p>
          <a:p>
            <a:pPr lvl="1" algn="just">
              <a:buFont typeface="+mj-lt"/>
              <a:buAutoNum type="arabicPeriod"/>
            </a:pPr>
            <a:r>
              <a:rPr lang="en-US" b="0" i="0" dirty="0">
                <a:solidFill>
                  <a:srgbClr val="000000"/>
                </a:solidFill>
                <a:effectLst/>
                <a:latin typeface="inter-regular"/>
              </a:rPr>
              <a:t>a) </a:t>
            </a:r>
            <a:r>
              <a:rPr lang="en-US" b="0" i="0" dirty="0">
                <a:solidFill>
                  <a:srgbClr val="0000FF"/>
                </a:solidFill>
                <a:effectLst/>
                <a:latin typeface="inter-regular"/>
              </a:rPr>
              <a:t>"It is raining today, and street is wet."</a:t>
            </a:r>
            <a:r>
              <a:rPr lang="en-US" b="0" i="0" dirty="0">
                <a:solidFill>
                  <a:srgbClr val="000000"/>
                </a:solidFill>
                <a:effectLst/>
                <a:latin typeface="inter-regular"/>
              </a:rPr>
              <a:t>  </a:t>
            </a:r>
          </a:p>
          <a:p>
            <a:pPr lvl="1" algn="just">
              <a:buFont typeface="+mj-lt"/>
              <a:buAutoNum type="arabicPeriod"/>
            </a:pPr>
            <a:r>
              <a:rPr lang="en-US" b="0" i="0" dirty="0">
                <a:solidFill>
                  <a:srgbClr val="000000"/>
                </a:solidFill>
                <a:effectLst/>
                <a:latin typeface="inter-regular"/>
              </a:rPr>
              <a:t>b) </a:t>
            </a:r>
            <a:r>
              <a:rPr lang="en-US" b="0" i="0" dirty="0">
                <a:solidFill>
                  <a:srgbClr val="0000FF"/>
                </a:solidFill>
                <a:effectLst/>
                <a:latin typeface="inter-regular"/>
              </a:rPr>
              <a:t>"Ankit is a doctor, and his clinic is in Mumbai."</a:t>
            </a:r>
            <a:r>
              <a:rPr lang="en-US" b="0" i="0" dirty="0">
                <a:solidFill>
                  <a:srgbClr val="000000"/>
                </a:solidFill>
                <a:effectLst/>
                <a:latin typeface="inter-regular"/>
              </a:rPr>
              <a:t>   </a:t>
            </a:r>
          </a:p>
          <a:p>
            <a:endParaRPr lang="en-IN" dirty="0"/>
          </a:p>
        </p:txBody>
      </p:sp>
    </p:spTree>
    <p:extLst>
      <p:ext uri="{BB962C8B-B14F-4D97-AF65-F5344CB8AC3E}">
        <p14:creationId xmlns:p14="http://schemas.microsoft.com/office/powerpoint/2010/main" val="15267381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EBB827C-DFAE-AB42-1269-0FF28CC88249}"/>
              </a:ext>
            </a:extLst>
          </p:cNvPr>
          <p:cNvSpPr>
            <a:spLocks noGrp="1"/>
          </p:cNvSpPr>
          <p:nvPr>
            <p:ph type="title"/>
          </p:nvPr>
        </p:nvSpPr>
        <p:spPr/>
        <p:txBody>
          <a:bodyPr/>
          <a:lstStyle/>
          <a:p>
            <a:r>
              <a:rPr lang="en-IN" b="0" i="0" dirty="0">
                <a:solidFill>
                  <a:srgbClr val="610B38"/>
                </a:solidFill>
                <a:effectLst/>
                <a:latin typeface="erdana"/>
              </a:rPr>
              <a:t>Logical Connectives</a:t>
            </a:r>
            <a:br>
              <a:rPr lang="en-IN" b="0" i="0" dirty="0">
                <a:solidFill>
                  <a:srgbClr val="610B38"/>
                </a:solidFill>
                <a:effectLst/>
                <a:latin typeface="erdana"/>
              </a:rPr>
            </a:br>
            <a:endParaRPr lang="en-IN" dirty="0"/>
          </a:p>
        </p:txBody>
      </p:sp>
      <p:sp>
        <p:nvSpPr>
          <p:cNvPr id="3" name="Content Placeholder 2">
            <a:extLst>
              <a:ext uri="{FF2B5EF4-FFF2-40B4-BE49-F238E27FC236}">
                <a16:creationId xmlns="" xmlns:a16="http://schemas.microsoft.com/office/drawing/2014/main" id="{E3D25F59-20B9-AE58-AB07-AC34A6867D3C}"/>
              </a:ext>
            </a:extLst>
          </p:cNvPr>
          <p:cNvSpPr>
            <a:spLocks noGrp="1"/>
          </p:cNvSpPr>
          <p:nvPr>
            <p:ph idx="1"/>
          </p:nvPr>
        </p:nvSpPr>
        <p:spPr>
          <a:xfrm>
            <a:off x="677333" y="1535837"/>
            <a:ext cx="9611885" cy="4505525"/>
          </a:xfrm>
        </p:spPr>
        <p:txBody>
          <a:bodyPr>
            <a:noAutofit/>
          </a:bodyPr>
          <a:lstStyle/>
          <a:p>
            <a:pPr algn="just"/>
            <a:r>
              <a:rPr lang="en-US" sz="1100" b="0" i="0" dirty="0">
                <a:solidFill>
                  <a:srgbClr val="333333"/>
                </a:solidFill>
                <a:effectLst/>
                <a:latin typeface="Times New Roman" panose="02020603050405020304" pitchFamily="18" charset="0"/>
                <a:cs typeface="Times New Roman" panose="02020603050405020304" pitchFamily="18" charset="0"/>
              </a:rPr>
              <a:t>Logical connectives are used to connect two simpler propositions or representing a sentence logically. We can create compound propositions with the help of logical connectives. There are mainly five connectives, which are given as follows:</a:t>
            </a:r>
          </a:p>
          <a:p>
            <a:pPr algn="just"/>
            <a:endParaRPr lang="en-US" sz="1100" b="0" i="0" dirty="0">
              <a:solidFill>
                <a:srgbClr val="333333"/>
              </a:solidFill>
              <a:effectLst/>
              <a:latin typeface="Times New Roman" panose="02020603050405020304" pitchFamily="18" charset="0"/>
              <a:cs typeface="Times New Roman" panose="02020603050405020304" pitchFamily="18" charset="0"/>
            </a:endParaRPr>
          </a:p>
          <a:p>
            <a:pPr algn="just"/>
            <a:r>
              <a:rPr lang="en-US" sz="1100" b="1" i="0" dirty="0">
                <a:solidFill>
                  <a:srgbClr val="333333"/>
                </a:solidFill>
                <a:effectLst/>
                <a:latin typeface="Times New Roman" panose="02020603050405020304" pitchFamily="18" charset="0"/>
                <a:cs typeface="Times New Roman" panose="02020603050405020304" pitchFamily="18" charset="0"/>
              </a:rPr>
              <a:t>Negation</a:t>
            </a:r>
            <a:r>
              <a:rPr lang="en-US" sz="1100" b="0" i="0" dirty="0">
                <a:solidFill>
                  <a:srgbClr val="333333"/>
                </a:solidFill>
                <a:effectLst/>
                <a:latin typeface="Times New Roman" panose="02020603050405020304" pitchFamily="18" charset="0"/>
                <a:cs typeface="Times New Roman" panose="02020603050405020304" pitchFamily="18" charset="0"/>
              </a:rPr>
              <a:t>: A sentence such as ¬ P is called negation of P. A literal can be either Positive literal or negative literal.</a:t>
            </a:r>
          </a:p>
          <a:p>
            <a:pPr algn="just"/>
            <a:r>
              <a:rPr lang="en-US" sz="1100" b="1" i="0" dirty="0">
                <a:solidFill>
                  <a:srgbClr val="333333"/>
                </a:solidFill>
                <a:effectLst/>
                <a:latin typeface="Times New Roman" panose="02020603050405020304" pitchFamily="18" charset="0"/>
                <a:cs typeface="Times New Roman" panose="02020603050405020304" pitchFamily="18" charset="0"/>
              </a:rPr>
              <a:t>Conjunction</a:t>
            </a:r>
            <a:r>
              <a:rPr lang="en-US" sz="1100" b="0" i="0" dirty="0">
                <a:solidFill>
                  <a:srgbClr val="333333"/>
                </a:solidFill>
                <a:effectLst/>
                <a:latin typeface="Times New Roman" panose="02020603050405020304" pitchFamily="18" charset="0"/>
                <a:cs typeface="Times New Roman" panose="02020603050405020304" pitchFamily="18" charset="0"/>
              </a:rPr>
              <a:t>: A sentence which has ∧ connective such as, P ∧ Q is called a conjunction.</a:t>
            </a:r>
          </a:p>
          <a:p>
            <a:pPr marL="800100" lvl="2" indent="0" algn="just">
              <a:buNone/>
            </a:pPr>
            <a:r>
              <a:rPr lang="en-US" sz="1100" b="0" i="0" dirty="0">
                <a:solidFill>
                  <a:srgbClr val="333333"/>
                </a:solidFill>
                <a:effectLst/>
                <a:latin typeface="Times New Roman" panose="02020603050405020304" pitchFamily="18" charset="0"/>
                <a:cs typeface="Times New Roman" panose="02020603050405020304" pitchFamily="18" charset="0"/>
              </a:rPr>
              <a:t>Example: Rohan is intelligent and hardworking. It can be written as,</a:t>
            </a:r>
          </a:p>
          <a:p>
            <a:pPr marL="800100" lvl="2" indent="0" algn="just">
              <a:buNone/>
            </a:pPr>
            <a:r>
              <a:rPr lang="en-US" sz="1100" b="0" i="0" dirty="0">
                <a:solidFill>
                  <a:srgbClr val="333333"/>
                </a:solidFill>
                <a:effectLst/>
                <a:latin typeface="Times New Roman" panose="02020603050405020304" pitchFamily="18" charset="0"/>
                <a:cs typeface="Times New Roman" panose="02020603050405020304" pitchFamily="18" charset="0"/>
              </a:rPr>
              <a:t>P= Rohan is intelligent,</a:t>
            </a:r>
          </a:p>
          <a:p>
            <a:pPr marL="800100" lvl="2" indent="0" algn="just">
              <a:buNone/>
            </a:pPr>
            <a:r>
              <a:rPr lang="en-US" sz="1100" b="0" i="0" dirty="0">
                <a:solidFill>
                  <a:srgbClr val="333333"/>
                </a:solidFill>
                <a:effectLst/>
                <a:latin typeface="Times New Roman" panose="02020603050405020304" pitchFamily="18" charset="0"/>
                <a:cs typeface="Times New Roman" panose="02020603050405020304" pitchFamily="18" charset="0"/>
              </a:rPr>
              <a:t>Q= Rohan is hardworking. → P∧ Q.</a:t>
            </a:r>
          </a:p>
          <a:p>
            <a:pPr algn="just"/>
            <a:r>
              <a:rPr lang="en-US" sz="1100" b="1" i="0" dirty="0">
                <a:solidFill>
                  <a:srgbClr val="333333"/>
                </a:solidFill>
                <a:effectLst/>
                <a:latin typeface="Times New Roman" panose="02020603050405020304" pitchFamily="18" charset="0"/>
                <a:cs typeface="Times New Roman" panose="02020603050405020304" pitchFamily="18" charset="0"/>
              </a:rPr>
              <a:t>Disjunction</a:t>
            </a:r>
            <a:r>
              <a:rPr lang="en-US" sz="1100" b="0" i="0" dirty="0">
                <a:solidFill>
                  <a:srgbClr val="333333"/>
                </a:solidFill>
                <a:effectLst/>
                <a:latin typeface="Times New Roman" panose="02020603050405020304" pitchFamily="18" charset="0"/>
                <a:cs typeface="Times New Roman" panose="02020603050405020304" pitchFamily="18" charset="0"/>
              </a:rPr>
              <a:t>: A sentence which has ∨ connective, such as P ∨ Q. is called disjunction, where P and Q are the propositions.</a:t>
            </a:r>
          </a:p>
          <a:p>
            <a:pPr marL="800100" lvl="2" indent="0" algn="just">
              <a:buNone/>
            </a:pPr>
            <a:r>
              <a:rPr lang="en-US" sz="1100" b="0" i="0" dirty="0">
                <a:solidFill>
                  <a:srgbClr val="333333"/>
                </a:solidFill>
                <a:effectLst/>
                <a:latin typeface="Times New Roman" panose="02020603050405020304" pitchFamily="18" charset="0"/>
                <a:cs typeface="Times New Roman" panose="02020603050405020304" pitchFamily="18" charset="0"/>
              </a:rPr>
              <a:t>Example: "Ritika is a doctor or Engineer",</a:t>
            </a:r>
          </a:p>
          <a:p>
            <a:pPr marL="800100" lvl="2" indent="0" algn="just">
              <a:buNone/>
            </a:pPr>
            <a:r>
              <a:rPr lang="en-US" sz="1100" b="0" i="0" dirty="0">
                <a:solidFill>
                  <a:srgbClr val="333333"/>
                </a:solidFill>
                <a:effectLst/>
                <a:latin typeface="Times New Roman" panose="02020603050405020304" pitchFamily="18" charset="0"/>
                <a:cs typeface="Times New Roman" panose="02020603050405020304" pitchFamily="18" charset="0"/>
              </a:rPr>
              <a:t>Here P= Ritika is Doctor. Q= Ritika is Doctor, so we can write it as P ∨ Q.</a:t>
            </a:r>
          </a:p>
          <a:p>
            <a:pPr algn="just"/>
            <a:r>
              <a:rPr lang="en-US" sz="1100" b="1" i="0" dirty="0">
                <a:solidFill>
                  <a:srgbClr val="333333"/>
                </a:solidFill>
                <a:effectLst/>
                <a:latin typeface="Times New Roman" panose="02020603050405020304" pitchFamily="18" charset="0"/>
                <a:cs typeface="Times New Roman" panose="02020603050405020304" pitchFamily="18" charset="0"/>
              </a:rPr>
              <a:t>Implication</a:t>
            </a:r>
            <a:r>
              <a:rPr lang="en-US" sz="1100" b="0" i="0" dirty="0">
                <a:solidFill>
                  <a:srgbClr val="333333"/>
                </a:solidFill>
                <a:effectLst/>
                <a:latin typeface="Times New Roman" panose="02020603050405020304" pitchFamily="18" charset="0"/>
                <a:cs typeface="Times New Roman" panose="02020603050405020304" pitchFamily="18" charset="0"/>
              </a:rPr>
              <a:t>: A sentence such as P → Q, is called an implication. Implications are also known as if-then rules. It can be represented as</a:t>
            </a:r>
          </a:p>
          <a:p>
            <a:pPr marL="800100" lvl="2" indent="0" algn="just">
              <a:buNone/>
            </a:pPr>
            <a:r>
              <a:rPr lang="en-US" sz="1100" b="0" i="0" dirty="0">
                <a:solidFill>
                  <a:srgbClr val="333333"/>
                </a:solidFill>
                <a:effectLst/>
                <a:latin typeface="Times New Roman" panose="02020603050405020304" pitchFamily="18" charset="0"/>
                <a:cs typeface="Times New Roman" panose="02020603050405020304" pitchFamily="18" charset="0"/>
              </a:rPr>
              <a:t>If it is raining, then the street is wet.</a:t>
            </a:r>
          </a:p>
          <a:p>
            <a:pPr marL="800100" lvl="2" indent="0" algn="just">
              <a:buNone/>
            </a:pPr>
            <a:r>
              <a:rPr lang="en-US" sz="1100" b="0" i="0" dirty="0">
                <a:solidFill>
                  <a:srgbClr val="333333"/>
                </a:solidFill>
                <a:effectLst/>
                <a:latin typeface="Times New Roman" panose="02020603050405020304" pitchFamily="18" charset="0"/>
                <a:cs typeface="Times New Roman" panose="02020603050405020304" pitchFamily="18" charset="0"/>
              </a:rPr>
              <a:t>Let P= It is raining, and Q= Street is wet, so it is represented as P → Q</a:t>
            </a:r>
          </a:p>
          <a:p>
            <a:pPr algn="just"/>
            <a:r>
              <a:rPr lang="en-US" sz="1100" b="1" i="0" dirty="0">
                <a:solidFill>
                  <a:srgbClr val="333333"/>
                </a:solidFill>
                <a:effectLst/>
                <a:latin typeface="Times New Roman" panose="02020603050405020304" pitchFamily="18" charset="0"/>
                <a:cs typeface="Times New Roman" panose="02020603050405020304" pitchFamily="18" charset="0"/>
              </a:rPr>
              <a:t>Biconditional</a:t>
            </a:r>
            <a:r>
              <a:rPr lang="en-US" sz="1100" b="0" i="0" dirty="0">
                <a:solidFill>
                  <a:srgbClr val="333333"/>
                </a:solidFill>
                <a:effectLst/>
                <a:latin typeface="Times New Roman" panose="02020603050405020304" pitchFamily="18" charset="0"/>
                <a:cs typeface="Times New Roman" panose="02020603050405020304" pitchFamily="18" charset="0"/>
              </a:rPr>
              <a:t>: A sentence such as P⇔ Q is a Biconditional sentence, example If I am breathing, then I am alive</a:t>
            </a:r>
          </a:p>
          <a:p>
            <a:pPr marL="0" indent="0" algn="just">
              <a:buNone/>
            </a:pPr>
            <a:r>
              <a:rPr lang="en-US" sz="1100" b="0" i="0" dirty="0">
                <a:solidFill>
                  <a:srgbClr val="333333"/>
                </a:solidFill>
                <a:effectLst/>
                <a:latin typeface="Times New Roman" panose="02020603050405020304" pitchFamily="18" charset="0"/>
                <a:cs typeface="Times New Roman" panose="02020603050405020304" pitchFamily="18" charset="0"/>
              </a:rPr>
              <a:t>		P= I am breathing, Q= I am alive, it can be represented as P ⇔ Q.</a:t>
            </a:r>
            <a:endParaRPr lang="en-IN" sz="1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56656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B44552C-C32E-2A4D-FF43-350317350665}"/>
              </a:ext>
            </a:extLst>
          </p:cNvPr>
          <p:cNvSpPr>
            <a:spLocks noGrp="1"/>
          </p:cNvSpPr>
          <p:nvPr>
            <p:ph type="title"/>
          </p:nvPr>
        </p:nvSpPr>
        <p:spPr/>
        <p:txBody>
          <a:bodyPr/>
          <a:lstStyle/>
          <a:p>
            <a:r>
              <a:rPr lang="en-IN" b="0" i="0" dirty="0">
                <a:solidFill>
                  <a:srgbClr val="610B38"/>
                </a:solidFill>
                <a:effectLst/>
                <a:latin typeface="erdana"/>
              </a:rPr>
              <a:t>Truth Table:</a:t>
            </a:r>
            <a:br>
              <a:rPr lang="en-IN" b="0" i="0" dirty="0">
                <a:solidFill>
                  <a:srgbClr val="610B38"/>
                </a:solidFill>
                <a:effectLst/>
                <a:latin typeface="erdana"/>
              </a:rPr>
            </a:br>
            <a:endParaRPr lang="en-IN" dirty="0"/>
          </a:p>
        </p:txBody>
      </p:sp>
      <p:pic>
        <p:nvPicPr>
          <p:cNvPr id="5" name="Content Placeholder 4">
            <a:extLst>
              <a:ext uri="{FF2B5EF4-FFF2-40B4-BE49-F238E27FC236}">
                <a16:creationId xmlns="" xmlns:a16="http://schemas.microsoft.com/office/drawing/2014/main" id="{FC3F10CC-2830-59AA-4010-C5C2B6F680AC}"/>
              </a:ext>
            </a:extLst>
          </p:cNvPr>
          <p:cNvPicPr>
            <a:picLocks noGrp="1" noChangeAspect="1"/>
          </p:cNvPicPr>
          <p:nvPr>
            <p:ph idx="1"/>
          </p:nvPr>
        </p:nvPicPr>
        <p:blipFill>
          <a:blip r:embed="rId2"/>
          <a:stretch>
            <a:fillRect/>
          </a:stretch>
        </p:blipFill>
        <p:spPr>
          <a:xfrm>
            <a:off x="807869" y="1526960"/>
            <a:ext cx="8096434" cy="4515066"/>
          </a:xfrm>
        </p:spPr>
      </p:pic>
    </p:spTree>
    <p:extLst>
      <p:ext uri="{BB962C8B-B14F-4D97-AF65-F5344CB8AC3E}">
        <p14:creationId xmlns:p14="http://schemas.microsoft.com/office/powerpoint/2010/main" val="14813695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7B62103-79C7-F41D-41A1-E210C50ED91B}"/>
              </a:ext>
            </a:extLst>
          </p:cNvPr>
          <p:cNvSpPr>
            <a:spLocks noGrp="1"/>
          </p:cNvSpPr>
          <p:nvPr>
            <p:ph type="title"/>
          </p:nvPr>
        </p:nvSpPr>
        <p:spPr/>
        <p:txBody>
          <a:bodyPr/>
          <a:lstStyle/>
          <a:p>
            <a:r>
              <a:rPr lang="en-IN" b="0" i="0" dirty="0">
                <a:solidFill>
                  <a:srgbClr val="610B38"/>
                </a:solidFill>
                <a:effectLst/>
                <a:latin typeface="erdana"/>
              </a:rPr>
              <a:t>Truth Table:</a:t>
            </a:r>
            <a:br>
              <a:rPr lang="en-IN" b="0" i="0" dirty="0">
                <a:solidFill>
                  <a:srgbClr val="610B38"/>
                </a:solidFill>
                <a:effectLst/>
                <a:latin typeface="erdana"/>
              </a:rPr>
            </a:br>
            <a:endParaRPr lang="en-IN" dirty="0"/>
          </a:p>
        </p:txBody>
      </p:sp>
      <p:pic>
        <p:nvPicPr>
          <p:cNvPr id="5" name="Content Placeholder 4">
            <a:extLst>
              <a:ext uri="{FF2B5EF4-FFF2-40B4-BE49-F238E27FC236}">
                <a16:creationId xmlns="" xmlns:a16="http://schemas.microsoft.com/office/drawing/2014/main" id="{A05A301F-22F1-B3FC-45ED-1471AF3FE62E}"/>
              </a:ext>
            </a:extLst>
          </p:cNvPr>
          <p:cNvPicPr>
            <a:picLocks noGrp="1" noChangeAspect="1"/>
          </p:cNvPicPr>
          <p:nvPr>
            <p:ph idx="1"/>
          </p:nvPr>
        </p:nvPicPr>
        <p:blipFill>
          <a:blip r:embed="rId2"/>
          <a:stretch>
            <a:fillRect/>
          </a:stretch>
        </p:blipFill>
        <p:spPr>
          <a:xfrm>
            <a:off x="834501" y="1766656"/>
            <a:ext cx="8596668" cy="4275369"/>
          </a:xfrm>
        </p:spPr>
      </p:pic>
    </p:spTree>
    <p:extLst>
      <p:ext uri="{BB962C8B-B14F-4D97-AF65-F5344CB8AC3E}">
        <p14:creationId xmlns:p14="http://schemas.microsoft.com/office/powerpoint/2010/main" val="18745275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671C038-940A-8F0B-CC3A-4CE8CAD96696}"/>
              </a:ext>
            </a:extLst>
          </p:cNvPr>
          <p:cNvSpPr>
            <a:spLocks noGrp="1"/>
          </p:cNvSpPr>
          <p:nvPr>
            <p:ph type="title"/>
          </p:nvPr>
        </p:nvSpPr>
        <p:spPr/>
        <p:txBody>
          <a:bodyPr/>
          <a:lstStyle/>
          <a:p>
            <a:r>
              <a:rPr lang="en-IN" b="0" i="0" dirty="0">
                <a:solidFill>
                  <a:srgbClr val="610B38"/>
                </a:solidFill>
                <a:effectLst/>
                <a:latin typeface="erdana"/>
              </a:rPr>
              <a:t>First-Order logic:</a:t>
            </a:r>
            <a:br>
              <a:rPr lang="en-IN" b="0" i="0" dirty="0">
                <a:solidFill>
                  <a:srgbClr val="610B38"/>
                </a:solidFill>
                <a:effectLst/>
                <a:latin typeface="erdana"/>
              </a:rPr>
            </a:br>
            <a:endParaRPr lang="en-IN" dirty="0"/>
          </a:p>
        </p:txBody>
      </p:sp>
      <p:sp>
        <p:nvSpPr>
          <p:cNvPr id="3" name="Content Placeholder 2">
            <a:extLst>
              <a:ext uri="{FF2B5EF4-FFF2-40B4-BE49-F238E27FC236}">
                <a16:creationId xmlns="" xmlns:a16="http://schemas.microsoft.com/office/drawing/2014/main" id="{E494E425-5A06-9FFB-8992-538C01D20519}"/>
              </a:ext>
            </a:extLst>
          </p:cNvPr>
          <p:cNvSpPr>
            <a:spLocks noGrp="1"/>
          </p:cNvSpPr>
          <p:nvPr>
            <p:ph idx="1"/>
          </p:nvPr>
        </p:nvSpPr>
        <p:spPr>
          <a:xfrm>
            <a:off x="677334" y="1695635"/>
            <a:ext cx="8596668" cy="4345727"/>
          </a:xfrm>
        </p:spPr>
        <p:txBody>
          <a:bodyPr>
            <a:normAutofit fontScale="85000" lnSpcReduction="10000"/>
          </a:bodyPr>
          <a:lstStyle/>
          <a:p>
            <a:pPr algn="just">
              <a:buFont typeface="Arial" panose="020B0604020202020204" pitchFamily="34" charset="0"/>
              <a:buChar char="•"/>
            </a:pPr>
            <a:r>
              <a:rPr lang="en-US" b="0" i="0" dirty="0">
                <a:solidFill>
                  <a:srgbClr val="000000"/>
                </a:solidFill>
                <a:effectLst/>
                <a:latin typeface="inter-regular"/>
              </a:rPr>
              <a:t>First-order logic is another way of knowledge representation in artificial intelligence. It is an extension to propositional logic.</a:t>
            </a:r>
          </a:p>
          <a:p>
            <a:pPr algn="just">
              <a:buFont typeface="Arial" panose="020B0604020202020204" pitchFamily="34" charset="0"/>
              <a:buChar char="•"/>
            </a:pPr>
            <a:r>
              <a:rPr lang="en-US" b="0" i="0" dirty="0">
                <a:solidFill>
                  <a:srgbClr val="000000"/>
                </a:solidFill>
                <a:effectLst/>
                <a:latin typeface="inter-regular"/>
              </a:rPr>
              <a:t>FOL is sufficiently expressive to represent the natural language statements in a concise way.</a:t>
            </a:r>
          </a:p>
          <a:p>
            <a:pPr algn="just">
              <a:buFont typeface="Arial" panose="020B0604020202020204" pitchFamily="34" charset="0"/>
              <a:buChar char="•"/>
            </a:pPr>
            <a:r>
              <a:rPr lang="en-US" b="0" i="0" dirty="0">
                <a:solidFill>
                  <a:srgbClr val="000000"/>
                </a:solidFill>
                <a:effectLst/>
                <a:latin typeface="inter-regular"/>
              </a:rPr>
              <a:t>First-order logic is also known as </a:t>
            </a:r>
            <a:r>
              <a:rPr lang="en-US" b="1" i="0" dirty="0">
                <a:solidFill>
                  <a:srgbClr val="000000"/>
                </a:solidFill>
                <a:effectLst/>
                <a:latin typeface="inter-bold"/>
              </a:rPr>
              <a:t>Predicate logic or First-order predicate logic</a:t>
            </a:r>
            <a:r>
              <a:rPr lang="en-US" b="0" i="0" dirty="0">
                <a:solidFill>
                  <a:srgbClr val="000000"/>
                </a:solidFill>
                <a:effectLst/>
                <a:latin typeface="inter-regular"/>
              </a:rPr>
              <a:t>. First-order logic is a powerful language that develops information about the objects in a more easy way and can also express the relationship between those objects.</a:t>
            </a:r>
          </a:p>
          <a:p>
            <a:pPr algn="just">
              <a:buFont typeface="Arial" panose="020B0604020202020204" pitchFamily="34" charset="0"/>
              <a:buChar char="•"/>
            </a:pPr>
            <a:r>
              <a:rPr lang="en-US" b="0" i="0" dirty="0">
                <a:solidFill>
                  <a:srgbClr val="000000"/>
                </a:solidFill>
                <a:effectLst/>
                <a:latin typeface="inter-regular"/>
              </a:rPr>
              <a:t>First-order logic (like natural language) does not only assume that the world contains facts like propositional logic but also assumes the following things in the world:</a:t>
            </a:r>
          </a:p>
          <a:p>
            <a:pPr marL="742950" lvl="1" indent="-285750" algn="just">
              <a:buFont typeface="Arial" panose="020B0604020202020204" pitchFamily="34" charset="0"/>
              <a:buChar char="•"/>
            </a:pPr>
            <a:r>
              <a:rPr lang="en-US" b="1" i="0" dirty="0">
                <a:solidFill>
                  <a:srgbClr val="000000"/>
                </a:solidFill>
                <a:effectLst/>
                <a:latin typeface="inter-bold"/>
              </a:rPr>
              <a:t>Objects:</a:t>
            </a:r>
            <a:r>
              <a:rPr lang="en-US" b="0" i="0" dirty="0">
                <a:solidFill>
                  <a:srgbClr val="000000"/>
                </a:solidFill>
                <a:effectLst/>
                <a:latin typeface="inter-regular"/>
              </a:rPr>
              <a:t> A, B, people, numbers, colors, wars, theories, squares, pits, </a:t>
            </a:r>
            <a:r>
              <a:rPr lang="en-US" b="0" i="0" dirty="0" err="1">
                <a:solidFill>
                  <a:srgbClr val="000000"/>
                </a:solidFill>
                <a:effectLst/>
                <a:latin typeface="inter-regular"/>
              </a:rPr>
              <a:t>wumpus</a:t>
            </a:r>
            <a:r>
              <a:rPr lang="en-US" b="0" i="0" dirty="0">
                <a:solidFill>
                  <a:srgbClr val="000000"/>
                </a:solidFill>
                <a:effectLst/>
                <a:latin typeface="inter-regular"/>
              </a:rPr>
              <a:t>, ......</a:t>
            </a:r>
          </a:p>
          <a:p>
            <a:pPr marL="742950" lvl="1" indent="-285750" algn="just">
              <a:buFont typeface="Arial" panose="020B0604020202020204" pitchFamily="34" charset="0"/>
              <a:buChar char="•"/>
            </a:pPr>
            <a:r>
              <a:rPr lang="en-US" b="1" i="0" dirty="0">
                <a:solidFill>
                  <a:srgbClr val="000000"/>
                </a:solidFill>
                <a:effectLst/>
                <a:latin typeface="inter-bold"/>
              </a:rPr>
              <a:t>Relations:</a:t>
            </a:r>
            <a:r>
              <a:rPr lang="en-US" b="0" i="0" dirty="0">
                <a:solidFill>
                  <a:srgbClr val="000000"/>
                </a:solidFill>
                <a:effectLst/>
                <a:latin typeface="inter-regular"/>
              </a:rPr>
              <a:t> </a:t>
            </a:r>
            <a:r>
              <a:rPr lang="en-US" b="1" i="0" dirty="0">
                <a:solidFill>
                  <a:srgbClr val="000000"/>
                </a:solidFill>
                <a:effectLst/>
                <a:latin typeface="inter-bold"/>
              </a:rPr>
              <a:t>It can be unary relation such as:</a:t>
            </a:r>
            <a:r>
              <a:rPr lang="en-US" b="0" i="0" dirty="0">
                <a:solidFill>
                  <a:srgbClr val="000000"/>
                </a:solidFill>
                <a:effectLst/>
                <a:latin typeface="inter-regular"/>
              </a:rPr>
              <a:t> red, round, is adjacent, </a:t>
            </a:r>
            <a:r>
              <a:rPr lang="en-US" b="1" i="0" dirty="0">
                <a:solidFill>
                  <a:srgbClr val="000000"/>
                </a:solidFill>
                <a:effectLst/>
                <a:latin typeface="inter-bold"/>
              </a:rPr>
              <a:t>or n-any relation such as:</a:t>
            </a:r>
            <a:r>
              <a:rPr lang="en-US" b="0" i="0" dirty="0">
                <a:solidFill>
                  <a:srgbClr val="000000"/>
                </a:solidFill>
                <a:effectLst/>
                <a:latin typeface="inter-regular"/>
              </a:rPr>
              <a:t> the sister of, brother of, has color, comes between</a:t>
            </a:r>
          </a:p>
          <a:p>
            <a:pPr marL="742950" lvl="1" indent="-285750" algn="just">
              <a:buFont typeface="Arial" panose="020B0604020202020204" pitchFamily="34" charset="0"/>
              <a:buChar char="•"/>
            </a:pPr>
            <a:r>
              <a:rPr lang="en-US" b="1" i="0" dirty="0">
                <a:solidFill>
                  <a:srgbClr val="000000"/>
                </a:solidFill>
                <a:effectLst/>
                <a:latin typeface="inter-bold"/>
              </a:rPr>
              <a:t>Function:</a:t>
            </a:r>
            <a:r>
              <a:rPr lang="en-US" b="0" i="0" dirty="0">
                <a:solidFill>
                  <a:srgbClr val="000000"/>
                </a:solidFill>
                <a:effectLst/>
                <a:latin typeface="inter-regular"/>
              </a:rPr>
              <a:t> Father of, best friend, third inning of, end of, ......</a:t>
            </a:r>
          </a:p>
          <a:p>
            <a:pPr algn="just">
              <a:buFont typeface="Arial" panose="020B0604020202020204" pitchFamily="34" charset="0"/>
              <a:buChar char="•"/>
            </a:pPr>
            <a:r>
              <a:rPr lang="en-US" b="0" i="0" dirty="0">
                <a:solidFill>
                  <a:srgbClr val="000000"/>
                </a:solidFill>
                <a:effectLst/>
                <a:latin typeface="inter-regular"/>
              </a:rPr>
              <a:t>As a natural language, first-order logic also has two main parts:</a:t>
            </a:r>
          </a:p>
          <a:p>
            <a:pPr marL="742950" lvl="1" indent="-285750" algn="just">
              <a:buFont typeface="Arial" panose="020B0604020202020204" pitchFamily="34" charset="0"/>
              <a:buChar char="•"/>
            </a:pPr>
            <a:r>
              <a:rPr lang="en-US" b="1" i="0" dirty="0">
                <a:solidFill>
                  <a:srgbClr val="000000"/>
                </a:solidFill>
                <a:effectLst/>
                <a:latin typeface="inter-bold"/>
              </a:rPr>
              <a:t>Syntax</a:t>
            </a:r>
            <a:endParaRPr lang="en-US" b="0" i="0" dirty="0">
              <a:solidFill>
                <a:srgbClr val="000000"/>
              </a:solidFill>
              <a:effectLst/>
              <a:latin typeface="inter-regular"/>
            </a:endParaRPr>
          </a:p>
          <a:p>
            <a:pPr marL="742950" lvl="1" indent="-285750" algn="just">
              <a:buFont typeface="Arial" panose="020B0604020202020204" pitchFamily="34" charset="0"/>
              <a:buChar char="•"/>
            </a:pPr>
            <a:r>
              <a:rPr lang="en-US" b="1" i="0" dirty="0">
                <a:solidFill>
                  <a:srgbClr val="000000"/>
                </a:solidFill>
                <a:effectLst/>
                <a:latin typeface="inter-bold"/>
              </a:rPr>
              <a:t>Semantics</a:t>
            </a:r>
            <a:endParaRPr lang="en-US" b="0" i="0" dirty="0">
              <a:solidFill>
                <a:srgbClr val="000000"/>
              </a:solidFill>
              <a:effectLst/>
              <a:latin typeface="inter-regular"/>
            </a:endParaRPr>
          </a:p>
          <a:p>
            <a:endParaRPr lang="en-IN" dirty="0"/>
          </a:p>
        </p:txBody>
      </p:sp>
    </p:spTree>
    <p:extLst>
      <p:ext uri="{BB962C8B-B14F-4D97-AF65-F5344CB8AC3E}">
        <p14:creationId xmlns:p14="http://schemas.microsoft.com/office/powerpoint/2010/main" val="14677449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3C5CE83-DC5F-17A0-2806-1B3305A7A977}"/>
              </a:ext>
            </a:extLst>
          </p:cNvPr>
          <p:cNvSpPr>
            <a:spLocks noGrp="1"/>
          </p:cNvSpPr>
          <p:nvPr>
            <p:ph type="title"/>
          </p:nvPr>
        </p:nvSpPr>
        <p:spPr/>
        <p:txBody>
          <a:bodyPr/>
          <a:lstStyle/>
          <a:p>
            <a:r>
              <a:rPr lang="en-US" b="0" i="0" dirty="0">
                <a:solidFill>
                  <a:srgbClr val="610B4B"/>
                </a:solidFill>
                <a:effectLst/>
                <a:latin typeface="erdana"/>
              </a:rPr>
              <a:t>Basic Elements of First-order logic:</a:t>
            </a:r>
            <a:br>
              <a:rPr lang="en-US" b="0" i="0" dirty="0">
                <a:solidFill>
                  <a:srgbClr val="610B4B"/>
                </a:solidFill>
                <a:effectLst/>
                <a:latin typeface="erdana"/>
              </a:rPr>
            </a:br>
            <a:endParaRPr lang="en-IN" dirty="0"/>
          </a:p>
        </p:txBody>
      </p:sp>
      <p:pic>
        <p:nvPicPr>
          <p:cNvPr id="5" name="Content Placeholder 4">
            <a:extLst>
              <a:ext uri="{FF2B5EF4-FFF2-40B4-BE49-F238E27FC236}">
                <a16:creationId xmlns="" xmlns:a16="http://schemas.microsoft.com/office/drawing/2014/main" id="{64292E76-7F76-568B-1B75-7DAFE8B5232B}"/>
              </a:ext>
            </a:extLst>
          </p:cNvPr>
          <p:cNvPicPr>
            <a:picLocks noGrp="1" noChangeAspect="1"/>
          </p:cNvPicPr>
          <p:nvPr>
            <p:ph idx="1"/>
          </p:nvPr>
        </p:nvPicPr>
        <p:blipFill>
          <a:blip r:embed="rId2"/>
          <a:stretch>
            <a:fillRect/>
          </a:stretch>
        </p:blipFill>
        <p:spPr>
          <a:xfrm>
            <a:off x="677863" y="2485489"/>
            <a:ext cx="8596312" cy="3231635"/>
          </a:xfrm>
        </p:spPr>
      </p:pic>
    </p:spTree>
    <p:extLst>
      <p:ext uri="{BB962C8B-B14F-4D97-AF65-F5344CB8AC3E}">
        <p14:creationId xmlns:p14="http://schemas.microsoft.com/office/powerpoint/2010/main" val="16217891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CFE1CA8-B8F6-13F7-235D-A0F5A1FFC032}"/>
              </a:ext>
            </a:extLst>
          </p:cNvPr>
          <p:cNvSpPr>
            <a:spLocks noGrp="1"/>
          </p:cNvSpPr>
          <p:nvPr>
            <p:ph type="title"/>
          </p:nvPr>
        </p:nvSpPr>
        <p:spPr/>
        <p:txBody>
          <a:bodyPr/>
          <a:lstStyle/>
          <a:p>
            <a:r>
              <a:rPr lang="en-US" b="0" i="0" dirty="0">
                <a:solidFill>
                  <a:srgbClr val="610B38"/>
                </a:solidFill>
                <a:effectLst/>
                <a:latin typeface="erdana"/>
              </a:rPr>
              <a:t>Quantifiers in First-order logic:</a:t>
            </a:r>
            <a:br>
              <a:rPr lang="en-US" b="0" i="0" dirty="0">
                <a:solidFill>
                  <a:srgbClr val="610B38"/>
                </a:solidFill>
                <a:effectLst/>
                <a:latin typeface="erdana"/>
              </a:rPr>
            </a:br>
            <a:endParaRPr lang="en-IN" dirty="0"/>
          </a:p>
        </p:txBody>
      </p:sp>
      <p:sp>
        <p:nvSpPr>
          <p:cNvPr id="3" name="Content Placeholder 2">
            <a:extLst>
              <a:ext uri="{FF2B5EF4-FFF2-40B4-BE49-F238E27FC236}">
                <a16:creationId xmlns="" xmlns:a16="http://schemas.microsoft.com/office/drawing/2014/main" id="{D22BCC7C-86E4-5E72-6C53-8D916D162204}"/>
              </a:ext>
            </a:extLst>
          </p:cNvPr>
          <p:cNvSpPr>
            <a:spLocks noGrp="1"/>
          </p:cNvSpPr>
          <p:nvPr>
            <p:ph idx="1"/>
          </p:nvPr>
        </p:nvSpPr>
        <p:spPr/>
        <p:txBody>
          <a:bodyPr/>
          <a:lstStyle/>
          <a:p>
            <a:pPr algn="just">
              <a:buFont typeface="Arial" panose="020B0604020202020204" pitchFamily="34" charset="0"/>
              <a:buChar char="•"/>
            </a:pPr>
            <a:r>
              <a:rPr lang="en-US" b="0" i="0" dirty="0">
                <a:solidFill>
                  <a:srgbClr val="000000"/>
                </a:solidFill>
                <a:effectLst/>
                <a:latin typeface="inter-regular"/>
              </a:rPr>
              <a:t>A quantifier is a language element which generates quantification, and quantification specifies the quantity of specimen in the universe of discourse.</a:t>
            </a:r>
          </a:p>
          <a:p>
            <a:pPr algn="just">
              <a:buFont typeface="Arial" panose="020B0604020202020204" pitchFamily="34" charset="0"/>
              <a:buChar char="•"/>
            </a:pPr>
            <a:r>
              <a:rPr lang="en-US" b="0" i="0" dirty="0">
                <a:solidFill>
                  <a:srgbClr val="000000"/>
                </a:solidFill>
                <a:effectLst/>
                <a:latin typeface="inter-regular"/>
              </a:rPr>
              <a:t>These are the symbols that permit to determine or identify the range and scope of the variable in the logical expression. There are two types of quantifier:</a:t>
            </a:r>
          </a:p>
          <a:p>
            <a:pPr marL="742950" lvl="1" indent="-285750" algn="just">
              <a:buFont typeface="Arial" panose="020B0604020202020204" pitchFamily="34" charset="0"/>
              <a:buChar char="•"/>
            </a:pPr>
            <a:r>
              <a:rPr lang="en-US" b="1" i="0" dirty="0">
                <a:solidFill>
                  <a:srgbClr val="000000"/>
                </a:solidFill>
                <a:effectLst/>
                <a:latin typeface="inter-bold"/>
              </a:rPr>
              <a:t>Universal Quantifier, (for all, everyone, everything)</a:t>
            </a:r>
            <a:endParaRPr lang="en-US" b="0" i="0" dirty="0">
              <a:solidFill>
                <a:srgbClr val="000000"/>
              </a:solidFill>
              <a:effectLst/>
              <a:latin typeface="inter-regular"/>
            </a:endParaRPr>
          </a:p>
          <a:p>
            <a:pPr marL="742950" lvl="1" indent="-285750" algn="just">
              <a:buFont typeface="Arial" panose="020B0604020202020204" pitchFamily="34" charset="0"/>
              <a:buChar char="•"/>
            </a:pPr>
            <a:r>
              <a:rPr lang="en-US" b="1" i="0" dirty="0">
                <a:solidFill>
                  <a:srgbClr val="000000"/>
                </a:solidFill>
                <a:effectLst/>
                <a:latin typeface="inter-bold"/>
              </a:rPr>
              <a:t>Existential quantifier, (for some, at least one).</a:t>
            </a:r>
            <a:endParaRPr lang="en-US" b="0" i="0" dirty="0">
              <a:solidFill>
                <a:srgbClr val="000000"/>
              </a:solidFill>
              <a:effectLst/>
              <a:latin typeface="inter-regular"/>
            </a:endParaRPr>
          </a:p>
          <a:p>
            <a:endParaRPr lang="en-IN" dirty="0"/>
          </a:p>
        </p:txBody>
      </p:sp>
    </p:spTree>
    <p:extLst>
      <p:ext uri="{BB962C8B-B14F-4D97-AF65-F5344CB8AC3E}">
        <p14:creationId xmlns:p14="http://schemas.microsoft.com/office/powerpoint/2010/main" val="30019478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E35FDCD-7643-7AD1-DB32-0C2E93FEEC2C}"/>
              </a:ext>
            </a:extLst>
          </p:cNvPr>
          <p:cNvSpPr>
            <a:spLocks noGrp="1"/>
          </p:cNvSpPr>
          <p:nvPr>
            <p:ph type="title"/>
          </p:nvPr>
        </p:nvSpPr>
        <p:spPr/>
        <p:txBody>
          <a:bodyPr/>
          <a:lstStyle/>
          <a:p>
            <a:r>
              <a:rPr lang="en-IN" b="0" i="0" dirty="0">
                <a:solidFill>
                  <a:srgbClr val="610B4B"/>
                </a:solidFill>
                <a:effectLst/>
                <a:latin typeface="erdana"/>
              </a:rPr>
              <a:t>Universal Quantifier:</a:t>
            </a:r>
            <a:br>
              <a:rPr lang="en-IN" b="0" i="0" dirty="0">
                <a:solidFill>
                  <a:srgbClr val="610B4B"/>
                </a:solidFill>
                <a:effectLst/>
                <a:latin typeface="erdana"/>
              </a:rPr>
            </a:br>
            <a:endParaRPr lang="en-IN" dirty="0"/>
          </a:p>
        </p:txBody>
      </p:sp>
      <p:sp>
        <p:nvSpPr>
          <p:cNvPr id="5" name="Content Placeholder 4">
            <a:extLst>
              <a:ext uri="{FF2B5EF4-FFF2-40B4-BE49-F238E27FC236}">
                <a16:creationId xmlns="" xmlns:a16="http://schemas.microsoft.com/office/drawing/2014/main" id="{BFBFBB8D-39C3-7A6A-D350-634079C932EA}"/>
              </a:ext>
            </a:extLst>
          </p:cNvPr>
          <p:cNvSpPr>
            <a:spLocks noGrp="1"/>
          </p:cNvSpPr>
          <p:nvPr>
            <p:ph sz="half" idx="1"/>
          </p:nvPr>
        </p:nvSpPr>
        <p:spPr/>
        <p:txBody>
          <a:bodyPr>
            <a:normAutofit fontScale="85000" lnSpcReduction="10000"/>
          </a:bodyPr>
          <a:lstStyle/>
          <a:p>
            <a:pPr algn="just"/>
            <a:r>
              <a:rPr lang="en-US" b="0" i="0" dirty="0">
                <a:solidFill>
                  <a:srgbClr val="333333"/>
                </a:solidFill>
                <a:effectLst/>
                <a:latin typeface="inter-regular"/>
              </a:rPr>
              <a:t>Universal quantifier is a symbol of logical representation, which specifies that the statement within its range is true for everything or every instance of a particular thing.</a:t>
            </a:r>
          </a:p>
          <a:p>
            <a:pPr algn="just"/>
            <a:r>
              <a:rPr lang="en-US" b="0" i="0" dirty="0">
                <a:solidFill>
                  <a:srgbClr val="333333"/>
                </a:solidFill>
                <a:effectLst/>
                <a:latin typeface="inter-regular"/>
              </a:rPr>
              <a:t>The Universal quantifier is represented by a symbol ∀, which resembles an inverted A.</a:t>
            </a:r>
          </a:p>
          <a:p>
            <a:pPr algn="just"/>
            <a:r>
              <a:rPr lang="en-US" b="0" i="0" dirty="0">
                <a:solidFill>
                  <a:srgbClr val="333333"/>
                </a:solidFill>
                <a:effectLst/>
                <a:latin typeface="inter-regular"/>
              </a:rPr>
              <a:t>If x is a variable, then ∀x is read as:</a:t>
            </a:r>
          </a:p>
          <a:p>
            <a:pPr algn="just">
              <a:buFont typeface="Arial" panose="020B0604020202020204" pitchFamily="34" charset="0"/>
              <a:buChar char="•"/>
            </a:pPr>
            <a:r>
              <a:rPr lang="en-US" b="1" i="0" dirty="0">
                <a:solidFill>
                  <a:srgbClr val="000000"/>
                </a:solidFill>
                <a:effectLst/>
                <a:latin typeface="inter-bold"/>
              </a:rPr>
              <a:t>For all x</a:t>
            </a:r>
            <a:endParaRPr lang="en-US" b="0" i="0" dirty="0">
              <a:solidFill>
                <a:srgbClr val="000000"/>
              </a:solidFill>
              <a:effectLst/>
              <a:latin typeface="inter-regular"/>
            </a:endParaRPr>
          </a:p>
          <a:p>
            <a:pPr algn="just">
              <a:buFont typeface="Arial" panose="020B0604020202020204" pitchFamily="34" charset="0"/>
              <a:buChar char="•"/>
            </a:pPr>
            <a:r>
              <a:rPr lang="en-US" b="1" i="0" dirty="0">
                <a:solidFill>
                  <a:srgbClr val="000000"/>
                </a:solidFill>
                <a:effectLst/>
                <a:latin typeface="inter-bold"/>
              </a:rPr>
              <a:t>For each x</a:t>
            </a:r>
            <a:endParaRPr lang="en-US" b="0" i="0" dirty="0">
              <a:solidFill>
                <a:srgbClr val="000000"/>
              </a:solidFill>
              <a:effectLst/>
              <a:latin typeface="inter-regular"/>
            </a:endParaRPr>
          </a:p>
          <a:p>
            <a:pPr algn="just">
              <a:buFont typeface="Arial" panose="020B0604020202020204" pitchFamily="34" charset="0"/>
              <a:buChar char="•"/>
            </a:pPr>
            <a:r>
              <a:rPr lang="en-US" b="1" i="0" dirty="0">
                <a:solidFill>
                  <a:srgbClr val="000000"/>
                </a:solidFill>
                <a:effectLst/>
                <a:latin typeface="inter-bold"/>
              </a:rPr>
              <a:t>For every x.</a:t>
            </a:r>
            <a:endParaRPr lang="en-US" b="0" i="0" dirty="0">
              <a:solidFill>
                <a:srgbClr val="000000"/>
              </a:solidFill>
              <a:effectLst/>
              <a:latin typeface="inter-regular"/>
            </a:endParaRPr>
          </a:p>
          <a:p>
            <a:pPr algn="just"/>
            <a:r>
              <a:rPr lang="en-US" b="0" i="0" dirty="0">
                <a:solidFill>
                  <a:srgbClr val="610B4B"/>
                </a:solidFill>
                <a:effectLst/>
                <a:latin typeface="erdana"/>
              </a:rPr>
              <a:t>Example:</a:t>
            </a:r>
          </a:p>
          <a:p>
            <a:pPr algn="just"/>
            <a:r>
              <a:rPr lang="en-US" b="1" i="0" dirty="0">
                <a:solidFill>
                  <a:srgbClr val="333333"/>
                </a:solidFill>
                <a:effectLst/>
                <a:latin typeface="inter-bold"/>
              </a:rPr>
              <a:t>All man drink coffee.</a:t>
            </a:r>
            <a:endParaRPr lang="en-US" b="0" i="0" dirty="0">
              <a:solidFill>
                <a:srgbClr val="333333"/>
              </a:solidFill>
              <a:effectLst/>
              <a:latin typeface="inter-regular"/>
            </a:endParaRPr>
          </a:p>
          <a:p>
            <a:endParaRPr lang="en-IN" dirty="0"/>
          </a:p>
        </p:txBody>
      </p:sp>
      <p:pic>
        <p:nvPicPr>
          <p:cNvPr id="8" name="Content Placeholder 7">
            <a:extLst>
              <a:ext uri="{FF2B5EF4-FFF2-40B4-BE49-F238E27FC236}">
                <a16:creationId xmlns="" xmlns:a16="http://schemas.microsoft.com/office/drawing/2014/main" id="{2CB044E1-6595-4FFD-1F12-AE55CA7B462A}"/>
              </a:ext>
            </a:extLst>
          </p:cNvPr>
          <p:cNvPicPr>
            <a:picLocks noGrp="1" noChangeAspect="1"/>
          </p:cNvPicPr>
          <p:nvPr>
            <p:ph sz="half" idx="2"/>
          </p:nvPr>
        </p:nvPicPr>
        <p:blipFill>
          <a:blip r:embed="rId2"/>
          <a:stretch>
            <a:fillRect/>
          </a:stretch>
        </p:blipFill>
        <p:spPr>
          <a:xfrm>
            <a:off x="5089525" y="1837678"/>
            <a:ext cx="4622646" cy="3990117"/>
          </a:xfrm>
        </p:spPr>
      </p:pic>
    </p:spTree>
    <p:extLst>
      <p:ext uri="{BB962C8B-B14F-4D97-AF65-F5344CB8AC3E}">
        <p14:creationId xmlns:p14="http://schemas.microsoft.com/office/powerpoint/2010/main" val="3900372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F089F8E-FCE5-5838-B88C-590E34E959F4}"/>
              </a:ext>
            </a:extLst>
          </p:cNvPr>
          <p:cNvSpPr>
            <a:spLocks noGrp="1"/>
          </p:cNvSpPr>
          <p:nvPr>
            <p:ph type="title"/>
          </p:nvPr>
        </p:nvSpPr>
        <p:spPr/>
        <p:txBody>
          <a:bodyPr/>
          <a:lstStyle/>
          <a:p>
            <a:r>
              <a:rPr lang="en-IN" b="0" i="0" dirty="0">
                <a:solidFill>
                  <a:srgbClr val="610B38"/>
                </a:solidFill>
                <a:effectLst/>
                <a:latin typeface="erdana"/>
              </a:rPr>
              <a:t>Existential Quantifier</a:t>
            </a:r>
            <a:br>
              <a:rPr lang="en-IN" b="0" i="0" dirty="0">
                <a:solidFill>
                  <a:srgbClr val="610B38"/>
                </a:solidFill>
                <a:effectLst/>
                <a:latin typeface="erdana"/>
              </a:rPr>
            </a:br>
            <a:endParaRPr lang="en-IN" dirty="0"/>
          </a:p>
        </p:txBody>
      </p:sp>
      <p:sp>
        <p:nvSpPr>
          <p:cNvPr id="3" name="Content Placeholder 2">
            <a:extLst>
              <a:ext uri="{FF2B5EF4-FFF2-40B4-BE49-F238E27FC236}">
                <a16:creationId xmlns="" xmlns:a16="http://schemas.microsoft.com/office/drawing/2014/main" id="{3F644C9F-EDA0-C285-C95E-1E14279AA4F2}"/>
              </a:ext>
            </a:extLst>
          </p:cNvPr>
          <p:cNvSpPr>
            <a:spLocks noGrp="1"/>
          </p:cNvSpPr>
          <p:nvPr>
            <p:ph sz="half" idx="1"/>
          </p:nvPr>
        </p:nvSpPr>
        <p:spPr/>
        <p:txBody>
          <a:bodyPr>
            <a:normAutofit fontScale="85000" lnSpcReduction="20000"/>
          </a:bodyPr>
          <a:lstStyle/>
          <a:p>
            <a:pPr algn="just"/>
            <a:r>
              <a:rPr lang="en-US" b="0" i="0" dirty="0">
                <a:solidFill>
                  <a:srgbClr val="333333"/>
                </a:solidFill>
                <a:effectLst/>
                <a:latin typeface="inter-regular"/>
              </a:rPr>
              <a:t>Existential quantifiers are the type of quantifiers, which express that the statement within its scope is true for at least one instance of something.</a:t>
            </a:r>
          </a:p>
          <a:p>
            <a:pPr algn="just"/>
            <a:r>
              <a:rPr lang="en-US" b="0" i="0" dirty="0">
                <a:solidFill>
                  <a:srgbClr val="333333"/>
                </a:solidFill>
                <a:effectLst/>
                <a:latin typeface="inter-regular"/>
              </a:rPr>
              <a:t>It is denoted by the logical operator ∃, which resembles as inverted E. When it is used with a predicate variable then it is called as an existential quantifier.</a:t>
            </a:r>
          </a:p>
          <a:p>
            <a:pPr algn="just"/>
            <a:r>
              <a:rPr lang="en-US" b="0" i="0" dirty="0">
                <a:solidFill>
                  <a:srgbClr val="333333"/>
                </a:solidFill>
                <a:effectLst/>
                <a:latin typeface="inter-regular"/>
              </a:rPr>
              <a:t>If x is a variable, then existential quantifier will be ∃x or ∃(x). And it will be read as:</a:t>
            </a:r>
          </a:p>
          <a:p>
            <a:pPr algn="just">
              <a:buFont typeface="Arial" panose="020B0604020202020204" pitchFamily="34" charset="0"/>
              <a:buChar char="•"/>
            </a:pPr>
            <a:r>
              <a:rPr lang="en-US" b="1" i="0" dirty="0">
                <a:solidFill>
                  <a:srgbClr val="000000"/>
                </a:solidFill>
                <a:effectLst/>
                <a:latin typeface="inter-bold"/>
              </a:rPr>
              <a:t>There exists a 'x.'</a:t>
            </a:r>
            <a:endParaRPr lang="en-US" b="0" i="0" dirty="0">
              <a:solidFill>
                <a:srgbClr val="000000"/>
              </a:solidFill>
              <a:effectLst/>
              <a:latin typeface="inter-regular"/>
            </a:endParaRPr>
          </a:p>
          <a:p>
            <a:pPr algn="just">
              <a:buFont typeface="Arial" panose="020B0604020202020204" pitchFamily="34" charset="0"/>
              <a:buChar char="•"/>
            </a:pPr>
            <a:r>
              <a:rPr lang="en-US" b="1" i="0" dirty="0">
                <a:solidFill>
                  <a:srgbClr val="000000"/>
                </a:solidFill>
                <a:effectLst/>
                <a:latin typeface="inter-bold"/>
              </a:rPr>
              <a:t>For some 'x.'</a:t>
            </a:r>
            <a:endParaRPr lang="en-US" b="0" i="0" dirty="0">
              <a:solidFill>
                <a:srgbClr val="000000"/>
              </a:solidFill>
              <a:effectLst/>
              <a:latin typeface="inter-regular"/>
            </a:endParaRPr>
          </a:p>
          <a:p>
            <a:pPr algn="just">
              <a:buFont typeface="Arial" panose="020B0604020202020204" pitchFamily="34" charset="0"/>
              <a:buChar char="•"/>
            </a:pPr>
            <a:r>
              <a:rPr lang="en-US" b="1" i="0" dirty="0">
                <a:solidFill>
                  <a:srgbClr val="000000"/>
                </a:solidFill>
                <a:effectLst/>
                <a:latin typeface="inter-bold"/>
              </a:rPr>
              <a:t>For at least one 'x.'</a:t>
            </a:r>
            <a:endParaRPr lang="en-US" b="0" i="0" dirty="0">
              <a:solidFill>
                <a:srgbClr val="000000"/>
              </a:solidFill>
              <a:effectLst/>
              <a:latin typeface="inter-regular"/>
            </a:endParaRPr>
          </a:p>
          <a:p>
            <a:pPr algn="just"/>
            <a:r>
              <a:rPr lang="en-US" b="0" i="0" dirty="0">
                <a:solidFill>
                  <a:srgbClr val="610B4B"/>
                </a:solidFill>
                <a:effectLst/>
                <a:latin typeface="erdana"/>
              </a:rPr>
              <a:t>Example:</a:t>
            </a:r>
          </a:p>
          <a:p>
            <a:pPr algn="just"/>
            <a:r>
              <a:rPr lang="en-US" b="1" i="0" dirty="0">
                <a:solidFill>
                  <a:srgbClr val="333333"/>
                </a:solidFill>
                <a:effectLst/>
                <a:latin typeface="inter-bold"/>
              </a:rPr>
              <a:t>Some boys are intelligent.</a:t>
            </a:r>
            <a:endParaRPr lang="en-US" b="0" i="0" dirty="0">
              <a:solidFill>
                <a:srgbClr val="333333"/>
              </a:solidFill>
              <a:effectLst/>
              <a:latin typeface="inter-regular"/>
            </a:endParaRPr>
          </a:p>
          <a:p>
            <a:endParaRPr lang="en-IN" dirty="0"/>
          </a:p>
        </p:txBody>
      </p:sp>
      <p:pic>
        <p:nvPicPr>
          <p:cNvPr id="6" name="Content Placeholder 5">
            <a:extLst>
              <a:ext uri="{FF2B5EF4-FFF2-40B4-BE49-F238E27FC236}">
                <a16:creationId xmlns="" xmlns:a16="http://schemas.microsoft.com/office/drawing/2014/main" id="{8D54E3B6-4589-770A-547B-67695D897E6A}"/>
              </a:ext>
            </a:extLst>
          </p:cNvPr>
          <p:cNvPicPr>
            <a:picLocks noGrp="1" noChangeAspect="1"/>
          </p:cNvPicPr>
          <p:nvPr>
            <p:ph sz="half" idx="2"/>
          </p:nvPr>
        </p:nvPicPr>
        <p:blipFill>
          <a:blip r:embed="rId2"/>
          <a:stretch>
            <a:fillRect/>
          </a:stretch>
        </p:blipFill>
        <p:spPr>
          <a:xfrm>
            <a:off x="5089525" y="1827820"/>
            <a:ext cx="5537046" cy="3880772"/>
          </a:xfrm>
        </p:spPr>
      </p:pic>
    </p:spTree>
    <p:extLst>
      <p:ext uri="{BB962C8B-B14F-4D97-AF65-F5344CB8AC3E}">
        <p14:creationId xmlns:p14="http://schemas.microsoft.com/office/powerpoint/2010/main" val="25520742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820A23D-0DF5-84A4-3348-7FB3C2787457}"/>
              </a:ext>
            </a:extLst>
          </p:cNvPr>
          <p:cNvSpPr>
            <a:spLocks noGrp="1"/>
          </p:cNvSpPr>
          <p:nvPr>
            <p:ph type="title"/>
          </p:nvPr>
        </p:nvSpPr>
        <p:spPr/>
        <p:txBody>
          <a:bodyPr/>
          <a:lstStyle/>
          <a:p>
            <a:r>
              <a:rPr lang="en-US" b="0" i="0" dirty="0">
                <a:solidFill>
                  <a:srgbClr val="333333"/>
                </a:solidFill>
                <a:effectLst/>
                <a:latin typeface="inter-regular"/>
              </a:rPr>
              <a:t>Some Examples of </a:t>
            </a:r>
            <a:r>
              <a:rPr lang="en-US" b="0" i="0" dirty="0">
                <a:solidFill>
                  <a:srgbClr val="610B4B"/>
                </a:solidFill>
                <a:effectLst/>
                <a:latin typeface="erdana"/>
              </a:rPr>
              <a:t>First-order logic</a:t>
            </a:r>
            <a:r>
              <a:rPr lang="en-US" b="0" i="0" dirty="0">
                <a:solidFill>
                  <a:srgbClr val="333333"/>
                </a:solidFill>
                <a:effectLst/>
                <a:latin typeface="inter-regular"/>
              </a:rPr>
              <a:t> using quantifier:</a:t>
            </a:r>
            <a:endParaRPr lang="en-IN" dirty="0"/>
          </a:p>
        </p:txBody>
      </p:sp>
      <p:sp>
        <p:nvSpPr>
          <p:cNvPr id="5" name="Content Placeholder 4">
            <a:extLst>
              <a:ext uri="{FF2B5EF4-FFF2-40B4-BE49-F238E27FC236}">
                <a16:creationId xmlns="" xmlns:a16="http://schemas.microsoft.com/office/drawing/2014/main" id="{D613FEB9-DD71-7805-3687-BC024A9A6C25}"/>
              </a:ext>
            </a:extLst>
          </p:cNvPr>
          <p:cNvSpPr>
            <a:spLocks noGrp="1"/>
          </p:cNvSpPr>
          <p:nvPr>
            <p:ph sz="half" idx="1"/>
          </p:nvPr>
        </p:nvSpPr>
        <p:spPr>
          <a:xfrm>
            <a:off x="677334" y="2160589"/>
            <a:ext cx="4853454" cy="3880772"/>
          </a:xfrm>
        </p:spPr>
        <p:txBody>
          <a:bodyPr>
            <a:normAutofit fontScale="55000" lnSpcReduction="20000"/>
          </a:bodyPr>
          <a:lstStyle/>
          <a:p>
            <a:pPr algn="just"/>
            <a:r>
              <a:rPr lang="en-US" b="1" i="0" dirty="0">
                <a:solidFill>
                  <a:srgbClr val="333333"/>
                </a:solidFill>
                <a:effectLst/>
                <a:latin typeface="inter-bold"/>
              </a:rPr>
              <a:t>1. All birds fly.</a:t>
            </a:r>
          </a:p>
          <a:p>
            <a:pPr marL="0" indent="0" algn="just">
              <a:buNone/>
            </a:pPr>
            <a:r>
              <a:rPr lang="en-US" b="1" i="0" dirty="0">
                <a:solidFill>
                  <a:srgbClr val="333333"/>
                </a:solidFill>
                <a:effectLst/>
                <a:latin typeface="inter-bold"/>
              </a:rPr>
              <a:t>	In this question the predicate is "fly(bird)."</a:t>
            </a:r>
          </a:p>
          <a:p>
            <a:pPr marL="0" indent="0" algn="just">
              <a:buNone/>
            </a:pPr>
            <a:r>
              <a:rPr lang="en-US" b="1" i="0" dirty="0">
                <a:solidFill>
                  <a:srgbClr val="333333"/>
                </a:solidFill>
                <a:effectLst/>
                <a:latin typeface="inter-bold"/>
              </a:rPr>
              <a:t>	And since there are all birds who fly so it will be represented as 	follows.</a:t>
            </a:r>
          </a:p>
          <a:p>
            <a:pPr marL="0" indent="0" algn="just">
              <a:buNone/>
            </a:pPr>
            <a:r>
              <a:rPr lang="en-US" b="1" i="0" dirty="0">
                <a:solidFill>
                  <a:srgbClr val="333333"/>
                </a:solidFill>
                <a:effectLst/>
                <a:latin typeface="inter-bold"/>
              </a:rPr>
              <a:t>		     ∀x bird(x) →fly(x).</a:t>
            </a:r>
          </a:p>
          <a:p>
            <a:pPr algn="just"/>
            <a:endParaRPr lang="en-US" b="1" i="0" dirty="0">
              <a:solidFill>
                <a:srgbClr val="333333"/>
              </a:solidFill>
              <a:effectLst/>
              <a:latin typeface="inter-bold"/>
            </a:endParaRPr>
          </a:p>
          <a:p>
            <a:pPr algn="just"/>
            <a:r>
              <a:rPr lang="en-US" b="1" i="0" dirty="0">
                <a:solidFill>
                  <a:srgbClr val="333333"/>
                </a:solidFill>
                <a:effectLst/>
                <a:latin typeface="inter-bold"/>
              </a:rPr>
              <a:t>2. Every man respects his parent.</a:t>
            </a:r>
          </a:p>
          <a:p>
            <a:pPr marL="0" indent="0" algn="just">
              <a:buNone/>
            </a:pPr>
            <a:r>
              <a:rPr lang="en-US" b="1" i="0" dirty="0">
                <a:solidFill>
                  <a:srgbClr val="333333"/>
                </a:solidFill>
                <a:effectLst/>
                <a:latin typeface="inter-bold"/>
              </a:rPr>
              <a:t>	In this question, the predicate is "respect(x, y)," where x=man, and y= 	parent.</a:t>
            </a:r>
          </a:p>
          <a:p>
            <a:pPr marL="0" indent="0" algn="just">
              <a:buNone/>
            </a:pPr>
            <a:r>
              <a:rPr lang="en-US" b="1" i="0" dirty="0">
                <a:solidFill>
                  <a:srgbClr val="333333"/>
                </a:solidFill>
                <a:effectLst/>
                <a:latin typeface="inter-bold"/>
              </a:rPr>
              <a:t>	Since there is every man so will use ∀, and it will be represented as 	follows:</a:t>
            </a:r>
          </a:p>
          <a:p>
            <a:pPr marL="0" indent="0" algn="just">
              <a:buNone/>
            </a:pPr>
            <a:r>
              <a:rPr lang="en-US" b="1" i="0" dirty="0">
                <a:solidFill>
                  <a:srgbClr val="333333"/>
                </a:solidFill>
                <a:effectLst/>
                <a:latin typeface="inter-bold"/>
              </a:rPr>
              <a:t>		∀x man(x) → respects (x, parent).</a:t>
            </a:r>
          </a:p>
          <a:p>
            <a:pPr algn="just"/>
            <a:endParaRPr lang="en-US" b="1" i="0" dirty="0">
              <a:solidFill>
                <a:srgbClr val="333333"/>
              </a:solidFill>
              <a:effectLst/>
              <a:latin typeface="inter-bold"/>
            </a:endParaRPr>
          </a:p>
          <a:p>
            <a:pPr algn="just"/>
            <a:r>
              <a:rPr lang="en-US" b="1" i="0" dirty="0">
                <a:solidFill>
                  <a:srgbClr val="333333"/>
                </a:solidFill>
                <a:effectLst/>
                <a:latin typeface="inter-bold"/>
              </a:rPr>
              <a:t>3. Some boys play cricket.</a:t>
            </a:r>
          </a:p>
          <a:p>
            <a:pPr marL="0" indent="0" algn="just">
              <a:buNone/>
            </a:pPr>
            <a:r>
              <a:rPr lang="en-US" b="1" i="0" dirty="0">
                <a:solidFill>
                  <a:srgbClr val="333333"/>
                </a:solidFill>
                <a:effectLst/>
                <a:latin typeface="inter-bold"/>
              </a:rPr>
              <a:t>	In this question, the predicate is "play(x, y)," where x= boys, and y= 	game. Since there are some boys so we will use ∃, and it will be 	represented as:</a:t>
            </a:r>
          </a:p>
          <a:p>
            <a:pPr marL="0" indent="0" algn="just">
              <a:buNone/>
            </a:pPr>
            <a:r>
              <a:rPr lang="en-US" b="1" i="0" dirty="0">
                <a:solidFill>
                  <a:srgbClr val="333333"/>
                </a:solidFill>
                <a:effectLst/>
                <a:latin typeface="inter-bold"/>
              </a:rPr>
              <a:t>		∃x boys(x) → play(x, cricket).</a:t>
            </a:r>
          </a:p>
          <a:p>
            <a:pPr algn="just"/>
            <a:endParaRPr lang="en-US" b="1" i="0" dirty="0">
              <a:solidFill>
                <a:srgbClr val="333333"/>
              </a:solidFill>
              <a:effectLst/>
              <a:latin typeface="inter-bold"/>
            </a:endParaRPr>
          </a:p>
          <a:p>
            <a:pPr algn="just"/>
            <a:endParaRPr lang="en-IN" dirty="0"/>
          </a:p>
        </p:txBody>
      </p:sp>
      <p:sp>
        <p:nvSpPr>
          <p:cNvPr id="6" name="Content Placeholder 5">
            <a:extLst>
              <a:ext uri="{FF2B5EF4-FFF2-40B4-BE49-F238E27FC236}">
                <a16:creationId xmlns="" xmlns:a16="http://schemas.microsoft.com/office/drawing/2014/main" id="{9F2EB883-38F1-0D84-E839-303EF8BCC1A2}"/>
              </a:ext>
            </a:extLst>
          </p:cNvPr>
          <p:cNvSpPr>
            <a:spLocks noGrp="1"/>
          </p:cNvSpPr>
          <p:nvPr>
            <p:ph sz="half" idx="2"/>
          </p:nvPr>
        </p:nvSpPr>
        <p:spPr>
          <a:xfrm>
            <a:off x="5877016" y="2160589"/>
            <a:ext cx="4935985" cy="3880773"/>
          </a:xfrm>
        </p:spPr>
        <p:txBody>
          <a:bodyPr>
            <a:normAutofit fontScale="55000" lnSpcReduction="20000"/>
          </a:bodyPr>
          <a:lstStyle/>
          <a:p>
            <a:pPr algn="just"/>
            <a:r>
              <a:rPr lang="en-US" b="1" i="0" dirty="0">
                <a:solidFill>
                  <a:srgbClr val="333333"/>
                </a:solidFill>
                <a:effectLst/>
                <a:latin typeface="inter-bold"/>
              </a:rPr>
              <a:t>4. Not all students like both Mathematics and Science.</a:t>
            </a:r>
          </a:p>
          <a:p>
            <a:pPr marL="0" indent="0" algn="just">
              <a:buNone/>
            </a:pPr>
            <a:r>
              <a:rPr lang="en-US" b="1" i="0" dirty="0">
                <a:solidFill>
                  <a:srgbClr val="333333"/>
                </a:solidFill>
                <a:effectLst/>
                <a:latin typeface="inter-bold"/>
              </a:rPr>
              <a:t>	In this question, the predicate is "like(x, y)," where x= student, and y= 	subject.</a:t>
            </a:r>
          </a:p>
          <a:p>
            <a:pPr marL="0" indent="0" algn="just">
              <a:buNone/>
            </a:pPr>
            <a:r>
              <a:rPr lang="en-US" b="1" i="0" dirty="0">
                <a:solidFill>
                  <a:srgbClr val="333333"/>
                </a:solidFill>
                <a:effectLst/>
                <a:latin typeface="inter-bold"/>
              </a:rPr>
              <a:t>	Since there are not all students, so we will use ∀ with negation, so 	following representation for this:</a:t>
            </a:r>
          </a:p>
          <a:p>
            <a:pPr marL="0" indent="0" algn="just">
              <a:buNone/>
            </a:pPr>
            <a:r>
              <a:rPr lang="en-US" b="1" i="0" dirty="0">
                <a:solidFill>
                  <a:srgbClr val="333333"/>
                </a:solidFill>
                <a:effectLst/>
                <a:latin typeface="inter-bold"/>
              </a:rPr>
              <a:t>	¬∀ (x) [ student(x) → like(x, Mathematics) ∧ like(x, Science)].</a:t>
            </a:r>
          </a:p>
          <a:p>
            <a:pPr algn="just"/>
            <a:endParaRPr lang="en-US" b="1" i="0" dirty="0">
              <a:solidFill>
                <a:srgbClr val="333333"/>
              </a:solidFill>
              <a:effectLst/>
              <a:latin typeface="inter-bold"/>
            </a:endParaRPr>
          </a:p>
          <a:p>
            <a:pPr algn="just"/>
            <a:r>
              <a:rPr lang="en-US" b="1" i="0" dirty="0">
                <a:solidFill>
                  <a:srgbClr val="333333"/>
                </a:solidFill>
                <a:effectLst/>
                <a:latin typeface="inter-bold"/>
              </a:rPr>
              <a:t>5. Only one student failed in Mathematics.</a:t>
            </a:r>
          </a:p>
          <a:p>
            <a:pPr marL="0" indent="0" algn="just">
              <a:buNone/>
            </a:pPr>
            <a:r>
              <a:rPr lang="en-US" b="1" i="0" dirty="0">
                <a:solidFill>
                  <a:srgbClr val="333333"/>
                </a:solidFill>
                <a:effectLst/>
                <a:latin typeface="inter-bold"/>
              </a:rPr>
              <a:t>	In this question, the predicate is "failed(x, y)," where x= student, and y= 	subject.</a:t>
            </a:r>
          </a:p>
          <a:p>
            <a:pPr marL="0" indent="0" algn="just">
              <a:buNone/>
            </a:pPr>
            <a:r>
              <a:rPr lang="en-US" b="1" i="0" dirty="0">
                <a:solidFill>
                  <a:srgbClr val="333333"/>
                </a:solidFill>
                <a:effectLst/>
                <a:latin typeface="inter-bold"/>
              </a:rPr>
              <a:t>	Since there is only one student who failed in Mathematics, so we will 	use following representation for this:</a:t>
            </a:r>
          </a:p>
          <a:p>
            <a:pPr marL="0" indent="0" algn="just">
              <a:buNone/>
            </a:pPr>
            <a:r>
              <a:rPr lang="en-US" b="1" i="0" dirty="0">
                <a:solidFill>
                  <a:srgbClr val="333333"/>
                </a:solidFill>
                <a:effectLst/>
                <a:latin typeface="inter-bold"/>
              </a:rPr>
              <a:t>	∃(x) [ student(x) → failed (x, Mathematics) ∧∀ (y) [¬(x==y) ∧ student(y) 	→ ¬failed (x, Mathematics)].</a:t>
            </a:r>
            <a:endParaRPr lang="en-IN" dirty="0"/>
          </a:p>
        </p:txBody>
      </p:sp>
    </p:spTree>
    <p:extLst>
      <p:ext uri="{BB962C8B-B14F-4D97-AF65-F5344CB8AC3E}">
        <p14:creationId xmlns:p14="http://schemas.microsoft.com/office/powerpoint/2010/main" val="16366551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0AE057D-2B88-9661-8F08-A58081F5ACE8}"/>
              </a:ext>
            </a:extLst>
          </p:cNvPr>
          <p:cNvSpPr>
            <a:spLocks noGrp="1"/>
          </p:cNvSpPr>
          <p:nvPr>
            <p:ph type="title"/>
          </p:nvPr>
        </p:nvSpPr>
        <p:spPr/>
        <p:txBody>
          <a:bodyPr/>
          <a:lstStyle/>
          <a:p>
            <a:r>
              <a:rPr lang="en-US" b="0" i="0" dirty="0">
                <a:solidFill>
                  <a:srgbClr val="610B38"/>
                </a:solidFill>
                <a:effectLst/>
                <a:latin typeface="erdana"/>
              </a:rPr>
              <a:t>Forward Chaining and backward chaining</a:t>
            </a:r>
            <a:br>
              <a:rPr lang="en-US" b="0" i="0" dirty="0">
                <a:solidFill>
                  <a:srgbClr val="610B38"/>
                </a:solidFill>
                <a:effectLst/>
                <a:latin typeface="erdana"/>
              </a:rPr>
            </a:br>
            <a:endParaRPr lang="en-IN" dirty="0"/>
          </a:p>
        </p:txBody>
      </p:sp>
      <p:sp>
        <p:nvSpPr>
          <p:cNvPr id="5" name="Content Placeholder 4">
            <a:extLst>
              <a:ext uri="{FF2B5EF4-FFF2-40B4-BE49-F238E27FC236}">
                <a16:creationId xmlns="" xmlns:a16="http://schemas.microsoft.com/office/drawing/2014/main" id="{7C59DF29-11C3-289B-69DF-4FFD707A0287}"/>
              </a:ext>
            </a:extLst>
          </p:cNvPr>
          <p:cNvSpPr>
            <a:spLocks noGrp="1"/>
          </p:cNvSpPr>
          <p:nvPr>
            <p:ph idx="1"/>
          </p:nvPr>
        </p:nvSpPr>
        <p:spPr/>
        <p:txBody>
          <a:bodyPr/>
          <a:lstStyle/>
          <a:p>
            <a:pPr algn="just"/>
            <a:r>
              <a:rPr lang="en-US" sz="2800" b="1" i="0" dirty="0">
                <a:solidFill>
                  <a:srgbClr val="610B38"/>
                </a:solidFill>
                <a:effectLst/>
                <a:latin typeface="erdana"/>
              </a:rPr>
              <a:t>Inference engine:</a:t>
            </a:r>
          </a:p>
          <a:p>
            <a:pPr algn="just"/>
            <a:r>
              <a:rPr lang="en-US" b="0" i="0" dirty="0">
                <a:solidFill>
                  <a:srgbClr val="333333"/>
                </a:solidFill>
                <a:effectLst/>
                <a:latin typeface="inter-regular"/>
              </a:rPr>
              <a:t>The inference engine is the component of the intelligent system in artificial intelligence, which applies logical rules to the knowledge base to infer new information from known facts. The first inference engine was part of the expert system. Inference engine commonly proceeds in two modes, which are:</a:t>
            </a:r>
          </a:p>
          <a:p>
            <a:pPr algn="just">
              <a:buFont typeface="+mj-lt"/>
              <a:buAutoNum type="arabicPeriod"/>
            </a:pPr>
            <a:r>
              <a:rPr lang="en-US" b="1" i="0" dirty="0">
                <a:solidFill>
                  <a:srgbClr val="000000"/>
                </a:solidFill>
                <a:effectLst/>
                <a:latin typeface="inter-bold"/>
              </a:rPr>
              <a:t>Forward chaining</a:t>
            </a:r>
            <a:endParaRPr lang="en-US" b="0" i="0" dirty="0">
              <a:solidFill>
                <a:srgbClr val="000000"/>
              </a:solidFill>
              <a:effectLst/>
              <a:latin typeface="inter-regular"/>
            </a:endParaRPr>
          </a:p>
          <a:p>
            <a:pPr algn="just">
              <a:buFont typeface="+mj-lt"/>
              <a:buAutoNum type="arabicPeriod"/>
            </a:pPr>
            <a:r>
              <a:rPr lang="en-US" b="1" i="0" dirty="0">
                <a:solidFill>
                  <a:srgbClr val="000000"/>
                </a:solidFill>
                <a:effectLst/>
                <a:latin typeface="inter-bold"/>
              </a:rPr>
              <a:t>Backward chaining</a:t>
            </a:r>
            <a:endParaRPr lang="en-US" b="0" i="0" dirty="0">
              <a:solidFill>
                <a:srgbClr val="000000"/>
              </a:solidFill>
              <a:effectLst/>
              <a:latin typeface="inter-regular"/>
            </a:endParaRPr>
          </a:p>
          <a:p>
            <a:endParaRPr lang="en-IN" dirty="0"/>
          </a:p>
        </p:txBody>
      </p:sp>
    </p:spTree>
    <p:extLst>
      <p:ext uri="{BB962C8B-B14F-4D97-AF65-F5344CB8AC3E}">
        <p14:creationId xmlns:p14="http://schemas.microsoft.com/office/powerpoint/2010/main" val="19019731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C5909B7-5529-B00D-CD6B-9D51A46C05F1}"/>
              </a:ext>
            </a:extLst>
          </p:cNvPr>
          <p:cNvSpPr>
            <a:spLocks noGrp="1"/>
          </p:cNvSpPr>
          <p:nvPr>
            <p:ph type="title"/>
          </p:nvPr>
        </p:nvSpPr>
        <p:spPr/>
        <p:txBody>
          <a:bodyPr/>
          <a:lstStyle/>
          <a:p>
            <a:r>
              <a:rPr lang="en-US" b="0" i="0" dirty="0">
                <a:solidFill>
                  <a:srgbClr val="610B38"/>
                </a:solidFill>
                <a:effectLst/>
                <a:latin typeface="erdana"/>
              </a:rPr>
              <a:t>Forward Chaining</a:t>
            </a:r>
            <a:endParaRPr lang="en-IN" dirty="0"/>
          </a:p>
        </p:txBody>
      </p:sp>
      <p:sp>
        <p:nvSpPr>
          <p:cNvPr id="3" name="Content Placeholder 2">
            <a:extLst>
              <a:ext uri="{FF2B5EF4-FFF2-40B4-BE49-F238E27FC236}">
                <a16:creationId xmlns="" xmlns:a16="http://schemas.microsoft.com/office/drawing/2014/main" id="{FCDA500B-BB68-A429-B4E1-A7F23A252B4C}"/>
              </a:ext>
            </a:extLst>
          </p:cNvPr>
          <p:cNvSpPr>
            <a:spLocks noGrp="1"/>
          </p:cNvSpPr>
          <p:nvPr>
            <p:ph idx="1"/>
          </p:nvPr>
        </p:nvSpPr>
        <p:spPr/>
        <p:txBody>
          <a:bodyPr>
            <a:normAutofit fontScale="92500" lnSpcReduction="20000"/>
          </a:bodyPr>
          <a:lstStyle/>
          <a:p>
            <a:pPr algn="just">
              <a:buFont typeface="Arial" panose="020B0604020202020204" pitchFamily="34" charset="0"/>
              <a:buChar char="•"/>
            </a:pPr>
            <a:r>
              <a:rPr lang="en-US" b="0" i="0" dirty="0">
                <a:solidFill>
                  <a:srgbClr val="000000"/>
                </a:solidFill>
                <a:effectLst/>
                <a:latin typeface="inter-regular"/>
              </a:rPr>
              <a:t>It is a down-up approach, as it moves from bottom to top.</a:t>
            </a:r>
          </a:p>
          <a:p>
            <a:pPr algn="just">
              <a:buFont typeface="Arial" panose="020B0604020202020204" pitchFamily="34" charset="0"/>
              <a:buChar char="•"/>
            </a:pPr>
            <a:r>
              <a:rPr lang="en-US" b="0" i="0" dirty="0">
                <a:solidFill>
                  <a:srgbClr val="000000"/>
                </a:solidFill>
                <a:effectLst/>
                <a:latin typeface="inter-regular"/>
              </a:rPr>
              <a:t>It is a process of making a conclusion based on known facts or data, by starting from the initial state and reaches the goal state.</a:t>
            </a:r>
          </a:p>
          <a:p>
            <a:pPr algn="just">
              <a:buFont typeface="Arial" panose="020B0604020202020204" pitchFamily="34" charset="0"/>
              <a:buChar char="•"/>
            </a:pPr>
            <a:r>
              <a:rPr lang="en-US" b="0" i="0" dirty="0">
                <a:solidFill>
                  <a:srgbClr val="000000"/>
                </a:solidFill>
                <a:effectLst/>
                <a:latin typeface="inter-regular"/>
              </a:rPr>
              <a:t>Forward-chaining approach is also called as data-driven as we reach to the goal using available data.</a:t>
            </a:r>
          </a:p>
          <a:p>
            <a:pPr algn="just">
              <a:buFont typeface="Arial" panose="020B0604020202020204" pitchFamily="34" charset="0"/>
              <a:buChar char="•"/>
            </a:pPr>
            <a:r>
              <a:rPr lang="en-US" b="0" i="0" dirty="0">
                <a:solidFill>
                  <a:srgbClr val="000000"/>
                </a:solidFill>
                <a:effectLst/>
                <a:latin typeface="inter-regular"/>
              </a:rPr>
              <a:t>Forward -chaining approach is commonly used in the expert system, such as CLIPS, business, and production rule systems.</a:t>
            </a:r>
          </a:p>
          <a:p>
            <a:r>
              <a:rPr lang="en-US" sz="1800" b="0" i="0" dirty="0">
                <a:solidFill>
                  <a:srgbClr val="610B4B"/>
                </a:solidFill>
                <a:effectLst/>
                <a:latin typeface="erdana"/>
              </a:rPr>
              <a:t>Example:</a:t>
            </a:r>
            <a:br>
              <a:rPr lang="en-US" sz="1800" b="0" i="0" dirty="0">
                <a:solidFill>
                  <a:srgbClr val="610B4B"/>
                </a:solidFill>
                <a:effectLst/>
                <a:latin typeface="erdana"/>
              </a:rPr>
            </a:br>
            <a:r>
              <a:rPr lang="en-US" sz="1800" b="1" i="0" dirty="0">
                <a:solidFill>
                  <a:srgbClr val="333333"/>
                </a:solidFill>
                <a:effectLst/>
                <a:latin typeface="inter-bold"/>
              </a:rPr>
              <a:t>"As per the law, it is a crime for an American to sell weapons to hostile nations. Country A, an enemy of America, has some missiles, and all the missiles were sold to it by Robert, who is an American citizen."</a:t>
            </a:r>
            <a:r>
              <a:rPr lang="en-US" sz="1800" b="0" i="0" dirty="0">
                <a:solidFill>
                  <a:srgbClr val="333333"/>
                </a:solidFill>
                <a:effectLst/>
                <a:latin typeface="inter-regular"/>
              </a:rPr>
              <a:t/>
            </a:r>
            <a:br>
              <a:rPr lang="en-US" sz="1800" b="0" i="0" dirty="0">
                <a:solidFill>
                  <a:srgbClr val="333333"/>
                </a:solidFill>
                <a:effectLst/>
                <a:latin typeface="inter-regular"/>
              </a:rPr>
            </a:br>
            <a:endParaRPr lang="en-US" sz="1800" b="0" i="0" dirty="0">
              <a:solidFill>
                <a:srgbClr val="333333"/>
              </a:solidFill>
              <a:effectLst/>
              <a:latin typeface="inter-regular"/>
            </a:endParaRPr>
          </a:p>
          <a:p>
            <a:r>
              <a:rPr lang="en-US" sz="1800" b="0" i="0" dirty="0">
                <a:solidFill>
                  <a:srgbClr val="333333"/>
                </a:solidFill>
                <a:effectLst/>
                <a:latin typeface="inter-regular"/>
              </a:rPr>
              <a:t>Prove that </a:t>
            </a:r>
            <a:r>
              <a:rPr lang="en-US" sz="1800" b="1" i="0" dirty="0">
                <a:solidFill>
                  <a:srgbClr val="333333"/>
                </a:solidFill>
                <a:effectLst/>
                <a:latin typeface="inter-bold"/>
              </a:rPr>
              <a:t>"Robert is criminal."</a:t>
            </a:r>
            <a:r>
              <a:rPr lang="en-US" sz="1800" b="0" i="0" dirty="0">
                <a:solidFill>
                  <a:srgbClr val="333333"/>
                </a:solidFill>
                <a:effectLst/>
                <a:latin typeface="inter-regular"/>
              </a:rPr>
              <a:t/>
            </a:r>
            <a:br>
              <a:rPr lang="en-US" sz="1800" b="0" i="0" dirty="0">
                <a:solidFill>
                  <a:srgbClr val="333333"/>
                </a:solidFill>
                <a:effectLst/>
                <a:latin typeface="inter-regular"/>
              </a:rPr>
            </a:br>
            <a:endParaRPr lang="en-IN" dirty="0"/>
          </a:p>
        </p:txBody>
      </p:sp>
    </p:spTree>
    <p:extLst>
      <p:ext uri="{BB962C8B-B14F-4D97-AF65-F5344CB8AC3E}">
        <p14:creationId xmlns:p14="http://schemas.microsoft.com/office/powerpoint/2010/main" val="29064109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 xmlns:a16="http://schemas.microsoft.com/office/drawing/2014/main" id="{A5342A2B-8BF2-0A32-F828-B68463CCE791}"/>
              </a:ext>
            </a:extLst>
          </p:cNvPr>
          <p:cNvPicPr>
            <a:picLocks noGrp="1" noChangeAspect="1"/>
          </p:cNvPicPr>
          <p:nvPr>
            <p:ph sz="half" idx="1"/>
          </p:nvPr>
        </p:nvPicPr>
        <p:blipFill>
          <a:blip r:embed="rId2"/>
          <a:stretch>
            <a:fillRect/>
          </a:stretch>
        </p:blipFill>
        <p:spPr>
          <a:xfrm>
            <a:off x="497149" y="790113"/>
            <a:ext cx="6045693" cy="5458287"/>
          </a:xfrm>
        </p:spPr>
      </p:pic>
      <p:pic>
        <p:nvPicPr>
          <p:cNvPr id="10" name="Content Placeholder 9">
            <a:extLst>
              <a:ext uri="{FF2B5EF4-FFF2-40B4-BE49-F238E27FC236}">
                <a16:creationId xmlns="" xmlns:a16="http://schemas.microsoft.com/office/drawing/2014/main" id="{67EE5E1F-CD94-C6DD-2152-F2B667F05D21}"/>
              </a:ext>
            </a:extLst>
          </p:cNvPr>
          <p:cNvPicPr>
            <a:picLocks noGrp="1" noChangeAspect="1"/>
          </p:cNvPicPr>
          <p:nvPr>
            <p:ph sz="half" idx="2"/>
          </p:nvPr>
        </p:nvPicPr>
        <p:blipFill>
          <a:blip r:embed="rId3"/>
          <a:stretch>
            <a:fillRect/>
          </a:stretch>
        </p:blipFill>
        <p:spPr>
          <a:xfrm>
            <a:off x="6723027" y="1740387"/>
            <a:ext cx="5279593" cy="3639482"/>
          </a:xfrm>
        </p:spPr>
      </p:pic>
    </p:spTree>
    <p:extLst>
      <p:ext uri="{BB962C8B-B14F-4D97-AF65-F5344CB8AC3E}">
        <p14:creationId xmlns:p14="http://schemas.microsoft.com/office/powerpoint/2010/main" val="39206141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5F8D0095-3681-1398-9B12-F23889BF819B}"/>
              </a:ext>
            </a:extLst>
          </p:cNvPr>
          <p:cNvSpPr>
            <a:spLocks noGrp="1"/>
          </p:cNvSpPr>
          <p:nvPr>
            <p:ph type="title"/>
          </p:nvPr>
        </p:nvSpPr>
        <p:spPr/>
        <p:txBody>
          <a:bodyPr/>
          <a:lstStyle/>
          <a:p>
            <a:r>
              <a:rPr lang="en-US" dirty="0">
                <a:solidFill>
                  <a:srgbClr val="610B38"/>
                </a:solidFill>
                <a:latin typeface="erdana"/>
              </a:rPr>
              <a:t>B</a:t>
            </a:r>
            <a:r>
              <a:rPr lang="en-US" b="0" i="0" dirty="0">
                <a:solidFill>
                  <a:srgbClr val="610B38"/>
                </a:solidFill>
                <a:effectLst/>
                <a:latin typeface="erdana"/>
              </a:rPr>
              <a:t>ackward chaining</a:t>
            </a:r>
            <a:endParaRPr lang="en-IN" dirty="0"/>
          </a:p>
        </p:txBody>
      </p:sp>
      <p:sp>
        <p:nvSpPr>
          <p:cNvPr id="6" name="Content Placeholder 5">
            <a:extLst>
              <a:ext uri="{FF2B5EF4-FFF2-40B4-BE49-F238E27FC236}">
                <a16:creationId xmlns="" xmlns:a16="http://schemas.microsoft.com/office/drawing/2014/main" id="{5980BFB4-693E-D05A-3DB4-397B2CC77740}"/>
              </a:ext>
            </a:extLst>
          </p:cNvPr>
          <p:cNvSpPr>
            <a:spLocks noGrp="1"/>
          </p:cNvSpPr>
          <p:nvPr>
            <p:ph idx="1"/>
          </p:nvPr>
        </p:nvSpPr>
        <p:spPr/>
        <p:txBody>
          <a:bodyPr/>
          <a:lstStyle/>
          <a:p>
            <a:pPr algn="just">
              <a:buFont typeface="Arial" panose="020B0604020202020204" pitchFamily="34" charset="0"/>
              <a:buChar char="•"/>
            </a:pPr>
            <a:r>
              <a:rPr lang="en-US" b="0" i="0" dirty="0">
                <a:solidFill>
                  <a:srgbClr val="000000"/>
                </a:solidFill>
                <a:effectLst/>
                <a:latin typeface="inter-regular"/>
              </a:rPr>
              <a:t>It is known as a top-down approach.</a:t>
            </a:r>
          </a:p>
          <a:p>
            <a:pPr algn="just">
              <a:buFont typeface="Arial" panose="020B0604020202020204" pitchFamily="34" charset="0"/>
              <a:buChar char="•"/>
            </a:pPr>
            <a:r>
              <a:rPr lang="en-US" b="0" i="0" dirty="0">
                <a:solidFill>
                  <a:srgbClr val="000000"/>
                </a:solidFill>
                <a:effectLst/>
                <a:latin typeface="inter-regular"/>
              </a:rPr>
              <a:t>Backward-chaining is based on modus ponens inference rule.</a:t>
            </a:r>
          </a:p>
          <a:p>
            <a:pPr algn="just">
              <a:buFont typeface="Arial" panose="020B0604020202020204" pitchFamily="34" charset="0"/>
              <a:buChar char="•"/>
            </a:pPr>
            <a:r>
              <a:rPr lang="en-US" b="0" i="0" dirty="0">
                <a:solidFill>
                  <a:srgbClr val="000000"/>
                </a:solidFill>
                <a:effectLst/>
                <a:latin typeface="inter-regular"/>
              </a:rPr>
              <a:t>In backward chaining, the goal is broken into sub-goal or sub-goals to prove the facts true.</a:t>
            </a:r>
          </a:p>
          <a:p>
            <a:pPr algn="just">
              <a:buFont typeface="Arial" panose="020B0604020202020204" pitchFamily="34" charset="0"/>
              <a:buChar char="•"/>
            </a:pPr>
            <a:r>
              <a:rPr lang="en-US" b="0" i="0" dirty="0">
                <a:solidFill>
                  <a:srgbClr val="000000"/>
                </a:solidFill>
                <a:effectLst/>
                <a:latin typeface="inter-regular"/>
              </a:rPr>
              <a:t>It is called a goal-driven approach, as a list of goals decides which rules are selected and used.</a:t>
            </a:r>
          </a:p>
          <a:p>
            <a:pPr algn="just">
              <a:buFont typeface="Arial" panose="020B0604020202020204" pitchFamily="34" charset="0"/>
              <a:buChar char="•"/>
            </a:pPr>
            <a:r>
              <a:rPr lang="en-US" b="0" i="0" dirty="0">
                <a:solidFill>
                  <a:srgbClr val="000000"/>
                </a:solidFill>
                <a:effectLst/>
                <a:latin typeface="inter-regular"/>
              </a:rPr>
              <a:t>Backward -chaining algorithm is used in game theory, automated theorem proving tools, inference engines, proof assistants, and various AI applications.</a:t>
            </a:r>
          </a:p>
          <a:p>
            <a:pPr algn="just">
              <a:buFont typeface="Arial" panose="020B0604020202020204" pitchFamily="34" charset="0"/>
              <a:buChar char="•"/>
            </a:pPr>
            <a:r>
              <a:rPr lang="en-US" b="0" i="0" dirty="0">
                <a:solidFill>
                  <a:srgbClr val="000000"/>
                </a:solidFill>
                <a:effectLst/>
                <a:latin typeface="inter-regular"/>
              </a:rPr>
              <a:t>The backward-chaining method mostly used a </a:t>
            </a:r>
            <a:r>
              <a:rPr lang="en-US" b="1" i="0" dirty="0">
                <a:solidFill>
                  <a:srgbClr val="000000"/>
                </a:solidFill>
                <a:effectLst/>
                <a:latin typeface="inter-bold"/>
              </a:rPr>
              <a:t>depth-first search</a:t>
            </a:r>
            <a:r>
              <a:rPr lang="en-US" b="0" i="0" dirty="0">
                <a:solidFill>
                  <a:srgbClr val="000000"/>
                </a:solidFill>
                <a:effectLst/>
                <a:latin typeface="inter-regular"/>
              </a:rPr>
              <a:t> strategy for proof.</a:t>
            </a:r>
          </a:p>
          <a:p>
            <a:endParaRPr lang="en-IN" dirty="0"/>
          </a:p>
        </p:txBody>
      </p:sp>
    </p:spTree>
    <p:extLst>
      <p:ext uri="{BB962C8B-B14F-4D97-AF65-F5344CB8AC3E}">
        <p14:creationId xmlns:p14="http://schemas.microsoft.com/office/powerpoint/2010/main" val="28240406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AC482F03-1E82-7E27-459A-53D9BBEDB06F}"/>
              </a:ext>
            </a:extLst>
          </p:cNvPr>
          <p:cNvSpPr>
            <a:spLocks noGrp="1"/>
          </p:cNvSpPr>
          <p:nvPr>
            <p:ph type="title"/>
          </p:nvPr>
        </p:nvSpPr>
        <p:spPr/>
        <p:txBody>
          <a:bodyPr>
            <a:normAutofit/>
          </a:bodyPr>
          <a:lstStyle/>
          <a:p>
            <a:r>
              <a:rPr lang="en-US" sz="1200" b="0" i="0" dirty="0">
                <a:solidFill>
                  <a:srgbClr val="610B4B"/>
                </a:solidFill>
                <a:effectLst/>
                <a:latin typeface="erdana"/>
              </a:rPr>
              <a:t>Example:</a:t>
            </a:r>
            <a:br>
              <a:rPr lang="en-US" sz="1200" b="0" i="0" dirty="0">
                <a:solidFill>
                  <a:srgbClr val="610B4B"/>
                </a:solidFill>
                <a:effectLst/>
                <a:latin typeface="erdana"/>
              </a:rPr>
            </a:br>
            <a:r>
              <a:rPr lang="en-US" sz="1200" b="1" i="0" dirty="0">
                <a:solidFill>
                  <a:srgbClr val="333333"/>
                </a:solidFill>
                <a:effectLst/>
                <a:latin typeface="inter-bold"/>
              </a:rPr>
              <a:t>"As per the law, it is a crime for an American to sell weapons to hostile nations. Country A, an enemy of America, has some missiles, and all the missiles were sold to it by Robert, who is an American citizen."</a:t>
            </a:r>
            <a:r>
              <a:rPr lang="en-US" sz="1200" b="0" i="0" dirty="0">
                <a:solidFill>
                  <a:srgbClr val="333333"/>
                </a:solidFill>
                <a:effectLst/>
                <a:latin typeface="inter-regular"/>
              </a:rPr>
              <a:t/>
            </a:r>
            <a:br>
              <a:rPr lang="en-US" sz="1200" b="0" i="0" dirty="0">
                <a:solidFill>
                  <a:srgbClr val="333333"/>
                </a:solidFill>
                <a:effectLst/>
                <a:latin typeface="inter-regular"/>
              </a:rPr>
            </a:br>
            <a:r>
              <a:rPr lang="en-US" sz="1200" b="0" i="0" dirty="0">
                <a:solidFill>
                  <a:srgbClr val="333333"/>
                </a:solidFill>
                <a:effectLst/>
                <a:latin typeface="inter-regular"/>
              </a:rPr>
              <a:t/>
            </a:r>
            <a:br>
              <a:rPr lang="en-US" sz="1200" b="0" i="0" dirty="0">
                <a:solidFill>
                  <a:srgbClr val="333333"/>
                </a:solidFill>
                <a:effectLst/>
                <a:latin typeface="inter-regular"/>
              </a:rPr>
            </a:br>
            <a:r>
              <a:rPr lang="en-US" sz="1200" b="0" i="0" dirty="0">
                <a:solidFill>
                  <a:srgbClr val="333333"/>
                </a:solidFill>
                <a:effectLst/>
                <a:latin typeface="inter-regular"/>
              </a:rPr>
              <a:t>Prove that </a:t>
            </a:r>
            <a:r>
              <a:rPr lang="en-US" sz="1200" b="1" i="0" dirty="0">
                <a:solidFill>
                  <a:srgbClr val="333333"/>
                </a:solidFill>
                <a:effectLst/>
                <a:latin typeface="inter-bold"/>
              </a:rPr>
              <a:t>"Robert is criminal."</a:t>
            </a:r>
            <a:endParaRPr lang="en-IN" sz="1200" dirty="0"/>
          </a:p>
        </p:txBody>
      </p:sp>
      <p:pic>
        <p:nvPicPr>
          <p:cNvPr id="8" name="Content Placeholder 7">
            <a:extLst>
              <a:ext uri="{FF2B5EF4-FFF2-40B4-BE49-F238E27FC236}">
                <a16:creationId xmlns="" xmlns:a16="http://schemas.microsoft.com/office/drawing/2014/main" id="{10909CA9-052E-A979-05D7-EDF73546D5B8}"/>
              </a:ext>
            </a:extLst>
          </p:cNvPr>
          <p:cNvPicPr>
            <a:picLocks noGrp="1" noChangeAspect="1"/>
          </p:cNvPicPr>
          <p:nvPr>
            <p:ph sz="half" idx="1"/>
          </p:nvPr>
        </p:nvPicPr>
        <p:blipFill>
          <a:blip r:embed="rId2"/>
          <a:stretch>
            <a:fillRect/>
          </a:stretch>
        </p:blipFill>
        <p:spPr>
          <a:xfrm>
            <a:off x="677863" y="1930400"/>
            <a:ext cx="4183062" cy="4239581"/>
          </a:xfrm>
        </p:spPr>
      </p:pic>
      <p:pic>
        <p:nvPicPr>
          <p:cNvPr id="10" name="Content Placeholder 9">
            <a:extLst>
              <a:ext uri="{FF2B5EF4-FFF2-40B4-BE49-F238E27FC236}">
                <a16:creationId xmlns="" xmlns:a16="http://schemas.microsoft.com/office/drawing/2014/main" id="{6CF69DF4-E538-4162-18CC-37F6322D1132}"/>
              </a:ext>
            </a:extLst>
          </p:cNvPr>
          <p:cNvPicPr>
            <a:picLocks noGrp="1" noChangeAspect="1"/>
          </p:cNvPicPr>
          <p:nvPr>
            <p:ph sz="half" idx="2"/>
          </p:nvPr>
        </p:nvPicPr>
        <p:blipFill>
          <a:blip r:embed="rId3"/>
          <a:stretch>
            <a:fillRect/>
          </a:stretch>
        </p:blipFill>
        <p:spPr>
          <a:xfrm>
            <a:off x="5089524" y="1930400"/>
            <a:ext cx="4658157" cy="4318000"/>
          </a:xfrm>
        </p:spPr>
      </p:pic>
    </p:spTree>
    <p:extLst>
      <p:ext uri="{BB962C8B-B14F-4D97-AF65-F5344CB8AC3E}">
        <p14:creationId xmlns:p14="http://schemas.microsoft.com/office/powerpoint/2010/main" val="3493245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09486BB7-6E78-918D-35F9-31A8A5608ADC}"/>
              </a:ext>
            </a:extLst>
          </p:cNvPr>
          <p:cNvSpPr>
            <a:spLocks noGrp="1"/>
          </p:cNvSpPr>
          <p:nvPr>
            <p:ph type="title"/>
          </p:nvPr>
        </p:nvSpPr>
        <p:spPr/>
        <p:txBody>
          <a:bodyPr/>
          <a:lstStyle/>
          <a:p>
            <a:r>
              <a:rPr lang="en-IN" b="0" i="0" dirty="0">
                <a:solidFill>
                  <a:srgbClr val="610B38"/>
                </a:solidFill>
                <a:effectLst/>
                <a:latin typeface="erdana"/>
              </a:rPr>
              <a:t>Probabilistic reasoning:</a:t>
            </a:r>
            <a:endParaRPr lang="en-IN" dirty="0"/>
          </a:p>
        </p:txBody>
      </p:sp>
      <p:sp>
        <p:nvSpPr>
          <p:cNvPr id="6" name="Content Placeholder 5">
            <a:extLst>
              <a:ext uri="{FF2B5EF4-FFF2-40B4-BE49-F238E27FC236}">
                <a16:creationId xmlns="" xmlns:a16="http://schemas.microsoft.com/office/drawing/2014/main" id="{00367E54-12C5-2296-A784-8F239AA1854E}"/>
              </a:ext>
            </a:extLst>
          </p:cNvPr>
          <p:cNvSpPr>
            <a:spLocks noGrp="1"/>
          </p:cNvSpPr>
          <p:nvPr>
            <p:ph idx="1"/>
          </p:nvPr>
        </p:nvSpPr>
        <p:spPr/>
        <p:txBody>
          <a:bodyPr>
            <a:normAutofit fontScale="77500" lnSpcReduction="20000"/>
          </a:bodyPr>
          <a:lstStyle/>
          <a:p>
            <a:pPr algn="just"/>
            <a:r>
              <a:rPr lang="en-US" b="0" i="0" dirty="0">
                <a:solidFill>
                  <a:srgbClr val="333333"/>
                </a:solidFill>
                <a:effectLst/>
                <a:latin typeface="inter-regular"/>
              </a:rPr>
              <a:t>Probabilistic reasoning is a way of knowledge representation where we apply the concept of probability to indicate the uncertainty in knowledge. In probabilistic reasoning, we combine probability theory with logic to handle the uncertainty.</a:t>
            </a:r>
          </a:p>
          <a:p>
            <a:pPr algn="just"/>
            <a:r>
              <a:rPr lang="en-US" b="0" i="0" dirty="0">
                <a:solidFill>
                  <a:srgbClr val="333333"/>
                </a:solidFill>
                <a:effectLst/>
                <a:latin typeface="inter-regular"/>
              </a:rPr>
              <a:t>We use probability in probabilistic reasoning because it provides a way to handle the uncertainty that is the result of someone's laziness and ignorance.</a:t>
            </a:r>
          </a:p>
          <a:p>
            <a:pPr algn="just"/>
            <a:r>
              <a:rPr lang="en-US" b="0" i="0" dirty="0">
                <a:solidFill>
                  <a:srgbClr val="333333"/>
                </a:solidFill>
                <a:effectLst/>
                <a:latin typeface="inter-regular"/>
              </a:rPr>
              <a:t>In the real world, there are lots of scenarios, where the certainty of something is not confirmed, such as "It will rain today," "behavior of someone for some situations," "A match between two teams or two players." These are probable sentences for which we can assume that it will happen but not sure about it, so here we use probabilistic reasoning.</a:t>
            </a:r>
          </a:p>
          <a:p>
            <a:pPr algn="just"/>
            <a:r>
              <a:rPr lang="en-US" b="1" i="0" dirty="0">
                <a:solidFill>
                  <a:srgbClr val="333333"/>
                </a:solidFill>
                <a:effectLst/>
                <a:latin typeface="inter-bold"/>
              </a:rPr>
              <a:t>Need of probabilistic reasoning in AI:</a:t>
            </a:r>
            <a:endParaRPr lang="en-US" b="0" i="0" dirty="0">
              <a:solidFill>
                <a:srgbClr val="333333"/>
              </a:solidFill>
              <a:effectLst/>
              <a:latin typeface="inter-regular"/>
            </a:endParaRPr>
          </a:p>
          <a:p>
            <a:pPr lvl="1" algn="just">
              <a:buFont typeface="Arial" panose="020B0604020202020204" pitchFamily="34" charset="0"/>
              <a:buChar char="•"/>
            </a:pPr>
            <a:r>
              <a:rPr lang="en-US" b="0" i="0" dirty="0">
                <a:solidFill>
                  <a:srgbClr val="000000"/>
                </a:solidFill>
                <a:effectLst/>
                <a:latin typeface="inter-regular"/>
              </a:rPr>
              <a:t>When there are unpredictable outcomes.</a:t>
            </a:r>
          </a:p>
          <a:p>
            <a:pPr lvl="1" algn="just">
              <a:buFont typeface="Arial" panose="020B0604020202020204" pitchFamily="34" charset="0"/>
              <a:buChar char="•"/>
            </a:pPr>
            <a:r>
              <a:rPr lang="en-US" b="0" i="0" dirty="0">
                <a:solidFill>
                  <a:srgbClr val="000000"/>
                </a:solidFill>
                <a:effectLst/>
                <a:latin typeface="inter-regular"/>
              </a:rPr>
              <a:t>When specifications or possibilities of predicates becomes too large to handle.</a:t>
            </a:r>
          </a:p>
          <a:p>
            <a:pPr lvl="1" algn="just">
              <a:buFont typeface="Arial" panose="020B0604020202020204" pitchFamily="34" charset="0"/>
              <a:buChar char="•"/>
            </a:pPr>
            <a:r>
              <a:rPr lang="en-US" b="0" i="0" dirty="0">
                <a:solidFill>
                  <a:srgbClr val="000000"/>
                </a:solidFill>
                <a:effectLst/>
                <a:latin typeface="inter-regular"/>
              </a:rPr>
              <a:t>When an unknown error occurs during an experiment.</a:t>
            </a:r>
          </a:p>
          <a:p>
            <a:pPr lvl="1" algn="just"/>
            <a:r>
              <a:rPr lang="en-US" b="0" i="0" dirty="0">
                <a:solidFill>
                  <a:srgbClr val="333333"/>
                </a:solidFill>
                <a:effectLst/>
                <a:latin typeface="inter-regular"/>
              </a:rPr>
              <a:t>In probabilistic reasoning, there are two ways to solve problems with uncertain knowledge:</a:t>
            </a:r>
          </a:p>
          <a:p>
            <a:pPr lvl="2" algn="just">
              <a:buFont typeface="Arial" panose="020B0604020202020204" pitchFamily="34" charset="0"/>
              <a:buChar char="•"/>
            </a:pPr>
            <a:r>
              <a:rPr lang="en-US" b="1" i="0" dirty="0">
                <a:solidFill>
                  <a:srgbClr val="000000"/>
                </a:solidFill>
                <a:effectLst/>
                <a:latin typeface="inter-bold"/>
              </a:rPr>
              <a:t>Bayes' rule</a:t>
            </a:r>
            <a:endParaRPr lang="en-US" b="0" i="0" dirty="0">
              <a:solidFill>
                <a:srgbClr val="000000"/>
              </a:solidFill>
              <a:effectLst/>
              <a:latin typeface="inter-regular"/>
            </a:endParaRPr>
          </a:p>
          <a:p>
            <a:pPr lvl="2" algn="just">
              <a:buFont typeface="Arial" panose="020B0604020202020204" pitchFamily="34" charset="0"/>
              <a:buChar char="•"/>
            </a:pPr>
            <a:r>
              <a:rPr lang="en-US" b="1" i="0" dirty="0">
                <a:solidFill>
                  <a:srgbClr val="000000"/>
                </a:solidFill>
                <a:effectLst/>
                <a:latin typeface="inter-bold"/>
              </a:rPr>
              <a:t>Bayesian Statistics</a:t>
            </a:r>
            <a:endParaRPr lang="en-US" b="0" i="0" dirty="0">
              <a:solidFill>
                <a:srgbClr val="000000"/>
              </a:solidFill>
              <a:effectLst/>
              <a:latin typeface="inter-regular"/>
            </a:endParaRPr>
          </a:p>
          <a:p>
            <a:endParaRPr lang="en-IN" dirty="0"/>
          </a:p>
        </p:txBody>
      </p:sp>
    </p:spTree>
    <p:extLst>
      <p:ext uri="{BB962C8B-B14F-4D97-AF65-F5344CB8AC3E}">
        <p14:creationId xmlns:p14="http://schemas.microsoft.com/office/powerpoint/2010/main" val="36965960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1275C55-4109-96B7-FC29-A1B500FB04A3}"/>
              </a:ext>
            </a:extLst>
          </p:cNvPr>
          <p:cNvSpPr>
            <a:spLocks noGrp="1"/>
          </p:cNvSpPr>
          <p:nvPr>
            <p:ph type="title"/>
          </p:nvPr>
        </p:nvSpPr>
        <p:spPr/>
        <p:txBody>
          <a:bodyPr/>
          <a:lstStyle/>
          <a:p>
            <a:r>
              <a:rPr lang="en-IN" b="1" i="0" dirty="0">
                <a:solidFill>
                  <a:srgbClr val="333333"/>
                </a:solidFill>
                <a:effectLst/>
                <a:latin typeface="inter-bold"/>
              </a:rPr>
              <a:t>Probability</a:t>
            </a:r>
            <a:endParaRPr lang="en-IN" dirty="0"/>
          </a:p>
        </p:txBody>
      </p:sp>
      <p:sp>
        <p:nvSpPr>
          <p:cNvPr id="3" name="Content Placeholder 2">
            <a:extLst>
              <a:ext uri="{FF2B5EF4-FFF2-40B4-BE49-F238E27FC236}">
                <a16:creationId xmlns="" xmlns:a16="http://schemas.microsoft.com/office/drawing/2014/main" id="{00EA850E-53FF-0E42-E53D-955626973CB4}"/>
              </a:ext>
            </a:extLst>
          </p:cNvPr>
          <p:cNvSpPr>
            <a:spLocks noGrp="1"/>
          </p:cNvSpPr>
          <p:nvPr>
            <p:ph idx="1"/>
          </p:nvPr>
        </p:nvSpPr>
        <p:spPr/>
        <p:txBody>
          <a:bodyPr/>
          <a:lstStyle/>
          <a:p>
            <a:pPr algn="just"/>
            <a:r>
              <a:rPr lang="en-US" b="0" i="0" dirty="0">
                <a:solidFill>
                  <a:srgbClr val="333333"/>
                </a:solidFill>
                <a:effectLst/>
                <a:latin typeface="inter-regular"/>
              </a:rPr>
              <a:t>Probability can be defined as a chance that an uncertain event will occur. It is the numerical measure of the likelihood that an event will occur. The value of probability always remains between 0 and 1 that represent ideal uncertainties.</a:t>
            </a:r>
          </a:p>
          <a:p>
            <a:pPr algn="just">
              <a:buFont typeface="+mj-lt"/>
              <a:buAutoNum type="arabicPeriod"/>
            </a:pPr>
            <a:r>
              <a:rPr lang="en-US" b="0" i="0" dirty="0">
                <a:solidFill>
                  <a:srgbClr val="C00000"/>
                </a:solidFill>
                <a:effectLst/>
                <a:latin typeface="inter-regular"/>
              </a:rPr>
              <a:t>0</a:t>
            </a:r>
            <a:r>
              <a:rPr lang="en-US" b="0" i="0" dirty="0">
                <a:solidFill>
                  <a:srgbClr val="000000"/>
                </a:solidFill>
                <a:effectLst/>
                <a:latin typeface="inter-regular"/>
              </a:rPr>
              <a:t> ≤ P(A) ≤ </a:t>
            </a:r>
            <a:r>
              <a:rPr lang="en-US" b="0" i="0" dirty="0">
                <a:solidFill>
                  <a:srgbClr val="C00000"/>
                </a:solidFill>
                <a:effectLst/>
                <a:latin typeface="inter-regular"/>
              </a:rPr>
              <a:t>1</a:t>
            </a:r>
            <a:r>
              <a:rPr lang="en-US" b="0" i="0" dirty="0">
                <a:solidFill>
                  <a:srgbClr val="000000"/>
                </a:solidFill>
                <a:effectLst/>
                <a:latin typeface="inter-regular"/>
              </a:rPr>
              <a:t>,   where P(A) is the probability of an event A.  </a:t>
            </a:r>
          </a:p>
          <a:p>
            <a:pPr algn="just">
              <a:buFont typeface="+mj-lt"/>
              <a:buAutoNum type="arabicPeriod"/>
            </a:pPr>
            <a:r>
              <a:rPr lang="en-US" b="0" i="0" dirty="0">
                <a:solidFill>
                  <a:srgbClr val="000000"/>
                </a:solidFill>
                <a:effectLst/>
                <a:latin typeface="inter-regular"/>
              </a:rPr>
              <a:t>P(A) = </a:t>
            </a:r>
            <a:r>
              <a:rPr lang="en-US" b="0" i="0" dirty="0">
                <a:solidFill>
                  <a:srgbClr val="C00000"/>
                </a:solidFill>
                <a:effectLst/>
                <a:latin typeface="inter-regular"/>
              </a:rPr>
              <a:t>0</a:t>
            </a:r>
            <a:r>
              <a:rPr lang="en-US" b="0" i="0" dirty="0">
                <a:solidFill>
                  <a:srgbClr val="000000"/>
                </a:solidFill>
                <a:effectLst/>
                <a:latin typeface="inter-regular"/>
              </a:rPr>
              <a:t>,  indicates total uncertainty in an event A.   </a:t>
            </a:r>
          </a:p>
          <a:p>
            <a:pPr algn="just">
              <a:buFont typeface="+mj-lt"/>
              <a:buAutoNum type="arabicPeriod"/>
            </a:pPr>
            <a:r>
              <a:rPr lang="en-US" b="0" i="0" dirty="0">
                <a:solidFill>
                  <a:srgbClr val="000000"/>
                </a:solidFill>
                <a:effectLst/>
                <a:latin typeface="inter-regular"/>
              </a:rPr>
              <a:t>P(A) =</a:t>
            </a:r>
            <a:r>
              <a:rPr lang="en-US" b="0" i="0" dirty="0">
                <a:solidFill>
                  <a:srgbClr val="C00000"/>
                </a:solidFill>
                <a:effectLst/>
                <a:latin typeface="inter-regular"/>
              </a:rPr>
              <a:t>1</a:t>
            </a:r>
            <a:r>
              <a:rPr lang="en-US" b="0" i="0" dirty="0">
                <a:solidFill>
                  <a:srgbClr val="000000"/>
                </a:solidFill>
                <a:effectLst/>
                <a:latin typeface="inter-regular"/>
              </a:rPr>
              <a:t>, indicates total certainty in an event A.    </a:t>
            </a:r>
          </a:p>
          <a:p>
            <a:pPr algn="just"/>
            <a:r>
              <a:rPr lang="en-US" b="0" i="0" dirty="0">
                <a:solidFill>
                  <a:srgbClr val="333333"/>
                </a:solidFill>
                <a:effectLst/>
                <a:latin typeface="inter-regular"/>
              </a:rPr>
              <a:t>We can find the probability of an uncertain event by using the below formula.</a:t>
            </a:r>
          </a:p>
          <a:p>
            <a:endParaRPr lang="en-IN" dirty="0"/>
          </a:p>
        </p:txBody>
      </p:sp>
      <p:pic>
        <p:nvPicPr>
          <p:cNvPr id="6" name="Picture 5">
            <a:extLst>
              <a:ext uri="{FF2B5EF4-FFF2-40B4-BE49-F238E27FC236}">
                <a16:creationId xmlns="" xmlns:a16="http://schemas.microsoft.com/office/drawing/2014/main" id="{177C7435-012E-C625-E64F-BDCBA55C4826}"/>
              </a:ext>
            </a:extLst>
          </p:cNvPr>
          <p:cNvPicPr>
            <a:picLocks noChangeAspect="1"/>
          </p:cNvPicPr>
          <p:nvPr/>
        </p:nvPicPr>
        <p:blipFill>
          <a:blip r:embed="rId2"/>
          <a:stretch>
            <a:fillRect/>
          </a:stretch>
        </p:blipFill>
        <p:spPr>
          <a:xfrm>
            <a:off x="2917998" y="4953741"/>
            <a:ext cx="4390620" cy="1535706"/>
          </a:xfrm>
          <a:prstGeom prst="rect">
            <a:avLst/>
          </a:prstGeom>
        </p:spPr>
      </p:pic>
    </p:spTree>
    <p:extLst>
      <p:ext uri="{BB962C8B-B14F-4D97-AF65-F5344CB8AC3E}">
        <p14:creationId xmlns:p14="http://schemas.microsoft.com/office/powerpoint/2010/main" val="6097639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79ED848-9459-2616-25A9-D24BB8A27AF8}"/>
              </a:ext>
            </a:extLst>
          </p:cNvPr>
          <p:cNvSpPr>
            <a:spLocks noGrp="1"/>
          </p:cNvSpPr>
          <p:nvPr>
            <p:ph type="title"/>
          </p:nvPr>
        </p:nvSpPr>
        <p:spPr/>
        <p:txBody>
          <a:bodyPr/>
          <a:lstStyle/>
          <a:p>
            <a:r>
              <a:rPr lang="en-IN" b="0" i="0" dirty="0">
                <a:solidFill>
                  <a:srgbClr val="610B4B"/>
                </a:solidFill>
                <a:effectLst/>
                <a:latin typeface="erdana"/>
              </a:rPr>
              <a:t>Conditional probability:</a:t>
            </a:r>
            <a:br>
              <a:rPr lang="en-IN" b="0" i="0" dirty="0">
                <a:solidFill>
                  <a:srgbClr val="610B4B"/>
                </a:solidFill>
                <a:effectLst/>
                <a:latin typeface="erdana"/>
              </a:rPr>
            </a:br>
            <a:endParaRPr lang="en-IN" dirty="0"/>
          </a:p>
        </p:txBody>
      </p:sp>
      <p:pic>
        <p:nvPicPr>
          <p:cNvPr id="11" name="Content Placeholder 10">
            <a:extLst>
              <a:ext uri="{FF2B5EF4-FFF2-40B4-BE49-F238E27FC236}">
                <a16:creationId xmlns="" xmlns:a16="http://schemas.microsoft.com/office/drawing/2014/main" id="{B2081241-D684-9176-48E9-7ED5ECD07405}"/>
              </a:ext>
            </a:extLst>
          </p:cNvPr>
          <p:cNvPicPr>
            <a:picLocks noGrp="1" noChangeAspect="1"/>
          </p:cNvPicPr>
          <p:nvPr>
            <p:ph sz="half" idx="1"/>
          </p:nvPr>
        </p:nvPicPr>
        <p:blipFill>
          <a:blip r:embed="rId2"/>
          <a:stretch>
            <a:fillRect/>
          </a:stretch>
        </p:blipFill>
        <p:spPr>
          <a:xfrm>
            <a:off x="677862" y="1482572"/>
            <a:ext cx="5678549" cy="4765828"/>
          </a:xfrm>
        </p:spPr>
      </p:pic>
      <p:pic>
        <p:nvPicPr>
          <p:cNvPr id="13" name="Content Placeholder 12">
            <a:extLst>
              <a:ext uri="{FF2B5EF4-FFF2-40B4-BE49-F238E27FC236}">
                <a16:creationId xmlns="" xmlns:a16="http://schemas.microsoft.com/office/drawing/2014/main" id="{51B9B888-E4F7-8EF1-EA7D-6387B70A4E6C}"/>
              </a:ext>
            </a:extLst>
          </p:cNvPr>
          <p:cNvPicPr>
            <a:picLocks noGrp="1" noChangeAspect="1"/>
          </p:cNvPicPr>
          <p:nvPr>
            <p:ph sz="half" idx="2"/>
          </p:nvPr>
        </p:nvPicPr>
        <p:blipFill>
          <a:blip r:embed="rId3"/>
          <a:stretch>
            <a:fillRect/>
          </a:stretch>
        </p:blipFill>
        <p:spPr>
          <a:xfrm>
            <a:off x="6900570" y="1482572"/>
            <a:ext cx="4184650" cy="3219585"/>
          </a:xfrm>
        </p:spPr>
      </p:pic>
    </p:spTree>
    <p:extLst>
      <p:ext uri="{BB962C8B-B14F-4D97-AF65-F5344CB8AC3E}">
        <p14:creationId xmlns:p14="http://schemas.microsoft.com/office/powerpoint/2010/main" val="2510407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ED6A51B-5113-C520-AF77-D6C07AA784EE}"/>
              </a:ext>
            </a:extLst>
          </p:cNvPr>
          <p:cNvSpPr>
            <a:spLocks noGrp="1"/>
          </p:cNvSpPr>
          <p:nvPr>
            <p:ph type="title"/>
          </p:nvPr>
        </p:nvSpPr>
        <p:spPr/>
        <p:txBody>
          <a:bodyPr>
            <a:normAutofit fontScale="90000"/>
          </a:bodyPr>
          <a:lstStyle/>
          <a:p>
            <a:r>
              <a:rPr lang="en-IN" b="1" i="0" dirty="0">
                <a:solidFill>
                  <a:srgbClr val="333333"/>
                </a:solidFill>
                <a:effectLst/>
                <a:latin typeface="inter-bold"/>
              </a:rPr>
              <a:t>Example:</a:t>
            </a:r>
            <a:r>
              <a:rPr lang="en-IN" b="0" i="0" dirty="0">
                <a:solidFill>
                  <a:srgbClr val="333333"/>
                </a:solidFill>
                <a:effectLst/>
                <a:latin typeface="inter-regular"/>
              </a:rPr>
              <a:t/>
            </a:r>
            <a:br>
              <a:rPr lang="en-IN" b="0" i="0" dirty="0">
                <a:solidFill>
                  <a:srgbClr val="333333"/>
                </a:solidFill>
                <a:effectLst/>
                <a:latin typeface="inter-regular"/>
              </a:rPr>
            </a:br>
            <a:r>
              <a:rPr lang="en-IN" dirty="0"/>
              <a:t/>
            </a:r>
            <a:br>
              <a:rPr lang="en-IN" dirty="0"/>
            </a:br>
            <a:endParaRPr lang="en-IN" dirty="0"/>
          </a:p>
        </p:txBody>
      </p:sp>
      <p:pic>
        <p:nvPicPr>
          <p:cNvPr id="5" name="Content Placeholder 4">
            <a:extLst>
              <a:ext uri="{FF2B5EF4-FFF2-40B4-BE49-F238E27FC236}">
                <a16:creationId xmlns="" xmlns:a16="http://schemas.microsoft.com/office/drawing/2014/main" id="{4DCE54E6-8118-DDFE-766D-ABA257083E1E}"/>
              </a:ext>
            </a:extLst>
          </p:cNvPr>
          <p:cNvPicPr>
            <a:picLocks noGrp="1" noChangeAspect="1"/>
          </p:cNvPicPr>
          <p:nvPr>
            <p:ph idx="1"/>
          </p:nvPr>
        </p:nvPicPr>
        <p:blipFill>
          <a:blip r:embed="rId2"/>
          <a:stretch>
            <a:fillRect/>
          </a:stretch>
        </p:blipFill>
        <p:spPr>
          <a:xfrm>
            <a:off x="677863" y="1819922"/>
            <a:ext cx="8596312" cy="3805892"/>
          </a:xfrm>
        </p:spPr>
      </p:pic>
    </p:spTree>
    <p:extLst>
      <p:ext uri="{BB962C8B-B14F-4D97-AF65-F5344CB8AC3E}">
        <p14:creationId xmlns:p14="http://schemas.microsoft.com/office/powerpoint/2010/main" val="25196240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Bayes</a:t>
            </a:r>
            <a:r>
              <a:rPr lang="en-US" dirty="0" smtClean="0"/>
              <a:t>' theorem</a:t>
            </a:r>
            <a:br>
              <a:rPr lang="en-US" dirty="0" smtClean="0"/>
            </a:br>
            <a:endParaRPr lang="en-US" dirty="0"/>
          </a:p>
        </p:txBody>
      </p:sp>
      <p:sp>
        <p:nvSpPr>
          <p:cNvPr id="3" name="Content Placeholder 2"/>
          <p:cNvSpPr>
            <a:spLocks noGrp="1"/>
          </p:cNvSpPr>
          <p:nvPr>
            <p:ph idx="1"/>
          </p:nvPr>
        </p:nvSpPr>
        <p:spPr/>
        <p:txBody>
          <a:bodyPr/>
          <a:lstStyle/>
          <a:p>
            <a:r>
              <a:rPr lang="en-US" dirty="0" err="1" smtClean="0"/>
              <a:t>Bayes</a:t>
            </a:r>
            <a:r>
              <a:rPr lang="en-US" dirty="0" smtClean="0"/>
              <a:t>' theorem is also known as </a:t>
            </a:r>
            <a:r>
              <a:rPr lang="en-US" b="1" dirty="0" err="1" smtClean="0"/>
              <a:t>Bayes</a:t>
            </a:r>
            <a:r>
              <a:rPr lang="en-US" b="1" dirty="0" smtClean="0"/>
              <a:t>' rule, </a:t>
            </a:r>
            <a:r>
              <a:rPr lang="en-US" b="1" dirty="0" err="1" smtClean="0"/>
              <a:t>Bayes</a:t>
            </a:r>
            <a:r>
              <a:rPr lang="en-US" b="1" dirty="0" smtClean="0"/>
              <a:t>' law</a:t>
            </a:r>
            <a:r>
              <a:rPr lang="en-US" dirty="0" smtClean="0"/>
              <a:t>, or </a:t>
            </a:r>
            <a:r>
              <a:rPr lang="en-US" b="1" dirty="0" smtClean="0"/>
              <a:t>Bayesian reasoning</a:t>
            </a:r>
            <a:r>
              <a:rPr lang="en-US" dirty="0" smtClean="0"/>
              <a:t>, which determines the probability of an event with uncertain knowledge.</a:t>
            </a:r>
          </a:p>
          <a:p>
            <a:r>
              <a:rPr lang="en-US" dirty="0" smtClean="0"/>
              <a:t>In probability theory, it relates the conditional probability and marginal probabilities of two random events.</a:t>
            </a:r>
          </a:p>
          <a:p>
            <a:r>
              <a:rPr lang="en-US" dirty="0" err="1" smtClean="0"/>
              <a:t>Bayes</a:t>
            </a:r>
            <a:r>
              <a:rPr lang="en-US" dirty="0" smtClean="0"/>
              <a:t>' theorem was named after the British mathematician </a:t>
            </a:r>
            <a:r>
              <a:rPr lang="en-US" b="1" dirty="0" smtClean="0"/>
              <a:t>Thomas </a:t>
            </a:r>
            <a:r>
              <a:rPr lang="en-US" b="1" dirty="0" err="1" smtClean="0"/>
              <a:t>Bayes</a:t>
            </a:r>
            <a:r>
              <a:rPr lang="en-US" dirty="0" smtClean="0"/>
              <a:t>. The </a:t>
            </a:r>
            <a:r>
              <a:rPr lang="en-US" b="1" dirty="0" smtClean="0"/>
              <a:t>Bayesian inference</a:t>
            </a:r>
            <a:r>
              <a:rPr lang="en-US" dirty="0" smtClean="0"/>
              <a:t> is an application of </a:t>
            </a:r>
            <a:r>
              <a:rPr lang="en-US" dirty="0" err="1" smtClean="0"/>
              <a:t>Bayes</a:t>
            </a:r>
            <a:r>
              <a:rPr lang="en-US" dirty="0" smtClean="0"/>
              <a:t>' theorem, which is fundamental to Bayesian statistics.</a:t>
            </a:r>
          </a:p>
          <a:p>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err="1" smtClean="0"/>
              <a:t>Bayes</a:t>
            </a:r>
            <a:r>
              <a:rPr lang="en-US" dirty="0" smtClean="0"/>
              <a:t>' theorem</a:t>
            </a:r>
            <a:br>
              <a:rPr lang="en-US" dirty="0" smtClean="0"/>
            </a:br>
            <a:endParaRPr lang="en-US" dirty="0"/>
          </a:p>
        </p:txBody>
      </p:sp>
      <p:sp>
        <p:nvSpPr>
          <p:cNvPr id="6" name="Content Placeholder 5"/>
          <p:cNvSpPr>
            <a:spLocks noGrp="1"/>
          </p:cNvSpPr>
          <p:nvPr>
            <p:ph sz="half" idx="2"/>
          </p:nvPr>
        </p:nvSpPr>
        <p:spPr>
          <a:xfrm>
            <a:off x="5089969" y="2160589"/>
            <a:ext cx="5331845" cy="3880773"/>
          </a:xfrm>
        </p:spPr>
        <p:txBody>
          <a:bodyPr>
            <a:normAutofit/>
          </a:bodyPr>
          <a:lstStyle/>
          <a:p>
            <a:pPr algn="just"/>
            <a:r>
              <a:rPr lang="en-US" sz="1600" b="1" dirty="0" smtClean="0">
                <a:latin typeface="Times New Roman" pitchFamily="18" charset="0"/>
                <a:cs typeface="Times New Roman" pitchFamily="18" charset="0"/>
              </a:rPr>
              <a:t>P(A|B)</a:t>
            </a:r>
            <a:r>
              <a:rPr lang="en-US" sz="1600" dirty="0" smtClean="0">
                <a:latin typeface="Times New Roman" pitchFamily="18" charset="0"/>
                <a:cs typeface="Times New Roman" pitchFamily="18" charset="0"/>
              </a:rPr>
              <a:t> is known as </a:t>
            </a:r>
            <a:r>
              <a:rPr lang="en-US" sz="1600" b="1" dirty="0" smtClean="0">
                <a:latin typeface="Times New Roman" pitchFamily="18" charset="0"/>
                <a:cs typeface="Times New Roman" pitchFamily="18" charset="0"/>
              </a:rPr>
              <a:t>posterior</a:t>
            </a:r>
            <a:r>
              <a:rPr lang="en-US" sz="1600" dirty="0" smtClean="0">
                <a:latin typeface="Times New Roman" pitchFamily="18" charset="0"/>
                <a:cs typeface="Times New Roman" pitchFamily="18" charset="0"/>
              </a:rPr>
              <a:t>, which we need to calculate, and it will be read as Probability of hypothesis A when we have occurred an evidence B.</a:t>
            </a:r>
          </a:p>
          <a:p>
            <a:pPr algn="just"/>
            <a:r>
              <a:rPr lang="en-US" sz="1600" b="1" dirty="0" smtClean="0">
                <a:latin typeface="Times New Roman" pitchFamily="18" charset="0"/>
                <a:cs typeface="Times New Roman" pitchFamily="18" charset="0"/>
              </a:rPr>
              <a:t>P(B|A)</a:t>
            </a:r>
            <a:r>
              <a:rPr lang="en-US" sz="1600" dirty="0" smtClean="0">
                <a:latin typeface="Times New Roman" pitchFamily="18" charset="0"/>
                <a:cs typeface="Times New Roman" pitchFamily="18" charset="0"/>
              </a:rPr>
              <a:t> is called the </a:t>
            </a:r>
            <a:r>
              <a:rPr lang="en-US" sz="1600" b="1" dirty="0" smtClean="0">
                <a:latin typeface="Times New Roman" pitchFamily="18" charset="0"/>
                <a:cs typeface="Times New Roman" pitchFamily="18" charset="0"/>
              </a:rPr>
              <a:t>likelihood</a:t>
            </a:r>
            <a:r>
              <a:rPr lang="en-US" sz="1600" dirty="0" smtClean="0">
                <a:latin typeface="Times New Roman" pitchFamily="18" charset="0"/>
                <a:cs typeface="Times New Roman" pitchFamily="18" charset="0"/>
              </a:rPr>
              <a:t>, in which we consider that hypothesis is true, then we calculate the probability of evidence.</a:t>
            </a:r>
          </a:p>
          <a:p>
            <a:pPr algn="just"/>
            <a:r>
              <a:rPr lang="en-US" sz="1600" b="1" dirty="0" smtClean="0">
                <a:latin typeface="Times New Roman" pitchFamily="18" charset="0"/>
                <a:cs typeface="Times New Roman" pitchFamily="18" charset="0"/>
              </a:rPr>
              <a:t>P(A)</a:t>
            </a:r>
            <a:r>
              <a:rPr lang="en-US" sz="1600" dirty="0" smtClean="0">
                <a:latin typeface="Times New Roman" pitchFamily="18" charset="0"/>
                <a:cs typeface="Times New Roman" pitchFamily="18" charset="0"/>
              </a:rPr>
              <a:t> is called the </a:t>
            </a:r>
            <a:r>
              <a:rPr lang="en-US" sz="1600" b="1" dirty="0" smtClean="0">
                <a:latin typeface="Times New Roman" pitchFamily="18" charset="0"/>
                <a:cs typeface="Times New Roman" pitchFamily="18" charset="0"/>
              </a:rPr>
              <a:t>prior probability</a:t>
            </a:r>
            <a:r>
              <a:rPr lang="en-US" sz="1600" dirty="0" smtClean="0">
                <a:latin typeface="Times New Roman" pitchFamily="18" charset="0"/>
                <a:cs typeface="Times New Roman" pitchFamily="18" charset="0"/>
              </a:rPr>
              <a:t>, probability of hypothesis before considering the evidence</a:t>
            </a:r>
          </a:p>
          <a:p>
            <a:pPr algn="just"/>
            <a:r>
              <a:rPr lang="en-US" sz="1600" b="1" dirty="0" smtClean="0">
                <a:latin typeface="Times New Roman" pitchFamily="18" charset="0"/>
                <a:cs typeface="Times New Roman" pitchFamily="18" charset="0"/>
              </a:rPr>
              <a:t>P(B)</a:t>
            </a:r>
            <a:r>
              <a:rPr lang="en-US" sz="1600" dirty="0" smtClean="0">
                <a:latin typeface="Times New Roman" pitchFamily="18" charset="0"/>
                <a:cs typeface="Times New Roman" pitchFamily="18" charset="0"/>
              </a:rPr>
              <a:t> is called </a:t>
            </a:r>
            <a:r>
              <a:rPr lang="en-US" sz="1600" b="1" dirty="0" smtClean="0">
                <a:latin typeface="Times New Roman" pitchFamily="18" charset="0"/>
                <a:cs typeface="Times New Roman" pitchFamily="18" charset="0"/>
              </a:rPr>
              <a:t>marginal probability</a:t>
            </a:r>
            <a:r>
              <a:rPr lang="en-US" sz="1600" dirty="0" smtClean="0">
                <a:latin typeface="Times New Roman" pitchFamily="18" charset="0"/>
                <a:cs typeface="Times New Roman" pitchFamily="18" charset="0"/>
              </a:rPr>
              <a:t>, pure probability of an evidence.</a:t>
            </a:r>
          </a:p>
          <a:p>
            <a:pPr algn="just"/>
            <a:endParaRPr lang="en-US" sz="1600" dirty="0">
              <a:latin typeface="Times New Roman" pitchFamily="18" charset="0"/>
              <a:cs typeface="Times New Roman" pitchFamily="18" charset="0"/>
            </a:endParaRPr>
          </a:p>
        </p:txBody>
      </p:sp>
      <p:pic>
        <p:nvPicPr>
          <p:cNvPr id="2050" name="Picture 2"/>
          <p:cNvPicPr>
            <a:picLocks noGrp="1" noChangeAspect="1" noChangeArrowheads="1"/>
          </p:cNvPicPr>
          <p:nvPr>
            <p:ph sz="half" idx="1"/>
          </p:nvPr>
        </p:nvPicPr>
        <p:blipFill>
          <a:blip r:embed="rId2"/>
          <a:srcRect/>
          <a:stretch>
            <a:fillRect/>
          </a:stretch>
        </p:blipFill>
        <p:spPr bwMode="auto">
          <a:xfrm>
            <a:off x="750277" y="1835041"/>
            <a:ext cx="4114800" cy="1243794"/>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796803" y="3072544"/>
            <a:ext cx="3745890" cy="1042255"/>
          </a:xfrm>
          <a:prstGeom prst="rect">
            <a:avLst/>
          </a:prstGeom>
          <a:noFill/>
          <a:ln w="9525">
            <a:noFill/>
            <a:miter lim="800000"/>
            <a:headEnd/>
            <a:tailEnd/>
          </a:ln>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867508" y="1547446"/>
            <a:ext cx="7702061" cy="4419600"/>
          </a:xfrm>
          <a:prstGeom prst="rect">
            <a:avLst/>
          </a:prstGeom>
          <a:noFill/>
          <a:ln w="9525">
            <a:noFill/>
            <a:miter lim="800000"/>
            <a:headEnd/>
            <a:tailEnd/>
          </a:ln>
          <a:effectLst/>
        </p:spPr>
      </p:pic>
      <p:sp>
        <p:nvSpPr>
          <p:cNvPr id="6" name="Title 3"/>
          <p:cNvSpPr txBox="1">
            <a:spLocks/>
          </p:cNvSpPr>
          <p:nvPr/>
        </p:nvSpPr>
        <p:spPr>
          <a:xfrm>
            <a:off x="677334" y="609600"/>
            <a:ext cx="8596668" cy="1320800"/>
          </a:xfrm>
          <a:prstGeom prst="rect">
            <a:avLst/>
          </a:prstGeom>
        </p:spPr>
        <p:txBody>
          <a:body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0" normalizeH="0" baseline="0" noProof="0" dirty="0" err="1" smtClean="0">
                <a:ln>
                  <a:noFill/>
                </a:ln>
                <a:solidFill>
                  <a:schemeClr val="accent1"/>
                </a:solidFill>
                <a:effectLst/>
                <a:uLnTx/>
                <a:uFillTx/>
                <a:latin typeface="+mj-lt"/>
                <a:ea typeface="+mj-ea"/>
                <a:cs typeface="+mj-cs"/>
              </a:rPr>
              <a:t>Bayes</a:t>
            </a:r>
            <a:r>
              <a:rPr kumimoji="0" lang="en-US" sz="3600" b="0" i="0" u="none" strike="noStrike" kern="1200" cap="none" spc="0" normalizeH="0" baseline="0" noProof="0" dirty="0" smtClean="0">
                <a:ln>
                  <a:noFill/>
                </a:ln>
                <a:solidFill>
                  <a:schemeClr val="accent1"/>
                </a:solidFill>
                <a:effectLst/>
                <a:uLnTx/>
                <a:uFillTx/>
                <a:latin typeface="+mj-lt"/>
                <a:ea typeface="+mj-ea"/>
                <a:cs typeface="+mj-cs"/>
              </a:rPr>
              <a:t>' theorem Example</a:t>
            </a:r>
            <a:br>
              <a:rPr kumimoji="0" lang="en-US" sz="3600" b="0" i="0" u="none" strike="noStrike" kern="1200" cap="none" spc="0" normalizeH="0" baseline="0" noProof="0" dirty="0" smtClean="0">
                <a:ln>
                  <a:noFill/>
                </a:ln>
                <a:solidFill>
                  <a:schemeClr val="accent1"/>
                </a:solidFill>
                <a:effectLst/>
                <a:uLnTx/>
                <a:uFillTx/>
                <a:latin typeface="+mj-lt"/>
                <a:ea typeface="+mj-ea"/>
                <a:cs typeface="+mj-cs"/>
              </a:rPr>
            </a:br>
            <a:endParaRPr kumimoji="0" lang="en-US" sz="3600" b="0" i="0" u="none" strike="noStrike" kern="1200" cap="none" spc="0" normalizeH="0" baseline="0" noProof="0" dirty="0">
              <a:ln>
                <a:noFill/>
              </a:ln>
              <a:solidFill>
                <a:schemeClr val="accent1"/>
              </a:solidFill>
              <a:effectLst/>
              <a:uLnTx/>
              <a:uFillTx/>
              <a:latin typeface="+mj-lt"/>
              <a:ea typeface="+mj-ea"/>
              <a:cs typeface="+mj-c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Thank You</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555</TotalTime>
  <Words>2045</Words>
  <Application>Microsoft Office PowerPoint</Application>
  <PresentationFormat>Custom</PresentationFormat>
  <Paragraphs>279</Paragraphs>
  <Slides>37</Slides>
  <Notes>0</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Facet</vt:lpstr>
      <vt:lpstr>Constraint Satisfaction Problems </vt:lpstr>
      <vt:lpstr>Example</vt:lpstr>
      <vt:lpstr>How Constraint Satisfaction Algorithm Works</vt:lpstr>
      <vt:lpstr>How Constraint Satisfaction Algorithm Works</vt:lpstr>
      <vt:lpstr>Binary Search tree </vt:lpstr>
      <vt:lpstr>Example of creating a binary search tree</vt:lpstr>
      <vt:lpstr>PowerPoint Presentation</vt:lpstr>
      <vt:lpstr>Searching in Binary search tree </vt:lpstr>
      <vt:lpstr>Mini-Max Algorithm </vt:lpstr>
      <vt:lpstr>Mini-Max Algorithm </vt:lpstr>
      <vt:lpstr>Alpha-Beta Pruning </vt:lpstr>
      <vt:lpstr>Alpha-Beta Pruning</vt:lpstr>
      <vt:lpstr>Propositional logic in Artificial intelligence  </vt:lpstr>
      <vt:lpstr>PowerPoint Presentation</vt:lpstr>
      <vt:lpstr>Syntax of propositional logic:  </vt:lpstr>
      <vt:lpstr>Logical Connectives </vt:lpstr>
      <vt:lpstr>Truth Table: </vt:lpstr>
      <vt:lpstr>Truth Table: </vt:lpstr>
      <vt:lpstr>First-Order logic: </vt:lpstr>
      <vt:lpstr>Basic Elements of First-order logic: </vt:lpstr>
      <vt:lpstr>Quantifiers in First-order logic: </vt:lpstr>
      <vt:lpstr>Universal Quantifier: </vt:lpstr>
      <vt:lpstr>Existential Quantifier </vt:lpstr>
      <vt:lpstr>Some Examples of First-order logic using quantifier:</vt:lpstr>
      <vt:lpstr>Forward Chaining and backward chaining </vt:lpstr>
      <vt:lpstr>Forward Chaining</vt:lpstr>
      <vt:lpstr>PowerPoint Presentation</vt:lpstr>
      <vt:lpstr>Backward chaining</vt:lpstr>
      <vt:lpstr>Example: "As per the law, it is a crime for an American to sell weapons to hostile nations. Country A, an enemy of America, has some missiles, and all the missiles were sold to it by Robert, who is an American citizen."  Prove that "Robert is criminal."</vt:lpstr>
      <vt:lpstr>Probabilistic reasoning:</vt:lpstr>
      <vt:lpstr>Probability</vt:lpstr>
      <vt:lpstr>Conditional probability: </vt:lpstr>
      <vt:lpstr>Example:  </vt:lpstr>
      <vt:lpstr>Bayes' theorem </vt:lpstr>
      <vt:lpstr>Bayes' theorem </vt:lpstr>
      <vt:lpstr>PowerPoint Presentation</vt:lpstr>
      <vt:lpstr>Thank You</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asd </dc:title>
  <dc:creator>dhirendra siddharth</dc:creator>
  <cp:lastModifiedBy>Admin</cp:lastModifiedBy>
  <cp:revision>65</cp:revision>
  <dcterms:created xsi:type="dcterms:W3CDTF">2022-10-18T14:00:37Z</dcterms:created>
  <dcterms:modified xsi:type="dcterms:W3CDTF">2023-02-28T10:26:57Z</dcterms:modified>
</cp:coreProperties>
</file>