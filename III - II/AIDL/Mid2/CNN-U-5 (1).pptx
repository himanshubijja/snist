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3" r:id="rId8"/>
    <p:sldId id="264" r:id="rId9"/>
    <p:sldId id="266" r:id="rId10"/>
    <p:sldId id="268" r:id="rId11"/>
    <p:sldId id="267" r:id="rId12"/>
    <p:sldId id="269" r:id="rId13"/>
    <p:sldId id="270" r:id="rId14"/>
    <p:sldId id="271" r:id="rId15"/>
    <p:sldId id="272" r:id="rId16"/>
    <p:sldId id="273" r:id="rId17"/>
    <p:sldId id="274" r:id="rId18"/>
    <p:sldId id="275" r:id="rId19"/>
    <p:sldId id="276" r:id="rId20"/>
    <p:sldId id="277" r:id="rId21"/>
    <p:sldId id="279" r:id="rId22"/>
    <p:sldId id="280" r:id="rId23"/>
    <p:sldId id="281" r:id="rId24"/>
    <p:sldId id="282" r:id="rId25"/>
    <p:sldId id="283" r:id="rId26"/>
    <p:sldId id="284" r:id="rId27"/>
    <p:sldId id="286" r:id="rId28"/>
    <p:sldId id="288" r:id="rId29"/>
    <p:sldId id="289" r:id="rId30"/>
    <p:sldId id="290" r:id="rId31"/>
    <p:sldId id="291" r:id="rId32"/>
    <p:sldId id="293" r:id="rId33"/>
    <p:sldId id="294" r:id="rId34"/>
    <p:sldId id="295" r:id="rId35"/>
    <p:sldId id="296" r:id="rId36"/>
    <p:sldId id="297" r:id="rId37"/>
    <p:sldId id="314" r:id="rId38"/>
    <p:sldId id="315" r:id="rId39"/>
    <p:sldId id="316" r:id="rId40"/>
    <p:sldId id="317" r:id="rId41"/>
    <p:sldId id="312" r:id="rId42"/>
    <p:sldId id="299" r:id="rId43"/>
    <p:sldId id="318" r:id="rId44"/>
    <p:sldId id="300" r:id="rId45"/>
    <p:sldId id="301" r:id="rId46"/>
    <p:sldId id="302" r:id="rId47"/>
    <p:sldId id="303" r:id="rId48"/>
    <p:sldId id="304" r:id="rId49"/>
    <p:sldId id="305" r:id="rId50"/>
    <p:sldId id="306" r:id="rId51"/>
    <p:sldId id="307" r:id="rId52"/>
    <p:sldId id="308" r:id="rId53"/>
    <p:sldId id="309" r:id="rId54"/>
    <p:sldId id="310" r:id="rId55"/>
    <p:sldId id="319" r:id="rId56"/>
    <p:sldId id="311"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33FD908-32C0-44CD-BD4F-5CF38ACE5B56}" type="datetimeFigureOut">
              <a:rPr lang="en-US" smtClean="0"/>
              <a:pPr/>
              <a:t>12/28/2021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C9BEA-6917-4787-B756-10FA9C37360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33FD908-32C0-44CD-BD4F-5CF38ACE5B56}" type="datetimeFigureOut">
              <a:rPr lang="en-US" smtClean="0"/>
              <a:pPr/>
              <a:t>12/28/2021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C9BEA-6917-4787-B756-10FA9C37360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33FD908-32C0-44CD-BD4F-5CF38ACE5B56}" type="datetimeFigureOut">
              <a:rPr lang="en-US" smtClean="0"/>
              <a:pPr/>
              <a:t>12/28/2021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C9BEA-6917-4787-B756-10FA9C37360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33FD908-32C0-44CD-BD4F-5CF38ACE5B56}" type="datetimeFigureOut">
              <a:rPr lang="en-US" smtClean="0"/>
              <a:pPr/>
              <a:t>12/28/2021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C9BEA-6917-4787-B756-10FA9C37360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33FD908-32C0-44CD-BD4F-5CF38ACE5B56}" type="datetimeFigureOut">
              <a:rPr lang="en-US" smtClean="0"/>
              <a:pPr/>
              <a:t>12/28/2021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4C9BEA-6917-4787-B756-10FA9C37360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33FD908-32C0-44CD-BD4F-5CF38ACE5B56}" type="datetimeFigureOut">
              <a:rPr lang="en-US" smtClean="0"/>
              <a:pPr/>
              <a:t>12/28/2021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4C9BEA-6917-4787-B756-10FA9C37360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3FD908-32C0-44CD-BD4F-5CF38ACE5B56}" type="datetimeFigureOut">
              <a:rPr lang="en-US" smtClean="0"/>
              <a:pPr/>
              <a:t>12/28/2021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4C9BEA-6917-4787-B756-10FA9C37360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33FD908-32C0-44CD-BD4F-5CF38ACE5B56}" type="datetimeFigureOut">
              <a:rPr lang="en-US" smtClean="0"/>
              <a:pPr/>
              <a:t>12/28/2021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C9BEA-6917-4787-B756-10FA9C37360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33FD908-32C0-44CD-BD4F-5CF38ACE5B56}" type="datetimeFigureOut">
              <a:rPr lang="en-US" smtClean="0"/>
              <a:pPr/>
              <a:t>12/28/2021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C9BEA-6917-4787-B756-10FA9C37360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33FD908-32C0-44CD-BD4F-5CF38ACE5B56}" type="datetimeFigureOut">
              <a:rPr lang="en-US" smtClean="0"/>
              <a:pPr/>
              <a:t>12/28/2021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C9BEA-6917-4787-B756-10FA9C37360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33FD908-32C0-44CD-BD4F-5CF38ACE5B56}" type="datetimeFigureOut">
              <a:rPr lang="en-US" smtClean="0"/>
              <a:pPr/>
              <a:t>12/28/2021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C9BEA-6917-4787-B756-10FA9C37360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FD908-32C0-44CD-BD4F-5CF38ACE5B56}" type="datetimeFigureOut">
              <a:rPr lang="en-US" smtClean="0"/>
              <a:pPr/>
              <a:t>12/28/2021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4C9BEA-6917-4787-B756-10FA9C37360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Convolution neural networks</a:t>
            </a:r>
            <a:endParaRPr lang="en-US" dirty="0"/>
          </a:p>
        </p:txBody>
      </p:sp>
      <p:sp>
        <p:nvSpPr>
          <p:cNvPr id="3" name="Subtitle 2"/>
          <p:cNvSpPr>
            <a:spLocks noGrp="1"/>
          </p:cNvSpPr>
          <p:nvPr>
            <p:ph type="subTitle" idx="1"/>
          </p:nvPr>
        </p:nvSpPr>
        <p:spPr/>
        <p:txBody>
          <a:bodyPr/>
          <a:lstStyle/>
          <a:p>
            <a:r>
              <a:rPr lang="en-US" dirty="0" smtClean="0"/>
              <a:t>Unit-5</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US" dirty="0" smtClean="0">
                <a:solidFill>
                  <a:srgbClr val="FF0000"/>
                </a:solidFill>
              </a:rPr>
              <a:t>CNN</a:t>
            </a:r>
            <a:endParaRPr lang="en-US" dirty="0">
              <a:solidFill>
                <a:srgbClr val="FF0000"/>
              </a:solidFill>
            </a:endParaRPr>
          </a:p>
        </p:txBody>
      </p:sp>
      <p:sp>
        <p:nvSpPr>
          <p:cNvPr id="3" name="Content Placeholder 2"/>
          <p:cNvSpPr>
            <a:spLocks noGrp="1"/>
          </p:cNvSpPr>
          <p:nvPr>
            <p:ph idx="1"/>
          </p:nvPr>
        </p:nvSpPr>
        <p:spPr>
          <a:xfrm>
            <a:off x="228600" y="990600"/>
            <a:ext cx="8686800" cy="5562600"/>
          </a:xfrm>
        </p:spPr>
        <p:txBody>
          <a:bodyPr>
            <a:normAutofit fontScale="85000" lnSpcReduction="10000"/>
          </a:bodyPr>
          <a:lstStyle/>
          <a:p>
            <a:r>
              <a:rPr lang="en-US" dirty="0" smtClean="0"/>
              <a:t>The human sense of vision is unbelievably advanced. Within fractions of seconds, we can identify objects within our field of view, without thought or hesitation. </a:t>
            </a:r>
          </a:p>
          <a:p>
            <a:r>
              <a:rPr lang="en-US" dirty="0" smtClean="0"/>
              <a:t>our brain transforms that information into more meaningful primitives—lines, curves, and shapes.</a:t>
            </a:r>
          </a:p>
          <a:p>
            <a:r>
              <a:rPr lang="en-US" dirty="0" smtClean="0"/>
              <a:t>Foundational to the human sense of vision is the neuron. </a:t>
            </a:r>
          </a:p>
          <a:p>
            <a:r>
              <a:rPr lang="en-US" dirty="0" smtClean="0"/>
              <a:t>Specialized neurons are responsible for capturing light information in the human eye.</a:t>
            </a:r>
          </a:p>
          <a:p>
            <a:r>
              <a:rPr lang="en-US" dirty="0" smtClean="0"/>
              <a:t>This light information is then preprocessed, transported to the visual cortex of the brain, and then finally analyzed to completion.</a:t>
            </a:r>
          </a:p>
          <a:p>
            <a:r>
              <a:rPr lang="en-US" dirty="0" smtClean="0"/>
              <a:t> Neurons are single-handedly responsible for all of these functions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 Selection</a:t>
            </a:r>
            <a:endParaRPr lang="en-US" dirty="0"/>
          </a:p>
        </p:txBody>
      </p:sp>
      <p:sp>
        <p:nvSpPr>
          <p:cNvPr id="3" name="Content Placeholder 2"/>
          <p:cNvSpPr>
            <a:spLocks noGrp="1"/>
          </p:cNvSpPr>
          <p:nvPr>
            <p:ph idx="1"/>
          </p:nvPr>
        </p:nvSpPr>
        <p:spPr/>
        <p:txBody>
          <a:bodyPr>
            <a:normAutofit lnSpcReduction="10000"/>
          </a:bodyPr>
          <a:lstStyle/>
          <a:p>
            <a:r>
              <a:rPr lang="en-US" dirty="0" smtClean="0"/>
              <a:t>How do we teach a computer that an image contains a face? We could try to train a traditional machine learning algorithm by giving it the raw pixel values of the image and hoping it can find an appropriate classifier.</a:t>
            </a:r>
          </a:p>
          <a:p>
            <a:r>
              <a:rPr lang="en-US" dirty="0" smtClean="0"/>
              <a:t>a human would choose the features (perhaps hundreds or thousands) that he or she believed were important in making a classification decision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324600"/>
          </a:xfrm>
        </p:spPr>
        <p:txBody>
          <a:bodyPr>
            <a:normAutofit/>
          </a:bodyPr>
          <a:lstStyle/>
          <a:p>
            <a:r>
              <a:rPr lang="en-US" dirty="0" smtClean="0"/>
              <a:t>The machine learning algorithm would then use these new feature vectors to make classification decisions. Because the feature extraction process improves the </a:t>
            </a:r>
            <a:r>
              <a:rPr lang="en-US" dirty="0" smtClean="0">
                <a:solidFill>
                  <a:srgbClr val="FF0000"/>
                </a:solidFill>
              </a:rPr>
              <a:t>signal-to-noise ratio </a:t>
            </a:r>
          </a:p>
          <a:p>
            <a:r>
              <a:rPr lang="en-US" dirty="0" smtClean="0"/>
              <a:t>FACE: there is a difference in light intensity between the eye region and the upper cheeks. There is also a difference in light intensity between the nose bridge and the two eyes on either side.</a:t>
            </a:r>
          </a:p>
          <a:p>
            <a:r>
              <a:rPr lang="en-US" dirty="0"/>
              <a:t>M</a:t>
            </a:r>
            <a:r>
              <a:rPr lang="en-US" dirty="0" smtClean="0"/>
              <a:t>achine learning algorithm known as </a:t>
            </a:r>
            <a:r>
              <a:rPr lang="en-US" dirty="0" smtClean="0">
                <a:solidFill>
                  <a:srgbClr val="FF0000"/>
                </a:solidFill>
              </a:rPr>
              <a:t>boosting</a:t>
            </a:r>
            <a:r>
              <a:rPr lang="en-US" dirty="0" smtClean="0"/>
              <a:t> is used for this identification.</a:t>
            </a:r>
          </a:p>
          <a:p>
            <a:r>
              <a:rPr lang="en-US" dirty="0" smtClean="0">
                <a:solidFill>
                  <a:srgbClr val="00B050"/>
                </a:solidFill>
              </a:rPr>
              <a:t>ALEXNET </a:t>
            </a:r>
            <a:r>
              <a:rPr lang="en-US" dirty="0" smtClean="0"/>
              <a:t>completely revolutionized the  field.</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990600" y="685800"/>
            <a:ext cx="7137042" cy="53340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533400" y="533399"/>
            <a:ext cx="7848600" cy="5982321"/>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Deep Neural Net</a:t>
            </a:r>
            <a:endParaRPr lang="en-US" dirty="0"/>
          </a:p>
        </p:txBody>
      </p:sp>
      <p:sp>
        <p:nvSpPr>
          <p:cNvPr id="3" name="Content Placeholder 2"/>
          <p:cNvSpPr>
            <a:spLocks noGrp="1"/>
          </p:cNvSpPr>
          <p:nvPr>
            <p:ph idx="1"/>
          </p:nvPr>
        </p:nvSpPr>
        <p:spPr/>
        <p:txBody>
          <a:bodyPr/>
          <a:lstStyle/>
          <a:p>
            <a:r>
              <a:rPr lang="en-US" dirty="0" smtClean="0"/>
              <a:t>The fundamental goal in applying deep learning to computer vision is to remove the cumbersome, and ultimately limiting, feature selection process.</a:t>
            </a:r>
          </a:p>
          <a:p>
            <a:r>
              <a:rPr lang="en-US" dirty="0" smtClean="0"/>
              <a:t>MNIST dataset : 28 x 28 pixels and were black and white.</a:t>
            </a:r>
          </a:p>
          <a:p>
            <a:r>
              <a:rPr lang="en-US" dirty="0" smtClean="0"/>
              <a:t>neuron in a fully connected hidden layer would have 784 incoming weights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0" y="304800"/>
            <a:ext cx="8798053" cy="58674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a:bodyPr>
          <a:lstStyle/>
          <a:p>
            <a:r>
              <a:rPr lang="en-US" dirty="0" smtClean="0"/>
              <a:t>Inspired by how human vision works, layers of a </a:t>
            </a:r>
            <a:r>
              <a:rPr lang="en-US" dirty="0" err="1" smtClean="0"/>
              <a:t>convolutional</a:t>
            </a:r>
            <a:r>
              <a:rPr lang="en-US" dirty="0" smtClean="0"/>
              <a:t> network have neurons arranged in three dimensions, so layers have a width, height, and depth.</a:t>
            </a:r>
          </a:p>
          <a:p>
            <a:r>
              <a:rPr lang="en-US" dirty="0" smtClean="0"/>
              <a:t>neurons in a </a:t>
            </a:r>
            <a:r>
              <a:rPr lang="en-US" dirty="0" err="1" smtClean="0"/>
              <a:t>convolutional</a:t>
            </a:r>
            <a:r>
              <a:rPr lang="en-US" dirty="0" smtClean="0"/>
              <a:t> layer are only connected to a small, local region of the preceding layer, so we avoid the wastefulness of fully-connected neurons. </a:t>
            </a:r>
          </a:p>
          <a:p>
            <a:r>
              <a:rPr lang="en-US" dirty="0" smtClean="0"/>
              <a:t>A </a:t>
            </a:r>
            <a:r>
              <a:rPr lang="en-US" dirty="0" err="1" smtClean="0"/>
              <a:t>convolutional</a:t>
            </a:r>
            <a:r>
              <a:rPr lang="en-US" dirty="0" smtClean="0"/>
              <a:t> layer’s function can be expressed simply: it processes a three-dimensional volume of information to produce a new 3D volume of information.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228601" y="228600"/>
            <a:ext cx="8905630" cy="63246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US" dirty="0" smtClean="0"/>
              <a:t>Filters and Feature Maps</a:t>
            </a:r>
            <a:endParaRPr lang="en-US" dirty="0"/>
          </a:p>
        </p:txBody>
      </p:sp>
      <p:sp>
        <p:nvSpPr>
          <p:cNvPr id="3" name="Content Placeholder 2"/>
          <p:cNvSpPr>
            <a:spLocks noGrp="1"/>
          </p:cNvSpPr>
          <p:nvPr>
            <p:ph idx="1"/>
          </p:nvPr>
        </p:nvSpPr>
        <p:spPr>
          <a:xfrm>
            <a:off x="228600" y="838200"/>
            <a:ext cx="8458200" cy="6019800"/>
          </a:xfrm>
        </p:spPr>
        <p:txBody>
          <a:bodyPr>
            <a:normAutofit fontScale="85000" lnSpcReduction="20000"/>
          </a:bodyPr>
          <a:lstStyle/>
          <a:p>
            <a:r>
              <a:rPr lang="en-US" dirty="0"/>
              <a:t>P</a:t>
            </a:r>
            <a:r>
              <a:rPr lang="en-US" dirty="0" smtClean="0"/>
              <a:t>arts of the visual cortex are responsible for detecting edges with the help of an experiment.</a:t>
            </a:r>
          </a:p>
          <a:p>
            <a:r>
              <a:rPr lang="en-US" dirty="0" smtClean="0">
                <a:solidFill>
                  <a:srgbClr val="FF0000"/>
                </a:solidFill>
              </a:rPr>
              <a:t>Scientists:</a:t>
            </a:r>
            <a:r>
              <a:rPr lang="en-US" dirty="0" smtClean="0"/>
              <a:t>- inserted electrodes into the brain of a cat and projected black-and-white patterns on the  neurons fired only when there were vertical lines, others when there were horizontal lines, and still others when the lines were at particular angles.</a:t>
            </a:r>
          </a:p>
          <a:p>
            <a:r>
              <a:rPr lang="en-US" dirty="0" smtClean="0"/>
              <a:t>visual cortex was organized in layers. </a:t>
            </a:r>
          </a:p>
          <a:p>
            <a:r>
              <a:rPr lang="en-US" dirty="0" smtClean="0"/>
              <a:t>Each layer is responsible for building on the features detected in the previous layers—from lines, to contours, to shapes, to entire objects.</a:t>
            </a:r>
          </a:p>
          <a:p>
            <a:r>
              <a:rPr lang="en-US" dirty="0" smtClean="0"/>
              <a:t>Within a layer of the visual cortex, the same feature detectors were replicated over the whole area in order to detect features in all parts of an image. </a:t>
            </a:r>
          </a:p>
          <a:p>
            <a:r>
              <a:rPr lang="en-US" dirty="0" smtClean="0"/>
              <a:t>These ideas significantly impacted the design of con‐ </a:t>
            </a:r>
            <a:r>
              <a:rPr lang="en-US" dirty="0" err="1" smtClean="0"/>
              <a:t>volutional</a:t>
            </a:r>
            <a:r>
              <a:rPr lang="en-US" dirty="0" smtClean="0"/>
              <a:t> neural </a:t>
            </a:r>
            <a:r>
              <a:rPr lang="en-US" dirty="0" err="1" smtClean="0"/>
              <a:t>nets.screen</a:t>
            </a:r>
            <a:r>
              <a:rPr lang="en-US" dirty="0" smtClean="0"/>
              <a:t>.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458200" cy="6172200"/>
          </a:xfrm>
        </p:spPr>
        <p:txBody>
          <a:bodyPr/>
          <a:lstStyle/>
          <a:p>
            <a:r>
              <a:rPr lang="en-US" dirty="0" smtClean="0"/>
              <a:t>A filter is essentially a feature detector, and to under‐ stand how it works,</a:t>
            </a:r>
            <a:endParaRPr lang="en-US" dirty="0"/>
          </a:p>
        </p:txBody>
      </p:sp>
      <p:pic>
        <p:nvPicPr>
          <p:cNvPr id="5122" name="Picture 2"/>
          <p:cNvPicPr>
            <a:picLocks noChangeAspect="1" noChangeArrowheads="1"/>
          </p:cNvPicPr>
          <p:nvPr/>
        </p:nvPicPr>
        <p:blipFill>
          <a:blip r:embed="rId2"/>
          <a:srcRect/>
          <a:stretch>
            <a:fillRect/>
          </a:stretch>
        </p:blipFill>
        <p:spPr bwMode="auto">
          <a:xfrm>
            <a:off x="609600" y="1524000"/>
            <a:ext cx="4914900" cy="4867275"/>
          </a:xfrm>
          <a:prstGeom prst="rect">
            <a:avLst/>
          </a:prstGeom>
          <a:noFill/>
          <a:ln w="9525">
            <a:noFill/>
            <a:miter lim="800000"/>
            <a:headEnd/>
            <a:tailEnd/>
          </a:ln>
          <a:effectLst/>
        </p:spPr>
      </p:pic>
      <p:sp>
        <p:nvSpPr>
          <p:cNvPr id="5" name="TextBox 4"/>
          <p:cNvSpPr txBox="1"/>
          <p:nvPr/>
        </p:nvSpPr>
        <p:spPr>
          <a:xfrm>
            <a:off x="5791200" y="1828800"/>
            <a:ext cx="3124200" cy="646331"/>
          </a:xfrm>
          <a:prstGeom prst="rect">
            <a:avLst/>
          </a:prstGeom>
          <a:noFill/>
        </p:spPr>
        <p:txBody>
          <a:bodyPr wrap="square" rtlCol="0">
            <a:spAutoFit/>
          </a:bodyPr>
          <a:lstStyle/>
          <a:p>
            <a:r>
              <a:rPr lang="en-US" dirty="0" smtClean="0"/>
              <a:t>Consider a toy image and how this image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Feature  in toy image</a:t>
            </a:r>
            <a:endParaRPr lang="en-US" dirty="0"/>
          </a:p>
        </p:txBody>
      </p:sp>
      <p:sp>
        <p:nvSpPr>
          <p:cNvPr id="3" name="Content Placeholder 2"/>
          <p:cNvSpPr>
            <a:spLocks noGrp="1"/>
          </p:cNvSpPr>
          <p:nvPr>
            <p:ph idx="1"/>
          </p:nvPr>
        </p:nvSpPr>
        <p:spPr>
          <a:xfrm>
            <a:off x="304800" y="1143000"/>
            <a:ext cx="8382000" cy="5486400"/>
          </a:xfrm>
        </p:spPr>
        <p:txBody>
          <a:bodyPr>
            <a:normAutofit fontScale="85000" lnSpcReduction="20000"/>
          </a:bodyPr>
          <a:lstStyle/>
          <a:p>
            <a:r>
              <a:rPr lang="en-US" dirty="0" smtClean="0"/>
              <a:t>Let’s say that we want to detect vertical and horizontal lines in the image. </a:t>
            </a:r>
          </a:p>
          <a:p>
            <a:r>
              <a:rPr lang="en-US" dirty="0" smtClean="0"/>
              <a:t>One approach would be to use an appropriate </a:t>
            </a:r>
            <a:r>
              <a:rPr lang="en-US" dirty="0" smtClean="0">
                <a:solidFill>
                  <a:srgbClr val="00B050"/>
                </a:solidFill>
              </a:rPr>
              <a:t>feature detector.</a:t>
            </a:r>
          </a:p>
          <a:p>
            <a:r>
              <a:rPr lang="en-US" dirty="0" smtClean="0"/>
              <a:t>to </a:t>
            </a:r>
            <a:r>
              <a:rPr lang="en-US" dirty="0" smtClean="0">
                <a:solidFill>
                  <a:srgbClr val="00B050"/>
                </a:solidFill>
              </a:rPr>
              <a:t>detect vertical lines, we would use the feature detector </a:t>
            </a:r>
            <a:r>
              <a:rPr lang="en-US" dirty="0" smtClean="0"/>
              <a:t>on the top, slide it across the entirety of the image, and at every step check if we have a match.</a:t>
            </a:r>
          </a:p>
          <a:p>
            <a:r>
              <a:rPr lang="en-US" dirty="0" smtClean="0"/>
              <a:t> We keep track of our answers in the matrix in the top right. If there’s a </a:t>
            </a:r>
            <a:r>
              <a:rPr lang="en-US" dirty="0" smtClean="0">
                <a:solidFill>
                  <a:srgbClr val="FF0000"/>
                </a:solidFill>
              </a:rPr>
              <a:t>match,</a:t>
            </a:r>
            <a:r>
              <a:rPr lang="en-US" dirty="0" smtClean="0"/>
              <a:t> we </a:t>
            </a:r>
            <a:r>
              <a:rPr lang="en-US" dirty="0" smtClean="0">
                <a:solidFill>
                  <a:srgbClr val="FF0000"/>
                </a:solidFill>
              </a:rPr>
              <a:t>shade the appropriate box black</a:t>
            </a:r>
            <a:r>
              <a:rPr lang="en-US" dirty="0" smtClean="0"/>
              <a:t>. If there isn’t, we leave it white.</a:t>
            </a:r>
          </a:p>
          <a:p>
            <a:r>
              <a:rPr lang="en-US" dirty="0" smtClean="0"/>
              <a:t> This result is our feature map</a:t>
            </a:r>
          </a:p>
          <a:p>
            <a:r>
              <a:rPr lang="en-US" dirty="0" smtClean="0"/>
              <a:t>We can do the same for the horizontal line detector (bottom), resulting in the feature map in the bottom-right corner.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304800" y="381000"/>
            <a:ext cx="8610600" cy="62484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fontScale="85000" lnSpcReduction="20000"/>
          </a:bodyPr>
          <a:lstStyle/>
          <a:p>
            <a:r>
              <a:rPr lang="en-US" dirty="0" smtClean="0"/>
              <a:t>This operation is called a </a:t>
            </a:r>
            <a:r>
              <a:rPr lang="en-US" dirty="0" smtClean="0">
                <a:solidFill>
                  <a:srgbClr val="FF0000"/>
                </a:solidFill>
              </a:rPr>
              <a:t>convolution</a:t>
            </a:r>
            <a:r>
              <a:rPr lang="en-US" dirty="0" smtClean="0"/>
              <a:t>. </a:t>
            </a:r>
          </a:p>
          <a:p>
            <a:r>
              <a:rPr lang="en-US" dirty="0" smtClean="0"/>
              <a:t>We take a filter and we multiply it over the entire area of an input image. </a:t>
            </a:r>
          </a:p>
          <a:p>
            <a:r>
              <a:rPr lang="en-US" dirty="0" smtClean="0"/>
              <a:t>layers of neurons in a feed forward neural net represent either the </a:t>
            </a:r>
            <a:r>
              <a:rPr lang="en-US" dirty="0" smtClean="0">
                <a:solidFill>
                  <a:srgbClr val="FF0000"/>
                </a:solidFill>
              </a:rPr>
              <a:t>original image or a feature map. </a:t>
            </a:r>
          </a:p>
          <a:p>
            <a:r>
              <a:rPr lang="en-US" dirty="0" smtClean="0"/>
              <a:t>Filters represent combinations of connections.</a:t>
            </a:r>
          </a:p>
          <a:p>
            <a:r>
              <a:rPr lang="en-US" dirty="0" smtClean="0"/>
              <a:t>Connections of the same color are restricted to always have the same weight. </a:t>
            </a:r>
          </a:p>
          <a:p>
            <a:r>
              <a:rPr lang="en-US" dirty="0" smtClean="0"/>
              <a:t>We can achieve this by initializing all the connections in a group with identical weights and by always averaging the weight updates of a group before applying them at the end of each iteration of back-propagation. </a:t>
            </a:r>
          </a:p>
          <a:p>
            <a:r>
              <a:rPr lang="en-US" dirty="0" smtClean="0"/>
              <a:t>The output layer is the </a:t>
            </a:r>
            <a:r>
              <a:rPr lang="en-US" dirty="0" smtClean="0">
                <a:solidFill>
                  <a:srgbClr val="FF0000"/>
                </a:solidFill>
              </a:rPr>
              <a:t>feature map </a:t>
            </a:r>
            <a:r>
              <a:rPr lang="en-US" dirty="0" smtClean="0"/>
              <a:t>generated by this filter. A neuron in the feature map is activated if the filter contributing to its activity detected an appropriate feature at the corresponding position in the previous layer.</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304800" y="304800"/>
            <a:ext cx="8534400" cy="5562600"/>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2743200" y="5867400"/>
            <a:ext cx="3352800" cy="9906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763000" cy="6172200"/>
          </a:xfrm>
        </p:spPr>
        <p:txBody>
          <a:bodyPr>
            <a:normAutofit fontScale="92500"/>
          </a:bodyPr>
          <a:lstStyle/>
          <a:p>
            <a:r>
              <a:rPr lang="en-US" dirty="0" smtClean="0"/>
              <a:t>They operate on the entire volume of feature</a:t>
            </a:r>
          </a:p>
          <a:p>
            <a:pPr>
              <a:buNone/>
            </a:pPr>
            <a:r>
              <a:rPr lang="en-US" dirty="0" smtClean="0"/>
              <a:t>maps that have been generated at a particular layer.</a:t>
            </a:r>
          </a:p>
          <a:p>
            <a:r>
              <a:rPr lang="en-US" dirty="0" smtClean="0"/>
              <a:t>In other words, to make decisions about the existence of a face, we must </a:t>
            </a:r>
            <a:r>
              <a:rPr lang="en-US" dirty="0" smtClean="0">
                <a:solidFill>
                  <a:srgbClr val="FF0000"/>
                </a:solidFill>
              </a:rPr>
              <a:t>combine evidence over multiple feature maps.</a:t>
            </a:r>
          </a:p>
          <a:p>
            <a:r>
              <a:rPr lang="en-US" dirty="0" smtClean="0"/>
              <a:t>This is equally necessary for an input image that is of full color. These images have pixels represented as RGB values, we require three slices in the input volume (one slice for each color). </a:t>
            </a:r>
          </a:p>
          <a:p>
            <a:r>
              <a:rPr lang="en-US" dirty="0" smtClean="0"/>
              <a:t>feature maps must be able to operate over volumes, not just areas.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457200" y="381000"/>
            <a:ext cx="8370026" cy="4191000"/>
          </a:xfrm>
          <a:prstGeom prst="rect">
            <a:avLst/>
          </a:prstGeom>
          <a:noFill/>
          <a:ln w="9525">
            <a:noFill/>
            <a:miter lim="800000"/>
            <a:headEnd/>
            <a:tailEnd/>
          </a:ln>
          <a:effectLst/>
        </p:spPr>
      </p:pic>
      <p:sp>
        <p:nvSpPr>
          <p:cNvPr id="3" name="Rectangle 2"/>
          <p:cNvSpPr/>
          <p:nvPr/>
        </p:nvSpPr>
        <p:spPr>
          <a:xfrm>
            <a:off x="152400" y="4876800"/>
            <a:ext cx="8686800" cy="1569660"/>
          </a:xfrm>
          <a:prstGeom prst="rect">
            <a:avLst/>
          </a:prstGeom>
        </p:spPr>
        <p:txBody>
          <a:bodyPr wrap="square">
            <a:spAutoFit/>
          </a:bodyPr>
          <a:lstStyle/>
          <a:p>
            <a:pPr>
              <a:buFont typeface="Arial" pitchFamily="34" charset="0"/>
              <a:buChar char="•"/>
            </a:pPr>
            <a:r>
              <a:rPr lang="en-US" sz="2400" dirty="0" smtClean="0"/>
              <a:t>Each cell in the input volume is a neuron. </a:t>
            </a:r>
          </a:p>
          <a:p>
            <a:pPr>
              <a:buFont typeface="Arial" pitchFamily="34" charset="0"/>
              <a:buChar char="•"/>
            </a:pPr>
            <a:r>
              <a:rPr lang="en-US" sz="2400" dirty="0" smtClean="0"/>
              <a:t>A local portion is multiplied with a filter (corresponding to weights in the convolution layer) to produce a neuron in a filter map in the following volumetric layer of neurons.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28600" y="304800"/>
            <a:ext cx="8534400" cy="4343400"/>
          </a:xfrm>
          <a:prstGeom prst="rect">
            <a:avLst/>
          </a:prstGeom>
          <a:noFill/>
          <a:ln w="9525">
            <a:noFill/>
            <a:miter lim="800000"/>
            <a:headEnd/>
            <a:tailEnd/>
          </a:ln>
          <a:effectLst/>
        </p:spPr>
      </p:pic>
      <p:sp>
        <p:nvSpPr>
          <p:cNvPr id="3" name="Rectangle 2"/>
          <p:cNvSpPr/>
          <p:nvPr/>
        </p:nvSpPr>
        <p:spPr>
          <a:xfrm>
            <a:off x="228600" y="4611231"/>
            <a:ext cx="8763000" cy="1938992"/>
          </a:xfrm>
          <a:prstGeom prst="rect">
            <a:avLst/>
          </a:prstGeom>
        </p:spPr>
        <p:txBody>
          <a:bodyPr wrap="square">
            <a:spAutoFit/>
          </a:bodyPr>
          <a:lstStyle/>
          <a:p>
            <a:pPr>
              <a:buFont typeface="Arial" pitchFamily="34" charset="0"/>
              <a:buChar char="•"/>
            </a:pPr>
            <a:r>
              <a:rPr lang="en-US" sz="2000" dirty="0" err="1" smtClean="0"/>
              <a:t>Convolutional</a:t>
            </a:r>
            <a:r>
              <a:rPr lang="en-US" sz="2000" dirty="0" smtClean="0"/>
              <a:t> layer (which consists of a set of filters) converts one volume of values into another volume of values. </a:t>
            </a:r>
          </a:p>
          <a:p>
            <a:pPr>
              <a:buFont typeface="Arial" pitchFamily="34" charset="0"/>
              <a:buChar char="•"/>
            </a:pPr>
            <a:r>
              <a:rPr lang="en-US" sz="2000" dirty="0" smtClean="0"/>
              <a:t>The depth of the filter corresponds to the depth of the input volume. This is so that the filter can combine information from all the features that have been learned. The depth of the output volume of a convolution layer is equivalent to the number of filters in that layer, because each filter produces its own slice.</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52400" y="1371600"/>
            <a:ext cx="8763000" cy="4857750"/>
          </a:xfrm>
          <a:prstGeom prst="rect">
            <a:avLst/>
          </a:prstGeom>
          <a:noFill/>
          <a:ln w="9525">
            <a:noFill/>
            <a:miter lim="800000"/>
            <a:headEnd/>
            <a:tailEnd/>
          </a:ln>
          <a:effectLst/>
        </p:spPr>
      </p:pic>
      <p:sp>
        <p:nvSpPr>
          <p:cNvPr id="5" name="TextBox 4"/>
          <p:cNvSpPr txBox="1"/>
          <p:nvPr/>
        </p:nvSpPr>
        <p:spPr>
          <a:xfrm>
            <a:off x="990600" y="228600"/>
            <a:ext cx="7315200" cy="461665"/>
          </a:xfrm>
          <a:prstGeom prst="rect">
            <a:avLst/>
          </a:prstGeom>
          <a:noFill/>
        </p:spPr>
        <p:txBody>
          <a:bodyPr wrap="square" rtlCol="0">
            <a:spAutoFit/>
          </a:bodyPr>
          <a:lstStyle/>
          <a:p>
            <a:r>
              <a:rPr lang="en-US" sz="2400" dirty="0" smtClean="0"/>
              <a:t>The relationships can be depicted in the figure below as :</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Full Description of the </a:t>
            </a:r>
            <a:r>
              <a:rPr lang="en-US" dirty="0" err="1" smtClean="0">
                <a:solidFill>
                  <a:srgbClr val="FF0000"/>
                </a:solidFill>
              </a:rPr>
              <a:t>Convolutional</a:t>
            </a:r>
            <a:r>
              <a:rPr lang="en-US" dirty="0" smtClean="0">
                <a:solidFill>
                  <a:srgbClr val="FF0000"/>
                </a:solidFill>
              </a:rPr>
              <a:t> Layer</a:t>
            </a:r>
            <a:endParaRPr lang="en-US" dirty="0">
              <a:solidFill>
                <a:srgbClr val="FF0000"/>
              </a:solidFill>
            </a:endParaRPr>
          </a:p>
        </p:txBody>
      </p:sp>
      <p:sp>
        <p:nvSpPr>
          <p:cNvPr id="3" name="Content Placeholder 2"/>
          <p:cNvSpPr>
            <a:spLocks noGrp="1"/>
          </p:cNvSpPr>
          <p:nvPr>
            <p:ph idx="1"/>
          </p:nvPr>
        </p:nvSpPr>
        <p:spPr>
          <a:xfrm>
            <a:off x="228600" y="1600200"/>
            <a:ext cx="8763000" cy="5029200"/>
          </a:xfrm>
        </p:spPr>
        <p:txBody>
          <a:bodyPr>
            <a:noAutofit/>
          </a:bodyPr>
          <a:lstStyle/>
          <a:p>
            <a:r>
              <a:rPr lang="en-US" sz="2400" dirty="0" smtClean="0"/>
              <a:t>First, a  </a:t>
            </a:r>
            <a:r>
              <a:rPr lang="en-US" sz="2400" dirty="0" err="1" smtClean="0"/>
              <a:t>convolutional</a:t>
            </a:r>
            <a:r>
              <a:rPr lang="en-US" sz="2400" dirty="0" smtClean="0"/>
              <a:t> layer takes in an input volume. </a:t>
            </a:r>
          </a:p>
          <a:p>
            <a:r>
              <a:rPr lang="en-US" sz="2400" dirty="0" smtClean="0"/>
              <a:t>This input volume has the following characteristics:</a:t>
            </a:r>
          </a:p>
          <a:p>
            <a:pPr marL="457200" indent="-457200">
              <a:buNone/>
            </a:pPr>
            <a:r>
              <a:rPr lang="en-US" sz="2400" dirty="0" smtClean="0"/>
              <a:t>• Its </a:t>
            </a:r>
            <a:r>
              <a:rPr lang="en-US" sz="2400" i="1" dirty="0" smtClean="0"/>
              <a:t>width w</a:t>
            </a:r>
            <a:r>
              <a:rPr lang="en-US" sz="2400" i="1" baseline="-25000" dirty="0" smtClean="0"/>
              <a:t>in</a:t>
            </a:r>
          </a:p>
          <a:p>
            <a:pPr marL="457200" indent="-457200">
              <a:buNone/>
            </a:pPr>
            <a:r>
              <a:rPr lang="en-US" sz="2400" dirty="0" smtClean="0"/>
              <a:t>• Its </a:t>
            </a:r>
            <a:r>
              <a:rPr lang="en-US" sz="2400" i="1" dirty="0" smtClean="0"/>
              <a:t>height </a:t>
            </a:r>
            <a:r>
              <a:rPr lang="en-US" sz="2400" i="1" dirty="0" err="1" smtClean="0"/>
              <a:t>h</a:t>
            </a:r>
            <a:r>
              <a:rPr lang="en-US" sz="2400" i="1" baseline="-25000" dirty="0" err="1" smtClean="0"/>
              <a:t>in</a:t>
            </a:r>
            <a:endParaRPr lang="en-US" sz="2400" i="1" baseline="-25000" dirty="0" smtClean="0"/>
          </a:p>
          <a:p>
            <a:pPr marL="457200" indent="-457200">
              <a:buNone/>
            </a:pPr>
            <a:r>
              <a:rPr lang="en-US" sz="2400" dirty="0" smtClean="0"/>
              <a:t>• Its </a:t>
            </a:r>
            <a:r>
              <a:rPr lang="en-US" sz="2400" i="1" dirty="0" smtClean="0"/>
              <a:t>depth d</a:t>
            </a:r>
            <a:r>
              <a:rPr lang="en-US" sz="2400" i="1" baseline="-25000" dirty="0" smtClean="0"/>
              <a:t>in</a:t>
            </a:r>
          </a:p>
          <a:p>
            <a:pPr marL="457200" indent="-457200">
              <a:buNone/>
            </a:pPr>
            <a:r>
              <a:rPr lang="en-US" sz="2400" dirty="0" smtClean="0"/>
              <a:t>• Its </a:t>
            </a:r>
            <a:r>
              <a:rPr lang="en-US" sz="2400" i="1" dirty="0" smtClean="0"/>
              <a:t>zero padding p</a:t>
            </a:r>
          </a:p>
          <a:p>
            <a:r>
              <a:rPr lang="en-US" sz="2400" dirty="0" smtClean="0"/>
              <a:t>This volume is processed by a total of </a:t>
            </a:r>
            <a:r>
              <a:rPr lang="en-US" sz="2400" i="1" dirty="0" smtClean="0"/>
              <a:t>k filters, which represent the weights and </a:t>
            </a:r>
            <a:r>
              <a:rPr lang="en-US" sz="2400" i="1" dirty="0" smtClean="0"/>
              <a:t>connections </a:t>
            </a:r>
            <a:r>
              <a:rPr lang="en-US" sz="2400" dirty="0" smtClean="0"/>
              <a:t>in </a:t>
            </a:r>
            <a:r>
              <a:rPr lang="en-US" sz="2400" dirty="0" smtClean="0"/>
              <a:t>the </a:t>
            </a:r>
            <a:r>
              <a:rPr lang="en-US" sz="2400" dirty="0" err="1" smtClean="0"/>
              <a:t>convolutional</a:t>
            </a:r>
            <a:r>
              <a:rPr lang="en-US" sz="2400" dirty="0" smtClean="0"/>
              <a:t> network. </a:t>
            </a:r>
            <a:endParaRPr lang="en-US" sz="2400" dirty="0" smtClean="0"/>
          </a:p>
          <a:p>
            <a:r>
              <a:rPr lang="en-US" sz="2400" dirty="0" smtClean="0"/>
              <a:t>These </a:t>
            </a:r>
            <a:r>
              <a:rPr lang="en-US" sz="2400" dirty="0" smtClean="0"/>
              <a:t>filters have a number of hyper-parameters, which are described as follows: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382000" cy="6324600"/>
          </a:xfrm>
        </p:spPr>
        <p:txBody>
          <a:bodyPr>
            <a:normAutofit/>
          </a:bodyPr>
          <a:lstStyle/>
          <a:p>
            <a:pPr>
              <a:buNone/>
            </a:pPr>
            <a:r>
              <a:rPr lang="en-US" dirty="0" smtClean="0"/>
              <a:t>• Their </a:t>
            </a:r>
            <a:r>
              <a:rPr lang="en-US" i="1" dirty="0" smtClean="0"/>
              <a:t>spatial extent ‘e’, which is equal to the filter’s height and width.</a:t>
            </a:r>
          </a:p>
          <a:p>
            <a:pPr>
              <a:buNone/>
            </a:pPr>
            <a:r>
              <a:rPr lang="en-US" dirty="0" smtClean="0"/>
              <a:t>• Their </a:t>
            </a:r>
            <a:r>
              <a:rPr lang="en-US" i="1" dirty="0" smtClean="0"/>
              <a:t>stride ‘s’, or the distance between consecutive applications of the filter on the </a:t>
            </a:r>
            <a:r>
              <a:rPr lang="en-US" dirty="0" smtClean="0"/>
              <a:t>input volume. </a:t>
            </a:r>
          </a:p>
          <a:p>
            <a:r>
              <a:rPr lang="en-US" dirty="0" smtClean="0"/>
              <a:t>If we use a stride of 1, we get the full convolution.</a:t>
            </a:r>
          </a:p>
          <a:p>
            <a:pPr>
              <a:buNone/>
            </a:pPr>
            <a:r>
              <a:rPr lang="en-US" dirty="0" smtClean="0"/>
              <a:t>• The bias </a:t>
            </a:r>
            <a:r>
              <a:rPr lang="en-US" i="1" dirty="0" smtClean="0"/>
              <a:t>b (a parameter learned like the values in the filter) which is added to </a:t>
            </a:r>
            <a:r>
              <a:rPr lang="en-US" dirty="0" smtClean="0"/>
              <a:t>each component of the convolution.</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228600" y="457200"/>
            <a:ext cx="8686800" cy="54102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228600" y="533400"/>
            <a:ext cx="8610600" cy="2133600"/>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685800" y="2895600"/>
            <a:ext cx="1981200" cy="685800"/>
          </a:xfrm>
          <a:prstGeom prst="rect">
            <a:avLst/>
          </a:prstGeom>
          <a:noFill/>
          <a:ln w="9525">
            <a:noFill/>
            <a:miter lim="800000"/>
            <a:headEnd/>
            <a:tailEnd/>
          </a:ln>
          <a:effectLst/>
        </p:spPr>
      </p:pic>
      <p:pic>
        <p:nvPicPr>
          <p:cNvPr id="5124" name="Picture 4"/>
          <p:cNvPicPr>
            <a:picLocks noChangeAspect="1" noChangeArrowheads="1"/>
          </p:cNvPicPr>
          <p:nvPr/>
        </p:nvPicPr>
        <p:blipFill>
          <a:blip r:embed="rId4"/>
          <a:srcRect/>
          <a:stretch>
            <a:fillRect/>
          </a:stretch>
        </p:blipFill>
        <p:spPr bwMode="auto">
          <a:xfrm>
            <a:off x="304800" y="3581400"/>
            <a:ext cx="8610600" cy="16764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0" y="0"/>
            <a:ext cx="8458200" cy="6248400"/>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0" y="6019800"/>
            <a:ext cx="8610600" cy="12192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457200" y="304800"/>
            <a:ext cx="8229600" cy="65532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10600" cy="6553200"/>
          </a:xfrm>
        </p:spPr>
        <p:txBody>
          <a:bodyPr>
            <a:noAutofit/>
          </a:bodyPr>
          <a:lstStyle/>
          <a:p>
            <a:r>
              <a:rPr lang="en-US" sz="2400" dirty="0" smtClean="0"/>
              <a:t>Generally, it’s wise to keep filter sizes small (size 3 x 3 or 5 x 5). </a:t>
            </a:r>
          </a:p>
          <a:p>
            <a:r>
              <a:rPr lang="en-US" sz="2400" dirty="0" smtClean="0"/>
              <a:t> larger sizes are used (7 x 7) but only in the first </a:t>
            </a:r>
            <a:r>
              <a:rPr lang="en-US" sz="2400" dirty="0" err="1" smtClean="0"/>
              <a:t>convolutional</a:t>
            </a:r>
            <a:r>
              <a:rPr lang="en-US" sz="2400" dirty="0" smtClean="0"/>
              <a:t> layer. </a:t>
            </a:r>
          </a:p>
          <a:p>
            <a:r>
              <a:rPr lang="en-US" sz="2400" dirty="0" smtClean="0"/>
              <a:t>Having more small filters is an easy way to achieve </a:t>
            </a:r>
            <a:r>
              <a:rPr lang="en-US" sz="2400" dirty="0" smtClean="0">
                <a:solidFill>
                  <a:srgbClr val="00B050"/>
                </a:solidFill>
              </a:rPr>
              <a:t>high representational power</a:t>
            </a:r>
            <a:r>
              <a:rPr lang="en-US" sz="2400" dirty="0" smtClean="0"/>
              <a:t> while also incurring a smaller number of parameters. </a:t>
            </a:r>
          </a:p>
          <a:p>
            <a:r>
              <a:rPr lang="en-US" sz="2400" dirty="0" smtClean="0"/>
              <a:t>use </a:t>
            </a:r>
            <a:r>
              <a:rPr lang="en-US" sz="2400" dirty="0" smtClean="0"/>
              <a:t>a stride of 1 to capture all useful information in the feature maps, and a </a:t>
            </a:r>
            <a:r>
              <a:rPr lang="en-US" sz="2400" dirty="0" smtClean="0"/>
              <a:t>0</a:t>
            </a:r>
            <a:r>
              <a:rPr lang="en-US" sz="2400" dirty="0" smtClean="0"/>
              <a:t> </a:t>
            </a:r>
            <a:r>
              <a:rPr lang="en-US" sz="2400" dirty="0" smtClean="0"/>
              <a:t>padding that keeps the output volume’s height and width equivalent to the input volume’s height and width.</a:t>
            </a:r>
          </a:p>
          <a:p>
            <a:r>
              <a:rPr lang="en-US" sz="2400" dirty="0" smtClean="0"/>
              <a:t>Tensor Flow provides us with a convenient operation to easily perform a convolution</a:t>
            </a:r>
          </a:p>
          <a:p>
            <a:pPr>
              <a:buNone/>
            </a:pPr>
            <a:r>
              <a:rPr lang="en-US" sz="2400" b="1" dirty="0" smtClean="0">
                <a:solidFill>
                  <a:srgbClr val="FF0000"/>
                </a:solidFill>
              </a:rPr>
              <a:t>	</a:t>
            </a:r>
            <a:endParaRPr lang="en-US" sz="2400" b="1" dirty="0" smtClean="0">
              <a:solidFill>
                <a:srgbClr val="FF0000"/>
              </a:solidFill>
            </a:endParaRPr>
          </a:p>
          <a:p>
            <a:pPr>
              <a:buNone/>
            </a:pPr>
            <a:r>
              <a:rPr lang="en-US" sz="2400" b="1" dirty="0" smtClean="0">
                <a:solidFill>
                  <a:srgbClr val="FF0000"/>
                </a:solidFill>
              </a:rPr>
              <a:t>	</a:t>
            </a:r>
            <a:r>
              <a:rPr lang="en-US" sz="2400" b="1" dirty="0" smtClean="0">
                <a:solidFill>
                  <a:srgbClr val="FF0000"/>
                </a:solidFill>
              </a:rPr>
              <a:t>		</a:t>
            </a:r>
            <a:r>
              <a:rPr lang="en-US" sz="2400" b="1" dirty="0" smtClean="0">
                <a:solidFill>
                  <a:srgbClr val="FF0000"/>
                </a:solidFill>
              </a:rPr>
              <a:t>tf.nn.conv2d(input</a:t>
            </a:r>
            <a:r>
              <a:rPr lang="en-US" sz="2400" b="1" dirty="0" smtClean="0">
                <a:solidFill>
                  <a:srgbClr val="FF0000"/>
                </a:solidFill>
              </a:rPr>
              <a:t>, filter, strides, padding,</a:t>
            </a:r>
          </a:p>
          <a:p>
            <a:pPr>
              <a:buNone/>
            </a:pPr>
            <a:r>
              <a:rPr lang="en-US" sz="2400" b="1" dirty="0" smtClean="0">
                <a:solidFill>
                  <a:srgbClr val="FF0000"/>
                </a:solidFill>
              </a:rPr>
              <a:t>	</a:t>
            </a:r>
            <a:r>
              <a:rPr lang="en-US" sz="2400" b="1" dirty="0" smtClean="0">
                <a:solidFill>
                  <a:srgbClr val="FF0000"/>
                </a:solidFill>
              </a:rPr>
              <a:t>		</a:t>
            </a:r>
            <a:r>
              <a:rPr lang="en-US" sz="2400" b="1" dirty="0" err="1" smtClean="0">
                <a:solidFill>
                  <a:srgbClr val="FF0000"/>
                </a:solidFill>
              </a:rPr>
              <a:t>use_cudnn_on_gpu</a:t>
            </a:r>
            <a:r>
              <a:rPr lang="en-US" sz="2400" b="1" dirty="0" smtClean="0">
                <a:solidFill>
                  <a:srgbClr val="FF0000"/>
                </a:solidFill>
              </a:rPr>
              <a:t>=</a:t>
            </a:r>
            <a:r>
              <a:rPr lang="en-US" sz="2400" b="1" dirty="0" err="1" smtClean="0">
                <a:solidFill>
                  <a:srgbClr val="FF0000"/>
                </a:solidFill>
              </a:rPr>
              <a:t>True,name</a:t>
            </a:r>
            <a:r>
              <a:rPr lang="en-US" sz="2400" b="1" dirty="0" smtClean="0">
                <a:solidFill>
                  <a:srgbClr val="FF0000"/>
                </a:solidFill>
              </a:rPr>
              <a:t>=None</a:t>
            </a:r>
            <a:r>
              <a:rPr lang="en-US" sz="2400" b="1" dirty="0" smtClean="0">
                <a:solidFill>
                  <a:srgbClr val="FF0000"/>
                </a:solidFill>
              </a:rPr>
              <a:t>)</a:t>
            </a:r>
            <a:endParaRPr lang="en-US" sz="2400" b="1"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762000"/>
          </a:xfrm>
        </p:spPr>
        <p:txBody>
          <a:bodyPr/>
          <a:lstStyle/>
          <a:p>
            <a:r>
              <a:rPr lang="en-US" b="1" dirty="0" smtClean="0">
                <a:solidFill>
                  <a:srgbClr val="0070C0"/>
                </a:solidFill>
              </a:rPr>
              <a:t>Max Pooling</a:t>
            </a:r>
            <a:endParaRPr lang="en-US" b="1" dirty="0">
              <a:solidFill>
                <a:srgbClr val="0070C0"/>
              </a:solidFill>
            </a:endParaRPr>
          </a:p>
        </p:txBody>
      </p:sp>
      <p:sp>
        <p:nvSpPr>
          <p:cNvPr id="3" name="Content Placeholder 2"/>
          <p:cNvSpPr>
            <a:spLocks noGrp="1"/>
          </p:cNvSpPr>
          <p:nvPr>
            <p:ph idx="1"/>
          </p:nvPr>
        </p:nvSpPr>
        <p:spPr>
          <a:xfrm>
            <a:off x="304800" y="1066800"/>
            <a:ext cx="8458200" cy="5638800"/>
          </a:xfrm>
        </p:spPr>
        <p:txBody>
          <a:bodyPr>
            <a:normAutofit/>
          </a:bodyPr>
          <a:lstStyle/>
          <a:p>
            <a:r>
              <a:rPr lang="en-US" dirty="0" smtClean="0"/>
              <a:t>To aggressively reduce </a:t>
            </a:r>
            <a:r>
              <a:rPr lang="en-US" dirty="0" smtClean="0">
                <a:solidFill>
                  <a:srgbClr val="00B050"/>
                </a:solidFill>
              </a:rPr>
              <a:t>dimensionality of feature </a:t>
            </a:r>
            <a:r>
              <a:rPr lang="en-US" dirty="0" smtClean="0"/>
              <a:t>maps and sharpen the located </a:t>
            </a:r>
            <a:r>
              <a:rPr lang="en-US" dirty="0" smtClean="0"/>
              <a:t>features</a:t>
            </a:r>
            <a:endParaRPr lang="en-US" dirty="0" smtClean="0"/>
          </a:p>
          <a:p>
            <a:r>
              <a:rPr lang="en-US" i="1" dirty="0" smtClean="0"/>
              <a:t>The </a:t>
            </a:r>
            <a:r>
              <a:rPr lang="en-US" dirty="0" smtClean="0"/>
              <a:t>essential idea behind max pooling is to break up </a:t>
            </a:r>
            <a:r>
              <a:rPr lang="en-US" dirty="0" smtClean="0">
                <a:solidFill>
                  <a:srgbClr val="FF0000"/>
                </a:solidFill>
              </a:rPr>
              <a:t>each feature map into equally sized tiles</a:t>
            </a:r>
            <a:r>
              <a:rPr lang="en-US" dirty="0" smtClean="0"/>
              <a:t>. </a:t>
            </a:r>
          </a:p>
          <a:p>
            <a:r>
              <a:rPr lang="en-US" dirty="0" smtClean="0"/>
              <a:t>Then we create a condensed feature map. </a:t>
            </a:r>
          </a:p>
          <a:p>
            <a:r>
              <a:rPr lang="en-US" dirty="0" smtClean="0"/>
              <a:t>we create a cell for each tile, compute the maximum value in the tile, and propagate this maximum value into the corresponding cell of the condensed feature map.</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srcRect/>
          <a:stretch>
            <a:fillRect/>
          </a:stretch>
        </p:blipFill>
        <p:spPr bwMode="auto">
          <a:xfrm>
            <a:off x="304800" y="381000"/>
            <a:ext cx="8610600" cy="56388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686800" cy="6324600"/>
          </a:xfrm>
        </p:spPr>
        <p:txBody>
          <a:bodyPr/>
          <a:lstStyle/>
          <a:p>
            <a:r>
              <a:rPr lang="en-US" dirty="0" smtClean="0"/>
              <a:t>More rigorously, we can describe a pooling layer with two parameters:</a:t>
            </a:r>
          </a:p>
          <a:p>
            <a:pPr marL="514350" indent="-514350">
              <a:buFont typeface="+mj-lt"/>
              <a:buAutoNum type="arabicPeriod"/>
            </a:pPr>
            <a:r>
              <a:rPr lang="en-US" dirty="0" smtClean="0"/>
              <a:t> </a:t>
            </a:r>
            <a:r>
              <a:rPr lang="en-US" dirty="0" smtClean="0"/>
              <a:t>Its spatial extent </a:t>
            </a:r>
            <a:r>
              <a:rPr lang="en-US" i="1" dirty="0" smtClean="0"/>
              <a:t>e</a:t>
            </a:r>
          </a:p>
          <a:p>
            <a:pPr marL="514350" indent="-514350">
              <a:buFont typeface="+mj-lt"/>
              <a:buAutoNum type="arabicPeriod"/>
            </a:pPr>
            <a:r>
              <a:rPr lang="en-US" dirty="0" smtClean="0"/>
              <a:t> </a:t>
            </a:r>
            <a:r>
              <a:rPr lang="en-US" dirty="0" smtClean="0"/>
              <a:t>Its stride </a:t>
            </a:r>
            <a:r>
              <a:rPr lang="en-US" i="1" dirty="0" smtClean="0"/>
              <a:t>s</a:t>
            </a:r>
          </a:p>
          <a:p>
            <a:r>
              <a:rPr lang="en-US" dirty="0" smtClean="0"/>
              <a:t>The first is the non-overlapping pooling layer with </a:t>
            </a:r>
            <a:r>
              <a:rPr lang="en-US" i="1" dirty="0" smtClean="0"/>
              <a:t>e = 2, s = 2. </a:t>
            </a:r>
          </a:p>
          <a:p>
            <a:r>
              <a:rPr lang="en-US" i="1" dirty="0" smtClean="0"/>
              <a:t>The second is the overlapping </a:t>
            </a:r>
            <a:r>
              <a:rPr lang="en-US" dirty="0" smtClean="0"/>
              <a:t>pooling layer with </a:t>
            </a:r>
            <a:r>
              <a:rPr lang="en-US" i="1" dirty="0" smtClean="0"/>
              <a:t>e = 3, s = 2. The resulting dimensions of each feature map are </a:t>
            </a:r>
            <a:r>
              <a:rPr lang="en-US" dirty="0" smtClean="0"/>
              <a:t>as follows:</a:t>
            </a:r>
          </a:p>
          <a:p>
            <a:endParaRPr lang="en-US" dirty="0"/>
          </a:p>
        </p:txBody>
      </p:sp>
      <p:pic>
        <p:nvPicPr>
          <p:cNvPr id="10243" name="Picture 3"/>
          <p:cNvPicPr>
            <a:picLocks noChangeAspect="1" noChangeArrowheads="1"/>
          </p:cNvPicPr>
          <p:nvPr/>
        </p:nvPicPr>
        <p:blipFill>
          <a:blip r:embed="rId2"/>
          <a:srcRect/>
          <a:stretch>
            <a:fillRect/>
          </a:stretch>
        </p:blipFill>
        <p:spPr bwMode="auto">
          <a:xfrm>
            <a:off x="2209800" y="5181600"/>
            <a:ext cx="4114800" cy="167640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686800" cy="6248400"/>
          </a:xfrm>
        </p:spPr>
        <p:txBody>
          <a:bodyPr>
            <a:normAutofit fontScale="85000" lnSpcReduction="10000"/>
          </a:bodyPr>
          <a:lstStyle/>
          <a:p>
            <a:pPr>
              <a:lnSpc>
                <a:spcPct val="120000"/>
              </a:lnSpc>
            </a:pPr>
            <a:r>
              <a:rPr lang="en-US" i="1" dirty="0" smtClean="0">
                <a:solidFill>
                  <a:srgbClr val="FF0000"/>
                </a:solidFill>
              </a:rPr>
              <a:t>locally invariant :</a:t>
            </a:r>
            <a:r>
              <a:rPr lang="en-US" i="1" dirty="0" smtClean="0"/>
              <a:t>This </a:t>
            </a:r>
            <a:r>
              <a:rPr lang="en-US" i="1" dirty="0" smtClean="0"/>
              <a:t>means that </a:t>
            </a:r>
            <a:r>
              <a:rPr lang="en-US" dirty="0" smtClean="0"/>
              <a:t>even if the inputs shift around a little bit, the output of the max pooling layer stays </a:t>
            </a:r>
            <a:r>
              <a:rPr lang="en-US" dirty="0" smtClean="0">
                <a:solidFill>
                  <a:srgbClr val="00B0F0"/>
                </a:solidFill>
              </a:rPr>
              <a:t>constant</a:t>
            </a:r>
            <a:r>
              <a:rPr lang="en-US" dirty="0" smtClean="0"/>
              <a:t>. </a:t>
            </a:r>
          </a:p>
          <a:p>
            <a:pPr>
              <a:lnSpc>
                <a:spcPct val="120000"/>
              </a:lnSpc>
            </a:pPr>
            <a:r>
              <a:rPr lang="en-US" dirty="0" smtClean="0"/>
              <a:t>enforcing </a:t>
            </a:r>
            <a:r>
              <a:rPr lang="en-US" dirty="0" smtClean="0"/>
              <a:t>large amounts of local invariance can destroy our network’s ability to carry important information. </a:t>
            </a:r>
          </a:p>
          <a:p>
            <a:pPr>
              <a:lnSpc>
                <a:spcPct val="120000"/>
              </a:lnSpc>
            </a:pPr>
            <a:r>
              <a:rPr lang="en-US" dirty="0" smtClean="0"/>
              <a:t>we </a:t>
            </a:r>
            <a:r>
              <a:rPr lang="en-US" dirty="0" smtClean="0"/>
              <a:t>usually keep the </a:t>
            </a:r>
            <a:r>
              <a:rPr lang="en-US" dirty="0" smtClean="0">
                <a:solidFill>
                  <a:srgbClr val="00B050"/>
                </a:solidFill>
              </a:rPr>
              <a:t>spatial extent </a:t>
            </a:r>
            <a:r>
              <a:rPr lang="en-US" dirty="0" smtClean="0"/>
              <a:t>of our pooling layers quite small.</a:t>
            </a:r>
          </a:p>
          <a:p>
            <a:pPr>
              <a:lnSpc>
                <a:spcPct val="120000"/>
              </a:lnSpc>
            </a:pPr>
            <a:r>
              <a:rPr lang="en-US" i="1" dirty="0" smtClean="0">
                <a:solidFill>
                  <a:srgbClr val="FF0000"/>
                </a:solidFill>
              </a:rPr>
              <a:t>fractional </a:t>
            </a:r>
            <a:r>
              <a:rPr lang="en-US" i="1" dirty="0" smtClean="0">
                <a:solidFill>
                  <a:srgbClr val="FF0000"/>
                </a:solidFill>
              </a:rPr>
              <a:t>max </a:t>
            </a:r>
            <a:r>
              <a:rPr lang="en-US" dirty="0" smtClean="0">
                <a:solidFill>
                  <a:srgbClr val="FF0000"/>
                </a:solidFill>
              </a:rPr>
              <a:t>pooling</a:t>
            </a:r>
            <a:r>
              <a:rPr lang="en-US" dirty="0" smtClean="0"/>
              <a:t>, a pseudorandom number generator is used to generate </a:t>
            </a:r>
            <a:r>
              <a:rPr lang="en-US" dirty="0" err="1" smtClean="0"/>
              <a:t>tilings</a:t>
            </a:r>
            <a:r>
              <a:rPr lang="en-US" dirty="0" smtClean="0"/>
              <a:t> with </a:t>
            </a:r>
            <a:r>
              <a:rPr lang="en-US" dirty="0" smtClean="0"/>
              <a:t>non-integer lengths </a:t>
            </a:r>
            <a:r>
              <a:rPr lang="en-US" dirty="0" smtClean="0"/>
              <a:t>for pooling. </a:t>
            </a:r>
          </a:p>
          <a:p>
            <a:pPr>
              <a:lnSpc>
                <a:spcPct val="120000"/>
              </a:lnSpc>
            </a:pPr>
            <a:r>
              <a:rPr lang="en-US" dirty="0" smtClean="0"/>
              <a:t>Fractional max pooling functions as a strong </a:t>
            </a:r>
            <a:r>
              <a:rPr lang="en-US" dirty="0" err="1" smtClean="0"/>
              <a:t>regularizer</a:t>
            </a:r>
            <a:r>
              <a:rPr lang="en-US" dirty="0" smtClean="0"/>
              <a:t>, helping </a:t>
            </a:r>
            <a:r>
              <a:rPr lang="en-US" dirty="0" smtClean="0">
                <a:solidFill>
                  <a:srgbClr val="00B0F0"/>
                </a:solidFill>
              </a:rPr>
              <a:t>prevent over fitting </a:t>
            </a:r>
            <a:r>
              <a:rPr lang="en-US" dirty="0" smtClean="0"/>
              <a:t>in </a:t>
            </a:r>
            <a:r>
              <a:rPr lang="en-US" dirty="0" err="1" smtClean="0"/>
              <a:t>convolutional</a:t>
            </a:r>
            <a:r>
              <a:rPr lang="en-US" dirty="0" smtClean="0"/>
              <a:t> networks.</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a:srcRect/>
          <a:stretch>
            <a:fillRect/>
          </a:stretch>
        </p:blipFill>
        <p:spPr bwMode="auto">
          <a:xfrm>
            <a:off x="838200" y="1371600"/>
            <a:ext cx="6677025" cy="5143500"/>
          </a:xfrm>
          <a:prstGeom prst="rect">
            <a:avLst/>
          </a:prstGeom>
          <a:noFill/>
          <a:ln w="9525">
            <a:noFill/>
            <a:miter lim="800000"/>
            <a:headEnd/>
            <a:tailEnd/>
          </a:ln>
          <a:effectLst/>
        </p:spPr>
      </p:pic>
      <p:pic>
        <p:nvPicPr>
          <p:cNvPr id="11268" name="Picture 4"/>
          <p:cNvPicPr>
            <a:picLocks noChangeAspect="1" noChangeArrowheads="1"/>
          </p:cNvPicPr>
          <p:nvPr/>
        </p:nvPicPr>
        <p:blipFill>
          <a:blip r:embed="rId3"/>
          <a:srcRect/>
          <a:stretch>
            <a:fillRect/>
          </a:stretch>
        </p:blipFill>
        <p:spPr bwMode="auto">
          <a:xfrm>
            <a:off x="5638800" y="-228600"/>
            <a:ext cx="1362075" cy="16002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solidFill>
                  <a:srgbClr val="00B050"/>
                </a:solidFill>
              </a:rPr>
              <a:t>Closing the Loop on MNIST with </a:t>
            </a:r>
            <a:r>
              <a:rPr lang="en-US" dirty="0" err="1" smtClean="0">
                <a:solidFill>
                  <a:srgbClr val="00B050"/>
                </a:solidFill>
              </a:rPr>
              <a:t>Convolutional</a:t>
            </a:r>
            <a:r>
              <a:rPr lang="en-US" dirty="0" smtClean="0">
                <a:solidFill>
                  <a:srgbClr val="00B050"/>
                </a:solidFill>
              </a:rPr>
              <a:t> Networks</a:t>
            </a:r>
            <a:r>
              <a:rPr lang="en-US" dirty="0" smtClean="0"/>
              <a:t/>
            </a:r>
            <a:br>
              <a:rPr lang="en-US" dirty="0" smtClean="0"/>
            </a:br>
            <a:endParaRPr lang="en-US" dirty="0"/>
          </a:p>
        </p:txBody>
      </p:sp>
      <p:sp>
        <p:nvSpPr>
          <p:cNvPr id="3" name="Content Placeholder 2"/>
          <p:cNvSpPr>
            <a:spLocks noGrp="1"/>
          </p:cNvSpPr>
          <p:nvPr>
            <p:ph idx="1"/>
          </p:nvPr>
        </p:nvSpPr>
        <p:spPr>
          <a:xfrm>
            <a:off x="228600" y="1600200"/>
            <a:ext cx="8686800" cy="5029200"/>
          </a:xfrm>
        </p:spPr>
        <p:txBody>
          <a:bodyPr>
            <a:noAutofit/>
          </a:bodyPr>
          <a:lstStyle/>
          <a:p>
            <a:r>
              <a:rPr lang="en-US" dirty="0" smtClean="0"/>
              <a:t>In </a:t>
            </a:r>
            <a:r>
              <a:rPr lang="en-US" dirty="0" smtClean="0"/>
              <a:t>MNIST , our feed-forward network was able to achieve a 98.2% accuracy. </a:t>
            </a:r>
          </a:p>
          <a:p>
            <a:r>
              <a:rPr lang="en-US" dirty="0" smtClean="0"/>
              <a:t>build </a:t>
            </a:r>
            <a:r>
              <a:rPr lang="en-US" dirty="0" smtClean="0"/>
              <a:t>a </a:t>
            </a:r>
            <a:r>
              <a:rPr lang="en-US" dirty="0" err="1" smtClean="0"/>
              <a:t>convolutional</a:t>
            </a:r>
            <a:r>
              <a:rPr lang="en-US" dirty="0" smtClean="0"/>
              <a:t> network with a pretty standard architecture </a:t>
            </a:r>
            <a:r>
              <a:rPr lang="en-US" dirty="0" smtClean="0"/>
              <a:t>: </a:t>
            </a:r>
            <a:r>
              <a:rPr lang="en-US" dirty="0" smtClean="0"/>
              <a:t>two pooling and two </a:t>
            </a:r>
            <a:r>
              <a:rPr lang="en-US" dirty="0" err="1" smtClean="0"/>
              <a:t>convolutional</a:t>
            </a:r>
            <a:r>
              <a:rPr lang="en-US" dirty="0" smtClean="0"/>
              <a:t> interleaved, followed by a fully connected layer (with dropout, </a:t>
            </a:r>
            <a:r>
              <a:rPr lang="en-US" i="1" dirty="0" smtClean="0"/>
              <a:t>p = 0 . 5) and a terminal </a:t>
            </a:r>
            <a:r>
              <a:rPr lang="en-US" i="1" dirty="0" err="1" smtClean="0"/>
              <a:t>softmax</a:t>
            </a:r>
            <a:r>
              <a:rPr lang="en-US" i="1" dirty="0" smtClean="0"/>
              <a:t>. To make building the network easy.</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457200" y="533400"/>
            <a:ext cx="7844435" cy="541020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7030A0"/>
                </a:solidFill>
              </a:rPr>
              <a:t>Procedure</a:t>
            </a:r>
            <a:endParaRPr lang="en-US" dirty="0">
              <a:solidFill>
                <a:srgbClr val="7030A0"/>
              </a:solidFill>
            </a:endParaRPr>
          </a:p>
        </p:txBody>
      </p:sp>
      <p:sp>
        <p:nvSpPr>
          <p:cNvPr id="3" name="Content Placeholder 2"/>
          <p:cNvSpPr>
            <a:spLocks noGrp="1"/>
          </p:cNvSpPr>
          <p:nvPr>
            <p:ph idx="1"/>
          </p:nvPr>
        </p:nvSpPr>
        <p:spPr/>
        <p:txBody>
          <a:bodyPr>
            <a:normAutofit fontScale="92500" lnSpcReduction="10000"/>
          </a:bodyPr>
          <a:lstStyle/>
          <a:p>
            <a:r>
              <a:rPr lang="en-US" dirty="0" smtClean="0"/>
              <a:t>The first helper method generates a </a:t>
            </a:r>
            <a:r>
              <a:rPr lang="en-US" dirty="0" err="1" smtClean="0"/>
              <a:t>convolutional</a:t>
            </a:r>
            <a:r>
              <a:rPr lang="en-US" dirty="0" smtClean="0"/>
              <a:t> layer with a particular shape. </a:t>
            </a:r>
          </a:p>
          <a:p>
            <a:r>
              <a:rPr lang="en-US" dirty="0" smtClean="0"/>
              <a:t>We set the stride to be to be 1 and the padding to keep the width and height constant between input and output tensors. </a:t>
            </a:r>
          </a:p>
          <a:p>
            <a:r>
              <a:rPr lang="en-US" dirty="0" smtClean="0"/>
              <a:t>We also initialize the weights using the same heuristic we used in the feed-forward network. </a:t>
            </a:r>
          </a:p>
          <a:p>
            <a:r>
              <a:rPr lang="en-US" dirty="0" smtClean="0"/>
              <a:t>The number of incoming weights into a neuron spans the filter’s height and width and the input tensor’s depth.</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a:stretch>
            <a:fillRect/>
          </a:stretch>
        </p:blipFill>
        <p:spPr bwMode="auto">
          <a:xfrm>
            <a:off x="304800" y="304800"/>
            <a:ext cx="8534400" cy="617220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descr="mnist convolutional neural network tensorflow - Cheap Online Shopping -"/>
          <p:cNvPicPr>
            <a:picLocks noChangeAspect="1" noChangeArrowheads="1"/>
          </p:cNvPicPr>
          <p:nvPr/>
        </p:nvPicPr>
        <p:blipFill>
          <a:blip r:embed="rId2"/>
          <a:srcRect/>
          <a:stretch>
            <a:fillRect/>
          </a:stretch>
        </p:blipFill>
        <p:spPr bwMode="auto">
          <a:xfrm>
            <a:off x="315426" y="609600"/>
            <a:ext cx="8523774" cy="57912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descr="What is shift invariance in a convolutional neural network (CNN)? - Quora"/>
          <p:cNvPicPr>
            <a:picLocks noChangeAspect="1" noChangeArrowheads="1"/>
          </p:cNvPicPr>
          <p:nvPr/>
        </p:nvPicPr>
        <p:blipFill>
          <a:blip r:embed="rId2"/>
          <a:srcRect/>
          <a:stretch>
            <a:fillRect/>
          </a:stretch>
        </p:blipFill>
        <p:spPr bwMode="auto">
          <a:xfrm>
            <a:off x="0" y="533400"/>
            <a:ext cx="9144000" cy="57912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descr="MNIST Handwritten Digits Classification using a Convolutional Neural  Network (CNN) | by Krut Patel | Towards Data Science"/>
          <p:cNvPicPr>
            <a:picLocks noChangeAspect="1" noChangeArrowheads="1"/>
          </p:cNvPicPr>
          <p:nvPr/>
        </p:nvPicPr>
        <p:blipFill>
          <a:blip r:embed="rId2"/>
          <a:srcRect/>
          <a:stretch>
            <a:fillRect/>
          </a:stretch>
        </p:blipFill>
        <p:spPr bwMode="auto">
          <a:xfrm>
            <a:off x="0" y="457200"/>
            <a:ext cx="9144000" cy="60960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https://miro.medium.com/max/1400/0*GDlFcyG1CV2OGEbX.png"/>
          <p:cNvPicPr>
            <a:picLocks noChangeAspect="1" noChangeArrowheads="1"/>
          </p:cNvPicPr>
          <p:nvPr/>
        </p:nvPicPr>
        <p:blipFill>
          <a:blip r:embed="rId2"/>
          <a:srcRect/>
          <a:stretch>
            <a:fillRect/>
          </a:stretch>
        </p:blipFill>
        <p:spPr bwMode="auto">
          <a:xfrm>
            <a:off x="1" y="228600"/>
            <a:ext cx="9144000" cy="63246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Machine Learning: Improving Classification accuracy on MNIST using Data  Augmentation | by Akash Panchal | Towards Data Sci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Machine Learning: Improving Classification accuracy on MNIST using Data  Augmentation | by Akash Panchal | Towards Data Scienc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0" name="Picture 6" descr="Machine Learning: Improving Classification accuracy on MNIST using Data  Augmentation | by Akash Panchal | Towards Data Science"/>
          <p:cNvPicPr>
            <a:picLocks noChangeAspect="1" noChangeArrowheads="1"/>
          </p:cNvPicPr>
          <p:nvPr/>
        </p:nvPicPr>
        <p:blipFill>
          <a:blip r:embed="rId2"/>
          <a:srcRect/>
          <a:stretch>
            <a:fillRect/>
          </a:stretch>
        </p:blipFill>
        <p:spPr bwMode="auto">
          <a:xfrm>
            <a:off x="304800" y="381000"/>
            <a:ext cx="8382000" cy="6029326"/>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Building a </a:t>
            </a:r>
            <a:r>
              <a:rPr lang="en-US" dirty="0" err="1" smtClean="0"/>
              <a:t>Convolutional</a:t>
            </a:r>
            <a:r>
              <a:rPr lang="en-US" dirty="0" smtClean="0"/>
              <a:t> Network for CIFAR-10</a:t>
            </a:r>
            <a:endParaRPr lang="en-US" dirty="0"/>
          </a:p>
        </p:txBody>
      </p:sp>
      <p:sp>
        <p:nvSpPr>
          <p:cNvPr id="3" name="Content Placeholder 2"/>
          <p:cNvSpPr>
            <a:spLocks noGrp="1"/>
          </p:cNvSpPr>
          <p:nvPr>
            <p:ph idx="1"/>
          </p:nvPr>
        </p:nvSpPr>
        <p:spPr/>
        <p:txBody>
          <a:bodyPr/>
          <a:lstStyle/>
          <a:p>
            <a:r>
              <a:rPr lang="en-US" dirty="0" smtClean="0"/>
              <a:t>The CIFAR-10 challenge consists of 32 x 32 color images that belong to one of 10 possible classes.</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descr="CIFAR 10 Image Classification with Einstein Vision Service"/>
          <p:cNvPicPr>
            <a:picLocks noChangeAspect="1" noChangeArrowheads="1"/>
          </p:cNvPicPr>
          <p:nvPr/>
        </p:nvPicPr>
        <p:blipFill>
          <a:blip r:embed="rId2"/>
          <a:srcRect/>
          <a:stretch>
            <a:fillRect/>
          </a:stretch>
        </p:blipFill>
        <p:spPr bwMode="auto">
          <a:xfrm>
            <a:off x="228600" y="228600"/>
            <a:ext cx="8458200" cy="640080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a:stretch>
            <a:fillRect/>
          </a:stretch>
        </p:blipFill>
        <p:spPr bwMode="auto">
          <a:xfrm>
            <a:off x="457200" y="533400"/>
            <a:ext cx="7923615" cy="556260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a:bodyPr>
          <a:lstStyle/>
          <a:p>
            <a:r>
              <a:rPr lang="en-US" sz="3600" dirty="0" smtClean="0"/>
              <a:t>build </a:t>
            </a:r>
            <a:r>
              <a:rPr lang="en-US" sz="3600" dirty="0" smtClean="0"/>
              <a:t>networks both </a:t>
            </a:r>
            <a:r>
              <a:rPr lang="en-US" sz="3600" dirty="0" smtClean="0">
                <a:solidFill>
                  <a:srgbClr val="FF0000"/>
                </a:solidFill>
              </a:rPr>
              <a:t>with and without batch normalization</a:t>
            </a:r>
            <a:r>
              <a:rPr lang="en-US" sz="3600" dirty="0" smtClean="0"/>
              <a:t> as a basis of comparison. </a:t>
            </a:r>
          </a:p>
          <a:p>
            <a:r>
              <a:rPr lang="en-US" sz="3600" dirty="0" smtClean="0"/>
              <a:t>increase </a:t>
            </a:r>
            <a:r>
              <a:rPr lang="en-US" sz="3600" dirty="0" smtClean="0"/>
              <a:t>the learning rate by </a:t>
            </a:r>
            <a:r>
              <a:rPr lang="en-US" sz="3600" dirty="0" smtClean="0">
                <a:solidFill>
                  <a:srgbClr val="FF0000"/>
                </a:solidFill>
              </a:rPr>
              <a:t>10-fold </a:t>
            </a:r>
            <a:r>
              <a:rPr lang="en-US" sz="3600" dirty="0" smtClean="0"/>
              <a:t>for the batch normalization </a:t>
            </a:r>
            <a:r>
              <a:rPr lang="en-US" sz="3600" dirty="0" smtClean="0"/>
              <a:t>network</a:t>
            </a:r>
            <a:endParaRPr lang="en-US" sz="3600" dirty="0" smtClean="0"/>
          </a:p>
          <a:p>
            <a:r>
              <a:rPr lang="en-US" sz="3600" dirty="0" smtClean="0"/>
              <a:t>distort </a:t>
            </a:r>
            <a:r>
              <a:rPr lang="en-US" sz="3600" dirty="0" smtClean="0"/>
              <a:t>random 24 × 24 crops of the input images to feed into our network for training into the network architecture.</a:t>
            </a:r>
          </a:p>
          <a:p>
            <a:r>
              <a:rPr lang="en-US" sz="3600" dirty="0" smtClean="0">
                <a:solidFill>
                  <a:srgbClr val="FF0000"/>
                </a:solidFill>
              </a:rPr>
              <a:t>integrate</a:t>
            </a:r>
            <a:r>
              <a:rPr lang="en-US" sz="3600" dirty="0" smtClean="0"/>
              <a:t> </a:t>
            </a:r>
            <a:r>
              <a:rPr lang="en-US" sz="3600" dirty="0" smtClean="0"/>
              <a:t>batch normalization into the </a:t>
            </a:r>
            <a:r>
              <a:rPr lang="en-US" sz="3600" dirty="0" err="1" smtClean="0"/>
              <a:t>convolutional</a:t>
            </a:r>
            <a:r>
              <a:rPr lang="en-US" sz="3600" dirty="0" smtClean="0"/>
              <a:t> and fully connected layers. </a:t>
            </a:r>
            <a:endParaRPr lang="en-US" sz="3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3"/>
          <p:cNvPicPr>
            <a:picLocks noChangeAspect="1" noChangeArrowheads="1"/>
          </p:cNvPicPr>
          <p:nvPr/>
        </p:nvPicPr>
        <p:blipFill>
          <a:blip r:embed="rId2"/>
          <a:srcRect/>
          <a:stretch>
            <a:fillRect/>
          </a:stretch>
        </p:blipFill>
        <p:spPr bwMode="auto">
          <a:xfrm>
            <a:off x="609600" y="304800"/>
            <a:ext cx="7924800" cy="6553199"/>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smtClean="0"/>
              <a:t>There are then two fully connected layers followed by a </a:t>
            </a:r>
            <a:r>
              <a:rPr lang="en-US" dirty="0" err="1" smtClean="0"/>
              <a:t>softmax</a:t>
            </a:r>
            <a:r>
              <a:rPr lang="en-US" dirty="0" smtClean="0"/>
              <a:t>. </a:t>
            </a:r>
          </a:p>
          <a:p>
            <a:r>
              <a:rPr lang="en-US" dirty="0" smtClean="0"/>
              <a:t>Dropout is included for reference, but in the batch normalization version, </a:t>
            </a:r>
            <a:r>
              <a:rPr lang="en-US" dirty="0" err="1" smtClean="0"/>
              <a:t>keep_prob</a:t>
            </a:r>
            <a:r>
              <a:rPr lang="en-US" dirty="0" smtClean="0"/>
              <a:t>=1 during training:</a:t>
            </a:r>
            <a:endParaRPr lang="en-US" dirty="0"/>
          </a:p>
        </p:txBody>
      </p:sp>
      <p:pic>
        <p:nvPicPr>
          <p:cNvPr id="16386" name="Picture 2"/>
          <p:cNvPicPr>
            <a:picLocks noChangeAspect="1" noChangeArrowheads="1"/>
          </p:cNvPicPr>
          <p:nvPr/>
        </p:nvPicPr>
        <p:blipFill>
          <a:blip r:embed="rId2"/>
          <a:srcRect/>
          <a:stretch>
            <a:fillRect/>
          </a:stretch>
        </p:blipFill>
        <p:spPr bwMode="auto">
          <a:xfrm>
            <a:off x="609600" y="3124200"/>
            <a:ext cx="6934200" cy="35052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srcRect/>
          <a:stretch>
            <a:fillRect/>
          </a:stretch>
        </p:blipFill>
        <p:spPr bwMode="auto">
          <a:xfrm>
            <a:off x="228600" y="0"/>
            <a:ext cx="8458200" cy="6019800"/>
          </a:xfrm>
          <a:prstGeom prst="rect">
            <a:avLst/>
          </a:prstGeom>
          <a:noFill/>
          <a:ln w="9525">
            <a:noFill/>
            <a:miter lim="800000"/>
            <a:headEnd/>
            <a:tailEnd/>
          </a:ln>
          <a:effectLst/>
        </p:spPr>
      </p:pic>
      <p:sp>
        <p:nvSpPr>
          <p:cNvPr id="3" name="Rectangle 2"/>
          <p:cNvSpPr/>
          <p:nvPr/>
        </p:nvSpPr>
        <p:spPr>
          <a:xfrm>
            <a:off x="152400" y="5934670"/>
            <a:ext cx="8991600" cy="923330"/>
          </a:xfrm>
          <a:prstGeom prst="rect">
            <a:avLst/>
          </a:prstGeom>
        </p:spPr>
        <p:txBody>
          <a:bodyPr wrap="square">
            <a:spAutoFit/>
          </a:bodyPr>
          <a:lstStyle/>
          <a:p>
            <a:r>
              <a:rPr lang="en-US" dirty="0" smtClean="0"/>
              <a:t>After some amount of time training, our networks are able to achieve an impressive 92.3% accuracy on the CIFAR-10 task without batch normalization and 96.7% accuracy with batch normalization.</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7030A0"/>
                </a:solidFill>
              </a:rPr>
              <a:t>Visualizing Learning in </a:t>
            </a:r>
            <a:r>
              <a:rPr lang="en-US" b="1" dirty="0" err="1" smtClean="0">
                <a:solidFill>
                  <a:srgbClr val="7030A0"/>
                </a:solidFill>
              </a:rPr>
              <a:t>Convolutional</a:t>
            </a:r>
            <a:r>
              <a:rPr lang="en-US" b="1" dirty="0" smtClean="0">
                <a:solidFill>
                  <a:srgbClr val="7030A0"/>
                </a:solidFill>
              </a:rPr>
              <a:t> Networks</a:t>
            </a:r>
            <a:endParaRPr lang="en-US" b="1" dirty="0">
              <a:solidFill>
                <a:srgbClr val="7030A0"/>
              </a:solidFill>
            </a:endParaRPr>
          </a:p>
        </p:txBody>
      </p:sp>
      <p:sp>
        <p:nvSpPr>
          <p:cNvPr id="3" name="Content Placeholder 2"/>
          <p:cNvSpPr>
            <a:spLocks noGrp="1"/>
          </p:cNvSpPr>
          <p:nvPr>
            <p:ph idx="1"/>
          </p:nvPr>
        </p:nvSpPr>
        <p:spPr>
          <a:xfrm>
            <a:off x="457200" y="1371600"/>
            <a:ext cx="8229600" cy="5486400"/>
          </a:xfrm>
        </p:spPr>
        <p:txBody>
          <a:bodyPr/>
          <a:lstStyle/>
          <a:p>
            <a:r>
              <a:rPr lang="en-US" dirty="0" smtClean="0"/>
              <a:t>plot </a:t>
            </a:r>
            <a:r>
              <a:rPr lang="en-US" dirty="0" smtClean="0"/>
              <a:t>the cost function and validation errors over time as training progresses.</a:t>
            </a:r>
            <a:endParaRPr lang="en-US" dirty="0"/>
          </a:p>
        </p:txBody>
      </p:sp>
      <p:pic>
        <p:nvPicPr>
          <p:cNvPr id="18435" name="Picture 3"/>
          <p:cNvPicPr>
            <a:picLocks noChangeAspect="1" noChangeArrowheads="1"/>
          </p:cNvPicPr>
          <p:nvPr/>
        </p:nvPicPr>
        <p:blipFill>
          <a:blip r:embed="rId2"/>
          <a:srcRect/>
          <a:stretch>
            <a:fillRect/>
          </a:stretch>
        </p:blipFill>
        <p:spPr bwMode="auto">
          <a:xfrm>
            <a:off x="533400" y="2667000"/>
            <a:ext cx="8153400" cy="403860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86800" cy="6248400"/>
          </a:xfrm>
        </p:spPr>
        <p:txBody>
          <a:bodyPr>
            <a:normAutofit fontScale="92500" lnSpcReduction="10000"/>
          </a:bodyPr>
          <a:lstStyle/>
          <a:p>
            <a:r>
              <a:rPr lang="en-US" dirty="0" smtClean="0"/>
              <a:t>batch normalization requires 14,000 </a:t>
            </a:r>
            <a:r>
              <a:rPr lang="en-US" dirty="0" smtClean="0"/>
              <a:t>mini-batches.</a:t>
            </a:r>
          </a:p>
          <a:p>
            <a:r>
              <a:rPr lang="en-US" dirty="0" smtClean="0"/>
              <a:t>We can also inspect the filters that our </a:t>
            </a:r>
            <a:r>
              <a:rPr lang="en-US" dirty="0" err="1" smtClean="0"/>
              <a:t>convolutional</a:t>
            </a:r>
            <a:r>
              <a:rPr lang="en-US" dirty="0" smtClean="0"/>
              <a:t> network learns in order to understand what the network finds important to its classification decisions. </a:t>
            </a:r>
          </a:p>
          <a:p>
            <a:r>
              <a:rPr lang="en-US" dirty="0" err="1" smtClean="0"/>
              <a:t>Convolutional</a:t>
            </a:r>
            <a:r>
              <a:rPr lang="en-US" dirty="0" smtClean="0"/>
              <a:t> layers learn </a:t>
            </a:r>
            <a:r>
              <a:rPr lang="en-US" dirty="0" smtClean="0">
                <a:solidFill>
                  <a:srgbClr val="FF0000"/>
                </a:solidFill>
              </a:rPr>
              <a:t>hierarchical representations</a:t>
            </a:r>
            <a:r>
              <a:rPr lang="en-US" dirty="0" smtClean="0"/>
              <a:t>, and so the first </a:t>
            </a:r>
            <a:r>
              <a:rPr lang="en-US" dirty="0" err="1" smtClean="0"/>
              <a:t>convolutional</a:t>
            </a:r>
            <a:r>
              <a:rPr lang="en-US" dirty="0" smtClean="0"/>
              <a:t> layer learns basic features (</a:t>
            </a:r>
            <a:r>
              <a:rPr lang="en-US" dirty="0" smtClean="0">
                <a:solidFill>
                  <a:srgbClr val="00B050"/>
                </a:solidFill>
              </a:rPr>
              <a:t>edges, simple curves, etc.), </a:t>
            </a:r>
            <a:r>
              <a:rPr lang="en-US" dirty="0" smtClean="0"/>
              <a:t>and the second </a:t>
            </a:r>
            <a:r>
              <a:rPr lang="en-US" dirty="0" err="1" smtClean="0"/>
              <a:t>convolutional</a:t>
            </a:r>
            <a:r>
              <a:rPr lang="en-US" dirty="0" smtClean="0"/>
              <a:t> layer will learn more complex features. </a:t>
            </a:r>
          </a:p>
          <a:p>
            <a:r>
              <a:rPr lang="en-US" dirty="0" smtClean="0"/>
              <a:t>Second </a:t>
            </a:r>
            <a:r>
              <a:rPr lang="en-US" dirty="0" err="1" smtClean="0"/>
              <a:t>convolutional</a:t>
            </a:r>
            <a:r>
              <a:rPr lang="en-US" dirty="0" smtClean="0"/>
              <a:t> layer is difficult to interpret even if we decided to visualize it, so we only include the first layer </a:t>
            </a:r>
            <a:r>
              <a:rPr lang="en-US" dirty="0" smtClean="0"/>
              <a:t>filters.</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smtClean="0"/>
              <a:t>We can make out a number of interesting features in our filters: vertical, horizontal, and diagonal edges, in addition to small dots or splotches of one color surrounded by another.</a:t>
            </a:r>
          </a:p>
          <a:p>
            <a:r>
              <a:rPr lang="en-US" dirty="0" smtClean="0"/>
              <a:t>We can be confident that our network is learning relevant features because the filters are not just noise.</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accent6">
                    <a:lumMod val="75000"/>
                  </a:schemeClr>
                </a:solidFill>
              </a:rPr>
              <a:t>Leveraging </a:t>
            </a:r>
            <a:r>
              <a:rPr lang="en-US" dirty="0" err="1" smtClean="0">
                <a:solidFill>
                  <a:schemeClr val="accent6">
                    <a:lumMod val="75000"/>
                  </a:schemeClr>
                </a:solidFill>
              </a:rPr>
              <a:t>Convolutional</a:t>
            </a:r>
            <a:r>
              <a:rPr lang="en-US" dirty="0" smtClean="0">
                <a:solidFill>
                  <a:schemeClr val="accent6">
                    <a:lumMod val="75000"/>
                  </a:schemeClr>
                </a:solidFill>
              </a:rPr>
              <a:t> Filters to Replicate Artistic Styles</a:t>
            </a:r>
            <a:endParaRPr lang="en-US" dirty="0">
              <a:solidFill>
                <a:schemeClr val="accent6">
                  <a:lumMod val="75000"/>
                </a:schemeClr>
              </a:solidFill>
            </a:endParaRPr>
          </a:p>
        </p:txBody>
      </p:sp>
      <p:sp>
        <p:nvSpPr>
          <p:cNvPr id="3" name="Content Placeholder 2"/>
          <p:cNvSpPr>
            <a:spLocks noGrp="1"/>
          </p:cNvSpPr>
          <p:nvPr>
            <p:ph idx="1"/>
          </p:nvPr>
        </p:nvSpPr>
        <p:spPr/>
        <p:txBody>
          <a:bodyPr/>
          <a:lstStyle/>
          <a:p>
            <a:r>
              <a:rPr lang="en-US" dirty="0" smtClean="0"/>
              <a:t>The goal of neural style is to be able to take an arbitrary photograph and </a:t>
            </a:r>
            <a:r>
              <a:rPr lang="en-US" dirty="0" err="1" smtClean="0"/>
              <a:t>rerender</a:t>
            </a:r>
            <a:r>
              <a:rPr lang="en-US" dirty="0" smtClean="0"/>
              <a:t> it as if it were painted in </a:t>
            </a:r>
            <a:r>
              <a:rPr lang="en-US" dirty="0" smtClean="0"/>
              <a:t>.</a:t>
            </a:r>
            <a:endParaRPr lang="en-US" dirty="0" smtClean="0"/>
          </a:p>
          <a:p>
            <a:r>
              <a:rPr lang="en-US" dirty="0" smtClean="0"/>
              <a:t>clever manipulation of </a:t>
            </a:r>
            <a:r>
              <a:rPr lang="en-US" dirty="0" err="1" smtClean="0"/>
              <a:t>convolutional</a:t>
            </a:r>
            <a:r>
              <a:rPr lang="en-US" dirty="0" smtClean="0"/>
              <a:t> filters can produce spectacular results on this problem.</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3399"/>
                </a:solidFill>
              </a:rPr>
              <a:t>Pre-trained </a:t>
            </a:r>
            <a:r>
              <a:rPr lang="en-US" dirty="0" err="1" smtClean="0">
                <a:solidFill>
                  <a:srgbClr val="FF3399"/>
                </a:solidFill>
              </a:rPr>
              <a:t>convolutional</a:t>
            </a:r>
            <a:r>
              <a:rPr lang="en-US" dirty="0" smtClean="0">
                <a:solidFill>
                  <a:srgbClr val="FF3399"/>
                </a:solidFill>
              </a:rPr>
              <a:t> network</a:t>
            </a:r>
            <a:r>
              <a:rPr lang="en-US" dirty="0" smtClean="0"/>
              <a:t>.</a:t>
            </a: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dirty="0" smtClean="0"/>
              <a:t>There are three images that we’re dealing with. </a:t>
            </a:r>
          </a:p>
          <a:p>
            <a:r>
              <a:rPr lang="en-US" dirty="0" smtClean="0"/>
              <a:t>The first two are the source of content </a:t>
            </a:r>
            <a:r>
              <a:rPr lang="en-US" b="1" i="1" dirty="0" smtClean="0"/>
              <a:t>p and the source of style a. </a:t>
            </a:r>
          </a:p>
          <a:p>
            <a:r>
              <a:rPr lang="en-US" b="1" i="1" dirty="0" smtClean="0"/>
              <a:t>The third </a:t>
            </a:r>
            <a:r>
              <a:rPr lang="en-US" dirty="0" smtClean="0"/>
              <a:t>image is the generated image </a:t>
            </a:r>
            <a:r>
              <a:rPr lang="en-US" b="1" i="1" dirty="0" smtClean="0"/>
              <a:t>x. </a:t>
            </a:r>
          </a:p>
          <a:p>
            <a:r>
              <a:rPr lang="en-US" b="1" i="1" dirty="0" smtClean="0"/>
              <a:t>Our goal will be to derive an error function that we </a:t>
            </a:r>
            <a:r>
              <a:rPr lang="en-US" dirty="0" smtClean="0"/>
              <a:t>can </a:t>
            </a:r>
            <a:r>
              <a:rPr lang="en-US" dirty="0" err="1" smtClean="0"/>
              <a:t>backpropagate</a:t>
            </a:r>
            <a:r>
              <a:rPr lang="en-US" dirty="0" smtClean="0"/>
              <a:t> that, when minimized, will perfectly combine the content of the desired photograph and the style of the desired artwork.</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srcRect/>
          <a:stretch>
            <a:fillRect/>
          </a:stretch>
        </p:blipFill>
        <p:spPr bwMode="auto">
          <a:xfrm>
            <a:off x="381000" y="381000"/>
            <a:ext cx="8530389" cy="6248400"/>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85800"/>
            <a:ext cx="1524000" cy="10668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p:cNvCxnSpPr>
            <a:stCxn id="2" idx="3"/>
          </p:cNvCxnSpPr>
          <p:nvPr/>
        </p:nvCxnSpPr>
        <p:spPr>
          <a:xfrm>
            <a:off x="2057400" y="1219200"/>
            <a:ext cx="1371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a:off x="3657600" y="762000"/>
            <a:ext cx="21336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733800" y="990600"/>
            <a:ext cx="1828800" cy="646331"/>
          </a:xfrm>
          <a:prstGeom prst="rect">
            <a:avLst/>
          </a:prstGeom>
          <a:noFill/>
        </p:spPr>
        <p:txBody>
          <a:bodyPr wrap="square" rtlCol="0">
            <a:spAutoFit/>
          </a:bodyPr>
          <a:lstStyle/>
          <a:p>
            <a:r>
              <a:rPr lang="en-US" dirty="0" smtClean="0"/>
              <a:t>KL filter maps and feature maps </a:t>
            </a:r>
            <a:endParaRPr lang="en-US" dirty="0"/>
          </a:p>
        </p:txBody>
      </p:sp>
      <p:sp>
        <p:nvSpPr>
          <p:cNvPr id="7" name="TextBox 6"/>
          <p:cNvSpPr txBox="1"/>
          <p:nvPr/>
        </p:nvSpPr>
        <p:spPr>
          <a:xfrm>
            <a:off x="609600" y="2209800"/>
            <a:ext cx="4572000" cy="461665"/>
          </a:xfrm>
          <a:prstGeom prst="rect">
            <a:avLst/>
          </a:prstGeom>
          <a:noFill/>
        </p:spPr>
        <p:txBody>
          <a:bodyPr wrap="square" rtlCol="0">
            <a:spAutoFit/>
          </a:bodyPr>
          <a:lstStyle/>
          <a:p>
            <a:r>
              <a:rPr lang="en-US" sz="2400" dirty="0" smtClean="0"/>
              <a:t>Size of  each feature map = m</a:t>
            </a:r>
            <a:r>
              <a:rPr lang="en-US" sz="2400" baseline="-25000" dirty="0" smtClean="0"/>
              <a:t>l</a:t>
            </a:r>
            <a:endParaRPr lang="en-US" sz="2400" baseline="-25000" dirty="0"/>
          </a:p>
        </p:txBody>
      </p:sp>
      <p:pic>
        <p:nvPicPr>
          <p:cNvPr id="71682" name="Picture 2"/>
          <p:cNvPicPr>
            <a:picLocks noChangeAspect="1" noChangeArrowheads="1"/>
          </p:cNvPicPr>
          <p:nvPr/>
        </p:nvPicPr>
        <p:blipFill>
          <a:blip r:embed="rId2"/>
          <a:srcRect/>
          <a:stretch>
            <a:fillRect/>
          </a:stretch>
        </p:blipFill>
        <p:spPr bwMode="auto">
          <a:xfrm>
            <a:off x="685800" y="2667000"/>
            <a:ext cx="4114800" cy="533400"/>
          </a:xfrm>
          <a:prstGeom prst="rect">
            <a:avLst/>
          </a:prstGeom>
          <a:noFill/>
          <a:ln w="9525">
            <a:noFill/>
            <a:miter lim="800000"/>
            <a:headEnd/>
            <a:tailEnd/>
          </a:ln>
          <a:effectLst/>
        </p:spPr>
      </p:pic>
      <p:pic>
        <p:nvPicPr>
          <p:cNvPr id="71683" name="Picture 3"/>
          <p:cNvPicPr>
            <a:picLocks noChangeAspect="1" noChangeArrowheads="1"/>
          </p:cNvPicPr>
          <p:nvPr/>
        </p:nvPicPr>
        <p:blipFill>
          <a:blip r:embed="rId3"/>
          <a:srcRect/>
          <a:stretch>
            <a:fillRect/>
          </a:stretch>
        </p:blipFill>
        <p:spPr bwMode="auto">
          <a:xfrm>
            <a:off x="685800" y="3276600"/>
            <a:ext cx="2872154" cy="381000"/>
          </a:xfrm>
          <a:prstGeom prst="rect">
            <a:avLst/>
          </a:prstGeom>
          <a:noFill/>
          <a:ln w="9525">
            <a:noFill/>
            <a:miter lim="800000"/>
            <a:headEnd/>
            <a:tailEnd/>
          </a:ln>
          <a:effectLst/>
        </p:spPr>
      </p:pic>
      <p:pic>
        <p:nvPicPr>
          <p:cNvPr id="71684" name="Picture 4"/>
          <p:cNvPicPr>
            <a:picLocks noChangeAspect="1" noChangeArrowheads="1"/>
          </p:cNvPicPr>
          <p:nvPr/>
        </p:nvPicPr>
        <p:blipFill>
          <a:blip r:embed="rId4"/>
          <a:srcRect/>
          <a:stretch>
            <a:fillRect/>
          </a:stretch>
        </p:blipFill>
        <p:spPr bwMode="auto">
          <a:xfrm>
            <a:off x="3581400" y="3352800"/>
            <a:ext cx="1981200" cy="348210"/>
          </a:xfrm>
          <a:prstGeom prst="rect">
            <a:avLst/>
          </a:prstGeom>
          <a:noFill/>
          <a:ln w="9525">
            <a:noFill/>
            <a:miter lim="800000"/>
            <a:headEnd/>
            <a:tailEnd/>
          </a:ln>
          <a:effectLst/>
        </p:spPr>
      </p:pic>
      <p:pic>
        <p:nvPicPr>
          <p:cNvPr id="71685" name="Picture 5"/>
          <p:cNvPicPr>
            <a:picLocks noChangeAspect="1" noChangeArrowheads="1"/>
          </p:cNvPicPr>
          <p:nvPr/>
        </p:nvPicPr>
        <p:blipFill>
          <a:blip r:embed="rId5"/>
          <a:srcRect/>
          <a:stretch>
            <a:fillRect/>
          </a:stretch>
        </p:blipFill>
        <p:spPr bwMode="auto">
          <a:xfrm>
            <a:off x="2667000" y="3810000"/>
            <a:ext cx="4267200" cy="695325"/>
          </a:xfrm>
          <a:prstGeom prst="rect">
            <a:avLst/>
          </a:prstGeom>
          <a:noFill/>
          <a:ln w="9525">
            <a:noFill/>
            <a:miter lim="800000"/>
            <a:headEnd/>
            <a:tailEnd/>
          </a:ln>
          <a:effectLst/>
        </p:spPr>
      </p:pic>
      <p:pic>
        <p:nvPicPr>
          <p:cNvPr id="71686" name="Picture 6"/>
          <p:cNvPicPr>
            <a:picLocks noChangeAspect="1" noChangeArrowheads="1"/>
          </p:cNvPicPr>
          <p:nvPr/>
        </p:nvPicPr>
        <p:blipFill>
          <a:blip r:embed="rId6"/>
          <a:srcRect/>
          <a:stretch>
            <a:fillRect/>
          </a:stretch>
        </p:blipFill>
        <p:spPr bwMode="auto">
          <a:xfrm>
            <a:off x="685800" y="4419600"/>
            <a:ext cx="3505200" cy="457200"/>
          </a:xfrm>
          <a:prstGeom prst="rect">
            <a:avLst/>
          </a:prstGeom>
          <a:noFill/>
          <a:ln w="9525">
            <a:noFill/>
            <a:miter lim="800000"/>
            <a:headEnd/>
            <a:tailEnd/>
          </a:ln>
          <a:effectLst/>
        </p:spPr>
      </p:pic>
      <p:pic>
        <p:nvPicPr>
          <p:cNvPr id="71687" name="Picture 7"/>
          <p:cNvPicPr>
            <a:picLocks noChangeAspect="1" noChangeArrowheads="1"/>
          </p:cNvPicPr>
          <p:nvPr/>
        </p:nvPicPr>
        <p:blipFill>
          <a:blip r:embed="rId7"/>
          <a:srcRect/>
          <a:stretch>
            <a:fillRect/>
          </a:stretch>
        </p:blipFill>
        <p:spPr bwMode="auto">
          <a:xfrm>
            <a:off x="4191000" y="4495800"/>
            <a:ext cx="685800" cy="314325"/>
          </a:xfrm>
          <a:prstGeom prst="rect">
            <a:avLst/>
          </a:prstGeom>
          <a:noFill/>
          <a:ln w="9525">
            <a:noFill/>
            <a:miter lim="800000"/>
            <a:headEnd/>
            <a:tailEnd/>
          </a:ln>
          <a:effectLst/>
        </p:spPr>
      </p:pic>
      <p:pic>
        <p:nvPicPr>
          <p:cNvPr id="71688" name="Picture 8"/>
          <p:cNvPicPr>
            <a:picLocks noChangeAspect="1" noChangeArrowheads="1"/>
          </p:cNvPicPr>
          <p:nvPr/>
        </p:nvPicPr>
        <p:blipFill>
          <a:blip r:embed="rId8"/>
          <a:srcRect/>
          <a:stretch>
            <a:fillRect/>
          </a:stretch>
        </p:blipFill>
        <p:spPr bwMode="auto">
          <a:xfrm>
            <a:off x="685800" y="4953000"/>
            <a:ext cx="5257800" cy="466725"/>
          </a:xfrm>
          <a:prstGeom prst="rect">
            <a:avLst/>
          </a:prstGeom>
          <a:noFill/>
          <a:ln w="9525">
            <a:noFill/>
            <a:miter lim="800000"/>
            <a:headEnd/>
            <a:tailEnd/>
          </a:ln>
          <a:effectLst/>
        </p:spPr>
      </p:pic>
      <p:pic>
        <p:nvPicPr>
          <p:cNvPr id="71689" name="Picture 9"/>
          <p:cNvPicPr>
            <a:picLocks noChangeAspect="1" noChangeArrowheads="1"/>
          </p:cNvPicPr>
          <p:nvPr/>
        </p:nvPicPr>
        <p:blipFill>
          <a:blip r:embed="rId9"/>
          <a:srcRect/>
          <a:stretch>
            <a:fillRect/>
          </a:stretch>
        </p:blipFill>
        <p:spPr bwMode="auto">
          <a:xfrm>
            <a:off x="5029200" y="4572000"/>
            <a:ext cx="762000" cy="357809"/>
          </a:xfrm>
          <a:prstGeom prst="rect">
            <a:avLst/>
          </a:prstGeom>
          <a:noFill/>
          <a:ln w="9525">
            <a:noFill/>
            <a:miter lim="800000"/>
            <a:headEnd/>
            <a:tailEnd/>
          </a:ln>
          <a:effectLst/>
        </p:spPr>
      </p:pic>
      <p:pic>
        <p:nvPicPr>
          <p:cNvPr id="71690" name="Picture 10"/>
          <p:cNvPicPr>
            <a:picLocks noChangeAspect="1" noChangeArrowheads="1"/>
          </p:cNvPicPr>
          <p:nvPr/>
        </p:nvPicPr>
        <p:blipFill>
          <a:blip r:embed="rId10"/>
          <a:srcRect/>
          <a:stretch>
            <a:fillRect/>
          </a:stretch>
        </p:blipFill>
        <p:spPr bwMode="auto">
          <a:xfrm>
            <a:off x="2819400" y="5486400"/>
            <a:ext cx="3124200" cy="590550"/>
          </a:xfrm>
          <a:prstGeom prst="rect">
            <a:avLst/>
          </a:prstGeom>
          <a:noFill/>
          <a:ln w="9525">
            <a:noFill/>
            <a:miter lim="800000"/>
            <a:headEnd/>
            <a:tailEnd/>
          </a:ln>
          <a:effectLst/>
        </p:spPr>
      </p:pic>
      <p:pic>
        <p:nvPicPr>
          <p:cNvPr id="71691" name="Picture 11"/>
          <p:cNvPicPr>
            <a:picLocks noChangeAspect="1" noChangeArrowheads="1"/>
          </p:cNvPicPr>
          <p:nvPr/>
        </p:nvPicPr>
        <p:blipFill>
          <a:blip r:embed="rId11"/>
          <a:srcRect/>
          <a:stretch>
            <a:fillRect/>
          </a:stretch>
        </p:blipFill>
        <p:spPr bwMode="auto">
          <a:xfrm>
            <a:off x="2362200" y="6019800"/>
            <a:ext cx="5029200" cy="838200"/>
          </a:xfrm>
          <a:prstGeom prst="rect">
            <a:avLst/>
          </a:prstGeom>
          <a:noFill/>
          <a:ln w="9525">
            <a:noFill/>
            <a:miter lim="800000"/>
            <a:headEnd/>
            <a:tailEnd/>
          </a:ln>
          <a:effectLst/>
        </p:spPr>
      </p:pic>
      <p:sp>
        <p:nvSpPr>
          <p:cNvPr id="18" name="TextBox 17"/>
          <p:cNvSpPr txBox="1"/>
          <p:nvPr/>
        </p:nvSpPr>
        <p:spPr>
          <a:xfrm>
            <a:off x="381000" y="5791200"/>
            <a:ext cx="2438400" cy="381000"/>
          </a:xfrm>
          <a:prstGeom prst="rect">
            <a:avLst/>
          </a:prstGeom>
          <a:noFill/>
        </p:spPr>
        <p:txBody>
          <a:bodyPr wrap="square" rtlCol="0">
            <a:spAutoFit/>
          </a:bodyPr>
          <a:lstStyle/>
          <a:p>
            <a:r>
              <a:rPr lang="en-US" b="1" dirty="0" smtClean="0">
                <a:solidFill>
                  <a:srgbClr val="FF0000"/>
                </a:solidFill>
              </a:rPr>
              <a:t>ERROR RATE</a:t>
            </a:r>
            <a:endParaRPr lang="en-US" b="1" dirty="0">
              <a:solidFill>
                <a:srgbClr val="FF0000"/>
              </a:solidFill>
            </a:endParaRPr>
          </a:p>
        </p:txBody>
      </p:sp>
      <p:sp>
        <p:nvSpPr>
          <p:cNvPr id="19" name="TextBox 18"/>
          <p:cNvSpPr txBox="1"/>
          <p:nvPr/>
        </p:nvSpPr>
        <p:spPr>
          <a:xfrm>
            <a:off x="609600" y="914400"/>
            <a:ext cx="1371600" cy="646331"/>
          </a:xfrm>
          <a:prstGeom prst="rect">
            <a:avLst/>
          </a:prstGeom>
          <a:noFill/>
        </p:spPr>
        <p:txBody>
          <a:bodyPr wrap="square" rtlCol="0">
            <a:spAutoFit/>
          </a:bodyPr>
          <a:lstStyle/>
          <a:p>
            <a:r>
              <a:rPr lang="en-US" dirty="0" smtClean="0"/>
              <a:t>LAYER (filter)</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srcRect/>
          <a:stretch>
            <a:fillRect/>
          </a:stretch>
        </p:blipFill>
        <p:spPr bwMode="auto">
          <a:xfrm>
            <a:off x="533400" y="381000"/>
            <a:ext cx="7924799" cy="61722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473</TotalTime>
  <Words>2122</Words>
  <Application>Microsoft Office PowerPoint</Application>
  <PresentationFormat>On-screen Show (4:3)</PresentationFormat>
  <Paragraphs>129</Paragraphs>
  <Slides>56</Slides>
  <Notes>0</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Convolution neural networks</vt:lpstr>
      <vt:lpstr>CNN</vt:lpstr>
      <vt:lpstr>Feature Selection</vt:lpstr>
      <vt:lpstr>Slide 4</vt:lpstr>
      <vt:lpstr>Slide 5</vt:lpstr>
      <vt:lpstr>Slide 6</vt:lpstr>
      <vt:lpstr>Deep Neural Net</vt:lpstr>
      <vt:lpstr>Slide 8</vt:lpstr>
      <vt:lpstr>Slide 9</vt:lpstr>
      <vt:lpstr>Slide 10</vt:lpstr>
      <vt:lpstr>Filters and Feature Maps</vt:lpstr>
      <vt:lpstr>Slide 12</vt:lpstr>
      <vt:lpstr>Feature  in toy image</vt:lpstr>
      <vt:lpstr>Slide 14</vt:lpstr>
      <vt:lpstr>Slide 15</vt:lpstr>
      <vt:lpstr>Slide 16</vt:lpstr>
      <vt:lpstr>Slide 17</vt:lpstr>
      <vt:lpstr>Slide 18</vt:lpstr>
      <vt:lpstr>Slide 19</vt:lpstr>
      <vt:lpstr>Slide 20</vt:lpstr>
      <vt:lpstr>Full Description of the Convolutional Layer</vt:lpstr>
      <vt:lpstr>Slide 22</vt:lpstr>
      <vt:lpstr>Slide 23</vt:lpstr>
      <vt:lpstr>Slide 24</vt:lpstr>
      <vt:lpstr>Slide 25</vt:lpstr>
      <vt:lpstr>Slide 26</vt:lpstr>
      <vt:lpstr>Slide 27</vt:lpstr>
      <vt:lpstr>Max Pooling</vt:lpstr>
      <vt:lpstr>Slide 29</vt:lpstr>
      <vt:lpstr>Slide 30</vt:lpstr>
      <vt:lpstr>Slide 31</vt:lpstr>
      <vt:lpstr>Slide 32</vt:lpstr>
      <vt:lpstr> Closing the Loop on MNIST with Convolutional Networks </vt:lpstr>
      <vt:lpstr>Slide 34</vt:lpstr>
      <vt:lpstr>Procedure</vt:lpstr>
      <vt:lpstr>Slide 36</vt:lpstr>
      <vt:lpstr>Slide 37</vt:lpstr>
      <vt:lpstr>Slide 38</vt:lpstr>
      <vt:lpstr>Slide 39</vt:lpstr>
      <vt:lpstr>Slide 40</vt:lpstr>
      <vt:lpstr>Slide 41</vt:lpstr>
      <vt:lpstr>Building a Convolutional Network for CIFAR-10</vt:lpstr>
      <vt:lpstr>Slide 43</vt:lpstr>
      <vt:lpstr>Slide 44</vt:lpstr>
      <vt:lpstr>Slide 45</vt:lpstr>
      <vt:lpstr>Slide 46</vt:lpstr>
      <vt:lpstr>Slide 47</vt:lpstr>
      <vt:lpstr>Slide 48</vt:lpstr>
      <vt:lpstr>Visualizing Learning in Convolutional Networks</vt:lpstr>
      <vt:lpstr>Slide 50</vt:lpstr>
      <vt:lpstr>Slide 51</vt:lpstr>
      <vt:lpstr>Leveraging Convolutional Filters to Replicate Artistic Styles</vt:lpstr>
      <vt:lpstr>Pre-trained convolutional network.</vt:lpstr>
      <vt:lpstr>Slide 54</vt:lpstr>
      <vt:lpstr>Slide 55</vt:lpstr>
      <vt:lpstr>Slide 56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Convolutional neural networks</dc:title>
  <dc:creator>Student</dc:creator>
  <cp:lastModifiedBy>Admin</cp:lastModifiedBy>
  <cp:revision>58</cp:revision>
  <dcterms:created xsi:type="dcterms:W3CDTF">2021-03-02T06:11:46Z</dcterms:created>
  <dcterms:modified xsi:type="dcterms:W3CDTF">2021-12-28T05:43:04Z</dcterms:modified>
</cp:coreProperties>
</file>