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3300"/>
    <a:srgbClr val="FF00FF"/>
    <a:srgbClr val="0033CC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8B155-C252-44FA-B7F6-1AB3EE64582E}" type="datetimeFigureOut">
              <a:rPr lang="en-US" smtClean="0"/>
              <a:pPr/>
              <a:t>12/27/2021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76237-3F49-4E33-A768-216556F430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Reinforcement Learning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Unit -6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/>
          <a:lstStyle/>
          <a:p>
            <a:r>
              <a:rPr lang="en-US" dirty="0"/>
              <a:t>reinforcement learning, which is a branch of </a:t>
            </a:r>
            <a:r>
              <a:rPr lang="en-US" dirty="0" smtClean="0"/>
              <a:t>machine learning </a:t>
            </a:r>
            <a:r>
              <a:rPr lang="en-US" dirty="0"/>
              <a:t>that deals with learning via interaction and </a:t>
            </a:r>
            <a:r>
              <a:rPr lang="en-US" dirty="0" smtClean="0"/>
              <a:t>feedback.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Deep Reinforcement Learning Masters Atari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DeepMind</a:t>
            </a:r>
            <a:r>
              <a:rPr lang="en-US" dirty="0"/>
              <a:t> astonished the </a:t>
            </a:r>
            <a:r>
              <a:rPr lang="en-US" dirty="0" smtClean="0"/>
              <a:t>machine learning </a:t>
            </a:r>
            <a:r>
              <a:rPr lang="en-US" dirty="0"/>
              <a:t>community by unveiling a deep neural network that could learn to play </a:t>
            </a:r>
            <a:r>
              <a:rPr lang="en-US" dirty="0" smtClean="0"/>
              <a:t>Atari games </a:t>
            </a:r>
            <a:r>
              <a:rPr lang="en-US" dirty="0"/>
              <a:t>with superhuman </a:t>
            </a:r>
            <a:r>
              <a:rPr lang="en-US" dirty="0" smtClean="0"/>
              <a:t>skill.</a:t>
            </a:r>
          </a:p>
          <a:p>
            <a:r>
              <a:rPr lang="en-US" dirty="0" smtClean="0"/>
              <a:t>This </a:t>
            </a:r>
            <a:r>
              <a:rPr lang="en-US" dirty="0"/>
              <a:t>network, termed a </a:t>
            </a:r>
            <a:r>
              <a:rPr lang="en-US" i="1" dirty="0"/>
              <a:t>Deep Q-Network (DQN) </a:t>
            </a:r>
            <a:r>
              <a:rPr lang="en-US" i="1" dirty="0" smtClean="0"/>
              <a:t>was </a:t>
            </a:r>
            <a:r>
              <a:rPr lang="en-US" dirty="0" smtClean="0"/>
              <a:t>the </a:t>
            </a:r>
            <a:r>
              <a:rPr lang="en-US" dirty="0"/>
              <a:t>first large-scale successful application of reinforcement learning with deep </a:t>
            </a:r>
            <a:r>
              <a:rPr lang="en-US" dirty="0" smtClean="0"/>
              <a:t>neural networks.</a:t>
            </a:r>
          </a:p>
          <a:p>
            <a:r>
              <a:rPr lang="en-US" dirty="0" smtClean="0"/>
              <a:t>DQN </a:t>
            </a:r>
            <a:r>
              <a:rPr lang="en-US" dirty="0"/>
              <a:t>was so remarkable because the same architecture, without </a:t>
            </a:r>
            <a:r>
              <a:rPr lang="en-US" dirty="0" smtClean="0"/>
              <a:t>any changes</a:t>
            </a:r>
            <a:r>
              <a:rPr lang="en-US" dirty="0"/>
              <a:t>, was capable of learning 49 different Atari games, despite each game </a:t>
            </a:r>
            <a:r>
              <a:rPr lang="en-US" dirty="0" smtClean="0"/>
              <a:t>having different </a:t>
            </a:r>
            <a:r>
              <a:rPr lang="en-US" dirty="0"/>
              <a:t>rules, goals, and </a:t>
            </a:r>
            <a:r>
              <a:rPr lang="en-US" dirty="0" err="1"/>
              <a:t>gameplay</a:t>
            </a:r>
            <a:r>
              <a:rPr lang="en-US" dirty="0"/>
              <a:t>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3300"/>
                </a:solidFill>
              </a:rPr>
              <a:t>What Is Reinforcement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Reinforcement learning, at its essentials, is learning by interacting with an environment.</a:t>
            </a:r>
          </a:p>
          <a:p>
            <a:r>
              <a:rPr lang="en-US" dirty="0"/>
              <a:t>This learning process involves an </a:t>
            </a:r>
            <a:r>
              <a:rPr lang="en-US" i="1" dirty="0"/>
              <a:t>actor, an environment, and a reward signal.</a:t>
            </a:r>
          </a:p>
          <a:p>
            <a:r>
              <a:rPr lang="en-US" dirty="0"/>
              <a:t>The actor chooses to take an action in the environment, for which the actor is </a:t>
            </a:r>
            <a:r>
              <a:rPr lang="en-US" dirty="0" smtClean="0"/>
              <a:t>rewarded accordingly.</a:t>
            </a:r>
          </a:p>
          <a:p>
            <a:r>
              <a:rPr lang="en-US" dirty="0" smtClean="0"/>
              <a:t> </a:t>
            </a:r>
            <a:r>
              <a:rPr lang="en-US" dirty="0"/>
              <a:t>The way in which an actor chooses actions is called a </a:t>
            </a:r>
            <a:r>
              <a:rPr lang="en-US" i="1" dirty="0"/>
              <a:t>policy. </a:t>
            </a:r>
            <a:r>
              <a:rPr lang="en-US" i="1" dirty="0" smtClean="0"/>
              <a:t>The </a:t>
            </a:r>
            <a:r>
              <a:rPr lang="en-US" dirty="0" smtClean="0"/>
              <a:t>actor </a:t>
            </a:r>
            <a:r>
              <a:rPr lang="en-US" dirty="0"/>
              <a:t>wants to increase the reward it receives, and so must learn an optimal policy </a:t>
            </a:r>
            <a:r>
              <a:rPr lang="en-US" dirty="0" smtClean="0"/>
              <a:t>for interacting </a:t>
            </a:r>
            <a:r>
              <a:rPr lang="en-US" dirty="0"/>
              <a:t>with the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Reinforcement  architecture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0"/>
            <a:ext cx="8610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324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supervised </a:t>
            </a:r>
            <a:r>
              <a:rPr lang="en-US" dirty="0"/>
              <a:t>learning, we are given data and labels, and </a:t>
            </a:r>
            <a:r>
              <a:rPr lang="en-US" dirty="0" smtClean="0"/>
              <a:t>are tasked </a:t>
            </a:r>
            <a:r>
              <a:rPr lang="en-US" dirty="0"/>
              <a:t>with predicting labels given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In unsupervised learning, </a:t>
            </a:r>
            <a:r>
              <a:rPr lang="en-US" dirty="0" smtClean="0"/>
              <a:t>data </a:t>
            </a:r>
            <a:r>
              <a:rPr lang="en-US" dirty="0"/>
              <a:t>and are tasked with discovering underlying structure in this data. </a:t>
            </a:r>
            <a:endParaRPr lang="en-US" dirty="0" smtClean="0"/>
          </a:p>
          <a:p>
            <a:r>
              <a:rPr lang="en-US" dirty="0" smtClean="0"/>
              <a:t>In reinforcement learning</a:t>
            </a:r>
            <a:r>
              <a:rPr lang="en-US" dirty="0"/>
              <a:t>, we are given neither data nor labels. </a:t>
            </a:r>
            <a:endParaRPr lang="en-US" dirty="0" smtClean="0"/>
          </a:p>
          <a:p>
            <a:r>
              <a:rPr lang="en-US" dirty="0" smtClean="0"/>
              <a:t>Our </a:t>
            </a:r>
            <a:r>
              <a:rPr lang="en-US" dirty="0"/>
              <a:t>learning signal is </a:t>
            </a:r>
            <a:r>
              <a:rPr lang="en-US" dirty="0" smtClean="0"/>
              <a:t>derived from </a:t>
            </a:r>
            <a:r>
              <a:rPr lang="en-US" dirty="0"/>
              <a:t>the rewards given to the agent by the environment.</a:t>
            </a:r>
          </a:p>
          <a:p>
            <a:r>
              <a:rPr lang="en-US" dirty="0"/>
              <a:t>Reinforcement learning is exciting to many in the artificial intelligence community</a:t>
            </a:r>
          </a:p>
          <a:p>
            <a:r>
              <a:rPr lang="en-US" dirty="0"/>
              <a:t>because it is a general-purpose framework for creating intelligent agents. </a:t>
            </a:r>
            <a:endParaRPr lang="en-US" dirty="0" smtClean="0"/>
          </a:p>
          <a:p>
            <a:r>
              <a:rPr lang="en-US" dirty="0" smtClean="0"/>
              <a:t>Given an environment </a:t>
            </a:r>
            <a:r>
              <a:rPr lang="en-US" dirty="0"/>
              <a:t>and some rewards, the agent learns to interact with that environment </a:t>
            </a:r>
            <a:r>
              <a:rPr lang="en-US" dirty="0" smtClean="0"/>
              <a:t>to maximize </a:t>
            </a:r>
            <a:r>
              <a:rPr lang="en-US" dirty="0"/>
              <a:t>its total reward. This type of learning is more in line with how </a:t>
            </a:r>
            <a:r>
              <a:rPr lang="en-US" dirty="0" smtClean="0"/>
              <a:t>humans develop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Furthermore</a:t>
            </a:r>
            <a:r>
              <a:rPr lang="en-US" dirty="0"/>
              <a:t>, reinforcement learning applications are at the forefront of </a:t>
            </a:r>
            <a:r>
              <a:rPr lang="en-US" dirty="0" smtClean="0"/>
              <a:t>many cutting-edge </a:t>
            </a:r>
            <a:r>
              <a:rPr lang="en-US" dirty="0"/>
              <a:t>technologies including self-driving cars, robotic motor control, </a:t>
            </a:r>
            <a:r>
              <a:rPr lang="en-US" dirty="0" smtClean="0"/>
              <a:t>game playing</a:t>
            </a:r>
            <a:r>
              <a:rPr lang="en-US" dirty="0"/>
              <a:t>, air-conditioning control, ad-placement optimization, and stock market </a:t>
            </a:r>
            <a:r>
              <a:rPr lang="en-US" dirty="0" smtClean="0"/>
              <a:t>trading strategies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C3300"/>
                </a:solidFill>
              </a:rPr>
              <a:t>Markov Decision Processes (MDP)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Our pole-balancing example has a few important elements, which we formalize as a</a:t>
            </a:r>
          </a:p>
          <a:p>
            <a:r>
              <a:rPr lang="en-US" i="1" dirty="0"/>
              <a:t>Markov Decision Process (MDP). These elements are:</a:t>
            </a:r>
          </a:p>
          <a:p>
            <a:r>
              <a:rPr lang="en-US" b="1" i="1" dirty="0"/>
              <a:t>State</a:t>
            </a:r>
          </a:p>
          <a:p>
            <a:r>
              <a:rPr lang="en-US" dirty="0"/>
              <a:t>The cart has a range of possible places on the x-plane where it can be. Similarly,</a:t>
            </a:r>
          </a:p>
          <a:p>
            <a:r>
              <a:rPr lang="en-US" dirty="0"/>
              <a:t>the pole has a range of possible angles.</a:t>
            </a:r>
          </a:p>
          <a:p>
            <a:r>
              <a:rPr lang="en-US" b="1" i="1" dirty="0"/>
              <a:t>Action</a:t>
            </a:r>
          </a:p>
          <a:p>
            <a:r>
              <a:rPr lang="en-US" dirty="0"/>
              <a:t>The agent can take action by moving the cart either left or right.</a:t>
            </a:r>
          </a:p>
          <a:p>
            <a:r>
              <a:rPr lang="en-US" b="1" i="1" dirty="0"/>
              <a:t>State Transition</a:t>
            </a:r>
          </a:p>
          <a:p>
            <a:r>
              <a:rPr lang="en-US" dirty="0"/>
              <a:t>When the agent acts, the environment changes—the cart moves and the pole</a:t>
            </a:r>
          </a:p>
          <a:p>
            <a:r>
              <a:rPr lang="en-US" dirty="0"/>
              <a:t>changes angle and velocity.</a:t>
            </a:r>
          </a:p>
          <a:p>
            <a:r>
              <a:rPr lang="en-US" b="1" i="1" dirty="0"/>
              <a:t>Reward</a:t>
            </a:r>
          </a:p>
          <a:p>
            <a:r>
              <a:rPr lang="en-US" dirty="0"/>
              <a:t>If an agent balances the pole well, it receives a positive reward. If the pole falls,</a:t>
            </a:r>
          </a:p>
          <a:p>
            <a:r>
              <a:rPr lang="en-US" dirty="0"/>
              <a:t>the agent receives a negative reward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MDP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MDP is defined as the following:</a:t>
            </a:r>
          </a:p>
          <a:p>
            <a:r>
              <a:rPr lang="en-US" dirty="0" smtClean="0"/>
              <a:t> </a:t>
            </a:r>
            <a:r>
              <a:rPr lang="en-US" i="1" dirty="0" smtClean="0"/>
              <a:t>S, a finite set of possible states</a:t>
            </a:r>
          </a:p>
          <a:p>
            <a:r>
              <a:rPr lang="en-US" i="1" dirty="0" smtClean="0"/>
              <a:t>A, a finite set of actions</a:t>
            </a:r>
          </a:p>
          <a:p>
            <a:r>
              <a:rPr lang="en-US" dirty="0" smtClean="0"/>
              <a:t> </a:t>
            </a:r>
            <a:r>
              <a:rPr lang="en-US" i="1" dirty="0" smtClean="0"/>
              <a:t>P r, s′ s, a , a state transition function</a:t>
            </a:r>
          </a:p>
          <a:p>
            <a:r>
              <a:rPr lang="en-US" dirty="0" smtClean="0"/>
              <a:t> </a:t>
            </a:r>
            <a:r>
              <a:rPr lang="en-US" i="1" dirty="0" smtClean="0"/>
              <a:t>R, reward function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FF"/>
                </a:solidFill>
              </a:rPr>
              <a:t>Mathematical </a:t>
            </a:r>
            <a:r>
              <a:rPr lang="en-US" dirty="0">
                <a:solidFill>
                  <a:srgbClr val="FF00FF"/>
                </a:solidFill>
              </a:rPr>
              <a:t>framework for modeling decision-making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19200"/>
            <a:ext cx="8839200" cy="5638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As an agent takes action in an MDP framework, it forms an </a:t>
            </a:r>
            <a:r>
              <a:rPr lang="en-US" i="1" dirty="0"/>
              <a:t>episode. An episode </a:t>
            </a:r>
            <a:r>
              <a:rPr lang="en-US" i="1" dirty="0" smtClean="0"/>
              <a:t>consists </a:t>
            </a:r>
            <a:r>
              <a:rPr lang="en-US" dirty="0" smtClean="0"/>
              <a:t>of </a:t>
            </a:r>
            <a:r>
              <a:rPr lang="en-US" dirty="0"/>
              <a:t>series of </a:t>
            </a:r>
            <a:r>
              <a:rPr lang="en-US" dirty="0" err="1"/>
              <a:t>tuples</a:t>
            </a:r>
            <a:r>
              <a:rPr lang="en-US" dirty="0"/>
              <a:t> of states, actions, and rewards. </a:t>
            </a:r>
            <a:endParaRPr lang="en-US" dirty="0" smtClean="0"/>
          </a:p>
          <a:p>
            <a:r>
              <a:rPr lang="en-US" dirty="0" smtClean="0"/>
              <a:t>Episodes </a:t>
            </a:r>
            <a:r>
              <a:rPr lang="en-US" dirty="0"/>
              <a:t>run until the </a:t>
            </a:r>
            <a:r>
              <a:rPr lang="en-US" dirty="0" smtClean="0"/>
              <a:t>environment reaches </a:t>
            </a:r>
            <a:r>
              <a:rPr lang="en-US" dirty="0"/>
              <a:t>a terminal state, like the “Game Over” screen in Atari games, or </a:t>
            </a:r>
            <a:r>
              <a:rPr lang="en-US" dirty="0" smtClean="0"/>
              <a:t>when the </a:t>
            </a:r>
            <a:r>
              <a:rPr lang="en-US" dirty="0"/>
              <a:t>pole hits the ground in our pole-cart example.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following equation shows </a:t>
            </a:r>
            <a:r>
              <a:rPr lang="en-US" dirty="0" smtClean="0"/>
              <a:t>the variables </a:t>
            </a:r>
            <a:r>
              <a:rPr lang="en-US" dirty="0"/>
              <a:t>in an episode:</a:t>
            </a:r>
          </a:p>
          <a:p>
            <a:pPr>
              <a:buNone/>
            </a:pPr>
            <a:r>
              <a:rPr lang="pt-BR" i="1" dirty="0" smtClean="0"/>
              <a:t>			(s</a:t>
            </a:r>
            <a:r>
              <a:rPr lang="pt-BR" i="1" baseline="-25000" dirty="0" smtClean="0"/>
              <a:t>0</a:t>
            </a:r>
            <a:r>
              <a:rPr lang="pt-BR" i="1" dirty="0"/>
              <a:t>, </a:t>
            </a:r>
            <a:r>
              <a:rPr lang="pt-BR" i="1" dirty="0" smtClean="0"/>
              <a:t>a</a:t>
            </a:r>
            <a:r>
              <a:rPr lang="pt-BR" i="1" baseline="-25000" dirty="0" smtClean="0"/>
              <a:t>0  ,</a:t>
            </a:r>
            <a:r>
              <a:rPr lang="pt-BR" i="1" dirty="0" smtClean="0"/>
              <a:t> r</a:t>
            </a:r>
            <a:r>
              <a:rPr lang="pt-BR" i="1" baseline="-25000" dirty="0" smtClean="0"/>
              <a:t>0</a:t>
            </a:r>
            <a:r>
              <a:rPr lang="pt-BR" i="1" dirty="0" smtClean="0"/>
              <a:t> ),( </a:t>
            </a:r>
            <a:r>
              <a:rPr lang="pt-BR" i="1" dirty="0"/>
              <a:t>s</a:t>
            </a:r>
            <a:r>
              <a:rPr lang="pt-BR" i="1" baseline="-25000" dirty="0"/>
              <a:t>1</a:t>
            </a:r>
            <a:r>
              <a:rPr lang="pt-BR" i="1" dirty="0"/>
              <a:t>, a</a:t>
            </a:r>
            <a:r>
              <a:rPr lang="pt-BR" i="1" baseline="-25000" dirty="0"/>
              <a:t>1</a:t>
            </a:r>
            <a:r>
              <a:rPr lang="pt-BR" i="1" dirty="0"/>
              <a:t>, r</a:t>
            </a:r>
            <a:r>
              <a:rPr lang="pt-BR" i="1" baseline="-25000" dirty="0"/>
              <a:t>1</a:t>
            </a:r>
            <a:r>
              <a:rPr lang="pt-BR" i="1" dirty="0"/>
              <a:t> </a:t>
            </a:r>
            <a:r>
              <a:rPr lang="pt-BR" i="1" dirty="0" smtClean="0"/>
              <a:t>), </a:t>
            </a:r>
            <a:r>
              <a:rPr lang="pt-BR" i="1" dirty="0"/>
              <a:t>. . . </a:t>
            </a:r>
            <a:r>
              <a:rPr lang="pt-BR" i="1" dirty="0" smtClean="0"/>
              <a:t>(s</a:t>
            </a:r>
            <a:r>
              <a:rPr lang="pt-BR" i="1" baseline="-25000" dirty="0" smtClean="0"/>
              <a:t>n</a:t>
            </a:r>
            <a:r>
              <a:rPr lang="pt-BR" i="1" dirty="0"/>
              <a:t>, a</a:t>
            </a:r>
            <a:r>
              <a:rPr lang="pt-BR" i="1" baseline="-25000" dirty="0"/>
              <a:t>n</a:t>
            </a:r>
            <a:r>
              <a:rPr lang="pt-BR" i="1" dirty="0"/>
              <a:t>, </a:t>
            </a:r>
            <a:r>
              <a:rPr lang="pt-BR" i="1" dirty="0" smtClean="0"/>
              <a:t>r</a:t>
            </a:r>
            <a:r>
              <a:rPr lang="pt-BR" i="1" baseline="-25000" dirty="0" smtClean="0"/>
              <a:t>n</a:t>
            </a:r>
            <a:r>
              <a:rPr lang="pt-BR" i="1" dirty="0" smtClean="0"/>
              <a:t>)</a:t>
            </a:r>
            <a:endParaRPr lang="pt-BR" i="1" dirty="0"/>
          </a:p>
          <a:p>
            <a:r>
              <a:rPr lang="en-US" dirty="0"/>
              <a:t>In pole-cart, our environment state can be a </a:t>
            </a:r>
            <a:r>
              <a:rPr lang="en-US" dirty="0" err="1"/>
              <a:t>tuple</a:t>
            </a:r>
            <a:r>
              <a:rPr lang="en-US" dirty="0"/>
              <a:t> of the position of the cart and </a:t>
            </a:r>
            <a:r>
              <a:rPr lang="en-US" dirty="0" smtClean="0"/>
              <a:t>the angle </a:t>
            </a:r>
            <a:r>
              <a:rPr lang="en-US" dirty="0"/>
              <a:t>of the pole, like so: 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(</a:t>
            </a:r>
            <a:r>
              <a:rPr lang="en-US" i="1" dirty="0" err="1"/>
              <a:t>x</a:t>
            </a:r>
            <a:r>
              <a:rPr lang="en-US" i="1" baseline="-25000" dirty="0" err="1"/>
              <a:t>cart</a:t>
            </a:r>
            <a:r>
              <a:rPr lang="en-US" i="1" dirty="0"/>
              <a:t>, </a:t>
            </a:r>
            <a:r>
              <a:rPr lang="en-US" i="1" dirty="0" err="1"/>
              <a:t>θ</a:t>
            </a:r>
            <a:r>
              <a:rPr lang="en-US" i="1" baseline="-25000" dirty="0" err="1"/>
              <a:t>pole</a:t>
            </a:r>
            <a:r>
              <a:rPr lang="en-US" i="1" dirty="0"/>
              <a:t>).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Policy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MDP’s </a:t>
            </a:r>
            <a:r>
              <a:rPr lang="en-US" dirty="0"/>
              <a:t>aim is to find an optimal policy for our agent. </a:t>
            </a:r>
            <a:r>
              <a:rPr lang="en-US" i="1" dirty="0"/>
              <a:t>Policies are the way in which</a:t>
            </a:r>
          </a:p>
          <a:p>
            <a:r>
              <a:rPr lang="en-US" dirty="0"/>
              <a:t>our agent acts based on its current state. Formally, policies can be represented as a</a:t>
            </a:r>
          </a:p>
          <a:p>
            <a:r>
              <a:rPr lang="en-US" dirty="0"/>
              <a:t>function </a:t>
            </a:r>
            <a:r>
              <a:rPr lang="en-US" i="1" dirty="0"/>
              <a:t>π that chooses the action a that the agent will take in state s.</a:t>
            </a:r>
          </a:p>
          <a:p>
            <a:r>
              <a:rPr lang="en-US" dirty="0"/>
              <a:t>The objective of our MDP is to find a policy to maximize the expected future return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5943600"/>
            <a:ext cx="36576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Explore Versus Exploit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Reinforcement learning is fundamentally a trial-and-error process.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such a </a:t>
            </a:r>
            <a:r>
              <a:rPr lang="en-US" dirty="0" smtClean="0"/>
              <a:t>framework, an </a:t>
            </a:r>
            <a:r>
              <a:rPr lang="en-US" dirty="0"/>
              <a:t>agent afraid to make mistakes can prove to be highly </a:t>
            </a:r>
            <a:r>
              <a:rPr lang="en-US" dirty="0" smtClean="0"/>
              <a:t>problematic.</a:t>
            </a:r>
          </a:p>
          <a:p>
            <a:r>
              <a:rPr lang="en-US" dirty="0"/>
              <a:t>A mouse is placed in the </a:t>
            </a:r>
            <a:r>
              <a:rPr lang="en-US" dirty="0" smtClean="0"/>
              <a:t>maze </a:t>
            </a:r>
          </a:p>
          <a:p>
            <a:r>
              <a:rPr lang="en-US" dirty="0" smtClean="0"/>
              <a:t>Our agent must </a:t>
            </a:r>
            <a:r>
              <a:rPr lang="en-US" dirty="0"/>
              <a:t>control the mouse to maximize reward. If the mouse gets the water, it receives </a:t>
            </a:r>
            <a:r>
              <a:rPr lang="en-US" dirty="0" smtClean="0"/>
              <a:t>a reward </a:t>
            </a:r>
            <a:r>
              <a:rPr lang="en-US" dirty="0"/>
              <a:t>of +1; if the mouse reaches a poison container (red), it receives a reward </a:t>
            </a:r>
            <a:r>
              <a:rPr lang="en-US" dirty="0" smtClean="0"/>
              <a:t>of -10</a:t>
            </a:r>
            <a:r>
              <a:rPr lang="en-US" dirty="0"/>
              <a:t>; if the mouse gets the cheese, it receives a reward of +100. </a:t>
            </a:r>
            <a:endParaRPr lang="en-US" dirty="0" smtClean="0"/>
          </a:p>
          <a:p>
            <a:r>
              <a:rPr lang="en-US" dirty="0" smtClean="0"/>
              <a:t>Upon </a:t>
            </a:r>
            <a:r>
              <a:rPr lang="en-US" dirty="0"/>
              <a:t>receiving </a:t>
            </a:r>
            <a:r>
              <a:rPr lang="en-US" dirty="0" smtClean="0"/>
              <a:t>reward, the </a:t>
            </a:r>
            <a:r>
              <a:rPr lang="en-US" dirty="0"/>
              <a:t>episode is over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optimal policy involves the mouse successfully navigating </a:t>
            </a:r>
            <a:r>
              <a:rPr lang="en-US" dirty="0" smtClean="0"/>
              <a:t>to the </a:t>
            </a:r>
            <a:r>
              <a:rPr lang="en-US" dirty="0"/>
              <a:t>cheese and eating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0150" y="871538"/>
            <a:ext cx="6743700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458200" cy="6400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mouse takes the left route, steps on a trap, and receives a -</a:t>
            </a:r>
            <a:r>
              <a:rPr lang="en-US" dirty="0" smtClean="0"/>
              <a:t>10 reward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second episode, the mouse avoids the left path, since it resulted in </a:t>
            </a:r>
            <a:r>
              <a:rPr lang="en-US" dirty="0" smtClean="0"/>
              <a:t>such a </a:t>
            </a:r>
            <a:r>
              <a:rPr lang="en-US" dirty="0"/>
              <a:t>negative reward, and drinks the water immediately to its right for a +1 reward. </a:t>
            </a:r>
            <a:r>
              <a:rPr lang="en-US" dirty="0" smtClean="0"/>
              <a:t>After two </a:t>
            </a:r>
            <a:r>
              <a:rPr lang="en-US" dirty="0"/>
              <a:t>episodes, it would seem that the mouse has found a good policy. It continues </a:t>
            </a:r>
            <a:r>
              <a:rPr lang="en-US" dirty="0" smtClean="0"/>
              <a:t>to follow </a:t>
            </a:r>
            <a:r>
              <a:rPr lang="en-US" dirty="0"/>
              <a:t>its learned policy on subsequent episodes and achieves the moderate +</a:t>
            </a:r>
            <a:r>
              <a:rPr lang="en-US" dirty="0" smtClean="0"/>
              <a:t>1 reward </a:t>
            </a:r>
            <a:r>
              <a:rPr lang="en-US" dirty="0"/>
              <a:t>reliably. Since our agent utilizes a greedy strategy—always choosing the </a:t>
            </a:r>
            <a:r>
              <a:rPr lang="en-US" dirty="0" smtClean="0"/>
              <a:t>model’s best </a:t>
            </a:r>
            <a:r>
              <a:rPr lang="en-US" dirty="0"/>
              <a:t>action—it is stuck in a policy that is a </a:t>
            </a:r>
            <a:r>
              <a:rPr lang="en-US" i="1" dirty="0"/>
              <a:t>local maximum.</a:t>
            </a:r>
          </a:p>
          <a:p>
            <a:r>
              <a:rPr lang="en-US" dirty="0"/>
              <a:t>To prevent such a situation, it may be useful for the agent to deviate from the </a:t>
            </a:r>
            <a:r>
              <a:rPr lang="en-US" dirty="0" smtClean="0"/>
              <a:t>model’s recommendation </a:t>
            </a:r>
            <a:r>
              <a:rPr lang="en-US" dirty="0"/>
              <a:t>and take a suboptimal action in order to </a:t>
            </a:r>
            <a:r>
              <a:rPr lang="en-US" i="1" dirty="0"/>
              <a:t>explore more of the environment.</a:t>
            </a:r>
          </a:p>
          <a:p>
            <a:r>
              <a:rPr lang="en-US" dirty="0"/>
              <a:t>So instead of taking the immediate right turn to </a:t>
            </a:r>
            <a:r>
              <a:rPr lang="en-US" i="1" dirty="0"/>
              <a:t>exploit the environment </a:t>
            </a:r>
            <a:r>
              <a:rPr lang="en-US" i="1" dirty="0" smtClean="0"/>
              <a:t>to </a:t>
            </a:r>
            <a:r>
              <a:rPr lang="en-US" dirty="0" smtClean="0"/>
              <a:t>get </a:t>
            </a:r>
            <a:r>
              <a:rPr lang="en-US" dirty="0"/>
              <a:t>water and the reliable +1 reward, our agent may choose to take a left turn </a:t>
            </a:r>
            <a:r>
              <a:rPr lang="en-US" dirty="0" smtClean="0"/>
              <a:t>and venture </a:t>
            </a:r>
            <a:r>
              <a:rPr lang="en-US" dirty="0"/>
              <a:t>into more treacherous areas in search of a more optimal policy. </a:t>
            </a:r>
            <a:endParaRPr lang="en-US" dirty="0" smtClean="0"/>
          </a:p>
          <a:p>
            <a:r>
              <a:rPr lang="en-US" dirty="0" smtClean="0"/>
              <a:t>Too much exploration</a:t>
            </a:r>
            <a:r>
              <a:rPr lang="en-US" dirty="0"/>
              <a:t>, and our agent fails to optimize any reward. Not enough exploration </a:t>
            </a:r>
            <a:r>
              <a:rPr lang="en-US" dirty="0" smtClean="0"/>
              <a:t>can result </a:t>
            </a:r>
            <a:r>
              <a:rPr lang="en-US" dirty="0"/>
              <a:t>in our agent getting stuck in local minimum. This balance of </a:t>
            </a:r>
            <a:r>
              <a:rPr lang="en-US" i="1" dirty="0"/>
              <a:t>explore </a:t>
            </a:r>
            <a:r>
              <a:rPr lang="en-US" i="1" dirty="0" smtClean="0"/>
              <a:t>versus exploit </a:t>
            </a:r>
            <a:r>
              <a:rPr lang="en-US" i="1" dirty="0"/>
              <a:t>is crucial to learning a successful policy.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Q-Learning and Deep Q-Networks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Q-learning is in the category of reinforcement learning called value-learning. </a:t>
            </a:r>
            <a:endParaRPr lang="en-US" dirty="0" smtClean="0"/>
          </a:p>
          <a:p>
            <a:r>
              <a:rPr lang="en-US" dirty="0" smtClean="0"/>
              <a:t>Instead of </a:t>
            </a:r>
            <a:r>
              <a:rPr lang="en-US" dirty="0"/>
              <a:t>directly learning a policy, we will be learning the value of states and actions. </a:t>
            </a:r>
            <a:endParaRPr lang="en-US" dirty="0" smtClean="0"/>
          </a:p>
          <a:p>
            <a:r>
              <a:rPr lang="en-US" dirty="0" err="1" smtClean="0"/>
              <a:t>Qlearning</a:t>
            </a:r>
            <a:r>
              <a:rPr lang="en-US" dirty="0" smtClean="0"/>
              <a:t> involves </a:t>
            </a:r>
            <a:r>
              <a:rPr lang="en-US" dirty="0"/>
              <a:t>learning a function, a </a:t>
            </a:r>
            <a:r>
              <a:rPr lang="en-US" i="1" dirty="0"/>
              <a:t>Q-function, which represents the quality of </a:t>
            </a:r>
            <a:r>
              <a:rPr lang="en-US" i="1" dirty="0" smtClean="0"/>
              <a:t>a </a:t>
            </a:r>
            <a:r>
              <a:rPr lang="en-US" dirty="0" smtClean="0"/>
              <a:t>state</a:t>
            </a:r>
            <a:r>
              <a:rPr lang="en-US" dirty="0"/>
              <a:t>, action pair. The Q-function, defined </a:t>
            </a:r>
            <a:r>
              <a:rPr lang="en-US" i="1" dirty="0"/>
              <a:t>Q(s, a), is a function that calculates </a:t>
            </a:r>
            <a:r>
              <a:rPr lang="en-US" i="1" dirty="0" smtClean="0"/>
              <a:t>the </a:t>
            </a:r>
            <a:r>
              <a:rPr lang="en-US" dirty="0" smtClean="0"/>
              <a:t>maximum </a:t>
            </a:r>
            <a:r>
              <a:rPr lang="en-US" dirty="0"/>
              <a:t>discounted future return when action a is performed in state s.</a:t>
            </a:r>
          </a:p>
          <a:p>
            <a:r>
              <a:rPr lang="en-US" dirty="0"/>
              <a:t>The Q-value represents our expected long-term rewards, given we are at a state, </a:t>
            </a:r>
            <a:r>
              <a:rPr lang="en-US" dirty="0" smtClean="0"/>
              <a:t>and take </a:t>
            </a:r>
            <a:r>
              <a:rPr lang="en-US" dirty="0"/>
              <a:t>an action, and then take every subsequent action perfectly (to </a:t>
            </a:r>
            <a:r>
              <a:rPr lang="en-US" dirty="0" smtClean="0"/>
              <a:t>maximize expected </a:t>
            </a:r>
            <a:r>
              <a:rPr lang="en-US" dirty="0"/>
              <a:t>future reward). This can be expressed formally as: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0" y="5943600"/>
            <a:ext cx="4114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Improving and Moving Beyond DQN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DQN’s many weaknesses include that it takes very long to </a:t>
            </a:r>
            <a:r>
              <a:rPr lang="en-US" dirty="0" smtClean="0"/>
              <a:t>train, doesn’t </a:t>
            </a:r>
            <a:r>
              <a:rPr lang="en-US" dirty="0"/>
              <a:t>work well on certain types of games, and requires retraining for </a:t>
            </a:r>
            <a:r>
              <a:rPr lang="en-US" dirty="0" smtClean="0"/>
              <a:t>every new game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33CC"/>
                </a:solidFill>
              </a:rPr>
              <a:t>Deep Recurrent Q-Networks (DRQN)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5029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DRQN uses a recurrent layer to transfer a latent knowledge of state from one </a:t>
            </a:r>
            <a:r>
              <a:rPr lang="en-US" dirty="0" smtClean="0"/>
              <a:t>time step </a:t>
            </a:r>
            <a:r>
              <a:rPr lang="en-US" dirty="0"/>
              <a:t>to the next.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model itself can learn how many frames are </a:t>
            </a:r>
            <a:r>
              <a:rPr lang="en-US" dirty="0" smtClean="0"/>
              <a:t>informative to </a:t>
            </a:r>
            <a:r>
              <a:rPr lang="en-US" dirty="0"/>
              <a:t>include in its state and can even learn to throw away </a:t>
            </a:r>
            <a:r>
              <a:rPr lang="en-US" dirty="0" smtClean="0"/>
              <a:t>non-informative </a:t>
            </a:r>
            <a:r>
              <a:rPr lang="en-US" dirty="0"/>
              <a:t>ones </a:t>
            </a:r>
            <a:r>
              <a:rPr lang="en-US" dirty="0" smtClean="0"/>
              <a:t>or remember </a:t>
            </a:r>
            <a:r>
              <a:rPr lang="en-US" dirty="0"/>
              <a:t>things from long ago.</a:t>
            </a:r>
          </a:p>
          <a:p>
            <a:r>
              <a:rPr lang="en-US" dirty="0"/>
              <a:t>DRQN has even been extended to include neural attention </a:t>
            </a:r>
            <a:r>
              <a:rPr lang="en-US" dirty="0" smtClean="0"/>
              <a:t>mechanism</a:t>
            </a:r>
          </a:p>
          <a:p>
            <a:r>
              <a:rPr lang="en-US" dirty="0" smtClean="0"/>
              <a:t> Since DRQN </a:t>
            </a:r>
            <a:r>
              <a:rPr lang="en-US" dirty="0"/>
              <a:t>is dealing with sequences of data, it can attend to certain parts of </a:t>
            </a:r>
            <a:r>
              <a:rPr lang="en-US" dirty="0" smtClean="0"/>
              <a:t>the sequence.</a:t>
            </a:r>
          </a:p>
          <a:p>
            <a:r>
              <a:rPr lang="en-US" dirty="0" smtClean="0"/>
              <a:t> </a:t>
            </a:r>
            <a:r>
              <a:rPr lang="en-US" dirty="0"/>
              <a:t>This ability to attend to certain parts of the image both improves </a:t>
            </a:r>
            <a:r>
              <a:rPr lang="en-US" dirty="0" smtClean="0"/>
              <a:t>performance and </a:t>
            </a:r>
            <a:r>
              <a:rPr lang="en-US" dirty="0"/>
              <a:t>provides model interpretability by producing a rationale for the </a:t>
            </a:r>
            <a:r>
              <a:rPr lang="en-US" dirty="0" smtClean="0"/>
              <a:t>action taken</a:t>
            </a:r>
            <a:r>
              <a:rPr lang="en-US" dirty="0"/>
              <a:t>.</a:t>
            </a:r>
          </a:p>
          <a:p>
            <a:r>
              <a:rPr lang="en-US" dirty="0"/>
              <a:t>DRQN has shown to be better than DQN at playing first-person shooter (FPS) </a:t>
            </a:r>
            <a:r>
              <a:rPr lang="en-US" dirty="0" smtClean="0"/>
              <a:t>games like </a:t>
            </a:r>
            <a:r>
              <a:rPr lang="en-US" dirty="0"/>
              <a:t>DOOM,6 as well as improving performance on certain Atari games with </a:t>
            </a:r>
            <a:r>
              <a:rPr lang="en-US" dirty="0" smtClean="0"/>
              <a:t>long time-dependencies</a:t>
            </a:r>
            <a:r>
              <a:rPr lang="en-US" dirty="0"/>
              <a:t>, like </a:t>
            </a:r>
            <a:r>
              <a:rPr lang="en-US" dirty="0" err="1" smtClean="0"/>
              <a:t>Seaquest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Asynchronous Advantage Actor-Critic Agent (A3C)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10000"/>
          </a:bodyPr>
          <a:lstStyle/>
          <a:p>
            <a:r>
              <a:rPr lang="en-US" i="1" dirty="0"/>
              <a:t>Asynchronous advantage actor-critic (A3C) is a new approach to deep </a:t>
            </a:r>
            <a:r>
              <a:rPr lang="en-US" i="1" dirty="0" smtClean="0"/>
              <a:t>reinforcement </a:t>
            </a:r>
            <a:r>
              <a:rPr lang="en-US" dirty="0" smtClean="0"/>
              <a:t>learning</a:t>
            </a:r>
          </a:p>
          <a:p>
            <a:r>
              <a:rPr lang="en-US" dirty="0"/>
              <a:t>A3C is </a:t>
            </a:r>
            <a:r>
              <a:rPr lang="en-US" i="1" dirty="0"/>
              <a:t>asynchronous, which means we can parallelize our agent across many </a:t>
            </a:r>
            <a:r>
              <a:rPr lang="en-US" i="1" dirty="0" smtClean="0"/>
              <a:t>threads, </a:t>
            </a:r>
            <a:r>
              <a:rPr lang="en-US" dirty="0" smtClean="0"/>
              <a:t>which </a:t>
            </a:r>
            <a:r>
              <a:rPr lang="en-US" dirty="0"/>
              <a:t>means orders of magnitude faster training by speeding up our </a:t>
            </a:r>
            <a:r>
              <a:rPr lang="en-US" dirty="0" smtClean="0"/>
              <a:t>environment simulation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A3C </a:t>
            </a:r>
            <a:r>
              <a:rPr lang="en-US" dirty="0"/>
              <a:t>runs many environments at once to gather experiences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Beyond </a:t>
            </a:r>
            <a:r>
              <a:rPr lang="en-US" dirty="0" smtClean="0"/>
              <a:t>the speed </a:t>
            </a:r>
            <a:r>
              <a:rPr lang="en-US" dirty="0"/>
              <a:t>increase, this approach presents another significant advantage in that it </a:t>
            </a:r>
            <a:r>
              <a:rPr lang="en-US" dirty="0" smtClean="0"/>
              <a:t>further </a:t>
            </a:r>
            <a:r>
              <a:rPr lang="en-US" dirty="0" err="1" smtClean="0"/>
              <a:t>decorrelates</a:t>
            </a:r>
            <a:r>
              <a:rPr lang="en-US" dirty="0" smtClean="0"/>
              <a:t> </a:t>
            </a:r>
            <a:r>
              <a:rPr lang="en-US" dirty="0"/>
              <a:t>the experiences in our batches, because the batch is being filled with </a:t>
            </a:r>
            <a:r>
              <a:rPr lang="en-US" dirty="0" smtClean="0"/>
              <a:t>the experiences </a:t>
            </a:r>
            <a:r>
              <a:rPr lang="en-US" dirty="0"/>
              <a:t>of numerous agents in different scenarios simultaneously.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A3C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A3C uses an </a:t>
            </a:r>
            <a:r>
              <a:rPr lang="en-US" i="1" dirty="0"/>
              <a:t>actor-critic9 method</a:t>
            </a:r>
            <a:r>
              <a:rPr lang="en-US" i="1" dirty="0" smtClean="0"/>
              <a:t>.</a:t>
            </a:r>
          </a:p>
          <a:p>
            <a:r>
              <a:rPr lang="en-US" i="1" dirty="0" smtClean="0"/>
              <a:t> </a:t>
            </a:r>
            <a:r>
              <a:rPr lang="en-US" i="1" dirty="0"/>
              <a:t>Actor-critic methods involve learning both a </a:t>
            </a:r>
            <a:r>
              <a:rPr lang="en-US" i="1" dirty="0" smtClean="0"/>
              <a:t>value </a:t>
            </a:r>
            <a:r>
              <a:rPr lang="en-US" dirty="0" smtClean="0"/>
              <a:t>function </a:t>
            </a:r>
            <a:r>
              <a:rPr lang="en-US" i="1" dirty="0"/>
              <a:t>V </a:t>
            </a:r>
            <a:r>
              <a:rPr lang="en-US" i="1" dirty="0" err="1"/>
              <a:t>st</a:t>
            </a:r>
            <a:r>
              <a:rPr lang="en-US" i="1" dirty="0"/>
              <a:t> (the critic) and also a policy π </a:t>
            </a:r>
            <a:r>
              <a:rPr lang="en-US" i="1" dirty="0" err="1"/>
              <a:t>st</a:t>
            </a:r>
            <a:r>
              <a:rPr lang="en-US" i="1" dirty="0"/>
              <a:t> , (the actor). </a:t>
            </a:r>
            <a:endParaRPr lang="en-US" i="1" dirty="0" smtClean="0"/>
          </a:p>
          <a:p>
            <a:r>
              <a:rPr lang="en-US" i="1" dirty="0" smtClean="0"/>
              <a:t>We </a:t>
            </a:r>
            <a:r>
              <a:rPr lang="en-US" dirty="0" smtClean="0"/>
              <a:t>delineated </a:t>
            </a:r>
            <a:r>
              <a:rPr lang="en-US" dirty="0"/>
              <a:t>two different approaches to reinforcement learning: value learning </a:t>
            </a:r>
            <a:r>
              <a:rPr lang="en-US" dirty="0" smtClean="0"/>
              <a:t>and policy </a:t>
            </a:r>
            <a:r>
              <a:rPr lang="en-US" dirty="0"/>
              <a:t>learning. </a:t>
            </a:r>
            <a:endParaRPr lang="en-US" dirty="0" smtClean="0"/>
          </a:p>
          <a:p>
            <a:r>
              <a:rPr lang="en-US" dirty="0" smtClean="0"/>
              <a:t>A3C </a:t>
            </a:r>
            <a:r>
              <a:rPr lang="en-US" dirty="0"/>
              <a:t>combines the strengths of each, using the critic’s value </a:t>
            </a:r>
            <a:r>
              <a:rPr lang="en-US" dirty="0" smtClean="0"/>
              <a:t>function to </a:t>
            </a:r>
            <a:r>
              <a:rPr lang="en-US" dirty="0"/>
              <a:t>improve the actor’s policy.</a:t>
            </a:r>
          </a:p>
          <a:p>
            <a:r>
              <a:rPr lang="en-US" dirty="0"/>
              <a:t>A3C uses an </a:t>
            </a:r>
            <a:r>
              <a:rPr lang="en-US" i="1" dirty="0"/>
              <a:t>advantage function instead of a pure discounted future return. </a:t>
            </a:r>
            <a:endParaRPr lang="en-US" i="1" dirty="0" smtClean="0"/>
          </a:p>
          <a:p>
            <a:r>
              <a:rPr lang="en-US" i="1" dirty="0" smtClean="0"/>
              <a:t>When </a:t>
            </a:r>
            <a:r>
              <a:rPr lang="en-US" dirty="0" smtClean="0"/>
              <a:t>doing </a:t>
            </a:r>
            <a:r>
              <a:rPr lang="en-US" dirty="0"/>
              <a:t>policy learning, we want to penalize the agent when it chooses an action that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UNsupervised</a:t>
            </a:r>
            <a:r>
              <a:rPr lang="en-US" dirty="0"/>
              <a:t> </a:t>
            </a:r>
            <a:r>
              <a:rPr lang="en-US" dirty="0" err="1"/>
              <a:t>REinforcement</a:t>
            </a:r>
            <a:r>
              <a:rPr lang="en-US" dirty="0"/>
              <a:t> and Auxiliary Learning (UNREAL)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i="1" dirty="0"/>
              <a:t>UNREAL is an improvement on A3C introduced in “Reinforcement learning with</a:t>
            </a:r>
          </a:p>
          <a:p>
            <a:r>
              <a:rPr lang="en-US" dirty="0"/>
              <a:t>unsupervised auxiliary tasks” </a:t>
            </a:r>
            <a:endParaRPr lang="en-US" dirty="0" smtClean="0"/>
          </a:p>
          <a:p>
            <a:r>
              <a:rPr lang="en-US" dirty="0" smtClean="0"/>
              <a:t>UNREAL </a:t>
            </a:r>
            <a:r>
              <a:rPr lang="en-US" dirty="0"/>
              <a:t>addresses the problem of reward </a:t>
            </a:r>
            <a:r>
              <a:rPr lang="en-US" dirty="0" err="1"/>
              <a:t>sparsity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Reinforcement </a:t>
            </a:r>
            <a:r>
              <a:rPr lang="en-US" dirty="0"/>
              <a:t>learning is so </a:t>
            </a:r>
            <a:r>
              <a:rPr lang="en-US" dirty="0" smtClean="0"/>
              <a:t>difficult because </a:t>
            </a:r>
            <a:r>
              <a:rPr lang="en-US" dirty="0"/>
              <a:t>our agent just receives rewards, and it is hard to determine exactly </a:t>
            </a:r>
            <a:r>
              <a:rPr lang="en-US" dirty="0" smtClean="0"/>
              <a:t>why rewards </a:t>
            </a:r>
            <a:r>
              <a:rPr lang="en-US" dirty="0"/>
              <a:t>increase or decrease, which makes learning difficult. Additionally, in </a:t>
            </a:r>
            <a:r>
              <a:rPr lang="en-US" dirty="0" smtClean="0"/>
              <a:t>reinforcement learning</a:t>
            </a:r>
            <a:r>
              <a:rPr lang="en-US" dirty="0"/>
              <a:t>, we must learn a good representation of the world as well as </a:t>
            </a:r>
            <a:r>
              <a:rPr lang="en-US" dirty="0" smtClean="0"/>
              <a:t>a good </a:t>
            </a:r>
            <a:r>
              <a:rPr lang="en-US" dirty="0"/>
              <a:t>policy to achieve reward. </a:t>
            </a:r>
            <a:endParaRPr lang="en-US" dirty="0" smtClean="0"/>
          </a:p>
          <a:p>
            <a:r>
              <a:rPr lang="en-US" dirty="0" smtClean="0"/>
              <a:t>Doing </a:t>
            </a:r>
            <a:r>
              <a:rPr lang="en-US" dirty="0"/>
              <a:t>all of this with a weak learning signal </a:t>
            </a:r>
            <a:r>
              <a:rPr lang="en-US" dirty="0" smtClean="0"/>
              <a:t>like sparse </a:t>
            </a:r>
            <a:r>
              <a:rPr lang="en-US" dirty="0"/>
              <a:t>rewards is quite a tall order.</a:t>
            </a:r>
          </a:p>
          <a:p>
            <a:r>
              <a:rPr lang="en-US" dirty="0"/>
              <a:t>UNREAL asks the question, what can we learn from the world without rewards, and</a:t>
            </a:r>
          </a:p>
          <a:p>
            <a:r>
              <a:rPr lang="en-US" dirty="0"/>
              <a:t>aims to learn a useful world representation in an unsupervised matter. </a:t>
            </a:r>
            <a:endParaRPr lang="en-US" dirty="0" smtClean="0"/>
          </a:p>
          <a:p>
            <a:r>
              <a:rPr lang="en-US" dirty="0" smtClean="0"/>
              <a:t>Specifically, UNREAL </a:t>
            </a:r>
            <a:r>
              <a:rPr lang="en-US" dirty="0"/>
              <a:t>adds some additional unsupervised auxiliary tasks to its overall objective.</a:t>
            </a:r>
          </a:p>
          <a:p>
            <a:r>
              <a:rPr lang="en-US" dirty="0"/>
              <a:t>The first task involves the UNREAL agent learning about how its actions affect the</a:t>
            </a:r>
          </a:p>
          <a:p>
            <a:r>
              <a:rPr lang="en-US" dirty="0"/>
              <a:t>environment.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agent is tasked with controlling pixel values on the screen by taking actions.</a:t>
            </a:r>
          </a:p>
          <a:p>
            <a:r>
              <a:rPr lang="en-US" dirty="0" smtClean="0"/>
              <a:t> To produce a set of pixel values in the next frame, the agent must take a specific action in this frame.</a:t>
            </a:r>
          </a:p>
          <a:p>
            <a:r>
              <a:rPr lang="en-US" dirty="0" smtClean="0"/>
              <a:t> In this way, the agent learns how its actions affect the world around it, enabling it to learn a representation of the world that takes into account its own actions.</a:t>
            </a:r>
          </a:p>
          <a:p>
            <a:r>
              <a:rPr lang="en-US" dirty="0" smtClean="0"/>
              <a:t>The second task involves the UNREAL agent learning </a:t>
            </a:r>
            <a:r>
              <a:rPr lang="en-US" i="1" dirty="0" smtClean="0"/>
              <a:t>reward prediction. </a:t>
            </a:r>
          </a:p>
          <a:p>
            <a:r>
              <a:rPr lang="en-US" i="1" dirty="0" smtClean="0"/>
              <a:t>Given a </a:t>
            </a:r>
            <a:r>
              <a:rPr lang="en-US" dirty="0" smtClean="0"/>
              <a:t>sequence of states, the agent is tasked with predicting the value of the next reward received.</a:t>
            </a:r>
          </a:p>
          <a:p>
            <a:r>
              <a:rPr lang="en-US" dirty="0"/>
              <a:t>UNREAL is able to learn around </a:t>
            </a:r>
            <a:r>
              <a:rPr lang="en-US" dirty="0" smtClean="0"/>
              <a:t>10 times </a:t>
            </a:r>
            <a:r>
              <a:rPr lang="en-US" dirty="0"/>
              <a:t>faster than A3C on the </a:t>
            </a:r>
            <a:r>
              <a:rPr lang="en-US" dirty="0" err="1" smtClean="0"/>
              <a:t>Laby</a:t>
            </a:r>
            <a:r>
              <a:rPr lang="en-US" dirty="0" smtClean="0"/>
              <a:t> </a:t>
            </a:r>
            <a:r>
              <a:rPr lang="en-US" dirty="0" err="1" smtClean="0"/>
              <a:t>rynth</a:t>
            </a:r>
            <a:r>
              <a:rPr lang="en-US" dirty="0" smtClean="0"/>
              <a:t> </a:t>
            </a:r>
            <a:r>
              <a:rPr lang="en-US" dirty="0"/>
              <a:t>game environment. </a:t>
            </a:r>
            <a:endParaRPr lang="en-US" dirty="0" smtClean="0"/>
          </a:p>
          <a:p>
            <a:r>
              <a:rPr lang="en-US" dirty="0" smtClean="0"/>
              <a:t>UNREAL </a:t>
            </a:r>
            <a:r>
              <a:rPr lang="en-US" dirty="0"/>
              <a:t>highlights </a:t>
            </a:r>
            <a:r>
              <a:rPr lang="en-US" dirty="0" smtClean="0"/>
              <a:t>the importance </a:t>
            </a:r>
            <a:r>
              <a:rPr lang="en-US" dirty="0"/>
              <a:t>of learning good world representations and how unsupervised </a:t>
            </a:r>
            <a:r>
              <a:rPr lang="en-US" dirty="0" smtClean="0"/>
              <a:t>learning can </a:t>
            </a:r>
            <a:r>
              <a:rPr lang="en-US" dirty="0"/>
              <a:t>aid in weak learning signal or low-resource learning problems like </a:t>
            </a:r>
            <a:r>
              <a:rPr lang="en-US" dirty="0" smtClean="0"/>
              <a:t>reinforcement learning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1832</Words>
  <Application>Microsoft Office PowerPoint</Application>
  <PresentationFormat>On-screen Show (4:3)</PresentationFormat>
  <Paragraphs>110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Reinforcement Learning </vt:lpstr>
      <vt:lpstr>Slide 2</vt:lpstr>
      <vt:lpstr>Deep Reinforcement Learning Masters Atari Games</vt:lpstr>
      <vt:lpstr>What Is Reinforcement Learning?</vt:lpstr>
      <vt:lpstr>Reinforcement  architecture</vt:lpstr>
      <vt:lpstr>Slide 6</vt:lpstr>
      <vt:lpstr>Markov Decision Processes (MDP)</vt:lpstr>
      <vt:lpstr>MDP</vt:lpstr>
      <vt:lpstr>Mathematical framework for modeling decision-making</vt:lpstr>
      <vt:lpstr>Slide 10</vt:lpstr>
      <vt:lpstr>Policy</vt:lpstr>
      <vt:lpstr>Explore Versus Exploit</vt:lpstr>
      <vt:lpstr>Slide 13</vt:lpstr>
      <vt:lpstr>Slide 14</vt:lpstr>
      <vt:lpstr>Q-Learning and Deep Q-Networks</vt:lpstr>
      <vt:lpstr>Improving and Moving Beyond DQN</vt:lpstr>
      <vt:lpstr>Deep Recurrent Q-Networks (DRQN)</vt:lpstr>
      <vt:lpstr>Asynchronous Advantage Actor-Critic Agent (A3C)</vt:lpstr>
      <vt:lpstr>A3C</vt:lpstr>
      <vt:lpstr>UNsupervised REinforcement and Auxiliary Learning (UNREAL)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creator>Student</dc:creator>
  <cp:lastModifiedBy>Admin</cp:lastModifiedBy>
  <cp:revision>22</cp:revision>
  <dcterms:created xsi:type="dcterms:W3CDTF">2021-03-03T05:50:56Z</dcterms:created>
  <dcterms:modified xsi:type="dcterms:W3CDTF">2021-12-27T04:06:47Z</dcterms:modified>
</cp:coreProperties>
</file>