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6" r:id="rId36"/>
    <p:sldId id="297" r:id="rId37"/>
    <p:sldId id="298" r:id="rId38"/>
    <p:sldId id="300" r:id="rId39"/>
    <p:sldId id="301" r:id="rId40"/>
    <p:sldId id="302" r:id="rId41"/>
    <p:sldId id="303" r:id="rId42"/>
    <p:sldId id="304" r:id="rId43"/>
    <p:sldId id="305" r:id="rId44"/>
    <p:sldId id="306" r:id="rId45"/>
    <p:sldId id="307" r:id="rId46"/>
    <p:sldId id="308" r:id="rId47"/>
    <p:sldId id="309" r:id="rId48"/>
    <p:sldId id="322" r:id="rId49"/>
    <p:sldId id="311" r:id="rId50"/>
    <p:sldId id="310" r:id="rId51"/>
    <p:sldId id="312" r:id="rId52"/>
    <p:sldId id="313" r:id="rId53"/>
    <p:sldId id="314" r:id="rId54"/>
    <p:sldId id="315" r:id="rId55"/>
    <p:sldId id="316" r:id="rId56"/>
    <p:sldId id="317" r:id="rId57"/>
    <p:sldId id="318" r:id="rId58"/>
    <p:sldId id="319" r:id="rId59"/>
    <p:sldId id="321" r:id="rId60"/>
  </p:sldIdLst>
  <p:sldSz cx="1152207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60"/>
  </p:normalViewPr>
  <p:slideViewPr>
    <p:cSldViewPr>
      <p:cViewPr varScale="1">
        <p:scale>
          <a:sx n="65" d="100"/>
          <a:sy n="65" d="100"/>
        </p:scale>
        <p:origin x="-990" y="-96"/>
      </p:cViewPr>
      <p:guideLst>
        <p:guide orient="horz" pos="2160"/>
        <p:guide pos="3629"/>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D0412E-D3B6-41B7-A78E-5F987C397848}" type="datetimeFigureOut">
              <a:rPr lang="en-US" smtClean="0"/>
              <a:pPr/>
              <a:t>3/4/2021</a:t>
            </a:fld>
            <a:endParaRPr lang="en-US"/>
          </a:p>
        </p:txBody>
      </p:sp>
      <p:sp>
        <p:nvSpPr>
          <p:cNvPr id="4" name="Slide Image Placeholder 3"/>
          <p:cNvSpPr>
            <a:spLocks noGrp="1" noRot="1" noChangeAspect="1"/>
          </p:cNvSpPr>
          <p:nvPr>
            <p:ph type="sldImg" idx="2"/>
          </p:nvPr>
        </p:nvSpPr>
        <p:spPr>
          <a:xfrm>
            <a:off x="549275" y="685800"/>
            <a:ext cx="57594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D34420-1874-4A84-9770-CC3A013FEB4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4156" y="2130426"/>
            <a:ext cx="9793764"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728311" y="3886200"/>
            <a:ext cx="806545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675E0A-1836-49EC-865A-61FB28FC426B}" type="datetime1">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6FB40-0B5D-4C08-B2B2-3D97B4414A7F}" type="datetime1">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0164" y="4406901"/>
            <a:ext cx="9793764"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10164" y="2906713"/>
            <a:ext cx="9793764"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FCCEDE-1F62-4FCA-97DA-A17FF687A1E2}" type="datetime1">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76104" y="1600201"/>
            <a:ext cx="508891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857055" y="1600201"/>
            <a:ext cx="508891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880C5EA-370A-4910-BD7D-FB9AA3DF5D06}" type="datetime1">
              <a:rPr lang="en-US" smtClean="0"/>
              <a:pPr/>
              <a:t>3/4/2021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76104" y="1535113"/>
            <a:ext cx="5090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76104" y="2174875"/>
            <a:ext cx="5090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853055" y="1535113"/>
            <a:ext cx="5092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53055" y="2174875"/>
            <a:ext cx="5092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3DB1967-EF88-424F-96A1-BFE13A712610}" type="datetime1">
              <a:rPr lang="en-US" smtClean="0"/>
              <a:pPr/>
              <a:t>3/4/2021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EACA8D8-1891-42B0-B7EC-7670195F760F}" type="datetime1">
              <a:rPr lang="en-US" smtClean="0"/>
              <a:pPr/>
              <a:t>3/4/2021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810162-77F7-4CAE-9C08-DB072AA8691D}" type="datetime1">
              <a:rPr lang="en-US" smtClean="0"/>
              <a:pPr/>
              <a:t>3/4/2021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6105" y="273050"/>
            <a:ext cx="37906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504811" y="273051"/>
            <a:ext cx="644116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76105" y="1435101"/>
            <a:ext cx="37906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F56A54-A67B-49C9-95ED-C1B783FC03EE}" type="datetime1">
              <a:rPr lang="en-US" smtClean="0"/>
              <a:pPr/>
              <a:t>3/4/2021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58407" y="4800600"/>
            <a:ext cx="6913245"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258407" y="612775"/>
            <a:ext cx="691324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258407" y="5367338"/>
            <a:ext cx="691324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9FF8D2-DD63-43AB-95EA-873CCD4790B3}" type="datetime1">
              <a:rPr lang="en-US" smtClean="0"/>
              <a:pPr/>
              <a:t>3/4/2021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3A0730-8712-43BB-9EA9-E4B2DC1B1113}" type="datetime1">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3504" y="274639"/>
            <a:ext cx="2592467"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76104" y="274639"/>
            <a:ext cx="7585366"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921D42-9FBB-4972-B14A-3B229780DDD2}" type="datetime1">
              <a:rPr lang="en-US" smtClean="0"/>
              <a:pPr/>
              <a:t>3/4/2021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104" y="274638"/>
            <a:ext cx="10369868"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76104" y="1600201"/>
            <a:ext cx="10369868"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76104" y="6356351"/>
            <a:ext cx="268848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8CB20-911E-44ED-9E85-C274004EE89E}" type="datetime1">
              <a:rPr lang="en-US" smtClean="0"/>
              <a:pPr/>
              <a:t>3/4/2021</a:t>
            </a:fld>
            <a:endParaRPr lang="en-US"/>
          </a:p>
        </p:txBody>
      </p:sp>
      <p:sp>
        <p:nvSpPr>
          <p:cNvPr id="5" name="Footer Placeholder 4"/>
          <p:cNvSpPr>
            <a:spLocks noGrp="1"/>
          </p:cNvSpPr>
          <p:nvPr>
            <p:ph type="ftr" sz="quarter" idx="3"/>
          </p:nvPr>
        </p:nvSpPr>
        <p:spPr>
          <a:xfrm>
            <a:off x="3936709" y="6356351"/>
            <a:ext cx="364865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257487" y="6356351"/>
            <a:ext cx="268848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600" b="1" dirty="0" smtClean="0"/>
              <a:t>UNIT-IV</a:t>
            </a:r>
            <a:endParaRPr lang="en-US" sz="4600" b="1" dirty="0"/>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UNIT IV</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Uncertain Knowledge and Reasoning : </a:t>
            </a:r>
          </a:p>
          <a:p>
            <a:r>
              <a:rPr lang="en-US" dirty="0" err="1" smtClean="0"/>
              <a:t>Bayes</a:t>
            </a:r>
            <a:r>
              <a:rPr lang="en-US" dirty="0" smtClean="0"/>
              <a:t>’ Rule, </a:t>
            </a:r>
          </a:p>
          <a:p>
            <a:r>
              <a:rPr lang="en-US" dirty="0" smtClean="0"/>
              <a:t>Concepts of Time and Uncertainty, </a:t>
            </a:r>
          </a:p>
          <a:p>
            <a:r>
              <a:rPr lang="en-US" dirty="0" smtClean="0"/>
              <a:t>Utility Functions, </a:t>
            </a:r>
          </a:p>
          <a:p>
            <a:r>
              <a:rPr lang="en-US" dirty="0" smtClean="0"/>
              <a:t>Value of Information, </a:t>
            </a:r>
          </a:p>
          <a:p>
            <a:r>
              <a:rPr lang="en-US" dirty="0" smtClean="0"/>
              <a:t>Value iteration, </a:t>
            </a:r>
          </a:p>
          <a:p>
            <a:r>
              <a:rPr lang="en-US" dirty="0" smtClean="0"/>
              <a:t>Policy iteration, </a:t>
            </a:r>
          </a:p>
          <a:p>
            <a:r>
              <a:rPr lang="en-US" dirty="0" smtClean="0"/>
              <a:t>Partially Observable MDP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274638"/>
            <a:ext cx="10369868" cy="1096962"/>
          </a:xfrm>
        </p:spPr>
        <p:txBody>
          <a:bodyPr>
            <a:normAutofit/>
          </a:bodyPr>
          <a:lstStyle/>
          <a:p>
            <a:r>
              <a:rPr lang="en-US" b="1" dirty="0" smtClean="0"/>
              <a:t>Uncertain Knowledge and Reasoning</a:t>
            </a:r>
            <a:endParaRPr lang="en-US" dirty="0"/>
          </a:p>
        </p:txBody>
      </p:sp>
      <p:sp>
        <p:nvSpPr>
          <p:cNvPr id="3" name="Content Placeholder 2"/>
          <p:cNvSpPr>
            <a:spLocks noGrp="1"/>
          </p:cNvSpPr>
          <p:nvPr>
            <p:ph idx="1"/>
          </p:nvPr>
        </p:nvSpPr>
        <p:spPr/>
        <p:txBody>
          <a:bodyPr>
            <a:normAutofit fontScale="92500" lnSpcReduction="10000"/>
          </a:bodyPr>
          <a:lstStyle/>
          <a:p>
            <a:pPr algn="just">
              <a:buNone/>
            </a:pPr>
            <a:r>
              <a:rPr lang="en-US" dirty="0" smtClean="0"/>
              <a:t>ACTING UNDER UNCERTAINTY</a:t>
            </a:r>
          </a:p>
          <a:p>
            <a:pPr algn="just"/>
            <a:r>
              <a:rPr lang="en-US" dirty="0" smtClean="0"/>
              <a:t>Agents may need to handle uncertainty, whether due to partial observability, </a:t>
            </a:r>
            <a:r>
              <a:rPr lang="en-US" dirty="0" smtClean="0"/>
              <a:t>non-determinism</a:t>
            </a:r>
            <a:r>
              <a:rPr lang="en-US" b="1" dirty="0" smtClean="0"/>
              <a:t>, </a:t>
            </a:r>
            <a:r>
              <a:rPr lang="en-US" dirty="0" smtClean="0"/>
              <a:t>or a combination of the two. </a:t>
            </a:r>
          </a:p>
          <a:p>
            <a:pPr algn="just"/>
            <a:r>
              <a:rPr lang="en-US" dirty="0" smtClean="0"/>
              <a:t>An agent may never know for certain what state it’s in or where it will end up after a sequence of actions.</a:t>
            </a:r>
          </a:p>
          <a:p>
            <a:pPr algn="just"/>
            <a:r>
              <a:rPr lang="en-US" dirty="0" smtClean="0"/>
              <a:t>Problem-solving agents and logical agents designed to handle uncertainty by keeping track of a belief state—a representation of the set of all possible world states that it might be in—and generating a contingency plan that handles every possible eventuality that its sensors may report during execution.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0972800" cy="6324599"/>
          </a:xfrm>
        </p:spPr>
        <p:txBody>
          <a:bodyPr>
            <a:normAutofit fontScale="92500" lnSpcReduction="20000"/>
          </a:bodyPr>
          <a:lstStyle/>
          <a:p>
            <a:pPr>
              <a:buNone/>
            </a:pPr>
            <a:r>
              <a:rPr lang="en-US" dirty="0" smtClean="0"/>
              <a:t>• When interpreting partial sensor information, a logical agent must consider </a:t>
            </a:r>
            <a:r>
              <a:rPr lang="en-US" i="1" dirty="0" smtClean="0"/>
              <a:t>every logically possible explanation for the observations, no matter how unlikely. </a:t>
            </a:r>
          </a:p>
          <a:p>
            <a:pPr>
              <a:buNone/>
            </a:pPr>
            <a:r>
              <a:rPr lang="en-US" i="1" dirty="0" smtClean="0"/>
              <a:t>    This leads to </a:t>
            </a:r>
            <a:r>
              <a:rPr lang="en-US" dirty="0" smtClean="0"/>
              <a:t>impossible large and complex belief-state representations.</a:t>
            </a:r>
          </a:p>
          <a:p>
            <a:pPr>
              <a:buNone/>
            </a:pPr>
            <a:r>
              <a:rPr lang="en-US" dirty="0" smtClean="0"/>
              <a:t> • A correct contingent plan that handles every eventuality can grow arbitrarily large and must consider arbitrarily unlikely contingencies.</a:t>
            </a:r>
          </a:p>
          <a:p>
            <a:pPr>
              <a:buNone/>
            </a:pPr>
            <a:r>
              <a:rPr lang="en-US" dirty="0" smtClean="0"/>
              <a:t>• Sometimes there is no plan that is guaranteed to achieve the goal—yet the agent must act. </a:t>
            </a:r>
          </a:p>
          <a:p>
            <a:pPr>
              <a:buNone/>
            </a:pPr>
            <a:r>
              <a:rPr lang="en-US" dirty="0" smtClean="0"/>
              <a:t>    It must have some way to compare the merits of plans that are not guaranteed.</a:t>
            </a:r>
          </a:p>
          <a:p>
            <a:r>
              <a:rPr lang="en-US" i="1" dirty="0" smtClean="0"/>
              <a:t>The right thing to do—the rational decision—therefore depends on both the relative importance of various goals and the likelihood that, and degree to which, they will be achieved.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837" y="228600"/>
            <a:ext cx="10896600" cy="6324599"/>
          </a:xfrm>
        </p:spPr>
        <p:txBody>
          <a:bodyPr>
            <a:normAutofit fontScale="85000" lnSpcReduction="20000"/>
          </a:bodyPr>
          <a:lstStyle/>
          <a:p>
            <a:pPr algn="just"/>
            <a:r>
              <a:rPr lang="en-US" i="1" dirty="0" smtClean="0"/>
              <a:t>The right thing to do—the </a:t>
            </a:r>
            <a:r>
              <a:rPr lang="en-US" dirty="0" smtClean="0"/>
              <a:t>rational decision—therefore depends on both the relative importance of various goals and the likelihood </a:t>
            </a:r>
            <a:r>
              <a:rPr lang="en-US" i="1" dirty="0" smtClean="0"/>
              <a:t>that, and degree to which, they will be achieved.</a:t>
            </a:r>
          </a:p>
          <a:p>
            <a:pPr algn="just"/>
            <a:r>
              <a:rPr lang="en-US" dirty="0" smtClean="0"/>
              <a:t>Trying to use logic to cope with a domain like medical diagnosis thus fails for three main reasons:</a:t>
            </a:r>
          </a:p>
          <a:p>
            <a:pPr algn="just">
              <a:buNone/>
            </a:pPr>
            <a:r>
              <a:rPr lang="en-US" dirty="0" smtClean="0"/>
              <a:t>• </a:t>
            </a:r>
            <a:r>
              <a:rPr lang="en-US" b="1" dirty="0" smtClean="0"/>
              <a:t>Laziness: </a:t>
            </a:r>
            <a:r>
              <a:rPr lang="en-US" dirty="0" smtClean="0"/>
              <a:t>It is too much work to list the complete set of antecedents or consequents needed to ensure an exception-less rule and too hard to use such rules.</a:t>
            </a:r>
          </a:p>
          <a:p>
            <a:pPr algn="just">
              <a:buNone/>
            </a:pPr>
            <a:r>
              <a:rPr lang="en-US" dirty="0" smtClean="0"/>
              <a:t>• </a:t>
            </a:r>
            <a:r>
              <a:rPr lang="en-US" b="1" dirty="0" smtClean="0"/>
              <a:t>Theoretical ignorance: </a:t>
            </a:r>
            <a:r>
              <a:rPr lang="en-US" dirty="0" smtClean="0"/>
              <a:t>Medical science has no complete theory for the domain.</a:t>
            </a:r>
          </a:p>
          <a:p>
            <a:pPr algn="just">
              <a:buNone/>
            </a:pPr>
            <a:r>
              <a:rPr lang="en-US" dirty="0" smtClean="0"/>
              <a:t>• </a:t>
            </a:r>
            <a:r>
              <a:rPr lang="en-US" b="1" dirty="0" smtClean="0"/>
              <a:t>Practical ignorance: </a:t>
            </a:r>
            <a:r>
              <a:rPr lang="en-US" dirty="0" smtClean="0"/>
              <a:t>Even if we know all the rules, we might be uncertain about a particular patient because not all the necessary tests have been or can be run.</a:t>
            </a:r>
          </a:p>
          <a:p>
            <a:pPr algn="just"/>
            <a:r>
              <a:rPr lang="en-US" dirty="0" smtClean="0"/>
              <a:t>The connection between toothaches and cavities is just not a logical consequence in either direction. This is typical of the medical domain, as well as most other judgmental domains: law, business, design, automobile repair, gardening, dating, and so on.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0972800" cy="6324599"/>
          </a:xfrm>
        </p:spPr>
        <p:txBody>
          <a:bodyPr>
            <a:normAutofit/>
          </a:bodyPr>
          <a:lstStyle/>
          <a:p>
            <a:pPr algn="just">
              <a:spcBef>
                <a:spcPts val="0"/>
              </a:spcBef>
            </a:pPr>
            <a:r>
              <a:rPr lang="en-US" sz="2600" dirty="0" smtClean="0"/>
              <a:t>The agent’s knowledge can at best provide only a degree of belief in the relevant sentence. </a:t>
            </a:r>
          </a:p>
          <a:p>
            <a:pPr algn="just"/>
            <a:r>
              <a:rPr lang="en-US" sz="2600" dirty="0" smtClean="0"/>
              <a:t>Probability provides a way of summarizing the uncertainty that comes from our laziness</a:t>
            </a:r>
            <a:r>
              <a:rPr lang="en-US" sz="2600" b="1" dirty="0" smtClean="0"/>
              <a:t> </a:t>
            </a:r>
            <a:r>
              <a:rPr lang="en-US" sz="2600" dirty="0" smtClean="0"/>
              <a:t>and ignorance, thereby solving the qualification problem.</a:t>
            </a:r>
          </a:p>
          <a:p>
            <a:pPr algn="just">
              <a:buNone/>
            </a:pPr>
            <a:r>
              <a:rPr lang="en-US" sz="2600" b="1" dirty="0" smtClean="0"/>
              <a:t>Uncertainty and rational decisions</a:t>
            </a:r>
          </a:p>
          <a:p>
            <a:pPr algn="just"/>
            <a:r>
              <a:rPr lang="en-US" sz="2600" dirty="0" smtClean="0"/>
              <a:t>An agent must first have preferences between the different possible outcomes of the various plans. </a:t>
            </a:r>
          </a:p>
          <a:p>
            <a:pPr algn="just"/>
            <a:r>
              <a:rPr lang="en-US" sz="2600" dirty="0" smtClean="0"/>
              <a:t>An outcome is a completely specified state, including such factors as whether the agent arrives on time and the length of the wait at the airport. </a:t>
            </a:r>
          </a:p>
          <a:p>
            <a:pPr algn="just"/>
            <a:r>
              <a:rPr lang="en-US" sz="2600" dirty="0" smtClean="0"/>
              <a:t>We use utility theory to represent and reason with preferences. </a:t>
            </a:r>
          </a:p>
          <a:p>
            <a:pPr algn="just"/>
            <a:r>
              <a:rPr lang="en-US" sz="2600" dirty="0" smtClean="0"/>
              <a:t>(The term utility is used here in the sense of “the quality of being useful,” not in the sense of the electric company or water works.) </a:t>
            </a:r>
          </a:p>
          <a:p>
            <a:pPr algn="just"/>
            <a:r>
              <a:rPr lang="en-US" sz="2600" dirty="0" smtClean="0"/>
              <a:t>Utility theory says that every state has a degree of usefulness, or utility, to an agent and that the agent will prefer states with higher utility.</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76200"/>
            <a:ext cx="11049000" cy="6324600"/>
          </a:xfrm>
        </p:spPr>
        <p:txBody>
          <a:bodyPr>
            <a:noAutofit/>
          </a:bodyPr>
          <a:lstStyle/>
          <a:p>
            <a:pPr algn="just">
              <a:spcBef>
                <a:spcPts val="0"/>
              </a:spcBef>
            </a:pPr>
            <a:r>
              <a:rPr lang="en-US" sz="2600" dirty="0" smtClean="0"/>
              <a:t>The utility of a state is relative to an agent. </a:t>
            </a:r>
          </a:p>
          <a:p>
            <a:pPr algn="just">
              <a:spcBef>
                <a:spcPts val="0"/>
              </a:spcBef>
            </a:pPr>
            <a:r>
              <a:rPr lang="en-US" sz="2600" dirty="0" smtClean="0"/>
              <a:t>Ex: The utility of a state in which White has checkmated Black in a game of chess is obviously high for the agent playing White, but low for the agent playing Black. </a:t>
            </a:r>
          </a:p>
          <a:p>
            <a:pPr algn="just">
              <a:spcBef>
                <a:spcPts val="0"/>
              </a:spcBef>
            </a:pPr>
            <a:r>
              <a:rPr lang="en-US" sz="2600" dirty="0" smtClean="0"/>
              <a:t>There is no accounting for taste or preferences: you might think that an agent who prefers jalapeno bubble-gum ice cream to chocolate chip is odd or even misguided, but you could not say the agent is irrational. </a:t>
            </a:r>
          </a:p>
          <a:p>
            <a:pPr algn="just">
              <a:spcBef>
                <a:spcPts val="0"/>
              </a:spcBef>
            </a:pPr>
            <a:r>
              <a:rPr lang="en-US" sz="2600" dirty="0" smtClean="0"/>
              <a:t>Preferences, as expressed by utilities, are combined with probabilities in the general theory of rational decisions called </a:t>
            </a:r>
            <a:r>
              <a:rPr lang="en-US" sz="2600" b="1" dirty="0" smtClean="0"/>
              <a:t>decision theory:</a:t>
            </a:r>
          </a:p>
          <a:p>
            <a:pPr>
              <a:buNone/>
            </a:pPr>
            <a:r>
              <a:rPr lang="en-US" sz="2600" i="1" dirty="0" smtClean="0"/>
              <a:t>             Decision theory = probability theory + utility theory </a:t>
            </a:r>
          </a:p>
          <a:p>
            <a:r>
              <a:rPr lang="en-US" sz="2600" dirty="0" smtClean="0"/>
              <a:t>The fundamental idea of decision theory is that </a:t>
            </a:r>
            <a:r>
              <a:rPr lang="en-US" sz="2600" i="1" dirty="0" smtClean="0"/>
              <a:t>an agent is rational if and only if it chooses the action that yields the highest expected utility, averaged over all the possible outcomes of the action. </a:t>
            </a:r>
          </a:p>
          <a:p>
            <a:r>
              <a:rPr lang="en-US" sz="2600" i="1" dirty="0" smtClean="0"/>
              <a:t>This is called the principle of </a:t>
            </a:r>
            <a:r>
              <a:rPr lang="en-US" sz="2600" b="1" i="1" dirty="0" smtClean="0"/>
              <a:t>maximum expected utility (MEU).</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8" y="3429000"/>
            <a:ext cx="11125199" cy="3124200"/>
          </a:xfrm>
        </p:spPr>
        <p:txBody>
          <a:bodyPr>
            <a:noAutofit/>
          </a:bodyPr>
          <a:lstStyle/>
          <a:p>
            <a:pPr algn="just">
              <a:spcBef>
                <a:spcPts val="0"/>
              </a:spcBef>
            </a:pPr>
            <a:r>
              <a:rPr lang="en-US" sz="2600" dirty="0" smtClean="0"/>
              <a:t>Figure 13.1 sketches the structure of an agent that uses decision theory to select actions.</a:t>
            </a:r>
          </a:p>
          <a:p>
            <a:pPr algn="just">
              <a:spcBef>
                <a:spcPts val="0"/>
              </a:spcBef>
            </a:pPr>
            <a:r>
              <a:rPr lang="en-US" sz="2600" dirty="0" smtClean="0"/>
              <a:t>The agent is identical, at an abstract level, to the other agents described that maintain a belief state reflecting the history of percepts to date. </a:t>
            </a:r>
          </a:p>
          <a:p>
            <a:pPr algn="just">
              <a:spcBef>
                <a:spcPts val="0"/>
              </a:spcBef>
            </a:pPr>
            <a:r>
              <a:rPr lang="en-US" sz="2600" dirty="0" smtClean="0"/>
              <a:t>The primary difference is that the decision-theoretic agent’s belief state represents not just the </a:t>
            </a:r>
            <a:r>
              <a:rPr lang="en-US" sz="2600" i="1" dirty="0" smtClean="0"/>
              <a:t>possibilities for world </a:t>
            </a:r>
            <a:r>
              <a:rPr lang="en-US" sz="2600" dirty="0" smtClean="0"/>
              <a:t>states but also their </a:t>
            </a:r>
            <a:r>
              <a:rPr lang="en-US" sz="2600" i="1" dirty="0" smtClean="0"/>
              <a:t>probabilities.</a:t>
            </a:r>
          </a:p>
          <a:p>
            <a:pPr algn="just">
              <a:spcBef>
                <a:spcPts val="0"/>
              </a:spcBef>
            </a:pPr>
            <a:r>
              <a:rPr lang="en-US" sz="2600" i="1" dirty="0" smtClean="0"/>
              <a:t>Given the belief state, the agent can make probabilistic </a:t>
            </a:r>
            <a:r>
              <a:rPr lang="en-US" sz="2600" dirty="0" smtClean="0"/>
              <a:t>predictions of action outcomes and hence select the action with highest expected utility.</a:t>
            </a:r>
            <a:endParaRPr lang="en-US" sz="2600" dirty="0"/>
          </a:p>
        </p:txBody>
      </p:sp>
      <p:pic>
        <p:nvPicPr>
          <p:cNvPr id="1026" name="Picture 2"/>
          <p:cNvPicPr>
            <a:picLocks noChangeAspect="1" noChangeArrowheads="1"/>
          </p:cNvPicPr>
          <p:nvPr/>
        </p:nvPicPr>
        <p:blipFill>
          <a:blip r:embed="rId2" cstate="print"/>
          <a:srcRect/>
          <a:stretch>
            <a:fillRect/>
          </a:stretch>
        </p:blipFill>
        <p:spPr bwMode="auto">
          <a:xfrm>
            <a:off x="808037" y="0"/>
            <a:ext cx="9982200" cy="32766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1049000" cy="6400799"/>
          </a:xfrm>
        </p:spPr>
        <p:txBody>
          <a:bodyPr>
            <a:noAutofit/>
          </a:bodyPr>
          <a:lstStyle/>
          <a:p>
            <a:pPr>
              <a:buNone/>
            </a:pPr>
            <a:r>
              <a:rPr lang="en-US" sz="2600" b="1" dirty="0" smtClean="0"/>
              <a:t>BAYES’ RULE AND ITS USE</a:t>
            </a:r>
          </a:p>
          <a:p>
            <a:r>
              <a:rPr lang="en-US" sz="2600" dirty="0" smtClean="0"/>
              <a:t>Defined the </a:t>
            </a:r>
            <a:r>
              <a:rPr lang="en-US" sz="2600" b="1" dirty="0" smtClean="0"/>
              <a:t>product rule. It can actually be written in two forms: </a:t>
            </a:r>
          </a:p>
          <a:p>
            <a:pPr>
              <a:buNone/>
            </a:pPr>
            <a:r>
              <a:rPr lang="en-US" sz="2600" b="1" dirty="0" smtClean="0"/>
              <a:t>             </a:t>
            </a:r>
            <a:r>
              <a:rPr lang="en-US" sz="2600" dirty="0" smtClean="0"/>
              <a:t>P(a ∧ b) = P(a | b)P(b) and P(a ∧ b) = P(b | a)P(a) .</a:t>
            </a:r>
          </a:p>
          <a:p>
            <a:r>
              <a:rPr lang="en-US" sz="2600" dirty="0" smtClean="0"/>
              <a:t>Equating the two right-hand sides and dividing by P(a), we get</a:t>
            </a:r>
          </a:p>
          <a:p>
            <a:r>
              <a:rPr lang="en-US" sz="2600" dirty="0" smtClean="0"/>
              <a:t>This equation is known as </a:t>
            </a:r>
            <a:r>
              <a:rPr lang="en-US" sz="2600" dirty="0" err="1" smtClean="0"/>
              <a:t>Bayes</a:t>
            </a:r>
            <a:r>
              <a:rPr lang="en-US" sz="2600" dirty="0" smtClean="0"/>
              <a:t>’ rule (</a:t>
            </a:r>
            <a:r>
              <a:rPr lang="en-US" sz="2600" dirty="0" err="1" smtClean="0"/>
              <a:t>Bayes</a:t>
            </a:r>
            <a:r>
              <a:rPr lang="en-US" sz="2600" dirty="0" smtClean="0"/>
              <a:t>’ law or </a:t>
            </a:r>
            <a:r>
              <a:rPr lang="en-US" sz="2600" dirty="0" err="1" smtClean="0"/>
              <a:t>Bayes</a:t>
            </a:r>
            <a:r>
              <a:rPr lang="en-US" sz="2600" dirty="0" smtClean="0"/>
              <a:t>’ theorem). </a:t>
            </a:r>
          </a:p>
          <a:p>
            <a:r>
              <a:rPr lang="en-US" sz="2600" dirty="0" smtClean="0"/>
              <a:t>The more general case of </a:t>
            </a:r>
            <a:r>
              <a:rPr lang="en-US" sz="2600" dirty="0" err="1" smtClean="0"/>
              <a:t>Bayes</a:t>
            </a:r>
            <a:r>
              <a:rPr lang="en-US" sz="2600" dirty="0" smtClean="0"/>
              <a:t>’ rule for </a:t>
            </a:r>
            <a:r>
              <a:rPr lang="en-US" sz="2600" dirty="0" err="1" smtClean="0"/>
              <a:t>multivalued</a:t>
            </a:r>
            <a:r>
              <a:rPr lang="en-US" sz="2600" dirty="0" smtClean="0"/>
              <a:t> variables can be written in the </a:t>
            </a:r>
            <a:r>
              <a:rPr lang="en-US" sz="2600" b="1" dirty="0" smtClean="0"/>
              <a:t>P </a:t>
            </a:r>
            <a:r>
              <a:rPr lang="en-US" sz="2600" dirty="0" smtClean="0"/>
              <a:t>notation as follows                                                  </a:t>
            </a:r>
          </a:p>
          <a:p>
            <a:endParaRPr lang="en-US" sz="2600" b="1" dirty="0"/>
          </a:p>
        </p:txBody>
      </p:sp>
      <p:pic>
        <p:nvPicPr>
          <p:cNvPr id="4099" name="Picture 3"/>
          <p:cNvPicPr>
            <a:picLocks noChangeAspect="1" noChangeArrowheads="1"/>
          </p:cNvPicPr>
          <p:nvPr/>
        </p:nvPicPr>
        <p:blipFill>
          <a:blip r:embed="rId2" cstate="print"/>
          <a:srcRect/>
          <a:stretch>
            <a:fillRect/>
          </a:stretch>
        </p:blipFill>
        <p:spPr bwMode="auto">
          <a:xfrm>
            <a:off x="3703637" y="3886200"/>
            <a:ext cx="4800600" cy="12192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pic>
        <p:nvPicPr>
          <p:cNvPr id="5" name="Picture 2"/>
          <p:cNvPicPr>
            <a:picLocks noChangeAspect="1" noChangeArrowheads="1"/>
          </p:cNvPicPr>
          <p:nvPr/>
        </p:nvPicPr>
        <p:blipFill>
          <a:blip r:embed="rId3" cstate="print"/>
          <a:srcRect/>
          <a:stretch>
            <a:fillRect/>
          </a:stretch>
        </p:blipFill>
        <p:spPr bwMode="auto">
          <a:xfrm>
            <a:off x="1265237" y="5410200"/>
            <a:ext cx="3886200" cy="76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049000" cy="6400799"/>
          </a:xfrm>
        </p:spPr>
        <p:txBody>
          <a:bodyPr>
            <a:normAutofit/>
          </a:bodyPr>
          <a:lstStyle/>
          <a:p>
            <a:pPr algn="just"/>
            <a:endParaRPr lang="en-US" sz="2600" dirty="0" smtClean="0"/>
          </a:p>
          <a:p>
            <a:pPr algn="just"/>
            <a:r>
              <a:rPr lang="en-US" sz="2600" dirty="0" smtClean="0"/>
              <a:t>use a more general version </a:t>
            </a:r>
            <a:r>
              <a:rPr lang="en-US" sz="2600" dirty="0" err="1" smtClean="0"/>
              <a:t>conditionalized</a:t>
            </a:r>
            <a:r>
              <a:rPr lang="en-US" sz="2600" dirty="0" smtClean="0"/>
              <a:t> on some background evidence </a:t>
            </a:r>
            <a:r>
              <a:rPr lang="en-US" sz="2600" b="1" dirty="0" smtClean="0"/>
              <a:t>e:</a:t>
            </a:r>
          </a:p>
          <a:p>
            <a:pPr algn="just"/>
            <a:endParaRPr lang="en-US" sz="2600" b="1" dirty="0" smtClean="0"/>
          </a:p>
          <a:p>
            <a:pPr algn="just"/>
            <a:endParaRPr lang="en-US" sz="2600" b="1" dirty="0" smtClean="0"/>
          </a:p>
          <a:p>
            <a:pPr algn="just"/>
            <a:endParaRPr lang="en-US" sz="2600" b="1" dirty="0" smtClean="0"/>
          </a:p>
          <a:p>
            <a:pPr algn="just">
              <a:buNone/>
            </a:pPr>
            <a:r>
              <a:rPr lang="en-US" sz="2800" b="1" dirty="0" smtClean="0"/>
              <a:t>Applying </a:t>
            </a:r>
            <a:r>
              <a:rPr lang="en-US" sz="2800" b="1" dirty="0" err="1" smtClean="0"/>
              <a:t>Bayes</a:t>
            </a:r>
            <a:r>
              <a:rPr lang="en-US" sz="2800" b="1" dirty="0" smtClean="0"/>
              <a:t>’ rule: The simple case</a:t>
            </a:r>
          </a:p>
          <a:p>
            <a:pPr algn="just"/>
            <a:r>
              <a:rPr lang="en-US" sz="2600" dirty="0" err="1" smtClean="0"/>
              <a:t>Bayes</a:t>
            </a:r>
            <a:r>
              <a:rPr lang="en-US" sz="2600" dirty="0" smtClean="0"/>
              <a:t>’ rule is useful in practice because there are many cases where we do have good probability estimates for these three numbers and need to compute the fourth.</a:t>
            </a:r>
          </a:p>
          <a:p>
            <a:pPr algn="just"/>
            <a:r>
              <a:rPr lang="en-US" sz="2600" dirty="0" err="1" smtClean="0"/>
              <a:t>Bayes</a:t>
            </a:r>
            <a:r>
              <a:rPr lang="en-US" sz="2600" dirty="0" smtClean="0"/>
              <a:t>’ rule becomes  </a:t>
            </a:r>
          </a:p>
          <a:p>
            <a:pPr algn="just"/>
            <a:r>
              <a:rPr lang="en-US" sz="2600" dirty="0" smtClean="0"/>
              <a:t>The conditional probability P(</a:t>
            </a:r>
            <a:r>
              <a:rPr lang="en-US" sz="2600" i="1" dirty="0" smtClean="0"/>
              <a:t>effect CAUSAL | cause) quantifies the relationship in the causal direc</a:t>
            </a:r>
            <a:r>
              <a:rPr lang="en-US" sz="2600" dirty="0" smtClean="0"/>
              <a:t>tion, whereas P(cause | </a:t>
            </a:r>
            <a:r>
              <a:rPr lang="en-US" sz="2600" i="1" dirty="0" smtClean="0"/>
              <a:t>effect) describes the diagnostic direction</a:t>
            </a:r>
            <a:r>
              <a:rPr lang="en-US" sz="2600" b="1" i="1" dirty="0" smtClean="0"/>
              <a:t>.</a:t>
            </a:r>
            <a:endParaRPr lang="en-US" sz="2600" b="1" dirty="0" smtClean="0"/>
          </a:p>
          <a:p>
            <a:pPr algn="just">
              <a:buNone/>
            </a:pPr>
            <a:endParaRPr lang="en-US" sz="2600" dirty="0"/>
          </a:p>
        </p:txBody>
      </p:sp>
      <p:pic>
        <p:nvPicPr>
          <p:cNvPr id="5123" name="Picture 3"/>
          <p:cNvPicPr>
            <a:picLocks noChangeAspect="1" noChangeArrowheads="1"/>
          </p:cNvPicPr>
          <p:nvPr/>
        </p:nvPicPr>
        <p:blipFill>
          <a:blip r:embed="rId2" cstate="print"/>
          <a:srcRect/>
          <a:stretch>
            <a:fillRect/>
          </a:stretch>
        </p:blipFill>
        <p:spPr bwMode="auto">
          <a:xfrm>
            <a:off x="1493837" y="1143000"/>
            <a:ext cx="3733800" cy="914400"/>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4237037" y="4038600"/>
            <a:ext cx="5105400" cy="8382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1049000" cy="6324599"/>
          </a:xfrm>
        </p:spPr>
        <p:txBody>
          <a:bodyPr>
            <a:normAutofit fontScale="92500" lnSpcReduction="20000"/>
          </a:bodyPr>
          <a:lstStyle/>
          <a:p>
            <a:pPr algn="just"/>
            <a:r>
              <a:rPr lang="en-US" sz="2600" dirty="0" smtClean="0"/>
              <a:t>Ex: a doctor knows that the disease meningitis causes the patient to have a stiff neck, say, 70% of the time. </a:t>
            </a:r>
          </a:p>
          <a:p>
            <a:pPr algn="just"/>
            <a:r>
              <a:rPr lang="en-US" sz="2600" dirty="0" smtClean="0"/>
              <a:t>The doctor also knows some unconditional facts: the prior probability that a patient has meningitis is 1/50,000, and the prior probability that any patient has a stiff neck is 1%. </a:t>
            </a:r>
          </a:p>
          <a:p>
            <a:pPr algn="just"/>
            <a:r>
              <a:rPr lang="en-US" sz="2600" dirty="0" smtClean="0"/>
              <a:t>Letting s be the proposition that the patient has a stiff neck and m be the proposition that the patient has meningitis, we have</a:t>
            </a:r>
          </a:p>
          <a:p>
            <a:pPr algn="just"/>
            <a:endParaRPr lang="en-US" sz="2600" dirty="0" smtClean="0"/>
          </a:p>
          <a:p>
            <a:pPr algn="just"/>
            <a:endParaRPr lang="en-US" sz="2600" dirty="0" smtClean="0"/>
          </a:p>
          <a:p>
            <a:pPr algn="just"/>
            <a:endParaRPr lang="en-US" sz="2600" dirty="0" smtClean="0"/>
          </a:p>
          <a:p>
            <a:pPr algn="just"/>
            <a:endParaRPr lang="en-US" sz="2600" dirty="0" smtClean="0"/>
          </a:p>
          <a:p>
            <a:pPr algn="just"/>
            <a:endParaRPr lang="en-US" sz="2600" dirty="0" smtClean="0"/>
          </a:p>
          <a:p>
            <a:pPr algn="just"/>
            <a:endParaRPr lang="en-US" sz="2600" dirty="0" smtClean="0"/>
          </a:p>
          <a:p>
            <a:pPr algn="just"/>
            <a:r>
              <a:rPr lang="en-US" sz="2600" dirty="0" smtClean="0"/>
              <a:t>Expect less than 1 in 700 patients with a stiff neck to have meningitis. </a:t>
            </a:r>
          </a:p>
          <a:p>
            <a:pPr algn="just"/>
            <a:r>
              <a:rPr lang="en-US" sz="2600" dirty="0" smtClean="0"/>
              <a:t>Notice that even though a stiff neck is quite strongly indicated by meningitis (with probability 0.7), the probability of meningitis in the patient remains small. </a:t>
            </a:r>
          </a:p>
          <a:p>
            <a:pPr algn="just"/>
            <a:r>
              <a:rPr lang="en-US" sz="2600" dirty="0" smtClean="0"/>
              <a:t>This is because the prior probability of stiff necks is much higher than that of meningitis.</a:t>
            </a:r>
            <a:endParaRPr lang="en-US" sz="2600" dirty="0"/>
          </a:p>
        </p:txBody>
      </p:sp>
      <p:pic>
        <p:nvPicPr>
          <p:cNvPr id="6146" name="Picture 2"/>
          <p:cNvPicPr>
            <a:picLocks noChangeAspect="1" noChangeArrowheads="1"/>
          </p:cNvPicPr>
          <p:nvPr/>
        </p:nvPicPr>
        <p:blipFill>
          <a:blip r:embed="rId2" cstate="print"/>
          <a:srcRect/>
          <a:stretch>
            <a:fillRect/>
          </a:stretch>
        </p:blipFill>
        <p:spPr bwMode="auto">
          <a:xfrm>
            <a:off x="2560637" y="2667000"/>
            <a:ext cx="7543800" cy="17526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0972800" cy="6248399"/>
          </a:xfrm>
        </p:spPr>
        <p:txBody>
          <a:bodyPr>
            <a:normAutofit/>
          </a:bodyPr>
          <a:lstStyle/>
          <a:p>
            <a:pPr>
              <a:buNone/>
            </a:pPr>
            <a:r>
              <a:rPr lang="en-US" sz="2600" b="1" dirty="0" smtClean="0"/>
              <a:t>Using </a:t>
            </a:r>
            <a:r>
              <a:rPr lang="en-US" sz="2600" b="1" dirty="0" err="1" smtClean="0"/>
              <a:t>Bayes</a:t>
            </a:r>
            <a:r>
              <a:rPr lang="en-US" sz="2600" b="1" dirty="0" smtClean="0"/>
              <a:t>’ rule: Combining evidence</a:t>
            </a:r>
          </a:p>
          <a:p>
            <a:r>
              <a:rPr lang="en-US" sz="2600" dirty="0" err="1" smtClean="0"/>
              <a:t>Bayes</a:t>
            </a:r>
            <a:r>
              <a:rPr lang="en-US" sz="2600" dirty="0" smtClean="0"/>
              <a:t>’ rule can be useful for answering probabilistic queries conditioned on one piece of evidence—for example, the stiff neck. </a:t>
            </a:r>
          </a:p>
          <a:p>
            <a:r>
              <a:rPr lang="en-US" sz="2600" dirty="0" smtClean="0"/>
              <a:t>Probabilistic information is often available in the form P(</a:t>
            </a:r>
            <a:r>
              <a:rPr lang="en-US" sz="2600" i="1" dirty="0" smtClean="0"/>
              <a:t>effect | cause). </a:t>
            </a:r>
          </a:p>
          <a:p>
            <a:r>
              <a:rPr lang="en-US" sz="2600" i="1" dirty="0" smtClean="0"/>
              <a:t>What happens when </a:t>
            </a:r>
            <a:r>
              <a:rPr lang="en-US" sz="2600" dirty="0" smtClean="0"/>
              <a:t>we have two or more pieces of evidence? For example, what can a dentist conclude if her nasty steel probe catches in the aching tooth of a patient? If we know the full joint distribution (Figure 13.3). </a:t>
            </a:r>
          </a:p>
          <a:p>
            <a:pPr>
              <a:buNone/>
            </a:pPr>
            <a:r>
              <a:rPr lang="en-US" sz="2600" dirty="0" smtClean="0"/>
              <a:t>               P(Cavity | toothache ∧ catch) = </a:t>
            </a:r>
            <a:r>
              <a:rPr lang="el-GR" sz="2600" dirty="0" smtClean="0"/>
              <a:t>α 0.108, 0.016 ≈ 0.871, 0.129</a:t>
            </a:r>
            <a:endParaRPr lang="en-US" sz="2600" dirty="0" smtClean="0"/>
          </a:p>
          <a:p>
            <a:r>
              <a:rPr lang="en-US" sz="2600" dirty="0" err="1" smtClean="0"/>
              <a:t>Bayes</a:t>
            </a:r>
            <a:r>
              <a:rPr lang="en-US" sz="2600" dirty="0" smtClean="0"/>
              <a:t>’ rule to reformulate the problem:</a:t>
            </a:r>
          </a:p>
          <a:p>
            <a:pPr>
              <a:buNone/>
            </a:pPr>
            <a:r>
              <a:rPr lang="en-US" sz="2400" dirty="0" smtClean="0"/>
              <a:t>   </a:t>
            </a:r>
            <a:r>
              <a:rPr lang="en-US" sz="2400" i="1" dirty="0" smtClean="0"/>
              <a:t>P(Cavity | toothache ∧ catch) </a:t>
            </a:r>
            <a:r>
              <a:rPr lang="el-GR" sz="2400" i="1" dirty="0" smtClean="0"/>
              <a:t>= α </a:t>
            </a:r>
            <a:r>
              <a:rPr lang="en-US" sz="2400" i="1" dirty="0" smtClean="0"/>
              <a:t>P(toothache ∧ catch | Cavity) P(Cavity) …  </a:t>
            </a:r>
            <a:r>
              <a:rPr lang="en-US" sz="2600" i="1" dirty="0" smtClean="0"/>
              <a:t>13.16</a:t>
            </a:r>
          </a:p>
          <a:p>
            <a:pPr algn="just"/>
            <a:r>
              <a:rPr lang="en-US" sz="2600" dirty="0" smtClean="0"/>
              <a:t>For this reformulation to work, we need to know the conditional probabilities of the conjunction toothache ∧catch for each value of Cavity.</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437" y="152400"/>
            <a:ext cx="10369868" cy="685800"/>
          </a:xfrm>
        </p:spPr>
        <p:txBody>
          <a:bodyPr>
            <a:normAutofit fontScale="90000"/>
          </a:bodyPr>
          <a:lstStyle/>
          <a:p>
            <a:r>
              <a:rPr lang="en-US" dirty="0" smtClean="0"/>
              <a:t>TIME AND UNCERTAINTY</a:t>
            </a:r>
            <a:endParaRPr lang="en-US" dirty="0"/>
          </a:p>
        </p:txBody>
      </p:sp>
      <p:sp>
        <p:nvSpPr>
          <p:cNvPr id="3" name="Content Placeholder 2"/>
          <p:cNvSpPr>
            <a:spLocks noGrp="1"/>
          </p:cNvSpPr>
          <p:nvPr>
            <p:ph idx="1"/>
          </p:nvPr>
        </p:nvSpPr>
        <p:spPr>
          <a:xfrm>
            <a:off x="198437" y="990600"/>
            <a:ext cx="11171238" cy="5638799"/>
          </a:xfrm>
        </p:spPr>
        <p:txBody>
          <a:bodyPr>
            <a:normAutofit/>
          </a:bodyPr>
          <a:lstStyle/>
          <a:p>
            <a:pPr algn="just"/>
            <a:r>
              <a:rPr lang="en-US" sz="2600" dirty="0" smtClean="0"/>
              <a:t>Consider a slightly different problem: treating a diabetic patient.</a:t>
            </a:r>
          </a:p>
          <a:p>
            <a:pPr algn="just"/>
            <a:r>
              <a:rPr lang="en-US" sz="2600" dirty="0" smtClean="0"/>
              <a:t>we have evidence such as recent insulin doses, food intake, blood sugar measurements, and other physical signs. </a:t>
            </a:r>
          </a:p>
          <a:p>
            <a:pPr algn="just"/>
            <a:r>
              <a:rPr lang="en-US" sz="2600" dirty="0" smtClean="0"/>
              <a:t>The task is to assess the current state of the patient, including the actual blood sugar level and insulin level. </a:t>
            </a:r>
          </a:p>
          <a:p>
            <a:pPr algn="just"/>
            <a:r>
              <a:rPr lang="en-US" sz="2600" dirty="0" smtClean="0"/>
              <a:t>Given this information, make a decision about the patient’s food intake and insulin dose.</a:t>
            </a:r>
          </a:p>
          <a:p>
            <a:pPr algn="just"/>
            <a:r>
              <a:rPr lang="en-US" sz="2800" dirty="0" smtClean="0"/>
              <a:t>Blood sugar levels and measurements thereof  can change rapidly over time, depending on recent food intake and insulin doses, metabolic activity, the time of day, and so on. </a:t>
            </a:r>
          </a:p>
          <a:p>
            <a:pPr algn="just"/>
            <a:r>
              <a:rPr lang="en-US" sz="2800" dirty="0" smtClean="0"/>
              <a:t>To assess the current state from the history of evidence and to predict the outcomes of treatment actions, we must model these changes.</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0972800" cy="6324599"/>
          </a:xfrm>
        </p:spPr>
        <p:txBody>
          <a:bodyPr>
            <a:normAutofit/>
          </a:bodyPr>
          <a:lstStyle/>
          <a:p>
            <a:pPr algn="just">
              <a:buNone/>
            </a:pPr>
            <a:r>
              <a:rPr lang="en-US" sz="2600" b="1" dirty="0" smtClean="0"/>
              <a:t>States and observations</a:t>
            </a:r>
          </a:p>
          <a:p>
            <a:pPr algn="just"/>
            <a:r>
              <a:rPr lang="en-US" sz="2600" dirty="0" smtClean="0"/>
              <a:t>We will use </a:t>
            </a:r>
            <a:r>
              <a:rPr lang="en-US" sz="2600" dirty="0" err="1" smtClean="0"/>
              <a:t>X</a:t>
            </a:r>
            <a:r>
              <a:rPr lang="en-US" baseline="-25000" dirty="0" err="1" smtClean="0"/>
              <a:t>t</a:t>
            </a:r>
            <a:r>
              <a:rPr lang="en-US" sz="2600" dirty="0" smtClean="0"/>
              <a:t> to denote the set of state variables at time t, which are assumed to be unobservable, and E</a:t>
            </a:r>
            <a:r>
              <a:rPr lang="en-US" baseline="-25000" dirty="0" smtClean="0"/>
              <a:t>t</a:t>
            </a:r>
            <a:r>
              <a:rPr lang="en-US" sz="2600" dirty="0" smtClean="0"/>
              <a:t> to denote the set of observable evidence variables.</a:t>
            </a:r>
          </a:p>
          <a:p>
            <a:pPr algn="just"/>
            <a:r>
              <a:rPr lang="en-US" sz="2600" dirty="0" smtClean="0"/>
              <a:t>The observation at time t is E</a:t>
            </a:r>
            <a:r>
              <a:rPr lang="en-US" sz="2600" baseline="-25000" dirty="0" smtClean="0"/>
              <a:t>t</a:t>
            </a:r>
            <a:r>
              <a:rPr lang="en-US" sz="2600" dirty="0" smtClean="0"/>
              <a:t> =e</a:t>
            </a:r>
            <a:r>
              <a:rPr lang="en-US" sz="2600" baseline="-25000" dirty="0" smtClean="0"/>
              <a:t>t</a:t>
            </a:r>
            <a:r>
              <a:rPr lang="en-US" sz="2600" dirty="0" smtClean="0"/>
              <a:t> for some set of values e</a:t>
            </a:r>
            <a:r>
              <a:rPr lang="en-US" sz="2600" baseline="-25000" dirty="0" smtClean="0"/>
              <a:t>t</a:t>
            </a:r>
            <a:r>
              <a:rPr lang="en-US" sz="2600" dirty="0" smtClean="0"/>
              <a:t>.</a:t>
            </a:r>
          </a:p>
          <a:p>
            <a:r>
              <a:rPr lang="en-US" sz="2600" dirty="0" smtClean="0"/>
              <a:t>The interval between time slices also depends on the problem. </a:t>
            </a:r>
          </a:p>
          <a:p>
            <a:r>
              <a:rPr lang="en-US" sz="2600" dirty="0" smtClean="0"/>
              <a:t>For diabetes monitoring, a suitable interval might be an hour rather than a day. </a:t>
            </a:r>
          </a:p>
          <a:p>
            <a:r>
              <a:rPr lang="en-US" sz="2600" dirty="0" smtClean="0"/>
              <a:t>Assume the interval between slices is fixed, so we can label times by integers. </a:t>
            </a:r>
          </a:p>
          <a:p>
            <a:r>
              <a:rPr lang="en-US" sz="2600" dirty="0" smtClean="0"/>
              <a:t>Assume that the state sequence starts at t=0; for various uninteresting reasons, Assume that evidence starts arriving at t=1 rather than t=0. </a:t>
            </a:r>
          </a:p>
          <a:p>
            <a:r>
              <a:rPr lang="en-US" sz="2600" dirty="0" smtClean="0"/>
              <a:t>Hence, our umbrella world is represented by state variables </a:t>
            </a:r>
          </a:p>
          <a:p>
            <a:pPr>
              <a:buNone/>
            </a:pPr>
            <a:r>
              <a:rPr lang="en-US" sz="2600" dirty="0" smtClean="0"/>
              <a:t>             R0, R1, R2, . . . and evidence variables U1, U2, . . .. </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0972800" cy="6400800"/>
          </a:xfrm>
        </p:spPr>
        <p:txBody>
          <a:bodyPr>
            <a:normAutofit fontScale="85000" lnSpcReduction="20000"/>
          </a:bodyPr>
          <a:lstStyle/>
          <a:p>
            <a:pPr algn="just"/>
            <a:r>
              <a:rPr lang="en-US" sz="2800" dirty="0" smtClean="0"/>
              <a:t>Use the notation a:b to denote the sequence of integers from a to b (inclusive), and the notation </a:t>
            </a:r>
            <a:r>
              <a:rPr lang="en-US" dirty="0" err="1" smtClean="0"/>
              <a:t>X</a:t>
            </a:r>
            <a:r>
              <a:rPr lang="en-US" baseline="-25000" dirty="0" err="1" smtClean="0"/>
              <a:t>a:b</a:t>
            </a:r>
            <a:r>
              <a:rPr lang="en-US" dirty="0" smtClean="0"/>
              <a:t> </a:t>
            </a:r>
            <a:r>
              <a:rPr lang="en-US" sz="2800" dirty="0" smtClean="0"/>
              <a:t>to denote the set of variables from</a:t>
            </a:r>
            <a:r>
              <a:rPr lang="en-US" sz="2600" dirty="0" smtClean="0"/>
              <a:t> </a:t>
            </a:r>
            <a:r>
              <a:rPr lang="en-US" sz="2600" dirty="0" err="1" smtClean="0"/>
              <a:t>X</a:t>
            </a:r>
            <a:r>
              <a:rPr lang="en-US" baseline="-25000" dirty="0" err="1" smtClean="0"/>
              <a:t>a</a:t>
            </a:r>
            <a:r>
              <a:rPr lang="en-US" dirty="0" smtClean="0"/>
              <a:t> </a:t>
            </a:r>
            <a:r>
              <a:rPr lang="en-US" sz="2600" dirty="0" smtClean="0"/>
              <a:t>to </a:t>
            </a:r>
            <a:r>
              <a:rPr lang="en-US" sz="2600" dirty="0" err="1" smtClean="0"/>
              <a:t>X</a:t>
            </a:r>
            <a:r>
              <a:rPr lang="en-US" baseline="-25000" dirty="0" err="1" smtClean="0"/>
              <a:t>b</a:t>
            </a:r>
            <a:r>
              <a:rPr lang="en-US" dirty="0" smtClean="0"/>
              <a:t>.</a:t>
            </a:r>
          </a:p>
          <a:p>
            <a:pPr algn="just"/>
            <a:r>
              <a:rPr lang="en-US" sz="2800" dirty="0" smtClean="0"/>
              <a:t>Ex:</a:t>
            </a:r>
            <a:r>
              <a:rPr lang="en-US" sz="2600" dirty="0" smtClean="0"/>
              <a:t> U</a:t>
            </a:r>
            <a:r>
              <a:rPr lang="en-US" baseline="-25000" dirty="0" smtClean="0"/>
              <a:t>1:3</a:t>
            </a:r>
            <a:r>
              <a:rPr lang="en-US" dirty="0" smtClean="0"/>
              <a:t> </a:t>
            </a:r>
            <a:r>
              <a:rPr lang="en-US" sz="2800" dirty="0" smtClean="0"/>
              <a:t>corresponds to the variables </a:t>
            </a:r>
            <a:r>
              <a:rPr lang="en-US" sz="2600" dirty="0" smtClean="0"/>
              <a:t>U</a:t>
            </a:r>
            <a:r>
              <a:rPr lang="en-US" baseline="-25000" dirty="0" smtClean="0"/>
              <a:t>1</a:t>
            </a:r>
            <a:r>
              <a:rPr lang="en-US" dirty="0" smtClean="0"/>
              <a:t>, </a:t>
            </a:r>
            <a:r>
              <a:rPr lang="en-US" sz="2600" dirty="0" smtClean="0"/>
              <a:t>U</a:t>
            </a:r>
            <a:r>
              <a:rPr lang="en-US" baseline="-25000" dirty="0" smtClean="0"/>
              <a:t>2</a:t>
            </a:r>
            <a:r>
              <a:rPr lang="en-US" dirty="0" smtClean="0"/>
              <a:t>, </a:t>
            </a:r>
            <a:r>
              <a:rPr lang="en-US" sz="2600" dirty="0" smtClean="0"/>
              <a:t>U</a:t>
            </a:r>
            <a:r>
              <a:rPr lang="en-US" baseline="-25000" dirty="0" smtClean="0"/>
              <a:t>3</a:t>
            </a:r>
            <a:r>
              <a:rPr lang="en-US" dirty="0" smtClean="0"/>
              <a:t>.</a:t>
            </a:r>
          </a:p>
          <a:p>
            <a:pPr algn="just">
              <a:buNone/>
            </a:pPr>
            <a:r>
              <a:rPr lang="en-US" b="1" dirty="0" smtClean="0"/>
              <a:t>Transition and sensor models</a:t>
            </a:r>
          </a:p>
          <a:p>
            <a:pPr algn="just"/>
            <a:r>
              <a:rPr lang="en-US" sz="3100" dirty="0" smtClean="0"/>
              <a:t>With the set of state and evidence variables for a given problem decided on, the next step is to specify how the world evolves (the transition model) and how the evidence variables get their values (the sensor model).</a:t>
            </a:r>
          </a:p>
          <a:p>
            <a:pPr algn="just"/>
            <a:r>
              <a:rPr lang="en-US" sz="3100" dirty="0" smtClean="0"/>
              <a:t>The transition model specifies the probability distribution over the latest state variables, given the previous values, that is, P(</a:t>
            </a:r>
            <a:r>
              <a:rPr lang="en-US" sz="3100" dirty="0" err="1" smtClean="0"/>
              <a:t>X</a:t>
            </a:r>
            <a:r>
              <a:rPr lang="en-US" sz="3100" baseline="-25000" dirty="0" err="1" smtClean="0"/>
              <a:t>t</a:t>
            </a:r>
            <a:r>
              <a:rPr lang="en-US" sz="3100" dirty="0" smtClean="0"/>
              <a:t> |X</a:t>
            </a:r>
            <a:r>
              <a:rPr lang="en-US" sz="3100" baseline="-25000" dirty="0" smtClean="0"/>
              <a:t>0</a:t>
            </a:r>
            <a:r>
              <a:rPr lang="en-US" sz="3100" dirty="0" smtClean="0"/>
              <a:t>:t−1). </a:t>
            </a:r>
          </a:p>
          <a:p>
            <a:pPr algn="just"/>
            <a:r>
              <a:rPr lang="en-US" sz="3100" dirty="0" smtClean="0"/>
              <a:t>Face a problem: the set X</a:t>
            </a:r>
            <a:r>
              <a:rPr lang="en-US" sz="3100" baseline="-25000" dirty="0" smtClean="0"/>
              <a:t>0</a:t>
            </a:r>
            <a:r>
              <a:rPr lang="en-US" sz="3100" dirty="0" smtClean="0"/>
              <a:t>:t−1 is unbounded in size as t increases. </a:t>
            </a:r>
          </a:p>
          <a:p>
            <a:pPr algn="just"/>
            <a:r>
              <a:rPr lang="en-US" sz="3100" dirty="0" smtClean="0"/>
              <a:t>Solve the problem by making a Markov assumption</a:t>
            </a:r>
            <a:r>
              <a:rPr lang="en-US" sz="3100" b="1" dirty="0" smtClean="0"/>
              <a:t>—</a:t>
            </a:r>
            <a:r>
              <a:rPr lang="en-US" sz="3100" dirty="0" smtClean="0"/>
              <a:t>that the current state depends on only a </a:t>
            </a:r>
            <a:r>
              <a:rPr lang="en-US" sz="3100" i="1" dirty="0" smtClean="0"/>
              <a:t>finite fixed number of previous states.</a:t>
            </a:r>
          </a:p>
          <a:p>
            <a:pPr algn="just"/>
            <a:r>
              <a:rPr lang="en-US" sz="3100" dirty="0" smtClean="0"/>
              <a:t>Processes satisfying this assumption were called </a:t>
            </a:r>
            <a:r>
              <a:rPr lang="en-US" sz="3100" b="1" dirty="0" smtClean="0"/>
              <a:t>Markov processes or Markov chains.</a:t>
            </a:r>
          </a:p>
          <a:p>
            <a:pPr algn="just"/>
            <a:r>
              <a:rPr lang="en-US" sz="3100" dirty="0" smtClean="0"/>
              <a:t>State provides enough information to make the future conditionally independent of the past, and we have</a:t>
            </a:r>
          </a:p>
          <a:p>
            <a:pPr algn="just">
              <a:buNone/>
            </a:pPr>
            <a:r>
              <a:rPr lang="en-US" dirty="0" smtClean="0"/>
              <a:t>              </a:t>
            </a:r>
            <a:r>
              <a:rPr lang="en-US" sz="3100" dirty="0" smtClean="0"/>
              <a:t>P(</a:t>
            </a:r>
            <a:r>
              <a:rPr lang="en-US" sz="3100" dirty="0" err="1" smtClean="0"/>
              <a:t>X</a:t>
            </a:r>
            <a:r>
              <a:rPr lang="en-US" sz="3800" baseline="-25000" dirty="0" err="1" smtClean="0"/>
              <a:t>t</a:t>
            </a:r>
            <a:r>
              <a:rPr lang="en-US" sz="3100" dirty="0" smtClean="0"/>
              <a:t> |X</a:t>
            </a:r>
            <a:r>
              <a:rPr lang="en-US" sz="3800" baseline="-25000" dirty="0" smtClean="0"/>
              <a:t>0</a:t>
            </a:r>
            <a:r>
              <a:rPr lang="en-US" sz="3100" dirty="0" smtClean="0"/>
              <a:t>:t−1) = P(</a:t>
            </a:r>
            <a:r>
              <a:rPr lang="en-US" sz="3100" dirty="0" err="1" smtClean="0"/>
              <a:t>X</a:t>
            </a:r>
            <a:r>
              <a:rPr lang="en-US" sz="3800" baseline="-25000" dirty="0" err="1" smtClean="0"/>
              <a:t>t</a:t>
            </a:r>
            <a:r>
              <a:rPr lang="en-US" sz="3100" dirty="0" smtClean="0"/>
              <a:t> |X</a:t>
            </a:r>
            <a:r>
              <a:rPr lang="en-US" sz="3800" baseline="-25000" dirty="0" smtClean="0"/>
              <a:t>t</a:t>
            </a:r>
            <a:r>
              <a:rPr lang="en-US" sz="3100" dirty="0" smtClean="0"/>
              <a:t>−1) ….    (15.1)</a:t>
            </a:r>
            <a:endParaRPr lang="en-US" sz="31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152400"/>
            <a:ext cx="10972800" cy="2286000"/>
          </a:xfrm>
        </p:spPr>
        <p:txBody>
          <a:bodyPr>
            <a:normAutofit/>
          </a:bodyPr>
          <a:lstStyle/>
          <a:p>
            <a:r>
              <a:rPr lang="en-US" sz="2600" dirty="0" smtClean="0"/>
              <a:t>Hence, in a first-order Markov process, the transition model is the conditional distribution P(</a:t>
            </a:r>
            <a:r>
              <a:rPr lang="en-US" sz="2600" dirty="0" err="1" smtClean="0"/>
              <a:t>X</a:t>
            </a:r>
            <a:r>
              <a:rPr lang="en-US" sz="2600" baseline="-25000" dirty="0" err="1" smtClean="0"/>
              <a:t>t</a:t>
            </a:r>
            <a:r>
              <a:rPr lang="en-US" sz="2600" dirty="0" smtClean="0"/>
              <a:t> |X</a:t>
            </a:r>
            <a:r>
              <a:rPr lang="en-US" sz="2600" baseline="-25000" dirty="0" smtClean="0"/>
              <a:t>t</a:t>
            </a:r>
            <a:r>
              <a:rPr lang="en-US" sz="2600" dirty="0" smtClean="0"/>
              <a:t>−1). The transition model for a second-order Markov process is the conditional distribution P(</a:t>
            </a:r>
            <a:r>
              <a:rPr lang="en-US" sz="2600" dirty="0" err="1" smtClean="0"/>
              <a:t>X</a:t>
            </a:r>
            <a:r>
              <a:rPr lang="en-US" sz="2600" baseline="-25000" dirty="0" err="1" smtClean="0"/>
              <a:t>t</a:t>
            </a:r>
            <a:r>
              <a:rPr lang="en-US" sz="2600" dirty="0" smtClean="0"/>
              <a:t> |X</a:t>
            </a:r>
            <a:r>
              <a:rPr lang="en-US" sz="2600" baseline="-25000" dirty="0" smtClean="0"/>
              <a:t>t</a:t>
            </a:r>
            <a:r>
              <a:rPr lang="en-US" sz="2600" dirty="0" smtClean="0"/>
              <a:t>−2,X</a:t>
            </a:r>
            <a:r>
              <a:rPr lang="en-US" sz="2600" baseline="-25000" dirty="0" smtClean="0"/>
              <a:t>t</a:t>
            </a:r>
            <a:r>
              <a:rPr lang="en-US" sz="2600" dirty="0" smtClean="0"/>
              <a:t>−1). </a:t>
            </a:r>
          </a:p>
          <a:p>
            <a:r>
              <a:rPr lang="en-US" sz="2600" dirty="0" smtClean="0"/>
              <a:t>Figure 15.1 shows the Bayesian network structures corresponding to first-order and second-order Markov processes</a:t>
            </a:r>
            <a:endParaRPr lang="en-US" sz="2600" dirty="0"/>
          </a:p>
        </p:txBody>
      </p:sp>
      <p:pic>
        <p:nvPicPr>
          <p:cNvPr id="7170" name="Picture 2"/>
          <p:cNvPicPr>
            <a:picLocks noChangeAspect="1" noChangeArrowheads="1"/>
          </p:cNvPicPr>
          <p:nvPr/>
        </p:nvPicPr>
        <p:blipFill>
          <a:blip r:embed="rId2" cstate="print"/>
          <a:srcRect/>
          <a:stretch>
            <a:fillRect/>
          </a:stretch>
        </p:blipFill>
        <p:spPr bwMode="auto">
          <a:xfrm>
            <a:off x="1036637" y="2471738"/>
            <a:ext cx="8915400" cy="3700462"/>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304800"/>
            <a:ext cx="11049000" cy="6248399"/>
          </a:xfrm>
        </p:spPr>
        <p:txBody>
          <a:bodyPr>
            <a:noAutofit/>
          </a:bodyPr>
          <a:lstStyle/>
          <a:p>
            <a:r>
              <a:rPr lang="en-US" sz="2400" dirty="0" smtClean="0"/>
              <a:t>Even with the Markov assumption there is still a problem: there are infinitely many possible values of t. </a:t>
            </a:r>
          </a:p>
          <a:p>
            <a:r>
              <a:rPr lang="en-US" sz="2400" dirty="0" smtClean="0"/>
              <a:t>Avoid this problem by assuming that changes in the world state are caused by a stationary process—that is, a process of change that is governed by laws that do not themselves change over time. </a:t>
            </a:r>
          </a:p>
          <a:p>
            <a:r>
              <a:rPr lang="en-US" sz="2400" dirty="0" smtClean="0"/>
              <a:t>(Don’t confuse </a:t>
            </a:r>
            <a:r>
              <a:rPr lang="en-US" sz="2400" i="1" dirty="0" smtClean="0"/>
              <a:t>stationary with static: in a static process, the state itself does not </a:t>
            </a:r>
            <a:r>
              <a:rPr lang="en-US" sz="2400" dirty="0" smtClean="0"/>
              <a:t>change.) </a:t>
            </a:r>
          </a:p>
          <a:p>
            <a:r>
              <a:rPr lang="en-US" sz="2400" dirty="0" smtClean="0"/>
              <a:t>In the umbrella world, then, the conditional probability of rain, P(</a:t>
            </a:r>
            <a:r>
              <a:rPr lang="en-US" sz="2400" dirty="0" err="1" smtClean="0"/>
              <a:t>R</a:t>
            </a:r>
            <a:r>
              <a:rPr lang="en-US" sz="2400" baseline="-25000" dirty="0" err="1" smtClean="0"/>
              <a:t>t</a:t>
            </a:r>
            <a:r>
              <a:rPr lang="en-US" sz="2400" dirty="0" smtClean="0"/>
              <a:t> |R</a:t>
            </a:r>
            <a:r>
              <a:rPr lang="en-US" sz="2400" baseline="-25000" dirty="0" smtClean="0"/>
              <a:t>t−1</a:t>
            </a:r>
            <a:r>
              <a:rPr lang="en-US" sz="2400" dirty="0" smtClean="0"/>
              <a:t>), is the same for all t, and we only have to specify one conditional probability table.</a:t>
            </a:r>
          </a:p>
          <a:p>
            <a:r>
              <a:rPr lang="en-US" sz="2400" dirty="0" smtClean="0"/>
              <a:t>Now for the sensor model. The evidence variables </a:t>
            </a:r>
            <a:r>
              <a:rPr lang="en-US" sz="2400" b="1" dirty="0" smtClean="0"/>
              <a:t>E</a:t>
            </a:r>
            <a:r>
              <a:rPr lang="en-US" sz="2400" b="1" baseline="-25000" dirty="0" smtClean="0"/>
              <a:t>t</a:t>
            </a:r>
            <a:r>
              <a:rPr lang="en-US" sz="2400" b="1" dirty="0" smtClean="0"/>
              <a:t> </a:t>
            </a:r>
            <a:r>
              <a:rPr lang="en-US" sz="2400" dirty="0" smtClean="0"/>
              <a:t>could depend on previous variables</a:t>
            </a:r>
            <a:r>
              <a:rPr lang="en-US" sz="2400" b="1" i="1" dirty="0" smtClean="0"/>
              <a:t> </a:t>
            </a:r>
            <a:r>
              <a:rPr lang="en-US" sz="2400" dirty="0" smtClean="0"/>
              <a:t>as well as the current state variables, but any state that’s worth its salt should suffice to generate the current sensor values. </a:t>
            </a:r>
          </a:p>
          <a:p>
            <a:r>
              <a:rPr lang="en-US" sz="2400" dirty="0" smtClean="0"/>
              <a:t>Make a </a:t>
            </a:r>
            <a:r>
              <a:rPr lang="en-US" sz="2400" b="1" dirty="0" smtClean="0"/>
              <a:t>sensor Markov assumption as follows: </a:t>
            </a:r>
            <a:r>
              <a:rPr lang="fr-FR" sz="2400" b="1" dirty="0" smtClean="0"/>
              <a:t>P(E</a:t>
            </a:r>
            <a:r>
              <a:rPr lang="fr-FR" sz="2400" b="1" baseline="-25000" dirty="0" smtClean="0"/>
              <a:t>t</a:t>
            </a:r>
            <a:r>
              <a:rPr lang="fr-FR" sz="2400" b="1" dirty="0" smtClean="0"/>
              <a:t> |X</a:t>
            </a:r>
            <a:r>
              <a:rPr lang="fr-FR" sz="2400" b="1" baseline="-25000" dirty="0" smtClean="0"/>
              <a:t>0:t</a:t>
            </a:r>
            <a:r>
              <a:rPr lang="fr-FR" sz="2400" b="1" dirty="0" smtClean="0"/>
              <a:t>,E</a:t>
            </a:r>
            <a:r>
              <a:rPr lang="fr-FR" sz="2400" b="1" baseline="-25000" dirty="0" smtClean="0"/>
              <a:t>0:t−1</a:t>
            </a:r>
            <a:r>
              <a:rPr lang="fr-FR" sz="2400" b="1" dirty="0" smtClean="0"/>
              <a:t>) = P(E</a:t>
            </a:r>
            <a:r>
              <a:rPr lang="fr-FR" sz="2400" b="1" baseline="-25000" dirty="0" smtClean="0"/>
              <a:t>t</a:t>
            </a:r>
            <a:r>
              <a:rPr lang="fr-FR" sz="2400" b="1" dirty="0" smtClean="0"/>
              <a:t> |</a:t>
            </a:r>
            <a:r>
              <a:rPr lang="fr-FR" sz="2400" b="1" dirty="0" err="1" smtClean="0"/>
              <a:t>X</a:t>
            </a:r>
            <a:r>
              <a:rPr lang="fr-FR" sz="2400" b="1" baseline="-25000" dirty="0" err="1" smtClean="0"/>
              <a:t>t</a:t>
            </a:r>
            <a:r>
              <a:rPr lang="fr-FR" sz="2400" b="1" dirty="0" smtClean="0"/>
              <a:t>) . (15.2)</a:t>
            </a:r>
          </a:p>
          <a:p>
            <a:r>
              <a:rPr lang="en-US" sz="2400" b="1" dirty="0" smtClean="0"/>
              <a:t>P(E</a:t>
            </a:r>
            <a:r>
              <a:rPr lang="en-US" sz="2400" b="1" baseline="-25000" dirty="0" smtClean="0"/>
              <a:t>t</a:t>
            </a:r>
            <a:r>
              <a:rPr lang="en-US" sz="2400" b="1" dirty="0" smtClean="0"/>
              <a:t> |</a:t>
            </a:r>
            <a:r>
              <a:rPr lang="en-US" sz="2400" b="1" dirty="0" err="1" smtClean="0"/>
              <a:t>X</a:t>
            </a:r>
            <a:r>
              <a:rPr lang="en-US" sz="2400" b="1" baseline="-25000" dirty="0" err="1" smtClean="0"/>
              <a:t>t</a:t>
            </a:r>
            <a:r>
              <a:rPr lang="en-US" sz="2400" b="1" dirty="0" smtClean="0"/>
              <a:t>) </a:t>
            </a:r>
            <a:r>
              <a:rPr lang="en-US" sz="2400" dirty="0" smtClean="0"/>
              <a:t>is our sensor model (sometimes called the observation model). </a:t>
            </a:r>
          </a:p>
          <a:p>
            <a:r>
              <a:rPr lang="en-US" sz="2400" b="1" dirty="0" smtClean="0"/>
              <a:t>Figure 15.2 </a:t>
            </a:r>
            <a:r>
              <a:rPr lang="en-US" sz="2400" dirty="0" smtClean="0"/>
              <a:t>shows both the transition model and the sensor model for the umbrella example. </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304800"/>
            <a:ext cx="10972800" cy="6248399"/>
          </a:xfrm>
        </p:spPr>
        <p:txBody>
          <a:bodyPr>
            <a:normAutofit fontScale="92500"/>
          </a:bodyPr>
          <a:lstStyle/>
          <a:p>
            <a:r>
              <a:rPr lang="en-US" sz="2400" dirty="0" smtClean="0"/>
              <a:t>Notice </a:t>
            </a:r>
            <a:r>
              <a:rPr lang="en-US" sz="2400" dirty="0" err="1" smtClean="0"/>
              <a:t>theNotice</a:t>
            </a:r>
            <a:r>
              <a:rPr lang="en-US" sz="2400" dirty="0" smtClean="0"/>
              <a:t> the direction of the dependence between state and sensors: the arrows go from the actual state of the world to sensor values because the state of the world </a:t>
            </a:r>
            <a:r>
              <a:rPr lang="en-US" sz="2400" i="1" dirty="0" smtClean="0"/>
              <a:t>causes the sensors to take on </a:t>
            </a:r>
            <a:r>
              <a:rPr lang="en-US" sz="2400" dirty="0" smtClean="0"/>
              <a:t>particular values: the rain </a:t>
            </a:r>
            <a:r>
              <a:rPr lang="en-US" sz="2400" i="1" dirty="0" smtClean="0"/>
              <a:t>causes the umbrella to appear. </a:t>
            </a:r>
          </a:p>
          <a:p>
            <a:r>
              <a:rPr lang="en-US" sz="2400" i="1" dirty="0" smtClean="0"/>
              <a:t>(The inference process, of course, </a:t>
            </a:r>
            <a:r>
              <a:rPr lang="en-US" sz="2400" dirty="0" smtClean="0"/>
              <a:t>goes in the other direction; the distinction between the direction of modeled dependencies and the direction of inference is one of the principal advantages of Bayesian networks.)</a:t>
            </a:r>
          </a:p>
          <a:p>
            <a:r>
              <a:rPr lang="en-US" sz="2400" dirty="0" smtClean="0"/>
              <a:t>In addition to specifying the transition and sensor models, we need to say how everything gets started—the prior probability  distribution at time 0, </a:t>
            </a:r>
            <a:r>
              <a:rPr lang="en-US" sz="2400" b="1" dirty="0" smtClean="0"/>
              <a:t>P(X0). </a:t>
            </a:r>
          </a:p>
          <a:p>
            <a:r>
              <a:rPr lang="en-US" sz="2400" b="1" dirty="0" smtClean="0"/>
              <a:t>With that, we have a </a:t>
            </a:r>
            <a:r>
              <a:rPr lang="en-US" sz="2400" dirty="0" smtClean="0"/>
              <a:t>specification of the complete joint distribution over all the variables, using Equation (14.2).</a:t>
            </a:r>
          </a:p>
          <a:p>
            <a:endParaRPr lang="en-US" sz="2400" dirty="0" smtClean="0"/>
          </a:p>
          <a:p>
            <a:endParaRPr lang="en-US" sz="2400" dirty="0" smtClean="0"/>
          </a:p>
          <a:p>
            <a:r>
              <a:rPr lang="en-US" sz="2400" dirty="0" smtClean="0"/>
              <a:t>The three terms on the right-hand side are the initial state model </a:t>
            </a:r>
            <a:r>
              <a:rPr lang="en-US" sz="2400" b="1" dirty="0" smtClean="0"/>
              <a:t>P(X0), the transition model P(Xi |Xi−1), and the sensor model P(</a:t>
            </a:r>
            <a:r>
              <a:rPr lang="en-US" sz="2400" b="1" dirty="0" err="1" smtClean="0"/>
              <a:t>Ei</a:t>
            </a:r>
            <a:r>
              <a:rPr lang="en-US" sz="2400" b="1" dirty="0" smtClean="0"/>
              <a:t> |Xi).</a:t>
            </a:r>
          </a:p>
          <a:p>
            <a:r>
              <a:rPr lang="en-US" sz="2400" dirty="0" smtClean="0"/>
              <a:t>The structure in Figure 15.2 is a first-order Markov process—the probability of rain is</a:t>
            </a:r>
          </a:p>
          <a:p>
            <a:r>
              <a:rPr lang="en-US" sz="2400" dirty="0" smtClean="0"/>
              <a:t>assumed to depend only on whether it rained the previous day.</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3475038" y="3810000"/>
            <a:ext cx="6553200" cy="7620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 y="0"/>
            <a:ext cx="11522075" cy="68580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837" y="228600"/>
            <a:ext cx="10896600" cy="6324599"/>
          </a:xfrm>
        </p:spPr>
        <p:txBody>
          <a:bodyPr>
            <a:normAutofit lnSpcReduction="10000"/>
          </a:bodyPr>
          <a:lstStyle/>
          <a:p>
            <a:pPr algn="just"/>
            <a:r>
              <a:rPr lang="en-US" sz="2400" dirty="0" smtClean="0"/>
              <a:t>The first-order Markov assumption says that the state variables contain </a:t>
            </a:r>
            <a:r>
              <a:rPr lang="en-US" sz="2400" i="1" dirty="0" smtClean="0"/>
              <a:t>all the information needed to characterize the probability distribution </a:t>
            </a:r>
            <a:r>
              <a:rPr lang="en-US" sz="2400" dirty="0" smtClean="0"/>
              <a:t>for the next time slice. </a:t>
            </a:r>
          </a:p>
          <a:p>
            <a:pPr algn="just"/>
            <a:r>
              <a:rPr lang="en-US" sz="2400" dirty="0" smtClean="0"/>
              <a:t>Ex: If a particle is executing a random walk along the x-axis, changing its position by  </a:t>
            </a:r>
            <a:r>
              <a:rPr lang="en-US" sz="2400" dirty="0" smtClean="0">
                <a:sym typeface="Symbol"/>
              </a:rPr>
              <a:t> 1 </a:t>
            </a:r>
            <a:r>
              <a:rPr lang="en-US" sz="2400" dirty="0" smtClean="0"/>
              <a:t>at each time step, then using the x-coordinate as the state gives a first-order Markov process. </a:t>
            </a:r>
          </a:p>
          <a:p>
            <a:pPr algn="just"/>
            <a:r>
              <a:rPr lang="en-US" sz="2400" dirty="0" smtClean="0"/>
              <a:t>Sometimes predicting rain only on the basis of whether it rained the previous day. </a:t>
            </a:r>
          </a:p>
          <a:p>
            <a:pPr algn="just"/>
            <a:r>
              <a:rPr lang="en-US" sz="2400" dirty="0" smtClean="0"/>
              <a:t>There are two ways to improve the accuracy of the approximation:</a:t>
            </a:r>
          </a:p>
          <a:p>
            <a:pPr marL="457200" indent="-457200" algn="just">
              <a:buAutoNum type="arabicPeriod"/>
            </a:pPr>
            <a:r>
              <a:rPr lang="en-US" sz="2400" dirty="0" smtClean="0"/>
              <a:t>Increasing the order of the Markov process model. </a:t>
            </a:r>
          </a:p>
          <a:p>
            <a:pPr marL="457200" indent="-457200" algn="just">
              <a:buNone/>
            </a:pPr>
            <a:r>
              <a:rPr lang="en-US" sz="2400" dirty="0" smtClean="0"/>
              <a:t>       Ex: Make a second-order model by adding Rain</a:t>
            </a:r>
            <a:r>
              <a:rPr lang="en-US" sz="3500" baseline="-25000" dirty="0" smtClean="0"/>
              <a:t>t−2</a:t>
            </a:r>
            <a:r>
              <a:rPr lang="en-US" sz="2400" dirty="0" smtClean="0"/>
              <a:t> as a parent of </a:t>
            </a:r>
            <a:r>
              <a:rPr lang="en-US" sz="2400" dirty="0" err="1" smtClean="0"/>
              <a:t>Rain</a:t>
            </a:r>
            <a:r>
              <a:rPr lang="en-US" baseline="-25000" dirty="0" err="1" smtClean="0"/>
              <a:t>t</a:t>
            </a:r>
            <a:r>
              <a:rPr lang="en-US" sz="2400" dirty="0" smtClean="0"/>
              <a:t>, which might give slightly more accurate predictions. </a:t>
            </a:r>
          </a:p>
          <a:p>
            <a:pPr marL="457200" indent="-457200" algn="just">
              <a:buNone/>
            </a:pPr>
            <a:r>
              <a:rPr lang="en-US" sz="2400" dirty="0" smtClean="0"/>
              <a:t>       Ex: In Palo Alto, California, it very rarely rains more than two days in a row.</a:t>
            </a:r>
          </a:p>
          <a:p>
            <a:pPr algn="just">
              <a:buNone/>
            </a:pPr>
            <a:r>
              <a:rPr lang="en-US" sz="2400" dirty="0" smtClean="0"/>
              <a:t>2.  Increasing the set of state variables. </a:t>
            </a:r>
          </a:p>
          <a:p>
            <a:pPr algn="just">
              <a:buNone/>
            </a:pPr>
            <a:r>
              <a:rPr lang="en-US" sz="2400" dirty="0" smtClean="0"/>
              <a:t>     Ex: Add </a:t>
            </a:r>
            <a:r>
              <a:rPr lang="en-US" sz="2400" dirty="0" err="1" smtClean="0"/>
              <a:t>Season</a:t>
            </a:r>
            <a:r>
              <a:rPr lang="en-US" baseline="-25000" dirty="0" err="1" smtClean="0"/>
              <a:t>t</a:t>
            </a:r>
            <a:r>
              <a:rPr lang="en-US" sz="2400" dirty="0" smtClean="0"/>
              <a:t> to allow us to incorporate historical records of rainy seasons, or we could add </a:t>
            </a:r>
            <a:r>
              <a:rPr lang="en-US" sz="2400" dirty="0" err="1" smtClean="0"/>
              <a:t>Temperature</a:t>
            </a:r>
            <a:r>
              <a:rPr lang="en-US" baseline="-25000" dirty="0" err="1" smtClean="0"/>
              <a:t>t</a:t>
            </a:r>
            <a:r>
              <a:rPr lang="en-US" sz="2400" dirty="0" smtClean="0"/>
              <a:t>, </a:t>
            </a:r>
            <a:r>
              <a:rPr lang="en-US" sz="2400" dirty="0" err="1" smtClean="0"/>
              <a:t>Humidity</a:t>
            </a:r>
            <a:r>
              <a:rPr lang="en-US" baseline="-25000" dirty="0" err="1" smtClean="0"/>
              <a:t>t</a:t>
            </a:r>
            <a:r>
              <a:rPr lang="en-US" dirty="0" smtClean="0"/>
              <a:t> </a:t>
            </a:r>
            <a:r>
              <a:rPr lang="en-US" sz="2400" dirty="0" smtClean="0"/>
              <a:t>and </a:t>
            </a:r>
            <a:r>
              <a:rPr lang="en-US" sz="2400" dirty="0" err="1" smtClean="0"/>
              <a:t>Pressure</a:t>
            </a:r>
            <a:r>
              <a:rPr lang="en-US" baseline="-25000" dirty="0" err="1" smtClean="0"/>
              <a:t>t</a:t>
            </a:r>
            <a:r>
              <a:rPr lang="en-US" sz="2400" dirty="0" smtClean="0"/>
              <a:t> (perhaps at a range of locations) to allow us to use a physical model of rainy conditions.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76200"/>
            <a:ext cx="10369868" cy="838200"/>
          </a:xfrm>
        </p:spPr>
        <p:txBody>
          <a:bodyPr>
            <a:normAutofit/>
          </a:bodyPr>
          <a:lstStyle/>
          <a:p>
            <a:r>
              <a:rPr lang="en-US" dirty="0" smtClean="0"/>
              <a:t>UTILITY FUNCTIONS </a:t>
            </a:r>
            <a:endParaRPr lang="en-US" dirty="0"/>
          </a:p>
        </p:txBody>
      </p:sp>
      <p:sp>
        <p:nvSpPr>
          <p:cNvPr id="3" name="Content Placeholder 2"/>
          <p:cNvSpPr>
            <a:spLocks noGrp="1"/>
          </p:cNvSpPr>
          <p:nvPr>
            <p:ph idx="1"/>
          </p:nvPr>
        </p:nvSpPr>
        <p:spPr>
          <a:xfrm>
            <a:off x="350837" y="990600"/>
            <a:ext cx="10820400" cy="5333999"/>
          </a:xfrm>
        </p:spPr>
        <p:txBody>
          <a:bodyPr>
            <a:normAutofit fontScale="92500" lnSpcReduction="10000"/>
          </a:bodyPr>
          <a:lstStyle/>
          <a:p>
            <a:r>
              <a:rPr lang="en-US" sz="2400" dirty="0" smtClean="0"/>
              <a:t>The basic principle of decision theory: the maximization of expected utility.</a:t>
            </a:r>
          </a:p>
          <a:p>
            <a:r>
              <a:rPr lang="en-US" sz="2400" dirty="0" smtClean="0"/>
              <a:t>The behavior of any rational agent can be captured by supposing a utility function that is being maximized.</a:t>
            </a:r>
          </a:p>
          <a:p>
            <a:pPr>
              <a:buNone/>
            </a:pPr>
            <a:r>
              <a:rPr lang="en-US" sz="2800" b="1" dirty="0" smtClean="0"/>
              <a:t>THE BASIS OF UTILITY THEORY</a:t>
            </a:r>
          </a:p>
          <a:p>
            <a:r>
              <a:rPr lang="en-US" sz="2400" dirty="0" smtClean="0"/>
              <a:t>The principle of Maximum Expected Utility (MEU) seems like a reasonable way to make decisions, but it is by no means obvious that it is the </a:t>
            </a:r>
            <a:r>
              <a:rPr lang="en-US" sz="2400" i="1" dirty="0" smtClean="0"/>
              <a:t>only rational way</a:t>
            </a:r>
            <a:r>
              <a:rPr lang="en-US" sz="2800" i="1" dirty="0" smtClean="0"/>
              <a:t>.</a:t>
            </a:r>
          </a:p>
          <a:p>
            <a:pPr algn="just">
              <a:buNone/>
            </a:pPr>
            <a:r>
              <a:rPr lang="en-US" sz="2800" b="1" dirty="0" smtClean="0"/>
              <a:t>Constraints on rational preferences</a:t>
            </a:r>
          </a:p>
          <a:p>
            <a:pPr algn="just"/>
            <a:r>
              <a:rPr lang="en-US" sz="2800" dirty="0" smtClean="0"/>
              <a:t>the following notation to describe an agent’s preferences:</a:t>
            </a:r>
          </a:p>
          <a:p>
            <a:pPr algn="just"/>
            <a:endParaRPr lang="en-US" sz="1800" dirty="0" smtClean="0"/>
          </a:p>
          <a:p>
            <a:pPr algn="just"/>
            <a:endParaRPr lang="en-US" sz="1800" dirty="0" smtClean="0"/>
          </a:p>
          <a:p>
            <a:pPr algn="just"/>
            <a:endParaRPr lang="en-US" sz="1800" dirty="0" smtClean="0"/>
          </a:p>
          <a:p>
            <a:pPr algn="just"/>
            <a:endParaRPr lang="en-US" sz="2800" dirty="0" smtClean="0"/>
          </a:p>
          <a:p>
            <a:pPr algn="just"/>
            <a:r>
              <a:rPr lang="en-US" sz="2800" dirty="0" smtClean="0"/>
              <a:t>A and B could be states of the world, but more often than not there is uncertainty about what is really being offered. </a:t>
            </a:r>
          </a:p>
          <a:p>
            <a:endParaRPr lang="en-US" sz="2800" b="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pic>
        <p:nvPicPr>
          <p:cNvPr id="5" name="Picture 2"/>
          <p:cNvPicPr>
            <a:picLocks noChangeAspect="1" noChangeArrowheads="1"/>
          </p:cNvPicPr>
          <p:nvPr/>
        </p:nvPicPr>
        <p:blipFill>
          <a:blip r:embed="rId2" cstate="print"/>
          <a:srcRect/>
          <a:stretch>
            <a:fillRect/>
          </a:stretch>
        </p:blipFill>
        <p:spPr bwMode="auto">
          <a:xfrm>
            <a:off x="2484437" y="4267200"/>
            <a:ext cx="6858000" cy="91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125200" cy="6477000"/>
          </a:xfrm>
        </p:spPr>
        <p:txBody>
          <a:bodyPr>
            <a:normAutofit fontScale="62500" lnSpcReduction="20000"/>
          </a:bodyPr>
          <a:lstStyle/>
          <a:p>
            <a:pPr algn="just"/>
            <a:r>
              <a:rPr lang="en-US" sz="4600" dirty="0" smtClean="0"/>
              <a:t>Ex: An airline passenger who is offered “the pasta dish or the chicken” does not know what lurks beneath the tinfoil cover.</a:t>
            </a:r>
          </a:p>
          <a:p>
            <a:pPr algn="just"/>
            <a:r>
              <a:rPr lang="en-US" sz="4600" dirty="0" smtClean="0"/>
              <a:t>The pasta could be delicious or congealed, the chicken juicy or overcooked beyond recognition. </a:t>
            </a:r>
          </a:p>
          <a:p>
            <a:pPr algn="just"/>
            <a:r>
              <a:rPr lang="en-US" sz="4600" dirty="0" smtClean="0"/>
              <a:t>Think of the set of outcomes for each action as a lottery—think of each action as </a:t>
            </a:r>
            <a:r>
              <a:rPr lang="en-US" sz="4600" b="1" dirty="0" smtClean="0"/>
              <a:t>LOTTERY a ticket. </a:t>
            </a:r>
          </a:p>
          <a:p>
            <a:pPr algn="just"/>
            <a:r>
              <a:rPr lang="en-US" sz="4600" dirty="0" smtClean="0"/>
              <a:t>A lottery L with possible outcomes </a:t>
            </a:r>
            <a:r>
              <a:rPr lang="en-US" sz="4600" b="1" dirty="0" smtClean="0"/>
              <a:t>S</a:t>
            </a:r>
            <a:r>
              <a:rPr lang="en-US" sz="4600" b="1" baseline="-25000" dirty="0" smtClean="0"/>
              <a:t>1</a:t>
            </a:r>
            <a:r>
              <a:rPr lang="en-US" sz="4600" b="1" dirty="0" smtClean="0"/>
              <a:t>, . . . , </a:t>
            </a:r>
            <a:r>
              <a:rPr lang="en-US" sz="4600" b="1" dirty="0" err="1" smtClean="0"/>
              <a:t>S</a:t>
            </a:r>
            <a:r>
              <a:rPr lang="en-US" sz="4600" b="1" baseline="-25000" dirty="0" err="1" smtClean="0"/>
              <a:t>n</a:t>
            </a:r>
            <a:r>
              <a:rPr lang="en-US" sz="4600" b="1" dirty="0" smtClean="0"/>
              <a:t> </a:t>
            </a:r>
            <a:r>
              <a:rPr lang="en-US" sz="4600" dirty="0" smtClean="0"/>
              <a:t>that occur with probabilities </a:t>
            </a:r>
            <a:r>
              <a:rPr lang="en-US" sz="4600" b="1" dirty="0" smtClean="0"/>
              <a:t>p</a:t>
            </a:r>
            <a:r>
              <a:rPr lang="en-US" sz="4600" b="1" baseline="-25000" dirty="0" smtClean="0"/>
              <a:t>1</a:t>
            </a:r>
            <a:r>
              <a:rPr lang="en-US" sz="4600" b="1" dirty="0" smtClean="0"/>
              <a:t>, . . . , </a:t>
            </a:r>
            <a:r>
              <a:rPr lang="en-US" sz="4600" b="1" dirty="0" err="1" smtClean="0"/>
              <a:t>p</a:t>
            </a:r>
            <a:r>
              <a:rPr lang="en-US" sz="4600" b="1" baseline="-25000" dirty="0" err="1" smtClean="0"/>
              <a:t>n</a:t>
            </a:r>
            <a:r>
              <a:rPr lang="en-US" sz="4600" dirty="0" smtClean="0"/>
              <a:t> is written   </a:t>
            </a:r>
            <a:r>
              <a:rPr lang="en-US" sz="4600" b="1" dirty="0" smtClean="0"/>
              <a:t>L = [p</a:t>
            </a:r>
            <a:r>
              <a:rPr lang="en-US" sz="4600" b="1" baseline="-25000" dirty="0" smtClean="0"/>
              <a:t>1</a:t>
            </a:r>
            <a:r>
              <a:rPr lang="en-US" sz="4600" b="1" dirty="0" smtClean="0"/>
              <a:t>, S</a:t>
            </a:r>
            <a:r>
              <a:rPr lang="en-US" sz="4600" b="1" baseline="-25000" dirty="0" smtClean="0"/>
              <a:t>1</a:t>
            </a:r>
            <a:r>
              <a:rPr lang="en-US" sz="4600" b="1" dirty="0" smtClean="0"/>
              <a:t>; p</a:t>
            </a:r>
            <a:r>
              <a:rPr lang="en-US" sz="4600" b="1" baseline="-25000" dirty="0" smtClean="0"/>
              <a:t>2</a:t>
            </a:r>
            <a:r>
              <a:rPr lang="en-US" sz="4600" b="1" dirty="0" smtClean="0"/>
              <a:t>, S</a:t>
            </a:r>
            <a:r>
              <a:rPr lang="en-US" sz="4600" b="1" baseline="-25000" dirty="0" smtClean="0"/>
              <a:t>2</a:t>
            </a:r>
            <a:r>
              <a:rPr lang="en-US" sz="4600" b="1" dirty="0" smtClean="0"/>
              <a:t>; . . . </a:t>
            </a:r>
            <a:r>
              <a:rPr lang="en-US" sz="4600" b="1" dirty="0" err="1" smtClean="0"/>
              <a:t>p</a:t>
            </a:r>
            <a:r>
              <a:rPr lang="en-US" sz="4600" b="1" baseline="-25000" dirty="0" err="1" smtClean="0"/>
              <a:t>n</a:t>
            </a:r>
            <a:r>
              <a:rPr lang="en-US" sz="4600" b="1" dirty="0" smtClean="0"/>
              <a:t>, </a:t>
            </a:r>
            <a:r>
              <a:rPr lang="en-US" sz="4600" b="1" dirty="0" err="1" smtClean="0"/>
              <a:t>S</a:t>
            </a:r>
            <a:r>
              <a:rPr lang="en-US" sz="4600" b="1" baseline="-25000" dirty="0" err="1" smtClean="0"/>
              <a:t>n</a:t>
            </a:r>
            <a:r>
              <a:rPr lang="en-US" sz="4600" b="1" dirty="0" smtClean="0"/>
              <a:t>] </a:t>
            </a:r>
            <a:r>
              <a:rPr lang="en-US" sz="4600" dirty="0" smtClean="0"/>
              <a:t>.</a:t>
            </a:r>
          </a:p>
          <a:p>
            <a:pPr algn="just"/>
            <a:r>
              <a:rPr lang="en-US" sz="4600" dirty="0" smtClean="0"/>
              <a:t>Each outcome </a:t>
            </a:r>
            <a:r>
              <a:rPr lang="en-US" sz="4600" b="1" dirty="0" smtClean="0"/>
              <a:t>S</a:t>
            </a:r>
            <a:r>
              <a:rPr lang="en-US" sz="4600" b="1" baseline="-25000" dirty="0" smtClean="0"/>
              <a:t>i</a:t>
            </a:r>
            <a:r>
              <a:rPr lang="en-US" sz="4600" dirty="0" smtClean="0"/>
              <a:t> of a lottery can be either an atomic state or another lottery. </a:t>
            </a:r>
          </a:p>
          <a:p>
            <a:pPr algn="just"/>
            <a:r>
              <a:rPr lang="en-US" sz="4600" dirty="0" smtClean="0"/>
              <a:t>The primary issue for utility theory is to understand how preferences between complex lotteries are related to preferences between the underlying states in those lotteries. </a:t>
            </a:r>
          </a:p>
          <a:p>
            <a:pPr algn="just"/>
            <a:r>
              <a:rPr lang="en-US" sz="4600" dirty="0" smtClean="0"/>
              <a:t>To address this issue list six constraints that require any reasonable preference relation to obey:</a:t>
            </a:r>
            <a:endParaRPr lang="en-US" sz="4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1049000" cy="6400799"/>
          </a:xfrm>
        </p:spPr>
        <p:txBody>
          <a:bodyPr>
            <a:normAutofit/>
          </a:bodyPr>
          <a:lstStyle/>
          <a:p>
            <a:pPr algn="just">
              <a:spcBef>
                <a:spcPts val="0"/>
              </a:spcBef>
            </a:pPr>
            <a:r>
              <a:rPr lang="en-US" sz="2400" b="1" dirty="0" err="1" smtClean="0"/>
              <a:t>Orderability</a:t>
            </a:r>
            <a:r>
              <a:rPr lang="en-US" sz="2400" b="1" dirty="0" smtClean="0"/>
              <a:t>: </a:t>
            </a:r>
            <a:r>
              <a:rPr lang="en-US" sz="2400" dirty="0" smtClean="0"/>
              <a:t>Given any two lotteries, a rational agent must either prefer one to the other or else rate the two as equally preferable. </a:t>
            </a:r>
          </a:p>
          <a:p>
            <a:pPr algn="just">
              <a:spcBef>
                <a:spcPts val="0"/>
              </a:spcBef>
            </a:pPr>
            <a:r>
              <a:rPr lang="en-US" sz="2400" dirty="0" smtClean="0"/>
              <a:t>That is, the agent cannot avoid deciding, refusing to bet is like refusing to allow time to pass.</a:t>
            </a:r>
          </a:p>
          <a:p>
            <a:pPr algn="just">
              <a:spcBef>
                <a:spcPts val="0"/>
              </a:spcBef>
            </a:pPr>
            <a:endParaRPr lang="en-US" sz="2400" dirty="0" smtClean="0"/>
          </a:p>
          <a:p>
            <a:pPr algn="just">
              <a:spcBef>
                <a:spcPts val="0"/>
              </a:spcBef>
            </a:pPr>
            <a:r>
              <a:rPr lang="en-US" sz="2400" b="1" dirty="0" smtClean="0"/>
              <a:t>Transitivity: </a:t>
            </a:r>
            <a:r>
              <a:rPr lang="en-US" sz="2400" dirty="0" smtClean="0"/>
              <a:t>Given any three lotteries, if an agent prefers A to B and prefers B to C,</a:t>
            </a:r>
          </a:p>
          <a:p>
            <a:pPr algn="just">
              <a:spcBef>
                <a:spcPts val="0"/>
              </a:spcBef>
              <a:buNone/>
            </a:pPr>
            <a:r>
              <a:rPr lang="en-US" sz="2400" dirty="0" smtClean="0"/>
              <a:t>     then the agent must prefer A to C.</a:t>
            </a:r>
          </a:p>
          <a:p>
            <a:pPr algn="just">
              <a:spcBef>
                <a:spcPts val="0"/>
              </a:spcBef>
              <a:buNone/>
            </a:pPr>
            <a:endParaRPr lang="en-US" sz="2400" dirty="0" smtClean="0"/>
          </a:p>
          <a:p>
            <a:pPr algn="just">
              <a:spcBef>
                <a:spcPts val="0"/>
              </a:spcBef>
            </a:pPr>
            <a:r>
              <a:rPr lang="en-US" sz="2400" b="1" dirty="0" smtClean="0"/>
              <a:t>Continuity: </a:t>
            </a:r>
            <a:r>
              <a:rPr lang="en-US" sz="2400" dirty="0" smtClean="0"/>
              <a:t>If some lottery B is between A and C in preference, then there is some probability p for which the rational agent will be indifferent between getting B for sure and the lottery that yields A with probability p and C with probability 1 − p.</a:t>
            </a:r>
          </a:p>
          <a:p>
            <a:pPr algn="just">
              <a:spcBef>
                <a:spcPts val="0"/>
              </a:spcBef>
            </a:pPr>
            <a:endParaRPr lang="en-US" sz="2400" dirty="0" smtClean="0"/>
          </a:p>
          <a:p>
            <a:pPr algn="just">
              <a:spcBef>
                <a:spcPts val="0"/>
              </a:spcBef>
            </a:pPr>
            <a:endParaRPr lang="en-US" sz="2400" dirty="0" smtClean="0"/>
          </a:p>
          <a:p>
            <a:pPr algn="just"/>
            <a:r>
              <a:rPr lang="en-US" sz="2400" b="1" dirty="0" smtClean="0"/>
              <a:t>Substitutability: </a:t>
            </a:r>
            <a:r>
              <a:rPr lang="en-US" sz="2400" dirty="0" smtClean="0"/>
              <a:t>If an agent is indifferent between two lotteries A and B, then the agent is indifferent between two more complex lotteries that are the same except that B  is substituted for A in one of them. This holds regardless of the probabilities and the other outcome(s) in the lotteries.</a:t>
            </a:r>
          </a:p>
          <a:p>
            <a:pPr algn="just">
              <a:spcBef>
                <a:spcPts val="0"/>
              </a:spcBef>
            </a:pPr>
            <a:endParaRPr lang="en-US" sz="2400" dirty="0" smtClean="0"/>
          </a:p>
          <a:p>
            <a:pPr algn="just">
              <a:spcBef>
                <a:spcPts val="0"/>
              </a:spcBef>
              <a:buNone/>
            </a:pP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3017837" y="1447800"/>
            <a:ext cx="4419600" cy="5334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303837" y="2514600"/>
            <a:ext cx="3138487" cy="552450"/>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3322637" y="4419600"/>
            <a:ext cx="3886200" cy="609600"/>
          </a:xfrm>
          <a:prstGeom prst="rect">
            <a:avLst/>
          </a:prstGeom>
          <a:noFill/>
          <a:ln w="9525">
            <a:noFill/>
            <a:miter lim="800000"/>
            <a:headEnd/>
            <a:tailEnd/>
          </a:ln>
        </p:spPr>
      </p:pic>
      <p:pic>
        <p:nvPicPr>
          <p:cNvPr id="2053" name="Picture 5"/>
          <p:cNvPicPr>
            <a:picLocks noChangeAspect="1" noChangeArrowheads="1"/>
          </p:cNvPicPr>
          <p:nvPr/>
        </p:nvPicPr>
        <p:blipFill>
          <a:blip r:embed="rId5" cstate="print"/>
          <a:srcRect/>
          <a:stretch>
            <a:fillRect/>
          </a:stretch>
        </p:blipFill>
        <p:spPr bwMode="auto">
          <a:xfrm>
            <a:off x="5989637" y="6260836"/>
            <a:ext cx="4876800" cy="520964"/>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1049000" cy="6400800"/>
          </a:xfrm>
        </p:spPr>
        <p:txBody>
          <a:bodyPr>
            <a:normAutofit fontScale="92500"/>
          </a:bodyPr>
          <a:lstStyle/>
          <a:p>
            <a:pPr algn="just"/>
            <a:r>
              <a:rPr lang="en-US" sz="2600" dirty="0" smtClean="0"/>
              <a:t>This also holds if we substitute           for ∼ in this axiom.</a:t>
            </a:r>
          </a:p>
          <a:p>
            <a:pPr algn="just"/>
            <a:r>
              <a:rPr lang="en-US" sz="2600" b="1" dirty="0" err="1" smtClean="0"/>
              <a:t>Monotonicity</a:t>
            </a:r>
            <a:r>
              <a:rPr lang="en-US" sz="2600" b="1" dirty="0" smtClean="0"/>
              <a:t>: </a:t>
            </a:r>
            <a:r>
              <a:rPr lang="en-US" sz="2600" dirty="0" smtClean="0"/>
              <a:t>Suppose two lotteries have the same two possible outcomes, A and B.</a:t>
            </a:r>
          </a:p>
          <a:p>
            <a:pPr algn="just"/>
            <a:r>
              <a:rPr lang="en-US" sz="2600" dirty="0" smtClean="0"/>
              <a:t>If an agent prefers A to B, then the agent must prefer the lottery that has a higher probability for A (and vice versa).</a:t>
            </a:r>
          </a:p>
          <a:p>
            <a:pPr algn="just"/>
            <a:endParaRPr lang="en-US" sz="2600" dirty="0" smtClean="0"/>
          </a:p>
          <a:p>
            <a:pPr algn="just"/>
            <a:endParaRPr lang="en-US" sz="2600" dirty="0" smtClean="0"/>
          </a:p>
          <a:p>
            <a:pPr algn="just"/>
            <a:r>
              <a:rPr lang="en-US" sz="2600" b="1" dirty="0" smtClean="0"/>
              <a:t>Decomposability: </a:t>
            </a:r>
            <a:r>
              <a:rPr lang="en-US" sz="2600" dirty="0" smtClean="0"/>
              <a:t>Compound lotteries can be reduced to simpler ones using the laws of probability. </a:t>
            </a:r>
          </a:p>
          <a:p>
            <a:pPr algn="just"/>
            <a:r>
              <a:rPr lang="en-US" sz="2600" dirty="0" smtClean="0"/>
              <a:t>This has been called the “no fun in gambling” rule because it says that two consecutive lotteries can be compressed into a single equivalent lottery, as shown in Figure 16.1(b).</a:t>
            </a:r>
          </a:p>
          <a:p>
            <a:pPr algn="just"/>
            <a:endParaRPr lang="en-US" sz="2600" dirty="0" smtClean="0"/>
          </a:p>
          <a:p>
            <a:pPr algn="just"/>
            <a:r>
              <a:rPr lang="en-US" sz="2800" dirty="0" smtClean="0"/>
              <a:t>These constraints are known as the </a:t>
            </a:r>
            <a:r>
              <a:rPr lang="en-US" sz="2800" b="1" dirty="0" smtClean="0"/>
              <a:t>axioms of utility theory</a:t>
            </a:r>
            <a:r>
              <a:rPr lang="en-US" sz="2800" dirty="0" smtClean="0"/>
              <a:t>. </a:t>
            </a:r>
          </a:p>
          <a:p>
            <a:pPr algn="just"/>
            <a:r>
              <a:rPr lang="en-US" sz="2800" dirty="0" smtClean="0"/>
              <a:t>Each axiom can be motivated by showing that an agent that violates it will exhibit patently irrational behavior in some situations.</a:t>
            </a:r>
            <a:endParaRPr lang="en-US" sz="2600" dirty="0" smtClean="0"/>
          </a:p>
          <a:p>
            <a:pPr algn="just"/>
            <a:endParaRPr lang="en-US" sz="2600" dirty="0"/>
          </a:p>
        </p:txBody>
      </p:sp>
      <p:pic>
        <p:nvPicPr>
          <p:cNvPr id="1026" name="Picture 2"/>
          <p:cNvPicPr>
            <a:picLocks noChangeAspect="1" noChangeArrowheads="1"/>
          </p:cNvPicPr>
          <p:nvPr/>
        </p:nvPicPr>
        <p:blipFill>
          <a:blip r:embed="rId2" cstate="print"/>
          <a:srcRect/>
          <a:stretch>
            <a:fillRect/>
          </a:stretch>
        </p:blipFill>
        <p:spPr bwMode="auto">
          <a:xfrm>
            <a:off x="4694237" y="304800"/>
            <a:ext cx="304800" cy="376518"/>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999037" y="1752600"/>
            <a:ext cx="6172200" cy="762000"/>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3017837" y="4495800"/>
            <a:ext cx="7543800" cy="6858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6019800" cy="6400799"/>
          </a:xfrm>
        </p:spPr>
        <p:txBody>
          <a:bodyPr>
            <a:normAutofit fontScale="92500" lnSpcReduction="10000"/>
          </a:bodyPr>
          <a:lstStyle/>
          <a:p>
            <a:pPr algn="just"/>
            <a:r>
              <a:rPr lang="en-US" sz="2400" dirty="0" smtClean="0"/>
              <a:t>Ex: Motivate transitivity by making an agent with non-transitive preferences give us all its money. </a:t>
            </a:r>
          </a:p>
          <a:p>
            <a:pPr algn="just"/>
            <a:r>
              <a:rPr lang="en-US" sz="2400" dirty="0" smtClean="0"/>
              <a:t>Suppose that the agent has the non-transitive preferences</a:t>
            </a:r>
          </a:p>
          <a:p>
            <a:pPr algn="just"/>
            <a:r>
              <a:rPr lang="en-US" sz="2400" dirty="0" smtClean="0"/>
              <a:t>where A, B, and C are goods that can be freely exchanged. </a:t>
            </a:r>
          </a:p>
          <a:p>
            <a:pPr algn="just"/>
            <a:r>
              <a:rPr lang="en-US" sz="2400" dirty="0" smtClean="0"/>
              <a:t>If the agent currently has A, then we could offer to trade C for A plus one cent. </a:t>
            </a:r>
          </a:p>
          <a:p>
            <a:pPr algn="just"/>
            <a:r>
              <a:rPr lang="en-US" sz="2400" dirty="0" smtClean="0"/>
              <a:t>The agent prefers C, and so would be willing to make this trade. </a:t>
            </a:r>
          </a:p>
          <a:p>
            <a:pPr algn="just"/>
            <a:r>
              <a:rPr lang="en-US" sz="2400" dirty="0" smtClean="0"/>
              <a:t>Then offer to trade B for C, extracting  another cent, and finally trade A for B. </a:t>
            </a:r>
          </a:p>
          <a:p>
            <a:pPr algn="just"/>
            <a:r>
              <a:rPr lang="en-US" sz="2400" dirty="0" smtClean="0"/>
              <a:t>This brings us back where we started from, except that the agent has given us three cents (Figure 16.1(a)). </a:t>
            </a:r>
          </a:p>
          <a:p>
            <a:pPr algn="just"/>
            <a:r>
              <a:rPr lang="en-US" sz="2400" dirty="0" smtClean="0"/>
              <a:t>Keep going around the cycle until the agent has no money at all.</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2179637" y="1524000"/>
            <a:ext cx="2743200" cy="3048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6370636" y="228600"/>
            <a:ext cx="5151439" cy="60198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76200"/>
            <a:ext cx="10369868" cy="838200"/>
          </a:xfrm>
        </p:spPr>
        <p:txBody>
          <a:bodyPr/>
          <a:lstStyle/>
          <a:p>
            <a:r>
              <a:rPr lang="en-US" dirty="0" smtClean="0"/>
              <a:t>UTILITY FUNCTIONS</a:t>
            </a:r>
            <a:endParaRPr lang="en-US" dirty="0"/>
          </a:p>
        </p:txBody>
      </p:sp>
      <p:sp>
        <p:nvSpPr>
          <p:cNvPr id="3" name="Content Placeholder 2"/>
          <p:cNvSpPr>
            <a:spLocks noGrp="1"/>
          </p:cNvSpPr>
          <p:nvPr>
            <p:ph idx="1"/>
          </p:nvPr>
        </p:nvSpPr>
        <p:spPr>
          <a:xfrm>
            <a:off x="198437" y="990600"/>
            <a:ext cx="11125200" cy="5638799"/>
          </a:xfrm>
        </p:spPr>
        <p:txBody>
          <a:bodyPr>
            <a:normAutofit/>
          </a:bodyPr>
          <a:lstStyle/>
          <a:p>
            <a:pPr algn="just"/>
            <a:r>
              <a:rPr lang="en-US" sz="2500" dirty="0" smtClean="0"/>
              <a:t>Utility is a function that maps from lotteries to real numbers. </a:t>
            </a:r>
          </a:p>
          <a:p>
            <a:pPr algn="just"/>
            <a:r>
              <a:rPr lang="en-US" sz="2500" dirty="0" smtClean="0"/>
              <a:t>Know there are some axioms on utilities that all rational agents must obey.</a:t>
            </a:r>
          </a:p>
          <a:p>
            <a:r>
              <a:rPr lang="en-US" sz="2500" dirty="0" smtClean="0"/>
              <a:t>An agent can have any preferences it likes. </a:t>
            </a:r>
          </a:p>
          <a:p>
            <a:pPr>
              <a:buNone/>
            </a:pPr>
            <a:r>
              <a:rPr lang="en-US" sz="2500" dirty="0" smtClean="0"/>
              <a:t>     Ex:  An agent might prefer to have a prime number of dollars in its bank account; in which case, if it had $16 it would give away $3. </a:t>
            </a:r>
          </a:p>
          <a:p>
            <a:r>
              <a:rPr lang="en-US" sz="2500" dirty="0" smtClean="0"/>
              <a:t>This might be unusual, but we can’t call it irrational. </a:t>
            </a:r>
          </a:p>
          <a:p>
            <a:r>
              <a:rPr lang="en-US" sz="2500" dirty="0" smtClean="0"/>
              <a:t>An agent might prefer a dented 1973 Ford Pinto to a shiny new Mercedes. </a:t>
            </a:r>
          </a:p>
          <a:p>
            <a:r>
              <a:rPr lang="en-US" sz="2500" dirty="0" smtClean="0"/>
              <a:t>Preferences can also interact: </a:t>
            </a:r>
          </a:p>
          <a:p>
            <a:r>
              <a:rPr lang="en-US" sz="2500" dirty="0" smtClean="0"/>
              <a:t>Ex: The agent might prefer prime numbers of dollars only when it owns the Pinto, but when it owns the Mercedes, it might prefer more dollars to fewer. </a:t>
            </a:r>
          </a:p>
          <a:p>
            <a:r>
              <a:rPr lang="en-US" sz="2500" dirty="0" smtClean="0"/>
              <a:t>Fortunately, the preferences of real agents are usually more systematic, and thus easier to deal with.</a:t>
            </a:r>
            <a:endParaRPr lang="en-US" sz="2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125200" cy="6400799"/>
          </a:xfrm>
        </p:spPr>
        <p:txBody>
          <a:bodyPr>
            <a:normAutofit lnSpcReduction="10000"/>
          </a:bodyPr>
          <a:lstStyle/>
          <a:p>
            <a:pPr algn="just">
              <a:buNone/>
            </a:pPr>
            <a:r>
              <a:rPr lang="en-US" b="1" dirty="0" smtClean="0"/>
              <a:t>Utility assessment and utility scales</a:t>
            </a:r>
          </a:p>
          <a:p>
            <a:pPr algn="just"/>
            <a:r>
              <a:rPr lang="en-US" sz="2400" dirty="0" smtClean="0"/>
              <a:t>If we want to build a decision-theoretic system that helps the agent make decisions or acts on his or her behalf, we must first work out what the agent’s utility function is.</a:t>
            </a:r>
          </a:p>
          <a:p>
            <a:pPr algn="just"/>
            <a:r>
              <a:rPr lang="en-US" sz="2400" dirty="0" smtClean="0"/>
              <a:t>This process, often called </a:t>
            </a:r>
            <a:r>
              <a:rPr lang="en-US" sz="2400" b="1" dirty="0" smtClean="0"/>
              <a:t>Preference Elicitation, </a:t>
            </a:r>
            <a:r>
              <a:rPr lang="en-US" sz="2400" dirty="0" smtClean="0"/>
              <a:t>involves presenting choices to the agent and using the observed preferences to pin down the underlying utility function.</a:t>
            </a:r>
          </a:p>
          <a:p>
            <a:pPr algn="just"/>
            <a:r>
              <a:rPr lang="en-US" sz="2400" dirty="0" smtClean="0"/>
              <a:t>Equation (16.2) says that there is no absolute scale for utilities, but it is helpful, nonetheless, to establish </a:t>
            </a:r>
            <a:r>
              <a:rPr lang="en-US" sz="2400" i="1" dirty="0" smtClean="0"/>
              <a:t>some scale on which utilities can be recorded and compared for any particular </a:t>
            </a:r>
            <a:r>
              <a:rPr lang="en-US" sz="2400" dirty="0" smtClean="0"/>
              <a:t>problem. </a:t>
            </a:r>
          </a:p>
          <a:p>
            <a:pPr algn="just"/>
            <a:r>
              <a:rPr lang="en-US" sz="2400" dirty="0" smtClean="0"/>
              <a:t>It is easy to see, in fact, that an agent’s behavior would not change if its utility function </a:t>
            </a:r>
            <a:r>
              <a:rPr lang="en-US" sz="2400" b="1" dirty="0" smtClean="0"/>
              <a:t>U(S) </a:t>
            </a:r>
            <a:r>
              <a:rPr lang="en-US" sz="2400" dirty="0" smtClean="0"/>
              <a:t>were transformed according to   </a:t>
            </a:r>
            <a:r>
              <a:rPr lang="en-US" sz="2400" b="1" dirty="0" smtClean="0"/>
              <a:t>U’(S) = a U(S) +  b    </a:t>
            </a:r>
            <a:r>
              <a:rPr lang="en-US" sz="2400" dirty="0" smtClean="0"/>
              <a:t>………….  </a:t>
            </a:r>
            <a:r>
              <a:rPr lang="en-US" sz="2400" b="1" dirty="0" smtClean="0"/>
              <a:t>(16.2)</a:t>
            </a:r>
          </a:p>
          <a:p>
            <a:pPr algn="just">
              <a:buNone/>
            </a:pPr>
            <a:r>
              <a:rPr lang="en-US" sz="2400" dirty="0" smtClean="0"/>
              <a:t>     where </a:t>
            </a:r>
            <a:r>
              <a:rPr lang="en-US" sz="2400" b="1" dirty="0" smtClean="0"/>
              <a:t>a</a:t>
            </a:r>
            <a:r>
              <a:rPr lang="en-US" sz="2400" dirty="0" smtClean="0"/>
              <a:t> and </a:t>
            </a:r>
            <a:r>
              <a:rPr lang="en-US" sz="2400" b="1" dirty="0" smtClean="0"/>
              <a:t>b</a:t>
            </a:r>
            <a:r>
              <a:rPr lang="en-US" sz="2400" dirty="0" smtClean="0"/>
              <a:t> are constants and a &gt; 0; an affine transformation.</a:t>
            </a:r>
          </a:p>
          <a:p>
            <a:pPr algn="just"/>
            <a:r>
              <a:rPr lang="en-US" sz="2400" dirty="0" smtClean="0"/>
              <a:t>A scale can be established by fixing the utilities of any two particular outcomes, just as we fix a temperature scale by fixing the freezing point and boiling point of water.</a:t>
            </a:r>
          </a:p>
          <a:p>
            <a:r>
              <a:rPr lang="en-US" sz="2400" dirty="0" smtClean="0"/>
              <a:t>fix the utility of a “best possible prize” at </a:t>
            </a:r>
            <a:r>
              <a:rPr lang="en-US" sz="2400" b="1" dirty="0" smtClean="0"/>
              <a:t>U(S) = </a:t>
            </a:r>
            <a:r>
              <a:rPr lang="en-US" sz="2400" b="1" dirty="0" err="1" smtClean="0"/>
              <a:t>u</a:t>
            </a:r>
            <a:r>
              <a:rPr lang="en-US" sz="2400" b="1" baseline="-25000" dirty="0" err="1" smtClean="0"/>
              <a:t>T</a:t>
            </a:r>
            <a:r>
              <a:rPr lang="en-US" sz="2400" b="1" baseline="-25000" dirty="0" smtClean="0"/>
              <a:t> </a:t>
            </a:r>
            <a:r>
              <a:rPr lang="en-US" sz="2400" b="1" dirty="0" smtClean="0"/>
              <a:t> </a:t>
            </a:r>
            <a:r>
              <a:rPr lang="en-US" sz="2400" dirty="0" smtClean="0"/>
              <a:t>and a “worst possible catastrophe” at </a:t>
            </a:r>
            <a:r>
              <a:rPr lang="en-US" sz="2400" b="1" dirty="0" smtClean="0"/>
              <a:t>U(S) = u</a:t>
            </a:r>
            <a:r>
              <a:rPr lang="en-US" sz="2400" b="1" baseline="-25000" dirty="0" smtClean="0"/>
              <a:t>⊥</a:t>
            </a:r>
            <a:r>
              <a:rPr lang="en-US" sz="2400" dirty="0" smtClean="0"/>
              <a:t>. </a:t>
            </a:r>
          </a:p>
          <a:p>
            <a:r>
              <a:rPr lang="en-US" sz="2400" dirty="0" smtClean="0"/>
              <a:t>Normalized utilities use a scale with</a:t>
            </a:r>
            <a:r>
              <a:rPr lang="en-US" sz="2400" b="1" dirty="0" smtClean="0"/>
              <a:t> u</a:t>
            </a:r>
            <a:r>
              <a:rPr lang="en-US" sz="2400" b="1" baseline="-25000" dirty="0" smtClean="0"/>
              <a:t>⊥</a:t>
            </a:r>
            <a:r>
              <a:rPr lang="en-US" sz="2400" b="1" dirty="0" smtClean="0"/>
              <a:t> = 0 </a:t>
            </a:r>
            <a:r>
              <a:rPr lang="en-US" sz="2400" dirty="0" smtClean="0"/>
              <a:t>and </a:t>
            </a:r>
            <a:r>
              <a:rPr lang="en-US" sz="2400" b="1" dirty="0" err="1" smtClean="0"/>
              <a:t>u</a:t>
            </a:r>
            <a:r>
              <a:rPr lang="en-US" sz="2400" b="1" baseline="-25000" dirty="0" err="1" smtClean="0"/>
              <a:t>T</a:t>
            </a:r>
            <a:r>
              <a:rPr lang="en-US" sz="2400" b="1" dirty="0" smtClean="0"/>
              <a:t> = 1</a:t>
            </a:r>
            <a:r>
              <a:rPr lang="en-US" sz="2400" dirty="0" smtClean="0"/>
              <a:t>.</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152400"/>
            <a:ext cx="11125200" cy="6477000"/>
          </a:xfrm>
        </p:spPr>
        <p:txBody>
          <a:bodyPr>
            <a:noAutofit/>
          </a:bodyPr>
          <a:lstStyle/>
          <a:p>
            <a:pPr algn="just">
              <a:spcBef>
                <a:spcPts val="0"/>
              </a:spcBef>
            </a:pPr>
            <a:r>
              <a:rPr lang="en-US" sz="2400" dirty="0" smtClean="0"/>
              <a:t>Given a utility scale between </a:t>
            </a:r>
            <a:r>
              <a:rPr lang="en-US" sz="2400" b="1" dirty="0" err="1" smtClean="0"/>
              <a:t>u</a:t>
            </a:r>
            <a:r>
              <a:rPr lang="en-US" sz="2400" b="1" baseline="-25000" dirty="0" err="1" smtClean="0"/>
              <a:t>T</a:t>
            </a:r>
            <a:r>
              <a:rPr lang="en-US" sz="2400" dirty="0" smtClean="0"/>
              <a:t>  and </a:t>
            </a:r>
            <a:r>
              <a:rPr lang="en-US" sz="2400" b="1" dirty="0" smtClean="0"/>
              <a:t>u</a:t>
            </a:r>
            <a:r>
              <a:rPr lang="en-US" sz="2400" b="1" baseline="-25000" dirty="0" smtClean="0"/>
              <a:t>⊥</a:t>
            </a:r>
            <a:r>
              <a:rPr lang="en-US" sz="2400" dirty="0" smtClean="0"/>
              <a:t>, we can assess the utility of any particular prize </a:t>
            </a:r>
            <a:r>
              <a:rPr lang="en-US" sz="2400" b="1" dirty="0" smtClean="0"/>
              <a:t>S</a:t>
            </a:r>
            <a:r>
              <a:rPr lang="en-US" sz="2400" dirty="0" smtClean="0"/>
              <a:t> by asking the agent to choose between </a:t>
            </a:r>
            <a:r>
              <a:rPr lang="en-US" sz="2400" b="1" dirty="0" smtClean="0"/>
              <a:t>S</a:t>
            </a:r>
            <a:r>
              <a:rPr lang="en-US" sz="2400" dirty="0" smtClean="0"/>
              <a:t> and a standard lottery </a:t>
            </a:r>
            <a:r>
              <a:rPr lang="en-US" sz="2400" b="1" dirty="0" smtClean="0"/>
              <a:t>[p, </a:t>
            </a:r>
            <a:r>
              <a:rPr lang="en-US" sz="2400" b="1" dirty="0" err="1" smtClean="0"/>
              <a:t>u</a:t>
            </a:r>
            <a:r>
              <a:rPr lang="en-US" sz="2400" b="1" baseline="-25000" dirty="0" err="1" smtClean="0"/>
              <a:t>T</a:t>
            </a:r>
            <a:r>
              <a:rPr lang="en-US" sz="2400" b="1" baseline="-25000" dirty="0" smtClean="0"/>
              <a:t> </a:t>
            </a:r>
            <a:r>
              <a:rPr lang="en-US" sz="2400" dirty="0" smtClean="0"/>
              <a:t>; (1−p), </a:t>
            </a:r>
            <a:r>
              <a:rPr lang="en-US" sz="2400" b="1" dirty="0" smtClean="0"/>
              <a:t>u</a:t>
            </a:r>
            <a:r>
              <a:rPr lang="en-US" sz="2400" b="1" baseline="-25000" dirty="0" smtClean="0"/>
              <a:t>⊥</a:t>
            </a:r>
            <a:r>
              <a:rPr lang="en-US" sz="2400" dirty="0" smtClean="0"/>
              <a:t>].</a:t>
            </a:r>
          </a:p>
          <a:p>
            <a:pPr algn="just">
              <a:spcBef>
                <a:spcPts val="0"/>
              </a:spcBef>
            </a:pPr>
            <a:r>
              <a:rPr lang="en-US" sz="2400" dirty="0" smtClean="0"/>
              <a:t>The probability p is adjusted until the agent is indifferent between </a:t>
            </a:r>
            <a:r>
              <a:rPr lang="en-US" sz="2400" b="1" dirty="0" smtClean="0"/>
              <a:t>S</a:t>
            </a:r>
            <a:r>
              <a:rPr lang="en-US" sz="2400" dirty="0" smtClean="0"/>
              <a:t> and the standard lot</a:t>
            </a:r>
          </a:p>
          <a:p>
            <a:pPr algn="just">
              <a:spcBef>
                <a:spcPts val="0"/>
              </a:spcBef>
            </a:pPr>
            <a:r>
              <a:rPr lang="en-US" sz="2400" dirty="0" smtClean="0"/>
              <a:t>Assuming normalized utilities, the utility of </a:t>
            </a:r>
            <a:r>
              <a:rPr lang="en-US" sz="2400" b="1" dirty="0" smtClean="0"/>
              <a:t>S</a:t>
            </a:r>
            <a:r>
              <a:rPr lang="en-US" sz="2400" dirty="0" smtClean="0"/>
              <a:t> is given by </a:t>
            </a:r>
            <a:r>
              <a:rPr lang="en-US" sz="2400" b="1" dirty="0" smtClean="0"/>
              <a:t>p</a:t>
            </a:r>
            <a:r>
              <a:rPr lang="en-US" sz="2400" dirty="0" smtClean="0"/>
              <a:t>. Once this is done for each prize, the utilities for all lotteries involving those prizes are determined. </a:t>
            </a:r>
          </a:p>
          <a:p>
            <a:pPr algn="just">
              <a:spcBef>
                <a:spcPts val="0"/>
              </a:spcBef>
            </a:pPr>
            <a:r>
              <a:rPr lang="en-US" b="1" dirty="0" smtClean="0"/>
              <a:t>The utility of money</a:t>
            </a:r>
          </a:p>
          <a:p>
            <a:pPr algn="just">
              <a:spcBef>
                <a:spcPts val="0"/>
              </a:spcBef>
            </a:pPr>
            <a:r>
              <a:rPr lang="en-US" sz="2400" dirty="0" smtClean="0"/>
              <a:t>Utility theory has its roots in economics, and it provides one obvious candidate for a utility measure: money (or more specifically, an agent’s total net assets). </a:t>
            </a:r>
          </a:p>
          <a:p>
            <a:pPr algn="just">
              <a:spcBef>
                <a:spcPts val="0"/>
              </a:spcBef>
            </a:pPr>
            <a:r>
              <a:rPr lang="en-US" sz="2400" dirty="0" smtClean="0"/>
              <a:t>The almost universal exchangeability of money for all kinds of goods and services suggests that money plays a significant role in human utility functions.</a:t>
            </a:r>
          </a:p>
          <a:p>
            <a:pPr algn="just">
              <a:spcBef>
                <a:spcPts val="0"/>
              </a:spcBef>
            </a:pPr>
            <a:r>
              <a:rPr lang="en-US" sz="2400" dirty="0" smtClean="0"/>
              <a:t>It will usually be the case that an agent prefers more money to less, all other things being equal. </a:t>
            </a:r>
          </a:p>
          <a:p>
            <a:pPr algn="just">
              <a:spcBef>
                <a:spcPts val="0"/>
              </a:spcBef>
            </a:pPr>
            <a:r>
              <a:rPr lang="en-US" sz="2400" dirty="0" smtClean="0"/>
              <a:t>The agent exhibits a monotonic preference for more money</a:t>
            </a:r>
            <a:r>
              <a:rPr lang="en-US" sz="2400" b="1" dirty="0" smtClean="0"/>
              <a:t>. </a:t>
            </a:r>
          </a:p>
          <a:p>
            <a:pPr algn="just">
              <a:spcBef>
                <a:spcPts val="0"/>
              </a:spcBef>
            </a:pPr>
            <a:r>
              <a:rPr lang="en-US" sz="2400" dirty="0" smtClean="0"/>
              <a:t>This does not mean that money behaves as a utility function, because it says nothing about preferences between </a:t>
            </a:r>
            <a:r>
              <a:rPr lang="en-US" sz="2400" i="1" dirty="0" smtClean="0"/>
              <a:t>lotteries involving money.</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125200" cy="6477000"/>
          </a:xfrm>
        </p:spPr>
        <p:txBody>
          <a:bodyPr>
            <a:normAutofit lnSpcReduction="10000"/>
          </a:bodyPr>
          <a:lstStyle/>
          <a:p>
            <a:pPr algn="just"/>
            <a:r>
              <a:rPr lang="en-US" sz="2400" dirty="0" smtClean="0"/>
              <a:t>If the coin comes up heads, you end up with nothing, but if it comes up tails, you get $2,500,000. </a:t>
            </a:r>
          </a:p>
          <a:p>
            <a:pPr algn="just"/>
            <a:r>
              <a:rPr lang="en-US" sz="2400" dirty="0" smtClean="0"/>
              <a:t>If you’re like most people, you would decline the gamble and pocket the million. Are you being irrational?</a:t>
            </a:r>
          </a:p>
          <a:p>
            <a:pPr algn="just"/>
            <a:r>
              <a:rPr lang="en-US" sz="2400" dirty="0" smtClean="0"/>
              <a:t>Assuming the coin is fair, the </a:t>
            </a:r>
            <a:r>
              <a:rPr lang="en-US" sz="2400" b="1" dirty="0" smtClean="0"/>
              <a:t>Expected Monetary Value (EMV) </a:t>
            </a:r>
            <a:r>
              <a:rPr lang="en-US" sz="2400" dirty="0" smtClean="0"/>
              <a:t>of the gamble is</a:t>
            </a:r>
            <a:r>
              <a:rPr lang="en-US" sz="2400" b="1" dirty="0" smtClean="0"/>
              <a:t> ½</a:t>
            </a:r>
            <a:r>
              <a:rPr lang="en-US" sz="2400" dirty="0" smtClean="0"/>
              <a:t>($0) + ½($2,500,000) = $1,250,000, which is more than the original $1,000,000. </a:t>
            </a:r>
          </a:p>
          <a:p>
            <a:pPr algn="just"/>
            <a:r>
              <a:rPr lang="en-US" sz="2400" dirty="0" smtClean="0"/>
              <a:t>But that does not necessarily mean that accepting the gamble is a better decision. </a:t>
            </a:r>
          </a:p>
          <a:p>
            <a:pPr algn="just"/>
            <a:r>
              <a:rPr lang="en-US" sz="2400" dirty="0" smtClean="0"/>
              <a:t>Suppose we use </a:t>
            </a:r>
            <a:r>
              <a:rPr lang="en-US" sz="2400" dirty="0" err="1" smtClean="0"/>
              <a:t>S</a:t>
            </a:r>
            <a:r>
              <a:rPr lang="en-US" baseline="-25000" dirty="0" err="1" smtClean="0"/>
              <a:t>n</a:t>
            </a:r>
            <a:r>
              <a:rPr lang="en-US" sz="2400" dirty="0" smtClean="0"/>
              <a:t> to denote the state of possessing total wealth $</a:t>
            </a:r>
            <a:r>
              <a:rPr lang="en-US" baseline="-25000" dirty="0" smtClean="0"/>
              <a:t>n</a:t>
            </a:r>
            <a:r>
              <a:rPr lang="en-US" sz="2400" dirty="0" smtClean="0"/>
              <a:t>, and that your current wealth is $</a:t>
            </a:r>
            <a:r>
              <a:rPr lang="en-US" baseline="-25000" dirty="0" smtClean="0"/>
              <a:t>k</a:t>
            </a:r>
            <a:r>
              <a:rPr lang="en-US" sz="2400" dirty="0" smtClean="0"/>
              <a:t>. </a:t>
            </a:r>
          </a:p>
          <a:p>
            <a:pPr algn="just"/>
            <a:r>
              <a:rPr lang="en-US" sz="2400" dirty="0" smtClean="0"/>
              <a:t>Then the expected utilities of the two actions of accepting and declining the gamble are</a:t>
            </a:r>
          </a:p>
          <a:p>
            <a:pPr algn="just"/>
            <a:endParaRPr lang="en-US" sz="2400" dirty="0" smtClean="0"/>
          </a:p>
          <a:p>
            <a:endParaRPr lang="en-US" sz="2400" dirty="0" smtClean="0"/>
          </a:p>
          <a:p>
            <a:r>
              <a:rPr lang="en-US" sz="2400" dirty="0" smtClean="0"/>
              <a:t>To determine what to do, we need to assign utilities to the outcome states. </a:t>
            </a:r>
          </a:p>
          <a:p>
            <a:r>
              <a:rPr lang="en-US" sz="2400" dirty="0" smtClean="0"/>
              <a:t>Utility is not directly proportional to monetary value, because the utility for your first million is very high (or so they say), whereas the utility for an additional million is smaller.</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2179637" y="4191000"/>
            <a:ext cx="5486400" cy="6858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125200" cy="6400799"/>
          </a:xfrm>
        </p:spPr>
        <p:txBody>
          <a:bodyPr>
            <a:normAutofit lnSpcReduction="10000"/>
          </a:bodyPr>
          <a:lstStyle/>
          <a:p>
            <a:pPr algn="just"/>
            <a:r>
              <a:rPr lang="en-US" sz="2400" dirty="0" smtClean="0"/>
              <a:t>Suppose you assign a utility of 5 to your current financial status (</a:t>
            </a:r>
            <a:r>
              <a:rPr lang="en-US" sz="2400" dirty="0" err="1" smtClean="0"/>
              <a:t>S</a:t>
            </a:r>
            <a:r>
              <a:rPr lang="en-US" baseline="-25000" dirty="0" err="1" smtClean="0"/>
              <a:t>k</a:t>
            </a:r>
            <a:r>
              <a:rPr lang="en-US" sz="2400" dirty="0" smtClean="0"/>
              <a:t>), a 9 to the state S</a:t>
            </a:r>
            <a:r>
              <a:rPr lang="en-US" baseline="-25000" dirty="0" smtClean="0"/>
              <a:t>k+2</a:t>
            </a:r>
            <a:r>
              <a:rPr lang="en-US" sz="2400" baseline="-25000" dirty="0" smtClean="0"/>
              <a:t>,500,000</a:t>
            </a:r>
            <a:r>
              <a:rPr lang="en-US" sz="2400" dirty="0" smtClean="0"/>
              <a:t>, and an 8 to the state </a:t>
            </a:r>
            <a:r>
              <a:rPr lang="en-US" sz="2400" b="1" dirty="0" smtClean="0"/>
              <a:t>Sk+1,000,000</a:t>
            </a:r>
            <a:r>
              <a:rPr lang="en-US" sz="2400" dirty="0" smtClean="0"/>
              <a:t>. </a:t>
            </a:r>
          </a:p>
          <a:p>
            <a:pPr algn="just"/>
            <a:r>
              <a:rPr lang="en-US" sz="2400" dirty="0" smtClean="0"/>
              <a:t>Then the rational action would be to decline, because the expected utility of accepting is only 7 (less than the 8 for declining). </a:t>
            </a:r>
          </a:p>
          <a:p>
            <a:pPr algn="just"/>
            <a:r>
              <a:rPr lang="en-US" sz="2400" dirty="0" smtClean="0"/>
              <a:t>On the other hand, a billionaire would most likely have a utility function that is locally linear over the range of a few million more, and thus would accept the gamble.</a:t>
            </a:r>
          </a:p>
          <a:p>
            <a:pPr algn="just"/>
            <a:r>
              <a:rPr lang="en-US" sz="2400" dirty="0" smtClean="0"/>
              <a:t>Utility of money was almost exactly proportional to the </a:t>
            </a:r>
            <a:r>
              <a:rPr lang="en-US" sz="2400" i="1" dirty="0" smtClean="0"/>
              <a:t>logarithm of the amount. </a:t>
            </a:r>
          </a:p>
          <a:p>
            <a:pPr algn="just"/>
            <a:r>
              <a:rPr lang="en-US" sz="2400" dirty="0" smtClean="0"/>
              <a:t>One particular utility curve, for a certain Mr. Beard, is shown in Figure 16.2(a). </a:t>
            </a:r>
          </a:p>
          <a:p>
            <a:pPr algn="just"/>
            <a:r>
              <a:rPr lang="en-US" sz="2400" dirty="0" smtClean="0"/>
              <a:t>The data obtained for Mr. Beard’s preferences are consistent with a utility function</a:t>
            </a:r>
          </a:p>
          <a:p>
            <a:pPr algn="just">
              <a:buNone/>
            </a:pPr>
            <a:r>
              <a:rPr lang="pt-BR" sz="2400" b="1" dirty="0" smtClean="0"/>
              <a:t>        U(S</a:t>
            </a:r>
            <a:r>
              <a:rPr lang="pt-BR" sz="2600" b="1" baseline="-25000" dirty="0" smtClean="0"/>
              <a:t>k+n</a:t>
            </a:r>
            <a:r>
              <a:rPr lang="pt-BR" sz="2400" b="1" dirty="0" smtClean="0"/>
              <a:t>) = −263.31 + 22.09 log(n + 150, 000)</a:t>
            </a:r>
          </a:p>
          <a:p>
            <a:pPr algn="just"/>
            <a:r>
              <a:rPr lang="en-US" sz="2400" dirty="0" smtClean="0"/>
              <a:t>for the range between </a:t>
            </a:r>
            <a:r>
              <a:rPr lang="en-US" sz="2400" b="1" dirty="0" smtClean="0"/>
              <a:t>n = −$150, 000 </a:t>
            </a:r>
            <a:r>
              <a:rPr lang="en-US" sz="2400" dirty="0" smtClean="0"/>
              <a:t>and </a:t>
            </a:r>
            <a:r>
              <a:rPr lang="en-US" sz="2400" b="1" dirty="0" smtClean="0"/>
              <a:t>n = $800, 000</a:t>
            </a:r>
            <a:r>
              <a:rPr lang="en-US" sz="2400" dirty="0" smtClean="0"/>
              <a:t>.</a:t>
            </a:r>
          </a:p>
          <a:p>
            <a:pPr algn="just"/>
            <a:r>
              <a:rPr lang="en-US" sz="2400" dirty="0" smtClean="0"/>
              <a:t>We should not assume that this is the definitive utility function for monetary value, but it is likely that most people have a utility function that is concave for positive wealth.</a:t>
            </a:r>
          </a:p>
          <a:p>
            <a:pPr algn="just"/>
            <a:r>
              <a:rPr lang="en-US" sz="2400" dirty="0" smtClean="0"/>
              <a:t>Going into debt is bad, but preferences between different levels of debt can display a reversal of the concavity associated with positive wealth.</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152400"/>
            <a:ext cx="5410200" cy="6477000"/>
          </a:xfrm>
        </p:spPr>
        <p:txBody>
          <a:bodyPr>
            <a:normAutofit fontScale="70000" lnSpcReduction="20000"/>
          </a:bodyPr>
          <a:lstStyle/>
          <a:p>
            <a:pPr algn="just"/>
            <a:r>
              <a:rPr lang="en-US" dirty="0" smtClean="0"/>
              <a:t>Ex: Someone already $10,000,000 in debt might well accept a gamble on a fair coin with a gain of $10,000,000 for heads and a loss of $20,000,000 for tails.</a:t>
            </a:r>
          </a:p>
          <a:p>
            <a:pPr algn="just"/>
            <a:r>
              <a:rPr lang="en-US" dirty="0" smtClean="0"/>
              <a:t> This yields the S-shaped curve shown in Figure 16.2(b).</a:t>
            </a:r>
          </a:p>
          <a:p>
            <a:pPr algn="just"/>
            <a:r>
              <a:rPr lang="en-US" dirty="0" smtClean="0"/>
              <a:t>If we restrict our attention to the positive part of the curves, where the slope is decreasing, then for any lottery L, the utility of being faced with that lottery is less than the utility of being handed the expected monetary value of the lottery as a sure thing:</a:t>
            </a:r>
          </a:p>
          <a:p>
            <a:pPr algn="just">
              <a:buNone/>
            </a:pPr>
            <a:r>
              <a:rPr lang="en-US" dirty="0" smtClean="0"/>
              <a:t>                    </a:t>
            </a:r>
            <a:r>
              <a:rPr lang="en-US" b="1" dirty="0" smtClean="0"/>
              <a:t>U(L) &lt; U(SEMV(L)) </a:t>
            </a:r>
          </a:p>
          <a:p>
            <a:pPr algn="just"/>
            <a:r>
              <a:rPr lang="en-US" dirty="0" smtClean="0"/>
              <a:t>Agents with curves of this shape are </a:t>
            </a:r>
            <a:r>
              <a:rPr lang="en-US" b="1" dirty="0" smtClean="0"/>
              <a:t>risk-averse: </a:t>
            </a:r>
            <a:r>
              <a:rPr lang="en-US" dirty="0" smtClean="0"/>
              <a:t>they prefer a sure thing with a payoff that is less than the expected monetary value of a gamble.</a:t>
            </a:r>
          </a:p>
          <a:p>
            <a:r>
              <a:rPr lang="en-US" dirty="0" smtClean="0"/>
              <a:t>On the other hand, in the “desperate” region at large negative wealth in Figure 16.2(b), the behavior is </a:t>
            </a:r>
            <a:r>
              <a:rPr lang="en-US" b="1" dirty="0" smtClean="0"/>
              <a:t>risk-seeking.</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5837237" y="533400"/>
            <a:ext cx="5684838" cy="55626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049000" cy="6324599"/>
          </a:xfrm>
        </p:spPr>
        <p:txBody>
          <a:bodyPr>
            <a:normAutofit fontScale="92500" lnSpcReduction="10000"/>
          </a:bodyPr>
          <a:lstStyle/>
          <a:p>
            <a:pPr algn="just">
              <a:spcBef>
                <a:spcPts val="0"/>
              </a:spcBef>
            </a:pPr>
            <a:r>
              <a:rPr lang="en-US" sz="2400" dirty="0" smtClean="0"/>
              <a:t>The value an agent will accept in lieu of a lottery is called the </a:t>
            </a:r>
            <a:r>
              <a:rPr lang="en-US" sz="2400" b="1" dirty="0" smtClean="0"/>
              <a:t>certainty equivalent of the </a:t>
            </a:r>
            <a:r>
              <a:rPr lang="en-US" sz="2400" dirty="0" smtClean="0"/>
              <a:t>lottery. </a:t>
            </a:r>
          </a:p>
          <a:p>
            <a:pPr algn="just">
              <a:spcBef>
                <a:spcPts val="0"/>
              </a:spcBef>
            </a:pPr>
            <a:r>
              <a:rPr lang="en-US" sz="2400" dirty="0" smtClean="0"/>
              <a:t>Studies have shown that most people will accept about $400 in lieu of a gamble that gives $1000 half the time and $0 the other half—that is, the certainty equivalent of the lottery is $400, while the EMV is $500. </a:t>
            </a:r>
          </a:p>
          <a:p>
            <a:pPr algn="just">
              <a:spcBef>
                <a:spcPts val="0"/>
              </a:spcBef>
            </a:pPr>
            <a:r>
              <a:rPr lang="en-US" sz="2400" dirty="0" smtClean="0"/>
              <a:t>The difference between the EMV of a lottery and its certainty equivalent is called the </a:t>
            </a:r>
            <a:r>
              <a:rPr lang="en-US" sz="2400" b="1" dirty="0" smtClean="0"/>
              <a:t>insurance premium. </a:t>
            </a:r>
          </a:p>
          <a:p>
            <a:pPr algn="just">
              <a:spcBef>
                <a:spcPts val="0"/>
              </a:spcBef>
            </a:pPr>
            <a:r>
              <a:rPr lang="en-US" sz="2400" b="1" dirty="0" smtClean="0"/>
              <a:t>Risk aversion is the basis for the insurance </a:t>
            </a:r>
            <a:r>
              <a:rPr lang="en-US" sz="2400" dirty="0" smtClean="0"/>
              <a:t>industry, because it means that insurance premiums are positive. </a:t>
            </a:r>
          </a:p>
          <a:p>
            <a:pPr algn="just">
              <a:spcBef>
                <a:spcPts val="0"/>
              </a:spcBef>
            </a:pPr>
            <a:r>
              <a:rPr lang="en-US" sz="2400" dirty="0" smtClean="0"/>
              <a:t>People would rather pay a small insurance premium than gamble the price of their house against the chance of a fire.</a:t>
            </a:r>
          </a:p>
          <a:p>
            <a:pPr algn="just">
              <a:spcBef>
                <a:spcPts val="0"/>
              </a:spcBef>
            </a:pPr>
            <a:r>
              <a:rPr lang="en-US" sz="2400" dirty="0" smtClean="0"/>
              <a:t>From the insurance company’s point of view, the price of the house is very small compared with the firm’s total reserves.</a:t>
            </a:r>
          </a:p>
          <a:p>
            <a:pPr algn="just">
              <a:spcBef>
                <a:spcPts val="0"/>
              </a:spcBef>
            </a:pPr>
            <a:r>
              <a:rPr lang="en-US" sz="2400" b="1" dirty="0" smtClean="0"/>
              <a:t>Expected utility and post-decision disappointment</a:t>
            </a:r>
          </a:p>
          <a:p>
            <a:pPr algn="just">
              <a:spcBef>
                <a:spcPts val="0"/>
              </a:spcBef>
            </a:pPr>
            <a:r>
              <a:rPr lang="en-US" sz="2400" dirty="0" smtClean="0"/>
              <a:t>The rational way to choose the best action, a</a:t>
            </a:r>
            <a:r>
              <a:rPr lang="en-US" sz="2400" baseline="30000" dirty="0" smtClean="0"/>
              <a:t>∗</a:t>
            </a:r>
            <a:r>
              <a:rPr lang="en-US" sz="2400" dirty="0" smtClean="0"/>
              <a:t>, is to maximize expected utility:</a:t>
            </a:r>
          </a:p>
          <a:p>
            <a:pPr algn="just">
              <a:spcBef>
                <a:spcPts val="0"/>
              </a:spcBef>
            </a:pPr>
            <a:endParaRPr lang="en-US" sz="2400" dirty="0" smtClean="0"/>
          </a:p>
          <a:p>
            <a:pPr algn="just"/>
            <a:r>
              <a:rPr lang="en-US" sz="2400" dirty="0" smtClean="0"/>
              <a:t>If we have calculated the expected utility correctly according to our probability model, and if the probability model correctly reflects the underlying stochastic processes that generate the outcomes, then, on average, we will get the utility we expect if the whole process is  repeated many times.</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9342437" y="4191000"/>
            <a:ext cx="2179638" cy="9906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5380037" cy="6476999"/>
          </a:xfrm>
        </p:spPr>
        <p:txBody>
          <a:bodyPr>
            <a:normAutofit fontScale="70000" lnSpcReduction="20000"/>
          </a:bodyPr>
          <a:lstStyle/>
          <a:p>
            <a:pPr algn="just"/>
            <a:r>
              <a:rPr lang="en-US" dirty="0" smtClean="0"/>
              <a:t>Unfortunately, the real outcome will usually be significantly </a:t>
            </a:r>
            <a:r>
              <a:rPr lang="en-US" i="1" dirty="0" smtClean="0"/>
              <a:t>worse than we estimated, </a:t>
            </a:r>
            <a:r>
              <a:rPr lang="en-US" dirty="0" smtClean="0"/>
              <a:t>even though the estimate was unbiased! To see why, consider a decision problem in which there are k choices, each of which has true estimated utility of 0. </a:t>
            </a:r>
          </a:p>
          <a:p>
            <a:pPr algn="just"/>
            <a:r>
              <a:rPr lang="en-US" dirty="0" smtClean="0"/>
              <a:t>Suppose that the error in each utility estimate has zero mean and standard deviation of 1, shown as the bold curve in Figure 16.3. </a:t>
            </a:r>
          </a:p>
          <a:p>
            <a:pPr algn="just"/>
            <a:r>
              <a:rPr lang="en-US" dirty="0" smtClean="0"/>
              <a:t>Now, as we actually start to generate the estimates, some of the errors will be negative (pessimistic) and some will be positive (optimistic). </a:t>
            </a:r>
          </a:p>
          <a:p>
            <a:pPr algn="just"/>
            <a:r>
              <a:rPr lang="en-US" dirty="0" smtClean="0"/>
              <a:t>Because we select the action with the </a:t>
            </a:r>
            <a:r>
              <a:rPr lang="en-US" i="1" dirty="0" smtClean="0"/>
              <a:t>highest utility estimate, we are obviously favoring the overly optimistic estimates, </a:t>
            </a:r>
            <a:r>
              <a:rPr lang="en-US" dirty="0" smtClean="0"/>
              <a:t>and that is the source of the bias.</a:t>
            </a:r>
          </a:p>
          <a:p>
            <a:pPr algn="just"/>
            <a:r>
              <a:rPr lang="en-US" dirty="0" smtClean="0"/>
              <a:t>The curve in Figure 16.3 for k=3 has a mean around 0.85, so the average disappointment will be about 85% of the standard deviation in the utility estimates.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5608638" y="0"/>
            <a:ext cx="5913438" cy="55626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152400"/>
            <a:ext cx="10369868" cy="533400"/>
          </a:xfrm>
        </p:spPr>
        <p:txBody>
          <a:bodyPr>
            <a:normAutofit fontScale="90000"/>
          </a:bodyPr>
          <a:lstStyle/>
          <a:p>
            <a:r>
              <a:rPr lang="en-US" b="1" dirty="0" smtClean="0"/>
              <a:t>Human judgment and irrationality</a:t>
            </a:r>
            <a:endParaRPr lang="en-US" dirty="0"/>
          </a:p>
        </p:txBody>
      </p:sp>
      <p:sp>
        <p:nvSpPr>
          <p:cNvPr id="3" name="Content Placeholder 2"/>
          <p:cNvSpPr>
            <a:spLocks noGrp="1"/>
          </p:cNvSpPr>
          <p:nvPr>
            <p:ph idx="1"/>
          </p:nvPr>
        </p:nvSpPr>
        <p:spPr>
          <a:xfrm>
            <a:off x="198437" y="914400"/>
            <a:ext cx="11125200" cy="5867400"/>
          </a:xfrm>
        </p:spPr>
        <p:txBody>
          <a:bodyPr>
            <a:normAutofit fontScale="92500" lnSpcReduction="10000"/>
          </a:bodyPr>
          <a:lstStyle/>
          <a:p>
            <a:pPr algn="just">
              <a:spcBef>
                <a:spcPts val="0"/>
              </a:spcBef>
            </a:pPr>
            <a:r>
              <a:rPr lang="en-US" sz="2400" dirty="0" smtClean="0"/>
              <a:t>Decision theory is a normative theory: it describes how a rational agent </a:t>
            </a:r>
            <a:r>
              <a:rPr lang="en-US" sz="2400" i="1" dirty="0" smtClean="0"/>
              <a:t>should act. </a:t>
            </a:r>
          </a:p>
          <a:p>
            <a:pPr algn="just">
              <a:spcBef>
                <a:spcPts val="0"/>
              </a:spcBef>
            </a:pPr>
            <a:r>
              <a:rPr lang="en-US" sz="2400" i="1" dirty="0" smtClean="0"/>
              <a:t>A </a:t>
            </a:r>
            <a:r>
              <a:rPr lang="en-US" sz="2400" dirty="0" smtClean="0"/>
              <a:t>descriptive theory, on the other hand, describes how actual agents—for example, humans— really do act. </a:t>
            </a:r>
          </a:p>
          <a:p>
            <a:pPr algn="just">
              <a:spcBef>
                <a:spcPts val="0"/>
              </a:spcBef>
            </a:pPr>
            <a:r>
              <a:rPr lang="en-US" sz="2400" dirty="0" smtClean="0"/>
              <a:t>The application of economic theory would be greatly enhanced if the two coincided, but there appears to be some experimental evidence to the contrary. </a:t>
            </a:r>
          </a:p>
          <a:p>
            <a:pPr algn="just">
              <a:spcBef>
                <a:spcPts val="0"/>
              </a:spcBef>
            </a:pPr>
            <a:r>
              <a:rPr lang="en-US" sz="2400" dirty="0" smtClean="0"/>
              <a:t>The evidence suggests that humans are “predictably irrational” (</a:t>
            </a:r>
            <a:r>
              <a:rPr lang="en-US" sz="2400" dirty="0" err="1" smtClean="0"/>
              <a:t>Ariely</a:t>
            </a:r>
            <a:r>
              <a:rPr lang="en-US" sz="2400" dirty="0" smtClean="0"/>
              <a:t>, 2009).</a:t>
            </a:r>
          </a:p>
          <a:p>
            <a:r>
              <a:rPr lang="en-US" sz="2400" dirty="0" smtClean="0"/>
              <a:t>The best-known problem is the Allais paradox (Allais, 1953). People are given a choice between lotteries A and B and then between C and D, which have the following prizes:</a:t>
            </a:r>
          </a:p>
          <a:p>
            <a:pPr>
              <a:buNone/>
            </a:pPr>
            <a:r>
              <a:rPr lang="en-US" sz="2400" dirty="0" smtClean="0"/>
              <a:t>  		A : 80% chance of $4000 C : 20% chance of $4000</a:t>
            </a:r>
          </a:p>
          <a:p>
            <a:pPr>
              <a:buNone/>
            </a:pPr>
            <a:r>
              <a:rPr lang="en-US" sz="2400" dirty="0" smtClean="0"/>
              <a:t>		B : 100% chance of $3000 D : 25% chance of $3000</a:t>
            </a:r>
          </a:p>
          <a:p>
            <a:r>
              <a:rPr lang="en-US" sz="2400" dirty="0" smtClean="0"/>
              <a:t>Most people consistently prefer B over A (taking the sure thing), and C over D (taking the higher EMV). </a:t>
            </a:r>
          </a:p>
          <a:p>
            <a:r>
              <a:rPr lang="en-US" sz="2400" dirty="0" smtClean="0"/>
              <a:t>The normative analysis disagrees! We can see this most easily if we use the freedom implied by Equation (16.2) to set U($0) = 0. </a:t>
            </a:r>
          </a:p>
          <a:p>
            <a:r>
              <a:rPr lang="en-US" sz="2400" dirty="0" smtClean="0"/>
              <a:t>In that case, then                  implies that U($3000) &gt; 0.8 U($4000), whereas</a:t>
            </a:r>
          </a:p>
          <a:p>
            <a:pPr>
              <a:buNone/>
            </a:pPr>
            <a:endParaRPr lang="en-US" sz="2400" dirty="0" smtClean="0"/>
          </a:p>
          <a:p>
            <a:pPr>
              <a:buNone/>
            </a:pPr>
            <a:r>
              <a:rPr lang="en-US" sz="2400" dirty="0" smtClean="0"/>
              <a:t>        implies exactly the reverse.</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2636837" y="5486400"/>
            <a:ext cx="914400" cy="501535"/>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9190037" y="5493224"/>
            <a:ext cx="914400" cy="450376"/>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125200" cy="6400799"/>
          </a:xfrm>
        </p:spPr>
        <p:txBody>
          <a:bodyPr>
            <a:normAutofit fontScale="85000" lnSpcReduction="20000"/>
          </a:bodyPr>
          <a:lstStyle/>
          <a:p>
            <a:pPr algn="just">
              <a:buNone/>
            </a:pPr>
            <a:r>
              <a:rPr lang="en-US" sz="4600" b="1" dirty="0" smtClean="0"/>
              <a:t>Preference structure and multi-attribute utility</a:t>
            </a:r>
          </a:p>
          <a:p>
            <a:pPr algn="just"/>
            <a:r>
              <a:rPr lang="en-US" dirty="0" smtClean="0"/>
              <a:t>Suppose we have n attributes, each of which has d distinct possible values. </a:t>
            </a:r>
          </a:p>
          <a:p>
            <a:pPr algn="just"/>
            <a:r>
              <a:rPr lang="en-US" dirty="0" smtClean="0"/>
              <a:t>To specify the complete utility function U(x1, . . . , </a:t>
            </a:r>
            <a:r>
              <a:rPr lang="en-US" dirty="0" err="1" smtClean="0"/>
              <a:t>xn</a:t>
            </a:r>
            <a:r>
              <a:rPr lang="en-US" dirty="0" smtClean="0"/>
              <a:t>), we need </a:t>
            </a:r>
            <a:r>
              <a:rPr lang="en-US" dirty="0" err="1" smtClean="0"/>
              <a:t>dn</a:t>
            </a:r>
            <a:r>
              <a:rPr lang="en-US" dirty="0" smtClean="0"/>
              <a:t> values in the worst case. </a:t>
            </a:r>
          </a:p>
          <a:p>
            <a:pPr algn="just"/>
            <a:r>
              <a:rPr lang="en-US" dirty="0" smtClean="0"/>
              <a:t>Now, the worst case corresponds to a situation in which the agent’s preferences have no regularity at all. </a:t>
            </a:r>
          </a:p>
          <a:p>
            <a:pPr algn="just"/>
            <a:r>
              <a:rPr lang="en-US" dirty="0" smtClean="0"/>
              <a:t>Multi-attribute utility theory is based on the supposition that the preferences of typical agents have much more structure than that. </a:t>
            </a:r>
          </a:p>
          <a:p>
            <a:pPr algn="just"/>
            <a:r>
              <a:rPr lang="en-US" dirty="0" smtClean="0"/>
              <a:t>The basic approach is to identify regularities in the preference behavior we would expect to see and to use what are called </a:t>
            </a:r>
            <a:r>
              <a:rPr lang="en-US" b="1" dirty="0" smtClean="0"/>
              <a:t>representation theorems to show </a:t>
            </a:r>
            <a:r>
              <a:rPr lang="en-US" dirty="0" smtClean="0"/>
              <a:t>that an agent with a certain kind of preference structure has a utility function</a:t>
            </a:r>
          </a:p>
          <a:p>
            <a:pPr algn="just">
              <a:buNone/>
            </a:pPr>
            <a:r>
              <a:rPr lang="en-US" dirty="0" smtClean="0"/>
              <a:t>			</a:t>
            </a:r>
            <a:r>
              <a:rPr lang="en-US" b="1" dirty="0" smtClean="0"/>
              <a:t>U(x1, . . . , </a:t>
            </a:r>
            <a:r>
              <a:rPr lang="en-US" b="1" dirty="0" err="1" smtClean="0"/>
              <a:t>xn</a:t>
            </a:r>
            <a:r>
              <a:rPr lang="en-US" b="1" dirty="0" smtClean="0"/>
              <a:t>) = F[f1(x1), . . . , fn(</a:t>
            </a:r>
            <a:r>
              <a:rPr lang="en-US" b="1" dirty="0" err="1" smtClean="0"/>
              <a:t>xn</a:t>
            </a:r>
            <a:r>
              <a:rPr lang="en-US" b="1" dirty="0" smtClean="0"/>
              <a:t>)] ,</a:t>
            </a:r>
          </a:p>
          <a:p>
            <a:pPr algn="just"/>
            <a:r>
              <a:rPr lang="en-US" dirty="0" smtClean="0"/>
              <a:t>where F is, we hope, a simple function such as addition. Notice the similarity to the use of Bayesian networks to decompose the joint probability of several random variables.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637" y="228600"/>
            <a:ext cx="10972800" cy="6400800"/>
          </a:xfrm>
        </p:spPr>
        <p:txBody>
          <a:bodyPr>
            <a:normAutofit fontScale="70000" lnSpcReduction="20000"/>
          </a:bodyPr>
          <a:lstStyle/>
          <a:p>
            <a:pPr>
              <a:buNone/>
            </a:pPr>
            <a:r>
              <a:rPr lang="en-US" sz="5100" b="1" dirty="0" smtClean="0"/>
              <a:t>DOMINANCE</a:t>
            </a:r>
          </a:p>
          <a:p>
            <a:r>
              <a:rPr lang="en-US" sz="3600" dirty="0" smtClean="0"/>
              <a:t>Suppose that airport site S1 costs less, generates less noise pollution, and is safer than site S2.</a:t>
            </a:r>
          </a:p>
          <a:p>
            <a:r>
              <a:rPr lang="en-US" sz="3600" dirty="0" smtClean="0"/>
              <a:t>One would not hesitate to reject S2. We then say that there is </a:t>
            </a:r>
            <a:r>
              <a:rPr lang="en-US" sz="3600" b="1" dirty="0" smtClean="0"/>
              <a:t>strict dominance of S1 over </a:t>
            </a:r>
            <a:r>
              <a:rPr lang="en-US" sz="3600" dirty="0" smtClean="0"/>
              <a:t>S2. </a:t>
            </a:r>
          </a:p>
          <a:p>
            <a:pPr algn="just"/>
            <a:r>
              <a:rPr lang="en-US" sz="3600" dirty="0" smtClean="0"/>
              <a:t>In general, if an option is of lower value on all attributes than some other option, it need not be considered further. </a:t>
            </a:r>
          </a:p>
          <a:p>
            <a:pPr algn="just"/>
            <a:r>
              <a:rPr lang="en-US" sz="3600" dirty="0" smtClean="0"/>
              <a:t>Strict dominance is often very useful in narrowing down the field of choices to the real contenders, although it seldom yields a unique choice. </a:t>
            </a:r>
          </a:p>
          <a:p>
            <a:pPr algn="just"/>
            <a:r>
              <a:rPr lang="en-US" sz="3600" dirty="0" smtClean="0"/>
              <a:t>Figure 16.4(a) shows a schematic diagram for the two-attribute case.</a:t>
            </a:r>
          </a:p>
          <a:p>
            <a:r>
              <a:rPr lang="en-US" sz="3600" dirty="0" smtClean="0"/>
              <a:t>That is fine for the deterministic case, in which the attribute values are known for sure.</a:t>
            </a:r>
          </a:p>
          <a:p>
            <a:r>
              <a:rPr lang="en-US" sz="3600" dirty="0" smtClean="0"/>
              <a:t>What about the general case, where the outcomes are uncertain? A direct analog of strict dominance can be constructed, where, despite the uncertainty, all possible concrete outcomes for S1 strictly dominate all possible outcomes for S2. (See Figure 16.4(b).) </a:t>
            </a:r>
          </a:p>
          <a:p>
            <a:r>
              <a:rPr lang="en-US" sz="3600" dirty="0" smtClean="0"/>
              <a:t>Of course, this will probably occur even less often than in the deterministic case.</a:t>
            </a:r>
            <a:endParaRPr lang="en-US" sz="3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0"/>
            <a:ext cx="11522075" cy="35433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274637" y="3429000"/>
            <a:ext cx="11247438" cy="34290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76200"/>
            <a:ext cx="10369868" cy="381000"/>
          </a:xfrm>
        </p:spPr>
        <p:txBody>
          <a:bodyPr>
            <a:normAutofit fontScale="90000"/>
          </a:bodyPr>
          <a:lstStyle/>
          <a:p>
            <a:r>
              <a:rPr lang="en-US" dirty="0" smtClean="0"/>
              <a:t>THE VALUE OF INFORMATION</a:t>
            </a:r>
            <a:endParaRPr lang="en-US" dirty="0"/>
          </a:p>
        </p:txBody>
      </p:sp>
      <p:sp>
        <p:nvSpPr>
          <p:cNvPr id="3" name="Content Placeholder 2"/>
          <p:cNvSpPr>
            <a:spLocks noGrp="1"/>
          </p:cNvSpPr>
          <p:nvPr>
            <p:ph idx="1"/>
          </p:nvPr>
        </p:nvSpPr>
        <p:spPr>
          <a:xfrm>
            <a:off x="198437" y="685800"/>
            <a:ext cx="11125200" cy="6096000"/>
          </a:xfrm>
        </p:spPr>
        <p:txBody>
          <a:bodyPr>
            <a:noAutofit/>
          </a:bodyPr>
          <a:lstStyle/>
          <a:p>
            <a:pPr algn="just">
              <a:spcBef>
                <a:spcPts val="0"/>
              </a:spcBef>
            </a:pPr>
            <a:r>
              <a:rPr lang="en-US" sz="2300" dirty="0" smtClean="0"/>
              <a:t>Assumed that all relevant information, or at least all available information, is provided to the agent before it makes its decision. </a:t>
            </a:r>
          </a:p>
          <a:p>
            <a:pPr algn="just">
              <a:spcBef>
                <a:spcPts val="0"/>
              </a:spcBef>
            </a:pPr>
            <a:r>
              <a:rPr lang="en-US" sz="2300" i="1" dirty="0" smtClean="0"/>
              <a:t>One of the most important parts of decision making is knowing what questions to ask. </a:t>
            </a:r>
          </a:p>
          <a:p>
            <a:pPr algn="just">
              <a:spcBef>
                <a:spcPts val="0"/>
              </a:spcBef>
            </a:pPr>
            <a:r>
              <a:rPr lang="en-US" sz="2300" i="1" dirty="0" smtClean="0"/>
              <a:t>Ex: A doctor cannot expect to be provided with the results of all possible diagnostic tests and questions at the time a patient first enters the consulting room.</a:t>
            </a:r>
          </a:p>
          <a:p>
            <a:pPr algn="just">
              <a:spcBef>
                <a:spcPts val="0"/>
              </a:spcBef>
            </a:pPr>
            <a:r>
              <a:rPr lang="en-US" sz="2300" dirty="0" smtClean="0"/>
              <a:t>Tests are often expensive and sometimes hazardous (both directly and because of associated delays). </a:t>
            </a:r>
          </a:p>
          <a:p>
            <a:pPr algn="just">
              <a:spcBef>
                <a:spcPts val="0"/>
              </a:spcBef>
            </a:pPr>
            <a:r>
              <a:rPr lang="en-US" sz="2300" dirty="0" smtClean="0"/>
              <a:t>Their importance depends on two factors: whether the test results would lead to a significantly better treatment plan, and how likely the various test results are.</a:t>
            </a:r>
          </a:p>
          <a:p>
            <a:pPr algn="just">
              <a:spcBef>
                <a:spcPts val="0"/>
              </a:spcBef>
            </a:pPr>
            <a:r>
              <a:rPr lang="en-US" sz="2300" b="1" dirty="0" smtClean="0"/>
              <a:t>Information value theory, </a:t>
            </a:r>
            <a:r>
              <a:rPr lang="en-US" sz="2300" dirty="0" smtClean="0"/>
              <a:t>which enables an agent to choose what information to acquire.</a:t>
            </a:r>
          </a:p>
          <a:p>
            <a:pPr algn="just">
              <a:spcBef>
                <a:spcPts val="0"/>
              </a:spcBef>
            </a:pPr>
            <a:r>
              <a:rPr lang="en-US" sz="2300" dirty="0" smtClean="0"/>
              <a:t>Assume that, prior to selecting a “real” action represented by the decision node, the agent can acquire the value of any of the potentially observable chance variables in the model. </a:t>
            </a:r>
          </a:p>
          <a:p>
            <a:pPr algn="just">
              <a:spcBef>
                <a:spcPts val="0"/>
              </a:spcBef>
            </a:pPr>
            <a:r>
              <a:rPr lang="en-US" sz="2300" dirty="0" smtClean="0"/>
              <a:t>Information value theory involves a simplified form of sequential decision making—simplified because the observation actions affect only the agent’s </a:t>
            </a:r>
            <a:r>
              <a:rPr lang="en-US" sz="2300" b="1" dirty="0" smtClean="0"/>
              <a:t>belief state, not the external physical state.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0"/>
            <a:ext cx="11125200" cy="6858000"/>
          </a:xfrm>
        </p:spPr>
        <p:txBody>
          <a:bodyPr>
            <a:noAutofit/>
          </a:bodyPr>
          <a:lstStyle/>
          <a:p>
            <a:pPr algn="just">
              <a:spcBef>
                <a:spcPts val="0"/>
              </a:spcBef>
            </a:pPr>
            <a:r>
              <a:rPr lang="en-US" sz="2400" dirty="0" smtClean="0"/>
              <a:t>The value of any particular observation must derive from the potential to affect the agent’s eventual physical action; and this potential can be estimated directly from the decision model itself.</a:t>
            </a:r>
          </a:p>
          <a:p>
            <a:pPr algn="just">
              <a:spcBef>
                <a:spcPts val="0"/>
              </a:spcBef>
              <a:buNone/>
            </a:pPr>
            <a:r>
              <a:rPr lang="en-US" sz="2400" b="1" dirty="0" smtClean="0"/>
              <a:t>A simple example</a:t>
            </a:r>
          </a:p>
          <a:p>
            <a:pPr algn="just">
              <a:spcBef>
                <a:spcPts val="0"/>
              </a:spcBef>
            </a:pPr>
            <a:r>
              <a:rPr lang="en-US" sz="2400" dirty="0" smtClean="0"/>
              <a:t>Suppose an oil company is hoping to buy one of n indistinguishable blocks of ocean-drilling rights. </a:t>
            </a:r>
          </a:p>
          <a:p>
            <a:pPr algn="just">
              <a:spcBef>
                <a:spcPts val="0"/>
              </a:spcBef>
            </a:pPr>
            <a:r>
              <a:rPr lang="en-US" sz="2400" dirty="0" smtClean="0"/>
              <a:t>Let us assume further that exactly one of the blocks contains oil worth C dollars, while the others are worthless. </a:t>
            </a:r>
          </a:p>
          <a:p>
            <a:pPr algn="just">
              <a:spcBef>
                <a:spcPts val="0"/>
              </a:spcBef>
            </a:pPr>
            <a:r>
              <a:rPr lang="en-US" sz="2400" dirty="0" smtClean="0"/>
              <a:t>The asking price of each block is </a:t>
            </a:r>
            <a:r>
              <a:rPr lang="en-US" sz="2400" dirty="0" err="1" smtClean="0"/>
              <a:t>C/n</a:t>
            </a:r>
            <a:r>
              <a:rPr lang="en-US" sz="2400" dirty="0" smtClean="0"/>
              <a:t> dollars. </a:t>
            </a:r>
          </a:p>
          <a:p>
            <a:pPr algn="just">
              <a:spcBef>
                <a:spcPts val="0"/>
              </a:spcBef>
            </a:pPr>
            <a:r>
              <a:rPr lang="en-US" sz="2400" dirty="0" smtClean="0"/>
              <a:t>If the company is risk-neutral, then it will be indifferent between buying a block and not buying one.</a:t>
            </a:r>
          </a:p>
          <a:p>
            <a:pPr algn="just">
              <a:spcBef>
                <a:spcPts val="0"/>
              </a:spcBef>
            </a:pPr>
            <a:r>
              <a:rPr lang="en-US" sz="2400" dirty="0" smtClean="0"/>
              <a:t>A seismologist offers the company the results of a survey of block number 3, which indicates definitively whether the block contains oil. </a:t>
            </a:r>
          </a:p>
          <a:p>
            <a:pPr algn="just">
              <a:spcBef>
                <a:spcPts val="0"/>
              </a:spcBef>
            </a:pPr>
            <a:r>
              <a:rPr lang="en-US" sz="2400" dirty="0" smtClean="0"/>
              <a:t>How much should the company be willing to pay for the information? </a:t>
            </a:r>
          </a:p>
          <a:p>
            <a:pPr algn="just">
              <a:spcBef>
                <a:spcPts val="0"/>
              </a:spcBef>
            </a:pPr>
            <a:r>
              <a:rPr lang="en-US" sz="2400" dirty="0" smtClean="0"/>
              <a:t>The way to answer this question is to examine what the company would do if it had the information:</a:t>
            </a:r>
          </a:p>
          <a:p>
            <a:r>
              <a:rPr lang="en-US" sz="2400" dirty="0" smtClean="0"/>
              <a:t>With probability 1/n, the survey will indicate oil in block 3. In this case, the company will buy block 3 for </a:t>
            </a:r>
            <a:r>
              <a:rPr lang="en-US" sz="2400" dirty="0" err="1" smtClean="0"/>
              <a:t>C/n</a:t>
            </a:r>
            <a:r>
              <a:rPr lang="en-US" sz="2400" dirty="0" smtClean="0"/>
              <a:t> dollars and make a profit of C −</a:t>
            </a:r>
            <a:r>
              <a:rPr lang="en-US" sz="2400" dirty="0" err="1" smtClean="0"/>
              <a:t>C/n</a:t>
            </a:r>
            <a:r>
              <a:rPr lang="en-US" sz="2400" dirty="0" smtClean="0"/>
              <a:t> = (n − 1)</a:t>
            </a:r>
            <a:r>
              <a:rPr lang="en-US" sz="2400" dirty="0" err="1" smtClean="0"/>
              <a:t>C/n</a:t>
            </a:r>
            <a:r>
              <a:rPr lang="en-US" sz="2400" dirty="0" smtClean="0"/>
              <a:t> dollars.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125200" cy="6400800"/>
          </a:xfrm>
        </p:spPr>
        <p:txBody>
          <a:bodyPr>
            <a:normAutofit fontScale="92500" lnSpcReduction="10000"/>
          </a:bodyPr>
          <a:lstStyle/>
          <a:p>
            <a:pPr algn="just"/>
            <a:r>
              <a:rPr lang="en-US" sz="2800" dirty="0" smtClean="0"/>
              <a:t>With probability (n−1)/n, the survey will show that the block contains no oil, in which case the company will buy a different block. Now the probability of finding oil in one of the other blocks changes from 1/n to 1/(n −1), so the company makes an expected </a:t>
            </a:r>
            <a:r>
              <a:rPr lang="pt-BR" sz="2800" dirty="0" smtClean="0"/>
              <a:t>profit of C/(n − 1) − C/n = C/n(n − 1) dollars.</a:t>
            </a:r>
          </a:p>
          <a:p>
            <a:pPr algn="just"/>
            <a:r>
              <a:rPr lang="en-US" sz="2800" dirty="0" smtClean="0"/>
              <a:t>Calculate the expected profit, given the survey information:</a:t>
            </a:r>
          </a:p>
          <a:p>
            <a:pPr algn="just"/>
            <a:endParaRPr lang="en-US" dirty="0" smtClean="0"/>
          </a:p>
          <a:p>
            <a:pPr algn="just"/>
            <a:endParaRPr lang="en-US" dirty="0" smtClean="0"/>
          </a:p>
          <a:p>
            <a:pPr algn="just"/>
            <a:r>
              <a:rPr lang="en-US" sz="2800" dirty="0" smtClean="0"/>
              <a:t>Company should be willing to pay the seismologist up to </a:t>
            </a:r>
            <a:r>
              <a:rPr lang="en-US" sz="2800" dirty="0" err="1" smtClean="0"/>
              <a:t>C/n</a:t>
            </a:r>
            <a:r>
              <a:rPr lang="en-US" sz="2800" dirty="0" smtClean="0"/>
              <a:t> dollars for the information: the information is worth as much as the block itself.</a:t>
            </a:r>
          </a:p>
          <a:p>
            <a:pPr algn="just"/>
            <a:r>
              <a:rPr lang="en-US" sz="2800" dirty="0" smtClean="0"/>
              <a:t>The value of information derives from the fact that </a:t>
            </a:r>
            <a:r>
              <a:rPr lang="en-US" sz="2800" i="1" dirty="0" smtClean="0"/>
              <a:t>with the information, one’s course </a:t>
            </a:r>
            <a:r>
              <a:rPr lang="en-US" sz="2800" dirty="0" smtClean="0"/>
              <a:t>of action can be changed to suit the </a:t>
            </a:r>
            <a:r>
              <a:rPr lang="en-US" sz="2800" i="1" dirty="0" smtClean="0"/>
              <a:t>actual situation. </a:t>
            </a:r>
          </a:p>
          <a:p>
            <a:pPr algn="just"/>
            <a:r>
              <a:rPr lang="en-US" sz="2800" i="1" dirty="0" smtClean="0"/>
              <a:t>One can discriminate according to the </a:t>
            </a:r>
            <a:r>
              <a:rPr lang="en-US" sz="2800" dirty="0" smtClean="0"/>
              <a:t>situation, whereas without the information, one has to do what’s best on average over the possible situations.</a:t>
            </a:r>
          </a:p>
          <a:p>
            <a:r>
              <a:rPr lang="en-US" sz="2800" dirty="0" smtClean="0"/>
              <a:t>The value of a given piece of information is defined to be the difference in expected value between best actions before and after information is obtained.</a:t>
            </a:r>
          </a:p>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094037" y="2286000"/>
            <a:ext cx="6172200" cy="6858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1"/>
            <a:ext cx="11125200" cy="3048000"/>
          </a:xfrm>
        </p:spPr>
        <p:txBody>
          <a:bodyPr>
            <a:normAutofit/>
          </a:bodyPr>
          <a:lstStyle/>
          <a:p>
            <a:pPr>
              <a:buNone/>
            </a:pPr>
            <a:r>
              <a:rPr lang="en-US" b="1" dirty="0" smtClean="0"/>
              <a:t>A general formula for perfect information</a:t>
            </a:r>
          </a:p>
          <a:p>
            <a:pPr algn="just">
              <a:spcBef>
                <a:spcPts val="0"/>
              </a:spcBef>
            </a:pPr>
            <a:r>
              <a:rPr lang="en-US" sz="2400" dirty="0" smtClean="0"/>
              <a:t>It is simple to derive a general mathematical formula for the value of information.  </a:t>
            </a:r>
          </a:p>
          <a:p>
            <a:pPr algn="just">
              <a:spcBef>
                <a:spcPts val="0"/>
              </a:spcBef>
            </a:pPr>
            <a:r>
              <a:rPr lang="en-US" sz="2400" dirty="0" smtClean="0"/>
              <a:t>We assume that exact evidence can be obtained about the value of some random variable </a:t>
            </a:r>
            <a:r>
              <a:rPr lang="en-US" sz="2400" dirty="0" err="1" smtClean="0"/>
              <a:t>Ej</a:t>
            </a:r>
            <a:r>
              <a:rPr lang="en-US" sz="2400" dirty="0" smtClean="0"/>
              <a:t> (that is, we learn </a:t>
            </a:r>
            <a:r>
              <a:rPr lang="en-US" sz="2400" dirty="0" err="1" smtClean="0"/>
              <a:t>Ej</a:t>
            </a:r>
            <a:r>
              <a:rPr lang="en-US" sz="2400" dirty="0" smtClean="0"/>
              <a:t> = </a:t>
            </a:r>
            <a:r>
              <a:rPr lang="en-US" sz="2400" dirty="0" err="1" smtClean="0"/>
              <a:t>ej</a:t>
            </a:r>
            <a:r>
              <a:rPr lang="en-US" sz="2400" dirty="0" smtClean="0"/>
              <a:t> ), so the phrase value of perfect information (VPI) is used</a:t>
            </a:r>
            <a:r>
              <a:rPr lang="en-US" sz="2400" b="1" dirty="0" smtClean="0"/>
              <a:t>.</a:t>
            </a:r>
          </a:p>
          <a:p>
            <a:pPr algn="just">
              <a:spcBef>
                <a:spcPts val="0"/>
              </a:spcBef>
            </a:pPr>
            <a:r>
              <a:rPr lang="en-US" sz="2400" dirty="0" smtClean="0"/>
              <a:t>Let the agent’s initial evidence be </a:t>
            </a:r>
            <a:r>
              <a:rPr lang="en-US" sz="2400" b="1" dirty="0" smtClean="0"/>
              <a:t>e. </a:t>
            </a:r>
          </a:p>
          <a:p>
            <a:pPr algn="just">
              <a:spcBef>
                <a:spcPts val="0"/>
              </a:spcBef>
            </a:pPr>
            <a:r>
              <a:rPr lang="en-US" sz="2400" dirty="0" smtClean="0"/>
              <a:t>Then the value of the current best action α </a:t>
            </a:r>
            <a:r>
              <a:rPr lang="en-US" sz="2400" b="1" dirty="0" smtClean="0"/>
              <a:t>is </a:t>
            </a:r>
            <a:r>
              <a:rPr lang="en-US" sz="2400" dirty="0" smtClean="0"/>
              <a:t>defined by</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0" y="3124200"/>
            <a:ext cx="11522075" cy="37338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152400"/>
            <a:ext cx="11125200" cy="6629399"/>
          </a:xfrm>
        </p:spPr>
        <p:txBody>
          <a:bodyPr>
            <a:noAutofit/>
          </a:bodyPr>
          <a:lstStyle/>
          <a:p>
            <a:pPr algn="just">
              <a:spcBef>
                <a:spcPts val="0"/>
              </a:spcBef>
            </a:pPr>
            <a:r>
              <a:rPr lang="en-US" sz="2500" dirty="0" smtClean="0"/>
              <a:t>To get some intuition for this formula, consider the simple case where there are only two actions, a1 and a2, from which to choose. </a:t>
            </a:r>
          </a:p>
          <a:p>
            <a:pPr algn="just">
              <a:spcBef>
                <a:spcPts val="0"/>
              </a:spcBef>
            </a:pPr>
            <a:r>
              <a:rPr lang="en-US" sz="2500" dirty="0" smtClean="0"/>
              <a:t>Their current expected utilities are U1 and U2. </a:t>
            </a:r>
          </a:p>
          <a:p>
            <a:pPr algn="just">
              <a:spcBef>
                <a:spcPts val="0"/>
              </a:spcBef>
            </a:pPr>
            <a:r>
              <a:rPr lang="en-US" sz="2500" dirty="0" smtClean="0"/>
              <a:t>The information </a:t>
            </a:r>
            <a:r>
              <a:rPr lang="en-US" sz="2500" dirty="0" err="1" smtClean="0"/>
              <a:t>Ej</a:t>
            </a:r>
            <a:r>
              <a:rPr lang="en-US" sz="2500" dirty="0" smtClean="0"/>
              <a:t> = </a:t>
            </a:r>
            <a:r>
              <a:rPr lang="en-US" sz="2500" dirty="0" err="1" smtClean="0"/>
              <a:t>ejk</a:t>
            </a:r>
            <a:r>
              <a:rPr lang="en-US" sz="2500" dirty="0" smtClean="0"/>
              <a:t> will yield some new expected utilities U 1 and U2 for the actions, but before we obtain </a:t>
            </a:r>
            <a:r>
              <a:rPr lang="en-US" sz="2500" dirty="0" err="1" smtClean="0"/>
              <a:t>Ej</a:t>
            </a:r>
            <a:r>
              <a:rPr lang="en-US" sz="2500" dirty="0" smtClean="0"/>
              <a:t> , we will have some probability distributions over the possible values of U1 and U2 (which we assume are independent).</a:t>
            </a:r>
          </a:p>
          <a:p>
            <a:pPr algn="just">
              <a:spcBef>
                <a:spcPts val="0"/>
              </a:spcBef>
            </a:pPr>
            <a:r>
              <a:rPr lang="en-US" sz="2500" dirty="0" smtClean="0"/>
              <a:t>Suppose that a1 and a2 represent two different routes through a mountain range in winter. </a:t>
            </a:r>
          </a:p>
          <a:p>
            <a:pPr algn="just">
              <a:spcBef>
                <a:spcPts val="0"/>
              </a:spcBef>
            </a:pPr>
            <a:r>
              <a:rPr lang="en-US" sz="2500" dirty="0" smtClean="0"/>
              <a:t>a1 is a nice, straight highway through a low pass, and a2 is a winding dirt road over the top.</a:t>
            </a:r>
          </a:p>
          <a:p>
            <a:pPr algn="just">
              <a:spcBef>
                <a:spcPts val="0"/>
              </a:spcBef>
            </a:pPr>
            <a:r>
              <a:rPr lang="en-US" sz="2500" dirty="0" smtClean="0"/>
              <a:t>a1 is clearly preferable, because it is quite possible that a2 is blocked by avalanches, whereas it is unlikely that anything blocks a1. </a:t>
            </a:r>
          </a:p>
          <a:p>
            <a:pPr algn="just">
              <a:spcBef>
                <a:spcPts val="0"/>
              </a:spcBef>
            </a:pPr>
            <a:r>
              <a:rPr lang="en-US" sz="2500" dirty="0" smtClean="0"/>
              <a:t>U1 is therefore clearly higher than U2. </a:t>
            </a:r>
          </a:p>
          <a:p>
            <a:pPr algn="just">
              <a:spcBef>
                <a:spcPts val="0"/>
              </a:spcBef>
            </a:pPr>
            <a:r>
              <a:rPr lang="en-US" sz="2500" dirty="0" smtClean="0"/>
              <a:t>It is possible to obtain satellite reports </a:t>
            </a:r>
            <a:r>
              <a:rPr lang="en-US" sz="2500" dirty="0" err="1" smtClean="0"/>
              <a:t>Ej</a:t>
            </a:r>
            <a:r>
              <a:rPr lang="en-US" sz="2500" dirty="0" smtClean="0"/>
              <a:t> on the actual state of each road that would give new expectations, U1 and U2, for the two crossings. </a:t>
            </a:r>
          </a:p>
          <a:p>
            <a:pPr algn="just">
              <a:spcBef>
                <a:spcPts val="0"/>
              </a:spcBef>
            </a:pPr>
            <a:r>
              <a:rPr lang="en-US" sz="2500" dirty="0" smtClean="0"/>
              <a:t>The distributions for these expectations are shown in Figure 16.8(a).</a:t>
            </a:r>
            <a:endParaRPr lang="en-US" sz="2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1" y="304800"/>
            <a:ext cx="11522075" cy="5562600"/>
          </a:xfrm>
          <a:prstGeom prst="rect">
            <a:avLst/>
          </a:prstGeom>
          <a:noFill/>
          <a:ln w="9525">
            <a:noFill/>
            <a:miter lim="800000"/>
            <a:headEnd/>
            <a:tailEnd/>
          </a:ln>
        </p:spPr>
      </p:pic>
      <p:sp>
        <p:nvSpPr>
          <p:cNvPr id="5" name="Rectangle 4"/>
          <p:cNvSpPr/>
          <p:nvPr/>
        </p:nvSpPr>
        <p:spPr>
          <a:xfrm>
            <a:off x="-1" y="5934670"/>
            <a:ext cx="11323637" cy="861774"/>
          </a:xfrm>
          <a:prstGeom prst="rect">
            <a:avLst/>
          </a:prstGeom>
        </p:spPr>
        <p:txBody>
          <a:bodyPr wrap="square">
            <a:spAutoFit/>
          </a:bodyPr>
          <a:lstStyle/>
          <a:p>
            <a:r>
              <a:rPr lang="en-US" sz="2500" dirty="0" smtClean="0"/>
              <a:t>The VPI formula indicates that it might be worthwhile getting the satellite reports. Such a situation is shown in Figure 16.8(b).</a:t>
            </a:r>
            <a:endParaRPr lang="en-US" sz="2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4191000"/>
            <a:ext cx="11125200" cy="2438400"/>
          </a:xfrm>
        </p:spPr>
        <p:txBody>
          <a:bodyPr>
            <a:normAutofit fontScale="77500" lnSpcReduction="20000"/>
          </a:bodyPr>
          <a:lstStyle/>
          <a:p>
            <a:pPr algn="just"/>
            <a:r>
              <a:rPr lang="en-US" dirty="0" smtClean="0"/>
              <a:t>The agent algorithm we have described implements a form of information gathering that is called </a:t>
            </a:r>
            <a:r>
              <a:rPr lang="en-US" b="1" dirty="0" smtClean="0"/>
              <a:t>myopic. </a:t>
            </a:r>
          </a:p>
          <a:p>
            <a:pPr algn="just"/>
            <a:r>
              <a:rPr lang="en-US" dirty="0" smtClean="0"/>
              <a:t>This is because it uses the </a:t>
            </a:r>
            <a:r>
              <a:rPr lang="en-US" b="1" dirty="0" smtClean="0"/>
              <a:t>VPI formula shortsightedly, </a:t>
            </a:r>
            <a:r>
              <a:rPr lang="en-US" dirty="0" smtClean="0"/>
              <a:t>calculating the value of information as if only a single evidence variable will be acquired. </a:t>
            </a:r>
          </a:p>
          <a:p>
            <a:pPr algn="just"/>
            <a:r>
              <a:rPr lang="en-US" dirty="0" smtClean="0"/>
              <a:t>Myopic control is based on the same heuristic idea as greedy search and often works well in practice. (For example, it has been shown to outperform expert physicians in selecting diagnostic tests.)</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0" y="533400"/>
            <a:ext cx="11522075" cy="3581400"/>
          </a:xfrm>
          <a:prstGeom prst="rect">
            <a:avLst/>
          </a:prstGeom>
          <a:noFill/>
          <a:ln w="9525">
            <a:noFill/>
            <a:miter lim="800000"/>
            <a:headEnd/>
            <a:tailEnd/>
          </a:ln>
        </p:spPr>
      </p:pic>
      <p:sp>
        <p:nvSpPr>
          <p:cNvPr id="5" name="Rectangle 4"/>
          <p:cNvSpPr/>
          <p:nvPr/>
        </p:nvSpPr>
        <p:spPr>
          <a:xfrm>
            <a:off x="2408237" y="76200"/>
            <a:ext cx="7467600" cy="477054"/>
          </a:xfrm>
          <a:prstGeom prst="rect">
            <a:avLst/>
          </a:prstGeom>
        </p:spPr>
        <p:txBody>
          <a:bodyPr wrap="square">
            <a:spAutoFit/>
          </a:bodyPr>
          <a:lstStyle/>
          <a:p>
            <a:r>
              <a:rPr lang="en-US" sz="2500" b="1" dirty="0" smtClean="0"/>
              <a:t>Implementation of an information-gathering agent</a:t>
            </a:r>
            <a:endParaRPr lang="en-US" sz="25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228600"/>
            <a:ext cx="10369868" cy="685800"/>
          </a:xfrm>
        </p:spPr>
        <p:txBody>
          <a:bodyPr>
            <a:normAutofit fontScale="90000"/>
          </a:bodyPr>
          <a:lstStyle/>
          <a:p>
            <a:r>
              <a:rPr lang="en-US" dirty="0" smtClean="0"/>
              <a:t>VALUE ITERATION</a:t>
            </a:r>
            <a:endParaRPr lang="en-US" dirty="0"/>
          </a:p>
        </p:txBody>
      </p:sp>
      <p:sp>
        <p:nvSpPr>
          <p:cNvPr id="3" name="Content Placeholder 2"/>
          <p:cNvSpPr>
            <a:spLocks noGrp="1"/>
          </p:cNvSpPr>
          <p:nvPr>
            <p:ph idx="1"/>
          </p:nvPr>
        </p:nvSpPr>
        <p:spPr>
          <a:xfrm>
            <a:off x="198437" y="990600"/>
            <a:ext cx="5334000" cy="5562599"/>
          </a:xfrm>
        </p:spPr>
        <p:txBody>
          <a:bodyPr>
            <a:normAutofit fontScale="92500" lnSpcReduction="10000"/>
          </a:bodyPr>
          <a:lstStyle/>
          <a:p>
            <a:pPr algn="just">
              <a:spcBef>
                <a:spcPts val="0"/>
              </a:spcBef>
            </a:pPr>
            <a:r>
              <a:rPr lang="en-US" sz="2400" dirty="0" smtClean="0"/>
              <a:t>An algorithm, called </a:t>
            </a:r>
            <a:r>
              <a:rPr lang="en-US" sz="2400" b="1" dirty="0" smtClean="0"/>
              <a:t>value iteration, </a:t>
            </a:r>
            <a:r>
              <a:rPr lang="en-US" sz="2400" dirty="0" smtClean="0"/>
              <a:t>for calculating an optimal policy is used. </a:t>
            </a:r>
          </a:p>
          <a:p>
            <a:pPr algn="just">
              <a:spcBef>
                <a:spcPts val="0"/>
              </a:spcBef>
            </a:pPr>
            <a:r>
              <a:rPr lang="en-US" sz="2400" dirty="0" smtClean="0"/>
              <a:t>The basic idea is to calculate the utility of each state and then use the state utilities to select an optimal action in each state.</a:t>
            </a:r>
          </a:p>
          <a:p>
            <a:pPr algn="just">
              <a:spcBef>
                <a:spcPts val="0"/>
              </a:spcBef>
              <a:buNone/>
            </a:pPr>
            <a:r>
              <a:rPr lang="en-US" sz="2400" b="1" dirty="0" smtClean="0"/>
              <a:t>The Bellman equation for utilities</a:t>
            </a:r>
          </a:p>
          <a:p>
            <a:pPr algn="just">
              <a:spcBef>
                <a:spcPts val="0"/>
              </a:spcBef>
            </a:pPr>
            <a:r>
              <a:rPr lang="en-US" sz="2400" dirty="0" smtClean="0"/>
              <a:t>Section 17.1.2 defined the utility of being in a state as the expected sum of discounted rewards from that point onwards. </a:t>
            </a:r>
          </a:p>
          <a:p>
            <a:pPr algn="just">
              <a:spcBef>
                <a:spcPts val="0"/>
              </a:spcBef>
            </a:pPr>
            <a:r>
              <a:rPr lang="en-US" sz="2400" dirty="0" smtClean="0"/>
              <a:t>From this, it follows that there is a direct relationship between the utility of a state and the utility of its neighbors: </a:t>
            </a:r>
            <a:r>
              <a:rPr lang="en-US" sz="2400" i="1" dirty="0" smtClean="0"/>
              <a:t>the utility of a state is the immediate reward for that state plus the expected discounted utility of the next state, assuming that the agent chooses the optimal action. </a:t>
            </a:r>
          </a:p>
          <a:p>
            <a:pPr algn="just">
              <a:spcBef>
                <a:spcPts val="0"/>
              </a:spcBef>
            </a:pPr>
            <a:r>
              <a:rPr lang="en-US" sz="2400" i="1" dirty="0" smtClean="0"/>
              <a:t>That is, the utility of a state is given by</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5608637" y="838200"/>
            <a:ext cx="5867400" cy="53340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76200"/>
            <a:ext cx="11128324" cy="6629400"/>
          </a:xfrm>
        </p:spPr>
        <p:txBody>
          <a:bodyPr>
            <a:normAutofit fontScale="70000" lnSpcReduction="20000"/>
          </a:bodyPr>
          <a:lstStyle/>
          <a:p>
            <a:pPr algn="just">
              <a:buNone/>
            </a:pPr>
            <a:r>
              <a:rPr lang="en-US" b="1" dirty="0" smtClean="0"/>
              <a:t> </a:t>
            </a:r>
            <a:r>
              <a:rPr lang="en-US" sz="4000" b="1" dirty="0" smtClean="0"/>
              <a:t>THE VALUE ITERATION ALGORITHM</a:t>
            </a:r>
          </a:p>
          <a:p>
            <a:pPr algn="just"/>
            <a:r>
              <a:rPr lang="en-US" sz="3400" dirty="0" smtClean="0"/>
              <a:t>The Bellman equation is the basis of the value iteration algorithm for solving MDPs. </a:t>
            </a:r>
          </a:p>
          <a:p>
            <a:pPr algn="just"/>
            <a:r>
              <a:rPr lang="en-US" sz="3400" dirty="0" smtClean="0"/>
              <a:t>If there are n possible states, then there are n Bellman equations, one for each state. </a:t>
            </a:r>
          </a:p>
          <a:p>
            <a:pPr algn="just"/>
            <a:r>
              <a:rPr lang="en-US" sz="3400" dirty="0" smtClean="0"/>
              <a:t>The n equations contain n unknowns—the utilities of the states. </a:t>
            </a:r>
          </a:p>
          <a:p>
            <a:pPr algn="just"/>
            <a:r>
              <a:rPr lang="en-US" sz="3400" dirty="0" smtClean="0"/>
              <a:t>To solve these simultaneous equations to find the utilities. </a:t>
            </a:r>
          </a:p>
          <a:p>
            <a:pPr algn="just"/>
            <a:r>
              <a:rPr lang="en-US" sz="3400" dirty="0" smtClean="0"/>
              <a:t>There is one problem: the equations are </a:t>
            </a:r>
            <a:r>
              <a:rPr lang="en-US" sz="3400" i="1" dirty="0" smtClean="0"/>
              <a:t>nonlinear, because the </a:t>
            </a:r>
            <a:r>
              <a:rPr lang="en-US" sz="3400" dirty="0" smtClean="0"/>
              <a:t>“max” operator is not a linear operator. </a:t>
            </a:r>
          </a:p>
          <a:p>
            <a:pPr algn="just"/>
            <a:r>
              <a:rPr lang="en-US" sz="3400" dirty="0" smtClean="0"/>
              <a:t>Whereas systems of linear equations can be solved quickly using linear algebra techniques, systems of nonlinear equations are more problematic.</a:t>
            </a:r>
          </a:p>
          <a:p>
            <a:pPr algn="just"/>
            <a:r>
              <a:rPr lang="en-US" sz="3400" dirty="0" smtClean="0"/>
              <a:t>One thing to try is an </a:t>
            </a:r>
            <a:r>
              <a:rPr lang="en-US" sz="3400" i="1" dirty="0" smtClean="0"/>
              <a:t>iterative approach. </a:t>
            </a:r>
          </a:p>
          <a:p>
            <a:pPr algn="just"/>
            <a:r>
              <a:rPr lang="en-US" sz="3400" i="1" dirty="0" smtClean="0"/>
              <a:t>Start with arbitrary initial values for the utilities, </a:t>
            </a:r>
            <a:r>
              <a:rPr lang="en-US" sz="3400" dirty="0" smtClean="0"/>
              <a:t>calculate the right-hand side of the equation, and plug it into the left-hand side—thereby updating the utility of each state from the utilities of its neighbors. </a:t>
            </a:r>
          </a:p>
          <a:p>
            <a:pPr algn="just"/>
            <a:r>
              <a:rPr lang="en-US" sz="3400" dirty="0" smtClean="0"/>
              <a:t>Repeat this until we reach an equilibrium. </a:t>
            </a:r>
          </a:p>
          <a:p>
            <a:pPr algn="just"/>
            <a:r>
              <a:rPr lang="en-US" sz="3400" dirty="0" smtClean="0"/>
              <a:t>Let </a:t>
            </a:r>
            <a:r>
              <a:rPr lang="en-US" sz="3400" dirty="0" err="1" smtClean="0"/>
              <a:t>Ui</a:t>
            </a:r>
            <a:r>
              <a:rPr lang="en-US" sz="3400" dirty="0" smtClean="0"/>
              <a:t>(s) be the utility value for state s at the </a:t>
            </a:r>
            <a:r>
              <a:rPr lang="en-US" sz="3400" dirty="0" err="1" smtClean="0"/>
              <a:t>ith</a:t>
            </a:r>
            <a:r>
              <a:rPr lang="en-US" sz="3400" dirty="0" smtClean="0"/>
              <a:t> iteration. </a:t>
            </a:r>
          </a:p>
          <a:p>
            <a:pPr algn="just"/>
            <a:r>
              <a:rPr lang="en-US" sz="3400" dirty="0" smtClean="0"/>
              <a:t>The iteration step, called a </a:t>
            </a:r>
            <a:r>
              <a:rPr lang="en-US" sz="3400" b="1" dirty="0" smtClean="0"/>
              <a:t>Bellman update, looks like this:</a:t>
            </a:r>
            <a:endParaRPr lang="en-US" sz="3400" dirty="0"/>
          </a:p>
        </p:txBody>
      </p:sp>
      <p:pic>
        <p:nvPicPr>
          <p:cNvPr id="2050" name="Picture 2"/>
          <p:cNvPicPr>
            <a:picLocks noChangeAspect="1" noChangeArrowheads="1"/>
          </p:cNvPicPr>
          <p:nvPr/>
        </p:nvPicPr>
        <p:blipFill>
          <a:blip r:embed="rId2" cstate="print"/>
          <a:srcRect/>
          <a:stretch>
            <a:fillRect/>
          </a:stretch>
        </p:blipFill>
        <p:spPr bwMode="auto">
          <a:xfrm>
            <a:off x="2636837" y="5715000"/>
            <a:ext cx="8153400" cy="9144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065" y="5334000"/>
            <a:ext cx="11174572" cy="1371600"/>
          </a:xfrm>
        </p:spPr>
        <p:txBody>
          <a:bodyPr/>
          <a:lstStyle/>
          <a:p>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 y="0"/>
            <a:ext cx="11522075" cy="53340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1"/>
            <a:ext cx="11522075" cy="4114799"/>
          </a:xfrm>
          <a:prstGeom prst="rect">
            <a:avLst/>
          </a:prstGeom>
          <a:noFill/>
          <a:ln w="9525">
            <a:noFill/>
            <a:miter lim="800000"/>
            <a:headEnd/>
            <a:tailEnd/>
          </a:ln>
        </p:spPr>
      </p:pic>
      <p:sp>
        <p:nvSpPr>
          <p:cNvPr id="5" name="Rectangle 4"/>
          <p:cNvSpPr/>
          <p:nvPr/>
        </p:nvSpPr>
        <p:spPr>
          <a:xfrm>
            <a:off x="-1" y="4191000"/>
            <a:ext cx="11522075" cy="2554545"/>
          </a:xfrm>
          <a:prstGeom prst="rect">
            <a:avLst/>
          </a:prstGeom>
        </p:spPr>
        <p:txBody>
          <a:bodyPr wrap="square">
            <a:spAutoFit/>
          </a:bodyPr>
          <a:lstStyle/>
          <a:p>
            <a:pPr algn="just"/>
            <a:r>
              <a:rPr lang="en-US" sz="2000" dirty="0" smtClean="0"/>
              <a:t>Suppose that an given by ACTIONS(s), </a:t>
            </a:r>
            <a:r>
              <a:rPr lang="en-US" sz="2000" dirty="0" err="1" smtClean="0"/>
              <a:t>sagent</a:t>
            </a:r>
            <a:r>
              <a:rPr lang="en-US" sz="2000" dirty="0" smtClean="0"/>
              <a:t> is situated in the 4×3 environment shown in Figure 17.1(a). </a:t>
            </a:r>
          </a:p>
          <a:p>
            <a:pPr algn="just"/>
            <a:r>
              <a:rPr lang="en-US" sz="2000" dirty="0" smtClean="0"/>
              <a:t>Beginning in the start state, it must choose an action at each time step. </a:t>
            </a:r>
          </a:p>
          <a:p>
            <a:pPr algn="just"/>
            <a:r>
              <a:rPr lang="en-US" sz="2000" dirty="0" smtClean="0"/>
              <a:t>The interaction with the environment terminates when the agent reaches one of the goal states, marked +1 or –1. </a:t>
            </a:r>
          </a:p>
          <a:p>
            <a:pPr algn="just"/>
            <a:r>
              <a:rPr lang="en-US" sz="2000" dirty="0" smtClean="0"/>
              <a:t>Just as for search problems, the actions available to the agent in each state are given by ACTIONS(s) sometimes abbreviated to A(s); in the 4×3 environment, the actions in every state are </a:t>
            </a:r>
            <a:r>
              <a:rPr lang="en-US" sz="2000" i="1" dirty="0" smtClean="0"/>
              <a:t>Up, Down, Left, and Right. We assume for now that the environment is </a:t>
            </a:r>
            <a:r>
              <a:rPr lang="en-US" sz="2000" b="1" i="1" dirty="0" smtClean="0"/>
              <a:t>fully observable, so that </a:t>
            </a:r>
            <a:r>
              <a:rPr lang="en-US" sz="2000" dirty="0" smtClean="0"/>
              <a:t>the agent always knows where it is.</a:t>
            </a:r>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049000" cy="6324600"/>
          </a:xfrm>
        </p:spPr>
        <p:txBody>
          <a:bodyPr>
            <a:normAutofit fontScale="85000" lnSpcReduction="20000"/>
          </a:bodyPr>
          <a:lstStyle/>
          <a:p>
            <a:pPr algn="just"/>
            <a:r>
              <a:rPr lang="en-US" dirty="0" smtClean="0"/>
              <a:t>where the update is assumed to be applied simultaneously to all the states at each iteration.</a:t>
            </a:r>
          </a:p>
          <a:p>
            <a:pPr algn="just"/>
            <a:r>
              <a:rPr lang="en-US" dirty="0" smtClean="0"/>
              <a:t>If we apply the Bellman update infinitely often, we are guaranteed to reach an equilibrium (see Section 17.2.3), in which case the final utility values must be solutions to the Bellman equations. </a:t>
            </a:r>
          </a:p>
          <a:p>
            <a:pPr algn="just"/>
            <a:r>
              <a:rPr lang="en-US" dirty="0" smtClean="0"/>
              <a:t>In fact, they are also the </a:t>
            </a:r>
            <a:r>
              <a:rPr lang="en-US" i="1" dirty="0" smtClean="0"/>
              <a:t>unique solutions, and the corresponding policy (obtained </a:t>
            </a:r>
            <a:r>
              <a:rPr lang="en-US" dirty="0" smtClean="0"/>
              <a:t>using Equation (17.4)) is optimal. </a:t>
            </a:r>
          </a:p>
          <a:p>
            <a:pPr algn="just"/>
            <a:r>
              <a:rPr lang="en-US" dirty="0" smtClean="0"/>
              <a:t>The algorithm, called VALUE-ITERATION, is shown in Figure 17.4.</a:t>
            </a:r>
          </a:p>
          <a:p>
            <a:pPr algn="just"/>
            <a:r>
              <a:rPr lang="en-US" dirty="0" smtClean="0"/>
              <a:t>We can apply value iteration to the 4×3 world in Figure 17.1(a). </a:t>
            </a:r>
          </a:p>
          <a:p>
            <a:pPr algn="just"/>
            <a:r>
              <a:rPr lang="en-US" dirty="0" smtClean="0"/>
              <a:t>Starting with initial values of zero, the utilities evolve as shown in Figure 17.5(a). </a:t>
            </a:r>
          </a:p>
          <a:p>
            <a:pPr algn="just"/>
            <a:r>
              <a:rPr lang="en-US" dirty="0" smtClean="0"/>
              <a:t>Notice how the states at different distances from (4,3) accumulate negative reward until a path is found to (4,3), whereupon the utilities start to increase. </a:t>
            </a:r>
          </a:p>
          <a:p>
            <a:pPr algn="just"/>
            <a:r>
              <a:rPr lang="en-US" dirty="0" smtClean="0"/>
              <a:t>We can think of the value iteration algorithm as </a:t>
            </a:r>
            <a:r>
              <a:rPr lang="en-US" i="1" dirty="0" smtClean="0"/>
              <a:t>propagating information through the state space by means of local updates.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0" y="0"/>
            <a:ext cx="11522075" cy="68580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76200"/>
            <a:ext cx="10369868" cy="639762"/>
          </a:xfrm>
        </p:spPr>
        <p:txBody>
          <a:bodyPr>
            <a:normAutofit fontScale="90000"/>
          </a:bodyPr>
          <a:lstStyle/>
          <a:p>
            <a:r>
              <a:rPr lang="en-US" dirty="0" smtClean="0"/>
              <a:t>POLICY ITERATION</a:t>
            </a:r>
            <a:endParaRPr lang="en-US" dirty="0"/>
          </a:p>
        </p:txBody>
      </p:sp>
      <p:sp>
        <p:nvSpPr>
          <p:cNvPr id="3" name="Content Placeholder 2"/>
          <p:cNvSpPr>
            <a:spLocks noGrp="1"/>
          </p:cNvSpPr>
          <p:nvPr>
            <p:ph idx="1"/>
          </p:nvPr>
        </p:nvSpPr>
        <p:spPr>
          <a:xfrm>
            <a:off x="-1" y="685800"/>
            <a:ext cx="11323638" cy="6096000"/>
          </a:xfrm>
        </p:spPr>
        <p:txBody>
          <a:bodyPr>
            <a:noAutofit/>
          </a:bodyPr>
          <a:lstStyle/>
          <a:p>
            <a:pPr algn="just">
              <a:spcBef>
                <a:spcPts val="0"/>
              </a:spcBef>
            </a:pPr>
            <a:r>
              <a:rPr lang="en-US" sz="2300" dirty="0" smtClean="0"/>
              <a:t>It is possible to get an optimal policy even when the utility function estimate is inaccurate. </a:t>
            </a:r>
          </a:p>
          <a:p>
            <a:pPr algn="just">
              <a:spcBef>
                <a:spcPts val="0"/>
              </a:spcBef>
            </a:pPr>
            <a:r>
              <a:rPr lang="en-US" sz="2300" dirty="0" smtClean="0"/>
              <a:t>If one action is clearly better than all others, then the exact magnitude of the utilities on the states involved need not be precise. </a:t>
            </a:r>
          </a:p>
          <a:p>
            <a:pPr algn="just">
              <a:spcBef>
                <a:spcPts val="0"/>
              </a:spcBef>
            </a:pPr>
            <a:r>
              <a:rPr lang="en-US" sz="2300" dirty="0" smtClean="0"/>
              <a:t>This insight suggests an alternative way to find optimal policies. </a:t>
            </a:r>
          </a:p>
          <a:p>
            <a:pPr algn="just">
              <a:spcBef>
                <a:spcPts val="0"/>
              </a:spcBef>
            </a:pPr>
            <a:r>
              <a:rPr lang="en-US" sz="2300" dirty="0" smtClean="0"/>
              <a:t>The </a:t>
            </a:r>
            <a:r>
              <a:rPr lang="en-US" sz="2300" b="1" dirty="0" smtClean="0"/>
              <a:t>policy iteration algorithm alternates </a:t>
            </a:r>
            <a:r>
              <a:rPr lang="en-US" sz="2300" dirty="0" smtClean="0"/>
              <a:t>the following two steps, beginning from some initial policy π0:</a:t>
            </a:r>
          </a:p>
          <a:p>
            <a:pPr algn="just">
              <a:spcBef>
                <a:spcPts val="0"/>
              </a:spcBef>
              <a:buNone/>
            </a:pPr>
            <a:r>
              <a:rPr lang="en-US" sz="2300" dirty="0" smtClean="0"/>
              <a:t>    • </a:t>
            </a:r>
            <a:r>
              <a:rPr lang="en-US" sz="2300" b="1" dirty="0" smtClean="0"/>
              <a:t>Policy evaluation: given a policy </a:t>
            </a:r>
            <a:r>
              <a:rPr lang="en-US" sz="2300" b="1" dirty="0" err="1" smtClean="0"/>
              <a:t>πi</a:t>
            </a:r>
            <a:r>
              <a:rPr lang="en-US" sz="2300" b="1" dirty="0" smtClean="0"/>
              <a:t>, calculate </a:t>
            </a:r>
            <a:r>
              <a:rPr lang="en-US" sz="2300" b="1" dirty="0" err="1" smtClean="0"/>
              <a:t>Ui</a:t>
            </a:r>
            <a:r>
              <a:rPr lang="en-US" sz="2300" b="1" dirty="0" smtClean="0"/>
              <a:t> =</a:t>
            </a:r>
            <a:r>
              <a:rPr lang="en-US" sz="2300" b="1" dirty="0" err="1" smtClean="0"/>
              <a:t>πi</a:t>
            </a:r>
            <a:r>
              <a:rPr lang="en-US" sz="2300" b="1" dirty="0" smtClean="0"/>
              <a:t> , the utility of each state if </a:t>
            </a:r>
            <a:r>
              <a:rPr lang="en-US" sz="2300" b="1" dirty="0" err="1" smtClean="0"/>
              <a:t>πi</a:t>
            </a:r>
            <a:r>
              <a:rPr lang="en-US" sz="2300" b="1" dirty="0" smtClean="0"/>
              <a:t> </a:t>
            </a:r>
            <a:r>
              <a:rPr lang="en-US" sz="2300" dirty="0" smtClean="0"/>
              <a:t>were to be executed.</a:t>
            </a:r>
          </a:p>
          <a:p>
            <a:pPr algn="just">
              <a:spcBef>
                <a:spcPts val="0"/>
              </a:spcBef>
              <a:buNone/>
            </a:pPr>
            <a:r>
              <a:rPr lang="en-US" sz="2300" dirty="0" smtClean="0"/>
              <a:t>   • </a:t>
            </a:r>
            <a:r>
              <a:rPr lang="en-US" sz="2300" b="1" dirty="0" smtClean="0"/>
              <a:t>Policy improvement: Calculate a new MEU policy πi+1, using one-step look-ahead </a:t>
            </a:r>
            <a:r>
              <a:rPr lang="en-US" sz="2300" dirty="0" smtClean="0"/>
              <a:t>based on </a:t>
            </a:r>
            <a:r>
              <a:rPr lang="en-US" sz="2300" dirty="0" err="1" smtClean="0"/>
              <a:t>Ui</a:t>
            </a:r>
            <a:r>
              <a:rPr lang="en-US" sz="2300" dirty="0" smtClean="0"/>
              <a:t> (as in Equation (17.4)).</a:t>
            </a:r>
          </a:p>
          <a:p>
            <a:pPr algn="just">
              <a:spcBef>
                <a:spcPts val="0"/>
              </a:spcBef>
            </a:pPr>
            <a:r>
              <a:rPr lang="en-US" sz="2300" dirty="0" smtClean="0"/>
              <a:t>The algorithm terminates when the policy improvement step yields no change in the utilities.</a:t>
            </a:r>
          </a:p>
          <a:p>
            <a:pPr algn="just">
              <a:spcBef>
                <a:spcPts val="0"/>
              </a:spcBef>
            </a:pPr>
            <a:r>
              <a:rPr lang="en-US" sz="2300" dirty="0" smtClean="0"/>
              <a:t>Utility function </a:t>
            </a:r>
            <a:r>
              <a:rPr lang="en-US" sz="2300" dirty="0" err="1" smtClean="0"/>
              <a:t>Ui</a:t>
            </a:r>
            <a:r>
              <a:rPr lang="en-US" sz="2300" dirty="0" smtClean="0"/>
              <a:t> is a fixed point of the Bellman update, so it is a solution to the Bellman equations, and </a:t>
            </a:r>
            <a:r>
              <a:rPr lang="en-US" sz="2300" dirty="0" err="1" smtClean="0"/>
              <a:t>πi</a:t>
            </a:r>
            <a:r>
              <a:rPr lang="en-US" sz="2300" dirty="0" smtClean="0"/>
              <a:t> must be an optimal policy. </a:t>
            </a:r>
          </a:p>
          <a:p>
            <a:pPr algn="just">
              <a:spcBef>
                <a:spcPts val="0"/>
              </a:spcBef>
            </a:pPr>
            <a:r>
              <a:rPr lang="en-US" sz="2300" dirty="0" smtClean="0"/>
              <a:t>Because there are only finitely many policies for a finite state space, and each iteration can be shown to yield a better policy, policy iteration must terminate. </a:t>
            </a:r>
          </a:p>
          <a:p>
            <a:pPr algn="just">
              <a:spcBef>
                <a:spcPts val="0"/>
              </a:spcBef>
            </a:pPr>
            <a:r>
              <a:rPr lang="en-US" sz="2300" dirty="0" smtClean="0"/>
              <a:t>The algorithm is shown in Figure 17.7.</a:t>
            </a:r>
            <a:endParaRPr lang="en-US"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7" y="152401"/>
            <a:ext cx="4724399" cy="6476999"/>
          </a:xfrm>
        </p:spPr>
        <p:txBody>
          <a:bodyPr>
            <a:noAutofit/>
          </a:bodyPr>
          <a:lstStyle/>
          <a:p>
            <a:pPr algn="just">
              <a:spcBef>
                <a:spcPts val="0"/>
              </a:spcBef>
            </a:pPr>
            <a:r>
              <a:rPr lang="en-US" sz="2500" dirty="0" smtClean="0"/>
              <a:t>The policy improvement step is obviously straightforward, but how do we implement the POLICY-EVALUATION routine? </a:t>
            </a:r>
          </a:p>
          <a:p>
            <a:pPr algn="just">
              <a:spcBef>
                <a:spcPts val="0"/>
              </a:spcBef>
            </a:pPr>
            <a:r>
              <a:rPr lang="en-US" sz="2500" dirty="0" smtClean="0"/>
              <a:t>It turns out that doing so is much simpler than solving the standard Bellman equations (which is what value iteration does), because the action in each state is fixed by the policy. </a:t>
            </a:r>
          </a:p>
          <a:p>
            <a:pPr algn="just">
              <a:spcBef>
                <a:spcPts val="0"/>
              </a:spcBef>
            </a:pPr>
            <a:r>
              <a:rPr lang="en-US" sz="2500" dirty="0" smtClean="0"/>
              <a:t>At the </a:t>
            </a:r>
            <a:r>
              <a:rPr lang="en-US" sz="2500" dirty="0" err="1" smtClean="0"/>
              <a:t>ith</a:t>
            </a:r>
            <a:r>
              <a:rPr lang="en-US" sz="2500" dirty="0" smtClean="0"/>
              <a:t> iteration, the policy </a:t>
            </a:r>
            <a:r>
              <a:rPr lang="en-US" sz="2500" dirty="0" err="1" smtClean="0"/>
              <a:t>πi</a:t>
            </a:r>
            <a:r>
              <a:rPr lang="en-US" sz="2500" dirty="0" smtClean="0"/>
              <a:t> specifies the action </a:t>
            </a:r>
            <a:r>
              <a:rPr lang="en-US" sz="2500" dirty="0" err="1" smtClean="0"/>
              <a:t>πi</a:t>
            </a:r>
            <a:r>
              <a:rPr lang="en-US" sz="2500" dirty="0" smtClean="0"/>
              <a:t>(s) in state s. This means that we have a simplified version of the Bellman equation (17.5) relating the utility of s (under </a:t>
            </a:r>
            <a:r>
              <a:rPr lang="en-US" sz="2500" dirty="0" err="1" smtClean="0"/>
              <a:t>πi</a:t>
            </a:r>
            <a:r>
              <a:rPr lang="en-US" sz="2500" dirty="0" smtClean="0"/>
              <a:t>) to the utilities of its neighbors:</a:t>
            </a:r>
            <a:endParaRPr lang="en-US" sz="2500" dirty="0"/>
          </a:p>
        </p:txBody>
      </p:sp>
      <p:pic>
        <p:nvPicPr>
          <p:cNvPr id="5123" name="Picture 3"/>
          <p:cNvPicPr>
            <a:picLocks noChangeAspect="1" noChangeArrowheads="1"/>
          </p:cNvPicPr>
          <p:nvPr/>
        </p:nvPicPr>
        <p:blipFill>
          <a:blip r:embed="rId2" cstate="print"/>
          <a:srcRect/>
          <a:stretch>
            <a:fillRect/>
          </a:stretch>
        </p:blipFill>
        <p:spPr bwMode="auto">
          <a:xfrm>
            <a:off x="4999038" y="3962400"/>
            <a:ext cx="6523038" cy="2895600"/>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4770437" y="0"/>
            <a:ext cx="6751638" cy="38100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76201"/>
            <a:ext cx="11125200" cy="6553199"/>
          </a:xfrm>
        </p:spPr>
        <p:txBody>
          <a:bodyPr>
            <a:normAutofit lnSpcReduction="10000"/>
          </a:bodyPr>
          <a:lstStyle/>
          <a:p>
            <a:pPr algn="just">
              <a:spcBef>
                <a:spcPts val="0"/>
              </a:spcBef>
            </a:pPr>
            <a:r>
              <a:rPr lang="en-US" sz="2600" dirty="0" smtClean="0"/>
              <a:t>The important point is that these equations are </a:t>
            </a:r>
            <a:r>
              <a:rPr lang="en-US" sz="2600" i="1" dirty="0" smtClean="0"/>
              <a:t>linear, because the “max” operator has been </a:t>
            </a:r>
            <a:r>
              <a:rPr lang="en-US" sz="2600" dirty="0" smtClean="0"/>
              <a:t>removed. </a:t>
            </a:r>
          </a:p>
          <a:p>
            <a:pPr algn="just">
              <a:spcBef>
                <a:spcPts val="0"/>
              </a:spcBef>
            </a:pPr>
            <a:r>
              <a:rPr lang="en-US" sz="2600" dirty="0" smtClean="0"/>
              <a:t>For n states, we have n linear equations with n unknowns, which can be solved exactly in time O(n</a:t>
            </a:r>
            <a:r>
              <a:rPr lang="en-US" sz="2600" baseline="30000" dirty="0" smtClean="0"/>
              <a:t>3</a:t>
            </a:r>
            <a:r>
              <a:rPr lang="en-US" sz="2600" dirty="0" smtClean="0"/>
              <a:t>) by standard linear algebra methods.</a:t>
            </a:r>
          </a:p>
          <a:p>
            <a:pPr algn="just">
              <a:spcBef>
                <a:spcPts val="0"/>
              </a:spcBef>
            </a:pPr>
            <a:r>
              <a:rPr lang="en-US" sz="2600" dirty="0" smtClean="0"/>
              <a:t>For small state spaces, policy evaluation using exact solution methods is often the most efficient approach. </a:t>
            </a:r>
          </a:p>
          <a:p>
            <a:pPr algn="just">
              <a:spcBef>
                <a:spcPts val="0"/>
              </a:spcBef>
            </a:pPr>
            <a:r>
              <a:rPr lang="en-US" sz="2600" dirty="0" smtClean="0"/>
              <a:t>For large state spaces, O(n</a:t>
            </a:r>
            <a:r>
              <a:rPr lang="en-US" sz="2600" baseline="30000" dirty="0" smtClean="0"/>
              <a:t>3</a:t>
            </a:r>
            <a:r>
              <a:rPr lang="en-US" sz="2600" dirty="0" smtClean="0"/>
              <a:t>) time might be prohibitive. </a:t>
            </a:r>
          </a:p>
          <a:p>
            <a:pPr algn="just">
              <a:spcBef>
                <a:spcPts val="0"/>
              </a:spcBef>
            </a:pPr>
            <a:r>
              <a:rPr lang="en-US" sz="2600" dirty="0" smtClean="0"/>
              <a:t>Fortunately, it is not necessary to do </a:t>
            </a:r>
            <a:r>
              <a:rPr lang="en-US" sz="2600" i="1" dirty="0" smtClean="0"/>
              <a:t>exact policy evaluation. </a:t>
            </a:r>
          </a:p>
          <a:p>
            <a:pPr algn="just">
              <a:spcBef>
                <a:spcPts val="0"/>
              </a:spcBef>
            </a:pPr>
            <a:r>
              <a:rPr lang="en-US" sz="2600" i="1" dirty="0" smtClean="0"/>
              <a:t>Instead, we can perform some number of </a:t>
            </a:r>
            <a:r>
              <a:rPr lang="en-US" sz="2600" dirty="0" smtClean="0"/>
              <a:t>simplified value iteration steps (simplified because the policy is fixed) to give a reasonably good approximation of the utilities. </a:t>
            </a:r>
          </a:p>
          <a:p>
            <a:pPr algn="just">
              <a:spcBef>
                <a:spcPts val="0"/>
              </a:spcBef>
            </a:pPr>
            <a:endParaRPr lang="en-US" sz="2600" dirty="0" smtClean="0"/>
          </a:p>
          <a:p>
            <a:pPr algn="just">
              <a:spcBef>
                <a:spcPts val="0"/>
              </a:spcBef>
            </a:pPr>
            <a:r>
              <a:rPr lang="en-US" sz="2600" dirty="0" smtClean="0"/>
              <a:t>The simplified Bellman update for this process is</a:t>
            </a:r>
          </a:p>
          <a:p>
            <a:r>
              <a:rPr lang="en-US" sz="2800" dirty="0" smtClean="0"/>
              <a:t>and this is repeated k times to produce the next utility estimate. </a:t>
            </a:r>
          </a:p>
          <a:p>
            <a:r>
              <a:rPr lang="en-US" sz="2800" dirty="0" smtClean="0"/>
              <a:t>The resulting algorithm is called </a:t>
            </a:r>
            <a:r>
              <a:rPr lang="en-US" sz="2800" b="1" dirty="0" smtClean="0"/>
              <a:t>modified policy iteration. It is often much more efficient than standard policy iteration </a:t>
            </a:r>
            <a:r>
              <a:rPr lang="en-US" sz="2800" dirty="0" smtClean="0"/>
              <a:t>or value iteration.</a:t>
            </a:r>
            <a:endParaRPr lang="en-US" sz="2500" dirty="0"/>
          </a:p>
        </p:txBody>
      </p:sp>
      <p:pic>
        <p:nvPicPr>
          <p:cNvPr id="6146" name="Picture 2"/>
          <p:cNvPicPr>
            <a:picLocks noChangeAspect="1" noChangeArrowheads="1"/>
          </p:cNvPicPr>
          <p:nvPr/>
        </p:nvPicPr>
        <p:blipFill>
          <a:blip r:embed="rId2" cstate="print"/>
          <a:srcRect/>
          <a:stretch>
            <a:fillRect/>
          </a:stretch>
        </p:blipFill>
        <p:spPr bwMode="auto">
          <a:xfrm>
            <a:off x="7178675" y="4114800"/>
            <a:ext cx="4343400" cy="6858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4495800"/>
            <a:ext cx="11323637" cy="2362200"/>
          </a:xfrm>
        </p:spPr>
        <p:txBody>
          <a:bodyPr>
            <a:noAutofit/>
          </a:bodyPr>
          <a:lstStyle/>
          <a:p>
            <a:pPr algn="just"/>
            <a:r>
              <a:rPr lang="en-US" sz="2300" dirty="0" smtClean="0"/>
              <a:t>The algorithms we have described so far require updating the utility or policy for all states at once. </a:t>
            </a:r>
          </a:p>
          <a:p>
            <a:pPr algn="just"/>
            <a:r>
              <a:rPr lang="en-US" sz="2300" dirty="0" smtClean="0"/>
              <a:t>It turns out that this is not strictly necessary. In fact, on each iteration, we can pick </a:t>
            </a:r>
            <a:r>
              <a:rPr lang="en-US" sz="2300" i="1" dirty="0" smtClean="0"/>
              <a:t>any subset of states and apply either kind of updating (policy improvement or simplified </a:t>
            </a:r>
            <a:r>
              <a:rPr lang="en-US" sz="2300" dirty="0" smtClean="0"/>
              <a:t>value iteration) to that subset. </a:t>
            </a:r>
          </a:p>
          <a:p>
            <a:pPr algn="just"/>
            <a:r>
              <a:rPr lang="en-US" sz="2300" dirty="0" smtClean="0"/>
              <a:t>This very general algorithm is called </a:t>
            </a:r>
            <a:r>
              <a:rPr lang="en-US" sz="2300" b="1" dirty="0" smtClean="0"/>
              <a:t>asynchronous policy iteration.</a:t>
            </a:r>
            <a:endParaRPr lang="en-US" sz="2300" dirty="0"/>
          </a:p>
        </p:txBody>
      </p:sp>
      <p:pic>
        <p:nvPicPr>
          <p:cNvPr id="7170" name="Picture 2"/>
          <p:cNvPicPr>
            <a:picLocks noChangeAspect="1" noChangeArrowheads="1"/>
          </p:cNvPicPr>
          <p:nvPr/>
        </p:nvPicPr>
        <p:blipFill>
          <a:blip r:embed="rId2" cstate="print"/>
          <a:srcRect/>
          <a:stretch>
            <a:fillRect/>
          </a:stretch>
        </p:blipFill>
        <p:spPr bwMode="auto">
          <a:xfrm>
            <a:off x="-1" y="0"/>
            <a:ext cx="11522075" cy="43434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152400"/>
            <a:ext cx="10369868" cy="685800"/>
          </a:xfrm>
        </p:spPr>
        <p:txBody>
          <a:bodyPr>
            <a:normAutofit fontScale="90000"/>
          </a:bodyPr>
          <a:lstStyle/>
          <a:p>
            <a:r>
              <a:rPr lang="en-US" dirty="0" smtClean="0"/>
              <a:t>PARTIALLY OBSERVABLE MDPS</a:t>
            </a:r>
            <a:endParaRPr lang="en-US" dirty="0"/>
          </a:p>
        </p:txBody>
      </p:sp>
      <p:sp>
        <p:nvSpPr>
          <p:cNvPr id="3" name="Content Placeholder 2"/>
          <p:cNvSpPr>
            <a:spLocks noGrp="1"/>
          </p:cNvSpPr>
          <p:nvPr>
            <p:ph idx="1"/>
          </p:nvPr>
        </p:nvSpPr>
        <p:spPr>
          <a:xfrm>
            <a:off x="198437" y="838200"/>
            <a:ext cx="11049000" cy="5791199"/>
          </a:xfrm>
        </p:spPr>
        <p:txBody>
          <a:bodyPr>
            <a:normAutofit/>
          </a:bodyPr>
          <a:lstStyle/>
          <a:p>
            <a:pPr algn="just">
              <a:spcBef>
                <a:spcPts val="0"/>
              </a:spcBef>
            </a:pPr>
            <a:r>
              <a:rPr lang="en-US" sz="2400" dirty="0" smtClean="0"/>
              <a:t>The description of Markov decision processes assumed that the environment was </a:t>
            </a:r>
            <a:r>
              <a:rPr lang="en-US" sz="2400" b="1" dirty="0" smtClean="0"/>
              <a:t>fully observable. </a:t>
            </a:r>
          </a:p>
          <a:p>
            <a:pPr algn="just">
              <a:spcBef>
                <a:spcPts val="0"/>
              </a:spcBef>
            </a:pPr>
            <a:r>
              <a:rPr lang="en-US" sz="2400" dirty="0" smtClean="0"/>
              <a:t>With this assumption</a:t>
            </a:r>
            <a:r>
              <a:rPr lang="en-US" sz="2400" b="1" dirty="0" smtClean="0"/>
              <a:t>, </a:t>
            </a:r>
            <a:r>
              <a:rPr lang="en-US" sz="2400" dirty="0" smtClean="0"/>
              <a:t>the agent always knows which state it is in</a:t>
            </a:r>
            <a:r>
              <a:rPr lang="en-US" sz="2400" b="1" dirty="0" smtClean="0"/>
              <a:t>.</a:t>
            </a:r>
          </a:p>
          <a:p>
            <a:pPr algn="just">
              <a:spcBef>
                <a:spcPts val="0"/>
              </a:spcBef>
            </a:pPr>
            <a:r>
              <a:rPr lang="en-US" sz="2400" dirty="0" smtClean="0"/>
              <a:t>This, combined with the Markov assumption for the transition model, means that the optimal policy depends only on the current state. </a:t>
            </a:r>
          </a:p>
          <a:p>
            <a:pPr algn="just">
              <a:spcBef>
                <a:spcPts val="0"/>
              </a:spcBef>
            </a:pPr>
            <a:r>
              <a:rPr lang="en-US" sz="2400" dirty="0" smtClean="0"/>
              <a:t>When the environment is only </a:t>
            </a:r>
            <a:r>
              <a:rPr lang="en-US" sz="2400" b="1" dirty="0" smtClean="0"/>
              <a:t>partially observable, </a:t>
            </a:r>
            <a:r>
              <a:rPr lang="en-US" sz="2400" dirty="0" smtClean="0"/>
              <a:t>the situation is, one might say, much less clear. </a:t>
            </a:r>
          </a:p>
          <a:p>
            <a:pPr algn="just">
              <a:spcBef>
                <a:spcPts val="0"/>
              </a:spcBef>
            </a:pPr>
            <a:r>
              <a:rPr lang="en-US" sz="2400" dirty="0" smtClean="0"/>
              <a:t>The agent does not necessarily know which state it is in, so it cannot execute the action π(s) recommended for that state. </a:t>
            </a:r>
          </a:p>
          <a:p>
            <a:pPr algn="just">
              <a:spcBef>
                <a:spcPts val="0"/>
              </a:spcBef>
            </a:pPr>
            <a:r>
              <a:rPr lang="en-US" sz="2400" dirty="0" smtClean="0"/>
              <a:t>Utility of a state s and the optimal action in s depend not just on s, but also on </a:t>
            </a:r>
            <a:r>
              <a:rPr lang="en-US" sz="2400" i="1" dirty="0" smtClean="0"/>
              <a:t>how much the agent knows when it is in s. </a:t>
            </a:r>
          </a:p>
          <a:p>
            <a:pPr algn="just">
              <a:spcBef>
                <a:spcPts val="0"/>
              </a:spcBef>
            </a:pPr>
            <a:r>
              <a:rPr lang="en-US" sz="2400" i="1" dirty="0" smtClean="0"/>
              <a:t>For these reasons, </a:t>
            </a:r>
            <a:r>
              <a:rPr lang="en-US" sz="2400" b="1" i="1" dirty="0" smtClean="0"/>
              <a:t>partially observable MDPs (or POMDPs— </a:t>
            </a:r>
            <a:r>
              <a:rPr lang="en-US" sz="2400" dirty="0" smtClean="0"/>
              <a:t>pronounced “</a:t>
            </a:r>
            <a:r>
              <a:rPr lang="en-US" sz="2400" dirty="0" err="1" smtClean="0"/>
              <a:t>pom</a:t>
            </a:r>
            <a:r>
              <a:rPr lang="en-US" sz="2400" dirty="0" smtClean="0"/>
              <a:t>-</a:t>
            </a:r>
            <a:r>
              <a:rPr lang="en-US" sz="2400" dirty="0" err="1" smtClean="0"/>
              <a:t>dee</a:t>
            </a:r>
            <a:r>
              <a:rPr lang="en-US" sz="2400" dirty="0" smtClean="0"/>
              <a:t>-pees”) are usually viewed as much more difficult than ordinary MDPs.</a:t>
            </a:r>
          </a:p>
          <a:p>
            <a:pPr algn="just">
              <a:spcBef>
                <a:spcPts val="0"/>
              </a:spcBef>
            </a:pPr>
            <a:r>
              <a:rPr lang="en-US" sz="2400" dirty="0" smtClean="0"/>
              <a:t>Cannot avoid POMDPs, however, because the real world is one.</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228600"/>
            <a:ext cx="11125200" cy="6400799"/>
          </a:xfrm>
        </p:spPr>
        <p:txBody>
          <a:bodyPr>
            <a:normAutofit lnSpcReduction="10000"/>
          </a:bodyPr>
          <a:lstStyle/>
          <a:p>
            <a:pPr algn="just">
              <a:spcBef>
                <a:spcPts val="0"/>
              </a:spcBef>
              <a:buNone/>
            </a:pPr>
            <a:r>
              <a:rPr lang="en-US" sz="2600" b="1" dirty="0" smtClean="0"/>
              <a:t>Definition of POMDPs</a:t>
            </a:r>
          </a:p>
          <a:p>
            <a:pPr algn="just">
              <a:spcBef>
                <a:spcPts val="0"/>
              </a:spcBef>
            </a:pPr>
            <a:r>
              <a:rPr lang="en-US" sz="2400" dirty="0" smtClean="0"/>
              <a:t>To get a handle on POMDPs, we must first define them properly. </a:t>
            </a:r>
          </a:p>
          <a:p>
            <a:pPr algn="just">
              <a:spcBef>
                <a:spcPts val="0"/>
              </a:spcBef>
            </a:pPr>
            <a:r>
              <a:rPr lang="en-US" sz="2400" dirty="0" smtClean="0"/>
              <a:t>A POMDP has the same elements as an MDP—the transition model </a:t>
            </a:r>
            <a:r>
              <a:rPr lang="en-US" sz="2400" b="1" dirty="0" smtClean="0"/>
              <a:t>P(s | s, a), </a:t>
            </a:r>
            <a:r>
              <a:rPr lang="en-US" sz="2400" dirty="0" smtClean="0"/>
              <a:t>actions </a:t>
            </a:r>
            <a:r>
              <a:rPr lang="en-US" sz="2400" b="1" dirty="0" smtClean="0"/>
              <a:t>A(s)</a:t>
            </a:r>
            <a:r>
              <a:rPr lang="en-US" sz="2400" dirty="0" smtClean="0"/>
              <a:t>, and reward function R(s)—but, like the partially observable search problems, it also has a sensor model </a:t>
            </a:r>
            <a:r>
              <a:rPr lang="en-US" sz="2400" b="1" dirty="0" smtClean="0"/>
              <a:t>P(e | s).</a:t>
            </a:r>
          </a:p>
          <a:p>
            <a:pPr algn="just">
              <a:spcBef>
                <a:spcPts val="0"/>
              </a:spcBef>
            </a:pPr>
            <a:r>
              <a:rPr lang="en-US" sz="2400" dirty="0" smtClean="0"/>
              <a:t>The sensor model specifies the probability of perceiving evidence </a:t>
            </a:r>
            <a:r>
              <a:rPr lang="en-US" sz="2400" b="1" dirty="0" smtClean="0"/>
              <a:t>e</a:t>
            </a:r>
            <a:r>
              <a:rPr lang="en-US" sz="2400" dirty="0" smtClean="0"/>
              <a:t> in state </a:t>
            </a:r>
            <a:r>
              <a:rPr lang="en-US" sz="2400" b="1" dirty="0" smtClean="0"/>
              <a:t>s</a:t>
            </a:r>
            <a:r>
              <a:rPr lang="en-US" sz="2400" dirty="0" smtClean="0"/>
              <a:t>.</a:t>
            </a:r>
          </a:p>
          <a:p>
            <a:pPr algn="just">
              <a:spcBef>
                <a:spcPts val="0"/>
              </a:spcBef>
            </a:pPr>
            <a:r>
              <a:rPr lang="en-US" sz="2400" dirty="0" smtClean="0"/>
              <a:t>Ex: Convert the </a:t>
            </a:r>
            <a:r>
              <a:rPr lang="en-US" sz="2400" b="1" dirty="0" smtClean="0"/>
              <a:t>4×3 </a:t>
            </a:r>
            <a:r>
              <a:rPr lang="en-US" sz="2400" dirty="0" smtClean="0"/>
              <a:t>world of Figure 17.1 into a POMDP by adding a noisy or partial sensor instead of assuming that the agent knows its location exactly.</a:t>
            </a:r>
          </a:p>
          <a:p>
            <a:pPr algn="just">
              <a:spcBef>
                <a:spcPts val="0"/>
              </a:spcBef>
            </a:pPr>
            <a:r>
              <a:rPr lang="en-US" sz="2400" dirty="0" smtClean="0"/>
              <a:t>Such a sensor might measure the </a:t>
            </a:r>
            <a:r>
              <a:rPr lang="en-US" sz="2400" i="1" dirty="0" smtClean="0"/>
              <a:t>number of adjacent walls, which happens </a:t>
            </a:r>
            <a:r>
              <a:rPr lang="en-US" sz="2400" dirty="0" smtClean="0"/>
              <a:t>to be </a:t>
            </a:r>
            <a:r>
              <a:rPr lang="en-US" sz="2400" b="1" dirty="0" smtClean="0"/>
              <a:t>2</a:t>
            </a:r>
            <a:r>
              <a:rPr lang="en-US" sz="2400" dirty="0" smtClean="0"/>
              <a:t> in all the non-terminal squares except for those in the third column, where the value is </a:t>
            </a:r>
            <a:r>
              <a:rPr lang="en-US" sz="2400" b="1" dirty="0" smtClean="0"/>
              <a:t>1</a:t>
            </a:r>
            <a:r>
              <a:rPr lang="en-US" sz="2400" dirty="0" smtClean="0"/>
              <a:t>; a noisy version might give the wrong value with </a:t>
            </a:r>
            <a:r>
              <a:rPr lang="en-US" sz="2400" b="1" dirty="0" smtClean="0"/>
              <a:t>probability 0.1</a:t>
            </a:r>
            <a:r>
              <a:rPr lang="en-US" sz="2400" dirty="0" smtClean="0"/>
              <a:t>.</a:t>
            </a:r>
          </a:p>
          <a:p>
            <a:r>
              <a:rPr lang="en-US" sz="2400" dirty="0" smtClean="0"/>
              <a:t>Studied non-deterministic and partially observable planning problems and identified the </a:t>
            </a:r>
            <a:r>
              <a:rPr lang="en-US" sz="2400" b="1" dirty="0" smtClean="0"/>
              <a:t>belief state— </a:t>
            </a:r>
            <a:r>
              <a:rPr lang="en-US" sz="2400" dirty="0" smtClean="0"/>
              <a:t>the set of actual states the agent might be in—as a key concept for describing and calculating solutions. </a:t>
            </a:r>
          </a:p>
          <a:p>
            <a:r>
              <a:rPr lang="en-US" sz="2400" dirty="0" smtClean="0"/>
              <a:t>In POMDPs, the belief state </a:t>
            </a:r>
            <a:r>
              <a:rPr lang="en-US" sz="2400" b="1" dirty="0" smtClean="0"/>
              <a:t>b</a:t>
            </a:r>
            <a:r>
              <a:rPr lang="en-US" sz="2400" dirty="0" smtClean="0"/>
              <a:t> becomes a </a:t>
            </a:r>
            <a:r>
              <a:rPr lang="en-US" sz="2400" i="1" dirty="0" smtClean="0"/>
              <a:t>probability distribution over all possible states.</a:t>
            </a:r>
          </a:p>
          <a:p>
            <a:r>
              <a:rPr lang="en-US" sz="2400" dirty="0" smtClean="0"/>
              <a:t>Ex: the initial  belief state for the 4×3 POMDP could be the uniform distribution over the nine non-terminal states, i.e.,</a:t>
            </a:r>
            <a:endParaRPr lang="en-US" sz="2400" dirty="0"/>
          </a:p>
        </p:txBody>
      </p:sp>
      <p:pic>
        <p:nvPicPr>
          <p:cNvPr id="8194" name="Picture 2"/>
          <p:cNvPicPr>
            <a:picLocks noChangeAspect="1" noChangeArrowheads="1"/>
          </p:cNvPicPr>
          <p:nvPr/>
        </p:nvPicPr>
        <p:blipFill>
          <a:blip r:embed="rId2" cstate="print"/>
          <a:srcRect/>
          <a:stretch>
            <a:fillRect/>
          </a:stretch>
        </p:blipFill>
        <p:spPr bwMode="auto">
          <a:xfrm>
            <a:off x="5303837" y="6248400"/>
            <a:ext cx="4267200" cy="465624"/>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065" y="152400"/>
            <a:ext cx="11174572" cy="6477000"/>
          </a:xfrm>
        </p:spPr>
        <p:txBody>
          <a:bodyPr>
            <a:normAutofit fontScale="92500" lnSpcReduction="10000"/>
          </a:bodyPr>
          <a:lstStyle/>
          <a:p>
            <a:pPr algn="just">
              <a:spcBef>
                <a:spcPts val="0"/>
              </a:spcBef>
            </a:pPr>
            <a:r>
              <a:rPr lang="en-US" sz="2400" dirty="0" smtClean="0"/>
              <a:t>Write </a:t>
            </a:r>
            <a:r>
              <a:rPr lang="en-US" sz="2400" b="1" dirty="0" smtClean="0"/>
              <a:t>b(s)</a:t>
            </a:r>
            <a:r>
              <a:rPr lang="en-US" sz="2400" dirty="0" smtClean="0"/>
              <a:t> for the probability assigned to the actual state s by belief state </a:t>
            </a:r>
            <a:r>
              <a:rPr lang="en-US" sz="2400" b="1" dirty="0" smtClean="0"/>
              <a:t>b</a:t>
            </a:r>
            <a:r>
              <a:rPr lang="en-US" sz="2400" dirty="0" smtClean="0"/>
              <a:t>. </a:t>
            </a:r>
          </a:p>
          <a:p>
            <a:pPr algn="just">
              <a:spcBef>
                <a:spcPts val="0"/>
              </a:spcBef>
            </a:pPr>
            <a:r>
              <a:rPr lang="en-US" sz="2400" dirty="0" smtClean="0"/>
              <a:t>The agent can calculate its current belief state as the conditional probability distribution over the actual states given the sequence of percepts and actions so far. </a:t>
            </a:r>
          </a:p>
          <a:p>
            <a:pPr algn="just">
              <a:spcBef>
                <a:spcPts val="0"/>
              </a:spcBef>
            </a:pPr>
            <a:r>
              <a:rPr lang="en-US" sz="2400" dirty="0" smtClean="0"/>
              <a:t>This is essentially the </a:t>
            </a:r>
            <a:r>
              <a:rPr lang="en-US" sz="2400" b="1" dirty="0" smtClean="0"/>
              <a:t>filtering task. </a:t>
            </a:r>
          </a:p>
          <a:p>
            <a:pPr algn="just">
              <a:spcBef>
                <a:spcPts val="0"/>
              </a:spcBef>
            </a:pPr>
            <a:r>
              <a:rPr lang="en-US" sz="2400" dirty="0" smtClean="0"/>
              <a:t>The basic recursive filtering equation (15.5 on page 572) shows how to calculate the new belief state from the previous belief state and the new evidence. </a:t>
            </a:r>
          </a:p>
          <a:p>
            <a:pPr algn="just">
              <a:spcBef>
                <a:spcPts val="0"/>
              </a:spcBef>
            </a:pPr>
            <a:r>
              <a:rPr lang="en-US" sz="2400" dirty="0" smtClean="0"/>
              <a:t>For POMDPs, we also have an action to consider, but the result is essentially the same. </a:t>
            </a:r>
          </a:p>
          <a:p>
            <a:pPr algn="just">
              <a:spcBef>
                <a:spcPts val="0"/>
              </a:spcBef>
            </a:pPr>
            <a:r>
              <a:rPr lang="en-US" sz="2400" dirty="0" smtClean="0"/>
              <a:t>If </a:t>
            </a:r>
            <a:r>
              <a:rPr lang="en-US" sz="2400" b="1" dirty="0" smtClean="0"/>
              <a:t>b(s)</a:t>
            </a:r>
            <a:r>
              <a:rPr lang="en-US" sz="2400" dirty="0" smtClean="0"/>
              <a:t> was the previous belief state, and the agent does action </a:t>
            </a:r>
            <a:r>
              <a:rPr lang="en-US" sz="2400" b="1" dirty="0" smtClean="0"/>
              <a:t>a </a:t>
            </a:r>
            <a:r>
              <a:rPr lang="en-US" sz="2400" dirty="0" smtClean="0"/>
              <a:t>and then perceives evidence e, then the new belief state is given by</a:t>
            </a:r>
          </a:p>
          <a:p>
            <a:pPr algn="just">
              <a:spcBef>
                <a:spcPts val="0"/>
              </a:spcBef>
            </a:pPr>
            <a:endParaRPr lang="en-US" sz="2400" dirty="0" smtClean="0"/>
          </a:p>
          <a:p>
            <a:endParaRPr lang="en-US" sz="2400" dirty="0" smtClean="0"/>
          </a:p>
          <a:p>
            <a:r>
              <a:rPr lang="en-US" sz="2400" dirty="0" smtClean="0"/>
              <a:t>where α is a normalizing constant that makes the belief state sum to 1. </a:t>
            </a:r>
          </a:p>
          <a:p>
            <a:r>
              <a:rPr lang="en-US" sz="2400" dirty="0" smtClean="0"/>
              <a:t>By analogy with the update operator for filtering (page 572), we can write this as</a:t>
            </a:r>
          </a:p>
          <a:p>
            <a:endParaRPr lang="en-US" sz="2400" dirty="0" smtClean="0"/>
          </a:p>
          <a:p>
            <a:endParaRPr lang="en-US" sz="2400" dirty="0" smtClean="0"/>
          </a:p>
          <a:p>
            <a:r>
              <a:rPr lang="en-US" sz="2400" dirty="0" smtClean="0"/>
              <a:t>In the 4×3 POMDP, suppose the agent moves </a:t>
            </a:r>
            <a:r>
              <a:rPr lang="en-US" sz="2400" i="1" dirty="0" smtClean="0"/>
              <a:t>Left and its sensor reports 1 adjacent wall; then </a:t>
            </a:r>
            <a:r>
              <a:rPr lang="en-US" sz="2400" dirty="0" smtClean="0"/>
              <a:t>it’s quite likely (although not guaranteed, because both the motion and the sensor are noisy) that the agent is now in (3,1). </a:t>
            </a:r>
          </a:p>
          <a:p>
            <a:r>
              <a:rPr lang="en-US" sz="2400" dirty="0" smtClean="0"/>
              <a:t>Exercise 17.13 asks you to calculate the exact probability values for the new belief state.</a:t>
            </a:r>
            <a:endParaRPr lang="en-US" sz="2400" dirty="0"/>
          </a:p>
        </p:txBody>
      </p:sp>
      <p:pic>
        <p:nvPicPr>
          <p:cNvPr id="9218" name="Picture 2"/>
          <p:cNvPicPr>
            <a:picLocks noChangeAspect="1" noChangeArrowheads="1"/>
          </p:cNvPicPr>
          <p:nvPr/>
        </p:nvPicPr>
        <p:blipFill>
          <a:blip r:embed="rId2" cstate="print"/>
          <a:srcRect/>
          <a:stretch>
            <a:fillRect/>
          </a:stretch>
        </p:blipFill>
        <p:spPr bwMode="auto">
          <a:xfrm>
            <a:off x="6218237" y="2819400"/>
            <a:ext cx="4648200" cy="762000"/>
          </a:xfrm>
          <a:prstGeom prst="rect">
            <a:avLst/>
          </a:prstGeom>
          <a:noFill/>
          <a:ln w="9525">
            <a:noFill/>
            <a:miter lim="800000"/>
            <a:headEnd/>
            <a:tailEnd/>
          </a:ln>
        </p:spPr>
      </p:pic>
      <p:pic>
        <p:nvPicPr>
          <p:cNvPr id="9221" name="Picture 5"/>
          <p:cNvPicPr>
            <a:picLocks noChangeAspect="1" noChangeArrowheads="1"/>
          </p:cNvPicPr>
          <p:nvPr/>
        </p:nvPicPr>
        <p:blipFill>
          <a:blip r:embed="rId3" cstate="print"/>
          <a:srcRect/>
          <a:stretch>
            <a:fillRect/>
          </a:stretch>
        </p:blipFill>
        <p:spPr bwMode="auto">
          <a:xfrm>
            <a:off x="3779837" y="4419600"/>
            <a:ext cx="4038600" cy="6858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065" y="228600"/>
            <a:ext cx="11174572" cy="6476999"/>
          </a:xfrm>
        </p:spPr>
        <p:txBody>
          <a:bodyPr>
            <a:noAutofit/>
          </a:bodyPr>
          <a:lstStyle/>
          <a:p>
            <a:pPr algn="just">
              <a:spcBef>
                <a:spcPts val="0"/>
              </a:spcBef>
            </a:pPr>
            <a:r>
              <a:rPr lang="en-US" sz="2400" dirty="0" smtClean="0"/>
              <a:t>The fundamental insight required to understand POMDPs is this: </a:t>
            </a:r>
            <a:r>
              <a:rPr lang="en-US" sz="2400" i="1" dirty="0" smtClean="0"/>
              <a:t>the optimal action depends only on the agent’s current belief state. </a:t>
            </a:r>
          </a:p>
          <a:p>
            <a:pPr algn="just">
              <a:spcBef>
                <a:spcPts val="0"/>
              </a:spcBef>
            </a:pPr>
            <a:r>
              <a:rPr lang="en-US" sz="2400" i="1" dirty="0" smtClean="0"/>
              <a:t>That is, the optimal policy can be described </a:t>
            </a:r>
            <a:r>
              <a:rPr lang="en-US" sz="2400" dirty="0" smtClean="0"/>
              <a:t>by a mapping </a:t>
            </a:r>
            <a:r>
              <a:rPr lang="el-GR" sz="2400" dirty="0" smtClean="0"/>
              <a:t>π</a:t>
            </a:r>
            <a:r>
              <a:rPr lang="en-US" sz="2400" dirty="0" smtClean="0"/>
              <a:t>∗(b) from belief states to actions. </a:t>
            </a:r>
          </a:p>
          <a:p>
            <a:pPr algn="just">
              <a:spcBef>
                <a:spcPts val="0"/>
              </a:spcBef>
            </a:pPr>
            <a:r>
              <a:rPr lang="en-US" sz="2400" dirty="0" smtClean="0"/>
              <a:t>It does </a:t>
            </a:r>
            <a:r>
              <a:rPr lang="en-US" sz="2400" i="1" dirty="0" smtClean="0"/>
              <a:t>not depend on the actual state the </a:t>
            </a:r>
            <a:r>
              <a:rPr lang="en-US" sz="2400" dirty="0" smtClean="0"/>
              <a:t>agent is in. </a:t>
            </a:r>
          </a:p>
          <a:p>
            <a:pPr algn="just">
              <a:spcBef>
                <a:spcPts val="0"/>
              </a:spcBef>
            </a:pPr>
            <a:r>
              <a:rPr lang="en-US" sz="2400" dirty="0" smtClean="0"/>
              <a:t>Decision cycle of a POMDP agent can be broken down into the following three steps:</a:t>
            </a:r>
          </a:p>
          <a:p>
            <a:pPr algn="just">
              <a:spcBef>
                <a:spcPts val="0"/>
              </a:spcBef>
              <a:buNone/>
            </a:pPr>
            <a:r>
              <a:rPr lang="en-US" sz="2400" dirty="0" smtClean="0"/>
              <a:t>	</a:t>
            </a:r>
            <a:r>
              <a:rPr lang="en-US" sz="2400" b="1" dirty="0" smtClean="0"/>
              <a:t>1. Given the current belief state b, execute the action a=π ∗(b).</a:t>
            </a:r>
          </a:p>
          <a:p>
            <a:pPr algn="just">
              <a:spcBef>
                <a:spcPts val="0"/>
              </a:spcBef>
              <a:buNone/>
            </a:pPr>
            <a:r>
              <a:rPr lang="en-US" sz="2400" b="1" dirty="0" smtClean="0"/>
              <a:t>	2. Receive percept e.</a:t>
            </a:r>
          </a:p>
          <a:p>
            <a:pPr algn="just">
              <a:spcBef>
                <a:spcPts val="0"/>
              </a:spcBef>
              <a:buNone/>
            </a:pPr>
            <a:r>
              <a:rPr lang="en-US" sz="2400" b="1" dirty="0" smtClean="0"/>
              <a:t>	3. Set the current belief state to FORWARD(b, a, e) and repeat.</a:t>
            </a:r>
          </a:p>
          <a:p>
            <a:pPr algn="just">
              <a:spcBef>
                <a:spcPts val="0"/>
              </a:spcBef>
            </a:pPr>
            <a:r>
              <a:rPr lang="en-US" sz="2400" dirty="0" smtClean="0"/>
              <a:t>Think of POMDPs as requiring a search in belief-state space, just like the methods for sensor less and contingency problems. </a:t>
            </a:r>
          </a:p>
          <a:p>
            <a:pPr algn="just">
              <a:spcBef>
                <a:spcPts val="0"/>
              </a:spcBef>
            </a:pPr>
            <a:r>
              <a:rPr lang="en-US" sz="2400" dirty="0" smtClean="0"/>
              <a:t>The main difference is that the POMDP belief-state space is </a:t>
            </a:r>
            <a:r>
              <a:rPr lang="en-US" sz="2400" i="1" dirty="0" smtClean="0"/>
              <a:t>continuous, because a POMDP belief state is a probability distribution.</a:t>
            </a:r>
          </a:p>
          <a:p>
            <a:pPr algn="just">
              <a:spcBef>
                <a:spcPts val="0"/>
              </a:spcBef>
            </a:pPr>
            <a:r>
              <a:rPr lang="en-US" sz="2400" dirty="0" smtClean="0"/>
              <a:t>Ex: a belief state for the 4×3 world is a point in an 11-dimensional continuous space.</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437" y="4419600"/>
            <a:ext cx="11125200" cy="2362200"/>
          </a:xfrm>
        </p:spPr>
        <p:txBody>
          <a:bodyPr>
            <a:noAutofit/>
          </a:bodyPr>
          <a:lstStyle/>
          <a:p>
            <a:pPr algn="just"/>
            <a:r>
              <a:rPr lang="en-US" sz="2100" dirty="0" smtClean="0"/>
              <a:t>Together, </a:t>
            </a:r>
            <a:r>
              <a:rPr lang="en-US" sz="2100" b="1" dirty="0" smtClean="0"/>
              <a:t>P(b | b, a</a:t>
            </a:r>
            <a:r>
              <a:rPr lang="en-US" sz="2100" dirty="0" smtClean="0"/>
              <a:t>) and </a:t>
            </a:r>
            <a:r>
              <a:rPr lang="en-US" sz="2100" b="1" dirty="0" smtClean="0"/>
              <a:t>ρ(b)</a:t>
            </a:r>
            <a:r>
              <a:rPr lang="en-US" sz="2100" dirty="0" smtClean="0"/>
              <a:t> define an observable </a:t>
            </a:r>
            <a:r>
              <a:rPr lang="en-US" sz="2100" b="1" dirty="0" smtClean="0"/>
              <a:t>MDP</a:t>
            </a:r>
            <a:r>
              <a:rPr lang="en-US" sz="2100" dirty="0" smtClean="0"/>
              <a:t> on the space of belief states. </a:t>
            </a:r>
          </a:p>
          <a:p>
            <a:pPr algn="just"/>
            <a:r>
              <a:rPr lang="en-US" sz="2100" dirty="0" smtClean="0"/>
              <a:t>Shown that an optimal policy for this </a:t>
            </a:r>
            <a:r>
              <a:rPr lang="en-US" sz="2100" b="1" dirty="0" smtClean="0"/>
              <a:t>MDP</a:t>
            </a:r>
            <a:r>
              <a:rPr lang="en-US" sz="2100" dirty="0" smtClean="0"/>
              <a:t>, </a:t>
            </a:r>
            <a:r>
              <a:rPr lang="en-US" sz="2100" b="1" dirty="0" smtClean="0"/>
              <a:t>π∗(b)</a:t>
            </a:r>
            <a:r>
              <a:rPr lang="en-US" sz="2100" dirty="0" smtClean="0"/>
              <a:t>, is also an optimal policy for the original </a:t>
            </a:r>
            <a:r>
              <a:rPr lang="en-US" sz="2100" b="1" dirty="0" smtClean="0"/>
              <a:t>POMDP</a:t>
            </a:r>
            <a:r>
              <a:rPr lang="en-US" sz="2100" dirty="0" smtClean="0"/>
              <a:t>. </a:t>
            </a:r>
          </a:p>
          <a:p>
            <a:pPr algn="just"/>
            <a:r>
              <a:rPr lang="en-US" sz="2100" dirty="0" smtClean="0"/>
              <a:t>Solving a </a:t>
            </a:r>
            <a:r>
              <a:rPr lang="en-US" sz="2100" b="1" dirty="0" smtClean="0"/>
              <a:t>POMDP</a:t>
            </a:r>
            <a:r>
              <a:rPr lang="en-US" sz="2100" dirty="0" smtClean="0"/>
              <a:t> on a physical state space can be reduced to solving an MDP on the corresponding belief-state space. </a:t>
            </a:r>
          </a:p>
          <a:p>
            <a:pPr algn="just"/>
            <a:r>
              <a:rPr lang="en-US" sz="2100" dirty="0" smtClean="0"/>
              <a:t>This fact is perhaps less surprising if we remember that the belief state is always observable to the agent, by definition.</a:t>
            </a:r>
            <a:endParaRPr lang="en-US" sz="2100" dirty="0"/>
          </a:p>
        </p:txBody>
      </p:sp>
      <p:pic>
        <p:nvPicPr>
          <p:cNvPr id="10242" name="Picture 2"/>
          <p:cNvPicPr>
            <a:picLocks noChangeAspect="1" noChangeArrowheads="1"/>
          </p:cNvPicPr>
          <p:nvPr/>
        </p:nvPicPr>
        <p:blipFill>
          <a:blip r:embed="rId2" cstate="print"/>
          <a:srcRect/>
          <a:stretch>
            <a:fillRect/>
          </a:stretch>
        </p:blipFill>
        <p:spPr bwMode="auto">
          <a:xfrm>
            <a:off x="0" y="0"/>
            <a:ext cx="11522075" cy="43434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2869</TotalTime>
  <Words>8132</Words>
  <Application>Microsoft Office PowerPoint</Application>
  <PresentationFormat>Custom</PresentationFormat>
  <Paragraphs>490</Paragraphs>
  <Slides>59</Slides>
  <Notes>0</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UNIT-IV</vt:lpstr>
      <vt:lpstr>UNIT IV </vt:lpstr>
      <vt:lpstr>Uncertain Knowledge and Reasoning</vt:lpstr>
      <vt:lpstr>Slide 4</vt:lpstr>
      <vt:lpstr>Slide 5</vt:lpstr>
      <vt:lpstr>Slide 6</vt:lpstr>
      <vt:lpstr>Slide 7</vt:lpstr>
      <vt:lpstr>Slide 8</vt:lpstr>
      <vt:lpstr>Slide 9</vt:lpstr>
      <vt:lpstr>Slide 10</vt:lpstr>
      <vt:lpstr>Slide 11</vt:lpstr>
      <vt:lpstr>Slide 12</vt:lpstr>
      <vt:lpstr>TIME AND UNCERTAINTY</vt:lpstr>
      <vt:lpstr>Slide 14</vt:lpstr>
      <vt:lpstr>Slide 15</vt:lpstr>
      <vt:lpstr>Slide 16</vt:lpstr>
      <vt:lpstr>Slide 17</vt:lpstr>
      <vt:lpstr>Slide 18</vt:lpstr>
      <vt:lpstr>Slide 19</vt:lpstr>
      <vt:lpstr>Slide 20</vt:lpstr>
      <vt:lpstr>UTILITY FUNCTIONS </vt:lpstr>
      <vt:lpstr>Slide 22</vt:lpstr>
      <vt:lpstr>Slide 23</vt:lpstr>
      <vt:lpstr>Slide 24</vt:lpstr>
      <vt:lpstr>Slide 25</vt:lpstr>
      <vt:lpstr>UTILITY FUNCTIONS</vt:lpstr>
      <vt:lpstr>Slide 27</vt:lpstr>
      <vt:lpstr>Slide 28</vt:lpstr>
      <vt:lpstr>Slide 29</vt:lpstr>
      <vt:lpstr>Slide 30</vt:lpstr>
      <vt:lpstr>Slide 31</vt:lpstr>
      <vt:lpstr>Slide 32</vt:lpstr>
      <vt:lpstr>Slide 33</vt:lpstr>
      <vt:lpstr>Human judgment and irrationality</vt:lpstr>
      <vt:lpstr>Slide 35</vt:lpstr>
      <vt:lpstr>Slide 36</vt:lpstr>
      <vt:lpstr>Slide 37</vt:lpstr>
      <vt:lpstr>THE VALUE OF INFORMATION</vt:lpstr>
      <vt:lpstr>Slide 39</vt:lpstr>
      <vt:lpstr>Slide 40</vt:lpstr>
      <vt:lpstr>Slide 41</vt:lpstr>
      <vt:lpstr>Slide 42</vt:lpstr>
      <vt:lpstr>Slide 43</vt:lpstr>
      <vt:lpstr>Slide 44</vt:lpstr>
      <vt:lpstr>VALUE ITERATION</vt:lpstr>
      <vt:lpstr>Slide 46</vt:lpstr>
      <vt:lpstr>Slide 47</vt:lpstr>
      <vt:lpstr>Slide 48</vt:lpstr>
      <vt:lpstr>Slide 49</vt:lpstr>
      <vt:lpstr>Slide 50</vt:lpstr>
      <vt:lpstr>POLICY ITERATION</vt:lpstr>
      <vt:lpstr>Slide 52</vt:lpstr>
      <vt:lpstr>Slide 53</vt:lpstr>
      <vt:lpstr>Slide 54</vt:lpstr>
      <vt:lpstr>PARTIALLY OBSERVABLE MDPS</vt:lpstr>
      <vt:lpstr>Slide 56</vt:lpstr>
      <vt:lpstr>Slide 57</vt:lpstr>
      <vt:lpstr>Slide 58</vt:lpstr>
      <vt:lpstr>Slide 59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UNIT-IV</dc:title>
  <dc:creator>thatiparthi rajini kanth</dc:creator>
  <cp:lastModifiedBy>thatiparthi rajini kanth</cp:lastModifiedBy>
  <cp:revision>102</cp:revision>
  <dcterms:created xsi:type="dcterms:W3CDTF">2006-08-16T00:00:00Z</dcterms:created>
  <dcterms:modified xsi:type="dcterms:W3CDTF">2021-03-04T10:17:53Z</dcterms:modified>
</cp:coreProperties>
</file>