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123315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176" y="-186"/>
      </p:cViewPr>
      <p:guideLst>
        <p:guide orient="horz" pos="2160"/>
        <p:guide pos="3538"/>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7E8148-F222-440C-8F37-83E241B08B57}" type="datetimeFigureOut">
              <a:rPr lang="en-US" smtClean="0"/>
              <a:pPr/>
              <a:t>3/1/2021</a:t>
            </a:fld>
            <a:endParaRPr lang="en-US"/>
          </a:p>
        </p:txBody>
      </p:sp>
      <p:sp>
        <p:nvSpPr>
          <p:cNvPr id="4" name="Slide Image Placeholder 3"/>
          <p:cNvSpPr>
            <a:spLocks noGrp="1" noRot="1" noChangeAspect="1"/>
          </p:cNvSpPr>
          <p:nvPr>
            <p:ph type="sldImg" idx="2"/>
          </p:nvPr>
        </p:nvSpPr>
        <p:spPr>
          <a:xfrm>
            <a:off x="620713" y="685800"/>
            <a:ext cx="561657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C87933-DF9E-480B-8ED2-C207DCC073D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7C87933-DF9E-480B-8ED2-C207DCC073DB}"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42486" y="2130426"/>
            <a:ext cx="9548178"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684973" y="3886200"/>
            <a:ext cx="786320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7341" y="4406901"/>
            <a:ext cx="9548178"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887341" y="2906713"/>
            <a:ext cx="9548178"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61657" y="1600201"/>
            <a:ext cx="496130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710185" y="1600201"/>
            <a:ext cx="496130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61657" y="1535113"/>
            <a:ext cx="496325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61657" y="2174875"/>
            <a:ext cx="496325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706285" y="1535113"/>
            <a:ext cx="49652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706285" y="2174875"/>
            <a:ext cx="49652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1658" y="273050"/>
            <a:ext cx="3695629"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391850" y="273051"/>
            <a:ext cx="627964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61658" y="1435101"/>
            <a:ext cx="36956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01776" y="4800600"/>
            <a:ext cx="673989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201776" y="612775"/>
            <a:ext cx="673989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201776" y="5367338"/>
            <a:ext cx="673989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44034" y="274639"/>
            <a:ext cx="2527459"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61658" y="274639"/>
            <a:ext cx="7395157"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1658" y="274638"/>
            <a:ext cx="1010983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61658" y="1600201"/>
            <a:ext cx="1010983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61658" y="6356351"/>
            <a:ext cx="262106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3/1/2021</a:t>
            </a:fld>
            <a:endParaRPr lang="en-US"/>
          </a:p>
        </p:txBody>
      </p:sp>
      <p:sp>
        <p:nvSpPr>
          <p:cNvPr id="5" name="Footer Placeholder 4"/>
          <p:cNvSpPr>
            <a:spLocks noGrp="1"/>
          </p:cNvSpPr>
          <p:nvPr>
            <p:ph type="ftr" sz="quarter" idx="3"/>
          </p:nvPr>
        </p:nvSpPr>
        <p:spPr>
          <a:xfrm>
            <a:off x="3837993" y="6356351"/>
            <a:ext cx="3557164"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50424" y="6356351"/>
            <a:ext cx="26210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UNIT-V</a:t>
            </a:r>
            <a:endParaRPr lang="en-US" dirty="0"/>
          </a:p>
        </p:txBody>
      </p:sp>
      <p:sp>
        <p:nvSpPr>
          <p:cNvPr id="3" name="Subtitle 2"/>
          <p:cNvSpPr>
            <a:spLocks noGrp="1"/>
          </p:cNvSpPr>
          <p:nvPr>
            <p:ph type="subTitle" idx="1"/>
          </p:nvPr>
        </p:nvSpPr>
        <p:spPr/>
        <p:txBody>
          <a:bodyPr/>
          <a:lstStyle/>
          <a:p>
            <a:r>
              <a:rPr lang="en-US" dirty="0" smtClean="0">
                <a:solidFill>
                  <a:schemeClr val="tx1"/>
                </a:solidFill>
              </a:rPr>
              <a:t>DEEP LEARNING</a:t>
            </a:r>
            <a:endParaRPr lang="en-US"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658" y="152400"/>
            <a:ext cx="10109835" cy="715962"/>
          </a:xfrm>
        </p:spPr>
        <p:txBody>
          <a:bodyPr>
            <a:normAutofit fontScale="90000"/>
          </a:bodyPr>
          <a:lstStyle/>
          <a:p>
            <a:r>
              <a:rPr lang="en-US" b="1" dirty="0" smtClean="0"/>
              <a:t>UNIT – V</a:t>
            </a:r>
            <a:endParaRPr lang="en-US" dirty="0"/>
          </a:p>
        </p:txBody>
      </p:sp>
      <p:sp>
        <p:nvSpPr>
          <p:cNvPr id="3" name="Content Placeholder 2"/>
          <p:cNvSpPr>
            <a:spLocks noGrp="1"/>
          </p:cNvSpPr>
          <p:nvPr>
            <p:ph sz="half" idx="1"/>
          </p:nvPr>
        </p:nvSpPr>
        <p:spPr>
          <a:xfrm>
            <a:off x="282575" y="990600"/>
            <a:ext cx="5105400" cy="5791200"/>
          </a:xfrm>
        </p:spPr>
        <p:txBody>
          <a:bodyPr>
            <a:noAutofit/>
          </a:bodyPr>
          <a:lstStyle/>
          <a:p>
            <a:pPr algn="just">
              <a:buNone/>
            </a:pPr>
            <a:r>
              <a:rPr lang="en-US" sz="2600" b="1" dirty="0" smtClean="0"/>
              <a:t>BASICS OF DEEP LEARNING</a:t>
            </a:r>
            <a:endParaRPr lang="en-US" sz="2600" dirty="0" smtClean="0"/>
          </a:p>
          <a:p>
            <a:pPr algn="just"/>
            <a:r>
              <a:rPr lang="en-US" sz="2600" dirty="0" smtClean="0"/>
              <a:t>Deep learning architectures: </a:t>
            </a:r>
            <a:r>
              <a:rPr lang="en-US" sz="2600" dirty="0" err="1" smtClean="0"/>
              <a:t>Convolutional</a:t>
            </a:r>
            <a:r>
              <a:rPr lang="en-US" sz="2600" dirty="0" smtClean="0"/>
              <a:t> Neural Networks : Neurons in Human Vision</a:t>
            </a:r>
          </a:p>
          <a:p>
            <a:pPr algn="just"/>
            <a:r>
              <a:rPr lang="en-US" sz="2600" dirty="0" smtClean="0"/>
              <a:t>The Shortcomings of Feature Selection </a:t>
            </a:r>
          </a:p>
          <a:p>
            <a:pPr algn="just"/>
            <a:r>
              <a:rPr lang="en-US" sz="2600" dirty="0" smtClean="0"/>
              <a:t>Full Description of the </a:t>
            </a:r>
            <a:r>
              <a:rPr lang="en-US" sz="2600" dirty="0" err="1" smtClean="0"/>
              <a:t>Convolutional</a:t>
            </a:r>
            <a:r>
              <a:rPr lang="en-US" sz="2600" dirty="0" smtClean="0"/>
              <a:t> Layer </a:t>
            </a:r>
          </a:p>
          <a:p>
            <a:pPr algn="just"/>
            <a:r>
              <a:rPr lang="en-US" sz="2600" dirty="0" smtClean="0"/>
              <a:t>Max Pooling</a:t>
            </a:r>
          </a:p>
          <a:p>
            <a:pPr algn="just"/>
            <a:r>
              <a:rPr lang="en-US" sz="2600" dirty="0" smtClean="0"/>
              <a:t>Full Architectural Description of Convolution Networks </a:t>
            </a:r>
          </a:p>
          <a:p>
            <a:pPr algn="just"/>
            <a:r>
              <a:rPr lang="en-US" sz="2600" dirty="0" smtClean="0"/>
              <a:t>Closing the Loop on MNIST with </a:t>
            </a:r>
            <a:r>
              <a:rPr lang="en-US" sz="2600" dirty="0" err="1" smtClean="0"/>
              <a:t>Convolutional</a:t>
            </a:r>
            <a:r>
              <a:rPr lang="en-US" sz="2600" dirty="0" smtClean="0"/>
              <a:t> Networks</a:t>
            </a:r>
          </a:p>
          <a:p>
            <a:pPr algn="just"/>
            <a:endParaRPr lang="en-US" sz="2600" dirty="0"/>
          </a:p>
        </p:txBody>
      </p:sp>
      <p:sp>
        <p:nvSpPr>
          <p:cNvPr id="4" name="Content Placeholder 3"/>
          <p:cNvSpPr>
            <a:spLocks noGrp="1"/>
          </p:cNvSpPr>
          <p:nvPr>
            <p:ph sz="half" idx="2"/>
          </p:nvPr>
        </p:nvSpPr>
        <p:spPr>
          <a:xfrm>
            <a:off x="5921375" y="1219200"/>
            <a:ext cx="4935590" cy="4525963"/>
          </a:xfrm>
        </p:spPr>
        <p:txBody>
          <a:bodyPr>
            <a:normAutofit lnSpcReduction="10000"/>
          </a:bodyPr>
          <a:lstStyle/>
          <a:p>
            <a:pPr algn="just"/>
            <a:r>
              <a:rPr lang="en-US" dirty="0" smtClean="0"/>
              <a:t>Building a </a:t>
            </a:r>
            <a:r>
              <a:rPr lang="en-US" dirty="0" err="1" smtClean="0"/>
              <a:t>Convolutional</a:t>
            </a:r>
            <a:r>
              <a:rPr lang="en-US" dirty="0" smtClean="0"/>
              <a:t> Network for CIFAR-10</a:t>
            </a:r>
          </a:p>
          <a:p>
            <a:pPr algn="just"/>
            <a:r>
              <a:rPr lang="en-US" dirty="0" smtClean="0"/>
              <a:t> Visualizing Learning in </a:t>
            </a:r>
            <a:r>
              <a:rPr lang="en-US" dirty="0" err="1" smtClean="0"/>
              <a:t>Convolutional</a:t>
            </a:r>
            <a:r>
              <a:rPr lang="en-US" dirty="0" smtClean="0"/>
              <a:t> Networks</a:t>
            </a:r>
          </a:p>
          <a:p>
            <a:pPr algn="just"/>
            <a:r>
              <a:rPr lang="en-US" dirty="0" smtClean="0"/>
              <a:t>Leveraging </a:t>
            </a:r>
            <a:r>
              <a:rPr lang="en-US" dirty="0" err="1" smtClean="0"/>
              <a:t>Convolutional</a:t>
            </a:r>
            <a:r>
              <a:rPr lang="en-US" dirty="0" smtClean="0"/>
              <a:t> Filters to Replicate Artistic Styles</a:t>
            </a:r>
          </a:p>
          <a:p>
            <a:pPr algn="just"/>
            <a:r>
              <a:rPr lang="en-US" dirty="0" smtClean="0"/>
              <a:t>Learning </a:t>
            </a:r>
            <a:r>
              <a:rPr lang="en-US" dirty="0" err="1" smtClean="0"/>
              <a:t>Convolutional</a:t>
            </a:r>
            <a:r>
              <a:rPr lang="en-US" dirty="0" smtClean="0"/>
              <a:t> Filters for Other Problem Domains</a:t>
            </a:r>
          </a:p>
          <a:p>
            <a:pPr algn="just"/>
            <a:r>
              <a:rPr lang="en-US" dirty="0" smtClean="0"/>
              <a:t>Training algorithms.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61658" y="76200"/>
            <a:ext cx="10109835" cy="685800"/>
          </a:xfrm>
        </p:spPr>
        <p:txBody>
          <a:bodyPr>
            <a:normAutofit fontScale="90000"/>
          </a:bodyPr>
          <a:lstStyle/>
          <a:p>
            <a:r>
              <a:rPr lang="en-US" dirty="0" smtClean="0"/>
              <a:t>Deep learning architectures: </a:t>
            </a:r>
            <a:r>
              <a:rPr lang="en-US" dirty="0" err="1" smtClean="0"/>
              <a:t>Convolutional</a:t>
            </a:r>
            <a:r>
              <a:rPr lang="en-US" dirty="0" smtClean="0"/>
              <a:t> Neural Networks : Neurons in Human Vision</a:t>
            </a:r>
            <a:endParaRPr lang="en-US" dirty="0"/>
          </a:p>
        </p:txBody>
      </p:sp>
      <p:sp>
        <p:nvSpPr>
          <p:cNvPr id="6" name="Content Placeholder 5"/>
          <p:cNvSpPr>
            <a:spLocks noGrp="1"/>
          </p:cNvSpPr>
          <p:nvPr>
            <p:ph idx="1"/>
          </p:nvPr>
        </p:nvSpPr>
        <p:spPr>
          <a:xfrm>
            <a:off x="206376" y="990600"/>
            <a:ext cx="10820400" cy="5715000"/>
          </a:xfrm>
        </p:spPr>
        <p:txBody>
          <a:bodyPr>
            <a:noAutofit/>
          </a:bodyPr>
          <a:lstStyle/>
          <a:p>
            <a:pPr algn="just">
              <a:spcBef>
                <a:spcPts val="0"/>
              </a:spcBef>
            </a:pPr>
            <a:r>
              <a:rPr lang="en-US" sz="2100" dirty="0" smtClean="0"/>
              <a:t>The human sense of vision is unbelievably advanced. Within fractions of seconds, we can identify objects within our field of view, without thought or hesitation. </a:t>
            </a:r>
          </a:p>
          <a:p>
            <a:pPr algn="just">
              <a:spcBef>
                <a:spcPts val="0"/>
              </a:spcBef>
            </a:pPr>
            <a:r>
              <a:rPr lang="en-US" sz="2100" dirty="0" smtClean="0"/>
              <a:t>Not only can we name objects we are looking at, we can also perceive their depth, perfectly distinguish their contours, and separate the objects from their backgrounds. </a:t>
            </a:r>
          </a:p>
          <a:p>
            <a:pPr algn="just">
              <a:spcBef>
                <a:spcPts val="0"/>
              </a:spcBef>
            </a:pPr>
            <a:r>
              <a:rPr lang="en-US" sz="2100" dirty="0" smtClean="0"/>
              <a:t>Somehow our eyes take in raw </a:t>
            </a:r>
            <a:r>
              <a:rPr lang="en-US" sz="2100" dirty="0" err="1" smtClean="0"/>
              <a:t>voxels</a:t>
            </a:r>
            <a:r>
              <a:rPr lang="en-US" sz="2100" dirty="0" smtClean="0"/>
              <a:t> of color data, but our brain transforms that information into more meaningful primitives—lines, curves, and shapes—that might indicate, for example, that we’re looking at a house cat.</a:t>
            </a:r>
          </a:p>
          <a:p>
            <a:pPr algn="just">
              <a:spcBef>
                <a:spcPts val="0"/>
              </a:spcBef>
            </a:pPr>
            <a:r>
              <a:rPr lang="en-US" sz="2100" dirty="0" smtClean="0"/>
              <a:t>Foundational to the human sense of vision is the neuron. </a:t>
            </a:r>
          </a:p>
          <a:p>
            <a:pPr algn="just">
              <a:spcBef>
                <a:spcPts val="0"/>
              </a:spcBef>
            </a:pPr>
            <a:r>
              <a:rPr lang="en-US" sz="2100" dirty="0" smtClean="0"/>
              <a:t>Specialized neurons are responsible for capturing light information in the human eye.</a:t>
            </a:r>
          </a:p>
          <a:p>
            <a:pPr algn="just">
              <a:spcBef>
                <a:spcPts val="0"/>
              </a:spcBef>
            </a:pPr>
            <a:r>
              <a:rPr lang="en-US" sz="2100" dirty="0" smtClean="0"/>
              <a:t>This light information is then preprocessed, transported to the visual cortex of the brain, and then finally analyzed to completion. </a:t>
            </a:r>
          </a:p>
          <a:p>
            <a:pPr algn="just">
              <a:spcBef>
                <a:spcPts val="0"/>
              </a:spcBef>
            </a:pPr>
            <a:r>
              <a:rPr lang="en-US" sz="2100" dirty="0" smtClean="0"/>
              <a:t>Neurons are single-handedly responsible for all of these functions. </a:t>
            </a:r>
          </a:p>
          <a:p>
            <a:pPr algn="just">
              <a:spcBef>
                <a:spcPts val="0"/>
              </a:spcBef>
            </a:pPr>
            <a:r>
              <a:rPr lang="en-US" sz="2100" dirty="0" smtClean="0"/>
              <a:t>As a result, intuitively, it would make a lot of sense to extend our neural network models to build better computer vision systems. </a:t>
            </a:r>
          </a:p>
          <a:p>
            <a:pPr algn="just">
              <a:spcBef>
                <a:spcPts val="0"/>
              </a:spcBef>
            </a:pPr>
            <a:r>
              <a:rPr lang="en-US" sz="2100" dirty="0" smtClean="0"/>
              <a:t>In this chapter, we will use our understanding of human vision to build effective deep learning models for image problems. </a:t>
            </a:r>
          </a:p>
          <a:p>
            <a:pPr algn="just">
              <a:spcBef>
                <a:spcPts val="0"/>
              </a:spcBef>
            </a:pPr>
            <a:r>
              <a:rPr lang="en-US" sz="2100" dirty="0" smtClean="0"/>
              <a:t>But before we jump in, let’s take a look at more traditional approaches to image analysis and why they fall short.</a:t>
            </a:r>
            <a:endParaRPr lang="en-US" sz="21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658" y="76200"/>
            <a:ext cx="10109835" cy="914400"/>
          </a:xfrm>
        </p:spPr>
        <p:txBody>
          <a:bodyPr/>
          <a:lstStyle/>
          <a:p>
            <a:r>
              <a:rPr lang="en-US" dirty="0" smtClean="0"/>
              <a:t>The Shortcomings of Feature Selection </a:t>
            </a:r>
          </a:p>
        </p:txBody>
      </p:sp>
      <p:sp>
        <p:nvSpPr>
          <p:cNvPr id="3" name="Content Placeholder 2"/>
          <p:cNvSpPr>
            <a:spLocks noGrp="1"/>
          </p:cNvSpPr>
          <p:nvPr>
            <p:ph idx="1"/>
          </p:nvPr>
        </p:nvSpPr>
        <p:spPr>
          <a:xfrm>
            <a:off x="206375" y="838200"/>
            <a:ext cx="6477000" cy="5867400"/>
          </a:xfrm>
        </p:spPr>
        <p:txBody>
          <a:bodyPr>
            <a:noAutofit/>
          </a:bodyPr>
          <a:lstStyle/>
          <a:p>
            <a:pPr algn="just">
              <a:spcBef>
                <a:spcPts val="0"/>
              </a:spcBef>
            </a:pPr>
            <a:r>
              <a:rPr lang="en-US" sz="2100" dirty="0" smtClean="0"/>
              <a:t>Considering a simple computer vision problem. </a:t>
            </a:r>
          </a:p>
          <a:p>
            <a:pPr algn="just">
              <a:spcBef>
                <a:spcPts val="0"/>
              </a:spcBef>
            </a:pPr>
            <a:r>
              <a:rPr lang="en-US" sz="2100" dirty="0" smtClean="0"/>
              <a:t>A randomly selected image is given, such as the one in Figure 5-1. </a:t>
            </a:r>
          </a:p>
          <a:p>
            <a:pPr algn="just">
              <a:spcBef>
                <a:spcPts val="0"/>
              </a:spcBef>
            </a:pPr>
            <a:r>
              <a:rPr lang="en-US" sz="2100" dirty="0" smtClean="0"/>
              <a:t>Task is to tell me if there is a human face in this picture. </a:t>
            </a:r>
          </a:p>
          <a:p>
            <a:pPr algn="just">
              <a:spcBef>
                <a:spcPts val="0"/>
              </a:spcBef>
            </a:pPr>
            <a:r>
              <a:rPr lang="en-US" sz="2100" dirty="0" smtClean="0"/>
              <a:t>This is exactly the problem that Paul Viola and Michael Jones tackled in their seminal paper published in 2001.</a:t>
            </a:r>
          </a:p>
          <a:p>
            <a:pPr algn="just">
              <a:spcBef>
                <a:spcPts val="0"/>
              </a:spcBef>
            </a:pPr>
            <a:r>
              <a:rPr lang="en-US" sz="2100" dirty="0" smtClean="0"/>
              <a:t>For a human like you or me, this task is completely trivial. </a:t>
            </a:r>
          </a:p>
          <a:p>
            <a:pPr algn="just">
              <a:spcBef>
                <a:spcPts val="0"/>
              </a:spcBef>
            </a:pPr>
            <a:r>
              <a:rPr lang="en-US" sz="2100" dirty="0" smtClean="0"/>
              <a:t>For a computer, this is a very difficult problem. </a:t>
            </a:r>
          </a:p>
          <a:p>
            <a:pPr algn="just">
              <a:spcBef>
                <a:spcPts val="0"/>
              </a:spcBef>
            </a:pPr>
            <a:r>
              <a:rPr lang="en-US" sz="2100" dirty="0" smtClean="0"/>
              <a:t>How do we teach a computer that an image contains a face? </a:t>
            </a:r>
          </a:p>
          <a:p>
            <a:pPr algn="just">
              <a:spcBef>
                <a:spcPts val="0"/>
              </a:spcBef>
            </a:pPr>
            <a:r>
              <a:rPr lang="en-US" sz="2100" dirty="0" smtClean="0"/>
              <a:t>Try to train a traditional machine learning algorithm by giving it the raw pixel values of the image and hoping it can find an appropriate classifier.</a:t>
            </a:r>
          </a:p>
          <a:p>
            <a:r>
              <a:rPr lang="en-US" sz="2100" dirty="0" smtClean="0"/>
              <a:t>doesn’t work well because the signal-to-noise ratio is much too low for any useful learning to occur</a:t>
            </a:r>
          </a:p>
        </p:txBody>
      </p:sp>
      <p:pic>
        <p:nvPicPr>
          <p:cNvPr id="1026" name="Picture 2"/>
          <p:cNvPicPr>
            <a:picLocks noChangeAspect="1" noChangeArrowheads="1"/>
          </p:cNvPicPr>
          <p:nvPr/>
        </p:nvPicPr>
        <p:blipFill>
          <a:blip r:embed="rId2" cstate="print"/>
          <a:srcRect/>
          <a:stretch>
            <a:fillRect/>
          </a:stretch>
        </p:blipFill>
        <p:spPr bwMode="auto">
          <a:xfrm>
            <a:off x="7053262" y="990600"/>
            <a:ext cx="3211513" cy="3965575"/>
          </a:xfrm>
          <a:prstGeom prst="rect">
            <a:avLst/>
          </a:prstGeom>
          <a:noFill/>
          <a:ln w="9525">
            <a:noFill/>
            <a:miter lim="800000"/>
            <a:headEnd/>
            <a:tailEnd/>
          </a:ln>
        </p:spPr>
      </p:pic>
      <p:sp>
        <p:nvSpPr>
          <p:cNvPr id="5" name="Rectangle 4"/>
          <p:cNvSpPr/>
          <p:nvPr/>
        </p:nvSpPr>
        <p:spPr>
          <a:xfrm>
            <a:off x="6759576" y="5105400"/>
            <a:ext cx="4343399" cy="1200329"/>
          </a:xfrm>
          <a:prstGeom prst="rect">
            <a:avLst/>
          </a:prstGeom>
        </p:spPr>
        <p:txBody>
          <a:bodyPr wrap="square">
            <a:spAutoFit/>
          </a:bodyPr>
          <a:lstStyle/>
          <a:p>
            <a:pPr algn="just"/>
            <a:r>
              <a:rPr lang="en-US" i="1" dirty="0" smtClean="0"/>
              <a:t>Figure 5-1. A hypothetical face-recognition algorithm should detect a face in this photograph of former President Barack Obama</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175" y="76200"/>
            <a:ext cx="6858000" cy="5791200"/>
          </a:xfrm>
        </p:spPr>
        <p:txBody>
          <a:bodyPr>
            <a:noAutofit/>
          </a:bodyPr>
          <a:lstStyle/>
          <a:p>
            <a:pPr algn="just">
              <a:spcBef>
                <a:spcPts val="0"/>
              </a:spcBef>
            </a:pPr>
            <a:r>
              <a:rPr lang="en-US" sz="2300" dirty="0" smtClean="0"/>
              <a:t>A human would choose the features (perhaps hundreds or thousands) that he or she believed were important in making a classification decision. </a:t>
            </a:r>
          </a:p>
          <a:p>
            <a:pPr algn="just">
              <a:spcBef>
                <a:spcPts val="0"/>
              </a:spcBef>
            </a:pPr>
            <a:r>
              <a:rPr lang="en-US" sz="2300" dirty="0" smtClean="0"/>
              <a:t>The human would be producing a lower-dimensional representation of the same learning problem. </a:t>
            </a:r>
          </a:p>
          <a:p>
            <a:pPr algn="just">
              <a:spcBef>
                <a:spcPts val="0"/>
              </a:spcBef>
            </a:pPr>
            <a:r>
              <a:rPr lang="en-US" sz="2300" dirty="0" smtClean="0"/>
              <a:t>The machine learning algorithm would then use these new </a:t>
            </a:r>
            <a:r>
              <a:rPr lang="en-US" sz="2300" i="1" dirty="0" smtClean="0"/>
              <a:t>feature vectors to make classification decisions. </a:t>
            </a:r>
          </a:p>
          <a:p>
            <a:pPr algn="just">
              <a:spcBef>
                <a:spcPts val="0"/>
              </a:spcBef>
            </a:pPr>
            <a:r>
              <a:rPr lang="en-US" sz="2300" i="1" dirty="0" smtClean="0"/>
              <a:t>Because the feature extraction process </a:t>
            </a:r>
            <a:r>
              <a:rPr lang="en-US" sz="2300" dirty="0" smtClean="0"/>
              <a:t>improves the signal-to-noise ratio, this approach had quite a bit of success compared to the state of the art at the time.</a:t>
            </a:r>
          </a:p>
          <a:p>
            <a:pPr algn="just">
              <a:spcBef>
                <a:spcPts val="0"/>
              </a:spcBef>
            </a:pPr>
            <a:r>
              <a:rPr lang="en-US" sz="2300" dirty="0" smtClean="0"/>
              <a:t>Viola and Jones had the insight that faces had certain patterns of light and dark patches that they could exploit. </a:t>
            </a:r>
          </a:p>
          <a:p>
            <a:pPr algn="just">
              <a:spcBef>
                <a:spcPts val="0"/>
              </a:spcBef>
            </a:pPr>
            <a:r>
              <a:rPr lang="en-US" sz="2300" dirty="0" smtClean="0"/>
              <a:t>Ex: There is a difference in light intensity between the eye region and the upper cheeks. </a:t>
            </a:r>
          </a:p>
        </p:txBody>
      </p:sp>
      <p:pic>
        <p:nvPicPr>
          <p:cNvPr id="2050" name="Picture 2"/>
          <p:cNvPicPr>
            <a:picLocks noChangeAspect="1" noChangeArrowheads="1"/>
          </p:cNvPicPr>
          <p:nvPr/>
        </p:nvPicPr>
        <p:blipFill>
          <a:blip r:embed="rId2" cstate="print"/>
          <a:srcRect/>
          <a:stretch>
            <a:fillRect/>
          </a:stretch>
        </p:blipFill>
        <p:spPr bwMode="auto">
          <a:xfrm>
            <a:off x="7042150" y="0"/>
            <a:ext cx="4191000" cy="4468813"/>
          </a:xfrm>
          <a:prstGeom prst="rect">
            <a:avLst/>
          </a:prstGeom>
          <a:noFill/>
          <a:ln w="9525">
            <a:noFill/>
            <a:miter lim="800000"/>
            <a:headEnd/>
            <a:tailEnd/>
          </a:ln>
        </p:spPr>
      </p:pic>
      <p:sp>
        <p:nvSpPr>
          <p:cNvPr id="5" name="Rectangle 4"/>
          <p:cNvSpPr/>
          <p:nvPr/>
        </p:nvSpPr>
        <p:spPr>
          <a:xfrm>
            <a:off x="7369175" y="4953000"/>
            <a:ext cx="3863975" cy="646331"/>
          </a:xfrm>
          <a:prstGeom prst="rect">
            <a:avLst/>
          </a:prstGeom>
        </p:spPr>
        <p:txBody>
          <a:bodyPr wrap="square">
            <a:spAutoFit/>
          </a:bodyPr>
          <a:lstStyle/>
          <a:p>
            <a:r>
              <a:rPr lang="en-US" b="1" dirty="0" smtClean="0"/>
              <a:t>Figure 5-2. An illustration of Viola-Jones intensity detectors</a:t>
            </a:r>
            <a:endParaRPr lang="en-US" b="1" dirty="0"/>
          </a:p>
        </p:txBody>
      </p:sp>
      <p:sp>
        <p:nvSpPr>
          <p:cNvPr id="6" name="Rectangle 5"/>
          <p:cNvSpPr/>
          <p:nvPr/>
        </p:nvSpPr>
        <p:spPr>
          <a:xfrm>
            <a:off x="282575" y="5906869"/>
            <a:ext cx="10668000" cy="830997"/>
          </a:xfrm>
          <a:prstGeom prst="rect">
            <a:avLst/>
          </a:prstGeom>
        </p:spPr>
        <p:txBody>
          <a:bodyPr wrap="square">
            <a:spAutoFit/>
          </a:bodyPr>
          <a:lstStyle/>
          <a:p>
            <a:pPr algn="just">
              <a:spcBef>
                <a:spcPts val="0"/>
              </a:spcBef>
            </a:pPr>
            <a:r>
              <a:rPr lang="en-US" sz="2400" dirty="0" smtClean="0"/>
              <a:t>There is also a difference in light intensity between the nose bridge and the two eyes on either side.  These detectors are shown in Figure 5-2.</a:t>
            </a:r>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228600"/>
            <a:ext cx="10820400" cy="6400800"/>
          </a:xfrm>
        </p:spPr>
        <p:txBody>
          <a:bodyPr>
            <a:normAutofit fontScale="92500"/>
          </a:bodyPr>
          <a:lstStyle/>
          <a:p>
            <a:pPr algn="just"/>
            <a:r>
              <a:rPr lang="en-US" sz="2400" dirty="0" smtClean="0"/>
              <a:t>By themselves, each of these features is not very effective at identifying a face. </a:t>
            </a:r>
          </a:p>
          <a:p>
            <a:pPr algn="just"/>
            <a:r>
              <a:rPr lang="en-US" sz="2400" dirty="0" smtClean="0"/>
              <a:t>But when used together their combined effectiveness drastically increases. </a:t>
            </a:r>
          </a:p>
          <a:p>
            <a:pPr algn="just"/>
            <a:r>
              <a:rPr lang="en-US" sz="2400" dirty="0" smtClean="0"/>
              <a:t>On a dataset of 130 images and 507 faces, the algorithm achieves a 91.4% detection rate with 50 false positives.</a:t>
            </a:r>
          </a:p>
          <a:p>
            <a:pPr algn="just">
              <a:buNone/>
            </a:pPr>
            <a:r>
              <a:rPr lang="en-US" sz="2400" b="1" dirty="0" smtClean="0"/>
              <a:t>DEEP NEURAL NETWORKS</a:t>
            </a:r>
          </a:p>
          <a:p>
            <a:pPr algn="just"/>
            <a:r>
              <a:rPr lang="en-US" sz="2400" dirty="0" smtClean="0"/>
              <a:t>The fundamental goal in applying deep learning to computer vision is to remove the cumbersome, and ultimately limiting, feature selection process. </a:t>
            </a:r>
          </a:p>
          <a:p>
            <a:pPr algn="just"/>
            <a:r>
              <a:rPr lang="en-US" sz="2400" dirty="0" smtClean="0"/>
              <a:t>Deep neural networks are perfect for this process because each layer of a neural network is responsible for learning and building up features to represent the input data that it receives. </a:t>
            </a:r>
          </a:p>
          <a:p>
            <a:r>
              <a:rPr lang="en-US" sz="2400" dirty="0" smtClean="0"/>
              <a:t>MNIST dataset to achieve the image classification task. </a:t>
            </a:r>
          </a:p>
          <a:p>
            <a:r>
              <a:rPr lang="en-US" sz="2400" dirty="0" smtClean="0"/>
              <a:t>In MNIST, our images were only 28 x 28 pixels and were black and white. </a:t>
            </a:r>
          </a:p>
          <a:p>
            <a:r>
              <a:rPr lang="en-US" sz="2400" dirty="0" smtClean="0"/>
              <a:t>As a result, a neuron in a fully connected hidden layer would have 784 incoming weights. </a:t>
            </a:r>
          </a:p>
          <a:p>
            <a:r>
              <a:rPr lang="en-US" sz="2400" dirty="0" smtClean="0"/>
              <a:t>This technique, does not scale well as our images grow larger. </a:t>
            </a:r>
          </a:p>
          <a:p>
            <a:r>
              <a:rPr lang="en-US" sz="2400" dirty="0" smtClean="0"/>
              <a:t>Ex:  For a full-color 200 x 200 pixel image, our input layer would have 200 x 200x 3 = 120,000 weights.</a:t>
            </a:r>
            <a:endParaRPr lang="en-US" sz="24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228600"/>
            <a:ext cx="5791199" cy="6400799"/>
          </a:xfrm>
        </p:spPr>
        <p:txBody>
          <a:bodyPr>
            <a:normAutofit/>
          </a:bodyPr>
          <a:lstStyle/>
          <a:p>
            <a:pPr algn="just"/>
            <a:r>
              <a:rPr lang="en-US" sz="2400" dirty="0" smtClean="0"/>
              <a:t>The </a:t>
            </a:r>
            <a:r>
              <a:rPr lang="en-US" sz="2400" dirty="0" err="1" smtClean="0"/>
              <a:t>convolutional</a:t>
            </a:r>
            <a:r>
              <a:rPr lang="en-US" sz="2400" dirty="0" smtClean="0"/>
              <a:t> network takes advantage of the fact that we’re analyzing images, and sensibly constrains the architecture of the deep network so that we drastically reduce the number of parameters in our model. </a:t>
            </a:r>
          </a:p>
          <a:p>
            <a:pPr algn="just"/>
            <a:r>
              <a:rPr lang="en-US" sz="2400" dirty="0" smtClean="0"/>
              <a:t>Inspired by how human vision works, layers of a </a:t>
            </a:r>
            <a:r>
              <a:rPr lang="en-US" sz="2400" dirty="0" err="1" smtClean="0"/>
              <a:t>convolutional</a:t>
            </a:r>
            <a:r>
              <a:rPr lang="en-US" sz="2400" dirty="0" smtClean="0"/>
              <a:t> network have neurons arranged in three dimensions, so layers have a width, height, and depth, as shown in Figure 5-4.7</a:t>
            </a:r>
          </a:p>
          <a:p>
            <a:pPr algn="just"/>
            <a:r>
              <a:rPr lang="en-US" sz="2400" dirty="0" smtClean="0"/>
              <a:t>A </a:t>
            </a:r>
            <a:r>
              <a:rPr lang="en-US" sz="2400" dirty="0" err="1" smtClean="0"/>
              <a:t>convolutional</a:t>
            </a:r>
            <a:r>
              <a:rPr lang="en-US" sz="2400" dirty="0" smtClean="0"/>
              <a:t> layer’s function can be expressed simply: it processes a three-dimensional volume of information to produce a new three-dimensional volume of information.</a:t>
            </a:r>
          </a:p>
        </p:txBody>
      </p:sp>
      <p:pic>
        <p:nvPicPr>
          <p:cNvPr id="3074" name="Picture 2"/>
          <p:cNvPicPr>
            <a:picLocks noChangeAspect="1" noChangeArrowheads="1"/>
          </p:cNvPicPr>
          <p:nvPr/>
        </p:nvPicPr>
        <p:blipFill>
          <a:blip r:embed="rId2" cstate="print"/>
          <a:srcRect/>
          <a:stretch>
            <a:fillRect/>
          </a:stretch>
        </p:blipFill>
        <p:spPr bwMode="auto">
          <a:xfrm>
            <a:off x="6149975" y="0"/>
            <a:ext cx="4751387" cy="3406775"/>
          </a:xfrm>
          <a:prstGeom prst="rect">
            <a:avLst/>
          </a:prstGeom>
          <a:noFill/>
          <a:ln w="9525">
            <a:noFill/>
            <a:miter lim="800000"/>
            <a:headEnd/>
            <a:tailEnd/>
          </a:ln>
        </p:spPr>
      </p:pic>
      <p:sp>
        <p:nvSpPr>
          <p:cNvPr id="5" name="Rectangle 4"/>
          <p:cNvSpPr/>
          <p:nvPr/>
        </p:nvSpPr>
        <p:spPr>
          <a:xfrm>
            <a:off x="6454776" y="3505200"/>
            <a:ext cx="4191000" cy="923330"/>
          </a:xfrm>
          <a:prstGeom prst="rect">
            <a:avLst/>
          </a:prstGeom>
        </p:spPr>
        <p:txBody>
          <a:bodyPr wrap="square">
            <a:spAutoFit/>
          </a:bodyPr>
          <a:lstStyle/>
          <a:p>
            <a:pPr algn="just"/>
            <a:r>
              <a:rPr lang="en-US" b="1" dirty="0" smtClean="0"/>
              <a:t>Figure 5-4. </a:t>
            </a:r>
            <a:r>
              <a:rPr lang="en-US" b="1" dirty="0" err="1" smtClean="0"/>
              <a:t>Convolutional</a:t>
            </a:r>
            <a:r>
              <a:rPr lang="en-US" b="1" dirty="0" smtClean="0"/>
              <a:t> layers arrange neurons in three dimensions, so layers have width, height, and depth</a:t>
            </a:r>
            <a:endParaRPr lang="en-US"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658" y="76200"/>
            <a:ext cx="10109835" cy="685800"/>
          </a:xfrm>
        </p:spPr>
        <p:txBody>
          <a:bodyPr>
            <a:normAutofit fontScale="90000"/>
          </a:bodyPr>
          <a:lstStyle/>
          <a:p>
            <a:r>
              <a:rPr lang="en-US" dirty="0" smtClean="0"/>
              <a:t>Full Description of the </a:t>
            </a:r>
            <a:r>
              <a:rPr lang="en-US" dirty="0" err="1" smtClean="0"/>
              <a:t>Convolutional</a:t>
            </a:r>
            <a:r>
              <a:rPr lang="en-US" dirty="0" smtClean="0"/>
              <a:t> Layer</a:t>
            </a:r>
            <a:endParaRPr lang="en-US" dirty="0"/>
          </a:p>
        </p:txBody>
      </p:sp>
      <p:sp>
        <p:nvSpPr>
          <p:cNvPr id="3" name="Content Placeholder 2"/>
          <p:cNvSpPr>
            <a:spLocks noGrp="1"/>
          </p:cNvSpPr>
          <p:nvPr>
            <p:ph idx="1"/>
          </p:nvPr>
        </p:nvSpPr>
        <p:spPr>
          <a:xfrm>
            <a:off x="206375" y="762000"/>
            <a:ext cx="10820399" cy="5867399"/>
          </a:xfrm>
        </p:spPr>
        <p:txBody>
          <a:bodyPr>
            <a:normAutofit fontScale="70000" lnSpcReduction="20000"/>
          </a:bodyPr>
          <a:lstStyle/>
          <a:p>
            <a:pPr algn="just"/>
            <a:r>
              <a:rPr lang="en-US" dirty="0" smtClean="0"/>
              <a:t>First, a </a:t>
            </a:r>
            <a:r>
              <a:rPr lang="en-US" dirty="0" err="1" smtClean="0"/>
              <a:t>convolutional</a:t>
            </a:r>
            <a:r>
              <a:rPr lang="en-US" dirty="0" smtClean="0"/>
              <a:t> layer takes in an input volume. </a:t>
            </a:r>
          </a:p>
          <a:p>
            <a:pPr algn="just"/>
            <a:r>
              <a:rPr lang="en-US" dirty="0" smtClean="0"/>
              <a:t>This input volume has the following characteristics:</a:t>
            </a:r>
          </a:p>
          <a:p>
            <a:pPr indent="290513" algn="just">
              <a:buNone/>
            </a:pPr>
            <a:r>
              <a:rPr lang="en-US" dirty="0" smtClean="0"/>
              <a:t>• Its </a:t>
            </a:r>
            <a:r>
              <a:rPr lang="en-US" i="1" dirty="0" smtClean="0"/>
              <a:t>width win</a:t>
            </a:r>
          </a:p>
          <a:p>
            <a:pPr indent="290513" algn="just">
              <a:buNone/>
            </a:pPr>
            <a:r>
              <a:rPr lang="en-US" dirty="0" smtClean="0"/>
              <a:t>• Its </a:t>
            </a:r>
            <a:r>
              <a:rPr lang="en-US" i="1" dirty="0" smtClean="0"/>
              <a:t>height </a:t>
            </a:r>
            <a:r>
              <a:rPr lang="en-US" i="1" dirty="0" err="1" smtClean="0"/>
              <a:t>hin</a:t>
            </a:r>
            <a:endParaRPr lang="en-US" i="1" dirty="0" smtClean="0"/>
          </a:p>
          <a:p>
            <a:pPr indent="290513" algn="just">
              <a:buNone/>
            </a:pPr>
            <a:r>
              <a:rPr lang="en-US" dirty="0" smtClean="0"/>
              <a:t>• Its </a:t>
            </a:r>
            <a:r>
              <a:rPr lang="en-US" i="1" dirty="0" smtClean="0"/>
              <a:t>depth din</a:t>
            </a:r>
          </a:p>
          <a:p>
            <a:pPr indent="290513" algn="just">
              <a:buNone/>
            </a:pPr>
            <a:r>
              <a:rPr lang="en-US" dirty="0" smtClean="0"/>
              <a:t>• Its </a:t>
            </a:r>
            <a:r>
              <a:rPr lang="en-US" i="1" dirty="0" smtClean="0"/>
              <a:t>zero padding p</a:t>
            </a:r>
          </a:p>
          <a:p>
            <a:pPr algn="just"/>
            <a:r>
              <a:rPr lang="en-US" dirty="0" smtClean="0"/>
              <a:t>This volume is processed by a total of </a:t>
            </a:r>
            <a:r>
              <a:rPr lang="en-US" i="1" dirty="0" smtClean="0"/>
              <a:t>k filters, which represent the weights and connections </a:t>
            </a:r>
            <a:r>
              <a:rPr lang="en-US" dirty="0" smtClean="0"/>
              <a:t>in the </a:t>
            </a:r>
            <a:r>
              <a:rPr lang="en-US" dirty="0" err="1" smtClean="0"/>
              <a:t>convolutional</a:t>
            </a:r>
            <a:r>
              <a:rPr lang="en-US" dirty="0" smtClean="0"/>
              <a:t> network. </a:t>
            </a:r>
          </a:p>
          <a:p>
            <a:pPr algn="just"/>
            <a:r>
              <a:rPr lang="en-US" dirty="0" smtClean="0"/>
              <a:t>These filters have a number of hyper parameters, which are described as follows:</a:t>
            </a:r>
          </a:p>
          <a:p>
            <a:pPr indent="11113" algn="just">
              <a:buNone/>
            </a:pPr>
            <a:r>
              <a:rPr lang="en-US" dirty="0" smtClean="0"/>
              <a:t>• Their </a:t>
            </a:r>
            <a:r>
              <a:rPr lang="en-US" i="1" dirty="0" smtClean="0"/>
              <a:t>spatial extent e, which is equal to the filter’s height and width.</a:t>
            </a:r>
          </a:p>
          <a:p>
            <a:pPr indent="11113" algn="just">
              <a:buNone/>
            </a:pPr>
            <a:r>
              <a:rPr lang="en-US" dirty="0" smtClean="0"/>
              <a:t>• Their </a:t>
            </a:r>
            <a:r>
              <a:rPr lang="en-US" i="1" dirty="0" smtClean="0"/>
              <a:t>stride s, or the distance between consecutive applications of the filter on the</a:t>
            </a:r>
          </a:p>
          <a:p>
            <a:pPr algn="just">
              <a:buNone/>
            </a:pPr>
            <a:r>
              <a:rPr lang="en-US" dirty="0" smtClean="0"/>
              <a:t>          input volume. </a:t>
            </a:r>
          </a:p>
          <a:p>
            <a:pPr algn="just"/>
            <a:r>
              <a:rPr lang="en-US" dirty="0" smtClean="0"/>
              <a:t>If we use a stride of 1, we get the full convolution described in the previous section. </a:t>
            </a:r>
          </a:p>
          <a:p>
            <a:pPr algn="just"/>
            <a:r>
              <a:rPr lang="en-US" dirty="0" smtClean="0"/>
              <a:t>We illustrate this in Figure 5-10.</a:t>
            </a:r>
          </a:p>
          <a:p>
            <a:pPr algn="just">
              <a:buNone/>
            </a:pPr>
            <a:r>
              <a:rPr lang="en-US" dirty="0" smtClean="0"/>
              <a:t>     • The bias </a:t>
            </a:r>
            <a:r>
              <a:rPr lang="en-US" i="1" dirty="0" smtClean="0"/>
              <a:t>b (a parameter learned like the values in the filter) which is added to </a:t>
            </a:r>
            <a:r>
              <a:rPr lang="en-US" dirty="0" smtClean="0"/>
              <a:t>each component of the convolution.</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304801"/>
            <a:ext cx="5029199" cy="5333999"/>
          </a:xfrm>
        </p:spPr>
        <p:txBody>
          <a:bodyPr>
            <a:noAutofit/>
          </a:bodyPr>
          <a:lstStyle/>
          <a:p>
            <a:pPr algn="just"/>
            <a:r>
              <a:rPr lang="en-US" sz="2400" dirty="0" smtClean="0"/>
              <a:t>This results in an output volume with the following characteristics:</a:t>
            </a:r>
          </a:p>
          <a:p>
            <a:pPr algn="just">
              <a:buNone/>
            </a:pPr>
            <a:r>
              <a:rPr lang="en-US" sz="2400" dirty="0" smtClean="0"/>
              <a:t>   • Its function f , which is applied to the incoming </a:t>
            </a:r>
            <a:r>
              <a:rPr lang="en-US" sz="2400" dirty="0" err="1" smtClean="0"/>
              <a:t>logit</a:t>
            </a:r>
            <a:r>
              <a:rPr lang="en-US" sz="2400" dirty="0" smtClean="0"/>
              <a:t> of each neuron in the output volume to determine its final value. </a:t>
            </a:r>
          </a:p>
          <a:p>
            <a:r>
              <a:rPr lang="en-US" sz="2400" dirty="0" smtClean="0"/>
              <a:t>The </a:t>
            </a:r>
            <a:r>
              <a:rPr lang="en-US" sz="2400" dirty="0" err="1" smtClean="0"/>
              <a:t>m</a:t>
            </a:r>
            <a:r>
              <a:rPr lang="en-US" sz="2400" baseline="30000" dirty="0" err="1" smtClean="0"/>
              <a:t>th</a:t>
            </a:r>
            <a:r>
              <a:rPr lang="en-US" sz="2400" dirty="0" smtClean="0"/>
              <a:t> “depth slice” of the output volume, where 1 ≤ m ≤ k, corresponds to the function f applied to the sum of the </a:t>
            </a:r>
            <a:r>
              <a:rPr lang="en-US" sz="2400" dirty="0" err="1" smtClean="0"/>
              <a:t>m</a:t>
            </a:r>
            <a:r>
              <a:rPr lang="en-US" sz="2400" baseline="30000" dirty="0" err="1" smtClean="0"/>
              <a:t>th</a:t>
            </a:r>
            <a:r>
              <a:rPr lang="en-US" sz="2400" dirty="0" smtClean="0"/>
              <a:t> filter convoluted over the input volume and the bias b</a:t>
            </a:r>
            <a:r>
              <a:rPr lang="en-US" sz="2400" baseline="30000" dirty="0" smtClean="0"/>
              <a:t>m</a:t>
            </a:r>
            <a:r>
              <a:rPr lang="en-US" sz="2400" dirty="0" smtClean="0"/>
              <a:t>. </a:t>
            </a:r>
          </a:p>
          <a:p>
            <a:r>
              <a:rPr lang="en-US" sz="2400" dirty="0" smtClean="0"/>
              <a:t>This means that per filter, we have d</a:t>
            </a:r>
            <a:r>
              <a:rPr lang="en-US" sz="2400" baseline="-25000" dirty="0" smtClean="0"/>
              <a:t>in</a:t>
            </a:r>
            <a:r>
              <a:rPr lang="en-US" sz="2400" dirty="0" smtClean="0"/>
              <a:t>e</a:t>
            </a:r>
            <a:r>
              <a:rPr lang="en-US" sz="2400" baseline="30000" dirty="0" smtClean="0"/>
              <a:t>2</a:t>
            </a:r>
            <a:r>
              <a:rPr lang="en-US" sz="2400" dirty="0" smtClean="0"/>
              <a:t> parameters.</a:t>
            </a:r>
            <a:endParaRPr lang="en-US" sz="2400" dirty="0"/>
          </a:p>
        </p:txBody>
      </p:sp>
      <p:pic>
        <p:nvPicPr>
          <p:cNvPr id="4098" name="Picture 2"/>
          <p:cNvPicPr>
            <a:picLocks noChangeAspect="1" noChangeArrowheads="1"/>
          </p:cNvPicPr>
          <p:nvPr/>
        </p:nvPicPr>
        <p:blipFill>
          <a:blip r:embed="rId2" cstate="print"/>
          <a:srcRect/>
          <a:stretch>
            <a:fillRect/>
          </a:stretch>
        </p:blipFill>
        <p:spPr bwMode="auto">
          <a:xfrm>
            <a:off x="5387975" y="0"/>
            <a:ext cx="5845175" cy="3417887"/>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5692775" y="3657600"/>
            <a:ext cx="3733800" cy="762000"/>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5692775" y="4648200"/>
            <a:ext cx="4038600" cy="879475"/>
          </a:xfrm>
          <a:prstGeom prst="rect">
            <a:avLst/>
          </a:prstGeom>
          <a:noFill/>
          <a:ln w="9525">
            <a:noFill/>
            <a:miter lim="800000"/>
            <a:headEnd/>
            <a:tailEnd/>
          </a:ln>
        </p:spPr>
      </p:pic>
      <p:sp>
        <p:nvSpPr>
          <p:cNvPr id="7" name="Rectangle 6"/>
          <p:cNvSpPr/>
          <p:nvPr/>
        </p:nvSpPr>
        <p:spPr>
          <a:xfrm>
            <a:off x="152400" y="5657671"/>
            <a:ext cx="10874375" cy="1200329"/>
          </a:xfrm>
          <a:prstGeom prst="rect">
            <a:avLst/>
          </a:prstGeom>
        </p:spPr>
        <p:txBody>
          <a:bodyPr wrap="square">
            <a:spAutoFit/>
          </a:bodyPr>
          <a:lstStyle/>
          <a:p>
            <a:r>
              <a:rPr lang="en-US" sz="2400" dirty="0" smtClean="0"/>
              <a:t>The layer has </a:t>
            </a:r>
            <a:r>
              <a:rPr lang="en-US" sz="2400" i="1" dirty="0" smtClean="0"/>
              <a:t>kd</a:t>
            </a:r>
            <a:r>
              <a:rPr lang="en-US" sz="2400" i="1" baseline="-25000" dirty="0" smtClean="0"/>
              <a:t>in</a:t>
            </a:r>
            <a:r>
              <a:rPr lang="en-US" sz="2400" i="1" dirty="0" smtClean="0"/>
              <a:t>e</a:t>
            </a:r>
            <a:r>
              <a:rPr lang="en-US" sz="2400" i="1" baseline="30000" dirty="0" smtClean="0"/>
              <a:t>2</a:t>
            </a:r>
            <a:r>
              <a:rPr lang="en-US" sz="2400" i="1" dirty="0" smtClean="0"/>
              <a:t> parameters and k biases. </a:t>
            </a:r>
          </a:p>
          <a:p>
            <a:r>
              <a:rPr lang="en-US" sz="2400" i="1" dirty="0" smtClean="0"/>
              <a:t>To demonstrate this in </a:t>
            </a:r>
            <a:r>
              <a:rPr lang="en-US" sz="2400" dirty="0" smtClean="0"/>
              <a:t>action, we provide an example of a </a:t>
            </a:r>
            <a:r>
              <a:rPr lang="en-US" sz="2400" dirty="0" err="1" smtClean="0"/>
              <a:t>convolutional</a:t>
            </a:r>
            <a:r>
              <a:rPr lang="en-US" sz="2400" dirty="0" smtClean="0"/>
              <a:t> layer in Figure 5-11 and Figure 5-12. </a:t>
            </a:r>
            <a:endParaRPr 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228601"/>
            <a:ext cx="3657599" cy="2971799"/>
          </a:xfrm>
        </p:spPr>
        <p:txBody>
          <a:bodyPr>
            <a:normAutofit fontScale="70000" lnSpcReduction="20000"/>
          </a:bodyPr>
          <a:lstStyle/>
          <a:p>
            <a:pPr algn="just"/>
            <a:r>
              <a:rPr lang="en-US" dirty="0" smtClean="0"/>
              <a:t>with a 5 x 5 x 3 input volume with zero padding </a:t>
            </a:r>
            <a:r>
              <a:rPr lang="en-US" i="1" dirty="0" smtClean="0"/>
              <a:t>p = 1. We’ll use two 3 x 3 x 3 filters </a:t>
            </a:r>
            <a:r>
              <a:rPr lang="en-US" dirty="0" smtClean="0"/>
              <a:t>(spatial extent ) with a stride </a:t>
            </a:r>
            <a:r>
              <a:rPr lang="en-US" i="1" dirty="0" smtClean="0"/>
              <a:t>s = 2. </a:t>
            </a:r>
          </a:p>
          <a:p>
            <a:pPr algn="just"/>
            <a:r>
              <a:rPr lang="en-US" i="1" dirty="0" smtClean="0"/>
              <a:t>We’ll use a linear function to produce the output </a:t>
            </a:r>
            <a:r>
              <a:rPr lang="en-US" dirty="0" smtClean="0"/>
              <a:t>volume, which will be of size 3 x 3 x 2.</a:t>
            </a:r>
            <a:endParaRPr lang="en-US" dirty="0"/>
          </a:p>
        </p:txBody>
      </p:sp>
      <p:sp>
        <p:nvSpPr>
          <p:cNvPr id="4" name="Rectangle 3"/>
          <p:cNvSpPr/>
          <p:nvPr/>
        </p:nvSpPr>
        <p:spPr>
          <a:xfrm>
            <a:off x="130175" y="3200400"/>
            <a:ext cx="3810000" cy="3693319"/>
          </a:xfrm>
          <a:prstGeom prst="rect">
            <a:avLst/>
          </a:prstGeom>
        </p:spPr>
        <p:txBody>
          <a:bodyPr wrap="square">
            <a:spAutoFit/>
          </a:bodyPr>
          <a:lstStyle/>
          <a:p>
            <a:pPr algn="just"/>
            <a:r>
              <a:rPr lang="en-US" b="1" i="1" dirty="0" smtClean="0"/>
              <a:t>Figure 5-11. This is a </a:t>
            </a:r>
            <a:r>
              <a:rPr lang="en-US" b="1" i="1" dirty="0" err="1" smtClean="0"/>
              <a:t>convolutional</a:t>
            </a:r>
            <a:r>
              <a:rPr lang="en-US" b="1" i="1" dirty="0" smtClean="0"/>
              <a:t> layer with an input volume that has width 5, height 5, depth 3, and zero padding 1. </a:t>
            </a:r>
          </a:p>
          <a:p>
            <a:pPr algn="just"/>
            <a:r>
              <a:rPr lang="en-US" b="1" i="1" dirty="0" smtClean="0"/>
              <a:t>There are 2 filters, with spatial extent 3 and applied with a stride of 2. </a:t>
            </a:r>
          </a:p>
          <a:p>
            <a:pPr algn="just"/>
            <a:r>
              <a:rPr lang="en-US" b="1" i="1" dirty="0" smtClean="0"/>
              <a:t>It results in an output volume with width 3, height 3, and depth 2. </a:t>
            </a:r>
          </a:p>
          <a:p>
            <a:pPr algn="just"/>
            <a:r>
              <a:rPr lang="en-US" b="1" i="1" dirty="0" smtClean="0"/>
              <a:t>We apply the first </a:t>
            </a:r>
            <a:r>
              <a:rPr lang="en-US" b="1" i="1" dirty="0" err="1" smtClean="0"/>
              <a:t>convolutional</a:t>
            </a:r>
            <a:r>
              <a:rPr lang="en-US" b="1" i="1" dirty="0" smtClean="0"/>
              <a:t> filter to the upper-leftmost 3 x 3 piece of the input volume to generate the upper-leftmost entry of the first depth slice.</a:t>
            </a:r>
            <a:endParaRPr lang="en-US" b="1" dirty="0"/>
          </a:p>
        </p:txBody>
      </p:sp>
      <p:pic>
        <p:nvPicPr>
          <p:cNvPr id="1026" name="Picture 2"/>
          <p:cNvPicPr>
            <a:picLocks noChangeAspect="1" noChangeArrowheads="1"/>
          </p:cNvPicPr>
          <p:nvPr/>
        </p:nvPicPr>
        <p:blipFill>
          <a:blip r:embed="rId2" cstate="print"/>
          <a:srcRect/>
          <a:stretch>
            <a:fillRect/>
          </a:stretch>
        </p:blipFill>
        <p:spPr bwMode="auto">
          <a:xfrm>
            <a:off x="4092575" y="381000"/>
            <a:ext cx="6905625" cy="647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6" y="457200"/>
            <a:ext cx="4343399" cy="6172199"/>
          </a:xfrm>
        </p:spPr>
        <p:txBody>
          <a:bodyPr>
            <a:normAutofit fontScale="62500" lnSpcReduction="20000"/>
          </a:bodyPr>
          <a:lstStyle/>
          <a:p>
            <a:pPr algn="just"/>
            <a:r>
              <a:rPr lang="en-US" dirty="0" smtClean="0"/>
              <a:t>Generally, it’s wise to keep filter sizes small (size 3 x 3 or 5 x 5). Less commonly, larger sizes are used (7 x 7) but only in the first </a:t>
            </a:r>
            <a:r>
              <a:rPr lang="en-US" dirty="0" err="1" smtClean="0"/>
              <a:t>convolutional</a:t>
            </a:r>
            <a:r>
              <a:rPr lang="en-US" dirty="0" smtClean="0"/>
              <a:t> layer. </a:t>
            </a:r>
          </a:p>
          <a:p>
            <a:pPr algn="just"/>
            <a:r>
              <a:rPr lang="en-US" dirty="0" smtClean="0"/>
              <a:t>Having more small filters is an easy way to achieve high representational power while also incurring a smaller number of parameters. </a:t>
            </a:r>
          </a:p>
          <a:p>
            <a:pPr algn="just"/>
            <a:r>
              <a:rPr lang="en-US" dirty="0" smtClean="0"/>
              <a:t>It’s also suggested to use a stride of 1 to capture all useful information in the feature maps, and a zero padding that keeps the output volume’s height and width equivalent to the input volume’s height and width.</a:t>
            </a:r>
          </a:p>
          <a:p>
            <a:pPr algn="just"/>
            <a:r>
              <a:rPr lang="en-US" dirty="0" err="1" smtClean="0"/>
              <a:t>TensorFlow</a:t>
            </a:r>
            <a:r>
              <a:rPr lang="en-US" dirty="0" smtClean="0"/>
              <a:t> provides us with a convenient operation to easily perform a convolution on a </a:t>
            </a:r>
            <a:r>
              <a:rPr lang="en-US" dirty="0" err="1" smtClean="0"/>
              <a:t>minibatch</a:t>
            </a:r>
            <a:r>
              <a:rPr lang="en-US" dirty="0" smtClean="0"/>
              <a:t> of input volumes (note that we must apply our choice of function </a:t>
            </a:r>
            <a:r>
              <a:rPr lang="en-US" i="1" dirty="0" smtClean="0"/>
              <a:t>f ourselves and it is not performed by the operation itself):</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4625975" y="457200"/>
            <a:ext cx="6400800" cy="5410200"/>
          </a:xfrm>
          <a:prstGeom prst="rect">
            <a:avLst/>
          </a:prstGeom>
          <a:noFill/>
          <a:ln w="9525">
            <a:noFill/>
            <a:miter lim="800000"/>
            <a:headEnd/>
            <a:tailEnd/>
          </a:ln>
        </p:spPr>
      </p:pic>
      <p:sp>
        <p:nvSpPr>
          <p:cNvPr id="5" name="Rectangle 4"/>
          <p:cNvSpPr/>
          <p:nvPr/>
        </p:nvSpPr>
        <p:spPr>
          <a:xfrm>
            <a:off x="4702175" y="5934670"/>
            <a:ext cx="6530975" cy="646331"/>
          </a:xfrm>
          <a:prstGeom prst="rect">
            <a:avLst/>
          </a:prstGeom>
        </p:spPr>
        <p:txBody>
          <a:bodyPr wrap="square">
            <a:spAutoFit/>
          </a:bodyPr>
          <a:lstStyle/>
          <a:p>
            <a:r>
              <a:rPr lang="en-US" b="1" i="1" dirty="0" smtClean="0"/>
              <a:t>Figure 5-12. Using the same setup as Figure 5-11, we generate the next value in the first depth slice of the output volume.</a:t>
            </a:r>
            <a:endParaRPr lang="en-US"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658" y="274638"/>
            <a:ext cx="10109835" cy="792162"/>
          </a:xfrm>
        </p:spPr>
        <p:txBody>
          <a:bodyPr/>
          <a:lstStyle/>
          <a:p>
            <a:r>
              <a:rPr lang="en-US" dirty="0" smtClean="0"/>
              <a:t>Max Pooling</a:t>
            </a:r>
            <a:endParaRPr lang="en-US" dirty="0"/>
          </a:p>
        </p:txBody>
      </p:sp>
      <p:sp>
        <p:nvSpPr>
          <p:cNvPr id="3" name="Content Placeholder 2"/>
          <p:cNvSpPr>
            <a:spLocks noGrp="1"/>
          </p:cNvSpPr>
          <p:nvPr>
            <p:ph idx="1"/>
          </p:nvPr>
        </p:nvSpPr>
        <p:spPr>
          <a:xfrm>
            <a:off x="282576" y="1066801"/>
            <a:ext cx="5791199" cy="4571999"/>
          </a:xfrm>
        </p:spPr>
        <p:txBody>
          <a:bodyPr>
            <a:normAutofit fontScale="62500" lnSpcReduction="20000"/>
          </a:bodyPr>
          <a:lstStyle/>
          <a:p>
            <a:pPr algn="just"/>
            <a:r>
              <a:rPr lang="en-US" dirty="0" smtClean="0"/>
              <a:t>To reduce dimensionality of feature maps and sharpen the located features, insert a </a:t>
            </a:r>
            <a:r>
              <a:rPr lang="en-US" i="1" dirty="0" smtClean="0"/>
              <a:t>max pooling layer after a </a:t>
            </a:r>
            <a:r>
              <a:rPr lang="en-US" i="1" dirty="0" err="1" smtClean="0"/>
              <a:t>convolutional</a:t>
            </a:r>
            <a:r>
              <a:rPr lang="en-US" i="1" dirty="0" smtClean="0"/>
              <a:t> layer.</a:t>
            </a:r>
          </a:p>
          <a:p>
            <a:pPr algn="just"/>
            <a:r>
              <a:rPr lang="en-US" dirty="0" smtClean="0"/>
              <a:t>Essential idea behind max pooling is to break up each feature map into equally sized tiles. </a:t>
            </a:r>
          </a:p>
          <a:p>
            <a:pPr algn="just"/>
            <a:r>
              <a:rPr lang="en-US" dirty="0" smtClean="0"/>
              <a:t>Create a condensed feature map.</a:t>
            </a:r>
          </a:p>
          <a:p>
            <a:pPr algn="just"/>
            <a:r>
              <a:rPr lang="en-US" dirty="0" smtClean="0"/>
              <a:t>Create a cell for each tile, compute the maximum value in the tile, and propagate this maximum value into the corresponding cell of the condensed feature map. </a:t>
            </a:r>
          </a:p>
          <a:p>
            <a:pPr algn="just"/>
            <a:r>
              <a:rPr lang="en-US" dirty="0" smtClean="0"/>
              <a:t>This process is illustrated in Figure 5-13.</a:t>
            </a:r>
          </a:p>
          <a:p>
            <a:r>
              <a:rPr lang="en-US" dirty="0" smtClean="0"/>
              <a:t>Describe a pooling layer with two parameters:</a:t>
            </a:r>
          </a:p>
          <a:p>
            <a:pPr>
              <a:buNone/>
            </a:pPr>
            <a:r>
              <a:rPr lang="en-US" dirty="0" smtClean="0"/>
              <a:t>      • Its spatial extent </a:t>
            </a:r>
            <a:r>
              <a:rPr lang="en-US" i="1" dirty="0" smtClean="0"/>
              <a:t>e</a:t>
            </a:r>
          </a:p>
          <a:p>
            <a:pPr>
              <a:buNone/>
            </a:pPr>
            <a:r>
              <a:rPr lang="en-US" dirty="0" smtClean="0"/>
              <a:t>      • Its stride </a:t>
            </a:r>
            <a:r>
              <a:rPr lang="en-US" i="1" dirty="0" smtClean="0"/>
              <a:t>s</a:t>
            </a:r>
          </a:p>
          <a:p>
            <a:r>
              <a:rPr lang="en-US" dirty="0" smtClean="0"/>
              <a:t>Only two major variations of the pooling layer are used. </a:t>
            </a:r>
          </a:p>
        </p:txBody>
      </p:sp>
      <p:pic>
        <p:nvPicPr>
          <p:cNvPr id="3074" name="Picture 2"/>
          <p:cNvPicPr>
            <a:picLocks noChangeAspect="1" noChangeArrowheads="1"/>
          </p:cNvPicPr>
          <p:nvPr/>
        </p:nvPicPr>
        <p:blipFill>
          <a:blip r:embed="rId2" cstate="print"/>
          <a:srcRect/>
          <a:stretch>
            <a:fillRect/>
          </a:stretch>
        </p:blipFill>
        <p:spPr bwMode="auto">
          <a:xfrm>
            <a:off x="6369050" y="1066800"/>
            <a:ext cx="4429125" cy="2971800"/>
          </a:xfrm>
          <a:prstGeom prst="rect">
            <a:avLst/>
          </a:prstGeom>
          <a:noFill/>
          <a:ln w="9525">
            <a:noFill/>
            <a:miter lim="800000"/>
            <a:headEnd/>
            <a:tailEnd/>
          </a:ln>
        </p:spPr>
      </p:pic>
      <p:sp>
        <p:nvSpPr>
          <p:cNvPr id="5" name="Rectangle 4"/>
          <p:cNvSpPr/>
          <p:nvPr/>
        </p:nvSpPr>
        <p:spPr>
          <a:xfrm>
            <a:off x="6149976" y="4114800"/>
            <a:ext cx="4648200" cy="923330"/>
          </a:xfrm>
          <a:prstGeom prst="rect">
            <a:avLst/>
          </a:prstGeom>
        </p:spPr>
        <p:txBody>
          <a:bodyPr wrap="square">
            <a:spAutoFit/>
          </a:bodyPr>
          <a:lstStyle/>
          <a:p>
            <a:pPr algn="just"/>
            <a:r>
              <a:rPr lang="en-US" b="1" i="1" dirty="0" smtClean="0"/>
              <a:t>Figure 5-13. An illustration of how max pooling significantly reduces parameters as we</a:t>
            </a:r>
          </a:p>
          <a:p>
            <a:pPr algn="just"/>
            <a:r>
              <a:rPr lang="en-US" b="1" i="1" dirty="0" smtClean="0"/>
              <a:t>move up the network</a:t>
            </a:r>
            <a:endParaRPr lang="en-US" b="1" dirty="0"/>
          </a:p>
        </p:txBody>
      </p:sp>
      <p:sp>
        <p:nvSpPr>
          <p:cNvPr id="6" name="Rectangle 5"/>
          <p:cNvSpPr/>
          <p:nvPr/>
        </p:nvSpPr>
        <p:spPr>
          <a:xfrm>
            <a:off x="206376" y="5629870"/>
            <a:ext cx="7848600" cy="1200329"/>
          </a:xfrm>
          <a:prstGeom prst="rect">
            <a:avLst/>
          </a:prstGeom>
        </p:spPr>
        <p:txBody>
          <a:bodyPr wrap="square">
            <a:spAutoFit/>
          </a:bodyPr>
          <a:lstStyle/>
          <a:p>
            <a:pPr algn="just"/>
            <a:r>
              <a:rPr lang="en-US" sz="2400" dirty="0" smtClean="0"/>
              <a:t>The first is the non-overlapping pooling layer with </a:t>
            </a:r>
            <a:r>
              <a:rPr lang="en-US" sz="2400" i="1" dirty="0" smtClean="0"/>
              <a:t>e = 2, s = 2. </a:t>
            </a:r>
          </a:p>
          <a:p>
            <a:pPr algn="just"/>
            <a:r>
              <a:rPr lang="en-US" sz="2400" i="1" dirty="0" smtClean="0"/>
              <a:t>The second is the overlapping </a:t>
            </a:r>
            <a:r>
              <a:rPr lang="en-US" sz="2400" dirty="0" smtClean="0"/>
              <a:t>pooling layer with </a:t>
            </a:r>
            <a:r>
              <a:rPr lang="en-US" sz="2400" i="1" dirty="0" smtClean="0"/>
              <a:t>e = 3, s = 2. </a:t>
            </a:r>
          </a:p>
          <a:p>
            <a:pPr algn="just"/>
            <a:r>
              <a:rPr lang="en-US" sz="2400" i="1" dirty="0" smtClean="0"/>
              <a:t>The resulting dimensions of each feature map are </a:t>
            </a:r>
            <a:r>
              <a:rPr lang="en-US" sz="2400" dirty="0" smtClean="0"/>
              <a:t>as follows:</a:t>
            </a:r>
            <a:endParaRPr lang="en-US" sz="2400" dirty="0"/>
          </a:p>
        </p:txBody>
      </p:sp>
      <p:pic>
        <p:nvPicPr>
          <p:cNvPr id="3075" name="Picture 3"/>
          <p:cNvPicPr>
            <a:picLocks noChangeAspect="1" noChangeArrowheads="1"/>
          </p:cNvPicPr>
          <p:nvPr/>
        </p:nvPicPr>
        <p:blipFill>
          <a:blip r:embed="rId3" cstate="print"/>
          <a:srcRect/>
          <a:stretch>
            <a:fillRect/>
          </a:stretch>
        </p:blipFill>
        <p:spPr bwMode="auto">
          <a:xfrm>
            <a:off x="8131175" y="5562600"/>
            <a:ext cx="2743200" cy="1143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11233150" cy="762000"/>
          </a:xfrm>
        </p:spPr>
        <p:txBody>
          <a:bodyPr>
            <a:normAutofit/>
          </a:bodyPr>
          <a:lstStyle/>
          <a:p>
            <a:r>
              <a:rPr lang="en-US" sz="3600" dirty="0" smtClean="0"/>
              <a:t>Full Architectural Description of Convolution Networks </a:t>
            </a:r>
            <a:endParaRPr lang="en-US" sz="3600" dirty="0"/>
          </a:p>
        </p:txBody>
      </p:sp>
      <p:sp>
        <p:nvSpPr>
          <p:cNvPr id="3" name="Content Placeholder 2"/>
          <p:cNvSpPr>
            <a:spLocks noGrp="1"/>
          </p:cNvSpPr>
          <p:nvPr>
            <p:ph idx="1"/>
          </p:nvPr>
        </p:nvSpPr>
        <p:spPr>
          <a:xfrm>
            <a:off x="206376" y="914401"/>
            <a:ext cx="5334000" cy="5943599"/>
          </a:xfrm>
        </p:spPr>
        <p:txBody>
          <a:bodyPr>
            <a:noAutofit/>
          </a:bodyPr>
          <a:lstStyle/>
          <a:p>
            <a:pPr algn="just">
              <a:spcBef>
                <a:spcPts val="0"/>
              </a:spcBef>
            </a:pPr>
            <a:r>
              <a:rPr lang="en-US" sz="2100" dirty="0" smtClean="0"/>
              <a:t>Described the building blocks of </a:t>
            </a:r>
            <a:r>
              <a:rPr lang="en-US" sz="2100" dirty="0" err="1" smtClean="0"/>
              <a:t>convolutional</a:t>
            </a:r>
            <a:r>
              <a:rPr lang="en-US" sz="2100" dirty="0" smtClean="0"/>
              <a:t> networks, we start putting them together. </a:t>
            </a:r>
          </a:p>
          <a:p>
            <a:pPr algn="just">
              <a:spcBef>
                <a:spcPts val="0"/>
              </a:spcBef>
            </a:pPr>
            <a:r>
              <a:rPr lang="en-US" sz="2100" dirty="0" smtClean="0"/>
              <a:t>Fig.5-14 depicts several architectures that might be of practical use.</a:t>
            </a:r>
          </a:p>
          <a:p>
            <a:pPr algn="just">
              <a:spcBef>
                <a:spcPts val="0"/>
              </a:spcBef>
            </a:pPr>
            <a:r>
              <a:rPr lang="en-US" sz="2100" dirty="0" smtClean="0"/>
              <a:t>Build deeper networks is that we reduce the number of pooling layers and instead stack multiple </a:t>
            </a:r>
            <a:r>
              <a:rPr lang="en-US" sz="2100" dirty="0" err="1" smtClean="0"/>
              <a:t>convolutional</a:t>
            </a:r>
            <a:r>
              <a:rPr lang="en-US" sz="2100" dirty="0" smtClean="0"/>
              <a:t> layers in tandem.</a:t>
            </a:r>
          </a:p>
          <a:p>
            <a:pPr algn="just">
              <a:spcBef>
                <a:spcPts val="0"/>
              </a:spcBef>
            </a:pPr>
            <a:r>
              <a:rPr lang="en-US" sz="2100" dirty="0" smtClean="0"/>
              <a:t>Helpful because pooling operations are inherently destructive.</a:t>
            </a:r>
          </a:p>
          <a:p>
            <a:pPr algn="just">
              <a:spcBef>
                <a:spcPts val="0"/>
              </a:spcBef>
            </a:pPr>
            <a:r>
              <a:rPr lang="en-US" sz="2100" dirty="0" smtClean="0"/>
              <a:t>Stacking several </a:t>
            </a:r>
            <a:r>
              <a:rPr lang="en-US" sz="2100" dirty="0" err="1" smtClean="0"/>
              <a:t>convolutional</a:t>
            </a:r>
            <a:r>
              <a:rPr lang="en-US" sz="2100" dirty="0" smtClean="0"/>
              <a:t> layers before each pooling layer allows us to achieve richer representations.</a:t>
            </a:r>
          </a:p>
          <a:p>
            <a:pPr algn="just">
              <a:spcBef>
                <a:spcPts val="0"/>
              </a:spcBef>
            </a:pPr>
            <a:r>
              <a:rPr lang="en-US" sz="2100" dirty="0" smtClean="0"/>
              <a:t>deep </a:t>
            </a:r>
            <a:r>
              <a:rPr lang="en-US" sz="2100" dirty="0" err="1" smtClean="0"/>
              <a:t>convolutional</a:t>
            </a:r>
            <a:r>
              <a:rPr lang="en-US" sz="2100" dirty="0" smtClean="0"/>
              <a:t> networks can take up a significant amount of</a:t>
            </a:r>
          </a:p>
          <a:p>
            <a:pPr algn="just">
              <a:spcBef>
                <a:spcPts val="0"/>
              </a:spcBef>
            </a:pPr>
            <a:r>
              <a:rPr lang="en-US" sz="2100" dirty="0" smtClean="0"/>
              <a:t>space, and most casual practitioners are usually bottlenecked by the memory capacity on their GPU.</a:t>
            </a:r>
            <a:endParaRPr lang="en-US" sz="2100" dirty="0"/>
          </a:p>
        </p:txBody>
      </p:sp>
      <p:pic>
        <p:nvPicPr>
          <p:cNvPr id="4098" name="Picture 2"/>
          <p:cNvPicPr>
            <a:picLocks noChangeAspect="1" noChangeArrowheads="1"/>
          </p:cNvPicPr>
          <p:nvPr/>
        </p:nvPicPr>
        <p:blipFill>
          <a:blip r:embed="rId2" cstate="print"/>
          <a:srcRect/>
          <a:stretch>
            <a:fillRect/>
          </a:stretch>
        </p:blipFill>
        <p:spPr bwMode="auto">
          <a:xfrm>
            <a:off x="5768975" y="914400"/>
            <a:ext cx="5464175" cy="5791200"/>
          </a:xfrm>
          <a:prstGeom prst="rect">
            <a:avLst/>
          </a:prstGeom>
          <a:noFill/>
          <a:ln w="9525">
            <a:noFill/>
            <a:miter lim="800000"/>
            <a:headEnd/>
            <a:tailEnd/>
          </a:ln>
        </p:spPr>
      </p:pic>
      <p:sp>
        <p:nvSpPr>
          <p:cNvPr id="5" name="Rectangle 4"/>
          <p:cNvSpPr/>
          <p:nvPr/>
        </p:nvSpPr>
        <p:spPr>
          <a:xfrm>
            <a:off x="5845175" y="990600"/>
            <a:ext cx="3733800" cy="2031325"/>
          </a:xfrm>
          <a:prstGeom prst="rect">
            <a:avLst/>
          </a:prstGeom>
        </p:spPr>
        <p:txBody>
          <a:bodyPr wrap="square">
            <a:spAutoFit/>
          </a:bodyPr>
          <a:lstStyle/>
          <a:p>
            <a:pPr algn="just"/>
            <a:r>
              <a:rPr lang="en-US" i="1" dirty="0" smtClean="0"/>
              <a:t>Figure 5-14. Various </a:t>
            </a:r>
            <a:r>
              <a:rPr lang="en-US" i="1" dirty="0" err="1" smtClean="0"/>
              <a:t>convolutional</a:t>
            </a:r>
            <a:r>
              <a:rPr lang="en-US" i="1" dirty="0" smtClean="0"/>
              <a:t> network architectures of various complexities. </a:t>
            </a:r>
          </a:p>
          <a:p>
            <a:pPr algn="just"/>
            <a:r>
              <a:rPr lang="en-US" i="1" dirty="0" smtClean="0"/>
              <a:t>The architecture of </a:t>
            </a:r>
            <a:r>
              <a:rPr lang="en-US" i="1" dirty="0" err="1" smtClean="0"/>
              <a:t>VGGNet</a:t>
            </a:r>
            <a:r>
              <a:rPr lang="en-US" i="1" dirty="0" smtClean="0"/>
              <a:t>, a deep </a:t>
            </a:r>
            <a:r>
              <a:rPr lang="en-US" i="1" dirty="0" err="1" smtClean="0"/>
              <a:t>convolutional</a:t>
            </a:r>
            <a:r>
              <a:rPr lang="en-US" i="1" dirty="0" smtClean="0"/>
              <a:t> network built for </a:t>
            </a:r>
            <a:r>
              <a:rPr lang="en-US" i="1" dirty="0" err="1" smtClean="0"/>
              <a:t>ImageNet</a:t>
            </a:r>
            <a:r>
              <a:rPr lang="en-US" i="1" dirty="0" smtClean="0"/>
              <a:t>, is shown in the rightmost network.</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152400"/>
            <a:ext cx="10820399" cy="6477000"/>
          </a:xfrm>
        </p:spPr>
        <p:txBody>
          <a:bodyPr>
            <a:normAutofit fontScale="92500"/>
          </a:bodyPr>
          <a:lstStyle/>
          <a:p>
            <a:pPr algn="just">
              <a:spcBef>
                <a:spcPts val="0"/>
              </a:spcBef>
            </a:pPr>
            <a:r>
              <a:rPr lang="en-US" sz="2400" dirty="0" smtClean="0"/>
              <a:t>Deep </a:t>
            </a:r>
            <a:r>
              <a:rPr lang="en-US" sz="2400" dirty="0" err="1" smtClean="0"/>
              <a:t>convolutional</a:t>
            </a:r>
            <a:r>
              <a:rPr lang="en-US" sz="2400" dirty="0" smtClean="0"/>
              <a:t> networks can take up a significant amount of space, and most casual practitioners are usually bottlenecked by the memory capacity on their GPU.</a:t>
            </a:r>
          </a:p>
          <a:p>
            <a:pPr algn="just">
              <a:spcBef>
                <a:spcPts val="0"/>
              </a:spcBef>
            </a:pPr>
            <a:r>
              <a:rPr lang="en-US" sz="2400" dirty="0" smtClean="0"/>
              <a:t>The </a:t>
            </a:r>
            <a:r>
              <a:rPr lang="en-US" sz="2400" dirty="0" err="1" smtClean="0"/>
              <a:t>VGGNet</a:t>
            </a:r>
            <a:r>
              <a:rPr lang="en-US" sz="2400" dirty="0" smtClean="0"/>
              <a:t> architecture, for example, takes approximately 90 MB of memory on the forward pass per image and more than 180 MB of memory on the backward pass to update the parameters.</a:t>
            </a:r>
          </a:p>
          <a:p>
            <a:pPr algn="just">
              <a:spcBef>
                <a:spcPts val="0"/>
              </a:spcBef>
            </a:pPr>
            <a:r>
              <a:rPr lang="en-US" sz="2400" dirty="0" smtClean="0"/>
              <a:t>Many deep networks make a compromise by using strides and spatial extents in the first </a:t>
            </a:r>
            <a:r>
              <a:rPr lang="en-US" sz="2400" dirty="0" err="1" smtClean="0"/>
              <a:t>convolutional</a:t>
            </a:r>
            <a:r>
              <a:rPr lang="en-US" sz="2400" dirty="0" smtClean="0"/>
              <a:t> layer that reduce the amount of information that needs to propagated up the network.</a:t>
            </a:r>
          </a:p>
          <a:p>
            <a:pPr algn="just">
              <a:buNone/>
            </a:pPr>
            <a:r>
              <a:rPr lang="en-US" sz="3600" b="1" dirty="0" smtClean="0"/>
              <a:t>Closing the Loop on MNIST with </a:t>
            </a:r>
            <a:r>
              <a:rPr lang="en-US" sz="3600" b="1" dirty="0" err="1" smtClean="0"/>
              <a:t>Convolutional</a:t>
            </a:r>
            <a:r>
              <a:rPr lang="en-US" sz="3600" b="1" dirty="0" smtClean="0"/>
              <a:t> Networks</a:t>
            </a:r>
          </a:p>
          <a:p>
            <a:pPr algn="just"/>
            <a:r>
              <a:rPr lang="en-US" sz="2400" dirty="0" smtClean="0"/>
              <a:t>Better understanding of how to build networks that effectively analyze images, revisit the MNIST challenge tackled. </a:t>
            </a:r>
          </a:p>
          <a:p>
            <a:pPr algn="just"/>
            <a:r>
              <a:rPr lang="en-US" sz="2400" dirty="0" smtClean="0"/>
              <a:t>Use a </a:t>
            </a:r>
            <a:r>
              <a:rPr lang="en-US" sz="2400" dirty="0" err="1" smtClean="0"/>
              <a:t>convolutional</a:t>
            </a:r>
            <a:r>
              <a:rPr lang="en-US" sz="2400" dirty="0" smtClean="0"/>
              <a:t> network to learn how to recognize handwritten digits. </a:t>
            </a:r>
          </a:p>
          <a:p>
            <a:pPr algn="just"/>
            <a:r>
              <a:rPr lang="en-US" sz="2400" dirty="0" smtClean="0"/>
              <a:t>Feed-forward network was able to achieve a 98.2% accuracy. </a:t>
            </a:r>
          </a:p>
          <a:p>
            <a:pPr algn="just"/>
            <a:r>
              <a:rPr lang="en-US" sz="2400" dirty="0" smtClean="0"/>
              <a:t>Goal will be to push the envelope on this result.</a:t>
            </a:r>
          </a:p>
          <a:p>
            <a:pPr algn="just"/>
            <a:r>
              <a:rPr lang="en-US" sz="2400" dirty="0" smtClean="0"/>
              <a:t>Build a </a:t>
            </a:r>
            <a:r>
              <a:rPr lang="en-US" sz="2400" dirty="0" err="1" smtClean="0"/>
              <a:t>convolutional</a:t>
            </a:r>
            <a:r>
              <a:rPr lang="en-US" sz="2400" dirty="0" smtClean="0"/>
              <a:t> network with a pretty standard architecture (modeled after the second network in Figure 5-14): two pooling and two </a:t>
            </a:r>
            <a:r>
              <a:rPr lang="en-US" sz="2400" dirty="0" err="1" smtClean="0"/>
              <a:t>convolutional</a:t>
            </a:r>
            <a:r>
              <a:rPr lang="en-US" sz="2400" dirty="0" smtClean="0"/>
              <a:t> interleaved, followed by a fully connected layer (with dropout, </a:t>
            </a:r>
            <a:r>
              <a:rPr lang="en-US" sz="2400" i="1" dirty="0" smtClean="0"/>
              <a:t>p = 0 . 5) and a terminal </a:t>
            </a:r>
            <a:r>
              <a:rPr lang="en-US" sz="2400" i="1" dirty="0" err="1" smtClean="0"/>
              <a:t>softmax</a:t>
            </a:r>
            <a:r>
              <a:rPr lang="en-US" sz="2400" i="1" dirty="0" smtClean="0"/>
              <a:t>.</a:t>
            </a:r>
            <a:endParaRPr 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228600"/>
            <a:ext cx="10820399" cy="6400799"/>
          </a:xfrm>
        </p:spPr>
        <p:txBody>
          <a:bodyPr>
            <a:normAutofit fontScale="77500" lnSpcReduction="20000"/>
          </a:bodyPr>
          <a:lstStyle/>
          <a:p>
            <a:pPr algn="just"/>
            <a:r>
              <a:rPr lang="en-US" dirty="0" smtClean="0"/>
              <a:t>To make building the network easy, we write a couple of helper methods in addition to our layer generator from the feed-forward network: </a:t>
            </a:r>
          </a:p>
          <a:p>
            <a:pPr algn="just"/>
            <a:r>
              <a:rPr lang="en-US" dirty="0" smtClean="0"/>
              <a:t>The first helper method generates a </a:t>
            </a:r>
            <a:r>
              <a:rPr lang="en-US" dirty="0" err="1" smtClean="0"/>
              <a:t>convolutional</a:t>
            </a:r>
            <a:r>
              <a:rPr lang="en-US" dirty="0" smtClean="0"/>
              <a:t> layer with a particular shape. </a:t>
            </a:r>
          </a:p>
          <a:p>
            <a:pPr algn="just"/>
            <a:r>
              <a:rPr lang="en-US" dirty="0" smtClean="0"/>
              <a:t>Set the stride to be to be 1 and the padding to keep the width and height constant between input and output tensors. </a:t>
            </a:r>
          </a:p>
          <a:p>
            <a:pPr algn="just"/>
            <a:r>
              <a:rPr lang="en-US" dirty="0" smtClean="0"/>
              <a:t>Initialize the weights using the same heuristic used in the feed-forward network. </a:t>
            </a:r>
          </a:p>
          <a:p>
            <a:pPr algn="just"/>
            <a:r>
              <a:rPr lang="en-US" dirty="0" smtClean="0"/>
              <a:t>Number of incoming weights into a neuron spans the filter’s height and width and the input tensor’s depth.</a:t>
            </a:r>
          </a:p>
          <a:p>
            <a:pPr algn="just"/>
            <a:r>
              <a:rPr lang="en-US" dirty="0" smtClean="0"/>
              <a:t>The second helper method generates a max pooling layer with non-overlapping windows of size k. </a:t>
            </a:r>
          </a:p>
          <a:p>
            <a:pPr algn="just"/>
            <a:r>
              <a:rPr lang="en-US" dirty="0" smtClean="0"/>
              <a:t>The default, as recommended, is k=2, and we’ll use this default in MNIST </a:t>
            </a:r>
            <a:r>
              <a:rPr lang="en-US" dirty="0" err="1" smtClean="0"/>
              <a:t>convolutional</a:t>
            </a:r>
            <a:r>
              <a:rPr lang="en-US" dirty="0" smtClean="0"/>
              <a:t> network.</a:t>
            </a:r>
          </a:p>
          <a:p>
            <a:pPr algn="just"/>
            <a:r>
              <a:rPr lang="en-US" dirty="0" smtClean="0"/>
              <a:t>First take the flattened versions of the input pixel values and reshape them into a tensor of the </a:t>
            </a:r>
            <a:r>
              <a:rPr lang="en-US" i="1" dirty="0" smtClean="0"/>
              <a:t>N × 28 × 28 × 1, where N is the </a:t>
            </a:r>
            <a:r>
              <a:rPr lang="en-US" dirty="0" smtClean="0"/>
              <a:t>number of examples in a mini batch, 28 is the width and height of each image, and 1 is the depth  (because the images are black and white; if the images were in RGB color, the depth would instead be 3 to represent each color map).</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228600"/>
            <a:ext cx="10820400" cy="6324599"/>
          </a:xfrm>
        </p:spPr>
        <p:txBody>
          <a:bodyPr>
            <a:normAutofit fontScale="85000" lnSpcReduction="10000"/>
          </a:bodyPr>
          <a:lstStyle/>
          <a:p>
            <a:r>
              <a:rPr lang="en-US" dirty="0" smtClean="0"/>
              <a:t>We then build a </a:t>
            </a:r>
            <a:r>
              <a:rPr lang="en-US" dirty="0" err="1" smtClean="0"/>
              <a:t>convolutional</a:t>
            </a:r>
            <a:r>
              <a:rPr lang="en-US" dirty="0" smtClean="0"/>
              <a:t> layer with 32 filters that have spatial extent 5.</a:t>
            </a:r>
          </a:p>
          <a:p>
            <a:r>
              <a:rPr lang="en-US" dirty="0" smtClean="0"/>
              <a:t>This results in taking an input volume of depth 1 and emitting a output tensor of depth 32. </a:t>
            </a:r>
          </a:p>
          <a:p>
            <a:pPr algn="just"/>
            <a:r>
              <a:rPr lang="en-US" dirty="0" smtClean="0"/>
              <a:t>This is then passed through a max pooling layer which compresses the information. </a:t>
            </a:r>
          </a:p>
          <a:p>
            <a:pPr algn="just"/>
            <a:r>
              <a:rPr lang="en-US" dirty="0" smtClean="0"/>
              <a:t>Build a second </a:t>
            </a:r>
            <a:r>
              <a:rPr lang="en-US" dirty="0" err="1" smtClean="0"/>
              <a:t>convolutional</a:t>
            </a:r>
            <a:r>
              <a:rPr lang="en-US" dirty="0" smtClean="0"/>
              <a:t> layer with 64 filters, again with spatial extent 5, taking an input tensor of depth 32 and emitting an output tensor of depth 64.</a:t>
            </a:r>
          </a:p>
          <a:p>
            <a:pPr algn="just"/>
            <a:r>
              <a:rPr lang="en-US" dirty="0" smtClean="0"/>
              <a:t>Again, passed through a max pooling layer to compress information.</a:t>
            </a:r>
          </a:p>
          <a:p>
            <a:r>
              <a:rPr lang="en-US" dirty="0" smtClean="0"/>
              <a:t>Prepare to pass the output of the max pooling layer into a fully connected layer. </a:t>
            </a:r>
          </a:p>
          <a:p>
            <a:r>
              <a:rPr lang="en-US" dirty="0" smtClean="0"/>
              <a:t>To do this, we flatten the tensor. </a:t>
            </a:r>
          </a:p>
          <a:p>
            <a:r>
              <a:rPr lang="en-US" dirty="0" smtClean="0"/>
              <a:t>Do this by computing the full size of each “</a:t>
            </a:r>
            <a:r>
              <a:rPr lang="en-US" dirty="0" err="1" smtClean="0"/>
              <a:t>subtensor</a:t>
            </a:r>
            <a:r>
              <a:rPr lang="en-US" dirty="0" smtClean="0"/>
              <a:t>” in the </a:t>
            </a:r>
            <a:r>
              <a:rPr lang="en-US" dirty="0" err="1" smtClean="0"/>
              <a:t>minibatch</a:t>
            </a:r>
            <a:r>
              <a:rPr lang="en-US" dirty="0" smtClean="0"/>
              <a:t>. </a:t>
            </a:r>
          </a:p>
          <a:p>
            <a:r>
              <a:rPr lang="en-US" dirty="0" smtClean="0"/>
              <a:t>Have 64 filters, which corresponds to the depth of 64.</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658" y="76200"/>
            <a:ext cx="10109835" cy="639762"/>
          </a:xfrm>
        </p:spPr>
        <p:txBody>
          <a:bodyPr>
            <a:normAutofit fontScale="90000"/>
          </a:bodyPr>
          <a:lstStyle/>
          <a:p>
            <a:r>
              <a:rPr lang="en-US" dirty="0" smtClean="0"/>
              <a:t>Building a </a:t>
            </a:r>
            <a:r>
              <a:rPr lang="en-US" dirty="0" err="1" smtClean="0"/>
              <a:t>Convolutional</a:t>
            </a:r>
            <a:r>
              <a:rPr lang="en-US" dirty="0" smtClean="0"/>
              <a:t> Network for CIFAR-10</a:t>
            </a:r>
            <a:endParaRPr lang="en-US" dirty="0"/>
          </a:p>
        </p:txBody>
      </p:sp>
      <p:sp>
        <p:nvSpPr>
          <p:cNvPr id="3" name="Content Placeholder 2"/>
          <p:cNvSpPr>
            <a:spLocks noGrp="1"/>
          </p:cNvSpPr>
          <p:nvPr>
            <p:ph idx="1"/>
          </p:nvPr>
        </p:nvSpPr>
        <p:spPr>
          <a:xfrm>
            <a:off x="206375" y="685800"/>
            <a:ext cx="6095999" cy="5791200"/>
          </a:xfrm>
        </p:spPr>
        <p:txBody>
          <a:bodyPr>
            <a:noAutofit/>
          </a:bodyPr>
          <a:lstStyle/>
          <a:p>
            <a:pPr algn="just">
              <a:spcBef>
                <a:spcPts val="0"/>
              </a:spcBef>
            </a:pPr>
            <a:r>
              <a:rPr lang="en-US" sz="2100" dirty="0" smtClean="0"/>
              <a:t>The CIFAR-10 challenge consists of 32 x 32 color images that belong to one of 10 possible classes. </a:t>
            </a:r>
          </a:p>
          <a:p>
            <a:pPr algn="just">
              <a:spcBef>
                <a:spcPts val="0"/>
              </a:spcBef>
            </a:pPr>
            <a:r>
              <a:rPr lang="en-US" sz="2100" dirty="0" smtClean="0"/>
              <a:t>This is a surprisingly hard challenge because it can be difficult for even a human to figure out what is in a picture. </a:t>
            </a:r>
          </a:p>
          <a:p>
            <a:pPr algn="just">
              <a:spcBef>
                <a:spcPts val="0"/>
              </a:spcBef>
            </a:pPr>
            <a:r>
              <a:rPr lang="en-US" sz="2100" dirty="0" smtClean="0"/>
              <a:t>An example is shown in Figure 5-16.</a:t>
            </a:r>
          </a:p>
          <a:p>
            <a:pPr algn="just">
              <a:spcBef>
                <a:spcPts val="0"/>
              </a:spcBef>
            </a:pPr>
            <a:r>
              <a:rPr lang="en-US" sz="2100" dirty="0" smtClean="0"/>
              <a:t>Build networks both with and without batch normalization as a basis of comparison. </a:t>
            </a:r>
          </a:p>
          <a:p>
            <a:pPr algn="just">
              <a:spcBef>
                <a:spcPts val="0"/>
              </a:spcBef>
            </a:pPr>
            <a:r>
              <a:rPr lang="en-US" sz="2100" dirty="0" smtClean="0"/>
              <a:t>Increase the learning rate by 10-fold for the batch normalization network to take full advantage of its benefits. </a:t>
            </a:r>
          </a:p>
          <a:p>
            <a:pPr algn="just">
              <a:spcBef>
                <a:spcPts val="0"/>
              </a:spcBef>
            </a:pPr>
            <a:r>
              <a:rPr lang="en-US" sz="2100" dirty="0" smtClean="0"/>
              <a:t>Only display code for the batch normalization network here because building the vanilla </a:t>
            </a:r>
            <a:r>
              <a:rPr lang="en-US" sz="2100" dirty="0" err="1" smtClean="0"/>
              <a:t>convolutional</a:t>
            </a:r>
            <a:r>
              <a:rPr lang="en-US" sz="2100" dirty="0" smtClean="0"/>
              <a:t> network is very similar.</a:t>
            </a:r>
          </a:p>
          <a:p>
            <a:pPr algn="just">
              <a:spcBef>
                <a:spcPts val="0"/>
              </a:spcBef>
            </a:pPr>
            <a:r>
              <a:rPr lang="en-US" sz="2100" dirty="0" smtClean="0"/>
              <a:t>Distort random 24 × 24 crops of the input images to feed into our network for training. </a:t>
            </a:r>
          </a:p>
          <a:p>
            <a:pPr algn="just">
              <a:spcBef>
                <a:spcPts val="0"/>
              </a:spcBef>
            </a:pPr>
            <a:r>
              <a:rPr lang="en-US" sz="2100" dirty="0" smtClean="0"/>
              <a:t>Use the example code provided by Google to do this. </a:t>
            </a:r>
          </a:p>
        </p:txBody>
      </p:sp>
      <p:pic>
        <p:nvPicPr>
          <p:cNvPr id="1026" name="Picture 2"/>
          <p:cNvPicPr>
            <a:picLocks noChangeAspect="1" noChangeArrowheads="1"/>
          </p:cNvPicPr>
          <p:nvPr/>
        </p:nvPicPr>
        <p:blipFill>
          <a:blip r:embed="rId2" cstate="print"/>
          <a:srcRect/>
          <a:stretch>
            <a:fillRect/>
          </a:stretch>
        </p:blipFill>
        <p:spPr bwMode="auto">
          <a:xfrm>
            <a:off x="6530975" y="762000"/>
            <a:ext cx="4419600" cy="4257675"/>
          </a:xfrm>
          <a:prstGeom prst="rect">
            <a:avLst/>
          </a:prstGeom>
          <a:noFill/>
          <a:ln w="9525">
            <a:noFill/>
            <a:miter lim="800000"/>
            <a:headEnd/>
            <a:tailEnd/>
          </a:ln>
        </p:spPr>
      </p:pic>
      <p:sp>
        <p:nvSpPr>
          <p:cNvPr id="5" name="Rectangle 4"/>
          <p:cNvSpPr/>
          <p:nvPr/>
        </p:nvSpPr>
        <p:spPr>
          <a:xfrm>
            <a:off x="6607175" y="5105400"/>
            <a:ext cx="4521879" cy="369332"/>
          </a:xfrm>
          <a:prstGeom prst="rect">
            <a:avLst/>
          </a:prstGeom>
        </p:spPr>
        <p:txBody>
          <a:bodyPr wrap="none">
            <a:spAutoFit/>
          </a:bodyPr>
          <a:lstStyle/>
          <a:p>
            <a:r>
              <a:rPr lang="en-US" i="1" dirty="0" smtClean="0"/>
              <a:t>Figure 5-16. A dog from the CIFAR-100 dataset</a:t>
            </a:r>
            <a:endParaRPr lang="en-US" dirty="0"/>
          </a:p>
        </p:txBody>
      </p:sp>
      <p:sp>
        <p:nvSpPr>
          <p:cNvPr id="6" name="Rectangle 5"/>
          <p:cNvSpPr/>
          <p:nvPr/>
        </p:nvSpPr>
        <p:spPr>
          <a:xfrm>
            <a:off x="6378575" y="5983069"/>
            <a:ext cx="4854575" cy="646331"/>
          </a:xfrm>
          <a:prstGeom prst="rect">
            <a:avLst/>
          </a:prstGeom>
        </p:spPr>
        <p:txBody>
          <a:bodyPr wrap="square">
            <a:spAutoFit/>
          </a:bodyPr>
          <a:lstStyle/>
          <a:p>
            <a:pPr algn="just">
              <a:spcBef>
                <a:spcPts val="0"/>
              </a:spcBef>
            </a:pPr>
            <a:r>
              <a:rPr lang="en-US" dirty="0" smtClean="0"/>
              <a:t>Integrate batch normalization into the </a:t>
            </a:r>
            <a:r>
              <a:rPr lang="en-US" dirty="0" err="1" smtClean="0"/>
              <a:t>convolutional</a:t>
            </a:r>
            <a:r>
              <a:rPr lang="en-US" dirty="0" smtClean="0"/>
              <a:t> and fully connected layers.</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152400"/>
            <a:ext cx="10820399" cy="6477000"/>
          </a:xfrm>
        </p:spPr>
        <p:txBody>
          <a:bodyPr>
            <a:normAutofit fontScale="85000" lnSpcReduction="10000"/>
          </a:bodyPr>
          <a:lstStyle/>
          <a:p>
            <a:pPr algn="just"/>
            <a:r>
              <a:rPr lang="en-US" dirty="0" smtClean="0"/>
              <a:t>Use two </a:t>
            </a:r>
            <a:r>
              <a:rPr lang="en-US" dirty="0" err="1" smtClean="0"/>
              <a:t>convolutional</a:t>
            </a:r>
            <a:r>
              <a:rPr lang="en-US" dirty="0" smtClean="0"/>
              <a:t> layers (each followed by a max pooling layer). </a:t>
            </a:r>
          </a:p>
          <a:p>
            <a:pPr algn="just"/>
            <a:r>
              <a:rPr lang="en-US" dirty="0" smtClean="0"/>
              <a:t>There are then two fully connected layers followed by a </a:t>
            </a:r>
            <a:r>
              <a:rPr lang="en-US" dirty="0" err="1" smtClean="0"/>
              <a:t>softmax</a:t>
            </a:r>
            <a:r>
              <a:rPr lang="en-US" dirty="0" smtClean="0"/>
              <a:t>. Dropout is included for reference, but in the batch normalization version, </a:t>
            </a:r>
            <a:r>
              <a:rPr lang="en-US" dirty="0" err="1" smtClean="0"/>
              <a:t>keep_prob</a:t>
            </a:r>
            <a:r>
              <a:rPr lang="en-US" dirty="0" smtClean="0"/>
              <a:t>=1 during training:</a:t>
            </a:r>
          </a:p>
          <a:p>
            <a:pPr algn="just"/>
            <a:r>
              <a:rPr lang="en-US" dirty="0" smtClean="0"/>
              <a:t>Finally, we use the Adam optimizer to train our </a:t>
            </a:r>
            <a:r>
              <a:rPr lang="en-US" dirty="0" err="1" smtClean="0"/>
              <a:t>convolutional</a:t>
            </a:r>
            <a:r>
              <a:rPr lang="en-US" dirty="0" smtClean="0"/>
              <a:t> networks. </a:t>
            </a:r>
          </a:p>
          <a:p>
            <a:pPr algn="just"/>
            <a:r>
              <a:rPr lang="en-US" dirty="0" smtClean="0"/>
              <a:t>After some amount of time training, our networks are able to achieve an impressive 92.3% accuracy on the CIFAR-10 task without batch normalization and 96.7% accuracy with batch normalization.</a:t>
            </a:r>
          </a:p>
          <a:p>
            <a:pPr algn="just">
              <a:buNone/>
            </a:pPr>
            <a:r>
              <a:rPr lang="en-US" b="1" dirty="0" smtClean="0"/>
              <a:t>Visualizing Learning in </a:t>
            </a:r>
            <a:r>
              <a:rPr lang="en-US" b="1" dirty="0" err="1" smtClean="0"/>
              <a:t>Convolutional</a:t>
            </a:r>
            <a:r>
              <a:rPr lang="en-US" b="1" dirty="0" smtClean="0"/>
              <a:t> Networks</a:t>
            </a:r>
          </a:p>
          <a:p>
            <a:pPr algn="just"/>
            <a:r>
              <a:rPr lang="en-US" dirty="0" smtClean="0"/>
              <a:t>On a high level, the simplest thing that we can do to visualize training is plot the cost function and validation errors over time as training progresses.</a:t>
            </a:r>
          </a:p>
          <a:p>
            <a:r>
              <a:rPr lang="en-US" dirty="0" smtClean="0"/>
              <a:t>Demonstrate the benefits of batch normalization by comparing the rates of convergence between our two networks. </a:t>
            </a:r>
          </a:p>
          <a:p>
            <a:r>
              <a:rPr lang="en-US" dirty="0" smtClean="0"/>
              <a:t>Plots taken in the middle of the training process are shown in Figure 5-17.</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76200"/>
            <a:ext cx="5410200" cy="6781800"/>
          </a:xfrm>
        </p:spPr>
        <p:txBody>
          <a:bodyPr>
            <a:noAutofit/>
          </a:bodyPr>
          <a:lstStyle/>
          <a:p>
            <a:pPr algn="just">
              <a:spcBef>
                <a:spcPts val="0"/>
              </a:spcBef>
            </a:pPr>
            <a:r>
              <a:rPr lang="en-US" sz="2100" dirty="0" smtClean="0"/>
              <a:t>Without batch normalization, cracking the 90% accuracy threshold requires over 80,000 </a:t>
            </a:r>
            <a:r>
              <a:rPr lang="en-US" sz="2100" dirty="0" err="1" smtClean="0"/>
              <a:t>minibatches</a:t>
            </a:r>
            <a:r>
              <a:rPr lang="en-US" sz="2100" dirty="0" smtClean="0"/>
              <a:t>. </a:t>
            </a:r>
          </a:p>
          <a:p>
            <a:pPr algn="just">
              <a:spcBef>
                <a:spcPts val="0"/>
              </a:spcBef>
            </a:pPr>
            <a:r>
              <a:rPr lang="en-US" sz="2100" dirty="0" smtClean="0"/>
              <a:t>On the other hand, with batch normalization, crossing the same threshold only requires slightly over 14,000 </a:t>
            </a:r>
            <a:r>
              <a:rPr lang="en-US" sz="2100" dirty="0" err="1" smtClean="0"/>
              <a:t>minibatches</a:t>
            </a:r>
            <a:r>
              <a:rPr lang="en-US" sz="2100" dirty="0" smtClean="0"/>
              <a:t>.</a:t>
            </a:r>
          </a:p>
          <a:p>
            <a:pPr algn="just">
              <a:spcBef>
                <a:spcPts val="0"/>
              </a:spcBef>
            </a:pPr>
            <a:r>
              <a:rPr lang="en-US" sz="2100" dirty="0" smtClean="0"/>
              <a:t>Inspect the filters that our </a:t>
            </a:r>
            <a:r>
              <a:rPr lang="en-US" sz="2100" dirty="0" err="1" smtClean="0"/>
              <a:t>convolutional</a:t>
            </a:r>
            <a:r>
              <a:rPr lang="en-US" sz="2100" dirty="0" smtClean="0"/>
              <a:t> network learns in order to understand what the network finds important to its classification decisions. </a:t>
            </a:r>
          </a:p>
          <a:p>
            <a:pPr algn="just">
              <a:spcBef>
                <a:spcPts val="0"/>
              </a:spcBef>
            </a:pPr>
            <a:r>
              <a:rPr lang="en-US" sz="2100" dirty="0" err="1" smtClean="0"/>
              <a:t>Convolutional</a:t>
            </a:r>
            <a:r>
              <a:rPr lang="en-US" sz="2100" dirty="0" smtClean="0"/>
              <a:t> layers learn hierarchical representations, and hope that the first </a:t>
            </a:r>
            <a:r>
              <a:rPr lang="en-US" sz="2100" dirty="0" err="1" smtClean="0"/>
              <a:t>convolutional</a:t>
            </a:r>
            <a:r>
              <a:rPr lang="en-US" sz="2100" dirty="0" smtClean="0"/>
              <a:t> layer learns basic features (edges, simple curves, etc.), and the second </a:t>
            </a:r>
            <a:r>
              <a:rPr lang="en-US" sz="2100" dirty="0" err="1" smtClean="0"/>
              <a:t>convolutional</a:t>
            </a:r>
            <a:r>
              <a:rPr lang="en-US" sz="2100" dirty="0" smtClean="0"/>
              <a:t> layer will learn more complex features. </a:t>
            </a:r>
          </a:p>
          <a:p>
            <a:pPr algn="just">
              <a:spcBef>
                <a:spcPts val="0"/>
              </a:spcBef>
            </a:pPr>
            <a:r>
              <a:rPr lang="en-US" sz="2100" dirty="0" smtClean="0"/>
              <a:t>Second </a:t>
            </a:r>
            <a:r>
              <a:rPr lang="en-US" sz="2100" dirty="0" err="1" smtClean="0"/>
              <a:t>convolutional</a:t>
            </a:r>
            <a:r>
              <a:rPr lang="en-US" sz="2100" dirty="0" smtClean="0"/>
              <a:t> layer is difficult to interpret even if decided to visualize it, so only include the first layer filters in Figure 5-18.</a:t>
            </a:r>
            <a:endParaRPr lang="en-US" sz="2100" dirty="0"/>
          </a:p>
        </p:txBody>
      </p:sp>
      <p:pic>
        <p:nvPicPr>
          <p:cNvPr id="2050" name="Picture 2"/>
          <p:cNvPicPr>
            <a:picLocks noChangeAspect="1" noChangeArrowheads="1"/>
          </p:cNvPicPr>
          <p:nvPr/>
        </p:nvPicPr>
        <p:blipFill>
          <a:blip r:embed="rId2" cstate="print"/>
          <a:srcRect/>
          <a:stretch>
            <a:fillRect/>
          </a:stretch>
        </p:blipFill>
        <p:spPr bwMode="auto">
          <a:xfrm>
            <a:off x="5768975" y="0"/>
            <a:ext cx="5464175" cy="35814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5768975" y="3600450"/>
            <a:ext cx="5464175" cy="2724150"/>
          </a:xfrm>
          <a:prstGeom prst="rect">
            <a:avLst/>
          </a:prstGeom>
          <a:noFill/>
          <a:ln w="9525">
            <a:noFill/>
            <a:miter lim="800000"/>
            <a:headEnd/>
            <a:tailEnd/>
          </a:ln>
        </p:spPr>
      </p:pic>
      <p:sp>
        <p:nvSpPr>
          <p:cNvPr id="6" name="Rectangle 5"/>
          <p:cNvSpPr/>
          <p:nvPr/>
        </p:nvSpPr>
        <p:spPr>
          <a:xfrm>
            <a:off x="5616575" y="6211669"/>
            <a:ext cx="5616575" cy="646331"/>
          </a:xfrm>
          <a:prstGeom prst="rect">
            <a:avLst/>
          </a:prstGeom>
        </p:spPr>
        <p:txBody>
          <a:bodyPr>
            <a:spAutoFit/>
          </a:bodyPr>
          <a:lstStyle/>
          <a:p>
            <a:r>
              <a:rPr lang="en-US" i="1" dirty="0" smtClean="0"/>
              <a:t>Figure 5-18. A subset of the learned filters in the first </a:t>
            </a:r>
            <a:r>
              <a:rPr lang="en-US" i="1" dirty="0" err="1" smtClean="0"/>
              <a:t>convolutional</a:t>
            </a:r>
            <a:r>
              <a:rPr lang="en-US" i="1" dirty="0" smtClean="0"/>
              <a:t> layer of our network</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76200"/>
            <a:ext cx="6934200" cy="6705600"/>
          </a:xfrm>
        </p:spPr>
        <p:txBody>
          <a:bodyPr>
            <a:noAutofit/>
          </a:bodyPr>
          <a:lstStyle/>
          <a:p>
            <a:pPr algn="just">
              <a:spcBef>
                <a:spcPts val="0"/>
              </a:spcBef>
            </a:pPr>
            <a:r>
              <a:rPr lang="en-US" sz="2100" dirty="0" smtClean="0"/>
              <a:t>Make out a number of interesting features in our filters: vertical, horizontal, and diagonal edges, in addition to small dots or splotches of one color surrounded by another. </a:t>
            </a:r>
          </a:p>
          <a:p>
            <a:pPr algn="just">
              <a:spcBef>
                <a:spcPts val="0"/>
              </a:spcBef>
            </a:pPr>
            <a:r>
              <a:rPr lang="en-US" sz="2100" dirty="0" smtClean="0"/>
              <a:t>Network is learning relevant features because the filters are not just noise.</a:t>
            </a:r>
          </a:p>
          <a:p>
            <a:pPr algn="just">
              <a:spcBef>
                <a:spcPts val="0"/>
              </a:spcBef>
            </a:pPr>
            <a:r>
              <a:rPr lang="en-US" sz="2100" dirty="0" smtClean="0"/>
              <a:t>To visualize how network has learned to cluster various kinds of images pictorially. </a:t>
            </a:r>
          </a:p>
          <a:p>
            <a:pPr algn="just">
              <a:spcBef>
                <a:spcPts val="0"/>
              </a:spcBef>
            </a:pPr>
            <a:r>
              <a:rPr lang="en-US" sz="2100" dirty="0" smtClean="0"/>
              <a:t>Take a large network that has been trained on the </a:t>
            </a:r>
            <a:r>
              <a:rPr lang="en-US" sz="2100" dirty="0" err="1" smtClean="0"/>
              <a:t>ImageNet</a:t>
            </a:r>
            <a:r>
              <a:rPr lang="en-US" sz="2100" dirty="0" smtClean="0"/>
              <a:t> challenge and then grab the hidden state of the fully connected layer just before the </a:t>
            </a:r>
            <a:r>
              <a:rPr lang="en-US" sz="2100" dirty="0" err="1" smtClean="0"/>
              <a:t>softmax</a:t>
            </a:r>
            <a:r>
              <a:rPr lang="en-US" sz="2100" dirty="0" smtClean="0"/>
              <a:t> for each image. </a:t>
            </a:r>
          </a:p>
          <a:p>
            <a:pPr algn="just">
              <a:spcBef>
                <a:spcPts val="0"/>
              </a:spcBef>
            </a:pPr>
            <a:r>
              <a:rPr lang="en-US" sz="2100" dirty="0" smtClean="0"/>
              <a:t>Take this high-dimensional representation for each image and use an algorithm known as </a:t>
            </a:r>
            <a:r>
              <a:rPr lang="en-US" sz="2100" i="1" dirty="0" smtClean="0"/>
              <a:t>t-Distributed Stochastic Neighbor Embedding, or t-SNE, to compress it to a two-dimensional representation </a:t>
            </a:r>
            <a:r>
              <a:rPr lang="en-US" sz="2100" dirty="0" smtClean="0"/>
              <a:t>can visualize. </a:t>
            </a:r>
          </a:p>
          <a:p>
            <a:pPr algn="just">
              <a:spcBef>
                <a:spcPts val="0"/>
              </a:spcBef>
            </a:pPr>
            <a:r>
              <a:rPr lang="en-US" sz="2100" dirty="0" smtClean="0"/>
              <a:t>Don’t cover the details of t-SNE here, but there are a number of publicly available software tools that will do it for us, including the script. </a:t>
            </a:r>
          </a:p>
          <a:p>
            <a:pPr algn="just">
              <a:spcBef>
                <a:spcPts val="0"/>
              </a:spcBef>
            </a:pPr>
            <a:r>
              <a:rPr lang="en-US" sz="2100" dirty="0" smtClean="0"/>
              <a:t>Visualize the embeddings in Figure 5-19, and the results are quite spectacular. </a:t>
            </a:r>
            <a:endParaRPr lang="en-US" sz="2100" dirty="0"/>
          </a:p>
        </p:txBody>
      </p:sp>
      <p:pic>
        <p:nvPicPr>
          <p:cNvPr id="3074" name="Picture 2"/>
          <p:cNvPicPr>
            <a:picLocks noChangeAspect="1" noChangeArrowheads="1"/>
          </p:cNvPicPr>
          <p:nvPr/>
        </p:nvPicPr>
        <p:blipFill>
          <a:blip r:embed="rId2" cstate="print"/>
          <a:srcRect/>
          <a:stretch>
            <a:fillRect/>
          </a:stretch>
        </p:blipFill>
        <p:spPr bwMode="auto">
          <a:xfrm>
            <a:off x="7216775" y="0"/>
            <a:ext cx="4016375" cy="5334000"/>
          </a:xfrm>
          <a:prstGeom prst="rect">
            <a:avLst/>
          </a:prstGeom>
          <a:noFill/>
          <a:ln w="9525">
            <a:noFill/>
            <a:miter lim="800000"/>
            <a:headEnd/>
            <a:tailEnd/>
          </a:ln>
        </p:spPr>
      </p:pic>
      <p:sp>
        <p:nvSpPr>
          <p:cNvPr id="5" name="Rectangle 4"/>
          <p:cNvSpPr/>
          <p:nvPr/>
        </p:nvSpPr>
        <p:spPr>
          <a:xfrm>
            <a:off x="7216775" y="5334000"/>
            <a:ext cx="4016375" cy="1477328"/>
          </a:xfrm>
          <a:prstGeom prst="rect">
            <a:avLst/>
          </a:prstGeom>
        </p:spPr>
        <p:txBody>
          <a:bodyPr wrap="square">
            <a:spAutoFit/>
          </a:bodyPr>
          <a:lstStyle/>
          <a:p>
            <a:pPr algn="just"/>
            <a:r>
              <a:rPr lang="en-US" i="1" dirty="0" smtClean="0"/>
              <a:t>Figure 5-19. The t-SNE embedding (center) surrounded by zoomed-in </a:t>
            </a:r>
            <a:r>
              <a:rPr lang="en-US" i="1" dirty="0" err="1" smtClean="0"/>
              <a:t>subsegments</a:t>
            </a:r>
            <a:r>
              <a:rPr lang="en-US" i="1" dirty="0" smtClean="0"/>
              <a:t> of the embedding (periphery). Image credit: Andrej </a:t>
            </a:r>
            <a:r>
              <a:rPr lang="en-US" i="1" dirty="0" err="1" smtClean="0"/>
              <a:t>Karpathy</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2575" y="228600"/>
            <a:ext cx="10744199" cy="6324599"/>
          </a:xfrm>
        </p:spPr>
        <p:txBody>
          <a:bodyPr>
            <a:normAutofit fontScale="85000" lnSpcReduction="20000"/>
          </a:bodyPr>
          <a:lstStyle/>
          <a:p>
            <a:pPr algn="just"/>
            <a:r>
              <a:rPr lang="en-US" dirty="0" smtClean="0"/>
              <a:t>At first, on a high level, it seems that images that are similarly colored are closer together. </a:t>
            </a:r>
          </a:p>
          <a:p>
            <a:pPr algn="just"/>
            <a:r>
              <a:rPr lang="en-US" dirty="0" smtClean="0"/>
              <a:t>When we zoom into parts of the visualization, we realize that it’s more than just color. </a:t>
            </a:r>
          </a:p>
          <a:p>
            <a:pPr algn="just"/>
            <a:r>
              <a:rPr lang="en-US" dirty="0" smtClean="0"/>
              <a:t>Realize that all pictures of boats are in one place, all pictures of humans are in another place, and all pictures of butterflies are in yet another location in the visualization. </a:t>
            </a:r>
          </a:p>
          <a:p>
            <a:pPr algn="just"/>
            <a:r>
              <a:rPr lang="en-US" dirty="0" err="1" smtClean="0"/>
              <a:t>Convolutional</a:t>
            </a:r>
            <a:r>
              <a:rPr lang="en-US" dirty="0" smtClean="0"/>
              <a:t> networks have spectacular learning capabilities.</a:t>
            </a:r>
          </a:p>
          <a:p>
            <a:pPr algn="just">
              <a:buNone/>
            </a:pPr>
            <a:r>
              <a:rPr lang="en-US" sz="3500" b="1" dirty="0" smtClean="0"/>
              <a:t>Leveraging </a:t>
            </a:r>
            <a:r>
              <a:rPr lang="en-US" sz="3500" b="1" dirty="0" err="1" smtClean="0"/>
              <a:t>Convolutional</a:t>
            </a:r>
            <a:r>
              <a:rPr lang="en-US" sz="3500" b="1" dirty="0" smtClean="0"/>
              <a:t> Filters to Replicate Artistic Styles</a:t>
            </a:r>
          </a:p>
          <a:p>
            <a:pPr algn="just"/>
            <a:r>
              <a:rPr lang="en-US" dirty="0" smtClean="0"/>
              <a:t>Algorithms developed that leverage </a:t>
            </a:r>
            <a:r>
              <a:rPr lang="en-US" dirty="0" err="1" smtClean="0"/>
              <a:t>convolutional</a:t>
            </a:r>
            <a:r>
              <a:rPr lang="en-US" dirty="0" smtClean="0"/>
              <a:t> networks in much more creative ways. </a:t>
            </a:r>
          </a:p>
          <a:p>
            <a:pPr algn="just"/>
            <a:r>
              <a:rPr lang="en-US" dirty="0" smtClean="0"/>
              <a:t>One of these algorithms is called </a:t>
            </a:r>
            <a:r>
              <a:rPr lang="en-US" i="1" dirty="0" smtClean="0"/>
              <a:t>neural style. </a:t>
            </a:r>
          </a:p>
          <a:p>
            <a:pPr algn="just"/>
            <a:r>
              <a:rPr lang="en-US" i="1" dirty="0" smtClean="0"/>
              <a:t>The goal of neural style is to be able to take an arbitrary photograph and </a:t>
            </a:r>
            <a:r>
              <a:rPr lang="en-US" i="1" dirty="0" err="1" smtClean="0"/>
              <a:t>rerender</a:t>
            </a:r>
            <a:r>
              <a:rPr lang="en-US" i="1" dirty="0" smtClean="0"/>
              <a:t> </a:t>
            </a:r>
            <a:r>
              <a:rPr lang="en-US" dirty="0" smtClean="0"/>
              <a:t>it as if it were painted in the style of a famous artist.</a:t>
            </a:r>
          </a:p>
          <a:p>
            <a:r>
              <a:rPr lang="en-US" dirty="0" smtClean="0"/>
              <a:t>Clever manipulation of </a:t>
            </a:r>
            <a:r>
              <a:rPr lang="en-US" dirty="0" err="1" smtClean="0"/>
              <a:t>convolutional</a:t>
            </a:r>
            <a:r>
              <a:rPr lang="en-US" dirty="0" smtClean="0"/>
              <a:t> filters can produce spectacular results on this problem.</a:t>
            </a:r>
            <a:endParaRPr lang="en-US" b="1" dirty="0" smtClean="0"/>
          </a:p>
          <a:p>
            <a:pPr algn="just"/>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228600"/>
            <a:ext cx="10820400" cy="6400799"/>
          </a:xfrm>
        </p:spPr>
        <p:txBody>
          <a:bodyPr>
            <a:noAutofit/>
          </a:bodyPr>
          <a:lstStyle/>
          <a:p>
            <a:pPr algn="just">
              <a:spcBef>
                <a:spcPts val="0"/>
              </a:spcBef>
            </a:pPr>
            <a:r>
              <a:rPr lang="en-US" sz="2400" dirty="0" smtClean="0"/>
              <a:t>Take a pre-trained </a:t>
            </a:r>
            <a:r>
              <a:rPr lang="en-US" sz="2400" dirty="0" err="1" smtClean="0"/>
              <a:t>convolutional</a:t>
            </a:r>
            <a:r>
              <a:rPr lang="en-US" sz="2400" dirty="0" smtClean="0"/>
              <a:t> network. </a:t>
            </a:r>
          </a:p>
          <a:p>
            <a:pPr algn="just">
              <a:spcBef>
                <a:spcPts val="0"/>
              </a:spcBef>
            </a:pPr>
            <a:r>
              <a:rPr lang="en-US" sz="2400" dirty="0" smtClean="0"/>
              <a:t>There are three images that we’re dealing with. </a:t>
            </a:r>
          </a:p>
          <a:p>
            <a:pPr algn="just">
              <a:spcBef>
                <a:spcPts val="0"/>
              </a:spcBef>
            </a:pPr>
            <a:r>
              <a:rPr lang="en-US" sz="2400" dirty="0" smtClean="0"/>
              <a:t>The first two are the source of content </a:t>
            </a:r>
            <a:r>
              <a:rPr lang="en-US" sz="2400" b="1" i="1" dirty="0" smtClean="0"/>
              <a:t>p </a:t>
            </a:r>
            <a:r>
              <a:rPr lang="en-US" sz="2400" dirty="0" smtClean="0"/>
              <a:t>and the source of style </a:t>
            </a:r>
            <a:r>
              <a:rPr lang="en-US" sz="2400" b="1" i="1" dirty="0" smtClean="0"/>
              <a:t>a. </a:t>
            </a:r>
          </a:p>
          <a:p>
            <a:pPr algn="just">
              <a:spcBef>
                <a:spcPts val="0"/>
              </a:spcBef>
            </a:pPr>
            <a:r>
              <a:rPr lang="en-US" sz="2400" dirty="0" smtClean="0"/>
              <a:t>The third image is the generated image </a:t>
            </a:r>
            <a:r>
              <a:rPr lang="en-US" sz="2400" b="1" i="1" dirty="0" smtClean="0"/>
              <a:t>x. </a:t>
            </a:r>
          </a:p>
          <a:p>
            <a:pPr algn="just">
              <a:spcBef>
                <a:spcPts val="0"/>
              </a:spcBef>
            </a:pPr>
            <a:r>
              <a:rPr lang="en-US" sz="2400" dirty="0" smtClean="0"/>
              <a:t>Goal will be to derive an error function that can </a:t>
            </a:r>
            <a:r>
              <a:rPr lang="en-US" sz="2400" dirty="0" err="1" smtClean="0"/>
              <a:t>backpropagate</a:t>
            </a:r>
            <a:r>
              <a:rPr lang="en-US" sz="2400" dirty="0" smtClean="0"/>
              <a:t> that, when minimized, will perfectly combine the content of the desired photograph and the style of the desired artwork.</a:t>
            </a:r>
          </a:p>
          <a:p>
            <a:pPr algn="just">
              <a:spcBef>
                <a:spcPts val="0"/>
              </a:spcBef>
            </a:pPr>
            <a:r>
              <a:rPr lang="en-US" sz="2400" dirty="0" smtClean="0"/>
              <a:t>Start with content first. </a:t>
            </a:r>
          </a:p>
          <a:p>
            <a:pPr algn="just">
              <a:spcBef>
                <a:spcPts val="0"/>
              </a:spcBef>
            </a:pPr>
            <a:r>
              <a:rPr lang="en-US" sz="2400" dirty="0" smtClean="0"/>
              <a:t>If a layer in the network has </a:t>
            </a:r>
            <a:r>
              <a:rPr lang="en-US" sz="2400" i="1" dirty="0" err="1" smtClean="0"/>
              <a:t>kl</a:t>
            </a:r>
            <a:r>
              <a:rPr lang="en-US" sz="2400" i="1" dirty="0" smtClean="0"/>
              <a:t> filters, then it produces a </a:t>
            </a:r>
            <a:r>
              <a:rPr lang="en-US" sz="2400" dirty="0" smtClean="0"/>
              <a:t>total of </a:t>
            </a:r>
            <a:r>
              <a:rPr lang="en-US" sz="2400" i="1" dirty="0" err="1" smtClean="0"/>
              <a:t>kl</a:t>
            </a:r>
            <a:r>
              <a:rPr lang="en-US" sz="2400" i="1" dirty="0" smtClean="0"/>
              <a:t> feature maps. </a:t>
            </a:r>
          </a:p>
          <a:p>
            <a:pPr algn="just">
              <a:spcBef>
                <a:spcPts val="0"/>
              </a:spcBef>
            </a:pPr>
            <a:r>
              <a:rPr lang="en-US" sz="2400" i="1" dirty="0" smtClean="0"/>
              <a:t>Let’s call the size of each feature map ml, the height times the </a:t>
            </a:r>
            <a:r>
              <a:rPr lang="en-US" sz="2400" dirty="0" smtClean="0"/>
              <a:t>width of the feature map.</a:t>
            </a:r>
          </a:p>
          <a:p>
            <a:pPr algn="just">
              <a:spcBef>
                <a:spcPts val="0"/>
              </a:spcBef>
            </a:pPr>
            <a:r>
              <a:rPr lang="en-US" sz="2400" dirty="0" smtClean="0"/>
              <a:t>The activations in all the feature maps of this layer can be stored in a matrix </a:t>
            </a:r>
            <a:r>
              <a:rPr lang="en-US" sz="2400" b="1" i="1" dirty="0" smtClean="0"/>
              <a:t>F(l) of size </a:t>
            </a:r>
            <a:r>
              <a:rPr lang="en-US" sz="2400" b="1" i="1" dirty="0" err="1" smtClean="0"/>
              <a:t>kl</a:t>
            </a:r>
            <a:r>
              <a:rPr lang="en-US" sz="2400" b="1" i="1" dirty="0" smtClean="0"/>
              <a:t> × ml. </a:t>
            </a:r>
          </a:p>
          <a:p>
            <a:pPr algn="just">
              <a:spcBef>
                <a:spcPts val="0"/>
              </a:spcBef>
            </a:pPr>
            <a:r>
              <a:rPr lang="en-US" sz="2400" dirty="0" smtClean="0"/>
              <a:t>Represent all the activations of the photograph in a matrix </a:t>
            </a:r>
            <a:r>
              <a:rPr lang="en-US" sz="2400" b="1" i="1" dirty="0" smtClean="0"/>
              <a:t>P(l) </a:t>
            </a:r>
            <a:r>
              <a:rPr lang="en-US" sz="2400" dirty="0" smtClean="0"/>
              <a:t>and all the </a:t>
            </a:r>
            <a:r>
              <a:rPr lang="en-US" sz="2400" b="1" i="1" dirty="0" smtClean="0"/>
              <a:t>activations </a:t>
            </a:r>
            <a:r>
              <a:rPr lang="en-US" sz="2400" dirty="0" smtClean="0"/>
              <a:t>of the generated image in the matrix </a:t>
            </a:r>
            <a:r>
              <a:rPr lang="en-US" sz="2400" b="1" i="1" dirty="0" smtClean="0"/>
              <a:t>X(l). </a:t>
            </a:r>
          </a:p>
          <a:p>
            <a:pPr algn="just">
              <a:spcBef>
                <a:spcPts val="0"/>
              </a:spcBef>
            </a:pPr>
            <a:r>
              <a:rPr lang="en-US" sz="2400" dirty="0" smtClean="0"/>
              <a:t>Use the </a:t>
            </a:r>
            <a:r>
              <a:rPr lang="en-US" sz="2400" b="1" i="1" dirty="0" smtClean="0"/>
              <a:t>relu4_2 </a:t>
            </a:r>
            <a:r>
              <a:rPr lang="en-US" sz="2400" dirty="0" smtClean="0"/>
              <a:t>of the original </a:t>
            </a:r>
            <a:r>
              <a:rPr lang="en-US" sz="2400" b="1" i="1" dirty="0" err="1" smtClean="0"/>
              <a:t>VGGNet</a:t>
            </a:r>
            <a:r>
              <a:rPr lang="en-US" sz="2400" b="1" i="1" dirty="0" smtClean="0"/>
              <a:t>:</a:t>
            </a:r>
            <a:endParaRPr lang="en-US" sz="2400" dirty="0"/>
          </a:p>
        </p:txBody>
      </p:sp>
      <p:pic>
        <p:nvPicPr>
          <p:cNvPr id="4098" name="Picture 2"/>
          <p:cNvPicPr>
            <a:picLocks noChangeAspect="1" noChangeArrowheads="1"/>
          </p:cNvPicPr>
          <p:nvPr/>
        </p:nvPicPr>
        <p:blipFill>
          <a:blip r:embed="rId2" cstate="print"/>
          <a:srcRect/>
          <a:stretch>
            <a:fillRect/>
          </a:stretch>
        </p:blipFill>
        <p:spPr bwMode="auto">
          <a:xfrm>
            <a:off x="6226175" y="5943600"/>
            <a:ext cx="3581400" cy="53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375" y="152400"/>
            <a:ext cx="10820399" cy="6400799"/>
          </a:xfrm>
        </p:spPr>
        <p:txBody>
          <a:bodyPr>
            <a:normAutofit/>
          </a:bodyPr>
          <a:lstStyle/>
          <a:p>
            <a:pPr algn="just"/>
            <a:r>
              <a:rPr lang="en-US" sz="2400" dirty="0" smtClean="0"/>
              <a:t>Construct a matrix known as the </a:t>
            </a:r>
            <a:r>
              <a:rPr lang="en-US" sz="2400" i="1" dirty="0" smtClean="0"/>
              <a:t>Gram matrix, which represents correlations between feature maps in a given layer.</a:t>
            </a:r>
          </a:p>
          <a:p>
            <a:pPr algn="just"/>
            <a:r>
              <a:rPr lang="en-US" sz="2400" i="1" dirty="0" smtClean="0"/>
              <a:t>The correlations </a:t>
            </a:r>
            <a:r>
              <a:rPr lang="en-US" sz="2400" dirty="0" smtClean="0"/>
              <a:t>represent the texture and feel that is common among all features, irrespective of which features we’re looking at. </a:t>
            </a:r>
          </a:p>
          <a:p>
            <a:pPr algn="just"/>
            <a:r>
              <a:rPr lang="en-US" sz="2400" dirty="0" smtClean="0"/>
              <a:t>Constructing the Gram matrix, which is of size </a:t>
            </a:r>
            <a:r>
              <a:rPr lang="en-US" sz="2400" i="1" dirty="0" err="1" smtClean="0"/>
              <a:t>kl</a:t>
            </a:r>
            <a:r>
              <a:rPr lang="en-US" sz="2400" i="1" dirty="0" smtClean="0"/>
              <a:t> × </a:t>
            </a:r>
            <a:r>
              <a:rPr lang="en-US" sz="2400" i="1" dirty="0" err="1" smtClean="0"/>
              <a:t>kl</a:t>
            </a:r>
            <a:r>
              <a:rPr lang="en-US" sz="2400" i="1" dirty="0" smtClean="0"/>
              <a:t>, for a given image is done as follows:</a:t>
            </a:r>
          </a:p>
          <a:p>
            <a:r>
              <a:rPr lang="en-US" sz="2400" dirty="0" smtClean="0"/>
              <a:t>Compute the Gram matrices for both the artwork in matrix </a:t>
            </a:r>
            <a:r>
              <a:rPr lang="en-US" sz="2400" b="1" i="1" dirty="0" smtClean="0"/>
              <a:t>A(l) </a:t>
            </a:r>
            <a:r>
              <a:rPr lang="en-US" sz="2400" dirty="0" smtClean="0"/>
              <a:t>and the generated image in </a:t>
            </a:r>
            <a:r>
              <a:rPr lang="en-US" sz="2400" b="1" i="1" dirty="0" smtClean="0"/>
              <a:t>G(l). </a:t>
            </a:r>
          </a:p>
          <a:p>
            <a:r>
              <a:rPr lang="en-US" sz="2400" dirty="0" smtClean="0"/>
              <a:t>Represent the error function as:</a:t>
            </a:r>
          </a:p>
          <a:p>
            <a:r>
              <a:rPr lang="en-US" sz="2400" dirty="0" smtClean="0"/>
              <a:t>Weight each squared difference equally (dividing by the number of layers to include in our style reconstruction). Specifically, we use the relu1_1, relu2_1, relu3_1, relu4_1, and relu5_1 layers of the original </a:t>
            </a:r>
            <a:r>
              <a:rPr lang="en-US" sz="2400" dirty="0" err="1" smtClean="0"/>
              <a:t>VGGNet</a:t>
            </a:r>
            <a:r>
              <a:rPr lang="en-US" sz="2400" dirty="0" smtClean="0"/>
              <a:t>. </a:t>
            </a:r>
          </a:p>
          <a:p>
            <a:r>
              <a:rPr lang="en-US" sz="2400" dirty="0" smtClean="0"/>
              <a:t>Omit full a discussion of the </a:t>
            </a:r>
            <a:r>
              <a:rPr lang="en-US" sz="2400" dirty="0" err="1" smtClean="0"/>
              <a:t>TensorFlow</a:t>
            </a:r>
            <a:r>
              <a:rPr lang="en-US" sz="2400" dirty="0" smtClean="0"/>
              <a:t> code (</a:t>
            </a:r>
            <a:r>
              <a:rPr lang="en-US" sz="2400" i="1" dirty="0" smtClean="0"/>
              <a:t>http://bit.ly/2qAODnp) for brevity, but the </a:t>
            </a:r>
            <a:r>
              <a:rPr lang="en-US" sz="2400" dirty="0" smtClean="0"/>
              <a:t>results, as shown in Figure 5-20, are again quite spectacular. </a:t>
            </a:r>
          </a:p>
          <a:p>
            <a:r>
              <a:rPr lang="en-US" sz="2400" dirty="0" smtClean="0"/>
              <a:t>Mix a photograph of the iconic MIT dome and Leonid </a:t>
            </a:r>
            <a:r>
              <a:rPr lang="en-US" sz="2400" dirty="0" err="1" smtClean="0"/>
              <a:t>Afremov’s</a:t>
            </a:r>
            <a:r>
              <a:rPr lang="en-US" sz="2400" dirty="0" smtClean="0"/>
              <a:t> </a:t>
            </a:r>
            <a:r>
              <a:rPr lang="en-US" sz="2400" i="1" dirty="0" smtClean="0"/>
              <a:t>Rain Princess.</a:t>
            </a:r>
            <a:endParaRPr lang="en-US" sz="2400" dirty="0" smtClean="0"/>
          </a:p>
          <a:p>
            <a:pPr algn="just"/>
            <a:endParaRPr lang="en-US" sz="2400" dirty="0"/>
          </a:p>
        </p:txBody>
      </p:sp>
      <p:pic>
        <p:nvPicPr>
          <p:cNvPr id="5122" name="Picture 2"/>
          <p:cNvPicPr>
            <a:picLocks noChangeAspect="1" noChangeArrowheads="1"/>
          </p:cNvPicPr>
          <p:nvPr/>
        </p:nvPicPr>
        <p:blipFill>
          <a:blip r:embed="rId2" cstate="print"/>
          <a:srcRect/>
          <a:stretch>
            <a:fillRect/>
          </a:stretch>
        </p:blipFill>
        <p:spPr bwMode="auto">
          <a:xfrm>
            <a:off x="2111375" y="2209800"/>
            <a:ext cx="2971800" cy="533400"/>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4930775" y="3124200"/>
            <a:ext cx="4038600" cy="657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1654175" y="228600"/>
            <a:ext cx="7543800" cy="5715000"/>
          </a:xfrm>
          <a:prstGeom prst="rect">
            <a:avLst/>
          </a:prstGeom>
          <a:noFill/>
          <a:ln w="9525">
            <a:noFill/>
            <a:miter lim="800000"/>
            <a:headEnd/>
            <a:tailEnd/>
          </a:ln>
        </p:spPr>
      </p:pic>
      <p:sp>
        <p:nvSpPr>
          <p:cNvPr id="5" name="Rectangle 4"/>
          <p:cNvSpPr/>
          <p:nvPr/>
        </p:nvSpPr>
        <p:spPr>
          <a:xfrm>
            <a:off x="663575" y="5943600"/>
            <a:ext cx="10363200" cy="830997"/>
          </a:xfrm>
          <a:prstGeom prst="rect">
            <a:avLst/>
          </a:prstGeom>
        </p:spPr>
        <p:txBody>
          <a:bodyPr wrap="square">
            <a:spAutoFit/>
          </a:bodyPr>
          <a:lstStyle/>
          <a:p>
            <a:r>
              <a:rPr lang="en-US" sz="2400" i="1" dirty="0" smtClean="0"/>
              <a:t>Figure 5-20. The result of mixing the Rain Princess with a photograph of the MIT Dome. Image credit: </a:t>
            </a:r>
            <a:r>
              <a:rPr lang="en-US" sz="2400" i="1" dirty="0" err="1" smtClean="0"/>
              <a:t>Anish</a:t>
            </a:r>
            <a:r>
              <a:rPr lang="en-US" sz="2400" i="1" dirty="0" smtClean="0"/>
              <a:t> </a:t>
            </a:r>
            <a:r>
              <a:rPr lang="en-US" sz="2400" i="1" dirty="0" err="1" smtClean="0"/>
              <a:t>Athalye</a:t>
            </a:r>
            <a:r>
              <a:rPr lang="en-US" sz="2400" i="1" dirty="0" smtClean="0"/>
              <a:t>.</a:t>
            </a:r>
            <a:endParaRPr lang="en-US"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658" y="76200"/>
            <a:ext cx="10109835" cy="639762"/>
          </a:xfrm>
        </p:spPr>
        <p:txBody>
          <a:bodyPr>
            <a:noAutofit/>
          </a:bodyPr>
          <a:lstStyle/>
          <a:p>
            <a:r>
              <a:rPr lang="en-US" sz="3200" dirty="0" smtClean="0"/>
              <a:t>Learning </a:t>
            </a:r>
            <a:r>
              <a:rPr lang="en-US" sz="3200" dirty="0" err="1" smtClean="0"/>
              <a:t>Convolutional</a:t>
            </a:r>
            <a:r>
              <a:rPr lang="en-US" sz="3200" dirty="0" smtClean="0"/>
              <a:t> Filters for Other Problem Domains</a:t>
            </a:r>
            <a:endParaRPr lang="en-US" sz="3200" dirty="0"/>
          </a:p>
        </p:txBody>
      </p:sp>
      <p:sp>
        <p:nvSpPr>
          <p:cNvPr id="3" name="Content Placeholder 2"/>
          <p:cNvSpPr>
            <a:spLocks noGrp="1"/>
          </p:cNvSpPr>
          <p:nvPr>
            <p:ph idx="1"/>
          </p:nvPr>
        </p:nvSpPr>
        <p:spPr>
          <a:xfrm>
            <a:off x="206375" y="838200"/>
            <a:ext cx="10820399" cy="5714999"/>
          </a:xfrm>
        </p:spPr>
        <p:txBody>
          <a:bodyPr>
            <a:normAutofit/>
          </a:bodyPr>
          <a:lstStyle/>
          <a:p>
            <a:pPr algn="just"/>
            <a:r>
              <a:rPr lang="en-US" sz="2600" dirty="0" smtClean="0"/>
              <a:t>Natural extension of image analysis is video analysis. </a:t>
            </a:r>
          </a:p>
          <a:p>
            <a:pPr algn="just"/>
            <a:r>
              <a:rPr lang="en-US" sz="2600" dirty="0" smtClean="0"/>
              <a:t>Using five-dimensional tensors (including time as a dimension) and applying three-dimensional convolutions is an easy way to extend the </a:t>
            </a:r>
            <a:r>
              <a:rPr lang="en-US" sz="2600" dirty="0" err="1" smtClean="0"/>
              <a:t>convolutional</a:t>
            </a:r>
            <a:r>
              <a:rPr lang="en-US" sz="2600" dirty="0" smtClean="0"/>
              <a:t> paradigm to video.</a:t>
            </a:r>
          </a:p>
          <a:p>
            <a:pPr algn="just"/>
            <a:r>
              <a:rPr lang="en-US" sz="2600" dirty="0" err="1" smtClean="0"/>
              <a:t>Convolutional</a:t>
            </a:r>
            <a:r>
              <a:rPr lang="en-US" sz="2600" dirty="0" smtClean="0"/>
              <a:t> filters have also been successfully used to analyze audiograms</a:t>
            </a:r>
            <a:r>
              <a:rPr lang="en-US" sz="2600" dirty="0" smtClean="0"/>
              <a:t>. </a:t>
            </a:r>
          </a:p>
          <a:p>
            <a:pPr algn="just"/>
            <a:r>
              <a:rPr lang="en-US" sz="2600" dirty="0" smtClean="0"/>
              <a:t>In </a:t>
            </a:r>
            <a:r>
              <a:rPr lang="en-US" sz="2600" dirty="0" smtClean="0"/>
              <a:t>these applications, a </a:t>
            </a:r>
            <a:r>
              <a:rPr lang="en-US" sz="2600" dirty="0" err="1" smtClean="0"/>
              <a:t>convolutional</a:t>
            </a:r>
            <a:r>
              <a:rPr lang="en-US" sz="2600" dirty="0" smtClean="0"/>
              <a:t> network slides over an audiogram input to predict phonemes on the other side.</a:t>
            </a:r>
          </a:p>
          <a:p>
            <a:pPr algn="just"/>
            <a:r>
              <a:rPr lang="en-US" sz="2600" dirty="0" smtClean="0"/>
              <a:t>Less intuitively, </a:t>
            </a:r>
            <a:r>
              <a:rPr lang="en-US" sz="2600" dirty="0" err="1" smtClean="0"/>
              <a:t>convolutional</a:t>
            </a:r>
            <a:r>
              <a:rPr lang="en-US" sz="2600" dirty="0" smtClean="0"/>
              <a:t> networks have also found some use in natural language processing. </a:t>
            </a:r>
          </a:p>
          <a:p>
            <a:pPr algn="just"/>
            <a:r>
              <a:rPr lang="en-US" sz="2600" dirty="0" smtClean="0"/>
              <a:t>More exotic uses of </a:t>
            </a:r>
            <a:r>
              <a:rPr lang="en-US" sz="2600" dirty="0" err="1" smtClean="0"/>
              <a:t>convolutional</a:t>
            </a:r>
            <a:r>
              <a:rPr lang="en-US" sz="2600" dirty="0" smtClean="0"/>
              <a:t> networks include teach algorithms to play board games, and analyzing biological molecules for drug discovery.</a:t>
            </a:r>
            <a:endParaRPr lang="en-US" sz="26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702</TotalTime>
  <Words>3679</Words>
  <Application>Microsoft Office PowerPoint</Application>
  <PresentationFormat>Custom</PresentationFormat>
  <Paragraphs>213</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UNIT-V</vt:lpstr>
      <vt:lpstr>UNIT – V</vt:lpstr>
      <vt:lpstr>Deep learning architectures: Convolutional Neural Networks : Neurons in Human Vision</vt:lpstr>
      <vt:lpstr>The Shortcomings of Feature Selection </vt:lpstr>
      <vt:lpstr>Slide 5</vt:lpstr>
      <vt:lpstr>Slide 6</vt:lpstr>
      <vt:lpstr>Slide 7</vt:lpstr>
      <vt:lpstr>Full Description of the Convolutional Layer</vt:lpstr>
      <vt:lpstr>Slide 9</vt:lpstr>
      <vt:lpstr>Slide 10</vt:lpstr>
      <vt:lpstr>Slide 11</vt:lpstr>
      <vt:lpstr>Max Pooling</vt:lpstr>
      <vt:lpstr>Full Architectural Description of Convolution Networks </vt:lpstr>
      <vt:lpstr>Slide 14</vt:lpstr>
      <vt:lpstr>Slide 15</vt:lpstr>
      <vt:lpstr>Slide 16</vt:lpstr>
      <vt:lpstr>Building a Convolutional Network for CIFAR-10</vt:lpstr>
      <vt:lpstr>Slide 18</vt:lpstr>
      <vt:lpstr>Slide 19</vt:lpstr>
      <vt:lpstr>Slide 20</vt:lpstr>
      <vt:lpstr>Slide 21</vt:lpstr>
      <vt:lpstr>Slide 22</vt:lpstr>
      <vt:lpstr>Slide 23</vt:lpstr>
      <vt:lpstr>Slide 24</vt:lpstr>
      <vt:lpstr>Learning Convolutional Filters for Other Problem Domains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UNIT-V</dc:title>
  <dc:creator>thatiparthi rajini kanth</dc:creator>
  <cp:lastModifiedBy>thatiparthi rajini kanth</cp:lastModifiedBy>
  <cp:revision>49</cp:revision>
  <dcterms:created xsi:type="dcterms:W3CDTF">2006-08-16T00:00:00Z</dcterms:created>
  <dcterms:modified xsi:type="dcterms:W3CDTF">2021-03-01T04:47:21Z</dcterms:modified>
</cp:coreProperties>
</file>