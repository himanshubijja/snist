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68" r:id="rId16"/>
    <p:sldId id="269" r:id="rId17"/>
    <p:sldId id="270" r:id="rId18"/>
  </p:sldIdLst>
  <p:sldSz cx="1116171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44" y="-96"/>
      </p:cViewPr>
      <p:guideLst>
        <p:guide orient="horz" pos="2160"/>
        <p:guide pos="35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9B32E-D802-4AA0-B7D9-1D308FC8E7C2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39763" y="685800"/>
            <a:ext cx="55784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7F3B4-6A3B-4B53-800A-462DB2B5957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A7F3B4-6A3B-4B53-800A-462DB2B5957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129" y="2130426"/>
            <a:ext cx="9487456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257" y="3886200"/>
            <a:ext cx="78131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698" y="4406901"/>
            <a:ext cx="948745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698" y="2906713"/>
            <a:ext cx="948745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8085" y="1600201"/>
            <a:ext cx="492975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73871" y="1600201"/>
            <a:ext cx="492975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086" y="1535113"/>
            <a:ext cx="493169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086" y="2174875"/>
            <a:ext cx="493169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69996" y="1535113"/>
            <a:ext cx="49336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69996" y="2174875"/>
            <a:ext cx="49336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273050"/>
            <a:ext cx="3672127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3920" y="273051"/>
            <a:ext cx="62397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086" y="1435101"/>
            <a:ext cx="3672127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7774" y="4800600"/>
            <a:ext cx="669702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87774" y="612775"/>
            <a:ext cx="669702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87774" y="5367338"/>
            <a:ext cx="669702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92242" y="274639"/>
            <a:ext cx="2511385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8086" y="274639"/>
            <a:ext cx="7348128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8086" y="274638"/>
            <a:ext cx="1004554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8086" y="1600201"/>
            <a:ext cx="1004554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086" y="6356351"/>
            <a:ext cx="260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3586" y="6356351"/>
            <a:ext cx="35345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9228" y="6356351"/>
            <a:ext cx="260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UNIT-VI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DEEP REINFORCEMENT LEARNING: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Deep Reinforcement Learning Masters Atari Games    </a:t>
            </a:r>
          </a:p>
          <a:p>
            <a:r>
              <a:rPr lang="en-US" dirty="0" smtClean="0"/>
              <a:t>Reinforcement Learning</a:t>
            </a:r>
          </a:p>
          <a:p>
            <a:r>
              <a:rPr lang="en-US" dirty="0" smtClean="0"/>
              <a:t>Markov Decision Processes (MDP)</a:t>
            </a:r>
          </a:p>
          <a:p>
            <a:r>
              <a:rPr lang="en-US" dirty="0" smtClean="0"/>
              <a:t>Explore Versus Exploit </a:t>
            </a:r>
          </a:p>
          <a:p>
            <a:r>
              <a:rPr lang="en-US" dirty="0" smtClean="0"/>
              <a:t>Pole Cart </a:t>
            </a:r>
            <a:r>
              <a:rPr lang="en-US" dirty="0" smtClean="0"/>
              <a:t>with Policy Gradients</a:t>
            </a:r>
          </a:p>
          <a:p>
            <a:r>
              <a:rPr lang="en-US" dirty="0" smtClean="0"/>
              <a:t>Q - Learning </a:t>
            </a:r>
            <a:r>
              <a:rPr lang="en-US" dirty="0" smtClean="0"/>
              <a:t>and Deep Q</a:t>
            </a:r>
          </a:p>
          <a:p>
            <a:r>
              <a:rPr lang="en-US" dirty="0" smtClean="0"/>
              <a:t>Networks</a:t>
            </a:r>
          </a:p>
          <a:p>
            <a:r>
              <a:rPr lang="en-US" dirty="0" smtClean="0"/>
              <a:t>Improving and Moving Beyond DQN.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76200"/>
            <a:ext cx="10045542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Deep Reinforcement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043" y="838200"/>
            <a:ext cx="10696642" cy="5791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2800" dirty="0" smtClean="0"/>
              <a:t>Reinforcement learning, which is a branch of machine learning that deals with learning via interaction and feedback. </a:t>
            </a:r>
          </a:p>
          <a:p>
            <a:pPr algn="just"/>
            <a:r>
              <a:rPr lang="en-US" sz="2800" dirty="0" smtClean="0"/>
              <a:t>Reinforcement learning is essential to building agents that can not only perceive and interpret the world, but also take action and interact with it. </a:t>
            </a:r>
          </a:p>
          <a:p>
            <a:pPr algn="just"/>
            <a:r>
              <a:rPr lang="en-US" sz="2800" dirty="0" smtClean="0"/>
              <a:t>Discuss how to incorporate deep neural networks into the framework of reinforcement learning and discuss recent advances and improvements in this field</a:t>
            </a:r>
            <a:r>
              <a:rPr lang="en-US" dirty="0" smtClean="0"/>
              <a:t>.</a:t>
            </a:r>
          </a:p>
          <a:p>
            <a:pPr algn="just">
              <a:buNone/>
            </a:pPr>
            <a:r>
              <a:rPr lang="en-US" sz="4100" b="1" dirty="0" smtClean="0"/>
              <a:t>Deep Reinforcement Learning Masters Atari Games</a:t>
            </a:r>
          </a:p>
          <a:p>
            <a:pPr algn="just"/>
            <a:r>
              <a:rPr lang="en-US" sz="2600" dirty="0" smtClean="0"/>
              <a:t>The application of deep neural networks to reinforcement learning had a major breakthrough in 2014, when the London startup </a:t>
            </a:r>
            <a:r>
              <a:rPr lang="en-US" sz="2600" dirty="0" err="1" smtClean="0"/>
              <a:t>DeepMind</a:t>
            </a:r>
            <a:r>
              <a:rPr lang="en-US" sz="2600" dirty="0" smtClean="0"/>
              <a:t> astonished the machine learning community by unveiling a deep neural network that could learn to play Atari games with superhuman skill.</a:t>
            </a:r>
          </a:p>
          <a:p>
            <a:pPr algn="just"/>
            <a:r>
              <a:rPr lang="en-US" sz="2800" dirty="0" smtClean="0"/>
              <a:t>This network, termed a </a:t>
            </a:r>
            <a:r>
              <a:rPr lang="en-US" sz="2800" i="1" dirty="0" smtClean="0"/>
              <a:t>Deep Q-Network (DQN) was </a:t>
            </a:r>
            <a:r>
              <a:rPr lang="en-US" sz="2800" dirty="0" smtClean="0"/>
              <a:t>the first large-scale successful application of reinforcement learning with deep neural networks.</a:t>
            </a:r>
          </a:p>
          <a:p>
            <a:r>
              <a:rPr lang="en-US" sz="2800" dirty="0" smtClean="0"/>
              <a:t>DQN was so remarkable because the same architecture, without any changes, was capable of learning 49 different Atari games, despite each game having different rules, goals, and game play structure.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56" y="304800"/>
            <a:ext cx="5105400" cy="6248399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 smtClean="0"/>
              <a:t>To accomplish this feat, Deep Mind brought together many traditional ideas in reinforcement learning while also developing a few novel techniques that proved key to DQN’s success. </a:t>
            </a:r>
          </a:p>
          <a:p>
            <a:pPr algn="just"/>
            <a:r>
              <a:rPr lang="en-US" dirty="0" smtClean="0"/>
              <a:t>Implement DQN, as it is described in the </a:t>
            </a:r>
            <a:r>
              <a:rPr lang="en-US" i="1" dirty="0" smtClean="0"/>
              <a:t>Nature paper “Human-level control </a:t>
            </a:r>
            <a:r>
              <a:rPr lang="en-US" dirty="0" smtClean="0"/>
              <a:t>through deep reinforcement learning.”</a:t>
            </a:r>
          </a:p>
          <a:p>
            <a:pPr algn="just"/>
            <a:r>
              <a:rPr lang="en-US" dirty="0" smtClean="0"/>
              <a:t>But first, let’s take a dive into reinforcement learning (Figure 9-1).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856" y="0"/>
            <a:ext cx="51816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580856" y="5657671"/>
            <a:ext cx="55808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 smtClean="0"/>
              <a:t>Figure 9-1. A deep reinforcement learning agent playing Breakout. This image is from the </a:t>
            </a:r>
            <a:r>
              <a:rPr lang="en-US" b="1" i="1" dirty="0" err="1" smtClean="0"/>
              <a:t>OpenAI</a:t>
            </a:r>
            <a:r>
              <a:rPr lang="en-US" b="1" i="1" dirty="0" smtClean="0"/>
              <a:t> Gym3 DQN agent that we build in this chapter.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76200"/>
            <a:ext cx="10045542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What Is Reinforcement 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685800"/>
            <a:ext cx="5791200" cy="579119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100" dirty="0" smtClean="0"/>
              <a:t>Reinforcement learning, at its essentials, is learning by interacting with an environment.</a:t>
            </a:r>
          </a:p>
          <a:p>
            <a:pPr algn="just">
              <a:spcBef>
                <a:spcPts val="0"/>
              </a:spcBef>
            </a:pPr>
            <a:r>
              <a:rPr lang="en-US" sz="2100" dirty="0" smtClean="0"/>
              <a:t>Learning process involves an </a:t>
            </a:r>
            <a:r>
              <a:rPr lang="en-US" sz="2100" i="1" dirty="0" smtClean="0"/>
              <a:t>actor, an environment, and a reward signal.</a:t>
            </a:r>
          </a:p>
          <a:p>
            <a:pPr algn="just">
              <a:spcBef>
                <a:spcPts val="0"/>
              </a:spcBef>
            </a:pPr>
            <a:r>
              <a:rPr lang="en-US" sz="2100" dirty="0" smtClean="0"/>
              <a:t>The actor chooses to take an action in the environment, for which the actor is rewarded accordingly. </a:t>
            </a:r>
          </a:p>
          <a:p>
            <a:pPr algn="just">
              <a:spcBef>
                <a:spcPts val="0"/>
              </a:spcBef>
            </a:pPr>
            <a:r>
              <a:rPr lang="en-US" sz="2100" dirty="0" smtClean="0"/>
              <a:t>The way in which an actor chooses actions is called a </a:t>
            </a:r>
            <a:r>
              <a:rPr lang="en-US" sz="2100" i="1" dirty="0" smtClean="0"/>
              <a:t>policy.</a:t>
            </a:r>
          </a:p>
          <a:p>
            <a:pPr algn="just">
              <a:spcBef>
                <a:spcPts val="0"/>
              </a:spcBef>
            </a:pPr>
            <a:r>
              <a:rPr lang="en-US" sz="2100" i="1" dirty="0" smtClean="0"/>
              <a:t>The </a:t>
            </a:r>
            <a:r>
              <a:rPr lang="en-US" sz="2100" dirty="0" smtClean="0"/>
              <a:t>actor wants to increase the reward it receives, and so must learn an optimal policy for interacting with the environment (Figure 9-2).</a:t>
            </a:r>
          </a:p>
          <a:p>
            <a:pPr algn="just">
              <a:spcBef>
                <a:spcPts val="0"/>
              </a:spcBef>
            </a:pPr>
            <a:r>
              <a:rPr lang="en-US" sz="2100" dirty="0" smtClean="0"/>
              <a:t>Reinforcement learning is different from the other types of learning that we have covered thus far. </a:t>
            </a:r>
          </a:p>
          <a:p>
            <a:pPr algn="just">
              <a:spcBef>
                <a:spcPts val="0"/>
              </a:spcBef>
            </a:pPr>
            <a:r>
              <a:rPr lang="en-US" sz="2100" dirty="0" smtClean="0"/>
              <a:t>In traditional supervised learning,  we are given data and labels, and are tasked with predicting labels given data.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38056" y="838200"/>
            <a:ext cx="5123657" cy="242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342856" y="3429000"/>
            <a:ext cx="3986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 smtClean="0"/>
              <a:t>Figure 9-2. Reinforcement learning setup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114257" y="3912275"/>
            <a:ext cx="487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 smtClean="0"/>
              <a:t> In unsupervised learning, we are given just data and are tasked with discovering underlying structure in this data. </a:t>
            </a:r>
          </a:p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 smtClean="0"/>
              <a:t> In reinforcement learning, we are given neither data nor labels. </a:t>
            </a:r>
          </a:p>
          <a:p>
            <a:pPr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sz="2100" dirty="0" smtClean="0"/>
              <a:t> Learning signal is derived from the rewards given to the agent by the environment.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56" y="228600"/>
            <a:ext cx="10668000" cy="64008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Reinforcement learning is exciting to many in the artificial intelligence community because it is a general-purpose framework for creating intelligent agents.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Given an environment and some rewards, the agent learns to interact with that environment to maximize its total reward.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This type of learning is more in line with how humans develop.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Yes, we can build a pretty good model to classify dogs from cats with extremely high accuracy by training on thousands of images.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But you won’t find this approach used in any elementary schools.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Humans interact with their environment to learn representations of the world which they can use to make decisions.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Reinforcement learning applications are at the forefront of many cutting-edge technologies including self-driving cars, robotic motor control, game playing, air-conditioning control, ad-placement optimization, and stock market trading strategies.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228600"/>
            <a:ext cx="5181600" cy="640079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As an illustrative exercise, we’ll be tackling a simple reinforcement learning and control problem called pole-balancing. </a:t>
            </a:r>
          </a:p>
          <a:p>
            <a:pPr algn="just"/>
            <a:r>
              <a:rPr lang="en-US" dirty="0" smtClean="0"/>
              <a:t>In this problem, there is a cart with a pole that is connected by a hinge, so the pole can swing around the cart. </a:t>
            </a:r>
          </a:p>
          <a:p>
            <a:pPr algn="just"/>
            <a:r>
              <a:rPr lang="en-US" dirty="0" smtClean="0"/>
              <a:t>There is an agent that can control the cart, moving it left or right. </a:t>
            </a:r>
          </a:p>
          <a:p>
            <a:pPr algn="just"/>
            <a:r>
              <a:rPr lang="en-US" dirty="0" smtClean="0"/>
              <a:t>There is an environment, which rewards the agent when the pole is pointed upward, and penalizes the agent when the pole falls over (Figure 9-3).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4656" y="685800"/>
            <a:ext cx="5362575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152400"/>
            <a:ext cx="10045542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Markov Decision Processes (MDP)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990600"/>
            <a:ext cx="10820400" cy="5638799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dirty="0" smtClean="0"/>
              <a:t>Our pole-balancing example has a few important elements, which we formalize as a </a:t>
            </a:r>
            <a:r>
              <a:rPr lang="en-US" i="1" dirty="0" smtClean="0"/>
              <a:t>Markov Decision Process (MDP). These elements are:</a:t>
            </a:r>
          </a:p>
          <a:p>
            <a:pPr algn="just">
              <a:buNone/>
            </a:pPr>
            <a:r>
              <a:rPr lang="en-US" b="1" i="1" dirty="0" smtClean="0"/>
              <a:t>State</a:t>
            </a:r>
          </a:p>
          <a:p>
            <a:pPr algn="just"/>
            <a:r>
              <a:rPr lang="en-US" dirty="0" smtClean="0"/>
              <a:t>The cart has a range of possible places on the x-plane where it can be. Similarly, the pole has a range of possible angles.</a:t>
            </a:r>
          </a:p>
          <a:p>
            <a:pPr algn="just">
              <a:buNone/>
            </a:pPr>
            <a:r>
              <a:rPr lang="en-US" b="1" i="1" dirty="0" smtClean="0"/>
              <a:t>Action</a:t>
            </a:r>
          </a:p>
          <a:p>
            <a:pPr algn="just"/>
            <a:r>
              <a:rPr lang="en-US" dirty="0" smtClean="0"/>
              <a:t>The agent can take action by moving the cart either left or right.</a:t>
            </a:r>
          </a:p>
          <a:p>
            <a:pPr algn="just">
              <a:buNone/>
            </a:pPr>
            <a:r>
              <a:rPr lang="en-US" b="1" i="1" dirty="0" smtClean="0"/>
              <a:t>State Transition</a:t>
            </a:r>
          </a:p>
          <a:p>
            <a:pPr algn="just"/>
            <a:r>
              <a:rPr lang="en-US" dirty="0" smtClean="0"/>
              <a:t>When the agent acts, the environment changes—the cart moves and the pole changes angle and velocity.</a:t>
            </a:r>
          </a:p>
          <a:p>
            <a:pPr algn="just">
              <a:buNone/>
            </a:pPr>
            <a:r>
              <a:rPr lang="en-US" b="1" i="1" dirty="0" smtClean="0"/>
              <a:t>Reward</a:t>
            </a:r>
          </a:p>
          <a:p>
            <a:pPr algn="just"/>
            <a:r>
              <a:rPr lang="en-US" dirty="0" smtClean="0"/>
              <a:t>If an agent balances the pole well, it receives a positive reward. If the pole falls,</a:t>
            </a:r>
          </a:p>
          <a:p>
            <a:pPr algn="just"/>
            <a:r>
              <a:rPr lang="en-US" dirty="0" smtClean="0"/>
              <a:t>the agent receives a negative reward.</a:t>
            </a:r>
          </a:p>
          <a:p>
            <a:pPr algn="just">
              <a:buNone/>
            </a:pPr>
            <a:r>
              <a:rPr lang="en-US" b="1" dirty="0" smtClean="0"/>
              <a:t>An MDP is defined as the following:</a:t>
            </a:r>
          </a:p>
          <a:p>
            <a:pPr algn="just">
              <a:buNone/>
            </a:pPr>
            <a:r>
              <a:rPr lang="en-US" dirty="0" smtClean="0"/>
              <a:t>       • </a:t>
            </a:r>
            <a:r>
              <a:rPr lang="en-US" i="1" dirty="0" smtClean="0"/>
              <a:t>S, a finite set of possible states</a:t>
            </a:r>
          </a:p>
          <a:p>
            <a:pPr algn="just">
              <a:buNone/>
            </a:pPr>
            <a:r>
              <a:rPr lang="en-US" i="1" dirty="0" smtClean="0"/>
              <a:t>       </a:t>
            </a:r>
            <a:r>
              <a:rPr lang="en-US" dirty="0" smtClean="0"/>
              <a:t>• </a:t>
            </a:r>
            <a:r>
              <a:rPr lang="en-US" i="1" dirty="0" smtClean="0"/>
              <a:t>A, a finite set of actions</a:t>
            </a:r>
          </a:p>
          <a:p>
            <a:pPr algn="just">
              <a:buNone/>
            </a:pPr>
            <a:r>
              <a:rPr lang="en-US" dirty="0" smtClean="0"/>
              <a:t>       • </a:t>
            </a:r>
            <a:r>
              <a:rPr lang="en-US" i="1" dirty="0" smtClean="0"/>
              <a:t>P r, s′ s, a , a state transition function</a:t>
            </a:r>
          </a:p>
          <a:p>
            <a:pPr algn="just">
              <a:buNone/>
            </a:pPr>
            <a:r>
              <a:rPr lang="en-US" dirty="0" smtClean="0"/>
              <a:t>       • </a:t>
            </a:r>
            <a:r>
              <a:rPr lang="en-US" i="1" dirty="0" smtClean="0"/>
              <a:t>R, reward function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0"/>
            <a:ext cx="5791200" cy="6858000"/>
          </a:xfrm>
        </p:spPr>
        <p:txBody>
          <a:bodyPr>
            <a:noAutofit/>
          </a:bodyPr>
          <a:lstStyle/>
          <a:p>
            <a:pPr algn="just"/>
            <a:r>
              <a:rPr lang="en-US" sz="2300" dirty="0" smtClean="0"/>
              <a:t>MDPs offer a mathematical framework for modeling decision-making in a given environment (Figure 9-4).</a:t>
            </a:r>
          </a:p>
          <a:p>
            <a:pPr algn="just"/>
            <a:r>
              <a:rPr lang="en-US" sz="2300" dirty="0" smtClean="0"/>
              <a:t>As an agent takes action in an MDP framework, it forms an </a:t>
            </a:r>
            <a:r>
              <a:rPr lang="en-US" sz="2300" i="1" dirty="0" smtClean="0"/>
              <a:t>episode.</a:t>
            </a:r>
          </a:p>
          <a:p>
            <a:pPr algn="just"/>
            <a:r>
              <a:rPr lang="en-US" sz="2300" i="1" dirty="0" smtClean="0"/>
              <a:t> An episode consists </a:t>
            </a:r>
            <a:r>
              <a:rPr lang="en-US" sz="2300" dirty="0" smtClean="0"/>
              <a:t>of series of </a:t>
            </a:r>
            <a:r>
              <a:rPr lang="en-US" sz="2300" dirty="0" err="1" smtClean="0"/>
              <a:t>tuples</a:t>
            </a:r>
            <a:r>
              <a:rPr lang="en-US" sz="2300" dirty="0" smtClean="0"/>
              <a:t> of states, actions, and rewards. </a:t>
            </a:r>
          </a:p>
          <a:p>
            <a:pPr algn="just"/>
            <a:r>
              <a:rPr lang="en-US" sz="2300" dirty="0" smtClean="0"/>
              <a:t>Episodes run until the environment reaches a terminal state, like the “Game Over” screen in Atari games, or when the pole hits the ground in our pole-cart example. </a:t>
            </a:r>
          </a:p>
          <a:p>
            <a:pPr algn="just"/>
            <a:r>
              <a:rPr lang="en-US" sz="2300" dirty="0" smtClean="0"/>
              <a:t>The following equation shows the variables in an episode:</a:t>
            </a:r>
          </a:p>
          <a:p>
            <a:pPr algn="just"/>
            <a:r>
              <a:rPr lang="pt-BR" sz="2300" i="1" dirty="0" smtClean="0"/>
              <a:t>s0, a0, r0 , s1, a1, r1 , . . . sn, an, rn</a:t>
            </a:r>
          </a:p>
          <a:p>
            <a:pPr algn="just"/>
            <a:r>
              <a:rPr lang="en-US" sz="2300" dirty="0" smtClean="0"/>
              <a:t>In pole-cart, our environment state can be a </a:t>
            </a:r>
            <a:r>
              <a:rPr lang="en-US" sz="2300" dirty="0" err="1" smtClean="0"/>
              <a:t>tuple</a:t>
            </a:r>
            <a:r>
              <a:rPr lang="en-US" sz="2300" dirty="0" smtClean="0"/>
              <a:t> of the position of the cart and the angle of the pole, like so: </a:t>
            </a:r>
          </a:p>
          <a:p>
            <a:pPr algn="just"/>
            <a:r>
              <a:rPr lang="en-US" sz="2300" dirty="0" smtClean="0"/>
              <a:t>(</a:t>
            </a:r>
            <a:r>
              <a:rPr lang="en-US" sz="2300" i="1" dirty="0" err="1" smtClean="0"/>
              <a:t>xcart</a:t>
            </a:r>
            <a:r>
              <a:rPr lang="en-US" sz="2300" i="1" dirty="0" smtClean="0"/>
              <a:t>, </a:t>
            </a:r>
            <a:r>
              <a:rPr lang="el-GR" sz="2300" i="1" dirty="0" smtClean="0"/>
              <a:t>θ</a:t>
            </a:r>
            <a:r>
              <a:rPr lang="en-US" sz="2300" i="1" dirty="0" smtClean="0"/>
              <a:t>pole).</a:t>
            </a:r>
            <a:endParaRPr lang="en-US" sz="23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4256" y="228600"/>
            <a:ext cx="5047456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228600"/>
            <a:ext cx="10744200" cy="64007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POLICY</a:t>
            </a:r>
          </a:p>
          <a:p>
            <a:r>
              <a:rPr lang="en-US" sz="2400" dirty="0" smtClean="0"/>
              <a:t>MDP’s aim is to find an optimal policy for our agent. </a:t>
            </a:r>
          </a:p>
          <a:p>
            <a:r>
              <a:rPr lang="en-US" sz="2400" i="1" dirty="0" smtClean="0"/>
              <a:t>Policies are the way in which </a:t>
            </a:r>
            <a:r>
              <a:rPr lang="en-US" sz="2400" dirty="0" smtClean="0"/>
              <a:t>our agent acts based on its current state. </a:t>
            </a:r>
          </a:p>
          <a:p>
            <a:r>
              <a:rPr lang="en-US" sz="2400" dirty="0" smtClean="0"/>
              <a:t>Formally, policies can be represented as a function </a:t>
            </a:r>
            <a:r>
              <a:rPr lang="en-US" sz="2400" i="1" dirty="0" smtClean="0"/>
              <a:t>π that chooses the action a that the agent will take in state s.</a:t>
            </a:r>
          </a:p>
          <a:p>
            <a:r>
              <a:rPr lang="en-US" sz="2400" dirty="0" smtClean="0"/>
              <a:t>The objective of our MDP is to find a policy to maximize the expected future return:</a:t>
            </a:r>
          </a:p>
          <a:p>
            <a:r>
              <a:rPr lang="pt-BR" sz="2400" dirty="0" smtClean="0"/>
              <a:t>max</a:t>
            </a:r>
            <a:r>
              <a:rPr lang="pt-BR" sz="2400" i="1" baseline="-25000" dirty="0" smtClean="0"/>
              <a:t>π</a:t>
            </a:r>
            <a:r>
              <a:rPr lang="pt-BR" sz="2400" i="1" dirty="0" smtClean="0"/>
              <a:t> E[ R</a:t>
            </a:r>
            <a:r>
              <a:rPr lang="pt-BR" sz="2400" i="1" baseline="-25000" dirty="0" smtClean="0"/>
              <a:t>0</a:t>
            </a:r>
            <a:r>
              <a:rPr lang="pt-BR" sz="2400" i="1" dirty="0" smtClean="0"/>
              <a:t> + R</a:t>
            </a:r>
            <a:r>
              <a:rPr lang="pt-BR" sz="2400" i="1" baseline="-25000" dirty="0" smtClean="0"/>
              <a:t>1</a:t>
            </a:r>
            <a:r>
              <a:rPr lang="pt-BR" sz="2400" i="1" dirty="0" smtClean="0"/>
              <a:t> + . . . R</a:t>
            </a:r>
            <a:r>
              <a:rPr lang="pt-BR" sz="2400" i="1" baseline="-25000" dirty="0" smtClean="0"/>
              <a:t>t</a:t>
            </a:r>
            <a:r>
              <a:rPr lang="pt-BR" sz="2400" i="1" dirty="0" smtClean="0"/>
              <a:t> | π]</a:t>
            </a:r>
          </a:p>
          <a:p>
            <a:r>
              <a:rPr lang="en-US" sz="2400" dirty="0" smtClean="0"/>
              <a:t>In this objective, R represents the </a:t>
            </a:r>
            <a:r>
              <a:rPr lang="en-US" sz="2400" i="1" dirty="0" smtClean="0"/>
              <a:t>future return of each episode. </a:t>
            </a:r>
          </a:p>
          <a:p>
            <a:r>
              <a:rPr lang="en-US" sz="2400" i="1" dirty="0" smtClean="0"/>
              <a:t>Let’s define exactly </a:t>
            </a:r>
            <a:r>
              <a:rPr lang="en-US" sz="2400" dirty="0" smtClean="0"/>
              <a:t>what future return means. </a:t>
            </a:r>
          </a:p>
          <a:p>
            <a:pPr>
              <a:buNone/>
            </a:pPr>
            <a:r>
              <a:rPr lang="en-US" sz="3500" b="1" dirty="0" smtClean="0"/>
              <a:t>Future Return</a:t>
            </a:r>
          </a:p>
          <a:p>
            <a:r>
              <a:rPr lang="en-US" sz="2400" dirty="0" smtClean="0"/>
              <a:t>Future return is how we consider the rewards of the future. </a:t>
            </a:r>
          </a:p>
          <a:p>
            <a:r>
              <a:rPr lang="en-US" sz="2400" dirty="0" smtClean="0"/>
              <a:t>Choosing the best action requires consideration of not only the immediate effects of that action, but also the long-term consequences. </a:t>
            </a:r>
          </a:p>
          <a:p>
            <a:r>
              <a:rPr lang="en-US" sz="2400" dirty="0" smtClean="0"/>
              <a:t>Sometimes the best action actually has a negative immediate effect, but a better long-term result. </a:t>
            </a:r>
          </a:p>
          <a:p>
            <a:r>
              <a:rPr lang="en-US" sz="2400" dirty="0" smtClean="0"/>
              <a:t>Ex: a mountain-climbing agent that is rewarded by its altitude may actually have to climb downhill to reach a better path to the mountain’s peak.</a:t>
            </a:r>
          </a:p>
          <a:p>
            <a:r>
              <a:rPr lang="en-US" sz="2400" dirty="0" smtClean="0"/>
              <a:t>Therefore, we want our agents to optimize for </a:t>
            </a:r>
            <a:r>
              <a:rPr lang="en-US" sz="2400" i="1" dirty="0" smtClean="0"/>
              <a:t>future return. </a:t>
            </a:r>
          </a:p>
          <a:p>
            <a:r>
              <a:rPr lang="en-US" sz="2400" i="1" dirty="0" smtClean="0"/>
              <a:t>In order to do that, the </a:t>
            </a:r>
            <a:r>
              <a:rPr lang="en-US" sz="2400" dirty="0" smtClean="0"/>
              <a:t>agent must consider the future consequences of its actions.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228600"/>
            <a:ext cx="10820400" cy="6400799"/>
          </a:xfrm>
        </p:spPr>
        <p:txBody>
          <a:bodyPr>
            <a:noAutofit/>
          </a:bodyPr>
          <a:lstStyle/>
          <a:p>
            <a:pPr algn="just">
              <a:spcBef>
                <a:spcPts val="0"/>
              </a:spcBef>
            </a:pPr>
            <a:r>
              <a:rPr lang="en-US" sz="2400" dirty="0" smtClean="0"/>
              <a:t>For example, in a game of Pong, the agent receives a reward when the ball passes into the opponent’s goal.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However, the actions responsible for this reward (the inputs that position the racquet to strike scoring hit) happen many time steps before the reward is received.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The reward for each of those actions is delayed.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We can incorporate delayed rewards into our overall reward signal by constructing a </a:t>
            </a:r>
            <a:r>
              <a:rPr lang="en-US" sz="2400" i="1" dirty="0" smtClean="0"/>
              <a:t>return for each time step that takes into account future rewards as well as immediate </a:t>
            </a:r>
            <a:r>
              <a:rPr lang="en-US" sz="2400" dirty="0" smtClean="0"/>
              <a:t>rewards.</a:t>
            </a:r>
          </a:p>
          <a:p>
            <a:pPr algn="just">
              <a:spcBef>
                <a:spcPts val="0"/>
              </a:spcBef>
              <a:buNone/>
            </a:pPr>
            <a:r>
              <a:rPr lang="en-US" dirty="0" smtClean="0"/>
              <a:t>Explore Versus Exploit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Reinforcement learning is fundamentally a trial-and-error process.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In such a framework, an agent afraid to make mistakes can prove to be highly problematic. Consider the following scenario.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A mouse is placed in the maze shown in Figure 9-5. </a:t>
            </a:r>
          </a:p>
          <a:p>
            <a:pPr algn="just">
              <a:spcBef>
                <a:spcPts val="0"/>
              </a:spcBef>
            </a:pPr>
            <a:r>
              <a:rPr lang="en-US" sz="2400" dirty="0" smtClean="0"/>
              <a:t>Our agent must control the mouse to maximize reward.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228600"/>
            <a:ext cx="5334000" cy="640079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/>
              <a:t>If the mouse gets the water, it receives a reward of +1; if the mouse reaches a poison container (red), it receives a reward of -10; if the mouse gets the cheese, it receives a reward of +100. </a:t>
            </a:r>
          </a:p>
          <a:p>
            <a:pPr algn="just"/>
            <a:r>
              <a:rPr lang="en-US" dirty="0" smtClean="0"/>
              <a:t>Upon receiving reward, the episode is over. </a:t>
            </a:r>
          </a:p>
          <a:p>
            <a:pPr algn="just"/>
            <a:r>
              <a:rPr lang="en-US" dirty="0" smtClean="0"/>
              <a:t>The optimal policy involves the mouse successfully navigating to the cheese and eating it.</a:t>
            </a:r>
          </a:p>
          <a:p>
            <a:pPr algn="just"/>
            <a:r>
              <a:rPr lang="en-US" dirty="0" smtClean="0"/>
              <a:t>In the first episode, the mouse takes the left route, steps on a trap, and receives a -10 reward. </a:t>
            </a:r>
          </a:p>
          <a:p>
            <a:pPr algn="just"/>
            <a:r>
              <a:rPr lang="en-US" dirty="0" smtClean="0"/>
              <a:t>In the second episode, the mouse avoids the left path, since it resulted in such a negative reward, and drinks the water immediately to its right for a +1 reward.</a:t>
            </a:r>
          </a:p>
          <a:p>
            <a:pPr algn="just"/>
            <a:r>
              <a:rPr lang="en-US" dirty="0" smtClean="0"/>
              <a:t>After two episodes, it would seem that the mouse has found a good policy. </a:t>
            </a:r>
          </a:p>
          <a:p>
            <a:pPr algn="just"/>
            <a:r>
              <a:rPr lang="en-US" dirty="0" smtClean="0"/>
              <a:t>It continues to follow its learned policy on subsequent episodes and achieves the moderate +1 reward reliably.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28506" y="0"/>
            <a:ext cx="523875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885657" y="4800600"/>
            <a:ext cx="495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Figure 9-5. A predicament that many mice find themselves in</a:t>
            </a:r>
            <a:endParaRPr lang="en-US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5885657" y="5638800"/>
            <a:ext cx="51054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 smtClean="0"/>
              <a:t>Since our agent utilizes a greedy strategy—always choosing the model’s best action—it is stuck in a policy that is a </a:t>
            </a:r>
            <a:r>
              <a:rPr lang="en-US" sz="2100" i="1" dirty="0" smtClean="0"/>
              <a:t>local maximum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086" y="152400"/>
            <a:ext cx="10045542" cy="609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Pole-Cart with Policy </a:t>
            </a:r>
            <a:r>
              <a:rPr lang="en-US" dirty="0" smtClean="0"/>
              <a:t>Gradients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56" y="838200"/>
            <a:ext cx="10668000" cy="563879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We’re </a:t>
            </a:r>
            <a:r>
              <a:rPr lang="en-US" sz="2400" dirty="0" smtClean="0"/>
              <a:t>going to implement a policy-gradient agent to solve pole-cart, a classic </a:t>
            </a:r>
            <a:r>
              <a:rPr lang="en-US" sz="2400" dirty="0" smtClean="0"/>
              <a:t>reinforcement learning </a:t>
            </a:r>
            <a:r>
              <a:rPr lang="en-US" sz="2400" dirty="0" smtClean="0"/>
              <a:t>problem. </a:t>
            </a:r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dirty="0" smtClean="0"/>
              <a:t>will be using an environment from the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</a:t>
            </a:r>
            <a:r>
              <a:rPr lang="en-US" sz="2400" dirty="0" smtClean="0"/>
              <a:t>Gym created </a:t>
            </a:r>
            <a:r>
              <a:rPr lang="en-US" sz="2400" dirty="0" smtClean="0"/>
              <a:t>just for this task.</a:t>
            </a:r>
          </a:p>
          <a:p>
            <a:r>
              <a:rPr lang="en-US" sz="2400" dirty="0" err="1" smtClean="0"/>
              <a:t>OpenAI</a:t>
            </a:r>
            <a:r>
              <a:rPr lang="en-US" sz="2400" dirty="0" smtClean="0"/>
              <a:t> </a:t>
            </a:r>
            <a:r>
              <a:rPr lang="en-US" sz="2400" dirty="0" smtClean="0"/>
              <a:t>Gym The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Gym is a Python toolkit for developing reinforcement agents. </a:t>
            </a:r>
            <a:endParaRPr lang="en-US" sz="2400" dirty="0" smtClean="0"/>
          </a:p>
          <a:p>
            <a:r>
              <a:rPr lang="en-US" sz="2400" dirty="0" err="1" smtClean="0"/>
              <a:t>OpenAI</a:t>
            </a:r>
            <a:r>
              <a:rPr lang="en-US" sz="2400" dirty="0" smtClean="0"/>
              <a:t> Gym </a:t>
            </a:r>
            <a:r>
              <a:rPr lang="en-US" sz="2400" dirty="0" smtClean="0"/>
              <a:t>provides an easy-to-use interface for interacting with a variety of environments.</a:t>
            </a:r>
          </a:p>
          <a:p>
            <a:r>
              <a:rPr lang="en-US" sz="2400" dirty="0" smtClean="0"/>
              <a:t>It contains over 100 open-source implementations of common reinforcement </a:t>
            </a:r>
            <a:r>
              <a:rPr lang="en-US" sz="2400" dirty="0" smtClean="0"/>
              <a:t>learning environments</a:t>
            </a:r>
            <a:r>
              <a:rPr lang="en-US" sz="2400" dirty="0" smtClean="0"/>
              <a:t>. </a:t>
            </a:r>
            <a:endParaRPr lang="en-US" sz="2400" dirty="0" smtClean="0"/>
          </a:p>
          <a:p>
            <a:r>
              <a:rPr lang="en-US" sz="2400" dirty="0" err="1" smtClean="0"/>
              <a:t>OpenAI</a:t>
            </a:r>
            <a:r>
              <a:rPr lang="en-US" sz="2400" dirty="0" smtClean="0"/>
              <a:t> </a:t>
            </a:r>
            <a:r>
              <a:rPr lang="en-US" sz="2400" dirty="0" smtClean="0"/>
              <a:t>Gym speeds up development of reinforcement </a:t>
            </a:r>
            <a:r>
              <a:rPr lang="en-US" sz="2400" dirty="0" smtClean="0"/>
              <a:t>learning </a:t>
            </a:r>
            <a:r>
              <a:rPr lang="en-US" sz="2400" dirty="0" smtClean="0"/>
              <a:t>agents by handling everything on the environment simulation side, </a:t>
            </a:r>
            <a:r>
              <a:rPr lang="en-US" sz="2400" dirty="0" smtClean="0"/>
              <a:t>allowing researchers </a:t>
            </a:r>
            <a:r>
              <a:rPr lang="en-US" sz="2400" dirty="0" smtClean="0"/>
              <a:t>to focus on their agent and learning algorithms. </a:t>
            </a:r>
            <a:endParaRPr lang="en-US" sz="2400" dirty="0" smtClean="0"/>
          </a:p>
          <a:p>
            <a:r>
              <a:rPr lang="en-US" sz="2400" dirty="0" smtClean="0"/>
              <a:t>Another </a:t>
            </a:r>
            <a:r>
              <a:rPr lang="en-US" sz="2400" dirty="0" smtClean="0"/>
              <a:t>benefit </a:t>
            </a:r>
            <a:r>
              <a:rPr lang="en-US" sz="2400" dirty="0" smtClean="0"/>
              <a:t>of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</a:t>
            </a:r>
            <a:r>
              <a:rPr lang="en-US" sz="2400" dirty="0" smtClean="0"/>
              <a:t>Gym is that researchers can fairly compare and evaluate their results </a:t>
            </a:r>
            <a:r>
              <a:rPr lang="en-US" sz="2400" dirty="0" smtClean="0"/>
              <a:t>with others </a:t>
            </a:r>
            <a:r>
              <a:rPr lang="en-US" sz="2400" dirty="0" smtClean="0"/>
              <a:t>because they can all use the same standardized environment for a task. </a:t>
            </a:r>
            <a:endParaRPr lang="en-US" sz="2400" dirty="0" smtClean="0"/>
          </a:p>
          <a:p>
            <a:r>
              <a:rPr lang="en-US" sz="2400" dirty="0" smtClean="0"/>
              <a:t>We’ll be using </a:t>
            </a:r>
            <a:r>
              <a:rPr lang="en-US" sz="2400" dirty="0" smtClean="0"/>
              <a:t>the pole-cart environment from </a:t>
            </a:r>
            <a:r>
              <a:rPr lang="en-US" sz="2400" dirty="0" err="1" smtClean="0"/>
              <a:t>OpenAI</a:t>
            </a:r>
            <a:r>
              <a:rPr lang="en-US" sz="2400" dirty="0" smtClean="0"/>
              <a:t> Gym to create an agent that can </a:t>
            </a:r>
            <a:r>
              <a:rPr lang="en-US" sz="2400" dirty="0" smtClean="0"/>
              <a:t>easily interact </a:t>
            </a:r>
            <a:r>
              <a:rPr lang="en-US" sz="2400" dirty="0" smtClean="0"/>
              <a:t>with this environment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0"/>
            <a:ext cx="6096000" cy="68580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300" b="1" dirty="0" smtClean="0"/>
              <a:t>Creating an </a:t>
            </a:r>
            <a:r>
              <a:rPr lang="en-US" sz="2300" b="1" dirty="0" smtClean="0"/>
              <a:t>Agent </a:t>
            </a:r>
            <a:endParaRPr lang="en-US" sz="2300" b="1" dirty="0" smtClean="0"/>
          </a:p>
          <a:p>
            <a:r>
              <a:rPr lang="en-US" sz="2300" dirty="0" smtClean="0"/>
              <a:t>To create an agent that can interact with an </a:t>
            </a:r>
            <a:r>
              <a:rPr lang="en-US" sz="2300" dirty="0" err="1" smtClean="0"/>
              <a:t>OpenAI</a:t>
            </a:r>
            <a:r>
              <a:rPr lang="en-US" sz="2300" dirty="0" smtClean="0"/>
              <a:t> environment, we’ll define a </a:t>
            </a:r>
            <a:r>
              <a:rPr lang="en-US" sz="2300" dirty="0" smtClean="0"/>
              <a:t>class </a:t>
            </a:r>
            <a:r>
              <a:rPr lang="en-US" sz="2300" dirty="0" err="1" smtClean="0"/>
              <a:t>PGAgent</a:t>
            </a:r>
            <a:r>
              <a:rPr lang="en-US" sz="2300" dirty="0" smtClean="0"/>
              <a:t>, which will contain our model architecture, model weights, and </a:t>
            </a:r>
            <a:r>
              <a:rPr lang="en-US" sz="2300" dirty="0" smtClean="0"/>
              <a:t>hyper parameters</a:t>
            </a:r>
          </a:p>
          <a:p>
            <a:pPr>
              <a:buNone/>
            </a:pPr>
            <a:r>
              <a:rPr lang="en-US" sz="2300" b="1" dirty="0" smtClean="0"/>
              <a:t>Policy Gradient Main Function</a:t>
            </a:r>
          </a:p>
          <a:p>
            <a:r>
              <a:rPr lang="en-US" sz="2300" dirty="0" smtClean="0"/>
              <a:t>Lets put this all together in our main function, which will create an </a:t>
            </a:r>
            <a:r>
              <a:rPr lang="en-US" sz="2300" dirty="0" err="1" smtClean="0"/>
              <a:t>OpenAI</a:t>
            </a:r>
            <a:r>
              <a:rPr lang="en-US" sz="2300" dirty="0" smtClean="0"/>
              <a:t> </a:t>
            </a:r>
            <a:r>
              <a:rPr lang="en-US" sz="2300" dirty="0" smtClean="0"/>
              <a:t>Gym environment </a:t>
            </a:r>
            <a:r>
              <a:rPr lang="en-US" sz="2300" dirty="0" smtClean="0"/>
              <a:t>for </a:t>
            </a:r>
            <a:r>
              <a:rPr lang="en-US" sz="2300" dirty="0" err="1" smtClean="0"/>
              <a:t>CartPole</a:t>
            </a:r>
            <a:r>
              <a:rPr lang="en-US" sz="2300" dirty="0" smtClean="0"/>
              <a:t>, make an instance of our agent, and have our agent </a:t>
            </a:r>
            <a:r>
              <a:rPr lang="en-US" sz="2300" dirty="0" smtClean="0"/>
              <a:t>interact with </a:t>
            </a:r>
            <a:r>
              <a:rPr lang="en-US" sz="2300" dirty="0" smtClean="0"/>
              <a:t>and train on the </a:t>
            </a:r>
            <a:r>
              <a:rPr lang="en-US" sz="2300" dirty="0" err="1" smtClean="0"/>
              <a:t>CartPole</a:t>
            </a:r>
            <a:r>
              <a:rPr lang="en-US" sz="2300" dirty="0" smtClean="0"/>
              <a:t> </a:t>
            </a:r>
            <a:r>
              <a:rPr lang="en-US" sz="2300" dirty="0" smtClean="0"/>
              <a:t>environment</a:t>
            </a:r>
          </a:p>
          <a:p>
            <a:pPr>
              <a:buNone/>
            </a:pPr>
            <a:r>
              <a:rPr lang="en-US" sz="2300" b="1" dirty="0" err="1" smtClean="0"/>
              <a:t>PGAgent</a:t>
            </a:r>
            <a:r>
              <a:rPr lang="en-US" sz="2300" b="1" dirty="0" smtClean="0"/>
              <a:t> Performance on Pole-Cart</a:t>
            </a:r>
          </a:p>
          <a:p>
            <a:r>
              <a:rPr lang="en-US" sz="2300" dirty="0" smtClean="0"/>
              <a:t>Figure 9-6 is a chart of the average reward of our agent at each step of training. </a:t>
            </a:r>
            <a:endParaRPr lang="en-US" sz="2300" dirty="0" smtClean="0"/>
          </a:p>
          <a:p>
            <a:r>
              <a:rPr lang="en-US" sz="2300" dirty="0" smtClean="0"/>
              <a:t>We try </a:t>
            </a:r>
            <a:r>
              <a:rPr lang="en-US" sz="2300" dirty="0" smtClean="0"/>
              <a:t>out 8 different sampling methods, and achieve best results with epsilon </a:t>
            </a:r>
            <a:r>
              <a:rPr lang="en-US" sz="2300" dirty="0" smtClean="0"/>
              <a:t>greedy annealing </a:t>
            </a:r>
            <a:r>
              <a:rPr lang="en-US" sz="2300" dirty="0" smtClean="0"/>
              <a:t>from 1.0 to 0.001.</a:t>
            </a:r>
            <a:endParaRPr lang="en-US" sz="23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0456" y="304800"/>
            <a:ext cx="4971257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56" y="228600"/>
            <a:ext cx="10668000" cy="6400799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sz="3900" b="1" dirty="0" smtClean="0"/>
              <a:t>Q-Learning and Deep Q-Networks</a:t>
            </a:r>
          </a:p>
          <a:p>
            <a:pPr algn="just"/>
            <a:r>
              <a:rPr lang="en-US" dirty="0" smtClean="0"/>
              <a:t>Q-learning is in the category of reinforcement learning called value-learning. </a:t>
            </a:r>
            <a:endParaRPr lang="en-US" dirty="0" smtClean="0"/>
          </a:p>
          <a:p>
            <a:pPr algn="just"/>
            <a:r>
              <a:rPr lang="en-US" dirty="0" smtClean="0"/>
              <a:t>Instead of </a:t>
            </a:r>
            <a:r>
              <a:rPr lang="en-US" dirty="0" smtClean="0"/>
              <a:t>directly learning a policy, we will be learning the value of states and actions. </a:t>
            </a:r>
            <a:endParaRPr lang="en-US" dirty="0" smtClean="0"/>
          </a:p>
          <a:p>
            <a:pPr algn="just"/>
            <a:r>
              <a:rPr lang="en-US" dirty="0" err="1" smtClean="0"/>
              <a:t>Qlearning</a:t>
            </a:r>
            <a:r>
              <a:rPr lang="en-US" dirty="0" smtClean="0"/>
              <a:t> involves </a:t>
            </a:r>
            <a:r>
              <a:rPr lang="en-US" dirty="0" smtClean="0"/>
              <a:t>learning a function, a </a:t>
            </a:r>
            <a:r>
              <a:rPr lang="en-US" i="1" dirty="0" smtClean="0"/>
              <a:t>Q-function, which represents the quality of </a:t>
            </a:r>
            <a:r>
              <a:rPr lang="en-US" i="1" dirty="0" smtClean="0"/>
              <a:t>a </a:t>
            </a:r>
            <a:r>
              <a:rPr lang="en-US" dirty="0" smtClean="0"/>
              <a:t>state</a:t>
            </a:r>
            <a:r>
              <a:rPr lang="en-US" dirty="0" smtClean="0"/>
              <a:t>, action pair.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smtClean="0"/>
              <a:t>Q-function, defined </a:t>
            </a:r>
            <a:r>
              <a:rPr lang="en-US" i="1" dirty="0" smtClean="0"/>
              <a:t>Q(s, a), is a function that calculates </a:t>
            </a:r>
            <a:r>
              <a:rPr lang="en-US" i="1" dirty="0" smtClean="0"/>
              <a:t>the </a:t>
            </a:r>
            <a:r>
              <a:rPr lang="en-US" dirty="0" smtClean="0"/>
              <a:t>maximum </a:t>
            </a:r>
            <a:r>
              <a:rPr lang="en-US" dirty="0" smtClean="0"/>
              <a:t>discounted future return when action a is performed in state s.</a:t>
            </a:r>
          </a:p>
          <a:p>
            <a:pPr algn="just"/>
            <a:r>
              <a:rPr lang="en-US" dirty="0" smtClean="0"/>
              <a:t>The Q-value represents our expected long-term rewards, given we are at a state, </a:t>
            </a:r>
            <a:r>
              <a:rPr lang="en-US" dirty="0" smtClean="0"/>
              <a:t>and take </a:t>
            </a:r>
            <a:r>
              <a:rPr lang="en-US" dirty="0" smtClean="0"/>
              <a:t>an action, and then take every subsequent action perfectly (to </a:t>
            </a:r>
            <a:r>
              <a:rPr lang="en-US" dirty="0" smtClean="0"/>
              <a:t>maximize expected </a:t>
            </a:r>
            <a:r>
              <a:rPr lang="en-US" dirty="0" smtClean="0"/>
              <a:t>future reward).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 smtClean="0"/>
              <a:t>can be expressed formally as: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4256" y="5715000"/>
            <a:ext cx="35052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856" y="228600"/>
            <a:ext cx="10668000" cy="640079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dirty="0" smtClean="0"/>
              <a:t>It is difficult, even </a:t>
            </a:r>
            <a:r>
              <a:rPr lang="en-US" dirty="0" smtClean="0"/>
              <a:t>for humans</a:t>
            </a:r>
            <a:r>
              <a:rPr lang="en-US" dirty="0" smtClean="0"/>
              <a:t>, to know how good an action is, because you need to know how you </a:t>
            </a:r>
            <a:r>
              <a:rPr lang="en-US" dirty="0" smtClean="0"/>
              <a:t>are going </a:t>
            </a:r>
            <a:r>
              <a:rPr lang="en-US" dirty="0" smtClean="0"/>
              <a:t>to act in the future. </a:t>
            </a:r>
            <a:endParaRPr lang="en-US" dirty="0" smtClean="0"/>
          </a:p>
          <a:p>
            <a:pPr algn="just"/>
            <a:r>
              <a:rPr lang="en-US" dirty="0" smtClean="0"/>
              <a:t>Our </a:t>
            </a:r>
            <a:r>
              <a:rPr lang="en-US" dirty="0" smtClean="0"/>
              <a:t>expected future returns depend on what our </a:t>
            </a:r>
            <a:r>
              <a:rPr lang="en-US" dirty="0" smtClean="0"/>
              <a:t>long-term strategy </a:t>
            </a:r>
            <a:r>
              <a:rPr lang="en-US" dirty="0" smtClean="0"/>
              <a:t>is going to be.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 smtClean="0"/>
              <a:t>seems to be a bit of a chicken-and-egg problem. </a:t>
            </a:r>
            <a:endParaRPr lang="en-US" dirty="0" smtClean="0"/>
          </a:p>
          <a:p>
            <a:pPr algn="just"/>
            <a:r>
              <a:rPr lang="en-US" dirty="0" smtClean="0"/>
              <a:t>In order to </a:t>
            </a:r>
            <a:r>
              <a:rPr lang="en-US" dirty="0" smtClean="0"/>
              <a:t>value a state, action pair you need to know all the perfect subsequent actions. </a:t>
            </a:r>
            <a:endParaRPr lang="en-US" dirty="0" smtClean="0"/>
          </a:p>
          <a:p>
            <a:pPr algn="just"/>
            <a:r>
              <a:rPr lang="en-US" dirty="0" smtClean="0"/>
              <a:t>And in </a:t>
            </a:r>
            <a:r>
              <a:rPr lang="en-US" dirty="0" smtClean="0"/>
              <a:t>order to know the best actions, you need to </a:t>
            </a:r>
            <a:r>
              <a:rPr lang="en-US" dirty="0" smtClean="0"/>
              <a:t>have </a:t>
            </a:r>
            <a:r>
              <a:rPr lang="en-US" dirty="0" smtClean="0"/>
              <a:t>accurate values for a state </a:t>
            </a:r>
            <a:r>
              <a:rPr lang="en-US" dirty="0" smtClean="0"/>
              <a:t>and action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The Bellman </a:t>
            </a:r>
            <a:r>
              <a:rPr lang="en-US" dirty="0" smtClean="0"/>
              <a:t>Equation We </a:t>
            </a:r>
            <a:r>
              <a:rPr lang="en-US" dirty="0" smtClean="0"/>
              <a:t>solve this dilemma by defining our Q-values as a function of future Q-values.</a:t>
            </a:r>
          </a:p>
          <a:p>
            <a:pPr algn="just"/>
            <a:r>
              <a:rPr lang="en-US" dirty="0" smtClean="0"/>
              <a:t>This relation is called the </a:t>
            </a:r>
            <a:r>
              <a:rPr lang="en-US" i="1" dirty="0" smtClean="0"/>
              <a:t>Bellman equation, and it states that the maximum </a:t>
            </a:r>
            <a:r>
              <a:rPr lang="en-US" i="1" dirty="0" smtClean="0"/>
              <a:t>future </a:t>
            </a:r>
            <a:r>
              <a:rPr lang="en-US" dirty="0" smtClean="0"/>
              <a:t>reward </a:t>
            </a:r>
            <a:r>
              <a:rPr lang="en-US" dirty="0" smtClean="0"/>
              <a:t>for taking action is the current reward plus the next step’s max future </a:t>
            </a:r>
            <a:r>
              <a:rPr lang="en-US" dirty="0" smtClean="0"/>
              <a:t>reward from </a:t>
            </a:r>
            <a:r>
              <a:rPr lang="en-US" dirty="0" smtClean="0"/>
              <a:t>taking the next action a’: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47456" y="6019800"/>
            <a:ext cx="426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56" y="76200"/>
            <a:ext cx="10744200" cy="6629399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And since we can now relate between Q-values past and future, this equation </a:t>
            </a:r>
            <a:r>
              <a:rPr lang="en-US" sz="2400" dirty="0" smtClean="0"/>
              <a:t>conveniently defines </a:t>
            </a:r>
            <a:r>
              <a:rPr lang="en-US" sz="2400" dirty="0" smtClean="0"/>
              <a:t>an update rule. </a:t>
            </a:r>
            <a:endParaRPr lang="en-US" sz="2400" dirty="0" smtClean="0"/>
          </a:p>
          <a:p>
            <a:r>
              <a:rPr lang="en-US" sz="2400" dirty="0" smtClean="0"/>
              <a:t>Namely</a:t>
            </a:r>
            <a:r>
              <a:rPr lang="en-US" sz="2400" dirty="0" smtClean="0"/>
              <a:t>, we can update past Q-values to be based </a:t>
            </a:r>
            <a:r>
              <a:rPr lang="en-US" sz="2400" dirty="0" smtClean="0"/>
              <a:t>on future </a:t>
            </a:r>
            <a:r>
              <a:rPr lang="en-US" sz="2400" dirty="0" smtClean="0"/>
              <a:t>Q-values. </a:t>
            </a:r>
            <a:endParaRPr lang="en-US" sz="2400" dirty="0" smtClean="0"/>
          </a:p>
          <a:p>
            <a:r>
              <a:rPr lang="en-US" sz="2400" dirty="0" smtClean="0"/>
              <a:t>This </a:t>
            </a:r>
            <a:r>
              <a:rPr lang="en-US" sz="2400" dirty="0" smtClean="0"/>
              <a:t>is powerful because there exists a Q-value we know is correct</a:t>
            </a:r>
            <a:r>
              <a:rPr lang="en-US" sz="2400" dirty="0" smtClean="0"/>
              <a:t>: the </a:t>
            </a:r>
            <a:r>
              <a:rPr lang="en-US" sz="2400" dirty="0" smtClean="0"/>
              <a:t>Q-value of the very last action before the episode is over. </a:t>
            </a:r>
            <a:endParaRPr lang="en-US" sz="2400" dirty="0" smtClean="0"/>
          </a:p>
          <a:p>
            <a:r>
              <a:rPr lang="en-US" sz="2400" dirty="0" smtClean="0"/>
              <a:t>For </a:t>
            </a:r>
            <a:r>
              <a:rPr lang="en-US" sz="2400" dirty="0" smtClean="0"/>
              <a:t>this last state, </a:t>
            </a:r>
            <a:r>
              <a:rPr lang="en-US" sz="2400" dirty="0" smtClean="0"/>
              <a:t>we know </a:t>
            </a:r>
            <a:r>
              <a:rPr lang="en-US" sz="2400" dirty="0" smtClean="0"/>
              <a:t>exactly that the next action led to the next reward, so we can perfectly set </a:t>
            </a:r>
            <a:r>
              <a:rPr lang="en-US" sz="2400" dirty="0" smtClean="0"/>
              <a:t>the Q-values </a:t>
            </a:r>
            <a:r>
              <a:rPr lang="en-US" sz="2400" dirty="0" smtClean="0"/>
              <a:t>for that state. </a:t>
            </a:r>
            <a:endParaRPr lang="en-US" sz="2400" dirty="0" smtClean="0"/>
          </a:p>
          <a:p>
            <a:r>
              <a:rPr lang="en-US" sz="2400" dirty="0" smtClean="0"/>
              <a:t>We </a:t>
            </a:r>
            <a:r>
              <a:rPr lang="en-US" sz="2400" dirty="0" smtClean="0"/>
              <a:t>can use the update rule, then, to propagate that Q-value </a:t>
            </a:r>
            <a:r>
              <a:rPr lang="en-US" sz="2400" dirty="0" smtClean="0"/>
              <a:t>to the </a:t>
            </a:r>
            <a:r>
              <a:rPr lang="en-US" sz="2400" dirty="0" smtClean="0"/>
              <a:t>previous time step</a:t>
            </a:r>
            <a:r>
              <a:rPr lang="en-US" sz="2400" dirty="0" smtClean="0"/>
              <a:t>:</a:t>
            </a:r>
          </a:p>
          <a:p>
            <a:endParaRPr lang="en-US" sz="2400" dirty="0" smtClean="0"/>
          </a:p>
          <a:p>
            <a:r>
              <a:rPr lang="en-US" sz="2400" dirty="0" smtClean="0"/>
              <a:t>This updating of the Q-value is known as </a:t>
            </a:r>
            <a:r>
              <a:rPr lang="en-US" sz="2400" i="1" dirty="0" smtClean="0"/>
              <a:t>value iteration.</a:t>
            </a:r>
          </a:p>
          <a:p>
            <a:r>
              <a:rPr lang="en-US" sz="2400" dirty="0" smtClean="0"/>
              <a:t>Our first Q-value starts out completely wrong, but this is perfectly acceptable. </a:t>
            </a:r>
            <a:endParaRPr lang="en-US" sz="2400" dirty="0" smtClean="0"/>
          </a:p>
          <a:p>
            <a:r>
              <a:rPr lang="en-US" sz="2400" dirty="0" smtClean="0"/>
              <a:t>With each </a:t>
            </a:r>
            <a:r>
              <a:rPr lang="en-US" sz="2400" dirty="0" smtClean="0"/>
              <a:t>iteration, we can update our Q-value via the correct one from the future. </a:t>
            </a:r>
            <a:endParaRPr lang="en-US" sz="2400" dirty="0" smtClean="0"/>
          </a:p>
          <a:p>
            <a:r>
              <a:rPr lang="en-US" sz="2400" dirty="0" smtClean="0"/>
              <a:t>After one </a:t>
            </a:r>
            <a:r>
              <a:rPr lang="en-US" sz="2400" dirty="0" smtClean="0"/>
              <a:t>iteration, the last Q-value is accurate, since it is just the reward from the last </a:t>
            </a:r>
            <a:r>
              <a:rPr lang="en-US" sz="2400" dirty="0" smtClean="0"/>
              <a:t>state and </a:t>
            </a:r>
            <a:r>
              <a:rPr lang="en-US" sz="2400" dirty="0" smtClean="0"/>
              <a:t>action before episode termination. </a:t>
            </a:r>
            <a:endParaRPr lang="en-US" sz="2400" dirty="0" smtClean="0"/>
          </a:p>
          <a:p>
            <a:r>
              <a:rPr lang="en-US" sz="2400" dirty="0" smtClean="0"/>
              <a:t>Then </a:t>
            </a:r>
            <a:r>
              <a:rPr lang="en-US" sz="2400" dirty="0" smtClean="0"/>
              <a:t>we perform our Q-value update, </a:t>
            </a:r>
            <a:r>
              <a:rPr lang="en-US" sz="2400" dirty="0" smtClean="0"/>
              <a:t>which sets </a:t>
            </a:r>
            <a:r>
              <a:rPr lang="en-US" sz="2400" dirty="0" smtClean="0"/>
              <a:t>the second-to-last Q-value.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3856" y="3124200"/>
            <a:ext cx="3581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2341</Words>
  <Application>Microsoft Office PowerPoint</Application>
  <PresentationFormat>Custom</PresentationFormat>
  <Paragraphs>144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UNIT-VI</vt:lpstr>
      <vt:lpstr>DEEP REINFORCEMENT LEARNING:  </vt:lpstr>
      <vt:lpstr>Deep Reinforcement Learning</vt:lpstr>
      <vt:lpstr>Slide 4</vt:lpstr>
      <vt:lpstr>What Is Reinforcement Learning?</vt:lpstr>
      <vt:lpstr>Slide 6</vt:lpstr>
      <vt:lpstr>Slide 7</vt:lpstr>
      <vt:lpstr>Markov Decision Processes (MDP)</vt:lpstr>
      <vt:lpstr>Slide 9</vt:lpstr>
      <vt:lpstr>Slide 10</vt:lpstr>
      <vt:lpstr>Slide 11</vt:lpstr>
      <vt:lpstr>Slide 12</vt:lpstr>
      <vt:lpstr>Pole-Cart with Policy Gradients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UNIT-VI</dc:title>
  <dc:creator>thatiparthi rajini kanth</dc:creator>
  <cp:lastModifiedBy>thatiparthi rajini kanth</cp:lastModifiedBy>
  <cp:revision>20</cp:revision>
  <dcterms:created xsi:type="dcterms:W3CDTF">2006-08-16T00:00:00Z</dcterms:created>
  <dcterms:modified xsi:type="dcterms:W3CDTF">2021-03-04T10:37:57Z</dcterms:modified>
</cp:coreProperties>
</file>