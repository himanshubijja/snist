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12" roundtripDataSignature="AMtx7min8Jt1plk6Lx1fwsGCN51qv0SG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2" Type="http://customschemas.google.com/relationships/presentationmetadata" Target="metadata"/><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72a6238a2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272a6238a2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2a6238a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272a6238a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72a6238a2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272a6238a22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72a6238a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72a6238a2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e1b22c0c5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e1b22c0c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21838982c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e21838982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e21838982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e21838982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e21838982c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e21838982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e21838982c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e21838982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e65930eb72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e65930eb7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e65930eb7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e65930eb7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73e0fc90e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73e0fc90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73e0fc90e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73e0fc90e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73e0fc90e8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73e0fc90e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73e0fc90e8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73e0fc90e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73e0fc90e8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73e0fc90e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73e0fc90e8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73e0fc90e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73e0fc90e8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73e0fc90e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73e0fc90e8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73e0fc90e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73e0fc90e8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73e0fc90e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73e0fc90e8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73e0fc90e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73e0fc90e8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73e0fc90e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73e0fc90e8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73e0fc90e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73e0fc90e8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73e0fc90e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73e0fc90e8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73e0fc90e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73e0fc90e8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73e0fc90e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e7d80f2e2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2e7d80f2e2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e7d80f2e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e7d80f2e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e7d80f2e22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e7d80f2e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2e7d80f2e2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2e7d80f2e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2e7d80f2e22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2e7d80f2e2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e7d80f2e22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e7d80f2e2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7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7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8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8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8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8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8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8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8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8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85"/>
          <p:cNvSpPr/>
          <p:nvPr>
            <p:ph idx="2" type="pic"/>
          </p:nvPr>
        </p:nvSpPr>
        <p:spPr>
          <a:xfrm>
            <a:off x="1792288" y="612775"/>
            <a:ext cx="5486400" cy="4114800"/>
          </a:xfrm>
          <a:prstGeom prst="rect">
            <a:avLst/>
          </a:prstGeom>
          <a:noFill/>
          <a:ln>
            <a:noFill/>
          </a:ln>
        </p:spPr>
      </p:sp>
      <p:sp>
        <p:nvSpPr>
          <p:cNvPr id="64" name="Google Shape;64;p8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8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8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8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8.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0.png"/><Relationship Id="rId4" Type="http://schemas.openxmlformats.org/officeDocument/2006/relationships/image" Target="../media/image37.png"/><Relationship Id="rId5"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39.png"/><Relationship Id="rId10" Type="http://schemas.openxmlformats.org/officeDocument/2006/relationships/image" Target="../media/image41.png"/><Relationship Id="rId9" Type="http://schemas.openxmlformats.org/officeDocument/2006/relationships/image" Target="../media/image43.png"/><Relationship Id="rId5" Type="http://schemas.openxmlformats.org/officeDocument/2006/relationships/image" Target="../media/image54.png"/><Relationship Id="rId6" Type="http://schemas.openxmlformats.org/officeDocument/2006/relationships/image" Target="../media/image36.png"/><Relationship Id="rId7" Type="http://schemas.openxmlformats.org/officeDocument/2006/relationships/image" Target="../media/image47.png"/><Relationship Id="rId8"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image" Target="../media/image56.png"/><Relationship Id="rId5"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9.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8.png"/><Relationship Id="rId4" Type="http://schemas.openxmlformats.org/officeDocument/2006/relationships/image" Target="../media/image48.png"/><Relationship Id="rId5"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9.png"/><Relationship Id="rId4" Type="http://schemas.openxmlformats.org/officeDocument/2006/relationships/image" Target="../media/image63.png"/><Relationship Id="rId5" Type="http://schemas.openxmlformats.org/officeDocument/2006/relationships/image" Target="../media/image59.png"/><Relationship Id="rId6" Type="http://schemas.openxmlformats.org/officeDocument/2006/relationships/image" Target="../media/image6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7.png"/><Relationship Id="rId4" Type="http://schemas.openxmlformats.org/officeDocument/2006/relationships/image" Target="../media/image60.png"/><Relationship Id="rId5" Type="http://schemas.openxmlformats.org/officeDocument/2006/relationships/image" Target="../media/image64.png"/><Relationship Id="rId6" Type="http://schemas.openxmlformats.org/officeDocument/2006/relationships/image" Target="../media/image7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6.png"/><Relationship Id="rId4" Type="http://schemas.openxmlformats.org/officeDocument/2006/relationships/image" Target="../media/image74.png"/><Relationship Id="rId5" Type="http://schemas.openxmlformats.org/officeDocument/2006/relationships/image" Target="../media/image62.png"/><Relationship Id="rId6" Type="http://schemas.openxmlformats.org/officeDocument/2006/relationships/image" Target="../media/image7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0.png"/><Relationship Id="rId4" Type="http://schemas.openxmlformats.org/officeDocument/2006/relationships/image" Target="../media/image82.png"/><Relationship Id="rId5" Type="http://schemas.openxmlformats.org/officeDocument/2006/relationships/image" Target="../media/image6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5.png"/><Relationship Id="rId4" Type="http://schemas.openxmlformats.org/officeDocument/2006/relationships/image" Target="../media/image78.png"/><Relationship Id="rId5" Type="http://schemas.openxmlformats.org/officeDocument/2006/relationships/image" Target="../media/image75.png"/><Relationship Id="rId6" Type="http://schemas.openxmlformats.org/officeDocument/2006/relationships/image" Target="../media/image7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91.png"/><Relationship Id="rId5" Type="http://schemas.openxmlformats.org/officeDocument/2006/relationships/image" Target="../media/image76.png"/><Relationship Id="rId6" Type="http://schemas.openxmlformats.org/officeDocument/2006/relationships/image" Target="../media/image9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14.png"/><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88.png"/><Relationship Id="rId4" Type="http://schemas.openxmlformats.org/officeDocument/2006/relationships/image" Target="../media/image7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93.png"/><Relationship Id="rId4" Type="http://schemas.openxmlformats.org/officeDocument/2006/relationships/image" Target="../media/image95.png"/><Relationship Id="rId5" Type="http://schemas.openxmlformats.org/officeDocument/2006/relationships/image" Target="../media/image9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4.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92.png"/><Relationship Id="rId4" Type="http://schemas.openxmlformats.org/officeDocument/2006/relationships/image" Target="../media/image94.png"/><Relationship Id="rId5" Type="http://schemas.openxmlformats.org/officeDocument/2006/relationships/image" Target="../media/image83.png"/><Relationship Id="rId6" Type="http://schemas.openxmlformats.org/officeDocument/2006/relationships/image" Target="../media/image8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0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04.png"/><Relationship Id="rId4" Type="http://schemas.openxmlformats.org/officeDocument/2006/relationships/image" Target="../media/image10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0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8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0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85.png"/><Relationship Id="rId4" Type="http://schemas.openxmlformats.org/officeDocument/2006/relationships/image" Target="../media/image8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0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0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0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20.png"/><Relationship Id="rId4" Type="http://schemas.openxmlformats.org/officeDocument/2006/relationships/image" Target="../media/image9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10.png"/><Relationship Id="rId4" Type="http://schemas.openxmlformats.org/officeDocument/2006/relationships/image" Target="../media/image9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116.png"/><Relationship Id="rId4" Type="http://schemas.openxmlformats.org/officeDocument/2006/relationships/image" Target="../media/image113.png"/><Relationship Id="rId5" Type="http://schemas.openxmlformats.org/officeDocument/2006/relationships/image" Target="../media/image11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06.png"/><Relationship Id="rId4" Type="http://schemas.openxmlformats.org/officeDocument/2006/relationships/image" Target="../media/image11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115.png"/><Relationship Id="rId4" Type="http://schemas.openxmlformats.org/officeDocument/2006/relationships/image" Target="../media/image10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12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1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2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838200" y="152400"/>
            <a:ext cx="7772400" cy="9906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UNIT-IV DIMENSIONALITY REDUCTION</a:t>
            </a:r>
            <a:r>
              <a:rPr lang="en-US"/>
              <a:t> </a:t>
            </a:r>
            <a:endParaRPr/>
          </a:p>
        </p:txBody>
      </p:sp>
      <p:sp>
        <p:nvSpPr>
          <p:cNvPr descr="Introduction to Dimensionality Reduction - Sneha Sathish - Medium" id="85" name="Google Shape;85;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troduction to Dimensionality Reduction - Sneha Sathish - Medium" id="86" name="Google Shape;86;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1981200" y="1371600"/>
            <a:ext cx="4572000" cy="411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304800" y="274638"/>
            <a:ext cx="86868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UNIT-IV: DIMENSIONALITY REDUCTION AND EVOLUTIONARY MODELS</a:t>
            </a:r>
            <a:endParaRPr/>
          </a:p>
        </p:txBody>
      </p:sp>
      <p:sp>
        <p:nvSpPr>
          <p:cNvPr id="93" name="Google Shape;93;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Dimensionality Reduction(Book-1) – Linear Discriminant Analysis – Principal Component Analysis – Factor Analysis – Independent Component Analysis – Locally Linear Embedding – Isomap – Evolutionary Learning – Genetic algorithms – Genetic Offspring: - Genetic Operators – Using Genetic Algorithms – Reinforcement Learning – Overview – Getting Lost Example </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457200" y="0"/>
            <a:ext cx="8229600" cy="990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solidFill>
                  <a:srgbClr val="FF0000"/>
                </a:solidFill>
              </a:rPr>
              <a:t>Dimensionality Reduction</a:t>
            </a:r>
            <a:endParaRPr>
              <a:solidFill>
                <a:srgbClr val="FF0000"/>
              </a:solidFill>
            </a:endParaRPr>
          </a:p>
        </p:txBody>
      </p:sp>
      <p:sp>
        <p:nvSpPr>
          <p:cNvPr id="99" name="Google Shape;99;p3"/>
          <p:cNvSpPr txBox="1"/>
          <p:nvPr>
            <p:ph idx="1" type="body"/>
          </p:nvPr>
        </p:nvSpPr>
        <p:spPr>
          <a:xfrm>
            <a:off x="152400" y="990600"/>
            <a:ext cx="8763000" cy="5715000"/>
          </a:xfrm>
          <a:prstGeom prst="rect">
            <a:avLst/>
          </a:prstGeom>
          <a:noFill/>
          <a:ln>
            <a:noFill/>
          </a:ln>
        </p:spPr>
        <p:txBody>
          <a:bodyPr anchorCtr="0" anchor="t" bIns="45700" lIns="91425" spcFirstLastPara="1" rIns="91425" wrap="square" tIns="45700">
            <a:normAutofit lnSpcReduction="20000"/>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Looking at data and plotting results, never go beyond three dimensions in data, and usually find two dimensions easier to interpret. </a:t>
            </a:r>
            <a:endParaRPr sz="2400">
              <a:latin typeface="Times New Roman"/>
              <a:ea typeface="Times New Roman"/>
              <a:cs typeface="Times New Roman"/>
              <a:sym typeface="Times New Roman"/>
            </a:endParaRPr>
          </a:p>
          <a:p>
            <a:pPr indent="0" lvl="0" marL="342900" rtl="0" algn="just">
              <a:spcBef>
                <a:spcPts val="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reduces computational cost of many algorithms. </a:t>
            </a:r>
            <a:endParaRPr sz="2400">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Dimensionality reduction is useful to remove noise, to significantly improve the results of the learning algorithm, make the dataset easier to work with, and make the results easier to understand.</a:t>
            </a:r>
            <a:endParaRPr sz="2400">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There are three different ways to do dimensionality reduction. </a:t>
            </a:r>
            <a:endParaRPr sz="2400">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first is feature selection, means looking through the features that are available and seeing whether or not they are actually useful, i.e., correlated to the output variables.</a:t>
            </a:r>
            <a:endParaRPr>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1" type="body"/>
          </p:nvPr>
        </p:nvSpPr>
        <p:spPr>
          <a:xfrm>
            <a:off x="152400" y="228600"/>
            <a:ext cx="8839200" cy="6477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Many use neural networks precisely because they don’t want to ‘get their hands dirty’ and look at the data themselves, the results will be better if you check for correlations. </a:t>
            </a:r>
            <a:endParaRPr sz="2400">
              <a:latin typeface="Times New Roman"/>
              <a:ea typeface="Times New Roman"/>
              <a:cs typeface="Times New Roman"/>
              <a:sym typeface="Times New Roman"/>
            </a:endParaRPr>
          </a:p>
          <a:p>
            <a:pPr indent="0" lvl="0" marL="342900" rtl="0" algn="just">
              <a:spcBef>
                <a:spcPts val="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second method is feature derivation, which means deriving new features from the old ones, by applying transforms to the dataset that simply change the axes (coordinate system) of the graph by moving and rotating them (i.e. in terms of matrix)</a:t>
            </a:r>
            <a:endParaRPr sz="2400">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reason for dimensionality reduction is that it combines features, and identify which are useful and which are not.</a:t>
            </a:r>
            <a:endParaRPr sz="2400">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third method is simply to use clustering in order to group together similar data points, and to see whether this allows fewer features to be used.</a:t>
            </a:r>
            <a:endParaRPr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idx="1" type="body"/>
          </p:nvPr>
        </p:nvSpPr>
        <p:spPr>
          <a:xfrm>
            <a:off x="228600" y="228600"/>
            <a:ext cx="8686800" cy="6477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Once worked out how to represent the data, then suppress dimensions that aren’t useful to the algorithm.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Perform feature selection which is a search Problem, looking at the possible inputs that we have for the problem, and deciding which are useful.</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Take the best system so far, and then search over the set of possible next features to add.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is computationally very expensive, since for </a:t>
            </a:r>
            <a:r>
              <a:rPr i="1" lang="en-US" sz="2400">
                <a:latin typeface="Times New Roman"/>
                <a:ea typeface="Times New Roman"/>
                <a:cs typeface="Times New Roman"/>
                <a:sym typeface="Times New Roman"/>
              </a:rPr>
              <a:t>d features there are 2</a:t>
            </a:r>
            <a:r>
              <a:rPr baseline="30000" i="1" lang="en-US" sz="2400">
                <a:latin typeface="Times New Roman"/>
                <a:ea typeface="Times New Roman"/>
                <a:cs typeface="Times New Roman"/>
                <a:sym typeface="Times New Roman"/>
              </a:rPr>
              <a:t>d</a:t>
            </a:r>
            <a:r>
              <a:rPr i="1" lang="en-US" sz="2400">
                <a:latin typeface="Times New Roman"/>
                <a:ea typeface="Times New Roman"/>
                <a:cs typeface="Times New Roman"/>
                <a:sym typeface="Times New Roman"/>
              </a:rPr>
              <a:t> − 1 possible sets of features to search over, </a:t>
            </a:r>
            <a:r>
              <a:rPr lang="en-US" sz="2400">
                <a:latin typeface="Times New Roman"/>
                <a:ea typeface="Times New Roman"/>
                <a:cs typeface="Times New Roman"/>
                <a:sym typeface="Times New Roman"/>
              </a:rPr>
              <a:t>from any individual feature up to the full set.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In general, greedy methods are employed, although backtracking can also be employed to check whether the search gets stuck.</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Considering a method of dimensionality reduction that is aimed at supervised learning, Linear Discriminant Analysis.</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457200" y="0"/>
            <a:ext cx="82296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2860">
                <a:solidFill>
                  <a:srgbClr val="FF0000"/>
                </a:solidFill>
                <a:latin typeface="Times New Roman"/>
                <a:ea typeface="Times New Roman"/>
                <a:cs typeface="Times New Roman"/>
                <a:sym typeface="Times New Roman"/>
              </a:rPr>
              <a:t>LINEAR DISCRIMINANT ANALYSIS (LDA)</a:t>
            </a:r>
            <a:endParaRPr sz="2860">
              <a:solidFill>
                <a:srgbClr val="FF0000"/>
              </a:solidFill>
              <a:latin typeface="Times New Roman"/>
              <a:ea typeface="Times New Roman"/>
              <a:cs typeface="Times New Roman"/>
              <a:sym typeface="Times New Roman"/>
            </a:endParaRPr>
          </a:p>
        </p:txBody>
      </p:sp>
      <p:sp>
        <p:nvSpPr>
          <p:cNvPr id="115" name="Google Shape;115;p6"/>
          <p:cNvSpPr txBox="1"/>
          <p:nvPr>
            <p:ph idx="1" type="body"/>
          </p:nvPr>
        </p:nvSpPr>
        <p:spPr>
          <a:xfrm>
            <a:off x="152400" y="838200"/>
            <a:ext cx="8763000" cy="5867400"/>
          </a:xfrm>
          <a:prstGeom prst="rect">
            <a:avLst/>
          </a:prstGeom>
          <a:noFill/>
          <a:ln>
            <a:noFill/>
          </a:ln>
        </p:spPr>
        <p:txBody>
          <a:bodyPr anchorCtr="0" anchor="t" bIns="45700" lIns="91425" spcFirstLastPara="1" rIns="91425" wrap="square" tIns="45700">
            <a:noAutofit/>
          </a:bodyPr>
          <a:lstStyle/>
          <a:p>
            <a:pPr indent="-419100" lvl="0" marL="342900" rtl="0" algn="just">
              <a:spcBef>
                <a:spcPts val="480"/>
              </a:spcBef>
              <a:spcAft>
                <a:spcPts val="0"/>
              </a:spcAft>
              <a:buClr>
                <a:schemeClr val="dk1"/>
              </a:buClr>
              <a:buSzPts val="3600"/>
              <a:buFont typeface="Times New Roman"/>
              <a:buChar char="•"/>
            </a:pPr>
            <a:r>
              <a:rPr b="1" i="1" lang="en-US" sz="2400">
                <a:solidFill>
                  <a:srgbClr val="333333"/>
                </a:solidFill>
                <a:highlight>
                  <a:srgbClr val="FFFFFF"/>
                </a:highlight>
                <a:latin typeface="Times New Roman"/>
                <a:ea typeface="Times New Roman"/>
                <a:cs typeface="Times New Roman"/>
                <a:sym typeface="Times New Roman"/>
              </a:rPr>
              <a:t>It is also known as Normal Discriminant Analysis (NDA) or Discriminant Function Analysis (DFA).</a:t>
            </a:r>
            <a:endParaRPr b="1" i="1" sz="2400">
              <a:solidFill>
                <a:srgbClr val="333333"/>
              </a:solidFill>
              <a:highlight>
                <a:srgbClr val="FFFFFF"/>
              </a:highlight>
              <a:latin typeface="Times New Roman"/>
              <a:ea typeface="Times New Roman"/>
              <a:cs typeface="Times New Roman"/>
              <a:sym typeface="Times New Roman"/>
            </a:endParaRPr>
          </a:p>
          <a:p>
            <a:pPr indent="0" lvl="0" marL="342900" rtl="0" algn="just">
              <a:spcBef>
                <a:spcPts val="480"/>
              </a:spcBef>
              <a:spcAft>
                <a:spcPts val="0"/>
              </a:spcAft>
              <a:buNone/>
            </a:pPr>
            <a:r>
              <a:t/>
            </a:r>
            <a:endParaRPr b="1" i="1" sz="2400">
              <a:solidFill>
                <a:srgbClr val="333333"/>
              </a:solidFill>
              <a:highlight>
                <a:srgbClr val="FFFFFF"/>
              </a:highlight>
              <a:latin typeface="Times New Roman"/>
              <a:ea typeface="Times New Roman"/>
              <a:cs typeface="Times New Roman"/>
              <a:sym typeface="Times New Roman"/>
            </a:endParaRPr>
          </a:p>
          <a:p>
            <a:pPr indent="-342900" lvl="0" marL="342900" rtl="0" algn="just">
              <a:spcBef>
                <a:spcPts val="480"/>
              </a:spcBef>
              <a:spcAft>
                <a:spcPts val="0"/>
              </a:spcAft>
              <a:buClr>
                <a:srgbClr val="333333"/>
              </a:buClr>
              <a:buSzPts val="2400"/>
              <a:buFont typeface="Times New Roman"/>
              <a:buChar char="•"/>
            </a:pPr>
            <a:r>
              <a:rPr i="1" lang="en-US" sz="2400">
                <a:solidFill>
                  <a:srgbClr val="333333"/>
                </a:solidFill>
                <a:highlight>
                  <a:srgbClr val="FFFFFF"/>
                </a:highlight>
                <a:latin typeface="Times New Roman"/>
                <a:ea typeface="Times New Roman"/>
                <a:cs typeface="Times New Roman"/>
                <a:sym typeface="Times New Roman"/>
              </a:rPr>
              <a:t>The logistic regression algorithm is limit</a:t>
            </a:r>
            <a:r>
              <a:rPr lang="en-US" sz="2400">
                <a:solidFill>
                  <a:srgbClr val="333333"/>
                </a:solidFill>
                <a:highlight>
                  <a:srgbClr val="FFFFFF"/>
                </a:highlight>
                <a:latin typeface="Times New Roman"/>
                <a:ea typeface="Times New Roman"/>
                <a:cs typeface="Times New Roman"/>
                <a:sym typeface="Times New Roman"/>
              </a:rPr>
              <a:t>ed to only two-class, linear Discriminant analysis is applicable for more than two classes of classification problems.</a:t>
            </a:r>
            <a:endParaRPr sz="2400">
              <a:solidFill>
                <a:srgbClr val="333333"/>
              </a:solidFill>
              <a:highlight>
                <a:srgbClr val="FFFFFF"/>
              </a:highlight>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solidFill>
                <a:srgbClr val="333333"/>
              </a:solidFill>
              <a:highlight>
                <a:srgbClr val="FFFFFF"/>
              </a:highlight>
              <a:latin typeface="Times New Roman"/>
              <a:ea typeface="Times New Roman"/>
              <a:cs typeface="Times New Roman"/>
              <a:sym typeface="Times New Roman"/>
            </a:endParaRPr>
          </a:p>
          <a:p>
            <a:pPr indent="-342900" lvl="0" marL="342900" rtl="0" algn="just">
              <a:spcBef>
                <a:spcPts val="480"/>
              </a:spcBef>
              <a:spcAft>
                <a:spcPts val="0"/>
              </a:spcAft>
              <a:buClr>
                <a:srgbClr val="333333"/>
              </a:buClr>
              <a:buSzPts val="2400"/>
              <a:buFont typeface="Roboto"/>
              <a:buChar char="•"/>
            </a:pPr>
            <a:r>
              <a:rPr b="1" i="1" lang="en-US" sz="2400">
                <a:solidFill>
                  <a:srgbClr val="333333"/>
                </a:solidFill>
                <a:highlight>
                  <a:srgbClr val="FFFFFF"/>
                </a:highlight>
                <a:latin typeface="Times New Roman"/>
                <a:ea typeface="Times New Roman"/>
                <a:cs typeface="Times New Roman"/>
                <a:sym typeface="Times New Roman"/>
              </a:rPr>
              <a:t>It is a supervised classification problems in machine learning</a:t>
            </a:r>
            <a:r>
              <a:rPr lang="en-US" sz="2400">
                <a:solidFill>
                  <a:srgbClr val="333333"/>
                </a:solidFill>
                <a:highlight>
                  <a:srgbClr val="FFFFFF"/>
                </a:highlight>
                <a:latin typeface="Times New Roman"/>
                <a:ea typeface="Times New Roman"/>
                <a:cs typeface="Times New Roman"/>
                <a:sym typeface="Times New Roman"/>
              </a:rPr>
              <a:t>.</a:t>
            </a:r>
            <a:endParaRPr sz="2400">
              <a:solidFill>
                <a:srgbClr val="333333"/>
              </a:solidFill>
              <a:highlight>
                <a:srgbClr val="FFFFFF"/>
              </a:highlight>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solidFill>
                <a:srgbClr val="333333"/>
              </a:solidFill>
              <a:highlight>
                <a:srgbClr val="FFFFFF"/>
              </a:highlight>
              <a:latin typeface="Times New Roman"/>
              <a:ea typeface="Times New Roman"/>
              <a:cs typeface="Times New Roman"/>
              <a:sym typeface="Times New Roman"/>
            </a:endParaRPr>
          </a:p>
          <a:p>
            <a:pPr indent="-342900" lvl="0" marL="342900" rtl="0" algn="just">
              <a:spcBef>
                <a:spcPts val="480"/>
              </a:spcBef>
              <a:spcAft>
                <a:spcPts val="0"/>
              </a:spcAft>
              <a:buClr>
                <a:srgbClr val="000000"/>
              </a:buClr>
              <a:buSzPts val="2400"/>
              <a:buFont typeface="Times New Roman"/>
              <a:buChar char="•"/>
            </a:pPr>
            <a:r>
              <a:rPr lang="en-US" sz="2400">
                <a:solidFill>
                  <a:srgbClr val="000000"/>
                </a:solidFill>
                <a:highlight>
                  <a:srgbClr val="FFFFFF"/>
                </a:highlight>
                <a:latin typeface="Times New Roman"/>
                <a:ea typeface="Times New Roman"/>
                <a:cs typeface="Times New Roman"/>
                <a:sym typeface="Times New Roman"/>
              </a:rPr>
              <a:t>LDA is used to project the </a:t>
            </a:r>
            <a:r>
              <a:rPr lang="en-US" sz="2400">
                <a:solidFill>
                  <a:srgbClr val="000000"/>
                </a:solidFill>
                <a:highlight>
                  <a:srgbClr val="FFFFFF"/>
                </a:highlight>
                <a:latin typeface="Times New Roman"/>
                <a:ea typeface="Times New Roman"/>
                <a:cs typeface="Times New Roman"/>
                <a:sym typeface="Times New Roman"/>
              </a:rPr>
              <a:t>features</a:t>
            </a:r>
            <a:r>
              <a:rPr lang="en-US" sz="2400">
                <a:solidFill>
                  <a:srgbClr val="000000"/>
                </a:solidFill>
                <a:highlight>
                  <a:srgbClr val="FFFFFF"/>
                </a:highlight>
                <a:latin typeface="Times New Roman"/>
                <a:ea typeface="Times New Roman"/>
                <a:cs typeface="Times New Roman"/>
                <a:sym typeface="Times New Roman"/>
              </a:rPr>
              <a:t> in higher dimensional space into lower dimensional space</a:t>
            </a:r>
            <a:endParaRPr sz="2400">
              <a:solidFill>
                <a:srgbClr val="000000"/>
              </a:solidFill>
              <a:highlight>
                <a:srgbClr val="FFFFFF"/>
              </a:highlight>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solidFill>
                <a:srgbClr val="000000"/>
              </a:solidFill>
              <a:highlight>
                <a:srgbClr val="FFFFFF"/>
              </a:highlight>
              <a:latin typeface="Times New Roman"/>
              <a:ea typeface="Times New Roman"/>
              <a:cs typeface="Times New Roman"/>
              <a:sym typeface="Times New Roman"/>
            </a:endParaRPr>
          </a:p>
          <a:p>
            <a:pPr indent="-381000" lvl="0" marL="342900" marR="25400" rtl="0" algn="l">
              <a:lnSpc>
                <a:spcPct val="100000"/>
              </a:lnSpc>
              <a:spcBef>
                <a:spcPts val="1500"/>
              </a:spcBef>
              <a:spcAft>
                <a:spcPts val="0"/>
              </a:spcAft>
              <a:buSzPts val="2400"/>
              <a:buFont typeface="Times New Roman"/>
              <a:buChar char="•"/>
            </a:pPr>
            <a:r>
              <a:rPr lang="en-US" sz="2400">
                <a:highlight>
                  <a:srgbClr val="FFFFFF"/>
                </a:highlight>
                <a:latin typeface="Times New Roman"/>
                <a:ea typeface="Times New Roman"/>
                <a:cs typeface="Times New Roman"/>
                <a:sym typeface="Times New Roman"/>
              </a:rPr>
              <a:t>LDA can also be used in data pre-processing to reduce the number of features, just as PCA, which reduces the computing cost significantly.</a:t>
            </a:r>
            <a:endParaRPr sz="2400">
              <a:highlight>
                <a:srgbClr val="FFFFFF"/>
              </a:highlight>
              <a:latin typeface="Times New Roman"/>
              <a:ea typeface="Times New Roman"/>
              <a:cs typeface="Times New Roman"/>
              <a:sym typeface="Times New Roman"/>
            </a:endParaRPr>
          </a:p>
          <a:p>
            <a:pPr indent="0" lvl="0" marL="0" rtl="0" algn="just">
              <a:spcBef>
                <a:spcPts val="1200"/>
              </a:spcBef>
              <a:spcAft>
                <a:spcPts val="0"/>
              </a:spcAft>
              <a:buNone/>
            </a:pPr>
            <a:r>
              <a:t/>
            </a:r>
            <a:endParaRPr sz="3900">
              <a:solidFill>
                <a:srgbClr val="333333"/>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272a6238a22_0_16"/>
          <p:cNvSpPr txBox="1"/>
          <p:nvPr>
            <p:ph type="title"/>
          </p:nvPr>
        </p:nvSpPr>
        <p:spPr>
          <a:xfrm>
            <a:off x="457200" y="0"/>
            <a:ext cx="82296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2860">
                <a:solidFill>
                  <a:srgbClr val="FF0000"/>
                </a:solidFill>
                <a:latin typeface="Times New Roman"/>
                <a:ea typeface="Times New Roman"/>
                <a:cs typeface="Times New Roman"/>
                <a:sym typeface="Times New Roman"/>
              </a:rPr>
              <a:t>LINEAR DISCRIMINANT ANALYSIS (LDA)</a:t>
            </a:r>
            <a:endParaRPr sz="2860">
              <a:solidFill>
                <a:srgbClr val="FF0000"/>
              </a:solidFill>
              <a:latin typeface="Times New Roman"/>
              <a:ea typeface="Times New Roman"/>
              <a:cs typeface="Times New Roman"/>
              <a:sym typeface="Times New Roman"/>
            </a:endParaRPr>
          </a:p>
        </p:txBody>
      </p:sp>
      <p:sp>
        <p:nvSpPr>
          <p:cNvPr id="121" name="Google Shape;121;g272a6238a22_0_16"/>
          <p:cNvSpPr txBox="1"/>
          <p:nvPr>
            <p:ph idx="1" type="body"/>
          </p:nvPr>
        </p:nvSpPr>
        <p:spPr>
          <a:xfrm>
            <a:off x="152400" y="838200"/>
            <a:ext cx="8763000" cy="5867400"/>
          </a:xfrm>
          <a:prstGeom prst="rect">
            <a:avLst/>
          </a:prstGeom>
          <a:noFill/>
          <a:ln>
            <a:noFill/>
          </a:ln>
        </p:spPr>
        <p:txBody>
          <a:bodyPr anchorCtr="0" anchor="t" bIns="45700" lIns="91425" spcFirstLastPara="1" rIns="91425" wrap="square" tIns="45700">
            <a:noAutofit/>
          </a:bodyPr>
          <a:lstStyle/>
          <a:p>
            <a:pPr indent="0" lvl="0" marL="0" marR="25400" rtl="0" algn="l">
              <a:lnSpc>
                <a:spcPct val="156250"/>
              </a:lnSpc>
              <a:spcBef>
                <a:spcPts val="1500"/>
              </a:spcBef>
              <a:spcAft>
                <a:spcPts val="0"/>
              </a:spcAft>
              <a:buNone/>
            </a:pPr>
            <a:r>
              <a:rPr lang="en-US" sz="2400">
                <a:solidFill>
                  <a:srgbClr val="0000FF"/>
                </a:solidFill>
                <a:highlight>
                  <a:srgbClr val="FFFFFF"/>
                </a:highlight>
                <a:latin typeface="Times New Roman"/>
                <a:ea typeface="Times New Roman"/>
                <a:cs typeface="Times New Roman"/>
                <a:sym typeface="Times New Roman"/>
              </a:rPr>
              <a:t>Two criterias need to follow in LDA to create new axis:</a:t>
            </a:r>
            <a:endParaRPr sz="2400">
              <a:solidFill>
                <a:srgbClr val="0000FF"/>
              </a:solidFill>
              <a:highlight>
                <a:srgbClr val="FFFFFF"/>
              </a:highlight>
              <a:latin typeface="Times New Roman"/>
              <a:ea typeface="Times New Roman"/>
              <a:cs typeface="Times New Roman"/>
              <a:sym typeface="Times New Roman"/>
            </a:endParaRPr>
          </a:p>
          <a:p>
            <a:pPr indent="-387350" lvl="0" marL="457200" marR="25400" rtl="0" algn="l">
              <a:lnSpc>
                <a:spcPct val="156250"/>
              </a:lnSpc>
              <a:spcBef>
                <a:spcPts val="1500"/>
              </a:spcBef>
              <a:spcAft>
                <a:spcPts val="0"/>
              </a:spcAft>
              <a:buClr>
                <a:schemeClr val="dk1"/>
              </a:buClr>
              <a:buSzPts val="2500"/>
              <a:buFont typeface="Times New Roman"/>
              <a:buChar char="○"/>
            </a:pPr>
            <a:r>
              <a:rPr lang="en-US" sz="2500">
                <a:highlight>
                  <a:srgbClr val="FFFFFF"/>
                </a:highlight>
                <a:latin typeface="Times New Roman"/>
                <a:ea typeface="Times New Roman"/>
                <a:cs typeface="Times New Roman"/>
                <a:sym typeface="Times New Roman"/>
              </a:rPr>
              <a:t>It maximizes the distance between means of two classes.</a:t>
            </a:r>
            <a:endParaRPr sz="2500">
              <a:highlight>
                <a:srgbClr val="FFFFFF"/>
              </a:highlight>
              <a:latin typeface="Times New Roman"/>
              <a:ea typeface="Times New Roman"/>
              <a:cs typeface="Times New Roman"/>
              <a:sym typeface="Times New Roman"/>
            </a:endParaRPr>
          </a:p>
          <a:p>
            <a:pPr indent="-387350" lvl="0" marL="457200" marR="25400" rtl="0" algn="l">
              <a:lnSpc>
                <a:spcPct val="156250"/>
              </a:lnSpc>
              <a:spcBef>
                <a:spcPts val="0"/>
              </a:spcBef>
              <a:spcAft>
                <a:spcPts val="0"/>
              </a:spcAft>
              <a:buClr>
                <a:schemeClr val="dk1"/>
              </a:buClr>
              <a:buSzPts val="2500"/>
              <a:buFont typeface="Times New Roman"/>
              <a:buChar char="○"/>
            </a:pPr>
            <a:r>
              <a:rPr lang="en-US" sz="2500">
                <a:highlight>
                  <a:srgbClr val="FFFFFF"/>
                </a:highlight>
                <a:latin typeface="Times New Roman"/>
                <a:ea typeface="Times New Roman"/>
                <a:cs typeface="Times New Roman"/>
                <a:sym typeface="Times New Roman"/>
              </a:rPr>
              <a:t>It minimizes the variance within the individual class.</a:t>
            </a:r>
            <a:endParaRPr sz="2500">
              <a:highlight>
                <a:srgbClr val="FFFFFF"/>
              </a:highlight>
              <a:latin typeface="Times New Roman"/>
              <a:ea typeface="Times New Roman"/>
              <a:cs typeface="Times New Roman"/>
              <a:sym typeface="Times New Roman"/>
            </a:endParaRPr>
          </a:p>
          <a:p>
            <a:pPr indent="0" lvl="0" marL="0" rtl="0" algn="just">
              <a:spcBef>
                <a:spcPts val="1200"/>
              </a:spcBef>
              <a:spcAft>
                <a:spcPts val="0"/>
              </a:spcAft>
              <a:buNone/>
            </a:pPr>
            <a:r>
              <a:t/>
            </a:r>
            <a:endParaRPr sz="3900">
              <a:solidFill>
                <a:srgbClr val="333333"/>
              </a:solidFill>
              <a:highlight>
                <a:srgbClr val="FFFFFF"/>
              </a:highlight>
              <a:latin typeface="Times New Roman"/>
              <a:ea typeface="Times New Roman"/>
              <a:cs typeface="Times New Roman"/>
              <a:sym typeface="Times New Roman"/>
            </a:endParaRPr>
          </a:p>
        </p:txBody>
      </p:sp>
      <p:pic>
        <p:nvPicPr>
          <p:cNvPr id="122" name="Google Shape;122;g272a6238a22_0_16"/>
          <p:cNvPicPr preferRelativeResize="0"/>
          <p:nvPr/>
        </p:nvPicPr>
        <p:blipFill>
          <a:blip r:embed="rId3">
            <a:alphaModFix/>
          </a:blip>
          <a:stretch>
            <a:fillRect/>
          </a:stretch>
        </p:blipFill>
        <p:spPr>
          <a:xfrm>
            <a:off x="533600" y="2866275"/>
            <a:ext cx="6753025" cy="2853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72a6238a22_0_0"/>
          <p:cNvSpPr txBox="1"/>
          <p:nvPr>
            <p:ph type="title"/>
          </p:nvPr>
        </p:nvSpPr>
        <p:spPr>
          <a:xfrm>
            <a:off x="457200" y="0"/>
            <a:ext cx="82296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2860">
                <a:solidFill>
                  <a:srgbClr val="FF0000"/>
                </a:solidFill>
                <a:latin typeface="Times New Roman"/>
                <a:ea typeface="Times New Roman"/>
                <a:cs typeface="Times New Roman"/>
                <a:sym typeface="Times New Roman"/>
              </a:rPr>
              <a:t>LINEAR DISCRIMINANT ANALYSIS (LDA)</a:t>
            </a:r>
            <a:endParaRPr sz="2860">
              <a:solidFill>
                <a:srgbClr val="FF0000"/>
              </a:solidFill>
              <a:latin typeface="Times New Roman"/>
              <a:ea typeface="Times New Roman"/>
              <a:cs typeface="Times New Roman"/>
              <a:sym typeface="Times New Roman"/>
            </a:endParaRPr>
          </a:p>
        </p:txBody>
      </p:sp>
      <p:sp>
        <p:nvSpPr>
          <p:cNvPr id="128" name="Google Shape;128;g272a6238a22_0_0"/>
          <p:cNvSpPr txBox="1"/>
          <p:nvPr>
            <p:ph idx="1" type="body"/>
          </p:nvPr>
        </p:nvSpPr>
        <p:spPr>
          <a:xfrm>
            <a:off x="152400" y="3429000"/>
            <a:ext cx="8763000" cy="3276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Fig 6.2 shows a simple two-dimensional dataset consisting of two classes. </a:t>
            </a:r>
            <a:endParaRPr/>
          </a:p>
          <a:p>
            <a:pPr indent="-381000" lvl="0" marL="457200" rtl="0" algn="just">
              <a:spcBef>
                <a:spcPts val="0"/>
              </a:spcBef>
              <a:spcAft>
                <a:spcPts val="0"/>
              </a:spcAft>
              <a:buSzPts val="2400"/>
              <a:buAutoNum type="arabicPeriod"/>
            </a:pPr>
            <a:r>
              <a:rPr lang="en-US" sz="2400"/>
              <a:t>Compute various statistics about the data, but we will settle for the means of the two classes in the data, μ</a:t>
            </a:r>
            <a:r>
              <a:rPr baseline="-25000" lang="en-US" sz="2400"/>
              <a:t>1</a:t>
            </a:r>
            <a:r>
              <a:rPr lang="en-US" sz="2400"/>
              <a:t> and μ</a:t>
            </a:r>
            <a:r>
              <a:rPr baseline="-25000" lang="en-US" sz="2400"/>
              <a:t>2</a:t>
            </a:r>
            <a:r>
              <a:rPr lang="en-US" sz="2400"/>
              <a:t>, the mean of the entire dataset (μ)</a:t>
            </a:r>
            <a:endParaRPr sz="2400"/>
          </a:p>
          <a:p>
            <a:pPr indent="-381000" lvl="0" marL="457200" rtl="0" algn="just">
              <a:spcBef>
                <a:spcPts val="0"/>
              </a:spcBef>
              <a:spcAft>
                <a:spcPts val="0"/>
              </a:spcAft>
              <a:buSzPts val="2400"/>
              <a:buAutoNum type="arabicPeriod"/>
            </a:pPr>
            <a:r>
              <a:rPr lang="en-US" sz="2400"/>
              <a:t>The covariance of each class with itself. </a:t>
            </a:r>
            <a:endParaRPr sz="2400"/>
          </a:p>
          <a:p>
            <a:pPr indent="0" lvl="0" marL="342900" rtl="0" algn="just">
              <a:spcBef>
                <a:spcPts val="480"/>
              </a:spcBef>
              <a:spcAft>
                <a:spcPts val="0"/>
              </a:spcAft>
              <a:buNone/>
            </a:pPr>
            <a:r>
              <a:rPr lang="en-US" sz="2400"/>
              <a:t>                       s1= </a:t>
            </a:r>
            <a:endParaRPr sz="2400"/>
          </a:p>
        </p:txBody>
      </p:sp>
      <p:pic>
        <p:nvPicPr>
          <p:cNvPr id="129" name="Google Shape;129;g272a6238a22_0_0"/>
          <p:cNvPicPr preferRelativeResize="0"/>
          <p:nvPr/>
        </p:nvPicPr>
        <p:blipFill rotWithShape="1">
          <a:blip r:embed="rId3">
            <a:alphaModFix/>
          </a:blip>
          <a:srcRect b="0" l="0" r="0" t="0"/>
          <a:stretch/>
        </p:blipFill>
        <p:spPr>
          <a:xfrm>
            <a:off x="381000" y="990600"/>
            <a:ext cx="3352800" cy="2590800"/>
          </a:xfrm>
          <a:prstGeom prst="rect">
            <a:avLst/>
          </a:prstGeom>
          <a:noFill/>
          <a:ln>
            <a:noFill/>
          </a:ln>
        </p:spPr>
      </p:pic>
      <p:sp>
        <p:nvSpPr>
          <p:cNvPr id="130" name="Google Shape;130;g272a6238a22_0_0"/>
          <p:cNvSpPr/>
          <p:nvPr/>
        </p:nvSpPr>
        <p:spPr>
          <a:xfrm>
            <a:off x="4419600" y="1219200"/>
            <a:ext cx="3505200" cy="12003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FIGURE 6.2 A set of data points in two dimensions, with two classes.</a:t>
            </a:r>
            <a:endParaRPr sz="2400">
              <a:solidFill>
                <a:schemeClr val="dk1"/>
              </a:solidFill>
              <a:latin typeface="Calibri"/>
              <a:ea typeface="Calibri"/>
              <a:cs typeface="Calibri"/>
              <a:sym typeface="Calibri"/>
            </a:endParaRPr>
          </a:p>
        </p:txBody>
      </p:sp>
      <p:pic>
        <p:nvPicPr>
          <p:cNvPr id="131" name="Google Shape;131;g272a6238a22_0_0"/>
          <p:cNvPicPr preferRelativeResize="0"/>
          <p:nvPr/>
        </p:nvPicPr>
        <p:blipFill rotWithShape="1">
          <a:blip r:embed="rId4">
            <a:alphaModFix/>
          </a:blip>
          <a:srcRect b="0" l="0" r="0" t="0"/>
          <a:stretch/>
        </p:blipFill>
        <p:spPr>
          <a:xfrm>
            <a:off x="2803075" y="5836225"/>
            <a:ext cx="2529840" cy="609600"/>
          </a:xfrm>
          <a:prstGeom prst="rect">
            <a:avLst/>
          </a:prstGeom>
          <a:noFill/>
          <a:ln>
            <a:noFill/>
          </a:ln>
        </p:spPr>
      </p:pic>
      <p:pic>
        <p:nvPicPr>
          <p:cNvPr id="132" name="Google Shape;132;g272a6238a22_0_0"/>
          <p:cNvPicPr preferRelativeResize="0"/>
          <p:nvPr/>
        </p:nvPicPr>
        <p:blipFill>
          <a:blip r:embed="rId5">
            <a:alphaModFix/>
          </a:blip>
          <a:stretch>
            <a:fillRect/>
          </a:stretch>
        </p:blipFill>
        <p:spPr>
          <a:xfrm>
            <a:off x="5604000" y="5050225"/>
            <a:ext cx="1562100" cy="619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idx="1" type="body"/>
          </p:nvPr>
        </p:nvSpPr>
        <p:spPr>
          <a:xfrm>
            <a:off x="76200" y="76200"/>
            <a:ext cx="8991600" cy="6705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2400">
                <a:latin typeface="Times New Roman"/>
                <a:ea typeface="Times New Roman"/>
                <a:cs typeface="Times New Roman"/>
                <a:sym typeface="Times New Roman"/>
              </a:rPr>
              <a:t>3. Compute the within class- scatter matrix (</a:t>
            </a:r>
            <a:r>
              <a:rPr lang="en-US" sz="2400">
                <a:latin typeface="Times New Roman"/>
                <a:ea typeface="Times New Roman"/>
                <a:cs typeface="Times New Roman"/>
                <a:sym typeface="Times New Roman"/>
              </a:rPr>
              <a:t>The principal insight of  LDA is that the covariance matrix can tell us about the scatter within a dataset, which is the amount of spread that there is within the data.) </a:t>
            </a:r>
            <a:endParaRPr sz="2400">
              <a:latin typeface="Times New Roman"/>
              <a:ea typeface="Times New Roman"/>
              <a:cs typeface="Times New Roman"/>
              <a:sym typeface="Times New Roman"/>
            </a:endParaRPr>
          </a:p>
          <a:p>
            <a:pPr indent="0" lvl="0" marL="342900" rtl="0" algn="just">
              <a:spcBef>
                <a:spcPts val="0"/>
              </a:spcBef>
              <a:spcAft>
                <a:spcPts val="0"/>
              </a:spcAft>
              <a:buNone/>
            </a:pPr>
            <a:r>
              <a:rPr lang="en-US" sz="2400">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480"/>
              </a:spcBef>
              <a:spcAft>
                <a:spcPts val="0"/>
              </a:spcAft>
              <a:buNone/>
            </a:pPr>
            <a:r>
              <a:rPr lang="en-US" sz="2400">
                <a:latin typeface="Times New Roman"/>
                <a:ea typeface="Times New Roman"/>
                <a:cs typeface="Times New Roman"/>
                <a:sym typeface="Times New Roman"/>
              </a:rPr>
              <a:t>4. Compute the between class- scatter  matrix (</a:t>
            </a:r>
            <a:r>
              <a:rPr lang="en-US" sz="2400">
                <a:latin typeface="Times New Roman"/>
                <a:ea typeface="Times New Roman"/>
                <a:cs typeface="Times New Roman"/>
                <a:sym typeface="Times New Roman"/>
              </a:rPr>
              <a:t>The way to find this scatter is to multiply the covariance by the </a:t>
            </a:r>
            <a:r>
              <a:rPr i="1" lang="en-US" sz="2400">
                <a:latin typeface="Times New Roman"/>
                <a:ea typeface="Times New Roman"/>
                <a:cs typeface="Times New Roman"/>
                <a:sym typeface="Times New Roman"/>
              </a:rPr>
              <a:t>p</a:t>
            </a:r>
            <a:r>
              <a:rPr baseline="-25000" i="1" lang="en-US" sz="2400">
                <a:latin typeface="Times New Roman"/>
                <a:ea typeface="Times New Roman"/>
                <a:cs typeface="Times New Roman"/>
                <a:sym typeface="Times New Roman"/>
              </a:rPr>
              <a:t>c</a:t>
            </a:r>
            <a:r>
              <a:rPr i="1" lang="en-US" sz="2400">
                <a:latin typeface="Times New Roman"/>
                <a:ea typeface="Times New Roman"/>
                <a:cs typeface="Times New Roman"/>
                <a:sym typeface="Times New Roman"/>
              </a:rPr>
              <a:t> , the probability of the class (that is, the number of data points </a:t>
            </a:r>
            <a:r>
              <a:rPr lang="en-US" sz="2400">
                <a:latin typeface="Times New Roman"/>
                <a:ea typeface="Times New Roman"/>
                <a:cs typeface="Times New Roman"/>
                <a:sym typeface="Times New Roman"/>
              </a:rPr>
              <a:t>there are in that class divided by the total number))</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Adding the values of this for all of the classes gives us a measure of the within-class scatter of the dataset:</a:t>
            </a:r>
            <a:endParaRPr>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If our dataset is easy to separate into classes, then this within-class scatter should be small, so that each class is tightly clustered together and  able to separate the data, the distance </a:t>
            </a:r>
            <a:r>
              <a:rPr i="1" lang="en-US" sz="2400">
                <a:latin typeface="Times New Roman"/>
                <a:ea typeface="Times New Roman"/>
                <a:cs typeface="Times New Roman"/>
                <a:sym typeface="Times New Roman"/>
              </a:rPr>
              <a:t>between the classes to be large.  </a:t>
            </a:r>
            <a:endParaRPr>
              <a:latin typeface="Times New Roman"/>
              <a:ea typeface="Times New Roman"/>
              <a:cs typeface="Times New Roman"/>
              <a:sym typeface="Times New Roman"/>
            </a:endParaRPr>
          </a:p>
        </p:txBody>
      </p:sp>
      <p:pic>
        <p:nvPicPr>
          <p:cNvPr id="138" name="Google Shape;138;p7"/>
          <p:cNvPicPr preferRelativeResize="0"/>
          <p:nvPr/>
        </p:nvPicPr>
        <p:blipFill rotWithShape="1">
          <a:blip r:embed="rId3">
            <a:alphaModFix/>
          </a:blip>
          <a:srcRect b="0" l="0" r="0" t="0"/>
          <a:stretch/>
        </p:blipFill>
        <p:spPr>
          <a:xfrm>
            <a:off x="3124200" y="3505200"/>
            <a:ext cx="5791200" cy="914400"/>
          </a:xfrm>
          <a:prstGeom prst="rect">
            <a:avLst/>
          </a:prstGeom>
          <a:noFill/>
          <a:ln>
            <a:noFill/>
          </a:ln>
        </p:spPr>
      </p:pic>
      <p:pic>
        <p:nvPicPr>
          <p:cNvPr id="139" name="Google Shape;139;p7"/>
          <p:cNvPicPr preferRelativeResize="0"/>
          <p:nvPr/>
        </p:nvPicPr>
        <p:blipFill>
          <a:blip r:embed="rId4">
            <a:alphaModFix/>
          </a:blip>
          <a:stretch>
            <a:fillRect/>
          </a:stretch>
        </p:blipFill>
        <p:spPr>
          <a:xfrm>
            <a:off x="2957675" y="1285925"/>
            <a:ext cx="1524000" cy="457200"/>
          </a:xfrm>
          <a:prstGeom prst="rect">
            <a:avLst/>
          </a:prstGeom>
          <a:noFill/>
          <a:ln>
            <a:noFill/>
          </a:ln>
        </p:spPr>
      </p:pic>
      <p:pic>
        <p:nvPicPr>
          <p:cNvPr id="140" name="Google Shape;140;p7"/>
          <p:cNvPicPr preferRelativeResize="0"/>
          <p:nvPr/>
        </p:nvPicPr>
        <p:blipFill>
          <a:blip r:embed="rId5">
            <a:alphaModFix/>
          </a:blip>
          <a:stretch>
            <a:fillRect/>
          </a:stretch>
        </p:blipFill>
        <p:spPr>
          <a:xfrm>
            <a:off x="3552888" y="2768675"/>
            <a:ext cx="2447925" cy="419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idx="1" type="body"/>
          </p:nvPr>
        </p:nvSpPr>
        <p:spPr>
          <a:xfrm>
            <a:off x="228600" y="152400"/>
            <a:ext cx="8763000" cy="6400800"/>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meanings of these two measurements is shown in Figure 6.3.</a:t>
            </a:r>
            <a:endParaRPr/>
          </a:p>
          <a:p>
            <a:pPr indent="-342900" lvl="0" marL="342900" rtl="0" algn="l">
              <a:spcBef>
                <a:spcPts val="480"/>
              </a:spcBef>
              <a:spcAft>
                <a:spcPts val="0"/>
              </a:spcAft>
              <a:buClr>
                <a:schemeClr val="dk1"/>
              </a:buClr>
              <a:buSzPts val="2400"/>
              <a:buChar char="•"/>
            </a:pPr>
            <a:r>
              <a:rPr lang="en-US" sz="2400"/>
              <a:t>The argument about good separation suggests that datasets that are easy to separate into the different classes (i.e., the classes are discriminable) should have </a:t>
            </a:r>
            <a:r>
              <a:rPr i="1" lang="en-US" sz="2400"/>
              <a:t>S</a:t>
            </a:r>
            <a:r>
              <a:rPr baseline="-25000" i="1" lang="en-US" sz="2400"/>
              <a:t>B</a:t>
            </a:r>
            <a:r>
              <a:rPr i="1" lang="en-US" sz="2400"/>
              <a:t>/S</a:t>
            </a:r>
            <a:r>
              <a:rPr baseline="-25000" i="1" lang="en-US" sz="2400"/>
              <a:t>W</a:t>
            </a:r>
            <a:r>
              <a:rPr i="1" lang="en-US" sz="2400"/>
              <a:t> as large as possible (i.e. Dimensionality Reduction). </a:t>
            </a:r>
            <a:endParaRPr/>
          </a:p>
          <a:p>
            <a:pPr indent="-342900" lvl="0" marL="342900" rtl="0" algn="l">
              <a:spcBef>
                <a:spcPts val="480"/>
              </a:spcBef>
              <a:spcAft>
                <a:spcPts val="0"/>
              </a:spcAft>
              <a:buClr>
                <a:schemeClr val="dk1"/>
              </a:buClr>
              <a:buSzPts val="2400"/>
              <a:buChar char="•"/>
            </a:pPr>
            <a:r>
              <a:rPr lang="en-US" sz="2400"/>
              <a:t>Figure 6.4 shows two projections of the dataset onto a straight line. </a:t>
            </a:r>
            <a:endParaRPr/>
          </a:p>
          <a:p>
            <a:pPr indent="-342900" lvl="0" marL="342900" rtl="0" algn="l">
              <a:spcBef>
                <a:spcPts val="480"/>
              </a:spcBef>
              <a:spcAft>
                <a:spcPts val="0"/>
              </a:spcAft>
              <a:buClr>
                <a:schemeClr val="dk1"/>
              </a:buClr>
              <a:buSzPts val="2400"/>
              <a:buChar char="•"/>
            </a:pPr>
            <a:r>
              <a:rPr lang="en-US" sz="2400"/>
              <a:t>For the projection on the left it is clear that we can’t separate out the two classes, while for the one on the right we can. </a:t>
            </a:r>
            <a:endParaRPr/>
          </a:p>
          <a:p>
            <a:pPr indent="-342900" lvl="0" marL="342900" rtl="0" algn="l">
              <a:spcBef>
                <a:spcPts val="480"/>
              </a:spcBef>
              <a:spcAft>
                <a:spcPts val="0"/>
              </a:spcAft>
              <a:buClr>
                <a:schemeClr val="dk1"/>
              </a:buClr>
              <a:buSzPts val="2400"/>
              <a:buChar char="•"/>
            </a:pPr>
            <a:r>
              <a:rPr lang="en-US" sz="2400"/>
              <a:t>find a way to compute a suitable projection.</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pic>
        <p:nvPicPr>
          <p:cNvPr id="146" name="Google Shape;146;p8"/>
          <p:cNvPicPr preferRelativeResize="0"/>
          <p:nvPr/>
        </p:nvPicPr>
        <p:blipFill rotWithShape="1">
          <a:blip r:embed="rId3">
            <a:alphaModFix/>
          </a:blip>
          <a:srcRect b="0" l="0" r="0" t="0"/>
          <a:stretch/>
        </p:blipFill>
        <p:spPr>
          <a:xfrm>
            <a:off x="914400" y="304800"/>
            <a:ext cx="4419600" cy="762000"/>
          </a:xfrm>
          <a:prstGeom prst="rect">
            <a:avLst/>
          </a:prstGeom>
          <a:noFill/>
          <a:ln>
            <a:noFill/>
          </a:ln>
        </p:spPr>
      </p:pic>
      <p:pic>
        <p:nvPicPr>
          <p:cNvPr id="147" name="Google Shape;147;p8"/>
          <p:cNvPicPr preferRelativeResize="0"/>
          <p:nvPr/>
        </p:nvPicPr>
        <p:blipFill rotWithShape="1">
          <a:blip r:embed="rId4">
            <a:alphaModFix/>
          </a:blip>
          <a:srcRect b="0" l="0" r="0" t="0"/>
          <a:stretch/>
        </p:blipFill>
        <p:spPr>
          <a:xfrm>
            <a:off x="5715000" y="0"/>
            <a:ext cx="3276600" cy="2314575"/>
          </a:xfrm>
          <a:prstGeom prst="rect">
            <a:avLst/>
          </a:prstGeom>
          <a:noFill/>
          <a:ln>
            <a:noFill/>
          </a:ln>
        </p:spPr>
      </p:pic>
      <p:sp>
        <p:nvSpPr>
          <p:cNvPr id="148" name="Google Shape;148;p8"/>
          <p:cNvSpPr/>
          <p:nvPr/>
        </p:nvSpPr>
        <p:spPr>
          <a:xfrm>
            <a:off x="304800" y="1362670"/>
            <a:ext cx="457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FIGURE 6.3 The meaning of the between-class and within-class scatter. The hearts mark the means of the two classes.</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idx="1" type="body"/>
          </p:nvPr>
        </p:nvSpPr>
        <p:spPr>
          <a:xfrm>
            <a:off x="152400" y="228600"/>
            <a:ext cx="8839200" cy="6400800"/>
          </a:xfrm>
          <a:prstGeom prst="rect">
            <a:avLst/>
          </a:prstGeom>
          <a:noFill/>
          <a:ln>
            <a:noFill/>
          </a:ln>
        </p:spPr>
        <p:txBody>
          <a:bodyPr anchorCtr="0" anchor="t" bIns="45700" lIns="91425" spcFirstLastPara="1" rIns="91425" wrap="square" tIns="45700">
            <a:normAutofit lnSpcReduction="10000"/>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Any line can be written as a vector </a:t>
            </a:r>
            <a:r>
              <a:rPr b="1" lang="en-US" sz="2400"/>
              <a:t>w. </a:t>
            </a:r>
            <a:endParaRPr/>
          </a:p>
          <a:p>
            <a:pPr indent="-342900" lvl="0" marL="342900" rtl="0" algn="l">
              <a:spcBef>
                <a:spcPts val="480"/>
              </a:spcBef>
              <a:spcAft>
                <a:spcPts val="0"/>
              </a:spcAft>
              <a:buClr>
                <a:schemeClr val="dk1"/>
              </a:buClr>
              <a:buSzPts val="2400"/>
              <a:buChar char="•"/>
            </a:pPr>
            <a:r>
              <a:rPr lang="en-US" sz="2400"/>
              <a:t>The projection of the data can be written as </a:t>
            </a:r>
            <a:r>
              <a:rPr b="1" i="1" lang="en-US" sz="2400"/>
              <a:t>z</a:t>
            </a:r>
            <a:r>
              <a:rPr i="1" lang="en-US" sz="2400"/>
              <a:t> = </a:t>
            </a:r>
            <a:r>
              <a:rPr b="1" i="1" lang="en-US" sz="2400"/>
              <a:t>w</a:t>
            </a:r>
            <a:r>
              <a:rPr b="1" baseline="30000" i="1" lang="en-US" sz="2400"/>
              <a:t>T </a:t>
            </a:r>
            <a:r>
              <a:rPr b="1" i="1" lang="en-US" sz="2400"/>
              <a:t>· </a:t>
            </a:r>
            <a:r>
              <a:rPr b="1" lang="en-US" sz="2400"/>
              <a:t>x</a:t>
            </a:r>
            <a:r>
              <a:rPr lang="en-US" sz="2400"/>
              <a:t> for data point </a:t>
            </a:r>
            <a:r>
              <a:rPr b="1" lang="en-US" sz="2400"/>
              <a:t>x</a:t>
            </a:r>
            <a:r>
              <a:rPr b="1" i="1" lang="en-US" sz="2400"/>
              <a:t>. </a:t>
            </a:r>
            <a:endParaRPr/>
          </a:p>
          <a:p>
            <a:pPr indent="-342900" lvl="0" marL="342900" rtl="0" algn="l">
              <a:spcBef>
                <a:spcPts val="480"/>
              </a:spcBef>
              <a:spcAft>
                <a:spcPts val="0"/>
              </a:spcAft>
              <a:buClr>
                <a:schemeClr val="dk1"/>
              </a:buClr>
              <a:buSzPts val="2400"/>
              <a:buChar char="•"/>
            </a:pPr>
            <a:r>
              <a:rPr lang="en-US" sz="2400"/>
              <a:t>This gives us a scalar that is the distance along the </a:t>
            </a:r>
            <a:r>
              <a:rPr b="1" lang="en-US" sz="2400"/>
              <a:t>w</a:t>
            </a:r>
            <a:r>
              <a:rPr lang="en-US" sz="2400"/>
              <a:t> vector that we need to go to find the projection of point  </a:t>
            </a:r>
            <a:r>
              <a:rPr b="1" lang="en-US" sz="2400"/>
              <a:t>x</a:t>
            </a:r>
            <a:r>
              <a:rPr lang="en-US" sz="2400"/>
              <a:t>.</a:t>
            </a:r>
            <a:endParaRPr/>
          </a:p>
          <a:p>
            <a:pPr indent="-342900" lvl="0" marL="342900" rtl="0" algn="l">
              <a:spcBef>
                <a:spcPts val="480"/>
              </a:spcBef>
              <a:spcAft>
                <a:spcPts val="0"/>
              </a:spcAft>
              <a:buClr>
                <a:schemeClr val="dk1"/>
              </a:buClr>
              <a:buSzPts val="2400"/>
              <a:buChar char="•"/>
            </a:pPr>
            <a:r>
              <a:rPr b="1" lang="en-US" sz="2400"/>
              <a:t>w</a:t>
            </a:r>
            <a:r>
              <a:rPr b="1" baseline="30000" i="1" lang="en-US" sz="2400"/>
              <a:t>T</a:t>
            </a:r>
            <a:r>
              <a:rPr b="1" i="1" lang="en-US" sz="2400"/>
              <a:t> · x </a:t>
            </a:r>
            <a:r>
              <a:rPr lang="en-US" sz="2400"/>
              <a:t>is the sum of the vectors multiplied together element-wise, and is equal to the size of </a:t>
            </a:r>
            <a:r>
              <a:rPr b="1" lang="en-US" sz="2400"/>
              <a:t>w </a:t>
            </a:r>
            <a:r>
              <a:rPr lang="en-US" sz="2400"/>
              <a:t>times the size of </a:t>
            </a:r>
            <a:r>
              <a:rPr b="1" lang="en-US" sz="2400"/>
              <a:t>x </a:t>
            </a:r>
            <a:r>
              <a:rPr lang="en-US" sz="2400"/>
              <a:t>times the </a:t>
            </a:r>
            <a:r>
              <a:rPr b="1" lang="en-US" sz="2400"/>
              <a:t>cosine </a:t>
            </a:r>
            <a:r>
              <a:rPr lang="en-US" sz="2400"/>
              <a:t>of the</a:t>
            </a:r>
            <a:r>
              <a:rPr b="1" lang="en-US" sz="2400"/>
              <a:t> angle </a:t>
            </a:r>
            <a:r>
              <a:rPr lang="en-US" sz="2400"/>
              <a:t>between them</a:t>
            </a:r>
            <a:r>
              <a:rPr b="1" lang="en-US" sz="2400"/>
              <a:t>.</a:t>
            </a:r>
            <a:endParaRPr sz="2400"/>
          </a:p>
        </p:txBody>
      </p:sp>
      <p:pic>
        <p:nvPicPr>
          <p:cNvPr id="154" name="Google Shape;154;p9"/>
          <p:cNvPicPr preferRelativeResize="0"/>
          <p:nvPr/>
        </p:nvPicPr>
        <p:blipFill rotWithShape="1">
          <a:blip r:embed="rId3">
            <a:alphaModFix/>
          </a:blip>
          <a:srcRect b="0" l="0" r="0" t="0"/>
          <a:stretch/>
        </p:blipFill>
        <p:spPr>
          <a:xfrm>
            <a:off x="133350" y="0"/>
            <a:ext cx="3829050" cy="2838450"/>
          </a:xfrm>
          <a:prstGeom prst="rect">
            <a:avLst/>
          </a:prstGeom>
          <a:noFill/>
          <a:ln>
            <a:noFill/>
          </a:ln>
        </p:spPr>
      </p:pic>
      <p:pic>
        <p:nvPicPr>
          <p:cNvPr id="155" name="Google Shape;155;p9"/>
          <p:cNvPicPr preferRelativeResize="0"/>
          <p:nvPr/>
        </p:nvPicPr>
        <p:blipFill rotWithShape="1">
          <a:blip r:embed="rId4">
            <a:alphaModFix/>
          </a:blip>
          <a:srcRect b="0" l="0" r="0" t="0"/>
          <a:stretch/>
        </p:blipFill>
        <p:spPr>
          <a:xfrm>
            <a:off x="4953000" y="0"/>
            <a:ext cx="3905250" cy="2924175"/>
          </a:xfrm>
          <a:prstGeom prst="rect">
            <a:avLst/>
          </a:prstGeom>
          <a:noFill/>
          <a:ln>
            <a:noFill/>
          </a:ln>
        </p:spPr>
      </p:pic>
      <p:sp>
        <p:nvSpPr>
          <p:cNvPr id="156" name="Google Shape;156;p9"/>
          <p:cNvSpPr/>
          <p:nvPr/>
        </p:nvSpPr>
        <p:spPr>
          <a:xfrm>
            <a:off x="381000" y="2967335"/>
            <a:ext cx="84582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FIGURE 6.4 Two different possible projection lines. The one on the left fails to separate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classes.</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idx="1" type="body"/>
          </p:nvPr>
        </p:nvSpPr>
        <p:spPr>
          <a:xfrm>
            <a:off x="152400" y="91800"/>
            <a:ext cx="8839200" cy="6613800"/>
          </a:xfrm>
          <a:prstGeom prst="rect">
            <a:avLst/>
          </a:prstGeom>
          <a:noFill/>
          <a:ln>
            <a:noFill/>
          </a:ln>
        </p:spPr>
        <p:txBody>
          <a:bodyPr anchorCtr="0" anchor="t" bIns="45700" lIns="91425" spcFirstLastPara="1" rIns="91425" wrap="square" tIns="45700">
            <a:noAutofit/>
          </a:bodyPr>
          <a:lstStyle/>
          <a:p>
            <a:pPr indent="-304800" lvl="0" marL="342900" rtl="0" algn="l">
              <a:spcBef>
                <a:spcPts val="0"/>
              </a:spcBef>
              <a:spcAft>
                <a:spcPts val="0"/>
              </a:spcAft>
              <a:buSzPts val="2600"/>
              <a:buChar char="•"/>
            </a:pPr>
            <a:r>
              <a:rPr lang="en-US" sz="2600">
                <a:latin typeface="Times New Roman"/>
                <a:ea typeface="Times New Roman"/>
                <a:cs typeface="Times New Roman"/>
                <a:sym typeface="Times New Roman"/>
              </a:rPr>
              <a:t>compute the projection of our data along </a:t>
            </a:r>
            <a:r>
              <a:rPr b="1" lang="en-US" sz="2600">
                <a:latin typeface="Times New Roman"/>
                <a:ea typeface="Times New Roman"/>
                <a:cs typeface="Times New Roman"/>
                <a:sym typeface="Times New Roman"/>
              </a:rPr>
              <a:t>w </a:t>
            </a:r>
            <a:r>
              <a:rPr lang="en-US" sz="2600">
                <a:latin typeface="Times New Roman"/>
                <a:ea typeface="Times New Roman"/>
                <a:cs typeface="Times New Roman"/>
                <a:sym typeface="Times New Roman"/>
              </a:rPr>
              <a:t>for every point, and we will have projected our data onto a straight line, as is shown in the two examples in Figure 6.4.</a:t>
            </a:r>
            <a:endParaRPr sz="2600">
              <a:latin typeface="Times New Roman"/>
              <a:ea typeface="Times New Roman"/>
              <a:cs typeface="Times New Roman"/>
              <a:sym typeface="Times New Roman"/>
            </a:endParaRPr>
          </a:p>
          <a:p>
            <a:pPr indent="0" lvl="0" marL="342900" rtl="0" algn="l">
              <a:spcBef>
                <a:spcPts val="0"/>
              </a:spcBef>
              <a:spcAft>
                <a:spcPts val="0"/>
              </a:spcAft>
              <a:buNone/>
            </a:pPr>
            <a:r>
              <a:t/>
            </a:r>
            <a:endParaRPr sz="2600">
              <a:latin typeface="Times New Roman"/>
              <a:ea typeface="Times New Roman"/>
              <a:cs typeface="Times New Roman"/>
              <a:sym typeface="Times New Roman"/>
            </a:endParaRPr>
          </a:p>
          <a:p>
            <a:pPr indent="0" lvl="0" marL="342900" rtl="0" algn="l">
              <a:spcBef>
                <a:spcPts val="0"/>
              </a:spcBef>
              <a:spcAft>
                <a:spcPts val="0"/>
              </a:spcAft>
              <a:buNone/>
            </a:pPr>
            <a:r>
              <a:rPr lang="en-US" sz="2600">
                <a:latin typeface="Times New Roman"/>
                <a:ea typeface="Times New Roman"/>
                <a:cs typeface="Times New Roman"/>
                <a:sym typeface="Times New Roman"/>
              </a:rPr>
              <a:t>5) Compute Eigen values and Eigen vectors from the within class and between class </a:t>
            </a:r>
            <a:r>
              <a:rPr lang="en-US" sz="2600">
                <a:latin typeface="Times New Roman"/>
                <a:ea typeface="Times New Roman"/>
                <a:cs typeface="Times New Roman"/>
                <a:sym typeface="Times New Roman"/>
              </a:rPr>
              <a:t>scatter</a:t>
            </a:r>
            <a:r>
              <a:rPr lang="en-US" sz="2600">
                <a:latin typeface="Times New Roman"/>
                <a:ea typeface="Times New Roman"/>
                <a:cs typeface="Times New Roman"/>
                <a:sym typeface="Times New Roman"/>
              </a:rPr>
              <a:t> matrix</a:t>
            </a:r>
            <a:endParaRPr sz="2600">
              <a:latin typeface="Times New Roman"/>
              <a:ea typeface="Times New Roman"/>
              <a:cs typeface="Times New Roman"/>
              <a:sym typeface="Times New Roman"/>
            </a:endParaRPr>
          </a:p>
          <a:p>
            <a:pPr indent="0" lvl="0" marL="342900" rtl="0" algn="l">
              <a:spcBef>
                <a:spcPts val="0"/>
              </a:spcBef>
              <a:spcAft>
                <a:spcPts val="0"/>
              </a:spcAft>
              <a:buNone/>
            </a:pPr>
            <a:r>
              <a:t/>
            </a:r>
            <a:endParaRPr sz="2600">
              <a:latin typeface="Times New Roman"/>
              <a:ea typeface="Times New Roman"/>
              <a:cs typeface="Times New Roman"/>
              <a:sym typeface="Times New Roman"/>
            </a:endParaRPr>
          </a:p>
          <a:p>
            <a:pPr indent="0" lvl="0" marL="342900" rtl="0" algn="l">
              <a:spcBef>
                <a:spcPts val="0"/>
              </a:spcBef>
              <a:spcAft>
                <a:spcPts val="0"/>
              </a:spcAft>
              <a:buNone/>
            </a:pPr>
            <a:r>
              <a:t/>
            </a:r>
            <a:endParaRPr sz="2600">
              <a:latin typeface="Times New Roman"/>
              <a:ea typeface="Times New Roman"/>
              <a:cs typeface="Times New Roman"/>
              <a:sym typeface="Times New Roman"/>
            </a:endParaRPr>
          </a:p>
          <a:p>
            <a:pPr indent="0" lvl="0" marL="342900" rtl="0" algn="l">
              <a:spcBef>
                <a:spcPts val="0"/>
              </a:spcBef>
              <a:spcAft>
                <a:spcPts val="0"/>
              </a:spcAft>
              <a:buNone/>
            </a:pPr>
            <a:r>
              <a:rPr lang="en-US" sz="2600">
                <a:latin typeface="Times New Roman"/>
                <a:ea typeface="Times New Roman"/>
                <a:cs typeface="Times New Roman"/>
                <a:sym typeface="Times New Roman"/>
              </a:rPr>
              <a:t>6) Sort </a:t>
            </a:r>
            <a:r>
              <a:rPr lang="en-US" sz="2600">
                <a:latin typeface="Times New Roman"/>
                <a:ea typeface="Times New Roman"/>
                <a:cs typeface="Times New Roman"/>
                <a:sym typeface="Times New Roman"/>
              </a:rPr>
              <a:t>the values of eigen values and select the top k values</a:t>
            </a:r>
            <a:endParaRPr sz="2600">
              <a:latin typeface="Times New Roman"/>
              <a:ea typeface="Times New Roman"/>
              <a:cs typeface="Times New Roman"/>
              <a:sym typeface="Times New Roman"/>
            </a:endParaRPr>
          </a:p>
          <a:p>
            <a:pPr indent="0" lvl="0" marL="342900" rtl="0" algn="l">
              <a:spcBef>
                <a:spcPts val="0"/>
              </a:spcBef>
              <a:spcAft>
                <a:spcPts val="0"/>
              </a:spcAft>
              <a:buNone/>
            </a:pPr>
            <a:r>
              <a:rPr lang="en-US" sz="2600">
                <a:latin typeface="Times New Roman"/>
                <a:ea typeface="Times New Roman"/>
                <a:cs typeface="Times New Roman"/>
                <a:sym typeface="Times New Roman"/>
              </a:rPr>
              <a:t>7) Find the Eigen vectors corresponding to the top k eigen vectors</a:t>
            </a:r>
            <a:endParaRPr sz="2600">
              <a:latin typeface="Times New Roman"/>
              <a:ea typeface="Times New Roman"/>
              <a:cs typeface="Times New Roman"/>
              <a:sym typeface="Times New Roman"/>
            </a:endParaRPr>
          </a:p>
          <a:p>
            <a:pPr indent="0" lvl="0" marL="342900" rtl="0" algn="l">
              <a:spcBef>
                <a:spcPts val="0"/>
              </a:spcBef>
              <a:spcAft>
                <a:spcPts val="0"/>
              </a:spcAft>
              <a:buNone/>
            </a:pPr>
            <a:r>
              <a:t/>
            </a:r>
            <a:endParaRPr sz="2600">
              <a:latin typeface="Times New Roman"/>
              <a:ea typeface="Times New Roman"/>
              <a:cs typeface="Times New Roman"/>
              <a:sym typeface="Times New Roman"/>
            </a:endParaRPr>
          </a:p>
          <a:p>
            <a:pPr indent="0" lvl="0" marL="342900" rtl="0" algn="l">
              <a:spcBef>
                <a:spcPts val="0"/>
              </a:spcBef>
              <a:spcAft>
                <a:spcPts val="0"/>
              </a:spcAft>
              <a:buNone/>
            </a:pPr>
            <a:r>
              <a:t/>
            </a:r>
            <a:endParaRPr sz="2600">
              <a:latin typeface="Times New Roman"/>
              <a:ea typeface="Times New Roman"/>
              <a:cs typeface="Times New Roman"/>
              <a:sym typeface="Times New Roman"/>
            </a:endParaRPr>
          </a:p>
          <a:p>
            <a:pPr indent="0" lvl="0" marL="342900" rtl="0" algn="l">
              <a:spcBef>
                <a:spcPts val="0"/>
              </a:spcBef>
              <a:spcAft>
                <a:spcPts val="0"/>
              </a:spcAft>
              <a:buNone/>
            </a:pPr>
            <a:r>
              <a:rPr lang="en-US" sz="2600">
                <a:latin typeface="Times New Roman"/>
                <a:ea typeface="Times New Roman"/>
                <a:cs typeface="Times New Roman"/>
                <a:sym typeface="Times New Roman"/>
              </a:rPr>
              <a:t>8) Obtain LDA by taking the dot product of  </a:t>
            </a:r>
            <a:r>
              <a:rPr lang="en-US" sz="2600">
                <a:latin typeface="Times New Roman"/>
                <a:ea typeface="Times New Roman"/>
                <a:cs typeface="Times New Roman"/>
                <a:sym typeface="Times New Roman"/>
              </a:rPr>
              <a:t>eigen vectors and original data.</a:t>
            </a:r>
            <a:endParaRPr sz="2600">
              <a:latin typeface="Times New Roman"/>
              <a:ea typeface="Times New Roman"/>
              <a:cs typeface="Times New Roman"/>
              <a:sym typeface="Times New Roman"/>
            </a:endParaRPr>
          </a:p>
          <a:p>
            <a:pPr indent="0" lvl="0" marL="342900" rtl="0" algn="l">
              <a:spcBef>
                <a:spcPts val="0"/>
              </a:spcBef>
              <a:spcAft>
                <a:spcPts val="0"/>
              </a:spcAft>
              <a:buNone/>
            </a:pPr>
            <a:r>
              <a:t/>
            </a:r>
            <a:endParaRPr sz="2600">
              <a:latin typeface="Times New Roman"/>
              <a:ea typeface="Times New Roman"/>
              <a:cs typeface="Times New Roman"/>
              <a:sym typeface="Times New Roman"/>
            </a:endParaRPr>
          </a:p>
          <a:p>
            <a:pPr indent="-304800" lvl="0" marL="342900" rtl="0" algn="l">
              <a:spcBef>
                <a:spcPts val="640"/>
              </a:spcBef>
              <a:spcAft>
                <a:spcPts val="0"/>
              </a:spcAft>
              <a:buClr>
                <a:schemeClr val="dk1"/>
              </a:buClr>
              <a:buSzPts val="2600"/>
              <a:buChar char="•"/>
            </a:pPr>
            <a:r>
              <a:rPr lang="en-US" sz="2600">
                <a:latin typeface="Times New Roman"/>
                <a:ea typeface="Times New Roman"/>
                <a:cs typeface="Times New Roman"/>
                <a:sym typeface="Times New Roman"/>
              </a:rPr>
              <a:t>Since the mean can be treated as a data point, we can project that as well:          </a:t>
            </a:r>
            <a:r>
              <a:rPr i="1" lang="en-US" sz="2600">
                <a:latin typeface="Times New Roman"/>
                <a:ea typeface="Times New Roman"/>
                <a:cs typeface="Times New Roman"/>
                <a:sym typeface="Times New Roman"/>
              </a:rPr>
              <a:t>= </a:t>
            </a:r>
            <a:r>
              <a:rPr b="1" i="1" lang="en-US" sz="2600">
                <a:latin typeface="Times New Roman"/>
                <a:ea typeface="Times New Roman"/>
                <a:cs typeface="Times New Roman"/>
                <a:sym typeface="Times New Roman"/>
              </a:rPr>
              <a:t>w</a:t>
            </a:r>
            <a:r>
              <a:rPr b="1" baseline="30000" i="1" lang="en-US" sz="2600">
                <a:latin typeface="Times New Roman"/>
                <a:ea typeface="Times New Roman"/>
                <a:cs typeface="Times New Roman"/>
                <a:sym typeface="Times New Roman"/>
              </a:rPr>
              <a:t>T</a:t>
            </a:r>
            <a:r>
              <a:rPr b="1" i="1" lang="en-US" sz="2600">
                <a:latin typeface="Times New Roman"/>
                <a:ea typeface="Times New Roman"/>
                <a:cs typeface="Times New Roman"/>
                <a:sym typeface="Times New Roman"/>
              </a:rPr>
              <a:t> · μ</a:t>
            </a:r>
            <a:r>
              <a:rPr b="1" baseline="-25000" i="1" lang="en-US" sz="2600">
                <a:latin typeface="Times New Roman"/>
                <a:ea typeface="Times New Roman"/>
                <a:cs typeface="Times New Roman"/>
                <a:sym typeface="Times New Roman"/>
              </a:rPr>
              <a:t>c</a:t>
            </a:r>
            <a:r>
              <a:rPr b="1" i="1" lang="en-US" sz="2600">
                <a:latin typeface="Times New Roman"/>
                <a:ea typeface="Times New Roman"/>
                <a:cs typeface="Times New Roman"/>
                <a:sym typeface="Times New Roman"/>
              </a:rPr>
              <a:t>  </a:t>
            </a:r>
            <a:endParaRPr sz="2600">
              <a:latin typeface="Times New Roman"/>
              <a:ea typeface="Times New Roman"/>
              <a:cs typeface="Times New Roman"/>
              <a:sym typeface="Times New Roman"/>
            </a:endParaRPr>
          </a:p>
          <a:p>
            <a:pPr indent="-304800" lvl="0" marL="342900" rtl="0" algn="l">
              <a:spcBef>
                <a:spcPts val="640"/>
              </a:spcBef>
              <a:spcAft>
                <a:spcPts val="0"/>
              </a:spcAft>
              <a:buClr>
                <a:schemeClr val="dk1"/>
              </a:buClr>
              <a:buSzPts val="2600"/>
              <a:buChar char="•"/>
            </a:pPr>
            <a:r>
              <a:rPr lang="en-US" sz="2600">
                <a:latin typeface="Times New Roman"/>
                <a:ea typeface="Times New Roman"/>
                <a:cs typeface="Times New Roman"/>
                <a:sym typeface="Times New Roman"/>
              </a:rPr>
              <a:t>Replacing </a:t>
            </a:r>
            <a:r>
              <a:rPr b="1" lang="en-US" sz="2600">
                <a:latin typeface="Times New Roman"/>
                <a:ea typeface="Times New Roman"/>
                <a:cs typeface="Times New Roman"/>
                <a:sym typeface="Times New Roman"/>
              </a:rPr>
              <a:t>x</a:t>
            </a:r>
            <a:r>
              <a:rPr b="1" baseline="-25000" lang="en-US" sz="2600">
                <a:latin typeface="Times New Roman"/>
                <a:ea typeface="Times New Roman"/>
                <a:cs typeface="Times New Roman"/>
                <a:sym typeface="Times New Roman"/>
              </a:rPr>
              <a:t>j</a:t>
            </a:r>
            <a:r>
              <a:rPr lang="en-US" sz="2600">
                <a:latin typeface="Times New Roman"/>
                <a:ea typeface="Times New Roman"/>
                <a:cs typeface="Times New Roman"/>
                <a:sym typeface="Times New Roman"/>
              </a:rPr>
              <a:t> with </a:t>
            </a:r>
            <a:r>
              <a:rPr b="1" lang="en-US" sz="2600">
                <a:latin typeface="Times New Roman"/>
                <a:ea typeface="Times New Roman"/>
                <a:cs typeface="Times New Roman"/>
                <a:sym typeface="Times New Roman"/>
              </a:rPr>
              <a:t>w</a:t>
            </a:r>
            <a:r>
              <a:rPr b="1" baseline="30000" lang="en-US" sz="2600">
                <a:latin typeface="Times New Roman"/>
                <a:ea typeface="Times New Roman"/>
                <a:cs typeface="Times New Roman"/>
                <a:sym typeface="Times New Roman"/>
              </a:rPr>
              <a:t>T</a:t>
            </a:r>
            <a:r>
              <a:rPr b="1" lang="en-US" sz="2600">
                <a:latin typeface="Times New Roman"/>
                <a:ea typeface="Times New Roman"/>
                <a:cs typeface="Times New Roman"/>
                <a:sym typeface="Times New Roman"/>
              </a:rPr>
              <a:t> · x</a:t>
            </a:r>
            <a:r>
              <a:rPr b="1" baseline="-25000" lang="en-US" sz="2600">
                <a:latin typeface="Times New Roman"/>
                <a:ea typeface="Times New Roman"/>
                <a:cs typeface="Times New Roman"/>
                <a:sym typeface="Times New Roman"/>
              </a:rPr>
              <a:t>j </a:t>
            </a:r>
            <a:r>
              <a:rPr lang="en-US" sz="2600">
                <a:latin typeface="Times New Roman"/>
                <a:ea typeface="Times New Roman"/>
                <a:cs typeface="Times New Roman"/>
                <a:sym typeface="Times New Roman"/>
              </a:rPr>
              <a:t>in Equations (6.1) and (6.2)  use some linear algebra (principally the fact that (A</a:t>
            </a:r>
            <a:r>
              <a:rPr baseline="30000" lang="en-US" sz="2600">
                <a:latin typeface="Times New Roman"/>
                <a:ea typeface="Times New Roman"/>
                <a:cs typeface="Times New Roman"/>
                <a:sym typeface="Times New Roman"/>
              </a:rPr>
              <a:t>T</a:t>
            </a:r>
            <a:r>
              <a:rPr lang="en-US" sz="2600">
                <a:latin typeface="Times New Roman"/>
                <a:ea typeface="Times New Roman"/>
                <a:cs typeface="Times New Roman"/>
                <a:sym typeface="Times New Roman"/>
              </a:rPr>
              <a:t>B)</a:t>
            </a:r>
            <a:r>
              <a:rPr baseline="30000" lang="en-US" sz="2600">
                <a:latin typeface="Times New Roman"/>
                <a:ea typeface="Times New Roman"/>
                <a:cs typeface="Times New Roman"/>
                <a:sym typeface="Times New Roman"/>
              </a:rPr>
              <a:t>T</a:t>
            </a:r>
            <a:r>
              <a:rPr lang="en-US" sz="2600">
                <a:latin typeface="Times New Roman"/>
                <a:ea typeface="Times New Roman"/>
                <a:cs typeface="Times New Roman"/>
                <a:sym typeface="Times New Roman"/>
              </a:rPr>
              <a:t> = B</a:t>
            </a:r>
            <a:r>
              <a:rPr baseline="30000" lang="en-US" sz="2600">
                <a:latin typeface="Times New Roman"/>
                <a:ea typeface="Times New Roman"/>
                <a:cs typeface="Times New Roman"/>
                <a:sym typeface="Times New Roman"/>
              </a:rPr>
              <a:t>T</a:t>
            </a:r>
            <a:r>
              <a:rPr lang="en-US" sz="2600">
                <a:latin typeface="Times New Roman"/>
                <a:ea typeface="Times New Roman"/>
                <a:cs typeface="Times New Roman"/>
                <a:sym typeface="Times New Roman"/>
              </a:rPr>
              <a:t>       = B</a:t>
            </a:r>
            <a:r>
              <a:rPr baseline="30000" lang="en-US" sz="2600">
                <a:latin typeface="Times New Roman"/>
                <a:ea typeface="Times New Roman"/>
                <a:cs typeface="Times New Roman"/>
                <a:sym typeface="Times New Roman"/>
              </a:rPr>
              <a:t>T</a:t>
            </a:r>
            <a:r>
              <a:rPr lang="en-US" sz="2600">
                <a:latin typeface="Times New Roman"/>
                <a:ea typeface="Times New Roman"/>
                <a:cs typeface="Times New Roman"/>
                <a:sym typeface="Times New Roman"/>
              </a:rPr>
              <a:t>A)</a:t>
            </a:r>
            <a:endParaRPr b="1" i="1" sz="2600">
              <a:latin typeface="Times New Roman"/>
              <a:ea typeface="Times New Roman"/>
              <a:cs typeface="Times New Roman"/>
              <a:sym typeface="Times New Roman"/>
            </a:endParaRPr>
          </a:p>
          <a:p>
            <a:pPr indent="-304800" lvl="0" marL="342900" rtl="0" algn="l">
              <a:spcBef>
                <a:spcPts val="640"/>
              </a:spcBef>
              <a:spcAft>
                <a:spcPts val="0"/>
              </a:spcAft>
              <a:buClr>
                <a:schemeClr val="dk1"/>
              </a:buClr>
              <a:buSzPts val="2600"/>
              <a:buChar char="•"/>
            </a:pPr>
            <a:r>
              <a:rPr lang="en-US" sz="2600">
                <a:latin typeface="Times New Roman"/>
                <a:ea typeface="Times New Roman"/>
                <a:cs typeface="Times New Roman"/>
                <a:sym typeface="Times New Roman"/>
              </a:rPr>
              <a:t>To find the maximum value of this with respect to </a:t>
            </a:r>
            <a:r>
              <a:rPr b="1" lang="en-US" sz="2600">
                <a:latin typeface="Times New Roman"/>
                <a:ea typeface="Times New Roman"/>
                <a:cs typeface="Times New Roman"/>
                <a:sym typeface="Times New Roman"/>
              </a:rPr>
              <a:t>w, </a:t>
            </a:r>
            <a:r>
              <a:rPr lang="en-US" sz="2600">
                <a:latin typeface="Times New Roman"/>
                <a:ea typeface="Times New Roman"/>
                <a:cs typeface="Times New Roman"/>
                <a:sym typeface="Times New Roman"/>
              </a:rPr>
              <a:t>differentiate it and set</a:t>
            </a:r>
            <a:r>
              <a:rPr b="1" lang="en-US" sz="2600">
                <a:latin typeface="Times New Roman"/>
                <a:ea typeface="Times New Roman"/>
                <a:cs typeface="Times New Roman"/>
                <a:sym typeface="Times New Roman"/>
              </a:rPr>
              <a:t> </a:t>
            </a:r>
            <a:r>
              <a:rPr lang="en-US" sz="2600">
                <a:latin typeface="Times New Roman"/>
                <a:ea typeface="Times New Roman"/>
                <a:cs typeface="Times New Roman"/>
                <a:sym typeface="Times New Roman"/>
              </a:rPr>
              <a:t>the derivative equal to 0. </a:t>
            </a:r>
            <a:endParaRPr sz="2600">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sz="2600">
              <a:latin typeface="Times New Roman"/>
              <a:ea typeface="Times New Roman"/>
              <a:cs typeface="Times New Roman"/>
              <a:sym typeface="Times New Roman"/>
            </a:endParaRPr>
          </a:p>
        </p:txBody>
      </p:sp>
      <p:sp>
        <p:nvSpPr>
          <p:cNvPr id="162" name="Google Shape;162;p10"/>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3" name="Google Shape;163;p10"/>
          <p:cNvPicPr preferRelativeResize="0"/>
          <p:nvPr/>
        </p:nvPicPr>
        <p:blipFill rotWithShape="1">
          <a:blip r:embed="rId3">
            <a:alphaModFix/>
          </a:blip>
          <a:srcRect b="0" l="0" r="0" t="0"/>
          <a:stretch/>
        </p:blipFill>
        <p:spPr>
          <a:xfrm>
            <a:off x="6342325" y="800100"/>
            <a:ext cx="381000" cy="508000"/>
          </a:xfrm>
          <a:prstGeom prst="rect">
            <a:avLst/>
          </a:prstGeom>
          <a:noFill/>
          <a:ln>
            <a:noFill/>
          </a:ln>
        </p:spPr>
      </p:pic>
      <p:sp>
        <p:nvSpPr>
          <p:cNvPr id="164" name="Google Shape;164;p10"/>
          <p:cNvSpPr/>
          <p:nvPr/>
        </p:nvSpPr>
        <p:spPr>
          <a:xfrm>
            <a:off x="0" y="8001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65" name="Google Shape;165;p10"/>
          <p:cNvPicPr preferRelativeResize="0"/>
          <p:nvPr/>
        </p:nvPicPr>
        <p:blipFill rotWithShape="1">
          <a:blip r:embed="rId4">
            <a:alphaModFix/>
          </a:blip>
          <a:srcRect b="0" l="0" r="0" t="0"/>
          <a:stretch/>
        </p:blipFill>
        <p:spPr>
          <a:xfrm>
            <a:off x="2754700" y="946275"/>
            <a:ext cx="392545" cy="381000"/>
          </a:xfrm>
          <a:prstGeom prst="rect">
            <a:avLst/>
          </a:prstGeom>
          <a:noFill/>
          <a:ln>
            <a:noFill/>
          </a:ln>
        </p:spPr>
      </p:pic>
      <p:sp>
        <p:nvSpPr>
          <p:cNvPr id="166" name="Google Shape;166;p10"/>
          <p:cNvSpPr/>
          <p:nvPr/>
        </p:nvSpPr>
        <p:spPr>
          <a:xfrm>
            <a:off x="83363" y="8001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67" name="Google Shape;167;p10"/>
          <p:cNvPicPr preferRelativeResize="0"/>
          <p:nvPr/>
        </p:nvPicPr>
        <p:blipFill>
          <a:blip r:embed="rId5">
            <a:alphaModFix/>
          </a:blip>
          <a:stretch>
            <a:fillRect/>
          </a:stretch>
        </p:blipFill>
        <p:spPr>
          <a:xfrm>
            <a:off x="4705350" y="2500500"/>
            <a:ext cx="2530875" cy="765925"/>
          </a:xfrm>
          <a:prstGeom prst="rect">
            <a:avLst/>
          </a:prstGeom>
          <a:noFill/>
          <a:ln>
            <a:noFill/>
          </a:ln>
        </p:spPr>
      </p:pic>
      <p:pic>
        <p:nvPicPr>
          <p:cNvPr id="168" name="Google Shape;168;p10"/>
          <p:cNvPicPr preferRelativeResize="0"/>
          <p:nvPr/>
        </p:nvPicPr>
        <p:blipFill>
          <a:blip r:embed="rId6">
            <a:alphaModFix/>
          </a:blip>
          <a:stretch>
            <a:fillRect/>
          </a:stretch>
        </p:blipFill>
        <p:spPr>
          <a:xfrm>
            <a:off x="2247575" y="4325125"/>
            <a:ext cx="2590800" cy="1009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Ignore the ratio of within-class and between-class scatter, since it is a scalar and therefore does not affect the direction of the vector.</a:t>
            </a:r>
            <a:endParaRPr/>
          </a:p>
          <a:p>
            <a:pPr indent="-342900" lvl="0" marL="342900" rtl="0" algn="just">
              <a:spcBef>
                <a:spcPts val="560"/>
              </a:spcBef>
              <a:spcAft>
                <a:spcPts val="0"/>
              </a:spcAft>
              <a:buClr>
                <a:schemeClr val="dk1"/>
              </a:buClr>
              <a:buSzPts val="2800"/>
              <a:buChar char="•"/>
            </a:pPr>
            <a:r>
              <a:rPr lang="en-US" sz="2800"/>
              <a:t>Unfortunately, this does not work for the general case. </a:t>
            </a:r>
            <a:endParaRPr/>
          </a:p>
          <a:p>
            <a:pPr indent="-342900" lvl="0" marL="342900" rtl="0" algn="just">
              <a:spcBef>
                <a:spcPts val="560"/>
              </a:spcBef>
              <a:spcAft>
                <a:spcPts val="0"/>
              </a:spcAft>
              <a:buClr>
                <a:schemeClr val="dk1"/>
              </a:buClr>
              <a:buSzPts val="2800"/>
              <a:buChar char="•"/>
            </a:pPr>
            <a:r>
              <a:rPr lang="en-US" sz="2800"/>
              <a:t>There, finding the minimum is not simple, and requires computing the generalized eigenvectors of         </a:t>
            </a:r>
            <a:r>
              <a:rPr i="1" lang="en-US" sz="2800"/>
              <a:t>S</a:t>
            </a:r>
            <a:r>
              <a:rPr baseline="-25000" i="1" lang="en-US" sz="2800"/>
              <a:t>B</a:t>
            </a:r>
            <a:r>
              <a:rPr i="1" lang="en-US" sz="2800"/>
              <a:t>  assuming that            exists.</a:t>
            </a:r>
            <a:endParaRPr/>
          </a:p>
          <a:p>
            <a:pPr indent="-342900" lvl="0" marL="342900" rtl="0" algn="just">
              <a:spcBef>
                <a:spcPts val="560"/>
              </a:spcBef>
              <a:spcAft>
                <a:spcPts val="0"/>
              </a:spcAft>
              <a:buClr>
                <a:schemeClr val="dk1"/>
              </a:buClr>
              <a:buSzPts val="2800"/>
              <a:buChar char="•"/>
            </a:pPr>
            <a:r>
              <a:rPr lang="en-US" sz="2800"/>
              <a:t>Compute the between class and within-class scatters, and then find the value of </a:t>
            </a:r>
            <a:r>
              <a:rPr b="1" lang="en-US" sz="2800"/>
              <a:t>w.</a:t>
            </a:r>
            <a:endParaRPr/>
          </a:p>
          <a:p>
            <a:pPr indent="-342900" lvl="0" marL="342900" rtl="0" algn="just">
              <a:spcBef>
                <a:spcPts val="560"/>
              </a:spcBef>
              <a:spcAft>
                <a:spcPts val="0"/>
              </a:spcAft>
              <a:buClr>
                <a:schemeClr val="dk1"/>
              </a:buClr>
              <a:buSzPts val="2800"/>
              <a:buChar char="•"/>
            </a:pPr>
            <a:r>
              <a:rPr lang="en-US" sz="2800"/>
              <a:t>Figure 6.5 shows a plot of the first two dimensions of the iris data (with the classes shown as three different symbols) before and after applying LDA, with the number of dimensions being set to two. </a:t>
            </a:r>
            <a:endParaRPr sz="2800"/>
          </a:p>
        </p:txBody>
      </p:sp>
      <p:pic>
        <p:nvPicPr>
          <p:cNvPr id="174" name="Google Shape;174;p11"/>
          <p:cNvPicPr preferRelativeResize="0"/>
          <p:nvPr/>
        </p:nvPicPr>
        <p:blipFill rotWithShape="1">
          <a:blip r:embed="rId3">
            <a:alphaModFix/>
          </a:blip>
          <a:srcRect b="0" l="0" r="0" t="0"/>
          <a:stretch/>
        </p:blipFill>
        <p:spPr>
          <a:xfrm>
            <a:off x="4495800" y="2265218"/>
            <a:ext cx="457200" cy="401782"/>
          </a:xfrm>
          <a:prstGeom prst="rect">
            <a:avLst/>
          </a:prstGeom>
          <a:noFill/>
          <a:ln>
            <a:noFill/>
          </a:ln>
        </p:spPr>
      </p:pic>
      <p:sp>
        <p:nvSpPr>
          <p:cNvPr id="175" name="Google Shape;175;p11"/>
          <p:cNvSpPr/>
          <p:nvPr/>
        </p:nvSpPr>
        <p:spPr>
          <a:xfrm>
            <a:off x="0" y="7334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p:txBody>
      </p:sp>
      <p:pic>
        <p:nvPicPr>
          <p:cNvPr id="176" name="Google Shape;176;p11"/>
          <p:cNvPicPr preferRelativeResize="0"/>
          <p:nvPr/>
        </p:nvPicPr>
        <p:blipFill rotWithShape="1">
          <a:blip r:embed="rId3">
            <a:alphaModFix/>
          </a:blip>
          <a:srcRect b="0" l="0" r="0" t="0"/>
          <a:stretch/>
        </p:blipFill>
        <p:spPr>
          <a:xfrm>
            <a:off x="7315200" y="2189018"/>
            <a:ext cx="457200" cy="4017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72a6238a22_0_27"/>
          <p:cNvSpPr txBox="1"/>
          <p:nvPr>
            <p:ph idx="1" type="body"/>
          </p:nvPr>
        </p:nvSpPr>
        <p:spPr>
          <a:xfrm>
            <a:off x="152400" y="228600"/>
            <a:ext cx="8763000" cy="64008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None/>
            </a:pPr>
            <a:r>
              <a:rPr lang="en-US" sz="2800"/>
              <a:t>Ex: </a:t>
            </a:r>
            <a:endParaRPr sz="2800"/>
          </a:p>
          <a:p>
            <a:pPr indent="-406400" lvl="0" marL="457200" rtl="0" algn="just">
              <a:spcBef>
                <a:spcPts val="0"/>
              </a:spcBef>
              <a:spcAft>
                <a:spcPts val="0"/>
              </a:spcAft>
              <a:buSzPts val="2800"/>
              <a:buAutoNum type="arabicParenR"/>
            </a:pPr>
            <a:r>
              <a:t/>
            </a:r>
            <a:endParaRPr sz="2800"/>
          </a:p>
          <a:p>
            <a:pPr indent="0" lvl="0" marL="0" rtl="0" algn="just">
              <a:spcBef>
                <a:spcPts val="0"/>
              </a:spcBef>
              <a:spcAft>
                <a:spcPts val="0"/>
              </a:spcAft>
              <a:buNone/>
            </a:pPr>
            <a:r>
              <a:t/>
            </a:r>
            <a:endParaRPr sz="2800"/>
          </a:p>
          <a:p>
            <a:pPr indent="0" lvl="0" marL="0" rtl="0" algn="just">
              <a:spcBef>
                <a:spcPts val="0"/>
              </a:spcBef>
              <a:spcAft>
                <a:spcPts val="0"/>
              </a:spcAft>
              <a:buNone/>
            </a:pPr>
            <a:r>
              <a:t/>
            </a:r>
            <a:endParaRPr sz="2800"/>
          </a:p>
          <a:p>
            <a:pPr indent="0" lvl="0" marL="0" rtl="0" algn="just">
              <a:spcBef>
                <a:spcPts val="0"/>
              </a:spcBef>
              <a:spcAft>
                <a:spcPts val="0"/>
              </a:spcAft>
              <a:buNone/>
            </a:pPr>
            <a:r>
              <a:t/>
            </a:r>
            <a:endParaRPr sz="2800"/>
          </a:p>
          <a:p>
            <a:pPr indent="0" lvl="0" marL="0" rtl="0" algn="just">
              <a:spcBef>
                <a:spcPts val="0"/>
              </a:spcBef>
              <a:spcAft>
                <a:spcPts val="0"/>
              </a:spcAft>
              <a:buNone/>
            </a:pPr>
            <a:r>
              <a:t/>
            </a:r>
            <a:endParaRPr sz="2800"/>
          </a:p>
          <a:p>
            <a:pPr indent="0" lvl="0" marL="0" rtl="0" algn="just">
              <a:spcBef>
                <a:spcPts val="0"/>
              </a:spcBef>
              <a:spcAft>
                <a:spcPts val="0"/>
              </a:spcAft>
              <a:buNone/>
            </a:pPr>
            <a:r>
              <a:t/>
            </a:r>
            <a:endParaRPr sz="2800"/>
          </a:p>
          <a:p>
            <a:pPr indent="0" lvl="0" marL="0" rtl="0" algn="just">
              <a:spcBef>
                <a:spcPts val="0"/>
              </a:spcBef>
              <a:spcAft>
                <a:spcPts val="0"/>
              </a:spcAft>
              <a:buNone/>
            </a:pPr>
            <a:r>
              <a:t/>
            </a:r>
            <a:endParaRPr sz="2800"/>
          </a:p>
          <a:p>
            <a:pPr indent="0" lvl="0" marL="0" rtl="0" algn="just">
              <a:spcBef>
                <a:spcPts val="0"/>
              </a:spcBef>
              <a:spcAft>
                <a:spcPts val="0"/>
              </a:spcAft>
              <a:buNone/>
            </a:pPr>
            <a:r>
              <a:t/>
            </a:r>
            <a:endParaRPr sz="2800"/>
          </a:p>
          <a:p>
            <a:pPr indent="-406400" lvl="0" marL="457200" rtl="0" algn="just">
              <a:spcBef>
                <a:spcPts val="0"/>
              </a:spcBef>
              <a:spcAft>
                <a:spcPts val="0"/>
              </a:spcAft>
              <a:buSzPts val="2800"/>
              <a:buAutoNum type="arabicParenR"/>
            </a:pPr>
            <a:r>
              <a:t/>
            </a:r>
            <a:endParaRPr sz="2800"/>
          </a:p>
        </p:txBody>
      </p:sp>
      <p:pic>
        <p:nvPicPr>
          <p:cNvPr id="182" name="Google Shape;182;g272a6238a22_0_27"/>
          <p:cNvPicPr preferRelativeResize="0"/>
          <p:nvPr/>
        </p:nvPicPr>
        <p:blipFill rotWithShape="1">
          <a:blip r:embed="rId3">
            <a:alphaModFix/>
          </a:blip>
          <a:srcRect b="0" l="0" r="0" t="0"/>
          <a:stretch/>
        </p:blipFill>
        <p:spPr>
          <a:xfrm>
            <a:off x="4495800" y="2265218"/>
            <a:ext cx="457200" cy="401782"/>
          </a:xfrm>
          <a:prstGeom prst="rect">
            <a:avLst/>
          </a:prstGeom>
          <a:noFill/>
          <a:ln>
            <a:noFill/>
          </a:ln>
        </p:spPr>
      </p:pic>
      <p:sp>
        <p:nvSpPr>
          <p:cNvPr id="183" name="Google Shape;183;g272a6238a22_0_27"/>
          <p:cNvSpPr/>
          <p:nvPr/>
        </p:nvSpPr>
        <p:spPr>
          <a:xfrm>
            <a:off x="0" y="733425"/>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p:txBody>
      </p:sp>
      <p:pic>
        <p:nvPicPr>
          <p:cNvPr id="184" name="Google Shape;184;g272a6238a22_0_27"/>
          <p:cNvPicPr preferRelativeResize="0"/>
          <p:nvPr/>
        </p:nvPicPr>
        <p:blipFill rotWithShape="1">
          <a:blip r:embed="rId3">
            <a:alphaModFix/>
          </a:blip>
          <a:srcRect b="0" l="0" r="0" t="0"/>
          <a:stretch/>
        </p:blipFill>
        <p:spPr>
          <a:xfrm>
            <a:off x="7315200" y="2189018"/>
            <a:ext cx="457200" cy="401782"/>
          </a:xfrm>
          <a:prstGeom prst="rect">
            <a:avLst/>
          </a:prstGeom>
          <a:noFill/>
          <a:ln>
            <a:noFill/>
          </a:ln>
        </p:spPr>
      </p:pic>
      <p:pic>
        <p:nvPicPr>
          <p:cNvPr id="185" name="Google Shape;185;g272a6238a22_0_27"/>
          <p:cNvPicPr preferRelativeResize="0"/>
          <p:nvPr/>
        </p:nvPicPr>
        <p:blipFill>
          <a:blip r:embed="rId4">
            <a:alphaModFix/>
          </a:blip>
          <a:stretch>
            <a:fillRect/>
          </a:stretch>
        </p:blipFill>
        <p:spPr>
          <a:xfrm>
            <a:off x="641275" y="733425"/>
            <a:ext cx="8375924" cy="2610500"/>
          </a:xfrm>
          <a:prstGeom prst="rect">
            <a:avLst/>
          </a:prstGeom>
          <a:noFill/>
          <a:ln>
            <a:noFill/>
          </a:ln>
        </p:spPr>
      </p:pic>
      <p:pic>
        <p:nvPicPr>
          <p:cNvPr id="186" name="Google Shape;186;g272a6238a22_0_27"/>
          <p:cNvPicPr preferRelativeResize="0"/>
          <p:nvPr/>
        </p:nvPicPr>
        <p:blipFill>
          <a:blip r:embed="rId5">
            <a:alphaModFix/>
          </a:blip>
          <a:stretch>
            <a:fillRect/>
          </a:stretch>
        </p:blipFill>
        <p:spPr>
          <a:xfrm>
            <a:off x="753800" y="3680275"/>
            <a:ext cx="8375926" cy="2896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272a6238a22_0_36"/>
          <p:cNvPicPr preferRelativeResize="0"/>
          <p:nvPr/>
        </p:nvPicPr>
        <p:blipFill>
          <a:blip r:embed="rId3">
            <a:alphaModFix/>
          </a:blip>
          <a:stretch>
            <a:fillRect/>
          </a:stretch>
        </p:blipFill>
        <p:spPr>
          <a:xfrm>
            <a:off x="88687" y="528325"/>
            <a:ext cx="8557224" cy="3495675"/>
          </a:xfrm>
          <a:prstGeom prst="rect">
            <a:avLst/>
          </a:prstGeom>
          <a:noFill/>
          <a:ln>
            <a:noFill/>
          </a:ln>
        </p:spPr>
      </p:pic>
      <p:pic>
        <p:nvPicPr>
          <p:cNvPr id="192" name="Google Shape;192;g272a6238a22_0_36"/>
          <p:cNvPicPr preferRelativeResize="0"/>
          <p:nvPr/>
        </p:nvPicPr>
        <p:blipFill>
          <a:blip r:embed="rId4">
            <a:alphaModFix/>
          </a:blip>
          <a:stretch>
            <a:fillRect/>
          </a:stretch>
        </p:blipFill>
        <p:spPr>
          <a:xfrm>
            <a:off x="152400" y="4176400"/>
            <a:ext cx="8991600" cy="2529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e1b22c0c5a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98" name="Google Shape;198;g2e1b22c0c5a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99" name="Google Shape;199;g2e1b22c0c5a_0_0"/>
          <p:cNvPicPr preferRelativeResize="0"/>
          <p:nvPr/>
        </p:nvPicPr>
        <p:blipFill>
          <a:blip r:embed="rId3">
            <a:alphaModFix/>
          </a:blip>
          <a:stretch>
            <a:fillRect/>
          </a:stretch>
        </p:blipFill>
        <p:spPr>
          <a:xfrm>
            <a:off x="0" y="0"/>
            <a:ext cx="8686800" cy="3558575"/>
          </a:xfrm>
          <a:prstGeom prst="rect">
            <a:avLst/>
          </a:prstGeom>
          <a:noFill/>
          <a:ln>
            <a:noFill/>
          </a:ln>
        </p:spPr>
      </p:pic>
      <p:pic>
        <p:nvPicPr>
          <p:cNvPr id="200" name="Google Shape;200;g2e1b22c0c5a_0_0"/>
          <p:cNvPicPr preferRelativeResize="0"/>
          <p:nvPr/>
        </p:nvPicPr>
        <p:blipFill>
          <a:blip r:embed="rId4">
            <a:alphaModFix/>
          </a:blip>
          <a:stretch>
            <a:fillRect/>
          </a:stretch>
        </p:blipFill>
        <p:spPr>
          <a:xfrm>
            <a:off x="0" y="3558574"/>
            <a:ext cx="9144001" cy="30544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e21838982c_0_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06" name="Google Shape;206;g2e21838982c_0_2"/>
          <p:cNvSpPr txBox="1"/>
          <p:nvPr>
            <p:ph idx="1" type="body"/>
          </p:nvPr>
        </p:nvSpPr>
        <p:spPr>
          <a:xfrm>
            <a:off x="457200" y="4089475"/>
            <a:ext cx="8229600" cy="20367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07" name="Google Shape;207;g2e21838982c_0_2"/>
          <p:cNvPicPr preferRelativeResize="0"/>
          <p:nvPr/>
        </p:nvPicPr>
        <p:blipFill>
          <a:blip r:embed="rId3">
            <a:alphaModFix/>
          </a:blip>
          <a:stretch>
            <a:fillRect/>
          </a:stretch>
        </p:blipFill>
        <p:spPr>
          <a:xfrm>
            <a:off x="110700" y="113100"/>
            <a:ext cx="8509424" cy="6744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e21838982c_0_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13" name="Google Shape;213;g2e21838982c_0_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14" name="Google Shape;214;g2e21838982c_0_8"/>
          <p:cNvPicPr preferRelativeResize="0"/>
          <p:nvPr/>
        </p:nvPicPr>
        <p:blipFill>
          <a:blip r:embed="rId3">
            <a:alphaModFix/>
          </a:blip>
          <a:stretch>
            <a:fillRect/>
          </a:stretch>
        </p:blipFill>
        <p:spPr>
          <a:xfrm>
            <a:off x="0" y="52950"/>
            <a:ext cx="8686800" cy="6304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e21838982c_0_1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20" name="Google Shape;220;g2e21838982c_0_1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21" name="Google Shape;221;g2e21838982c_0_14"/>
          <p:cNvPicPr preferRelativeResize="0"/>
          <p:nvPr/>
        </p:nvPicPr>
        <p:blipFill>
          <a:blip r:embed="rId3">
            <a:alphaModFix/>
          </a:blip>
          <a:stretch>
            <a:fillRect/>
          </a:stretch>
        </p:blipFill>
        <p:spPr>
          <a:xfrm>
            <a:off x="-60150" y="98275"/>
            <a:ext cx="8746949" cy="2156451"/>
          </a:xfrm>
          <a:prstGeom prst="rect">
            <a:avLst/>
          </a:prstGeom>
          <a:noFill/>
          <a:ln>
            <a:noFill/>
          </a:ln>
        </p:spPr>
      </p:pic>
      <p:pic>
        <p:nvPicPr>
          <p:cNvPr id="222" name="Google Shape;222;g2e21838982c_0_14"/>
          <p:cNvPicPr preferRelativeResize="0"/>
          <p:nvPr/>
        </p:nvPicPr>
        <p:blipFill>
          <a:blip r:embed="rId4">
            <a:alphaModFix/>
          </a:blip>
          <a:stretch>
            <a:fillRect/>
          </a:stretch>
        </p:blipFill>
        <p:spPr>
          <a:xfrm>
            <a:off x="0" y="2492964"/>
            <a:ext cx="9144000" cy="40297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e21838982c_0_2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28" name="Google Shape;228;g2e21838982c_0_2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29" name="Google Shape;229;g2e21838982c_0_21"/>
          <p:cNvPicPr preferRelativeResize="0"/>
          <p:nvPr/>
        </p:nvPicPr>
        <p:blipFill>
          <a:blip r:embed="rId3">
            <a:alphaModFix/>
          </a:blip>
          <a:stretch>
            <a:fillRect/>
          </a:stretch>
        </p:blipFill>
        <p:spPr>
          <a:xfrm>
            <a:off x="0" y="137150"/>
            <a:ext cx="8686801" cy="62564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2"/>
          <p:cNvSpPr txBox="1"/>
          <p:nvPr>
            <p:ph idx="1" type="body"/>
          </p:nvPr>
        </p:nvSpPr>
        <p:spPr>
          <a:xfrm>
            <a:off x="76200" y="228600"/>
            <a:ext cx="8991600" cy="6477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None/>
            </a:pPr>
            <a:r>
              <a:rPr lang="en-US" sz="2500">
                <a:solidFill>
                  <a:srgbClr val="FF0000"/>
                </a:solidFill>
                <a:latin typeface="Times New Roman"/>
                <a:ea typeface="Times New Roman"/>
                <a:cs typeface="Times New Roman"/>
                <a:sym typeface="Times New Roman"/>
              </a:rPr>
              <a:t>PRINCIPAL COMPONENTS ANALYSIS (PCA)</a:t>
            </a:r>
            <a:endParaRPr sz="2500">
              <a:solidFill>
                <a:srgbClr val="FF0000"/>
              </a:solidFill>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solidFill>
                  <a:srgbClr val="333333"/>
                </a:solidFill>
                <a:highlight>
                  <a:srgbClr val="FFFFFF"/>
                </a:highlight>
                <a:latin typeface="Times New Roman"/>
                <a:ea typeface="Times New Roman"/>
                <a:cs typeface="Times New Roman"/>
                <a:sym typeface="Times New Roman"/>
              </a:rPr>
              <a:t>Principal Component Analysis is an unsupervised learning algorithm that is used for the dimensionality reduction in machine learning</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Computing transformations of the data in order to identify a lower-dimensional set of axes.</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Unlike LDA, they are designed for unlabelled data. </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This does not stop them being used for labelled data, since the learning that takes place in the lower dimensional space can still use the target data, although it does mean that they miss out on any information that is contained in the targets.</a:t>
            </a:r>
            <a:endParaRPr i="1"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idea is that by finding particular sets of coordinate axes, it will become clear that some of the dimensions are not required. </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This is demonstrated in Figure 6.6, which shows two versions of the same dataset. </a:t>
            </a:r>
            <a:endParaRPr sz="25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txBox="1"/>
          <p:nvPr>
            <p:ph idx="1" type="body"/>
          </p:nvPr>
        </p:nvSpPr>
        <p:spPr>
          <a:xfrm>
            <a:off x="76200" y="152401"/>
            <a:ext cx="8991600" cy="1981200"/>
          </a:xfrm>
          <a:prstGeom prst="rect">
            <a:avLst/>
          </a:prstGeom>
          <a:noFill/>
          <a:ln>
            <a:noFill/>
          </a:ln>
        </p:spPr>
        <p:txBody>
          <a:bodyPr anchorCtr="0" anchor="t" bIns="45700" lIns="91425" spcFirstLastPara="1" rIns="91425" wrap="square" tIns="45700">
            <a:normAutofit/>
          </a:bodyPr>
          <a:lstStyle/>
          <a:p>
            <a:pPr indent="-328930" lvl="0" marL="342900" rtl="0" algn="just">
              <a:spcBef>
                <a:spcPts val="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The potential for dimensionality reduction is in the fact that the </a:t>
            </a:r>
            <a:r>
              <a:rPr i="1" lang="en-US" sz="2000">
                <a:latin typeface="Times New Roman"/>
                <a:ea typeface="Times New Roman"/>
                <a:cs typeface="Times New Roman"/>
                <a:sym typeface="Times New Roman"/>
              </a:rPr>
              <a:t>y dimension does not now demonstrate </a:t>
            </a:r>
            <a:r>
              <a:rPr lang="en-US" sz="2000">
                <a:latin typeface="Times New Roman"/>
                <a:ea typeface="Times New Roman"/>
                <a:cs typeface="Times New Roman"/>
                <a:sym typeface="Times New Roman"/>
              </a:rPr>
              <a:t>much variability, and so it might be possible to ignore it and use the </a:t>
            </a:r>
            <a:r>
              <a:rPr i="1" lang="en-US" sz="2000">
                <a:latin typeface="Times New Roman"/>
                <a:ea typeface="Times New Roman"/>
                <a:cs typeface="Times New Roman"/>
                <a:sym typeface="Times New Roman"/>
              </a:rPr>
              <a:t>x axis values alone </a:t>
            </a:r>
            <a:r>
              <a:rPr lang="en-US" sz="2000">
                <a:latin typeface="Times New Roman"/>
                <a:ea typeface="Times New Roman"/>
                <a:cs typeface="Times New Roman"/>
                <a:sym typeface="Times New Roman"/>
              </a:rPr>
              <a:t>without compromising the results of a learning algorithm. </a:t>
            </a:r>
            <a:endParaRPr sz="2000">
              <a:latin typeface="Times New Roman"/>
              <a:ea typeface="Times New Roman"/>
              <a:cs typeface="Times New Roman"/>
              <a:sym typeface="Times New Roman"/>
            </a:endParaRPr>
          </a:p>
          <a:p>
            <a:pPr indent="-328930" lvl="0" marL="342900" rtl="0" algn="just">
              <a:spcBef>
                <a:spcPts val="444"/>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In fact, it can make the results better, since we are often removing some of the noise in the data. ( Translation, Rotation &amp; Scaling)</a:t>
            </a:r>
            <a:endParaRPr sz="2000">
              <a:latin typeface="Times New Roman"/>
              <a:ea typeface="Times New Roman"/>
              <a:cs typeface="Times New Roman"/>
              <a:sym typeface="Times New Roman"/>
            </a:endParaRPr>
          </a:p>
        </p:txBody>
      </p:sp>
      <p:pic>
        <p:nvPicPr>
          <p:cNvPr id="240" name="Google Shape;240;p13"/>
          <p:cNvPicPr preferRelativeResize="0"/>
          <p:nvPr/>
        </p:nvPicPr>
        <p:blipFill rotWithShape="1">
          <a:blip r:embed="rId3">
            <a:alphaModFix/>
          </a:blip>
          <a:srcRect b="0" l="0" r="0" t="0"/>
          <a:stretch/>
        </p:blipFill>
        <p:spPr>
          <a:xfrm>
            <a:off x="0" y="3276601"/>
            <a:ext cx="4114800" cy="3581400"/>
          </a:xfrm>
          <a:prstGeom prst="rect">
            <a:avLst/>
          </a:prstGeom>
          <a:noFill/>
          <a:ln>
            <a:noFill/>
          </a:ln>
        </p:spPr>
      </p:pic>
      <p:pic>
        <p:nvPicPr>
          <p:cNvPr id="241" name="Google Shape;241;p13"/>
          <p:cNvPicPr preferRelativeResize="0"/>
          <p:nvPr/>
        </p:nvPicPr>
        <p:blipFill rotWithShape="1">
          <a:blip r:embed="rId4">
            <a:alphaModFix/>
          </a:blip>
          <a:srcRect b="0" l="0" r="0" t="0"/>
          <a:stretch/>
        </p:blipFill>
        <p:spPr>
          <a:xfrm>
            <a:off x="5105401" y="3429001"/>
            <a:ext cx="3962400" cy="3429000"/>
          </a:xfrm>
          <a:prstGeom prst="rect">
            <a:avLst/>
          </a:prstGeom>
          <a:noFill/>
          <a:ln>
            <a:noFill/>
          </a:ln>
        </p:spPr>
      </p:pic>
      <p:sp>
        <p:nvSpPr>
          <p:cNvPr id="242" name="Google Shape;242;p13"/>
          <p:cNvSpPr/>
          <p:nvPr/>
        </p:nvSpPr>
        <p:spPr>
          <a:xfrm>
            <a:off x="381000" y="2401669"/>
            <a:ext cx="86106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 6.6 Two different sets of coordinate axes. The second consists of a rotation and</a:t>
            </a:r>
            <a:endParaRPr sz="1800">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translation of the first and was found using Principal Components Analysis.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e65930eb72_0_1"/>
          <p:cNvSpPr txBox="1"/>
          <p:nvPr>
            <p:ph type="title"/>
          </p:nvPr>
        </p:nvSpPr>
        <p:spPr>
          <a:xfrm>
            <a:off x="206900" y="0"/>
            <a:ext cx="8479800" cy="9756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460">
                <a:latin typeface="Times New Roman"/>
                <a:ea typeface="Times New Roman"/>
                <a:cs typeface="Times New Roman"/>
                <a:sym typeface="Times New Roman"/>
              </a:rPr>
              <a:t>Based on the dataset find a new set of orthogonal feature vector in such a way that the data spread is maximum in the direction of feature vector (or </a:t>
            </a:r>
            <a:r>
              <a:rPr lang="en-US" sz="2460">
                <a:latin typeface="Times New Roman"/>
                <a:ea typeface="Times New Roman"/>
                <a:cs typeface="Times New Roman"/>
                <a:sym typeface="Times New Roman"/>
              </a:rPr>
              <a:t>dimension</a:t>
            </a:r>
            <a:r>
              <a:rPr lang="en-US" sz="2460">
                <a:latin typeface="Times New Roman"/>
                <a:ea typeface="Times New Roman"/>
                <a:cs typeface="Times New Roman"/>
                <a:sym typeface="Times New Roman"/>
              </a:rPr>
              <a:t>)</a:t>
            </a:r>
            <a:endParaRPr sz="2460">
              <a:latin typeface="Times New Roman"/>
              <a:ea typeface="Times New Roman"/>
              <a:cs typeface="Times New Roman"/>
              <a:sym typeface="Times New Roman"/>
            </a:endParaRPr>
          </a:p>
        </p:txBody>
      </p:sp>
      <p:sp>
        <p:nvSpPr>
          <p:cNvPr id="248" name="Google Shape;248;g2e65930eb72_0_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49" name="Google Shape;249;g2e65930eb72_0_1"/>
          <p:cNvPicPr preferRelativeResize="0"/>
          <p:nvPr/>
        </p:nvPicPr>
        <p:blipFill>
          <a:blip r:embed="rId3">
            <a:alphaModFix/>
          </a:blip>
          <a:stretch>
            <a:fillRect/>
          </a:stretch>
        </p:blipFill>
        <p:spPr>
          <a:xfrm>
            <a:off x="81738" y="1052324"/>
            <a:ext cx="8980526" cy="51548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e65930eb72_0_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55" name="Google Shape;255;g2e65930eb72_0_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56" name="Google Shape;256;g2e65930eb72_0_7"/>
          <p:cNvPicPr preferRelativeResize="0"/>
          <p:nvPr/>
        </p:nvPicPr>
        <p:blipFill>
          <a:blip r:embed="rId3">
            <a:alphaModFix/>
          </a:blip>
          <a:stretch>
            <a:fillRect/>
          </a:stretch>
        </p:blipFill>
        <p:spPr>
          <a:xfrm>
            <a:off x="398450" y="75825"/>
            <a:ext cx="8390525" cy="2521776"/>
          </a:xfrm>
          <a:prstGeom prst="rect">
            <a:avLst/>
          </a:prstGeom>
          <a:noFill/>
          <a:ln>
            <a:noFill/>
          </a:ln>
        </p:spPr>
      </p:pic>
      <p:pic>
        <p:nvPicPr>
          <p:cNvPr id="257" name="Google Shape;257;g2e65930eb72_0_7"/>
          <p:cNvPicPr preferRelativeResize="0"/>
          <p:nvPr/>
        </p:nvPicPr>
        <p:blipFill>
          <a:blip r:embed="rId4">
            <a:alphaModFix/>
          </a:blip>
          <a:stretch>
            <a:fillRect/>
          </a:stretch>
        </p:blipFill>
        <p:spPr>
          <a:xfrm>
            <a:off x="111125" y="3095675"/>
            <a:ext cx="9144000" cy="36584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4"/>
          <p:cNvSpPr txBox="1"/>
          <p:nvPr>
            <p:ph idx="1" type="body"/>
          </p:nvPr>
        </p:nvSpPr>
        <p:spPr>
          <a:xfrm>
            <a:off x="152400" y="152400"/>
            <a:ext cx="8839200" cy="6477000"/>
          </a:xfrm>
          <a:prstGeom prst="rect">
            <a:avLst/>
          </a:prstGeom>
          <a:noFill/>
          <a:ln>
            <a:noFill/>
          </a:ln>
        </p:spPr>
        <p:txBody>
          <a:bodyPr anchorCtr="0" anchor="t" bIns="45700" lIns="91425" spcFirstLastPara="1" rIns="91425" wrap="square" tIns="45700">
            <a:normAutofit/>
          </a:bodyPr>
          <a:lstStyle/>
          <a:p>
            <a:pPr indent="-349250" lvl="0" marL="342900" rtl="0" algn="just">
              <a:spcBef>
                <a:spcPts val="560"/>
              </a:spcBef>
              <a:spcAft>
                <a:spcPts val="0"/>
              </a:spcAft>
              <a:buClr>
                <a:schemeClr val="dk1"/>
              </a:buClr>
              <a:buSzPts val="2900"/>
              <a:buFont typeface="Times New Roman"/>
              <a:buChar char="•"/>
            </a:pPr>
            <a:r>
              <a:rPr lang="en-US" sz="2900">
                <a:latin typeface="Times New Roman"/>
                <a:ea typeface="Times New Roman"/>
                <a:cs typeface="Times New Roman"/>
                <a:sym typeface="Times New Roman"/>
              </a:rPr>
              <a:t>The idea of a PCA is that it is a direction in the data with the largest variation.  </a:t>
            </a:r>
            <a:endParaRPr sz="2900">
              <a:latin typeface="Times New Roman"/>
              <a:ea typeface="Times New Roman"/>
              <a:cs typeface="Times New Roman"/>
              <a:sym typeface="Times New Roman"/>
            </a:endParaRPr>
          </a:p>
          <a:p>
            <a:pPr indent="-349250" lvl="0" marL="342900" rtl="0" algn="just">
              <a:spcBef>
                <a:spcPts val="560"/>
              </a:spcBef>
              <a:spcAft>
                <a:spcPts val="0"/>
              </a:spcAft>
              <a:buClr>
                <a:schemeClr val="dk1"/>
              </a:buClr>
              <a:buSzPts val="2900"/>
              <a:buFont typeface="Times New Roman"/>
              <a:buChar char="•"/>
            </a:pPr>
            <a:r>
              <a:rPr lang="en-US" sz="2900">
                <a:latin typeface="Times New Roman"/>
                <a:ea typeface="Times New Roman"/>
                <a:cs typeface="Times New Roman"/>
                <a:sym typeface="Times New Roman"/>
              </a:rPr>
              <a:t>The algorithm first centres the data by subtracting off the mean, and then chooses the direction with the largest variation and places an axis in that direction, and then looks at the variation that remains and finds another axis that is orthogonal to the first and covers as much of the remaining variation as possible. </a:t>
            </a:r>
            <a:endParaRPr sz="2900">
              <a:latin typeface="Times New Roman"/>
              <a:ea typeface="Times New Roman"/>
              <a:cs typeface="Times New Roman"/>
              <a:sym typeface="Times New Roman"/>
            </a:endParaRPr>
          </a:p>
          <a:p>
            <a:pPr indent="-349250" lvl="0" marL="342900" rtl="0" algn="just">
              <a:spcBef>
                <a:spcPts val="560"/>
              </a:spcBef>
              <a:spcAft>
                <a:spcPts val="0"/>
              </a:spcAft>
              <a:buClr>
                <a:schemeClr val="dk1"/>
              </a:buClr>
              <a:buSzPts val="2900"/>
              <a:buFont typeface="Times New Roman"/>
              <a:buChar char="•"/>
            </a:pPr>
            <a:r>
              <a:rPr lang="en-US" sz="2900">
                <a:latin typeface="Times New Roman"/>
                <a:ea typeface="Times New Roman"/>
                <a:cs typeface="Times New Roman"/>
                <a:sym typeface="Times New Roman"/>
              </a:rPr>
              <a:t>It then iterates this until it has run out of possible axes. </a:t>
            </a:r>
            <a:endParaRPr sz="2900">
              <a:latin typeface="Times New Roman"/>
              <a:ea typeface="Times New Roman"/>
              <a:cs typeface="Times New Roman"/>
              <a:sym typeface="Times New Roman"/>
            </a:endParaRPr>
          </a:p>
          <a:p>
            <a:pPr indent="-349250" lvl="0" marL="342900" rtl="0" algn="just">
              <a:spcBef>
                <a:spcPts val="560"/>
              </a:spcBef>
              <a:spcAft>
                <a:spcPts val="0"/>
              </a:spcAft>
              <a:buClr>
                <a:schemeClr val="dk1"/>
              </a:buClr>
              <a:buSzPts val="2900"/>
              <a:buFont typeface="Times New Roman"/>
              <a:buChar char="•"/>
            </a:pPr>
            <a:r>
              <a:rPr lang="en-US" sz="2900">
                <a:latin typeface="Times New Roman"/>
                <a:ea typeface="Times New Roman"/>
                <a:cs typeface="Times New Roman"/>
                <a:sym typeface="Times New Roman"/>
              </a:rPr>
              <a:t>The end result is that all the variation is along the axes of the coordinate set, and so the covariance matrix is diagonal—each new variable is uncorrelated with every variable except itself. </a:t>
            </a:r>
            <a:endParaRPr sz="29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273e0fc90e8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68" name="Google Shape;268;g273e0fc90e8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69" name="Google Shape;269;g273e0fc90e8_0_0"/>
          <p:cNvPicPr preferRelativeResize="0"/>
          <p:nvPr/>
        </p:nvPicPr>
        <p:blipFill>
          <a:blip r:embed="rId3">
            <a:alphaModFix/>
          </a:blip>
          <a:stretch>
            <a:fillRect/>
          </a:stretch>
        </p:blipFill>
        <p:spPr>
          <a:xfrm>
            <a:off x="0" y="0"/>
            <a:ext cx="9144002" cy="3429000"/>
          </a:xfrm>
          <a:prstGeom prst="rect">
            <a:avLst/>
          </a:prstGeom>
          <a:noFill/>
          <a:ln>
            <a:noFill/>
          </a:ln>
        </p:spPr>
      </p:pic>
      <p:pic>
        <p:nvPicPr>
          <p:cNvPr id="270" name="Google Shape;270;g273e0fc90e8_0_0"/>
          <p:cNvPicPr preferRelativeResize="0"/>
          <p:nvPr/>
        </p:nvPicPr>
        <p:blipFill>
          <a:blip r:embed="rId4">
            <a:alphaModFix/>
          </a:blip>
          <a:stretch>
            <a:fillRect/>
          </a:stretch>
        </p:blipFill>
        <p:spPr>
          <a:xfrm>
            <a:off x="0" y="3429000"/>
            <a:ext cx="9144000" cy="35120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73e0fc90e8_0_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76" name="Google Shape;276;g273e0fc90e8_0_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77" name="Google Shape;277;g273e0fc90e8_0_7"/>
          <p:cNvPicPr preferRelativeResize="0"/>
          <p:nvPr/>
        </p:nvPicPr>
        <p:blipFill>
          <a:blip r:embed="rId3">
            <a:alphaModFix/>
          </a:blip>
          <a:stretch>
            <a:fillRect/>
          </a:stretch>
        </p:blipFill>
        <p:spPr>
          <a:xfrm>
            <a:off x="0" y="0"/>
            <a:ext cx="9144000" cy="2393275"/>
          </a:xfrm>
          <a:prstGeom prst="rect">
            <a:avLst/>
          </a:prstGeom>
          <a:noFill/>
          <a:ln>
            <a:noFill/>
          </a:ln>
        </p:spPr>
      </p:pic>
      <p:pic>
        <p:nvPicPr>
          <p:cNvPr id="278" name="Google Shape;278;g273e0fc90e8_0_7"/>
          <p:cNvPicPr preferRelativeResize="0"/>
          <p:nvPr/>
        </p:nvPicPr>
        <p:blipFill>
          <a:blip r:embed="rId4">
            <a:alphaModFix/>
          </a:blip>
          <a:stretch>
            <a:fillRect/>
          </a:stretch>
        </p:blipFill>
        <p:spPr>
          <a:xfrm>
            <a:off x="101300" y="2840389"/>
            <a:ext cx="9143999" cy="1177221"/>
          </a:xfrm>
          <a:prstGeom prst="rect">
            <a:avLst/>
          </a:prstGeom>
          <a:noFill/>
          <a:ln>
            <a:noFill/>
          </a:ln>
        </p:spPr>
      </p:pic>
      <p:pic>
        <p:nvPicPr>
          <p:cNvPr id="279" name="Google Shape;279;g273e0fc90e8_0_7"/>
          <p:cNvPicPr preferRelativeResize="0"/>
          <p:nvPr/>
        </p:nvPicPr>
        <p:blipFill>
          <a:blip r:embed="rId5">
            <a:alphaModFix/>
          </a:blip>
          <a:stretch>
            <a:fillRect/>
          </a:stretch>
        </p:blipFill>
        <p:spPr>
          <a:xfrm>
            <a:off x="0" y="4114350"/>
            <a:ext cx="9144000" cy="2276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g273e0fc90e8_0_16"/>
          <p:cNvPicPr preferRelativeResize="0"/>
          <p:nvPr/>
        </p:nvPicPr>
        <p:blipFill>
          <a:blip r:embed="rId3">
            <a:alphaModFix/>
          </a:blip>
          <a:stretch>
            <a:fillRect/>
          </a:stretch>
        </p:blipFill>
        <p:spPr>
          <a:xfrm>
            <a:off x="0" y="0"/>
            <a:ext cx="8839198" cy="363653"/>
          </a:xfrm>
          <a:prstGeom prst="rect">
            <a:avLst/>
          </a:prstGeom>
          <a:noFill/>
          <a:ln>
            <a:noFill/>
          </a:ln>
        </p:spPr>
      </p:pic>
      <p:pic>
        <p:nvPicPr>
          <p:cNvPr id="285" name="Google Shape;285;g273e0fc90e8_0_16"/>
          <p:cNvPicPr preferRelativeResize="0"/>
          <p:nvPr/>
        </p:nvPicPr>
        <p:blipFill>
          <a:blip r:embed="rId4">
            <a:alphaModFix/>
          </a:blip>
          <a:stretch>
            <a:fillRect/>
          </a:stretch>
        </p:blipFill>
        <p:spPr>
          <a:xfrm>
            <a:off x="152400" y="516053"/>
            <a:ext cx="8839200" cy="794699"/>
          </a:xfrm>
          <a:prstGeom prst="rect">
            <a:avLst/>
          </a:prstGeom>
          <a:noFill/>
          <a:ln>
            <a:noFill/>
          </a:ln>
        </p:spPr>
      </p:pic>
      <p:pic>
        <p:nvPicPr>
          <p:cNvPr id="286" name="Google Shape;286;g273e0fc90e8_0_16"/>
          <p:cNvPicPr preferRelativeResize="0"/>
          <p:nvPr/>
        </p:nvPicPr>
        <p:blipFill>
          <a:blip r:embed="rId5">
            <a:alphaModFix/>
          </a:blip>
          <a:stretch>
            <a:fillRect/>
          </a:stretch>
        </p:blipFill>
        <p:spPr>
          <a:xfrm>
            <a:off x="3323000" y="1539775"/>
            <a:ext cx="2379550" cy="446850"/>
          </a:xfrm>
          <a:prstGeom prst="rect">
            <a:avLst/>
          </a:prstGeom>
          <a:noFill/>
          <a:ln>
            <a:noFill/>
          </a:ln>
        </p:spPr>
      </p:pic>
      <p:pic>
        <p:nvPicPr>
          <p:cNvPr id="287" name="Google Shape;287;g273e0fc90e8_0_16"/>
          <p:cNvPicPr preferRelativeResize="0"/>
          <p:nvPr/>
        </p:nvPicPr>
        <p:blipFill>
          <a:blip r:embed="rId6">
            <a:alphaModFix/>
          </a:blip>
          <a:stretch>
            <a:fillRect/>
          </a:stretch>
        </p:blipFill>
        <p:spPr>
          <a:xfrm>
            <a:off x="152400" y="2139025"/>
            <a:ext cx="8839200" cy="324138"/>
          </a:xfrm>
          <a:prstGeom prst="rect">
            <a:avLst/>
          </a:prstGeom>
          <a:noFill/>
          <a:ln>
            <a:noFill/>
          </a:ln>
        </p:spPr>
      </p:pic>
      <p:pic>
        <p:nvPicPr>
          <p:cNvPr id="288" name="Google Shape;288;g273e0fc90e8_0_16"/>
          <p:cNvPicPr preferRelativeResize="0"/>
          <p:nvPr/>
        </p:nvPicPr>
        <p:blipFill>
          <a:blip r:embed="rId7">
            <a:alphaModFix/>
          </a:blip>
          <a:stretch>
            <a:fillRect/>
          </a:stretch>
        </p:blipFill>
        <p:spPr>
          <a:xfrm>
            <a:off x="1611700" y="2615574"/>
            <a:ext cx="6434850" cy="901550"/>
          </a:xfrm>
          <a:prstGeom prst="rect">
            <a:avLst/>
          </a:prstGeom>
          <a:noFill/>
          <a:ln>
            <a:noFill/>
          </a:ln>
        </p:spPr>
      </p:pic>
      <p:pic>
        <p:nvPicPr>
          <p:cNvPr id="289" name="Google Shape;289;g273e0fc90e8_0_16"/>
          <p:cNvPicPr preferRelativeResize="0"/>
          <p:nvPr/>
        </p:nvPicPr>
        <p:blipFill>
          <a:blip r:embed="rId8">
            <a:alphaModFix/>
          </a:blip>
          <a:stretch>
            <a:fillRect/>
          </a:stretch>
        </p:blipFill>
        <p:spPr>
          <a:xfrm>
            <a:off x="152400" y="3669524"/>
            <a:ext cx="8839200" cy="811352"/>
          </a:xfrm>
          <a:prstGeom prst="rect">
            <a:avLst/>
          </a:prstGeom>
          <a:noFill/>
          <a:ln>
            <a:noFill/>
          </a:ln>
        </p:spPr>
      </p:pic>
      <p:pic>
        <p:nvPicPr>
          <p:cNvPr id="290" name="Google Shape;290;g273e0fc90e8_0_16"/>
          <p:cNvPicPr preferRelativeResize="0"/>
          <p:nvPr/>
        </p:nvPicPr>
        <p:blipFill>
          <a:blip r:embed="rId9">
            <a:alphaModFix/>
          </a:blip>
          <a:stretch>
            <a:fillRect/>
          </a:stretch>
        </p:blipFill>
        <p:spPr>
          <a:xfrm>
            <a:off x="91975" y="4821950"/>
            <a:ext cx="4073925" cy="2072325"/>
          </a:xfrm>
          <a:prstGeom prst="rect">
            <a:avLst/>
          </a:prstGeom>
          <a:noFill/>
          <a:ln>
            <a:noFill/>
          </a:ln>
        </p:spPr>
      </p:pic>
      <p:pic>
        <p:nvPicPr>
          <p:cNvPr id="291" name="Google Shape;291;g273e0fc90e8_0_16"/>
          <p:cNvPicPr preferRelativeResize="0"/>
          <p:nvPr/>
        </p:nvPicPr>
        <p:blipFill>
          <a:blip r:embed="rId10">
            <a:alphaModFix/>
          </a:blip>
          <a:stretch>
            <a:fillRect/>
          </a:stretch>
        </p:blipFill>
        <p:spPr>
          <a:xfrm>
            <a:off x="4651175" y="4721750"/>
            <a:ext cx="4340426" cy="2072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273e0fc90e8_0_2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pic>
        <p:nvPicPr>
          <p:cNvPr id="297" name="Google Shape;297;g273e0fc90e8_0_29"/>
          <p:cNvPicPr preferRelativeResize="0"/>
          <p:nvPr/>
        </p:nvPicPr>
        <p:blipFill>
          <a:blip r:embed="rId3">
            <a:alphaModFix/>
          </a:blip>
          <a:stretch>
            <a:fillRect/>
          </a:stretch>
        </p:blipFill>
        <p:spPr>
          <a:xfrm>
            <a:off x="0" y="74487"/>
            <a:ext cx="9144000" cy="1932675"/>
          </a:xfrm>
          <a:prstGeom prst="rect">
            <a:avLst/>
          </a:prstGeom>
          <a:noFill/>
          <a:ln>
            <a:noFill/>
          </a:ln>
        </p:spPr>
      </p:pic>
      <p:pic>
        <p:nvPicPr>
          <p:cNvPr id="298" name="Google Shape;298;g273e0fc90e8_0_29"/>
          <p:cNvPicPr preferRelativeResize="0"/>
          <p:nvPr/>
        </p:nvPicPr>
        <p:blipFill>
          <a:blip r:embed="rId4">
            <a:alphaModFix/>
          </a:blip>
          <a:stretch>
            <a:fillRect/>
          </a:stretch>
        </p:blipFill>
        <p:spPr>
          <a:xfrm>
            <a:off x="152400" y="2159563"/>
            <a:ext cx="8839202" cy="1952523"/>
          </a:xfrm>
          <a:prstGeom prst="rect">
            <a:avLst/>
          </a:prstGeom>
          <a:noFill/>
          <a:ln>
            <a:noFill/>
          </a:ln>
        </p:spPr>
      </p:pic>
      <p:pic>
        <p:nvPicPr>
          <p:cNvPr id="299" name="Google Shape;299;g273e0fc90e8_0_29"/>
          <p:cNvPicPr preferRelativeResize="0"/>
          <p:nvPr/>
        </p:nvPicPr>
        <p:blipFill>
          <a:blip r:embed="rId5">
            <a:alphaModFix/>
          </a:blip>
          <a:stretch>
            <a:fillRect/>
          </a:stretch>
        </p:blipFill>
        <p:spPr>
          <a:xfrm>
            <a:off x="3225775" y="4264475"/>
            <a:ext cx="2152650" cy="2958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73e0fc90e8_0_3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05" name="Google Shape;305;g273e0fc90e8_0_3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306" name="Google Shape;306;g273e0fc90e8_0_37"/>
          <p:cNvPicPr preferRelativeResize="0"/>
          <p:nvPr/>
        </p:nvPicPr>
        <p:blipFill>
          <a:blip r:embed="rId3">
            <a:alphaModFix/>
          </a:blip>
          <a:stretch>
            <a:fillRect/>
          </a:stretch>
        </p:blipFill>
        <p:spPr>
          <a:xfrm>
            <a:off x="0" y="77453"/>
            <a:ext cx="9144002" cy="376579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5"/>
          <p:cNvSpPr txBox="1"/>
          <p:nvPr>
            <p:ph idx="1" type="body"/>
          </p:nvPr>
        </p:nvSpPr>
        <p:spPr>
          <a:xfrm>
            <a:off x="152400" y="152400"/>
            <a:ext cx="8839200" cy="6553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Putting this in more formal terms, we have a data matrix </a:t>
            </a:r>
            <a:r>
              <a:rPr b="1" lang="en-US" sz="2400">
                <a:latin typeface="Times New Roman"/>
                <a:ea typeface="Times New Roman"/>
                <a:cs typeface="Times New Roman"/>
                <a:sym typeface="Times New Roman"/>
              </a:rPr>
              <a:t>X </a:t>
            </a:r>
            <a:r>
              <a:rPr lang="en-US" sz="2400">
                <a:latin typeface="Times New Roman"/>
                <a:ea typeface="Times New Roman"/>
                <a:cs typeface="Times New Roman"/>
                <a:sym typeface="Times New Roman"/>
              </a:rPr>
              <a:t>and want to rotate it so that the data lies along the directions of maximum variation.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This means that we multiply our data matrix by a rotation matrix (often written as </a:t>
            </a:r>
            <a:r>
              <a:rPr b="1" lang="en-US" sz="2400">
                <a:latin typeface="Times New Roman"/>
                <a:ea typeface="Times New Roman"/>
                <a:cs typeface="Times New Roman"/>
                <a:sym typeface="Times New Roman"/>
              </a:rPr>
              <a:t>P</a:t>
            </a:r>
            <a:r>
              <a:rPr b="1" baseline="30000" i="1" lang="en-US" sz="2400">
                <a:latin typeface="Times New Roman"/>
                <a:ea typeface="Times New Roman"/>
                <a:cs typeface="Times New Roman"/>
                <a:sym typeface="Times New Roman"/>
              </a:rPr>
              <a:t>T</a:t>
            </a:r>
            <a:r>
              <a:rPr b="1" i="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so that </a:t>
            </a:r>
            <a:r>
              <a:rPr b="1" i="1" lang="en-US" sz="2400">
                <a:latin typeface="Times New Roman"/>
                <a:ea typeface="Times New Roman"/>
                <a:cs typeface="Times New Roman"/>
                <a:sym typeface="Times New Roman"/>
              </a:rPr>
              <a:t>Y = P</a:t>
            </a:r>
            <a:r>
              <a:rPr b="1" baseline="30000" i="1" lang="en-US" sz="2400">
                <a:latin typeface="Times New Roman"/>
                <a:ea typeface="Times New Roman"/>
                <a:cs typeface="Times New Roman"/>
                <a:sym typeface="Times New Roman"/>
              </a:rPr>
              <a:t>T</a:t>
            </a:r>
            <a:r>
              <a:rPr b="1" i="1" lang="en-US" sz="2400">
                <a:latin typeface="Times New Roman"/>
                <a:ea typeface="Times New Roman"/>
                <a:cs typeface="Times New Roman"/>
                <a:sym typeface="Times New Roman"/>
              </a:rPr>
              <a:t>X, </a:t>
            </a:r>
            <a:r>
              <a:rPr lang="en-US" sz="2400">
                <a:latin typeface="Times New Roman"/>
                <a:ea typeface="Times New Roman"/>
                <a:cs typeface="Times New Roman"/>
                <a:sym typeface="Times New Roman"/>
              </a:rPr>
              <a:t>where</a:t>
            </a:r>
            <a:r>
              <a:rPr b="1" i="1" lang="en-US" sz="2400">
                <a:latin typeface="Times New Roman"/>
                <a:ea typeface="Times New Roman"/>
                <a:cs typeface="Times New Roman"/>
                <a:sym typeface="Times New Roman"/>
              </a:rPr>
              <a:t> P </a:t>
            </a:r>
            <a:r>
              <a:rPr lang="en-US" sz="2400">
                <a:latin typeface="Times New Roman"/>
                <a:ea typeface="Times New Roman"/>
                <a:cs typeface="Times New Roman"/>
                <a:sym typeface="Times New Roman"/>
              </a:rPr>
              <a:t>is chosen so that the covariance matrix of </a:t>
            </a:r>
            <a:r>
              <a:rPr b="1" lang="en-US" sz="2400">
                <a:latin typeface="Times New Roman"/>
                <a:ea typeface="Times New Roman"/>
                <a:cs typeface="Times New Roman"/>
                <a:sym typeface="Times New Roman"/>
              </a:rPr>
              <a:t>Y </a:t>
            </a:r>
            <a:r>
              <a:rPr lang="en-US" sz="2400">
                <a:latin typeface="Times New Roman"/>
                <a:ea typeface="Times New Roman"/>
                <a:cs typeface="Times New Roman"/>
                <a:sym typeface="Times New Roman"/>
              </a:rPr>
              <a:t>is diagonal, i.e.,</a:t>
            </a:r>
            <a:endParaRPr>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pic>
        <p:nvPicPr>
          <p:cNvPr id="312" name="Google Shape;312;p15"/>
          <p:cNvPicPr preferRelativeResize="0"/>
          <p:nvPr/>
        </p:nvPicPr>
        <p:blipFill rotWithShape="1">
          <a:blip r:embed="rId3">
            <a:alphaModFix/>
          </a:blip>
          <a:srcRect b="0" l="0" r="0" t="0"/>
          <a:stretch/>
        </p:blipFill>
        <p:spPr>
          <a:xfrm>
            <a:off x="1219200" y="2590801"/>
            <a:ext cx="6400800" cy="1828799"/>
          </a:xfrm>
          <a:prstGeom prst="rect">
            <a:avLst/>
          </a:prstGeom>
          <a:noFill/>
          <a:ln>
            <a:noFill/>
          </a:ln>
        </p:spPr>
      </p:pic>
      <p:pic>
        <p:nvPicPr>
          <p:cNvPr id="313" name="Google Shape;313;p15"/>
          <p:cNvPicPr preferRelativeResize="0"/>
          <p:nvPr/>
        </p:nvPicPr>
        <p:blipFill rotWithShape="1">
          <a:blip r:embed="rId4">
            <a:alphaModFix/>
          </a:blip>
          <a:srcRect b="0" l="0" r="0" t="0"/>
          <a:stretch/>
        </p:blipFill>
        <p:spPr>
          <a:xfrm>
            <a:off x="990600" y="4724400"/>
            <a:ext cx="6248400" cy="1752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6"/>
          <p:cNvSpPr txBox="1"/>
          <p:nvPr>
            <p:ph idx="1" type="body"/>
          </p:nvPr>
        </p:nvSpPr>
        <p:spPr>
          <a:xfrm>
            <a:off x="152400" y="152400"/>
            <a:ext cx="8839200" cy="647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The two extra things that we needed to know were that</a:t>
            </a:r>
            <a:endParaRPr/>
          </a:p>
          <a:p>
            <a:pPr indent="-342900" lvl="0" marL="342900" rtl="0" algn="l">
              <a:spcBef>
                <a:spcPts val="560"/>
              </a:spcBef>
              <a:spcAft>
                <a:spcPts val="0"/>
              </a:spcAft>
              <a:buClr>
                <a:schemeClr val="dk1"/>
              </a:buClr>
              <a:buSzPts val="2800"/>
              <a:buNone/>
            </a:pPr>
            <a:r>
              <a:rPr lang="en-US" sz="2800"/>
              <a:t>               (</a:t>
            </a:r>
            <a:r>
              <a:rPr b="1" lang="en-US" sz="2800"/>
              <a:t>P</a:t>
            </a:r>
            <a:r>
              <a:rPr b="1" baseline="30000" i="1" lang="en-US" sz="2800"/>
              <a:t>T</a:t>
            </a:r>
            <a:r>
              <a:rPr b="1" i="1" lang="en-US" sz="2800"/>
              <a:t>X)</a:t>
            </a:r>
            <a:r>
              <a:rPr b="1" baseline="30000" i="1" lang="en-US" sz="2800"/>
              <a:t>T</a:t>
            </a:r>
            <a:r>
              <a:rPr b="1" i="1" lang="en-US" sz="2800"/>
              <a:t> = X</a:t>
            </a:r>
            <a:r>
              <a:rPr b="1" baseline="30000" i="1" lang="en-US" sz="2800"/>
              <a:t>T  </a:t>
            </a:r>
            <a:r>
              <a:rPr b="1" i="1" lang="en-US" sz="2800"/>
              <a:t>        = X</a:t>
            </a:r>
            <a:r>
              <a:rPr baseline="30000" lang="en-US" sz="2800"/>
              <a:t>T</a:t>
            </a:r>
            <a:r>
              <a:rPr b="1" i="1" lang="en-US" sz="2800"/>
              <a:t>P </a:t>
            </a:r>
            <a:endParaRPr/>
          </a:p>
          <a:p>
            <a:pPr indent="-342900" lvl="0" marL="342900" rtl="0" algn="l">
              <a:spcBef>
                <a:spcPts val="560"/>
              </a:spcBef>
              <a:spcAft>
                <a:spcPts val="0"/>
              </a:spcAft>
              <a:buClr>
                <a:schemeClr val="dk1"/>
              </a:buClr>
              <a:buSzPts val="2800"/>
              <a:buNone/>
            </a:pPr>
            <a:r>
              <a:rPr b="1" i="1" lang="en-US" sz="2800"/>
              <a:t>    </a:t>
            </a:r>
            <a:r>
              <a:rPr i="1" lang="en-US" sz="2800"/>
              <a:t>and </a:t>
            </a:r>
            <a:r>
              <a:rPr lang="en-US" sz="2800"/>
              <a:t>that E[P] = P (and obviously the same for P</a:t>
            </a:r>
            <a:r>
              <a:rPr baseline="30000" lang="en-US" sz="2800"/>
              <a:t>T</a:t>
            </a:r>
            <a:r>
              <a:rPr lang="en-US" sz="2800"/>
              <a:t> ) since it is not a data-dependent matrix</a:t>
            </a:r>
            <a:r>
              <a:rPr b="1" i="1" lang="en-US" sz="2800"/>
              <a:t>. </a:t>
            </a:r>
            <a:r>
              <a:rPr lang="en-US" sz="2800"/>
              <a:t>This then tells us that:</a:t>
            </a:r>
            <a:endParaRPr/>
          </a:p>
          <a:p>
            <a:pPr indent="-342900" lvl="0" marL="342900" rtl="0" algn="l">
              <a:spcBef>
                <a:spcPts val="560"/>
              </a:spcBef>
              <a:spcAft>
                <a:spcPts val="0"/>
              </a:spcAft>
              <a:buClr>
                <a:schemeClr val="dk1"/>
              </a:buClr>
              <a:buSzPts val="2800"/>
              <a:buNone/>
            </a:pPr>
            <a:r>
              <a:rPr lang="en-US" sz="2800"/>
              <a:t> 		</a:t>
            </a:r>
            <a:r>
              <a:rPr b="1" lang="en-US" sz="2800"/>
              <a:t>Pcov(Y) = P ( P</a:t>
            </a:r>
            <a:r>
              <a:rPr b="1" baseline="30000" lang="en-US" sz="2800"/>
              <a:t>T </a:t>
            </a:r>
            <a:r>
              <a:rPr b="1" lang="en-US" sz="2800"/>
              <a:t>cov(X)P )    </a:t>
            </a:r>
            <a:r>
              <a:rPr lang="en-US" sz="2800"/>
              <a:t>( from equ. 6.12)</a:t>
            </a:r>
            <a:endParaRPr/>
          </a:p>
          <a:p>
            <a:pPr indent="-342900" lvl="0" marL="342900" rtl="0" algn="l">
              <a:spcBef>
                <a:spcPts val="560"/>
              </a:spcBef>
              <a:spcAft>
                <a:spcPts val="0"/>
              </a:spcAft>
              <a:buClr>
                <a:schemeClr val="dk1"/>
              </a:buClr>
              <a:buSzPts val="2800"/>
              <a:buNone/>
            </a:pPr>
            <a:r>
              <a:rPr b="1" lang="en-US" sz="2800"/>
              <a:t>			 = cov(X)P      </a:t>
            </a:r>
            <a:r>
              <a:rPr lang="en-US" sz="2800"/>
              <a:t>----    (6.13)</a:t>
            </a:r>
            <a:endParaRPr/>
          </a:p>
          <a:p>
            <a:pPr indent="-342900" lvl="0" marL="342900" rtl="0" algn="l">
              <a:spcBef>
                <a:spcPts val="560"/>
              </a:spcBef>
              <a:spcAft>
                <a:spcPts val="0"/>
              </a:spcAft>
              <a:buClr>
                <a:schemeClr val="dk1"/>
              </a:buClr>
              <a:buSzPts val="2800"/>
              <a:buChar char="•"/>
            </a:pPr>
            <a:r>
              <a:rPr lang="en-US" sz="2800"/>
              <a:t>where there is one tricky fact, namely that for a rotation matrix </a:t>
            </a:r>
            <a:endParaRPr/>
          </a:p>
          <a:p>
            <a:pPr indent="-342900" lvl="0" marL="342900" rtl="0" algn="l">
              <a:spcBef>
                <a:spcPts val="560"/>
              </a:spcBef>
              <a:spcAft>
                <a:spcPts val="0"/>
              </a:spcAft>
              <a:buClr>
                <a:schemeClr val="dk1"/>
              </a:buClr>
              <a:buSzPts val="2800"/>
              <a:buNone/>
            </a:pPr>
            <a:r>
              <a:rPr b="1" lang="en-US" sz="2800"/>
              <a:t>                           P</a:t>
            </a:r>
            <a:r>
              <a:rPr b="1" baseline="30000" lang="en-US" sz="2800"/>
              <a:t>T</a:t>
            </a:r>
            <a:r>
              <a:rPr b="1" lang="en-US" sz="2800"/>
              <a:t> = P</a:t>
            </a:r>
            <a:r>
              <a:rPr b="1" baseline="30000" lang="en-US" sz="2800"/>
              <a:t>−1</a:t>
            </a:r>
            <a:endParaRPr/>
          </a:p>
          <a:p>
            <a:pPr indent="-342900" lvl="0" marL="342900" rtl="0" algn="l">
              <a:spcBef>
                <a:spcPts val="560"/>
              </a:spcBef>
              <a:spcAft>
                <a:spcPts val="0"/>
              </a:spcAft>
              <a:buClr>
                <a:schemeClr val="dk1"/>
              </a:buClr>
              <a:buSzPts val="2800"/>
              <a:buChar char="•"/>
            </a:pPr>
            <a:r>
              <a:rPr lang="en-US" sz="2800"/>
              <a:t>Invert a rotation we rotate in the opposite direction by the same amount that we rotated forwards.</a:t>
            </a:r>
            <a:endParaRPr/>
          </a:p>
          <a:p>
            <a:pPr indent="-342900" lvl="0" marL="342900" rtl="0" algn="just">
              <a:spcBef>
                <a:spcPts val="560"/>
              </a:spcBef>
              <a:spcAft>
                <a:spcPts val="0"/>
              </a:spcAft>
              <a:buClr>
                <a:schemeClr val="dk1"/>
              </a:buClr>
              <a:buSzPts val="2800"/>
              <a:buChar char="•"/>
            </a:pPr>
            <a:r>
              <a:rPr lang="en-US" sz="2800"/>
              <a:t>As</a:t>
            </a:r>
            <a:r>
              <a:rPr b="1" lang="en-US" sz="2800"/>
              <a:t> cov(Y) </a:t>
            </a:r>
            <a:r>
              <a:rPr lang="en-US" sz="2800"/>
              <a:t>is diagonal, if we write </a:t>
            </a:r>
            <a:r>
              <a:rPr b="1" lang="en-US" sz="2800"/>
              <a:t>P </a:t>
            </a:r>
            <a:r>
              <a:rPr lang="en-US" sz="2800"/>
              <a:t>as a set of column vectors </a:t>
            </a:r>
            <a:endParaRPr/>
          </a:p>
        </p:txBody>
      </p:sp>
      <p:sp>
        <p:nvSpPr>
          <p:cNvPr id="319" name="Google Shape;319;p1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20" name="Google Shape;320;p16"/>
          <p:cNvPicPr preferRelativeResize="0"/>
          <p:nvPr/>
        </p:nvPicPr>
        <p:blipFill rotWithShape="1">
          <a:blip r:embed="rId3">
            <a:alphaModFix/>
          </a:blip>
          <a:srcRect b="0" l="0" r="0" t="0"/>
          <a:stretch/>
        </p:blipFill>
        <p:spPr>
          <a:xfrm>
            <a:off x="2590800" y="609600"/>
            <a:ext cx="533400" cy="552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7"/>
          <p:cNvSpPr txBox="1"/>
          <p:nvPr>
            <p:ph idx="1" type="body"/>
          </p:nvPr>
        </p:nvSpPr>
        <p:spPr>
          <a:xfrm>
            <a:off x="152400" y="228600"/>
            <a:ext cx="8839200" cy="6400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Find a matrix </a:t>
            </a:r>
            <a:r>
              <a:rPr b="1" lang="en-US" sz="2800"/>
              <a:t>P </a:t>
            </a:r>
            <a:r>
              <a:rPr lang="en-US" sz="2800"/>
              <a:t>so that for the directions that</a:t>
            </a:r>
            <a:r>
              <a:rPr b="1" lang="en-US" sz="2800"/>
              <a:t> P </a:t>
            </a:r>
            <a:r>
              <a:rPr lang="en-US" sz="2800"/>
              <a:t>is written in, the matrix </a:t>
            </a:r>
            <a:r>
              <a:rPr b="1" lang="en-US" sz="2800"/>
              <a:t>Z </a:t>
            </a:r>
            <a:r>
              <a:rPr lang="en-US" sz="2800"/>
              <a:t>does not twist or rotate those directions, but just rescales them. </a:t>
            </a:r>
            <a:endParaRPr/>
          </a:p>
          <a:p>
            <a:pPr indent="-342900" lvl="0" marL="342900" rtl="0" algn="just">
              <a:spcBef>
                <a:spcPts val="560"/>
              </a:spcBef>
              <a:spcAft>
                <a:spcPts val="0"/>
              </a:spcAft>
              <a:buClr>
                <a:schemeClr val="dk1"/>
              </a:buClr>
              <a:buSzPts val="2800"/>
              <a:buChar char="•"/>
            </a:pPr>
            <a:r>
              <a:rPr lang="en-US" sz="2800"/>
              <a:t>These directions are special enough that they have a name: they are </a:t>
            </a:r>
            <a:r>
              <a:rPr b="1" lang="en-US" sz="2800"/>
              <a:t>eigenvectors</a:t>
            </a:r>
            <a:r>
              <a:rPr lang="en-US" sz="2800"/>
              <a:t>, and the amount that they rescale the axes (the </a:t>
            </a:r>
            <a:r>
              <a:rPr b="1" lang="en-US" sz="2800"/>
              <a:t>λ</a:t>
            </a:r>
            <a:r>
              <a:rPr lang="en-US" sz="2800"/>
              <a:t> s) by are known as </a:t>
            </a:r>
            <a:r>
              <a:rPr b="1" lang="en-US" sz="2800"/>
              <a:t>eigen values</a:t>
            </a:r>
            <a:r>
              <a:rPr lang="en-US" sz="2800"/>
              <a:t>.</a:t>
            </a:r>
            <a:endParaRPr/>
          </a:p>
          <a:p>
            <a:pPr indent="-342900" lvl="0" marL="342900" rtl="0" algn="just">
              <a:spcBef>
                <a:spcPts val="560"/>
              </a:spcBef>
              <a:spcAft>
                <a:spcPts val="0"/>
              </a:spcAft>
              <a:buClr>
                <a:schemeClr val="dk1"/>
              </a:buClr>
              <a:buSzPts val="2800"/>
              <a:buChar char="•"/>
            </a:pPr>
            <a:r>
              <a:rPr lang="en-US" sz="2800"/>
              <a:t>All </a:t>
            </a:r>
            <a:r>
              <a:rPr b="1" lang="en-US" sz="2800"/>
              <a:t>eigenvectors</a:t>
            </a:r>
            <a:r>
              <a:rPr lang="en-US" sz="2800"/>
              <a:t> of a square symmetric matrix </a:t>
            </a:r>
            <a:r>
              <a:rPr b="1" lang="en-US" sz="2800"/>
              <a:t>A </a:t>
            </a:r>
            <a:r>
              <a:rPr lang="en-US" sz="2800"/>
              <a:t>are</a:t>
            </a:r>
            <a:r>
              <a:rPr b="1" lang="en-US" sz="2800"/>
              <a:t> orthogonal </a:t>
            </a:r>
            <a:r>
              <a:rPr lang="en-US" sz="2800"/>
              <a:t>to each other. </a:t>
            </a:r>
            <a:endParaRPr/>
          </a:p>
          <a:p>
            <a:pPr indent="-342900" lvl="0" marL="342900" rtl="0" algn="just">
              <a:spcBef>
                <a:spcPts val="560"/>
              </a:spcBef>
              <a:spcAft>
                <a:spcPts val="0"/>
              </a:spcAft>
              <a:buClr>
                <a:schemeClr val="dk1"/>
              </a:buClr>
              <a:buSzPts val="2800"/>
              <a:buChar char="•"/>
            </a:pPr>
            <a:r>
              <a:rPr lang="en-US" sz="2800"/>
              <a:t>The </a:t>
            </a:r>
            <a:r>
              <a:rPr b="1" lang="en-US" sz="2800"/>
              <a:t>eigenvectors</a:t>
            </a:r>
            <a:r>
              <a:rPr lang="en-US" sz="2800"/>
              <a:t> define a space. If we make a matrix </a:t>
            </a:r>
            <a:r>
              <a:rPr b="1" lang="en-US" sz="2800"/>
              <a:t>E </a:t>
            </a:r>
            <a:r>
              <a:rPr lang="en-US" sz="2800"/>
              <a:t>that contains the (normalized) </a:t>
            </a:r>
            <a:r>
              <a:rPr b="1" lang="en-US" sz="2800"/>
              <a:t>eigenvectors</a:t>
            </a:r>
            <a:r>
              <a:rPr lang="en-US" sz="2800"/>
              <a:t> of a matrix </a:t>
            </a:r>
            <a:r>
              <a:rPr b="1" lang="en-US" sz="2800"/>
              <a:t>A </a:t>
            </a:r>
            <a:r>
              <a:rPr lang="en-US" sz="2800"/>
              <a:t>as columns</a:t>
            </a:r>
            <a:r>
              <a:rPr b="1" lang="en-US" sz="2800"/>
              <a:t>, </a:t>
            </a:r>
            <a:r>
              <a:rPr lang="en-US" sz="2800"/>
              <a:t>then this matrix will take any vector and rotate it into what is known as the eigen space.</a:t>
            </a:r>
            <a:endParaRPr sz="2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8"/>
          <p:cNvSpPr txBox="1"/>
          <p:nvPr>
            <p:ph idx="1" type="body"/>
          </p:nvPr>
        </p:nvSpPr>
        <p:spPr>
          <a:xfrm>
            <a:off x="152400" y="228600"/>
            <a:ext cx="8839200" cy="6477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Since </a:t>
            </a:r>
            <a:r>
              <a:rPr b="1" lang="en-US" sz="2800"/>
              <a:t>E </a:t>
            </a:r>
            <a:r>
              <a:rPr lang="en-US" sz="2800"/>
              <a:t>is a rotation matrix</a:t>
            </a:r>
            <a:r>
              <a:rPr b="1" lang="en-US" sz="2800"/>
              <a:t>, E</a:t>
            </a:r>
            <a:r>
              <a:rPr b="1" baseline="30000" lang="en-US" sz="2800"/>
              <a:t>−1</a:t>
            </a:r>
            <a:r>
              <a:rPr b="1" lang="en-US" sz="2800"/>
              <a:t> = E</a:t>
            </a:r>
            <a:r>
              <a:rPr b="1" baseline="30000" lang="en-US" sz="2800"/>
              <a:t>T</a:t>
            </a:r>
            <a:r>
              <a:rPr b="1" lang="en-US" sz="2800"/>
              <a:t> </a:t>
            </a:r>
            <a:r>
              <a:rPr lang="en-US" sz="2800"/>
              <a:t>, so that rotating the resultant vector back out of the </a:t>
            </a:r>
            <a:r>
              <a:rPr b="1" lang="en-US" sz="2800"/>
              <a:t>eigen space </a:t>
            </a:r>
            <a:r>
              <a:rPr lang="en-US" sz="2800"/>
              <a:t>requires multiplying it by </a:t>
            </a:r>
            <a:r>
              <a:rPr b="1" lang="en-US" sz="2800"/>
              <a:t>E</a:t>
            </a:r>
            <a:r>
              <a:rPr b="1" baseline="30000" lang="en-US" sz="2800"/>
              <a:t>T</a:t>
            </a:r>
            <a:r>
              <a:rPr b="1" i="1" lang="en-US" sz="2800"/>
              <a:t> , </a:t>
            </a:r>
            <a:r>
              <a:rPr lang="en-US" sz="2800"/>
              <a:t>where by ‘normalized’,  means </a:t>
            </a:r>
            <a:r>
              <a:rPr b="1" lang="en-US" sz="2800"/>
              <a:t>eigenvectors</a:t>
            </a:r>
            <a:r>
              <a:rPr lang="en-US" sz="2800"/>
              <a:t> are made unit length. </a:t>
            </a:r>
            <a:endParaRPr/>
          </a:p>
          <a:p>
            <a:pPr indent="-342900" lvl="0" marL="342900" rtl="0" algn="just">
              <a:spcBef>
                <a:spcPts val="560"/>
              </a:spcBef>
              <a:spcAft>
                <a:spcPts val="0"/>
              </a:spcAft>
              <a:buClr>
                <a:schemeClr val="dk1"/>
              </a:buClr>
              <a:buSzPts val="2800"/>
              <a:buChar char="•"/>
            </a:pPr>
            <a:r>
              <a:rPr lang="en-US" sz="2800"/>
              <a:t>What should we do between rotating the vector into the </a:t>
            </a:r>
            <a:r>
              <a:rPr b="1" lang="en-US" sz="2800"/>
              <a:t>eigen space</a:t>
            </a:r>
            <a:r>
              <a:rPr lang="en-US" sz="2800"/>
              <a:t>, and rotating it back out? The answer is that we can stretch the vectors along the axes. </a:t>
            </a:r>
            <a:endParaRPr/>
          </a:p>
          <a:p>
            <a:pPr indent="-342900" lvl="0" marL="342900" rtl="0" algn="just">
              <a:spcBef>
                <a:spcPts val="560"/>
              </a:spcBef>
              <a:spcAft>
                <a:spcPts val="0"/>
              </a:spcAft>
              <a:buClr>
                <a:schemeClr val="dk1"/>
              </a:buClr>
              <a:buSzPts val="2800"/>
              <a:buChar char="•"/>
            </a:pPr>
            <a:r>
              <a:rPr lang="en-US" sz="2800"/>
              <a:t>This is done by multiplying the vector by a diagonal matrix that has the </a:t>
            </a:r>
            <a:r>
              <a:rPr b="1" lang="en-US" sz="2800"/>
              <a:t>eigen values</a:t>
            </a:r>
            <a:r>
              <a:rPr lang="en-US" sz="2800"/>
              <a:t> along its diagonal, </a:t>
            </a:r>
            <a:r>
              <a:rPr b="1" lang="en-US" sz="2800"/>
              <a:t>D. </a:t>
            </a:r>
            <a:endParaRPr/>
          </a:p>
          <a:p>
            <a:pPr indent="-342900" lvl="0" marL="342900" rtl="0" algn="just">
              <a:spcBef>
                <a:spcPts val="560"/>
              </a:spcBef>
              <a:spcAft>
                <a:spcPts val="0"/>
              </a:spcAft>
              <a:buClr>
                <a:schemeClr val="dk1"/>
              </a:buClr>
              <a:buSzPts val="2800"/>
              <a:buChar char="•"/>
            </a:pPr>
            <a:r>
              <a:rPr lang="en-US" sz="2800"/>
              <a:t>So we can decompose any square symmetric matrix </a:t>
            </a:r>
            <a:r>
              <a:rPr b="1" lang="en-US" sz="2800"/>
              <a:t>A </a:t>
            </a:r>
            <a:r>
              <a:rPr lang="en-US" sz="2800"/>
              <a:t>into the following set of matrices:</a:t>
            </a:r>
            <a:r>
              <a:rPr b="1" lang="en-US" sz="2800"/>
              <a:t> A = EDE</a:t>
            </a:r>
            <a:r>
              <a:rPr b="1" baseline="30000" lang="en-US" sz="2800"/>
              <a:t>T</a:t>
            </a:r>
            <a:r>
              <a:rPr b="1" i="1" lang="en-US" sz="2800"/>
              <a:t> </a:t>
            </a:r>
            <a:r>
              <a:rPr lang="en-US" sz="2800"/>
              <a:t>, and this is what we have done to our covariance matrix above. </a:t>
            </a:r>
            <a:endParaRPr/>
          </a:p>
          <a:p>
            <a:pPr indent="-342900" lvl="0" marL="342900" rtl="0" algn="just">
              <a:spcBef>
                <a:spcPts val="560"/>
              </a:spcBef>
              <a:spcAft>
                <a:spcPts val="0"/>
              </a:spcAft>
              <a:buClr>
                <a:schemeClr val="dk1"/>
              </a:buClr>
              <a:buSzPts val="2800"/>
              <a:buChar char="•"/>
            </a:pPr>
            <a:r>
              <a:rPr lang="en-US" sz="2800"/>
              <a:t>This is called the spectral decomposition.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9"/>
          <p:cNvSpPr txBox="1"/>
          <p:nvPr>
            <p:ph idx="1" type="body"/>
          </p:nvPr>
        </p:nvSpPr>
        <p:spPr>
          <a:xfrm>
            <a:off x="152400" y="4648200"/>
            <a:ext cx="8839200" cy="20574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Two different examples of using PCA are shown in Figures 6.7 and 6.8. </a:t>
            </a:r>
            <a:endParaRPr/>
          </a:p>
          <a:p>
            <a:pPr indent="-342900" lvl="0" marL="342900" rtl="0" algn="l">
              <a:spcBef>
                <a:spcPts val="448"/>
              </a:spcBef>
              <a:spcAft>
                <a:spcPts val="0"/>
              </a:spcAft>
              <a:buClr>
                <a:schemeClr val="dk1"/>
              </a:buClr>
              <a:buSzPct val="100000"/>
              <a:buChar char="•"/>
            </a:pPr>
            <a:r>
              <a:rPr lang="en-US"/>
              <a:t>The former shows two-dimensional data from an ellipse being mapped into one principal component, which lies along the principal axis of the ellipse. </a:t>
            </a:r>
            <a:endParaRPr/>
          </a:p>
          <a:p>
            <a:pPr indent="-342900" lvl="0" marL="342900" rtl="0" algn="l">
              <a:spcBef>
                <a:spcPts val="448"/>
              </a:spcBef>
              <a:spcAft>
                <a:spcPts val="0"/>
              </a:spcAft>
              <a:buClr>
                <a:schemeClr val="dk1"/>
              </a:buClr>
              <a:buSzPct val="100000"/>
              <a:buChar char="•"/>
            </a:pPr>
            <a:r>
              <a:rPr lang="en-US"/>
              <a:t>Figure 6.8 shows the first two dimensions of the iris data, and shows that the three classes are clearly distinguishable after PCA has been applied.</a:t>
            </a:r>
            <a:endParaRPr/>
          </a:p>
        </p:txBody>
      </p:sp>
      <p:pic>
        <p:nvPicPr>
          <p:cNvPr id="336" name="Google Shape;336;p19"/>
          <p:cNvPicPr preferRelativeResize="0"/>
          <p:nvPr/>
        </p:nvPicPr>
        <p:blipFill rotWithShape="1">
          <a:blip r:embed="rId3">
            <a:alphaModFix/>
          </a:blip>
          <a:srcRect b="0" l="0" r="0" t="0"/>
          <a:stretch/>
        </p:blipFill>
        <p:spPr>
          <a:xfrm>
            <a:off x="381000" y="0"/>
            <a:ext cx="8305800" cy="4448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20"/>
          <p:cNvPicPr preferRelativeResize="0"/>
          <p:nvPr/>
        </p:nvPicPr>
        <p:blipFill rotWithShape="1">
          <a:blip r:embed="rId3">
            <a:alphaModFix/>
          </a:blip>
          <a:srcRect b="0" l="0" r="0" t="0"/>
          <a:stretch/>
        </p:blipFill>
        <p:spPr>
          <a:xfrm>
            <a:off x="76200" y="76200"/>
            <a:ext cx="4953000" cy="3124200"/>
          </a:xfrm>
          <a:prstGeom prst="rect">
            <a:avLst/>
          </a:prstGeom>
          <a:noFill/>
          <a:ln>
            <a:noFill/>
          </a:ln>
        </p:spPr>
      </p:pic>
      <p:pic>
        <p:nvPicPr>
          <p:cNvPr id="342" name="Google Shape;342;p20"/>
          <p:cNvPicPr preferRelativeResize="0"/>
          <p:nvPr/>
        </p:nvPicPr>
        <p:blipFill rotWithShape="1">
          <a:blip r:embed="rId4">
            <a:alphaModFix/>
          </a:blip>
          <a:srcRect b="0" l="0" r="0" t="0"/>
          <a:stretch/>
        </p:blipFill>
        <p:spPr>
          <a:xfrm>
            <a:off x="5410200" y="0"/>
            <a:ext cx="3733800" cy="3200399"/>
          </a:xfrm>
          <a:prstGeom prst="rect">
            <a:avLst/>
          </a:prstGeom>
          <a:noFill/>
          <a:ln>
            <a:noFill/>
          </a:ln>
        </p:spPr>
      </p:pic>
      <p:sp>
        <p:nvSpPr>
          <p:cNvPr id="343" name="Google Shape;343;p20"/>
          <p:cNvSpPr/>
          <p:nvPr/>
        </p:nvSpPr>
        <p:spPr>
          <a:xfrm>
            <a:off x="152400" y="3276600"/>
            <a:ext cx="8915400"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FIGURE 6.7 Computing the principal components of the 2D dataset on the left and using</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only the first one to reconstruct it produces the line of data shown on the right, which is</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along the principal axis of the ellipse that the data was sampled from.</a:t>
            </a:r>
            <a:endParaRPr sz="1800">
              <a:solidFill>
                <a:schemeClr val="dk1"/>
              </a:solidFill>
              <a:latin typeface="Calibri"/>
              <a:ea typeface="Calibri"/>
              <a:cs typeface="Calibri"/>
              <a:sym typeface="Calibri"/>
            </a:endParaRPr>
          </a:p>
        </p:txBody>
      </p:sp>
      <p:pic>
        <p:nvPicPr>
          <p:cNvPr id="344" name="Google Shape;344;p20"/>
          <p:cNvPicPr preferRelativeResize="0"/>
          <p:nvPr/>
        </p:nvPicPr>
        <p:blipFill rotWithShape="1">
          <a:blip r:embed="rId5">
            <a:alphaModFix/>
          </a:blip>
          <a:srcRect b="0" l="0" r="0" t="0"/>
          <a:stretch/>
        </p:blipFill>
        <p:spPr>
          <a:xfrm>
            <a:off x="0" y="4419600"/>
            <a:ext cx="4876800" cy="2438400"/>
          </a:xfrm>
          <a:prstGeom prst="rect">
            <a:avLst/>
          </a:prstGeom>
          <a:noFill/>
          <a:ln>
            <a:noFill/>
          </a:ln>
        </p:spPr>
      </p:pic>
      <p:sp>
        <p:nvSpPr>
          <p:cNvPr id="345" name="Google Shape;345;p20"/>
          <p:cNvSpPr/>
          <p:nvPr/>
        </p:nvSpPr>
        <p:spPr>
          <a:xfrm>
            <a:off x="5257800" y="4953000"/>
            <a:ext cx="38100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FIGURE 6.8 Plot of the first two principal components of the iris data, showing that the three classes are clearly distinguishable</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73e0fc90e8_0_4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51" name="Google Shape;351;g273e0fc90e8_0_4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352" name="Google Shape;352;g273e0fc90e8_0_43"/>
          <p:cNvPicPr preferRelativeResize="0"/>
          <p:nvPr/>
        </p:nvPicPr>
        <p:blipFill>
          <a:blip r:embed="rId3">
            <a:alphaModFix/>
          </a:blip>
          <a:stretch>
            <a:fillRect/>
          </a:stretch>
        </p:blipFill>
        <p:spPr>
          <a:xfrm>
            <a:off x="0" y="34793"/>
            <a:ext cx="9144000" cy="3394213"/>
          </a:xfrm>
          <a:prstGeom prst="rect">
            <a:avLst/>
          </a:prstGeom>
          <a:noFill/>
          <a:ln>
            <a:noFill/>
          </a:ln>
        </p:spPr>
      </p:pic>
      <p:pic>
        <p:nvPicPr>
          <p:cNvPr id="353" name="Google Shape;353;g273e0fc90e8_0_43"/>
          <p:cNvPicPr preferRelativeResize="0"/>
          <p:nvPr/>
        </p:nvPicPr>
        <p:blipFill>
          <a:blip r:embed="rId4">
            <a:alphaModFix/>
          </a:blip>
          <a:stretch>
            <a:fillRect/>
          </a:stretch>
        </p:blipFill>
        <p:spPr>
          <a:xfrm>
            <a:off x="457200" y="3862250"/>
            <a:ext cx="3773042" cy="426900"/>
          </a:xfrm>
          <a:prstGeom prst="rect">
            <a:avLst/>
          </a:prstGeom>
          <a:noFill/>
          <a:ln>
            <a:noFill/>
          </a:ln>
        </p:spPr>
      </p:pic>
      <p:pic>
        <p:nvPicPr>
          <p:cNvPr id="354" name="Google Shape;354;g273e0fc90e8_0_43"/>
          <p:cNvPicPr preferRelativeResize="0"/>
          <p:nvPr/>
        </p:nvPicPr>
        <p:blipFill>
          <a:blip r:embed="rId5">
            <a:alphaModFix/>
          </a:blip>
          <a:stretch>
            <a:fillRect/>
          </a:stretch>
        </p:blipFill>
        <p:spPr>
          <a:xfrm>
            <a:off x="2211925" y="4461475"/>
            <a:ext cx="4394250" cy="1071875"/>
          </a:xfrm>
          <a:prstGeom prst="rect">
            <a:avLst/>
          </a:prstGeom>
          <a:noFill/>
          <a:ln>
            <a:noFill/>
          </a:ln>
        </p:spPr>
      </p:pic>
      <p:pic>
        <p:nvPicPr>
          <p:cNvPr id="355" name="Google Shape;355;g273e0fc90e8_0_43"/>
          <p:cNvPicPr preferRelativeResize="0"/>
          <p:nvPr/>
        </p:nvPicPr>
        <p:blipFill>
          <a:blip r:embed="rId6">
            <a:alphaModFix/>
          </a:blip>
          <a:stretch>
            <a:fillRect/>
          </a:stretch>
        </p:blipFill>
        <p:spPr>
          <a:xfrm>
            <a:off x="6606175" y="3484375"/>
            <a:ext cx="4266550" cy="30260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g273e0fc90e8_0_52"/>
          <p:cNvPicPr preferRelativeResize="0"/>
          <p:nvPr/>
        </p:nvPicPr>
        <p:blipFill>
          <a:blip r:embed="rId3">
            <a:alphaModFix/>
          </a:blip>
          <a:stretch>
            <a:fillRect/>
          </a:stretch>
        </p:blipFill>
        <p:spPr>
          <a:xfrm>
            <a:off x="76625" y="0"/>
            <a:ext cx="8686801" cy="1333275"/>
          </a:xfrm>
          <a:prstGeom prst="rect">
            <a:avLst/>
          </a:prstGeom>
          <a:noFill/>
          <a:ln>
            <a:noFill/>
          </a:ln>
        </p:spPr>
      </p:pic>
      <p:pic>
        <p:nvPicPr>
          <p:cNvPr id="361" name="Google Shape;361;g273e0fc90e8_0_52"/>
          <p:cNvPicPr preferRelativeResize="0"/>
          <p:nvPr/>
        </p:nvPicPr>
        <p:blipFill>
          <a:blip r:embed="rId4">
            <a:alphaModFix/>
          </a:blip>
          <a:stretch>
            <a:fillRect/>
          </a:stretch>
        </p:blipFill>
        <p:spPr>
          <a:xfrm>
            <a:off x="76625" y="1811975"/>
            <a:ext cx="9143999" cy="2057400"/>
          </a:xfrm>
          <a:prstGeom prst="rect">
            <a:avLst/>
          </a:prstGeom>
          <a:noFill/>
          <a:ln>
            <a:noFill/>
          </a:ln>
        </p:spPr>
      </p:pic>
      <p:pic>
        <p:nvPicPr>
          <p:cNvPr id="362" name="Google Shape;362;g273e0fc90e8_0_52"/>
          <p:cNvPicPr preferRelativeResize="0"/>
          <p:nvPr/>
        </p:nvPicPr>
        <p:blipFill>
          <a:blip r:embed="rId5">
            <a:alphaModFix/>
          </a:blip>
          <a:stretch>
            <a:fillRect/>
          </a:stretch>
        </p:blipFill>
        <p:spPr>
          <a:xfrm>
            <a:off x="1355763" y="4348075"/>
            <a:ext cx="6585725" cy="2324100"/>
          </a:xfrm>
          <a:prstGeom prst="rect">
            <a:avLst/>
          </a:prstGeom>
          <a:noFill/>
          <a:ln>
            <a:noFill/>
          </a:ln>
        </p:spPr>
      </p:pic>
      <p:pic>
        <p:nvPicPr>
          <p:cNvPr id="363" name="Google Shape;363;g273e0fc90e8_0_52"/>
          <p:cNvPicPr preferRelativeResize="0"/>
          <p:nvPr/>
        </p:nvPicPr>
        <p:blipFill>
          <a:blip r:embed="rId6">
            <a:alphaModFix/>
          </a:blip>
          <a:stretch>
            <a:fillRect/>
          </a:stretch>
        </p:blipFill>
        <p:spPr>
          <a:xfrm>
            <a:off x="228600" y="3869375"/>
            <a:ext cx="8686800" cy="26838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273e0fc90e8_0_6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369" name="Google Shape;369;g273e0fc90e8_0_62"/>
          <p:cNvPicPr preferRelativeResize="0"/>
          <p:nvPr/>
        </p:nvPicPr>
        <p:blipFill>
          <a:blip r:embed="rId3">
            <a:alphaModFix/>
          </a:blip>
          <a:stretch>
            <a:fillRect/>
          </a:stretch>
        </p:blipFill>
        <p:spPr>
          <a:xfrm>
            <a:off x="66400" y="150825"/>
            <a:ext cx="9077600" cy="978125"/>
          </a:xfrm>
          <a:prstGeom prst="rect">
            <a:avLst/>
          </a:prstGeom>
          <a:noFill/>
          <a:ln>
            <a:noFill/>
          </a:ln>
        </p:spPr>
      </p:pic>
      <p:pic>
        <p:nvPicPr>
          <p:cNvPr id="370" name="Google Shape;370;g273e0fc90e8_0_62"/>
          <p:cNvPicPr preferRelativeResize="0"/>
          <p:nvPr/>
        </p:nvPicPr>
        <p:blipFill>
          <a:blip r:embed="rId4">
            <a:alphaModFix/>
          </a:blip>
          <a:stretch>
            <a:fillRect/>
          </a:stretch>
        </p:blipFill>
        <p:spPr>
          <a:xfrm>
            <a:off x="66400" y="1439307"/>
            <a:ext cx="9143999" cy="1842886"/>
          </a:xfrm>
          <a:prstGeom prst="rect">
            <a:avLst/>
          </a:prstGeom>
          <a:noFill/>
          <a:ln>
            <a:noFill/>
          </a:ln>
        </p:spPr>
      </p:pic>
      <p:pic>
        <p:nvPicPr>
          <p:cNvPr id="371" name="Google Shape;371;g273e0fc90e8_0_62"/>
          <p:cNvPicPr preferRelativeResize="0"/>
          <p:nvPr/>
        </p:nvPicPr>
        <p:blipFill>
          <a:blip r:embed="rId5">
            <a:alphaModFix/>
          </a:blip>
          <a:stretch>
            <a:fillRect/>
          </a:stretch>
        </p:blipFill>
        <p:spPr>
          <a:xfrm>
            <a:off x="3619438" y="3662413"/>
            <a:ext cx="4200525" cy="1876425"/>
          </a:xfrm>
          <a:prstGeom prst="rect">
            <a:avLst/>
          </a:prstGeom>
          <a:noFill/>
          <a:ln>
            <a:noFill/>
          </a:ln>
        </p:spPr>
      </p:pic>
      <p:pic>
        <p:nvPicPr>
          <p:cNvPr id="372" name="Google Shape;372;g273e0fc90e8_0_62"/>
          <p:cNvPicPr preferRelativeResize="0"/>
          <p:nvPr/>
        </p:nvPicPr>
        <p:blipFill>
          <a:blip r:embed="rId6">
            <a:alphaModFix/>
          </a:blip>
          <a:stretch>
            <a:fillRect/>
          </a:stretch>
        </p:blipFill>
        <p:spPr>
          <a:xfrm>
            <a:off x="701550" y="4476588"/>
            <a:ext cx="2833627" cy="426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g273e0fc90e8_0_71"/>
          <p:cNvPicPr preferRelativeResize="0"/>
          <p:nvPr/>
        </p:nvPicPr>
        <p:blipFill>
          <a:blip r:embed="rId3">
            <a:alphaModFix/>
          </a:blip>
          <a:stretch>
            <a:fillRect/>
          </a:stretch>
        </p:blipFill>
        <p:spPr>
          <a:xfrm>
            <a:off x="101300" y="97550"/>
            <a:ext cx="6741463" cy="426900"/>
          </a:xfrm>
          <a:prstGeom prst="rect">
            <a:avLst/>
          </a:prstGeom>
          <a:noFill/>
          <a:ln>
            <a:noFill/>
          </a:ln>
        </p:spPr>
      </p:pic>
      <p:pic>
        <p:nvPicPr>
          <p:cNvPr id="378" name="Google Shape;378;g273e0fc90e8_0_71"/>
          <p:cNvPicPr preferRelativeResize="0"/>
          <p:nvPr/>
        </p:nvPicPr>
        <p:blipFill>
          <a:blip r:embed="rId4">
            <a:alphaModFix/>
          </a:blip>
          <a:stretch>
            <a:fillRect/>
          </a:stretch>
        </p:blipFill>
        <p:spPr>
          <a:xfrm>
            <a:off x="152400" y="676850"/>
            <a:ext cx="8839199" cy="3547407"/>
          </a:xfrm>
          <a:prstGeom prst="rect">
            <a:avLst/>
          </a:prstGeom>
          <a:noFill/>
          <a:ln>
            <a:noFill/>
          </a:ln>
        </p:spPr>
      </p:pic>
      <p:pic>
        <p:nvPicPr>
          <p:cNvPr id="379" name="Google Shape;379;g273e0fc90e8_0_71"/>
          <p:cNvPicPr preferRelativeResize="0"/>
          <p:nvPr/>
        </p:nvPicPr>
        <p:blipFill>
          <a:blip r:embed="rId5">
            <a:alphaModFix/>
          </a:blip>
          <a:stretch>
            <a:fillRect/>
          </a:stretch>
        </p:blipFill>
        <p:spPr>
          <a:xfrm>
            <a:off x="2182975" y="4529057"/>
            <a:ext cx="4139457" cy="232894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g273e0fc90e8_0_79"/>
          <p:cNvPicPr preferRelativeResize="0"/>
          <p:nvPr/>
        </p:nvPicPr>
        <p:blipFill>
          <a:blip r:embed="rId3">
            <a:alphaModFix/>
          </a:blip>
          <a:stretch>
            <a:fillRect/>
          </a:stretch>
        </p:blipFill>
        <p:spPr>
          <a:xfrm>
            <a:off x="0" y="97575"/>
            <a:ext cx="5708420" cy="426900"/>
          </a:xfrm>
          <a:prstGeom prst="rect">
            <a:avLst/>
          </a:prstGeom>
          <a:noFill/>
          <a:ln>
            <a:noFill/>
          </a:ln>
        </p:spPr>
      </p:pic>
      <p:pic>
        <p:nvPicPr>
          <p:cNvPr id="385" name="Google Shape;385;g273e0fc90e8_0_79"/>
          <p:cNvPicPr preferRelativeResize="0"/>
          <p:nvPr/>
        </p:nvPicPr>
        <p:blipFill>
          <a:blip r:embed="rId4">
            <a:alphaModFix/>
          </a:blip>
          <a:stretch>
            <a:fillRect/>
          </a:stretch>
        </p:blipFill>
        <p:spPr>
          <a:xfrm>
            <a:off x="6818850" y="0"/>
            <a:ext cx="1612550" cy="2227250"/>
          </a:xfrm>
          <a:prstGeom prst="rect">
            <a:avLst/>
          </a:prstGeom>
          <a:noFill/>
          <a:ln>
            <a:noFill/>
          </a:ln>
        </p:spPr>
      </p:pic>
      <p:pic>
        <p:nvPicPr>
          <p:cNvPr id="386" name="Google Shape;386;g273e0fc90e8_0_79"/>
          <p:cNvPicPr preferRelativeResize="0"/>
          <p:nvPr/>
        </p:nvPicPr>
        <p:blipFill>
          <a:blip r:embed="rId5">
            <a:alphaModFix/>
          </a:blip>
          <a:stretch>
            <a:fillRect/>
          </a:stretch>
        </p:blipFill>
        <p:spPr>
          <a:xfrm>
            <a:off x="180500" y="727950"/>
            <a:ext cx="5972175" cy="4200525"/>
          </a:xfrm>
          <a:prstGeom prst="rect">
            <a:avLst/>
          </a:prstGeom>
          <a:noFill/>
          <a:ln>
            <a:noFill/>
          </a:ln>
        </p:spPr>
      </p:pic>
      <p:pic>
        <p:nvPicPr>
          <p:cNvPr id="387" name="Google Shape;387;g273e0fc90e8_0_79"/>
          <p:cNvPicPr preferRelativeResize="0"/>
          <p:nvPr/>
        </p:nvPicPr>
        <p:blipFill>
          <a:blip r:embed="rId6">
            <a:alphaModFix/>
          </a:blip>
          <a:stretch>
            <a:fillRect/>
          </a:stretch>
        </p:blipFill>
        <p:spPr>
          <a:xfrm>
            <a:off x="180500" y="5336300"/>
            <a:ext cx="5572125" cy="1447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g273e0fc90e8_0_89"/>
          <p:cNvPicPr preferRelativeResize="0"/>
          <p:nvPr/>
        </p:nvPicPr>
        <p:blipFill>
          <a:blip r:embed="rId3">
            <a:alphaModFix/>
          </a:blip>
          <a:stretch>
            <a:fillRect/>
          </a:stretch>
        </p:blipFill>
        <p:spPr>
          <a:xfrm>
            <a:off x="364225" y="1654463"/>
            <a:ext cx="5810250" cy="790575"/>
          </a:xfrm>
          <a:prstGeom prst="rect">
            <a:avLst/>
          </a:prstGeom>
          <a:noFill/>
          <a:ln>
            <a:noFill/>
          </a:ln>
        </p:spPr>
      </p:pic>
      <p:pic>
        <p:nvPicPr>
          <p:cNvPr id="393" name="Google Shape;393;g273e0fc90e8_0_89"/>
          <p:cNvPicPr preferRelativeResize="0"/>
          <p:nvPr/>
        </p:nvPicPr>
        <p:blipFill>
          <a:blip r:embed="rId4">
            <a:alphaModFix/>
          </a:blip>
          <a:stretch>
            <a:fillRect/>
          </a:stretch>
        </p:blipFill>
        <p:spPr>
          <a:xfrm>
            <a:off x="415700" y="0"/>
            <a:ext cx="3733800" cy="1162050"/>
          </a:xfrm>
          <a:prstGeom prst="rect">
            <a:avLst/>
          </a:prstGeom>
          <a:noFill/>
          <a:ln>
            <a:noFill/>
          </a:ln>
        </p:spPr>
      </p:pic>
      <p:pic>
        <p:nvPicPr>
          <p:cNvPr id="394" name="Google Shape;394;g273e0fc90e8_0_89"/>
          <p:cNvPicPr preferRelativeResize="0"/>
          <p:nvPr/>
        </p:nvPicPr>
        <p:blipFill>
          <a:blip r:embed="rId5">
            <a:alphaModFix/>
          </a:blip>
          <a:stretch>
            <a:fillRect/>
          </a:stretch>
        </p:blipFill>
        <p:spPr>
          <a:xfrm>
            <a:off x="305650" y="2865638"/>
            <a:ext cx="2762250" cy="1419225"/>
          </a:xfrm>
          <a:prstGeom prst="rect">
            <a:avLst/>
          </a:prstGeom>
          <a:noFill/>
          <a:ln>
            <a:noFill/>
          </a:ln>
        </p:spPr>
      </p:pic>
      <p:pic>
        <p:nvPicPr>
          <p:cNvPr id="395" name="Google Shape;395;g273e0fc90e8_0_89"/>
          <p:cNvPicPr preferRelativeResize="0"/>
          <p:nvPr/>
        </p:nvPicPr>
        <p:blipFill>
          <a:blip r:embed="rId6">
            <a:alphaModFix/>
          </a:blip>
          <a:stretch>
            <a:fillRect/>
          </a:stretch>
        </p:blipFill>
        <p:spPr>
          <a:xfrm>
            <a:off x="1" y="4284875"/>
            <a:ext cx="9144000" cy="24613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g273e0fc90e8_0_98"/>
          <p:cNvPicPr preferRelativeResize="0"/>
          <p:nvPr/>
        </p:nvPicPr>
        <p:blipFill>
          <a:blip r:embed="rId3">
            <a:alphaModFix/>
          </a:blip>
          <a:stretch>
            <a:fillRect/>
          </a:stretch>
        </p:blipFill>
        <p:spPr>
          <a:xfrm>
            <a:off x="133300" y="0"/>
            <a:ext cx="5429250" cy="3771900"/>
          </a:xfrm>
          <a:prstGeom prst="rect">
            <a:avLst/>
          </a:prstGeom>
          <a:noFill/>
          <a:ln>
            <a:noFill/>
          </a:ln>
        </p:spPr>
      </p:pic>
      <p:pic>
        <p:nvPicPr>
          <p:cNvPr id="401" name="Google Shape;401;g273e0fc90e8_0_98"/>
          <p:cNvPicPr preferRelativeResize="0"/>
          <p:nvPr/>
        </p:nvPicPr>
        <p:blipFill>
          <a:blip r:embed="rId4">
            <a:alphaModFix/>
          </a:blip>
          <a:stretch>
            <a:fillRect/>
          </a:stretch>
        </p:blipFill>
        <p:spPr>
          <a:xfrm>
            <a:off x="152400" y="3924300"/>
            <a:ext cx="8585475" cy="27813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g273e0fc90e8_0_105"/>
          <p:cNvPicPr preferRelativeResize="0"/>
          <p:nvPr/>
        </p:nvPicPr>
        <p:blipFill>
          <a:blip r:embed="rId3">
            <a:alphaModFix/>
          </a:blip>
          <a:stretch>
            <a:fillRect/>
          </a:stretch>
        </p:blipFill>
        <p:spPr>
          <a:xfrm>
            <a:off x="0" y="3"/>
            <a:ext cx="9143999" cy="3258993"/>
          </a:xfrm>
          <a:prstGeom prst="rect">
            <a:avLst/>
          </a:prstGeom>
          <a:noFill/>
          <a:ln>
            <a:noFill/>
          </a:ln>
        </p:spPr>
      </p:pic>
      <p:pic>
        <p:nvPicPr>
          <p:cNvPr id="407" name="Google Shape;407;g273e0fc90e8_0_105"/>
          <p:cNvPicPr preferRelativeResize="0"/>
          <p:nvPr/>
        </p:nvPicPr>
        <p:blipFill>
          <a:blip r:embed="rId4">
            <a:alphaModFix/>
          </a:blip>
          <a:stretch>
            <a:fillRect/>
          </a:stretch>
        </p:blipFill>
        <p:spPr>
          <a:xfrm>
            <a:off x="152400" y="3411396"/>
            <a:ext cx="8839201" cy="279705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g273e0fc90e8_0_112"/>
          <p:cNvPicPr preferRelativeResize="0"/>
          <p:nvPr/>
        </p:nvPicPr>
        <p:blipFill>
          <a:blip r:embed="rId3">
            <a:alphaModFix/>
          </a:blip>
          <a:stretch>
            <a:fillRect/>
          </a:stretch>
        </p:blipFill>
        <p:spPr>
          <a:xfrm>
            <a:off x="71150" y="0"/>
            <a:ext cx="6038850" cy="3861925"/>
          </a:xfrm>
          <a:prstGeom prst="rect">
            <a:avLst/>
          </a:prstGeom>
          <a:noFill/>
          <a:ln>
            <a:noFill/>
          </a:ln>
        </p:spPr>
      </p:pic>
      <p:pic>
        <p:nvPicPr>
          <p:cNvPr id="413" name="Google Shape;413;g273e0fc90e8_0_112"/>
          <p:cNvPicPr preferRelativeResize="0"/>
          <p:nvPr/>
        </p:nvPicPr>
        <p:blipFill>
          <a:blip r:embed="rId4">
            <a:alphaModFix/>
          </a:blip>
          <a:stretch>
            <a:fillRect/>
          </a:stretch>
        </p:blipFill>
        <p:spPr>
          <a:xfrm>
            <a:off x="6849875" y="267350"/>
            <a:ext cx="2729200" cy="1516222"/>
          </a:xfrm>
          <a:prstGeom prst="rect">
            <a:avLst/>
          </a:prstGeom>
          <a:noFill/>
          <a:ln>
            <a:noFill/>
          </a:ln>
        </p:spPr>
      </p:pic>
      <p:pic>
        <p:nvPicPr>
          <p:cNvPr id="414" name="Google Shape;414;g273e0fc90e8_0_112"/>
          <p:cNvPicPr preferRelativeResize="0"/>
          <p:nvPr/>
        </p:nvPicPr>
        <p:blipFill>
          <a:blip r:embed="rId5">
            <a:alphaModFix/>
          </a:blip>
          <a:stretch>
            <a:fillRect/>
          </a:stretch>
        </p:blipFill>
        <p:spPr>
          <a:xfrm>
            <a:off x="1731500" y="4077700"/>
            <a:ext cx="5681000" cy="27291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g273e0fc90e8_0_120"/>
          <p:cNvPicPr preferRelativeResize="0"/>
          <p:nvPr/>
        </p:nvPicPr>
        <p:blipFill>
          <a:blip r:embed="rId3">
            <a:alphaModFix/>
          </a:blip>
          <a:stretch>
            <a:fillRect/>
          </a:stretch>
        </p:blipFill>
        <p:spPr>
          <a:xfrm>
            <a:off x="71100" y="0"/>
            <a:ext cx="7162800" cy="64198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1"/>
          <p:cNvSpPr txBox="1"/>
          <p:nvPr>
            <p:ph type="title"/>
          </p:nvPr>
        </p:nvSpPr>
        <p:spPr>
          <a:xfrm>
            <a:off x="457200" y="0"/>
            <a:ext cx="822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060">
                <a:solidFill>
                  <a:srgbClr val="FF0000"/>
                </a:solidFill>
                <a:latin typeface="Times New Roman"/>
                <a:ea typeface="Times New Roman"/>
                <a:cs typeface="Times New Roman"/>
                <a:sym typeface="Times New Roman"/>
              </a:rPr>
              <a:t>FACTOR ANALYSIS</a:t>
            </a:r>
            <a:endParaRPr sz="3060">
              <a:solidFill>
                <a:srgbClr val="FF0000"/>
              </a:solidFill>
              <a:latin typeface="Times New Roman"/>
              <a:ea typeface="Times New Roman"/>
              <a:cs typeface="Times New Roman"/>
              <a:sym typeface="Times New Roman"/>
            </a:endParaRPr>
          </a:p>
        </p:txBody>
      </p:sp>
      <p:sp>
        <p:nvSpPr>
          <p:cNvPr id="425" name="Google Shape;425;p21"/>
          <p:cNvSpPr txBox="1"/>
          <p:nvPr>
            <p:ph idx="1" type="body"/>
          </p:nvPr>
        </p:nvSpPr>
        <p:spPr>
          <a:xfrm>
            <a:off x="152400" y="685800"/>
            <a:ext cx="8763000" cy="6019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It is a Statistical Method used to describe variability among observed / correlated variables</a:t>
            </a:r>
            <a:endParaRPr sz="2800">
              <a:latin typeface="Times New Roman"/>
              <a:ea typeface="Times New Roman"/>
              <a:cs typeface="Times New Roman"/>
              <a:sym typeface="Times New Roman"/>
            </a:endParaRPr>
          </a:p>
          <a:p>
            <a:pPr indent="-342900" lvl="0" marL="342900" rtl="0" algn="just">
              <a:spcBef>
                <a:spcPts val="0"/>
              </a:spcBef>
              <a:spcAft>
                <a:spcPts val="0"/>
              </a:spcAft>
              <a:buSzPts val="2800"/>
              <a:buFont typeface="Times New Roman"/>
              <a:buChar char="•"/>
            </a:pPr>
            <a:r>
              <a:rPr lang="en-US" sz="2800">
                <a:latin typeface="Times New Roman"/>
                <a:ea typeface="Times New Roman"/>
                <a:cs typeface="Times New Roman"/>
                <a:sym typeface="Times New Roman"/>
              </a:rPr>
              <a:t>The task of </a:t>
            </a:r>
            <a:r>
              <a:rPr lang="en-US" sz="2800">
                <a:latin typeface="Times New Roman"/>
                <a:ea typeface="Times New Roman"/>
                <a:cs typeface="Times New Roman"/>
                <a:sym typeface="Times New Roman"/>
              </a:rPr>
              <a:t>factor</a:t>
            </a:r>
            <a:r>
              <a:rPr lang="en-US" sz="2800">
                <a:latin typeface="Times New Roman"/>
                <a:ea typeface="Times New Roman"/>
                <a:cs typeface="Times New Roman"/>
                <a:sym typeface="Times New Roman"/>
              </a:rPr>
              <a:t> analysis is to group the variables that are most related or correlated</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The idea of it is whether the data can be explained by a smaller number of uncorrelated factors or latent variables. </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The problem of factor analysis is to find those independent factors, and the noise that is inherent in the measurements of each factor. </a:t>
            </a:r>
            <a:endParaRPr sz="2800">
              <a:latin typeface="Times New Roman"/>
              <a:ea typeface="Times New Roman"/>
              <a:cs typeface="Times New Roman"/>
              <a:sym typeface="Times New Roman"/>
            </a:endParaRPr>
          </a:p>
          <a:p>
            <a:pPr indent="-342900" lvl="0" marL="342900" rtl="0" algn="l">
              <a:spcBef>
                <a:spcPts val="560"/>
              </a:spcBef>
              <a:spcAft>
                <a:spcPts val="0"/>
              </a:spcAft>
              <a:buClr>
                <a:schemeClr val="dk1"/>
              </a:buClr>
              <a:buSzPts val="2800"/>
              <a:buChar char="•"/>
            </a:pPr>
            <a:r>
              <a:rPr lang="en-US" sz="2800">
                <a:latin typeface="Times New Roman"/>
                <a:ea typeface="Times New Roman"/>
                <a:cs typeface="Times New Roman"/>
                <a:sym typeface="Times New Roman"/>
              </a:rPr>
              <a:t>A dataset is in the usual </a:t>
            </a:r>
            <a:r>
              <a:rPr i="1" lang="en-US" sz="2800">
                <a:latin typeface="Times New Roman"/>
                <a:ea typeface="Times New Roman"/>
                <a:cs typeface="Times New Roman"/>
                <a:sym typeface="Times New Roman"/>
              </a:rPr>
              <a:t>N×M matrix </a:t>
            </a:r>
            <a:r>
              <a:rPr b="1" i="1" lang="en-US" sz="2800">
                <a:latin typeface="Times New Roman"/>
                <a:ea typeface="Times New Roman"/>
                <a:cs typeface="Times New Roman"/>
                <a:sym typeface="Times New Roman"/>
              </a:rPr>
              <a:t>X, </a:t>
            </a:r>
            <a:r>
              <a:rPr lang="en-US" sz="2800">
                <a:latin typeface="Times New Roman"/>
                <a:ea typeface="Times New Roman"/>
                <a:cs typeface="Times New Roman"/>
                <a:sym typeface="Times New Roman"/>
              </a:rPr>
              <a:t>i.e., each row of </a:t>
            </a:r>
            <a:r>
              <a:rPr b="1" i="1" lang="en-US" sz="2800">
                <a:latin typeface="Times New Roman"/>
                <a:ea typeface="Times New Roman"/>
                <a:cs typeface="Times New Roman"/>
                <a:sym typeface="Times New Roman"/>
              </a:rPr>
              <a:t>X </a:t>
            </a:r>
            <a:r>
              <a:rPr lang="en-US" sz="2800">
                <a:latin typeface="Times New Roman"/>
                <a:ea typeface="Times New Roman"/>
                <a:cs typeface="Times New Roman"/>
                <a:sym typeface="Times New Roman"/>
              </a:rPr>
              <a:t>is an </a:t>
            </a:r>
            <a:r>
              <a:rPr b="1" lang="en-US" sz="2800">
                <a:latin typeface="Times New Roman"/>
                <a:ea typeface="Times New Roman"/>
                <a:cs typeface="Times New Roman"/>
                <a:sym typeface="Times New Roman"/>
              </a:rPr>
              <a:t>M</a:t>
            </a:r>
            <a:r>
              <a:rPr lang="en-US" sz="2800">
                <a:latin typeface="Times New Roman"/>
                <a:ea typeface="Times New Roman"/>
                <a:cs typeface="Times New Roman"/>
                <a:sym typeface="Times New Roman"/>
              </a:rPr>
              <a:t> dimensional  data point, and </a:t>
            </a:r>
            <a:r>
              <a:rPr b="1" lang="en-US" sz="2800">
                <a:latin typeface="Times New Roman"/>
                <a:ea typeface="Times New Roman"/>
                <a:cs typeface="Times New Roman"/>
                <a:sym typeface="Times New Roman"/>
              </a:rPr>
              <a:t>X </a:t>
            </a:r>
            <a:r>
              <a:rPr lang="en-US" sz="2800">
                <a:latin typeface="Times New Roman"/>
                <a:ea typeface="Times New Roman"/>
                <a:cs typeface="Times New Roman"/>
                <a:sym typeface="Times New Roman"/>
              </a:rPr>
              <a:t>has</a:t>
            </a:r>
            <a:r>
              <a:rPr b="1" lang="en-US" sz="2800">
                <a:latin typeface="Times New Roman"/>
                <a:ea typeface="Times New Roman"/>
                <a:cs typeface="Times New Roman"/>
                <a:sym typeface="Times New Roman"/>
              </a:rPr>
              <a:t> covariance matrix</a:t>
            </a:r>
            <a:endParaRPr sz="2800">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2"/>
          <p:cNvSpPr txBox="1"/>
          <p:nvPr>
            <p:ph idx="1" type="body"/>
          </p:nvPr>
        </p:nvSpPr>
        <p:spPr>
          <a:xfrm>
            <a:off x="152400" y="46037"/>
            <a:ext cx="8839200" cy="6659563"/>
          </a:xfrm>
          <a:prstGeom prst="rect">
            <a:avLst/>
          </a:prstGeom>
          <a:noFill/>
          <a:ln>
            <a:noFill/>
          </a:ln>
        </p:spPr>
        <p:txBody>
          <a:bodyPr anchorCtr="0" anchor="t" bIns="45700" lIns="91425" spcFirstLastPara="1" rIns="91425" wrap="square" tIns="45700">
            <a:noAutofit/>
          </a:bodyPr>
          <a:lstStyle/>
          <a:p>
            <a:pPr indent="-3175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Write the model as: </a:t>
            </a:r>
            <a:r>
              <a:rPr b="1" lang="en-US" sz="2400">
                <a:latin typeface="Times New Roman"/>
                <a:ea typeface="Times New Roman"/>
                <a:cs typeface="Times New Roman"/>
                <a:sym typeface="Times New Roman"/>
              </a:rPr>
              <a:t>X = WY + Ɛ </a:t>
            </a:r>
            <a:r>
              <a:rPr b="1" i="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(6.20)</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Char char="•"/>
            </a:pPr>
            <a:r>
              <a:rPr lang="en-US" sz="2400">
                <a:latin typeface="Times New Roman"/>
                <a:ea typeface="Times New Roman"/>
                <a:cs typeface="Times New Roman"/>
                <a:sym typeface="Times New Roman"/>
              </a:rPr>
              <a:t>where </a:t>
            </a:r>
            <a:r>
              <a:rPr b="1" lang="en-US" sz="2400">
                <a:latin typeface="Times New Roman"/>
                <a:ea typeface="Times New Roman"/>
                <a:cs typeface="Times New Roman"/>
                <a:sym typeface="Times New Roman"/>
              </a:rPr>
              <a:t>X </a:t>
            </a:r>
            <a:r>
              <a:rPr lang="en-US" sz="2400">
                <a:latin typeface="Times New Roman"/>
                <a:ea typeface="Times New Roman"/>
                <a:cs typeface="Times New Roman"/>
                <a:sym typeface="Times New Roman"/>
              </a:rPr>
              <a:t>are the observations and </a:t>
            </a:r>
            <a:r>
              <a:rPr b="1" lang="en-US" sz="2400">
                <a:latin typeface="Times New Roman"/>
                <a:ea typeface="Times New Roman"/>
                <a:cs typeface="Times New Roman"/>
                <a:sym typeface="Times New Roman"/>
              </a:rPr>
              <a:t>Ɛ </a:t>
            </a:r>
            <a:r>
              <a:rPr lang="en-US" sz="2400">
                <a:latin typeface="Times New Roman"/>
                <a:ea typeface="Times New Roman"/>
                <a:cs typeface="Times New Roman"/>
                <a:sym typeface="Times New Roman"/>
              </a:rPr>
              <a:t>is the noise. </a:t>
            </a:r>
            <a:endParaRPr sz="2400">
              <a:latin typeface="Times New Roman"/>
              <a:ea typeface="Times New Roman"/>
              <a:cs typeface="Times New Roman"/>
              <a:sym typeface="Times New Roman"/>
            </a:endParaRPr>
          </a:p>
          <a:p>
            <a:pPr indent="0" lvl="0" marL="342900" rtl="0" algn="just">
              <a:spcBef>
                <a:spcPts val="560"/>
              </a:spcBef>
              <a:spcAft>
                <a:spcPts val="0"/>
              </a:spcAft>
              <a:buNone/>
            </a:pPr>
            <a:r>
              <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Char char="•"/>
            </a:pPr>
            <a:r>
              <a:rPr lang="en-US" sz="2400">
                <a:latin typeface="Times New Roman"/>
                <a:ea typeface="Times New Roman"/>
                <a:cs typeface="Times New Roman"/>
                <a:sym typeface="Times New Roman"/>
              </a:rPr>
              <a:t>Since the factors </a:t>
            </a:r>
            <a:r>
              <a:rPr b="1" lang="en-US" sz="2400">
                <a:latin typeface="Times New Roman"/>
                <a:ea typeface="Times New Roman"/>
                <a:cs typeface="Times New Roman"/>
                <a:sym typeface="Times New Roman"/>
              </a:rPr>
              <a:t>b</a:t>
            </a:r>
            <a:r>
              <a:rPr b="1" baseline="-25000" lang="en-US" sz="2400">
                <a:latin typeface="Times New Roman"/>
                <a:ea typeface="Times New Roman"/>
                <a:cs typeface="Times New Roman"/>
                <a:sym typeface="Times New Roman"/>
              </a:rPr>
              <a:t>i</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that we want to find should be independent, so </a:t>
            </a:r>
            <a:r>
              <a:rPr b="1" lang="en-US" sz="2400">
                <a:latin typeface="Times New Roman"/>
                <a:ea typeface="Times New Roman"/>
                <a:cs typeface="Times New Roman"/>
                <a:sym typeface="Times New Roman"/>
              </a:rPr>
              <a:t>cov(b</a:t>
            </a:r>
            <a:r>
              <a:rPr b="1" baseline="-25000" i="1" lang="en-US" sz="2400">
                <a:latin typeface="Times New Roman"/>
                <a:ea typeface="Times New Roman"/>
                <a:cs typeface="Times New Roman"/>
                <a:sym typeface="Times New Roman"/>
              </a:rPr>
              <a:t>i  </a:t>
            </a:r>
            <a:r>
              <a:rPr b="1" lang="en-US" sz="2400">
                <a:latin typeface="Times New Roman"/>
                <a:ea typeface="Times New Roman"/>
                <a:cs typeface="Times New Roman"/>
                <a:sym typeface="Times New Roman"/>
              </a:rPr>
              <a:t>, b</a:t>
            </a:r>
            <a:r>
              <a:rPr b="1" baseline="-25000" lang="en-US" sz="2400">
                <a:latin typeface="Times New Roman"/>
                <a:ea typeface="Times New Roman"/>
                <a:cs typeface="Times New Roman"/>
                <a:sym typeface="Times New Roman"/>
              </a:rPr>
              <a:t>j</a:t>
            </a:r>
            <a:r>
              <a:rPr b="1" lang="en-US" sz="2400">
                <a:latin typeface="Times New Roman"/>
                <a:ea typeface="Times New Roman"/>
                <a:cs typeface="Times New Roman"/>
                <a:sym typeface="Times New Roman"/>
              </a:rPr>
              <a:t>) = 0 </a:t>
            </a:r>
            <a:r>
              <a:rPr lang="en-US" sz="2400">
                <a:latin typeface="Times New Roman"/>
                <a:ea typeface="Times New Roman"/>
                <a:cs typeface="Times New Roman"/>
                <a:sym typeface="Times New Roman"/>
              </a:rPr>
              <a:t>if i ≠  j</a:t>
            </a:r>
            <a:r>
              <a:rPr b="1" i="1" lang="en-US" sz="2400">
                <a:latin typeface="Times New Roman"/>
                <a:ea typeface="Times New Roman"/>
                <a:cs typeface="Times New Roman"/>
                <a:sym typeface="Times New Roman"/>
              </a:rPr>
              <a:t>. </a:t>
            </a:r>
            <a:endParaRPr b="1" i="1" sz="2400">
              <a:latin typeface="Times New Roman"/>
              <a:ea typeface="Times New Roman"/>
              <a:cs typeface="Times New Roman"/>
              <a:sym typeface="Times New Roman"/>
            </a:endParaRPr>
          </a:p>
          <a:p>
            <a:pPr indent="0" lvl="0" marL="342900" rtl="0" algn="just">
              <a:spcBef>
                <a:spcPts val="560"/>
              </a:spcBef>
              <a:spcAft>
                <a:spcPts val="0"/>
              </a:spcAft>
              <a:buNone/>
            </a:pPr>
            <a:r>
              <a:t/>
            </a:r>
            <a:endParaRPr b="1" i="1"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Char char="•"/>
            </a:pPr>
            <a:r>
              <a:rPr lang="en-US" sz="2400">
                <a:latin typeface="Times New Roman"/>
                <a:ea typeface="Times New Roman"/>
                <a:cs typeface="Times New Roman"/>
                <a:sym typeface="Times New Roman"/>
              </a:rPr>
              <a:t>Factor analysis takes explicit notice of the noise in the data, using the variable </a:t>
            </a:r>
            <a:r>
              <a:rPr b="1" lang="en-US" sz="2400">
                <a:latin typeface="Times New Roman"/>
                <a:ea typeface="Times New Roman"/>
                <a:cs typeface="Times New Roman"/>
                <a:sym typeface="Times New Roman"/>
              </a:rPr>
              <a:t>Ɛ</a:t>
            </a:r>
            <a:r>
              <a:rPr lang="en-US" sz="2400">
                <a:latin typeface="Times New Roman"/>
                <a:ea typeface="Times New Roman"/>
                <a:cs typeface="Times New Roman"/>
                <a:sym typeface="Times New Roman"/>
              </a:rPr>
              <a:t> . </a:t>
            </a:r>
            <a:endParaRPr sz="2400">
              <a:latin typeface="Times New Roman"/>
              <a:ea typeface="Times New Roman"/>
              <a:cs typeface="Times New Roman"/>
              <a:sym typeface="Times New Roman"/>
            </a:endParaRPr>
          </a:p>
          <a:p>
            <a:pPr indent="0" lvl="0" marL="342900" rtl="0" algn="just">
              <a:spcBef>
                <a:spcPts val="560"/>
              </a:spcBef>
              <a:spcAft>
                <a:spcPts val="0"/>
              </a:spcAft>
              <a:buNone/>
            </a:pPr>
            <a:r>
              <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Char char="•"/>
            </a:pPr>
            <a:r>
              <a:rPr lang="en-US" sz="2400">
                <a:latin typeface="Times New Roman"/>
                <a:ea typeface="Times New Roman"/>
                <a:cs typeface="Times New Roman"/>
                <a:sym typeface="Times New Roman"/>
              </a:rPr>
              <a:t>It assumes that the noise is Gaussian with zero mean and some known variance:  </a:t>
            </a:r>
            <a:r>
              <a:rPr b="1" lang="en-US" sz="2400">
                <a:latin typeface="Times New Roman"/>
                <a:ea typeface="Times New Roman"/>
                <a:cs typeface="Times New Roman"/>
                <a:sym typeface="Times New Roman"/>
              </a:rPr>
              <a:t>Ψ </a:t>
            </a:r>
            <a:r>
              <a:rPr lang="en-US" sz="2400">
                <a:latin typeface="Times New Roman"/>
                <a:ea typeface="Times New Roman"/>
                <a:cs typeface="Times New Roman"/>
                <a:sym typeface="Times New Roman"/>
              </a:rPr>
              <a:t>(psi), with the variance of each element being </a:t>
            </a:r>
            <a:endParaRPr sz="24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None/>
            </a:pPr>
            <a:r>
              <a:rPr lang="en-US" sz="2400">
                <a:latin typeface="Times New Roman"/>
                <a:ea typeface="Times New Roman"/>
                <a:cs typeface="Times New Roman"/>
                <a:sym typeface="Times New Roman"/>
              </a:rPr>
              <a:t>                       Ψ</a:t>
            </a:r>
            <a:r>
              <a:rPr baseline="-25000" lang="en-US" sz="2400">
                <a:latin typeface="Times New Roman"/>
                <a:ea typeface="Times New Roman"/>
                <a:cs typeface="Times New Roman"/>
                <a:sym typeface="Times New Roman"/>
              </a:rPr>
              <a:t> i </a:t>
            </a:r>
            <a:r>
              <a:rPr lang="en-US" sz="2400">
                <a:latin typeface="Times New Roman"/>
                <a:ea typeface="Times New Roman"/>
                <a:cs typeface="Times New Roman"/>
                <a:sym typeface="Times New Roman"/>
              </a:rPr>
              <a:t>= var(</a:t>
            </a:r>
            <a:r>
              <a:rPr b="1" lang="en-US" sz="2400">
                <a:latin typeface="Times New Roman"/>
                <a:ea typeface="Times New Roman"/>
                <a:cs typeface="Times New Roman"/>
                <a:sym typeface="Times New Roman"/>
              </a:rPr>
              <a:t>Ɛ </a:t>
            </a:r>
            <a:r>
              <a:rPr b="1" baseline="-25000" lang="en-US" sz="2400">
                <a:latin typeface="Times New Roman"/>
                <a:ea typeface="Times New Roman"/>
                <a:cs typeface="Times New Roman"/>
                <a:sym typeface="Times New Roman"/>
              </a:rPr>
              <a:t>i</a:t>
            </a:r>
            <a:r>
              <a:rPr lang="en-US" sz="2400">
                <a:latin typeface="Times New Roman"/>
                <a:ea typeface="Times New Roman"/>
                <a:cs typeface="Times New Roman"/>
                <a:sym typeface="Times New Roman"/>
              </a:rPr>
              <a:t>)</a:t>
            </a:r>
            <a:r>
              <a:rPr i="1" lang="en-US" sz="2400">
                <a:latin typeface="Times New Roman"/>
                <a:ea typeface="Times New Roman"/>
                <a:cs typeface="Times New Roman"/>
                <a:sym typeface="Times New Roman"/>
              </a:rPr>
              <a:t> </a:t>
            </a:r>
            <a:endParaRPr i="1" sz="24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None/>
            </a:pPr>
            <a:r>
              <a:t/>
            </a:r>
            <a:endParaRPr i="1"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Noise measurements are independent of each other, as the data come from a set of separate (independent) physical processes. </a:t>
            </a:r>
            <a:endParaRPr sz="2400">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3"/>
          <p:cNvSpPr txBox="1"/>
          <p:nvPr>
            <p:ph idx="1" type="body"/>
          </p:nvPr>
        </p:nvSpPr>
        <p:spPr>
          <a:xfrm>
            <a:off x="228600" y="228600"/>
            <a:ext cx="8763000" cy="6400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Aim of factor analysis is to try to find a set of factor loadings </a:t>
            </a:r>
            <a:r>
              <a:rPr b="1" lang="en-US" sz="2800"/>
              <a:t>W</a:t>
            </a:r>
            <a:r>
              <a:rPr b="1" baseline="-25000" lang="en-US" sz="2800"/>
              <a:t>ij</a:t>
            </a:r>
            <a:r>
              <a:rPr b="1" i="1" lang="en-US" sz="2800"/>
              <a:t> </a:t>
            </a:r>
            <a:r>
              <a:rPr lang="en-US" sz="2800"/>
              <a:t>and values for the variance of the noise parameters </a:t>
            </a:r>
            <a:r>
              <a:rPr b="1" lang="en-US" sz="2800"/>
              <a:t>Ψ</a:t>
            </a:r>
            <a:r>
              <a:rPr lang="en-US" sz="2800"/>
              <a:t>.</a:t>
            </a:r>
            <a:endParaRPr/>
          </a:p>
          <a:p>
            <a:pPr indent="-342900" lvl="0" marL="342900" rtl="0" algn="just">
              <a:spcBef>
                <a:spcPts val="560"/>
              </a:spcBef>
              <a:spcAft>
                <a:spcPts val="0"/>
              </a:spcAft>
              <a:buClr>
                <a:schemeClr val="dk1"/>
              </a:buClr>
              <a:buSzPts val="2800"/>
              <a:buChar char="•"/>
            </a:pPr>
            <a:r>
              <a:rPr lang="en-US" sz="2800"/>
              <a:t>Data in </a:t>
            </a:r>
            <a:r>
              <a:rPr b="1" lang="en-US" sz="2800"/>
              <a:t>X</a:t>
            </a:r>
            <a:r>
              <a:rPr b="1" i="1" lang="en-US" sz="2800"/>
              <a:t> </a:t>
            </a:r>
            <a:r>
              <a:rPr lang="en-US" sz="2800"/>
              <a:t>can be reconstructed from the parameters, or so that we can perform dimensionality reduction.</a:t>
            </a:r>
            <a:endParaRPr/>
          </a:p>
          <a:p>
            <a:pPr indent="-342900" lvl="0" marL="342900" rtl="0" algn="just">
              <a:spcBef>
                <a:spcPts val="560"/>
              </a:spcBef>
              <a:spcAft>
                <a:spcPts val="0"/>
              </a:spcAft>
              <a:buClr>
                <a:schemeClr val="dk1"/>
              </a:buClr>
              <a:buSzPts val="2800"/>
              <a:buChar char="•"/>
            </a:pPr>
            <a:r>
              <a:rPr lang="en-US" sz="2800"/>
              <a:t>Adding additional variables, the natural formulation is an </a:t>
            </a:r>
            <a:r>
              <a:rPr b="1" lang="en-US" sz="2800"/>
              <a:t>EM</a:t>
            </a:r>
            <a:r>
              <a:rPr lang="en-US" sz="2800"/>
              <a:t> algorithm and this is how the computations are usually performed to produce the maximum likelihood estimate. </a:t>
            </a:r>
            <a:endParaRPr/>
          </a:p>
          <a:p>
            <a:pPr indent="-342900" lvl="0" marL="342900" rtl="0" algn="just">
              <a:spcBef>
                <a:spcPts val="560"/>
              </a:spcBef>
              <a:spcAft>
                <a:spcPts val="0"/>
              </a:spcAft>
              <a:buClr>
                <a:schemeClr val="dk1"/>
              </a:buClr>
              <a:buSzPts val="2800"/>
              <a:buChar char="•"/>
            </a:pPr>
            <a:r>
              <a:rPr lang="en-US" sz="2800"/>
              <a:t>Getting to the EM algorithm takes some effort. </a:t>
            </a:r>
            <a:endParaRPr/>
          </a:p>
          <a:p>
            <a:pPr indent="-342900" lvl="0" marL="342900" rtl="0" algn="just">
              <a:spcBef>
                <a:spcPts val="560"/>
              </a:spcBef>
              <a:spcAft>
                <a:spcPts val="0"/>
              </a:spcAft>
              <a:buClr>
                <a:schemeClr val="dk1"/>
              </a:buClr>
              <a:buSzPts val="2800"/>
              <a:buChar char="•"/>
            </a:pPr>
            <a:r>
              <a:rPr lang="en-US" sz="2800"/>
              <a:t>Replace several of the terms with values, and ignore any terms that do not depend on </a:t>
            </a:r>
            <a:r>
              <a:rPr i="1" lang="en-US" sz="2800"/>
              <a:t>Ɵ</a:t>
            </a:r>
            <a:r>
              <a:rPr lang="en-US" sz="2800"/>
              <a:t> .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4"/>
          <p:cNvSpPr txBox="1"/>
          <p:nvPr>
            <p:ph idx="1" type="body"/>
          </p:nvPr>
        </p:nvSpPr>
        <p:spPr>
          <a:xfrm>
            <a:off x="152400" y="228600"/>
            <a:ext cx="8839200" cy="6400800"/>
          </a:xfrm>
          <a:prstGeom prst="rect">
            <a:avLst/>
          </a:prstGeom>
          <a:noFill/>
          <a:ln>
            <a:noFill/>
          </a:ln>
        </p:spPr>
        <p:txBody>
          <a:bodyPr anchorCtr="0" anchor="t" bIns="45700" lIns="91425" spcFirstLastPara="1" rIns="91425" wrap="square" tIns="45700">
            <a:normAutofit/>
          </a:bodyPr>
          <a:lstStyle/>
          <a:p>
            <a:pPr indent="-190500" lvl="0" marL="342900" rtl="0" algn="just">
              <a:spcBef>
                <a:spcPts val="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EM algorithm we have to differentiate this with respect to </a:t>
            </a:r>
            <a:r>
              <a:rPr b="1" lang="en-US" sz="2400"/>
              <a:t>W </a:t>
            </a:r>
            <a:r>
              <a:rPr lang="en-US" sz="2400"/>
              <a:t>and the individual elements of </a:t>
            </a:r>
            <a:r>
              <a:rPr b="1" lang="en-US" sz="2400"/>
              <a:t>Ψ</a:t>
            </a:r>
            <a:r>
              <a:rPr lang="en-US" sz="2400"/>
              <a:t>, and apply some linear algebra, to get update rules. </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where diagonal() ensures that the matrix retains values only on the diagonal and the expectations are:</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Need to add to the algorithm is some way to decide when to stop, which involves computing the log likelihood and stopping the algorithm when it stops descending.</a:t>
            </a:r>
            <a:endParaRPr sz="2400"/>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p:txBody>
      </p:sp>
      <p:pic>
        <p:nvPicPr>
          <p:cNvPr id="441" name="Google Shape;441;p24"/>
          <p:cNvPicPr preferRelativeResize="0"/>
          <p:nvPr/>
        </p:nvPicPr>
        <p:blipFill rotWithShape="1">
          <a:blip r:embed="rId3">
            <a:alphaModFix/>
          </a:blip>
          <a:srcRect b="0" l="0" r="0" t="0"/>
          <a:stretch/>
        </p:blipFill>
        <p:spPr>
          <a:xfrm>
            <a:off x="2895600" y="1600200"/>
            <a:ext cx="6019800" cy="990600"/>
          </a:xfrm>
          <a:prstGeom prst="rect">
            <a:avLst/>
          </a:prstGeom>
          <a:noFill/>
          <a:ln>
            <a:noFill/>
          </a:ln>
        </p:spPr>
      </p:pic>
      <p:pic>
        <p:nvPicPr>
          <p:cNvPr id="442" name="Google Shape;442;p24"/>
          <p:cNvPicPr preferRelativeResize="0"/>
          <p:nvPr/>
        </p:nvPicPr>
        <p:blipFill rotWithShape="1">
          <a:blip r:embed="rId4">
            <a:alphaModFix/>
          </a:blip>
          <a:srcRect b="0" l="0" r="0" t="0"/>
          <a:stretch/>
        </p:blipFill>
        <p:spPr>
          <a:xfrm>
            <a:off x="1219200" y="3657600"/>
            <a:ext cx="6705600" cy="1143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5"/>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40"/>
              <a:buFont typeface="Calibri"/>
              <a:buNone/>
            </a:pPr>
            <a:r>
              <a:rPr lang="en-US" sz="2740">
                <a:solidFill>
                  <a:srgbClr val="FF0000"/>
                </a:solidFill>
                <a:latin typeface="Times New Roman"/>
                <a:ea typeface="Times New Roman"/>
                <a:cs typeface="Times New Roman"/>
                <a:sym typeface="Times New Roman"/>
              </a:rPr>
              <a:t>INDEPENDENT COMPONENTS ANALYSIS (ICA)</a:t>
            </a:r>
            <a:endParaRPr sz="3459">
              <a:solidFill>
                <a:srgbClr val="FF0000"/>
              </a:solidFill>
              <a:latin typeface="Times New Roman"/>
              <a:ea typeface="Times New Roman"/>
              <a:cs typeface="Times New Roman"/>
              <a:sym typeface="Times New Roman"/>
            </a:endParaRPr>
          </a:p>
        </p:txBody>
      </p:sp>
      <p:sp>
        <p:nvSpPr>
          <p:cNvPr id="448" name="Google Shape;448;p25"/>
          <p:cNvSpPr txBox="1"/>
          <p:nvPr>
            <p:ph idx="1" type="body"/>
          </p:nvPr>
        </p:nvSpPr>
        <p:spPr>
          <a:xfrm>
            <a:off x="304800" y="1219200"/>
            <a:ext cx="8610600" cy="5257800"/>
          </a:xfrm>
          <a:prstGeom prst="rect">
            <a:avLst/>
          </a:prstGeom>
          <a:noFill/>
          <a:ln>
            <a:noFill/>
          </a:ln>
        </p:spPr>
        <p:txBody>
          <a:bodyPr anchorCtr="0" anchor="t" bIns="45700" lIns="91425" spcFirstLastPara="1" rIns="91425" wrap="square" tIns="45700">
            <a:normAutofit fontScale="70000" lnSpcReduction="10000"/>
          </a:bodyPr>
          <a:lstStyle/>
          <a:p>
            <a:pPr indent="-312419" lvl="0" marL="342900" rtl="0" algn="just">
              <a:spcBef>
                <a:spcPts val="0"/>
              </a:spcBef>
              <a:spcAft>
                <a:spcPts val="0"/>
              </a:spcAft>
              <a:buClr>
                <a:schemeClr val="dk1"/>
              </a:buClr>
              <a:buSzPct val="100000"/>
              <a:buFont typeface="Times New Roman"/>
              <a:buChar char="•"/>
            </a:pPr>
            <a:r>
              <a:rPr lang="en-US">
                <a:latin typeface="Times New Roman"/>
                <a:ea typeface="Times New Roman"/>
                <a:cs typeface="Times New Roman"/>
                <a:sym typeface="Times New Roman"/>
              </a:rPr>
              <a:t>There is a related approach to factor analysis that is known as Independent Components Analysis.</a:t>
            </a:r>
            <a:endParaRPr>
              <a:latin typeface="Times New Roman"/>
              <a:ea typeface="Times New Roman"/>
              <a:cs typeface="Times New Roman"/>
              <a:sym typeface="Times New Roman"/>
            </a:endParaRPr>
          </a:p>
          <a:p>
            <a:pPr indent="-312419"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In PCA, the components were chosen so that they were orthogonal and uncorrelated (so that the covariance matrix was diagonal, i.e., so </a:t>
            </a:r>
            <a:r>
              <a:rPr b="1" lang="en-US">
                <a:latin typeface="Times New Roman"/>
                <a:ea typeface="Times New Roman"/>
                <a:cs typeface="Times New Roman"/>
                <a:sym typeface="Times New Roman"/>
              </a:rPr>
              <a:t>cov</a:t>
            </a:r>
            <a:r>
              <a:rPr lang="en-US">
                <a:latin typeface="Times New Roman"/>
                <a:ea typeface="Times New Roman"/>
                <a:cs typeface="Times New Roman"/>
                <a:sym typeface="Times New Roman"/>
              </a:rPr>
              <a:t>(</a:t>
            </a:r>
            <a:r>
              <a:rPr b="1" lang="en-US">
                <a:latin typeface="Times New Roman"/>
                <a:ea typeface="Times New Roman"/>
                <a:cs typeface="Times New Roman"/>
                <a:sym typeface="Times New Roman"/>
              </a:rPr>
              <a:t>b</a:t>
            </a:r>
            <a:r>
              <a:rPr b="1" baseline="-25000" lang="en-US">
                <a:latin typeface="Times New Roman"/>
                <a:ea typeface="Times New Roman"/>
                <a:cs typeface="Times New Roman"/>
                <a:sym typeface="Times New Roman"/>
              </a:rPr>
              <a:t>i  </a:t>
            </a:r>
            <a:r>
              <a:rPr b="1" i="1"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b</a:t>
            </a:r>
            <a:r>
              <a:rPr b="1" baseline="-25000" lang="en-US">
                <a:latin typeface="Times New Roman"/>
                <a:ea typeface="Times New Roman"/>
                <a:cs typeface="Times New Roman"/>
                <a:sym typeface="Times New Roman"/>
              </a:rPr>
              <a:t>j</a:t>
            </a:r>
            <a:r>
              <a:rPr b="1" lang="en-US">
                <a:latin typeface="Times New Roman"/>
                <a:ea typeface="Times New Roman"/>
                <a:cs typeface="Times New Roman"/>
                <a:sym typeface="Times New Roman"/>
              </a:rPr>
              <a:t>) = 0 if </a:t>
            </a:r>
            <a:r>
              <a:rPr lang="en-US">
                <a:latin typeface="Times New Roman"/>
                <a:ea typeface="Times New Roman"/>
                <a:cs typeface="Times New Roman"/>
                <a:sym typeface="Times New Roman"/>
              </a:rPr>
              <a:t>i ≠  j). </a:t>
            </a:r>
            <a:endParaRPr>
              <a:latin typeface="Times New Roman"/>
              <a:ea typeface="Times New Roman"/>
              <a:cs typeface="Times New Roman"/>
              <a:sym typeface="Times New Roman"/>
            </a:endParaRPr>
          </a:p>
          <a:p>
            <a:pPr indent="-312419"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The components are statistically independent (</a:t>
            </a:r>
            <a:r>
              <a:rPr b="1" lang="en-US">
                <a:latin typeface="Times New Roman"/>
                <a:ea typeface="Times New Roman"/>
                <a:cs typeface="Times New Roman"/>
                <a:sym typeface="Times New Roman"/>
              </a:rPr>
              <a:t>E[b</a:t>
            </a:r>
            <a:r>
              <a:rPr b="1" baseline="-25000" lang="en-US">
                <a:latin typeface="Times New Roman"/>
                <a:ea typeface="Times New Roman"/>
                <a:cs typeface="Times New Roman"/>
                <a:sym typeface="Times New Roman"/>
              </a:rPr>
              <a:t>i </a:t>
            </a:r>
            <a:r>
              <a:rPr b="1" lang="en-US">
                <a:latin typeface="Times New Roman"/>
                <a:ea typeface="Times New Roman"/>
                <a:cs typeface="Times New Roman"/>
                <a:sym typeface="Times New Roman"/>
              </a:rPr>
              <a:t>, b</a:t>
            </a:r>
            <a:r>
              <a:rPr b="1" baseline="-25000" lang="en-US">
                <a:latin typeface="Times New Roman"/>
                <a:ea typeface="Times New Roman"/>
                <a:cs typeface="Times New Roman"/>
                <a:sym typeface="Times New Roman"/>
              </a:rPr>
              <a:t>j</a:t>
            </a:r>
            <a:r>
              <a:rPr b="1" lang="en-US">
                <a:latin typeface="Times New Roman"/>
                <a:ea typeface="Times New Roman"/>
                <a:cs typeface="Times New Roman"/>
                <a:sym typeface="Times New Roman"/>
              </a:rPr>
              <a:t>] = E[b</a:t>
            </a:r>
            <a:r>
              <a:rPr b="1" baseline="-25000" lang="en-US">
                <a:latin typeface="Times New Roman"/>
                <a:ea typeface="Times New Roman"/>
                <a:cs typeface="Times New Roman"/>
                <a:sym typeface="Times New Roman"/>
              </a:rPr>
              <a:t>i</a:t>
            </a:r>
            <a:r>
              <a:rPr b="1" lang="en-US">
                <a:latin typeface="Times New Roman"/>
                <a:ea typeface="Times New Roman"/>
                <a:cs typeface="Times New Roman"/>
                <a:sym typeface="Times New Roman"/>
              </a:rPr>
              <a:t>]E[b</a:t>
            </a:r>
            <a:r>
              <a:rPr b="1" baseline="-25000" lang="en-US">
                <a:latin typeface="Times New Roman"/>
                <a:ea typeface="Times New Roman"/>
                <a:cs typeface="Times New Roman"/>
                <a:sym typeface="Times New Roman"/>
              </a:rPr>
              <a:t>j</a:t>
            </a:r>
            <a:r>
              <a:rPr b="1" lang="en-US">
                <a:latin typeface="Times New Roman"/>
                <a:ea typeface="Times New Roman"/>
                <a:cs typeface="Times New Roman"/>
                <a:sym typeface="Times New Roman"/>
              </a:rPr>
              <a:t>] </a:t>
            </a:r>
            <a:r>
              <a:rPr lang="en-US">
                <a:latin typeface="Times New Roman"/>
                <a:ea typeface="Times New Roman"/>
                <a:cs typeface="Times New Roman"/>
                <a:sym typeface="Times New Roman"/>
              </a:rPr>
              <a:t>as well as the </a:t>
            </a:r>
            <a:r>
              <a:rPr b="1" lang="en-US">
                <a:latin typeface="Times New Roman"/>
                <a:ea typeface="Times New Roman"/>
                <a:cs typeface="Times New Roman"/>
                <a:sym typeface="Times New Roman"/>
              </a:rPr>
              <a:t>b</a:t>
            </a:r>
            <a:r>
              <a:rPr b="1" baseline="-25000" lang="en-US">
                <a:latin typeface="Times New Roman"/>
                <a:ea typeface="Times New Roman"/>
                <a:cs typeface="Times New Roman"/>
                <a:sym typeface="Times New Roman"/>
              </a:rPr>
              <a:t>i</a:t>
            </a:r>
            <a:r>
              <a:rPr baseline="-25000" lang="en-US">
                <a:latin typeface="Times New Roman"/>
                <a:ea typeface="Times New Roman"/>
                <a:cs typeface="Times New Roman"/>
                <a:sym typeface="Times New Roman"/>
              </a:rPr>
              <a:t> </a:t>
            </a:r>
            <a:r>
              <a:rPr lang="en-US">
                <a:latin typeface="Times New Roman"/>
                <a:ea typeface="Times New Roman"/>
                <a:cs typeface="Times New Roman"/>
                <a:sym typeface="Times New Roman"/>
              </a:rPr>
              <a:t>being uncorrelated), then we get </a:t>
            </a:r>
            <a:r>
              <a:rPr b="1" lang="en-US">
                <a:latin typeface="Times New Roman"/>
                <a:ea typeface="Times New Roman"/>
                <a:cs typeface="Times New Roman"/>
                <a:sym typeface="Times New Roman"/>
              </a:rPr>
              <a:t>ICA</a:t>
            </a:r>
            <a:r>
              <a:rPr i="1"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12419"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The common motivation for </a:t>
            </a:r>
            <a:r>
              <a:rPr b="1" lang="en-US">
                <a:latin typeface="Times New Roman"/>
                <a:ea typeface="Times New Roman"/>
                <a:cs typeface="Times New Roman"/>
                <a:sym typeface="Times New Roman"/>
              </a:rPr>
              <a:t>ICA</a:t>
            </a:r>
            <a:r>
              <a:rPr lang="en-US">
                <a:latin typeface="Times New Roman"/>
                <a:ea typeface="Times New Roman"/>
                <a:cs typeface="Times New Roman"/>
                <a:sym typeface="Times New Roman"/>
              </a:rPr>
              <a:t> is the problem of blind source separation. </a:t>
            </a:r>
            <a:endParaRPr>
              <a:latin typeface="Times New Roman"/>
              <a:ea typeface="Times New Roman"/>
              <a:cs typeface="Times New Roman"/>
              <a:sym typeface="Times New Roman"/>
            </a:endParaRPr>
          </a:p>
          <a:p>
            <a:pPr indent="-312419" lvl="0" marL="342900" rtl="0" algn="just">
              <a:spcBef>
                <a:spcPts val="544"/>
              </a:spcBef>
              <a:spcAft>
                <a:spcPts val="0"/>
              </a:spcAft>
              <a:buClr>
                <a:schemeClr val="dk1"/>
              </a:buClr>
              <a:buSzPct val="100000"/>
              <a:buFont typeface="Times New Roman"/>
              <a:buChar char="•"/>
            </a:pPr>
            <a:r>
              <a:rPr lang="en-US">
                <a:latin typeface="Times New Roman"/>
                <a:ea typeface="Times New Roman"/>
                <a:cs typeface="Times New Roman"/>
                <a:sym typeface="Times New Roman"/>
              </a:rPr>
              <a:t>As with factor analysis, the assumption is that the data we see are actually created by a set of underlying physical processes that are independent. </a:t>
            </a:r>
            <a:endParaRPr>
              <a:latin typeface="Times New Roman"/>
              <a:ea typeface="Times New Roman"/>
              <a:cs typeface="Times New Roman"/>
              <a:sym typeface="Times New Roman"/>
            </a:endParaRPr>
          </a:p>
          <a:p>
            <a:pPr indent="-170180" lvl="0" marL="342900" rtl="0" algn="just">
              <a:spcBef>
                <a:spcPts val="544"/>
              </a:spcBef>
              <a:spcAft>
                <a:spcPts val="0"/>
              </a:spcAft>
              <a:buClr>
                <a:schemeClr val="dk1"/>
              </a:buClr>
              <a:buSzPct val="100000"/>
              <a:buNone/>
            </a:pPr>
            <a:r>
              <a:t/>
            </a:r>
            <a:endParaRPr>
              <a:latin typeface="Times New Roman"/>
              <a:ea typeface="Times New Roman"/>
              <a:cs typeface="Times New Roman"/>
              <a:sym typeface="Times New Roman"/>
            </a:endParaRPr>
          </a:p>
          <a:p>
            <a:pPr indent="-170180" lvl="0" marL="342900" rtl="0" algn="just">
              <a:spcBef>
                <a:spcPts val="544"/>
              </a:spcBef>
              <a:spcAft>
                <a:spcPts val="0"/>
              </a:spcAft>
              <a:buClr>
                <a:schemeClr val="dk1"/>
              </a:buClr>
              <a:buSzPct val="100000"/>
              <a:buNone/>
            </a:pPr>
            <a:r>
              <a:t/>
            </a:r>
            <a:endParaRPr>
              <a:solidFill>
                <a:srgbClr val="FF0000"/>
              </a:solidFill>
              <a:latin typeface="Times New Roman"/>
              <a:ea typeface="Times New Roman"/>
              <a:cs typeface="Times New Roman"/>
              <a:sym typeface="Times New Roman"/>
            </a:endParaRPr>
          </a:p>
          <a:p>
            <a:pPr indent="-170180" lvl="0" marL="342900" rtl="0" algn="l">
              <a:spcBef>
                <a:spcPts val="544"/>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6"/>
          <p:cNvSpPr txBox="1"/>
          <p:nvPr>
            <p:ph idx="1" type="body"/>
          </p:nvPr>
        </p:nvSpPr>
        <p:spPr>
          <a:xfrm>
            <a:off x="152400" y="228600"/>
            <a:ext cx="8839200" cy="6477000"/>
          </a:xfrm>
          <a:prstGeom prst="rect">
            <a:avLst/>
          </a:prstGeom>
          <a:noFill/>
          <a:ln>
            <a:noFill/>
          </a:ln>
        </p:spPr>
        <p:txBody>
          <a:bodyPr anchorCtr="0" anchor="t" bIns="45700" lIns="91425" spcFirstLastPara="1" rIns="91425" wrap="square" tIns="45700">
            <a:normAutofit/>
          </a:bodyPr>
          <a:lstStyle/>
          <a:p>
            <a:pPr indent="-323850" lvl="0" marL="342900" rtl="0" algn="just">
              <a:spcBef>
                <a:spcPts val="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most popular way to describe blind source separation is known as the cocktail party problem. </a:t>
            </a:r>
            <a:endParaRPr sz="2500">
              <a:latin typeface="Times New Roman"/>
              <a:ea typeface="Times New Roman"/>
              <a:cs typeface="Times New Roman"/>
              <a:sym typeface="Times New Roman"/>
            </a:endParaRPr>
          </a:p>
          <a:p>
            <a:pPr indent="0" lvl="0" marL="342900" rtl="0" algn="just">
              <a:spcBef>
                <a:spcPts val="0"/>
              </a:spcBef>
              <a:spcAft>
                <a:spcPts val="0"/>
              </a:spcAft>
              <a:buNone/>
            </a:pPr>
            <a:r>
              <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If you are at a party, then your ears hear lots of different sounds coming from lots of different locations (different people talking, the clink of glasses, background music, etc.) but you are somehow able to focus on the voice of the people you are talking to, and can in fact separate out the sounds from all of the different sources even though they are mixed together.</a:t>
            </a:r>
            <a:endParaRPr sz="2500">
              <a:latin typeface="Times New Roman"/>
              <a:ea typeface="Times New Roman"/>
              <a:cs typeface="Times New Roman"/>
              <a:sym typeface="Times New Roman"/>
            </a:endParaRPr>
          </a:p>
          <a:p>
            <a:pPr indent="0" lvl="0" marL="342900" rtl="0" algn="just">
              <a:spcBef>
                <a:spcPts val="560"/>
              </a:spcBef>
              <a:spcAft>
                <a:spcPts val="0"/>
              </a:spcAft>
              <a:buNone/>
            </a:pPr>
            <a:r>
              <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cocktail party problem is the challenge of separating out these sources, although there is one wrinkle: for the algorithm to work, you need as many ears as there are sources. </a:t>
            </a:r>
            <a:endParaRPr sz="2500">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7"/>
          <p:cNvSpPr txBox="1"/>
          <p:nvPr>
            <p:ph idx="1" type="body"/>
          </p:nvPr>
        </p:nvSpPr>
        <p:spPr>
          <a:xfrm>
            <a:off x="152400" y="228600"/>
            <a:ext cx="8839200" cy="6477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t>This is because the algorithm does not have the information we have about what things sound like.</a:t>
            </a:r>
            <a:endParaRPr/>
          </a:p>
          <a:p>
            <a:pPr indent="-342900" lvl="0" marL="342900" rtl="0" algn="just">
              <a:spcBef>
                <a:spcPts val="480"/>
              </a:spcBef>
              <a:spcAft>
                <a:spcPts val="0"/>
              </a:spcAft>
              <a:buClr>
                <a:schemeClr val="dk1"/>
              </a:buClr>
              <a:buSzPts val="2400"/>
              <a:buChar char="•"/>
            </a:pPr>
            <a:r>
              <a:rPr lang="en-US" sz="2400"/>
              <a:t>Suppose that we have two sources making noise (     </a:t>
            </a:r>
            <a:r>
              <a:rPr i="1" lang="en-US" sz="2400"/>
              <a:t>,      ) where the top index covers the </a:t>
            </a:r>
            <a:r>
              <a:rPr lang="en-US" sz="2400"/>
              <a:t>fact that there are lots of data points appearing over time, and two microphones that hear things, giving inputs (        </a:t>
            </a:r>
            <a:r>
              <a:rPr i="1" lang="en-US" sz="2400"/>
              <a:t>,      ). The sounds that are heard come from the sources as:</a:t>
            </a:r>
            <a:endParaRPr/>
          </a:p>
          <a:p>
            <a:pPr indent="-342900" lvl="0" marL="342900" rtl="0" algn="l">
              <a:spcBef>
                <a:spcPts val="480"/>
              </a:spcBef>
              <a:spcAft>
                <a:spcPts val="0"/>
              </a:spcAft>
              <a:buClr>
                <a:schemeClr val="dk1"/>
              </a:buClr>
              <a:buSzPts val="2400"/>
              <a:buNone/>
            </a:pPr>
            <a:r>
              <a:rPr i="1" lang="en-US" sz="2400"/>
              <a:t>              x</a:t>
            </a:r>
            <a:r>
              <a:rPr baseline="-25000" i="1" lang="en-US" sz="2400"/>
              <a:t>1</a:t>
            </a:r>
            <a:r>
              <a:rPr i="1" lang="en-US" sz="2400"/>
              <a:t> = as</a:t>
            </a:r>
            <a:r>
              <a:rPr baseline="-25000" i="1" lang="en-US" sz="2400"/>
              <a:t>1</a:t>
            </a:r>
            <a:r>
              <a:rPr i="1" lang="en-US" sz="2400"/>
              <a:t> + bs</a:t>
            </a:r>
            <a:r>
              <a:rPr baseline="-25000" i="1" lang="en-US" sz="2400"/>
              <a:t>2</a:t>
            </a:r>
            <a:r>
              <a:rPr i="1" lang="en-US" sz="2400"/>
              <a:t>   ---   (6.27)</a:t>
            </a:r>
            <a:endParaRPr/>
          </a:p>
          <a:p>
            <a:pPr indent="-342900" lvl="0" marL="342900" rtl="0" algn="l">
              <a:spcBef>
                <a:spcPts val="480"/>
              </a:spcBef>
              <a:spcAft>
                <a:spcPts val="0"/>
              </a:spcAft>
              <a:buClr>
                <a:schemeClr val="dk1"/>
              </a:buClr>
              <a:buSzPts val="2400"/>
              <a:buNone/>
            </a:pPr>
            <a:r>
              <a:rPr i="1" lang="en-US" sz="2400"/>
              <a:t>              x</a:t>
            </a:r>
            <a:r>
              <a:rPr baseline="-25000" i="1" lang="en-US" sz="2400"/>
              <a:t>2</a:t>
            </a:r>
            <a:r>
              <a:rPr i="1" lang="en-US" sz="2400"/>
              <a:t> = cs</a:t>
            </a:r>
            <a:r>
              <a:rPr baseline="-25000" i="1" lang="en-US" sz="2400"/>
              <a:t>1</a:t>
            </a:r>
            <a:r>
              <a:rPr i="1" lang="en-US" sz="2400"/>
              <a:t> + ds</a:t>
            </a:r>
            <a:r>
              <a:rPr baseline="-25000" i="1" lang="en-US" sz="2400"/>
              <a:t>2</a:t>
            </a:r>
            <a:r>
              <a:rPr i="1" lang="en-US" sz="2400"/>
              <a:t>  --- (6.28)</a:t>
            </a:r>
            <a:endParaRPr/>
          </a:p>
          <a:p>
            <a:pPr indent="-342900" lvl="0" marL="342900" rtl="0" algn="l">
              <a:spcBef>
                <a:spcPts val="480"/>
              </a:spcBef>
              <a:spcAft>
                <a:spcPts val="0"/>
              </a:spcAft>
              <a:buClr>
                <a:schemeClr val="dk1"/>
              </a:buClr>
              <a:buSzPts val="2400"/>
              <a:buChar char="•"/>
            </a:pPr>
            <a:r>
              <a:rPr lang="en-US" sz="2400"/>
              <a:t>which can be written in matrix form as:   </a:t>
            </a:r>
            <a:r>
              <a:rPr b="1" lang="en-US" sz="2400"/>
              <a:t>x = As</a:t>
            </a:r>
            <a:r>
              <a:rPr b="1" i="1" lang="en-US" sz="2400"/>
              <a:t>   </a:t>
            </a:r>
            <a:r>
              <a:rPr lang="en-US" sz="2400"/>
              <a:t>----  (6.29)</a:t>
            </a:r>
            <a:endParaRPr/>
          </a:p>
          <a:p>
            <a:pPr indent="-342900" lvl="0" marL="342900" rtl="0" algn="l">
              <a:spcBef>
                <a:spcPts val="480"/>
              </a:spcBef>
              <a:spcAft>
                <a:spcPts val="0"/>
              </a:spcAft>
              <a:buClr>
                <a:schemeClr val="dk1"/>
              </a:buClr>
              <a:buSzPts val="2400"/>
              <a:buChar char="•"/>
            </a:pPr>
            <a:r>
              <a:rPr lang="en-US" sz="2400"/>
              <a:t>where </a:t>
            </a:r>
            <a:r>
              <a:rPr b="1" lang="en-US" sz="2400"/>
              <a:t>A </a:t>
            </a:r>
            <a:r>
              <a:rPr lang="en-US" sz="2400"/>
              <a:t>is known as the</a:t>
            </a:r>
            <a:r>
              <a:rPr b="1" lang="en-US" sz="2400"/>
              <a:t> mixing matrix.  s = A</a:t>
            </a:r>
            <a:r>
              <a:rPr b="1" baseline="30000" lang="en-US" sz="2400"/>
              <a:t>−1</a:t>
            </a:r>
            <a:r>
              <a:rPr b="1" lang="en-US" sz="2400"/>
              <a:t>x. </a:t>
            </a:r>
            <a:endParaRPr/>
          </a:p>
          <a:p>
            <a:pPr indent="-342900" lvl="0" marL="342900" rtl="0" algn="l">
              <a:spcBef>
                <a:spcPts val="480"/>
              </a:spcBef>
              <a:spcAft>
                <a:spcPts val="0"/>
              </a:spcAft>
              <a:buClr>
                <a:schemeClr val="dk1"/>
              </a:buClr>
              <a:buSzPts val="2400"/>
              <a:buChar char="•"/>
            </a:pPr>
            <a:r>
              <a:rPr lang="en-US" sz="2400"/>
              <a:t>Except that, unfortunately, we don’t know A</a:t>
            </a:r>
            <a:r>
              <a:rPr b="1" lang="en-US" sz="2400"/>
              <a:t>. </a:t>
            </a:r>
            <a:r>
              <a:rPr lang="en-US" sz="2400"/>
              <a:t>The approximation to </a:t>
            </a:r>
            <a:r>
              <a:rPr b="1" lang="en-US" sz="2400"/>
              <a:t>A </a:t>
            </a:r>
            <a:r>
              <a:rPr b="1" baseline="30000" lang="en-US" sz="2400"/>
              <a:t>−1</a:t>
            </a:r>
            <a:r>
              <a:rPr lang="en-US" sz="2400"/>
              <a:t>that is generally labelled as </a:t>
            </a:r>
            <a:r>
              <a:rPr b="1" lang="en-US" sz="2400"/>
              <a:t>W, </a:t>
            </a:r>
            <a:r>
              <a:rPr lang="en-US" sz="2400"/>
              <a:t>it is a square matrix as same number of microphones as we do sources.</a:t>
            </a:r>
            <a:endParaRPr/>
          </a:p>
          <a:p>
            <a:pPr indent="-342900" lvl="0" marL="342900" rtl="0" algn="l">
              <a:spcBef>
                <a:spcPts val="480"/>
              </a:spcBef>
              <a:spcAft>
                <a:spcPts val="0"/>
              </a:spcAft>
              <a:buClr>
                <a:schemeClr val="dk1"/>
              </a:buClr>
              <a:buSzPts val="2400"/>
              <a:buChar char="•"/>
            </a:pPr>
            <a:r>
              <a:rPr lang="en-US" sz="2400"/>
              <a:t>Need to work out what we actually know about the sources and the signals. </a:t>
            </a:r>
            <a:endParaRPr/>
          </a:p>
          <a:p>
            <a:pPr indent="-190500" lvl="0" marL="342900" rtl="0" algn="l">
              <a:spcBef>
                <a:spcPts val="480"/>
              </a:spcBef>
              <a:spcAft>
                <a:spcPts val="0"/>
              </a:spcAft>
              <a:buClr>
                <a:schemeClr val="dk1"/>
              </a:buClr>
              <a:buSzPts val="2400"/>
              <a:buNone/>
            </a:pPr>
            <a:r>
              <a:t/>
            </a:r>
            <a:endParaRPr sz="2400"/>
          </a:p>
        </p:txBody>
      </p:sp>
      <p:sp>
        <p:nvSpPr>
          <p:cNvPr id="459" name="Google Shape;459;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60" name="Google Shape;460;p27"/>
          <p:cNvPicPr preferRelativeResize="0"/>
          <p:nvPr/>
        </p:nvPicPr>
        <p:blipFill rotWithShape="1">
          <a:blip r:embed="rId3">
            <a:alphaModFix/>
          </a:blip>
          <a:srcRect b="0" l="0" r="0" t="0"/>
          <a:stretch/>
        </p:blipFill>
        <p:spPr>
          <a:xfrm>
            <a:off x="6934200" y="1066800"/>
            <a:ext cx="304800" cy="447040"/>
          </a:xfrm>
          <a:prstGeom prst="rect">
            <a:avLst/>
          </a:prstGeom>
          <a:noFill/>
          <a:ln>
            <a:noFill/>
          </a:ln>
        </p:spPr>
      </p:pic>
      <p:sp>
        <p:nvSpPr>
          <p:cNvPr id="461" name="Google Shape;461;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62" name="Google Shape;462;p27"/>
          <p:cNvPicPr preferRelativeResize="0"/>
          <p:nvPr/>
        </p:nvPicPr>
        <p:blipFill rotWithShape="1">
          <a:blip r:embed="rId4">
            <a:alphaModFix/>
          </a:blip>
          <a:srcRect b="0" l="0" r="0" t="0"/>
          <a:stretch/>
        </p:blipFill>
        <p:spPr>
          <a:xfrm>
            <a:off x="7543800" y="1066800"/>
            <a:ext cx="304800" cy="447040"/>
          </a:xfrm>
          <a:prstGeom prst="rect">
            <a:avLst/>
          </a:prstGeom>
          <a:noFill/>
          <a:ln>
            <a:noFill/>
          </a:ln>
        </p:spPr>
      </p:pic>
      <p:sp>
        <p:nvSpPr>
          <p:cNvPr id="463" name="Google Shape;463;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64" name="Google Shape;464;p27"/>
          <p:cNvPicPr preferRelativeResize="0"/>
          <p:nvPr/>
        </p:nvPicPr>
        <p:blipFill rotWithShape="1">
          <a:blip r:embed="rId5">
            <a:alphaModFix/>
          </a:blip>
          <a:srcRect b="0" l="0" r="0" t="0"/>
          <a:stretch/>
        </p:blipFill>
        <p:spPr>
          <a:xfrm>
            <a:off x="2667000" y="2133600"/>
            <a:ext cx="381000" cy="523875"/>
          </a:xfrm>
          <a:prstGeom prst="rect">
            <a:avLst/>
          </a:prstGeom>
          <a:noFill/>
          <a:ln>
            <a:noFill/>
          </a:ln>
        </p:spPr>
      </p:pic>
      <p:sp>
        <p:nvSpPr>
          <p:cNvPr id="465" name="Google Shape;465;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66" name="Google Shape;466;p27"/>
          <p:cNvPicPr preferRelativeResize="0"/>
          <p:nvPr/>
        </p:nvPicPr>
        <p:blipFill rotWithShape="1">
          <a:blip r:embed="rId6">
            <a:alphaModFix/>
          </a:blip>
          <a:srcRect b="0" l="0" r="0" t="0"/>
          <a:stretch/>
        </p:blipFill>
        <p:spPr>
          <a:xfrm>
            <a:off x="1769918" y="2133600"/>
            <a:ext cx="363682" cy="5334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9"/>
          <p:cNvSpPr txBox="1"/>
          <p:nvPr>
            <p:ph type="title"/>
          </p:nvPr>
        </p:nvSpPr>
        <p:spPr>
          <a:xfrm>
            <a:off x="457200" y="0"/>
            <a:ext cx="82296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60"/>
              <a:buFont typeface="Calibri"/>
              <a:buNone/>
            </a:pPr>
            <a:r>
              <a:rPr lang="en-US" sz="2760">
                <a:solidFill>
                  <a:srgbClr val="FF0000"/>
                </a:solidFill>
                <a:latin typeface="Times New Roman"/>
                <a:ea typeface="Times New Roman"/>
                <a:cs typeface="Times New Roman"/>
                <a:sym typeface="Times New Roman"/>
              </a:rPr>
              <a:t>LOCALLY LINEAR EMBEDDING</a:t>
            </a:r>
            <a:endParaRPr sz="2760">
              <a:solidFill>
                <a:srgbClr val="FF0000"/>
              </a:solidFill>
              <a:latin typeface="Times New Roman"/>
              <a:ea typeface="Times New Roman"/>
              <a:cs typeface="Times New Roman"/>
              <a:sym typeface="Times New Roman"/>
            </a:endParaRPr>
          </a:p>
        </p:txBody>
      </p:sp>
      <p:sp>
        <p:nvSpPr>
          <p:cNvPr id="472" name="Google Shape;472;p29"/>
          <p:cNvSpPr txBox="1"/>
          <p:nvPr>
            <p:ph idx="1" type="body"/>
          </p:nvPr>
        </p:nvSpPr>
        <p:spPr>
          <a:xfrm>
            <a:off x="76200" y="762000"/>
            <a:ext cx="8915400" cy="5943600"/>
          </a:xfrm>
          <a:prstGeom prst="rect">
            <a:avLst/>
          </a:prstGeom>
          <a:noFill/>
          <a:ln>
            <a:noFill/>
          </a:ln>
        </p:spPr>
        <p:txBody>
          <a:bodyPr anchorCtr="0" anchor="t" bIns="45700" lIns="91425" spcFirstLastPara="1" rIns="91425" wrap="square" tIns="45700">
            <a:noAutofit/>
          </a:bodyPr>
          <a:lstStyle/>
          <a:p>
            <a:pPr indent="25400" lvl="0" marL="0" rtl="0" algn="l">
              <a:spcBef>
                <a:spcPts val="0"/>
              </a:spcBef>
              <a:spcAft>
                <a:spcPts val="0"/>
              </a:spcAft>
              <a:buClr>
                <a:schemeClr val="dk1"/>
              </a:buClr>
              <a:buSzPts val="2400"/>
              <a:buChar char="•"/>
            </a:pPr>
            <a:r>
              <a:rPr b="1" lang="en-US" sz="2400">
                <a:latin typeface="Times New Roman"/>
                <a:ea typeface="Times New Roman"/>
                <a:cs typeface="Times New Roman"/>
                <a:sym typeface="Times New Roman"/>
              </a:rPr>
              <a:t>Locally Linear Embedding</a:t>
            </a:r>
            <a:r>
              <a:rPr lang="en-US" sz="2400">
                <a:latin typeface="Times New Roman"/>
                <a:ea typeface="Times New Roman"/>
                <a:cs typeface="Times New Roman"/>
                <a:sym typeface="Times New Roman"/>
              </a:rPr>
              <a:t> (LLE) is a method of </a:t>
            </a:r>
            <a:r>
              <a:rPr b="1" lang="en-US" sz="2400">
                <a:latin typeface="Times New Roman"/>
                <a:ea typeface="Times New Roman"/>
                <a:cs typeface="Times New Roman"/>
                <a:sym typeface="Times New Roman"/>
              </a:rPr>
              <a:t>Non Linear</a:t>
            </a:r>
            <a:r>
              <a:rPr lang="en-US" sz="2400">
                <a:latin typeface="Times New Roman"/>
                <a:ea typeface="Times New Roman"/>
                <a:cs typeface="Times New Roman"/>
                <a:sym typeface="Times New Roman"/>
              </a:rPr>
              <a:t> Dimensionality reduction </a:t>
            </a:r>
            <a:endParaRPr sz="2400">
              <a:latin typeface="Times New Roman"/>
              <a:ea typeface="Times New Roman"/>
              <a:cs typeface="Times New Roman"/>
              <a:sym typeface="Times New Roman"/>
            </a:endParaRPr>
          </a:p>
          <a:p>
            <a:pPr indent="25400" lvl="0" marL="0" rtl="0" algn="l">
              <a:spcBef>
                <a:spcPts val="0"/>
              </a:spcBef>
              <a:spcAft>
                <a:spcPts val="0"/>
              </a:spcAft>
              <a:buSzPts val="2400"/>
              <a:buFont typeface="Times New Roman"/>
              <a:buChar char="•"/>
            </a:pPr>
            <a:r>
              <a:rPr lang="en-US" sz="2400">
                <a:highlight>
                  <a:srgbClr val="FFFFFF"/>
                </a:highlight>
                <a:latin typeface="Times New Roman"/>
                <a:ea typeface="Times New Roman"/>
                <a:cs typeface="Times New Roman"/>
                <a:sym typeface="Times New Roman"/>
              </a:rPr>
              <a:t> Is an unsupervised approach designed to transform data from its original high-dimensional space into a lower-dimensional representation,</a:t>
            </a:r>
            <a:endParaRPr sz="2400">
              <a:latin typeface="Times New Roman"/>
              <a:ea typeface="Times New Roman"/>
              <a:cs typeface="Times New Roman"/>
              <a:sym typeface="Times New Roman"/>
            </a:endParaRPr>
          </a:p>
          <a:p>
            <a:pPr indent="25400" lvl="0" marL="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first tries to approximate the data by sticking together sets of locally flat patches that cover the dataset, while the second uses the shortest distances (geodesics) on the non-linear space to find a globally optimal solution.</a:t>
            </a:r>
            <a:endParaRPr sz="2400">
              <a:latin typeface="Times New Roman"/>
              <a:ea typeface="Times New Roman"/>
              <a:cs typeface="Times New Roman"/>
              <a:sym typeface="Times New Roman"/>
            </a:endParaRPr>
          </a:p>
          <a:p>
            <a:pPr indent="25400" lvl="0" marL="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First look at locally linear algorithm, which is called Locally Linear Embedding (LLE).</a:t>
            </a:r>
            <a:endParaRPr sz="2400">
              <a:latin typeface="Times New Roman"/>
              <a:ea typeface="Times New Roman"/>
              <a:cs typeface="Times New Roman"/>
              <a:sym typeface="Times New Roman"/>
            </a:endParaRPr>
          </a:p>
          <a:p>
            <a:pPr indent="25400" lvl="0" marL="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By making linear approximations some errors will be made, so make these errors as small as possible by making the patches small where there is lots of non-linearity in the data. </a:t>
            </a:r>
            <a:endParaRPr sz="2400">
              <a:latin typeface="Times New Roman"/>
              <a:ea typeface="Times New Roman"/>
              <a:cs typeface="Times New Roman"/>
              <a:sym typeface="Times New Roman"/>
            </a:endParaRPr>
          </a:p>
          <a:p>
            <a:pPr indent="177800" lvl="0" marL="0" rtl="0" algn="l">
              <a:spcBef>
                <a:spcPts val="0"/>
              </a:spcBef>
              <a:spcAft>
                <a:spcPts val="0"/>
              </a:spcAft>
              <a:buClr>
                <a:schemeClr val="dk1"/>
              </a:buClr>
              <a:buSzPts val="2800"/>
              <a:buNone/>
            </a:pPr>
            <a:r>
              <a:t/>
            </a:r>
            <a:endParaRPr sz="2800">
              <a:latin typeface="Times New Roman"/>
              <a:ea typeface="Times New Roman"/>
              <a:cs typeface="Times New Roman"/>
              <a:sym typeface="Times New Roman"/>
            </a:endParaRPr>
          </a:p>
          <a:p>
            <a:pPr indent="177800" lvl="0" marL="0" rtl="0" algn="l">
              <a:spcBef>
                <a:spcPts val="0"/>
              </a:spcBef>
              <a:spcAft>
                <a:spcPts val="0"/>
              </a:spcAft>
              <a:buClr>
                <a:schemeClr val="dk1"/>
              </a:buClr>
              <a:buSzPts val="2800"/>
              <a:buNone/>
            </a:pPr>
            <a:r>
              <a:t/>
            </a:r>
            <a:endParaRPr sz="2800">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0"/>
          <p:cNvSpPr txBox="1"/>
          <p:nvPr>
            <p:ph idx="1" type="body"/>
          </p:nvPr>
        </p:nvSpPr>
        <p:spPr>
          <a:xfrm>
            <a:off x="76200" y="152400"/>
            <a:ext cx="8991600" cy="6553200"/>
          </a:xfrm>
          <a:prstGeom prst="rect">
            <a:avLst/>
          </a:prstGeom>
          <a:noFill/>
          <a:ln>
            <a:noFill/>
          </a:ln>
        </p:spPr>
        <p:txBody>
          <a:bodyPr anchorCtr="0" anchor="t" bIns="45700" lIns="91425" spcFirstLastPara="1" rIns="91425" wrap="square" tIns="45700">
            <a:normAutofit/>
          </a:bodyPr>
          <a:lstStyle/>
          <a:p>
            <a:pPr indent="-323850" lvl="0" marL="342900" rtl="0" algn="l">
              <a:spcBef>
                <a:spcPts val="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error is known as the reconstruction error and is simply the sum-of-squares of the distance between the original point and its reconstruction:</a:t>
            </a:r>
            <a:endParaRPr sz="2500">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None/>
            </a:pPr>
            <a:r>
              <a:t/>
            </a:r>
            <a:endParaRPr sz="2500">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None/>
            </a:pPr>
            <a:r>
              <a:t/>
            </a:r>
            <a:endParaRPr sz="2500">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None/>
            </a:pPr>
            <a:r>
              <a:t/>
            </a:r>
            <a:endParaRPr sz="2500">
              <a:latin typeface="Times New Roman"/>
              <a:ea typeface="Times New Roman"/>
              <a:cs typeface="Times New Roman"/>
              <a:sym typeface="Times New Roman"/>
            </a:endParaRPr>
          </a:p>
          <a:p>
            <a:pPr indent="-323850" lvl="0" marL="342900" rtl="0" algn="l">
              <a:spcBef>
                <a:spcPts val="560"/>
              </a:spcBef>
              <a:spcAft>
                <a:spcPts val="0"/>
              </a:spcAft>
              <a:buClr>
                <a:schemeClr val="dk1"/>
              </a:buClr>
              <a:buSzPts val="2500"/>
              <a:buChar char="•"/>
            </a:pPr>
            <a:r>
              <a:rPr lang="en-US" sz="2500">
                <a:latin typeface="Times New Roman"/>
                <a:ea typeface="Times New Roman"/>
                <a:cs typeface="Times New Roman"/>
                <a:sym typeface="Times New Roman"/>
              </a:rPr>
              <a:t>The weights </a:t>
            </a:r>
            <a:r>
              <a:rPr b="1" lang="en-US" sz="2500">
                <a:latin typeface="Times New Roman"/>
                <a:ea typeface="Times New Roman"/>
                <a:cs typeface="Times New Roman"/>
                <a:sym typeface="Times New Roman"/>
              </a:rPr>
              <a:t>W</a:t>
            </a:r>
            <a:r>
              <a:rPr b="1" baseline="-25000" lang="en-US" sz="2500">
                <a:latin typeface="Times New Roman"/>
                <a:ea typeface="Times New Roman"/>
                <a:cs typeface="Times New Roman"/>
                <a:sym typeface="Times New Roman"/>
              </a:rPr>
              <a:t>ij</a:t>
            </a:r>
            <a:r>
              <a:rPr b="1" i="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say how much effect the</a:t>
            </a:r>
            <a:r>
              <a:rPr b="1" i="1" lang="en-US" sz="2500">
                <a:latin typeface="Times New Roman"/>
                <a:ea typeface="Times New Roman"/>
                <a:cs typeface="Times New Roman"/>
                <a:sym typeface="Times New Roman"/>
              </a:rPr>
              <a:t> </a:t>
            </a:r>
            <a:r>
              <a:rPr b="1" lang="en-US" sz="2500">
                <a:latin typeface="Times New Roman"/>
                <a:ea typeface="Times New Roman"/>
                <a:cs typeface="Times New Roman"/>
                <a:sym typeface="Times New Roman"/>
              </a:rPr>
              <a:t>j</a:t>
            </a:r>
            <a:r>
              <a:rPr b="1" baseline="30000" lang="en-US" sz="2500">
                <a:latin typeface="Times New Roman"/>
                <a:ea typeface="Times New Roman"/>
                <a:cs typeface="Times New Roman"/>
                <a:sym typeface="Times New Roman"/>
              </a:rPr>
              <a:t>th</a:t>
            </a:r>
            <a:r>
              <a:rPr b="1" i="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data point</a:t>
            </a:r>
            <a:r>
              <a:rPr b="1" i="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has on the reconstruction of the </a:t>
            </a:r>
            <a:r>
              <a:rPr b="1" lang="en-US" sz="2500">
                <a:latin typeface="Times New Roman"/>
                <a:ea typeface="Times New Roman"/>
                <a:cs typeface="Times New Roman"/>
                <a:sym typeface="Times New Roman"/>
              </a:rPr>
              <a:t>i</a:t>
            </a:r>
            <a:r>
              <a:rPr b="1" baseline="30000" lang="en-US" sz="2500">
                <a:latin typeface="Times New Roman"/>
                <a:ea typeface="Times New Roman"/>
                <a:cs typeface="Times New Roman"/>
                <a:sym typeface="Times New Roman"/>
              </a:rPr>
              <a:t>th</a:t>
            </a:r>
            <a:r>
              <a:rPr i="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one. </a:t>
            </a:r>
            <a:endParaRPr sz="2500">
              <a:latin typeface="Times New Roman"/>
              <a:ea typeface="Times New Roman"/>
              <a:cs typeface="Times New Roman"/>
              <a:sym typeface="Times New Roman"/>
            </a:endParaRPr>
          </a:p>
          <a:p>
            <a:pPr indent="-323850" lvl="0" marL="342900" rtl="0" algn="l">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question is which points can be usefully used to reconstruct a particular</a:t>
            </a:r>
            <a:r>
              <a:rPr i="1" lang="en-US" sz="2500">
                <a:latin typeface="Times New Roman"/>
                <a:ea typeface="Times New Roman"/>
                <a:cs typeface="Times New Roman"/>
                <a:sym typeface="Times New Roman"/>
              </a:rPr>
              <a:t> </a:t>
            </a:r>
            <a:r>
              <a:rPr lang="en-US" sz="2500">
                <a:latin typeface="Times New Roman"/>
                <a:ea typeface="Times New Roman"/>
                <a:cs typeface="Times New Roman"/>
                <a:sym typeface="Times New Roman"/>
              </a:rPr>
              <a:t>data point. </a:t>
            </a:r>
            <a:endParaRPr sz="2500">
              <a:latin typeface="Times New Roman"/>
              <a:ea typeface="Times New Roman"/>
              <a:cs typeface="Times New Roman"/>
              <a:sym typeface="Times New Roman"/>
            </a:endParaRPr>
          </a:p>
          <a:p>
            <a:pPr indent="-323850" lvl="0" marL="342900" rtl="0" algn="l">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If another point is a long way off, then it probably isn’t very useful: only those points that are close to the current data point are used. </a:t>
            </a:r>
            <a:endParaRPr sz="2500">
              <a:latin typeface="Times New Roman"/>
              <a:ea typeface="Times New Roman"/>
              <a:cs typeface="Times New Roman"/>
              <a:sym typeface="Times New Roman"/>
            </a:endParaRPr>
          </a:p>
        </p:txBody>
      </p:sp>
      <p:pic>
        <p:nvPicPr>
          <p:cNvPr id="478" name="Google Shape;478;p30"/>
          <p:cNvPicPr preferRelativeResize="0"/>
          <p:nvPr/>
        </p:nvPicPr>
        <p:blipFill rotWithShape="1">
          <a:blip r:embed="rId3">
            <a:alphaModFix/>
          </a:blip>
          <a:srcRect b="0" l="0" r="0" t="0"/>
          <a:stretch/>
        </p:blipFill>
        <p:spPr>
          <a:xfrm>
            <a:off x="1955250" y="1444525"/>
            <a:ext cx="6248400" cy="1143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1"/>
          <p:cNvSpPr txBox="1"/>
          <p:nvPr>
            <p:ph idx="1" type="body"/>
          </p:nvPr>
        </p:nvSpPr>
        <p:spPr>
          <a:xfrm>
            <a:off x="76200" y="76200"/>
            <a:ext cx="8991600" cy="66294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None/>
            </a:pPr>
            <a:r>
              <a:rPr lang="en-US" sz="2700">
                <a:latin typeface="Times New Roman"/>
                <a:ea typeface="Times New Roman"/>
                <a:cs typeface="Times New Roman"/>
                <a:sym typeface="Times New Roman"/>
              </a:rPr>
              <a:t>• The </a:t>
            </a:r>
            <a:r>
              <a:rPr b="1" lang="en-US" sz="2700">
                <a:latin typeface="Times New Roman"/>
                <a:ea typeface="Times New Roman"/>
                <a:cs typeface="Times New Roman"/>
                <a:sym typeface="Times New Roman"/>
              </a:rPr>
              <a:t>k nearest points</a:t>
            </a:r>
            <a:r>
              <a:rPr i="1"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are</a:t>
            </a:r>
            <a:r>
              <a:rPr i="1" lang="en-US" sz="2700">
                <a:latin typeface="Times New Roman"/>
                <a:ea typeface="Times New Roman"/>
                <a:cs typeface="Times New Roman"/>
                <a:sym typeface="Times New Roman"/>
              </a:rPr>
              <a:t> </a:t>
            </a:r>
            <a:r>
              <a:rPr b="1" lang="en-US" sz="2700">
                <a:latin typeface="Times New Roman"/>
                <a:ea typeface="Times New Roman"/>
                <a:cs typeface="Times New Roman"/>
                <a:sym typeface="Times New Roman"/>
              </a:rPr>
              <a:t>neighbours</a:t>
            </a:r>
            <a:endParaRPr b="1" sz="2700">
              <a:latin typeface="Times New Roman"/>
              <a:ea typeface="Times New Roman"/>
              <a:cs typeface="Times New Roman"/>
              <a:sym typeface="Times New Roman"/>
            </a:endParaRPr>
          </a:p>
          <a:p>
            <a:pPr indent="-336550" lvl="0" marL="342900" rtl="0" algn="just">
              <a:spcBef>
                <a:spcPts val="560"/>
              </a:spcBef>
              <a:spcAft>
                <a:spcPts val="0"/>
              </a:spcAft>
              <a:buClr>
                <a:schemeClr val="dk1"/>
              </a:buClr>
              <a:buSzPts val="2700"/>
              <a:buChar char="•"/>
            </a:pPr>
            <a:r>
              <a:rPr lang="en-US" sz="2700">
                <a:latin typeface="Times New Roman"/>
                <a:ea typeface="Times New Roman"/>
                <a:cs typeface="Times New Roman"/>
                <a:sym typeface="Times New Roman"/>
              </a:rPr>
              <a:t>Solving for the weights </a:t>
            </a:r>
            <a:r>
              <a:rPr b="1" lang="en-US" sz="2700">
                <a:latin typeface="Times New Roman"/>
                <a:ea typeface="Times New Roman"/>
                <a:cs typeface="Times New Roman"/>
                <a:sym typeface="Times New Roman"/>
              </a:rPr>
              <a:t>W</a:t>
            </a:r>
            <a:r>
              <a:rPr b="1" baseline="-25000" lang="en-US" sz="2700">
                <a:latin typeface="Times New Roman"/>
                <a:ea typeface="Times New Roman"/>
                <a:cs typeface="Times New Roman"/>
                <a:sym typeface="Times New Roman"/>
              </a:rPr>
              <a:t>ij</a:t>
            </a:r>
            <a:r>
              <a:rPr b="1" i="1"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is a</a:t>
            </a:r>
            <a:r>
              <a:rPr b="1" i="1" lang="en-US" sz="2700">
                <a:latin typeface="Times New Roman"/>
                <a:ea typeface="Times New Roman"/>
                <a:cs typeface="Times New Roman"/>
                <a:sym typeface="Times New Roman"/>
              </a:rPr>
              <a:t> </a:t>
            </a:r>
            <a:r>
              <a:rPr b="1" lang="en-US" sz="2700">
                <a:latin typeface="Times New Roman"/>
                <a:ea typeface="Times New Roman"/>
                <a:cs typeface="Times New Roman"/>
                <a:sym typeface="Times New Roman"/>
              </a:rPr>
              <a:t>least-squares problem</a:t>
            </a:r>
            <a:r>
              <a:rPr b="1" i="1"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which we can simplify by enforcing the constraints that for any point </a:t>
            </a:r>
            <a:r>
              <a:rPr b="1" lang="en-US" sz="2700">
                <a:latin typeface="Times New Roman"/>
                <a:ea typeface="Times New Roman"/>
                <a:cs typeface="Times New Roman"/>
                <a:sym typeface="Times New Roman"/>
              </a:rPr>
              <a:t>x</a:t>
            </a:r>
            <a:r>
              <a:rPr b="1" baseline="-25000" lang="en-US" sz="2700">
                <a:latin typeface="Times New Roman"/>
                <a:ea typeface="Times New Roman"/>
                <a:cs typeface="Times New Roman"/>
                <a:sym typeface="Times New Roman"/>
              </a:rPr>
              <a:t>j</a:t>
            </a:r>
            <a:r>
              <a:rPr b="1" i="1"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that is a long way from the current point </a:t>
            </a:r>
            <a:r>
              <a:rPr b="1" lang="en-US" sz="2700">
                <a:latin typeface="Times New Roman"/>
                <a:ea typeface="Times New Roman"/>
                <a:cs typeface="Times New Roman"/>
                <a:sym typeface="Times New Roman"/>
              </a:rPr>
              <a:t>x</a:t>
            </a:r>
            <a:r>
              <a:rPr b="1" baseline="-25000" lang="en-US" sz="2700">
                <a:latin typeface="Times New Roman"/>
                <a:ea typeface="Times New Roman"/>
                <a:cs typeface="Times New Roman"/>
                <a:sym typeface="Times New Roman"/>
              </a:rPr>
              <a:t>i </a:t>
            </a:r>
            <a:r>
              <a:rPr b="1" i="1" lang="en-US" sz="2700">
                <a:latin typeface="Times New Roman"/>
                <a:ea typeface="Times New Roman"/>
                <a:cs typeface="Times New Roman"/>
                <a:sym typeface="Times New Roman"/>
              </a:rPr>
              <a:t>, </a:t>
            </a:r>
            <a:r>
              <a:rPr b="1" lang="en-US" sz="2700">
                <a:latin typeface="Times New Roman"/>
                <a:ea typeface="Times New Roman"/>
                <a:cs typeface="Times New Roman"/>
                <a:sym typeface="Times New Roman"/>
              </a:rPr>
              <a:t>W</a:t>
            </a:r>
            <a:r>
              <a:rPr b="1" baseline="-25000" lang="en-US" sz="2700">
                <a:latin typeface="Times New Roman"/>
                <a:ea typeface="Times New Roman"/>
                <a:cs typeface="Times New Roman"/>
                <a:sym typeface="Times New Roman"/>
              </a:rPr>
              <a:t>ij</a:t>
            </a:r>
            <a:r>
              <a:rPr b="1" i="1" lang="en-US" sz="2700">
                <a:latin typeface="Times New Roman"/>
                <a:ea typeface="Times New Roman"/>
                <a:cs typeface="Times New Roman"/>
                <a:sym typeface="Times New Roman"/>
              </a:rPr>
              <a:t> </a:t>
            </a:r>
            <a:r>
              <a:rPr b="1" lang="en-US" sz="2700">
                <a:latin typeface="Times New Roman"/>
                <a:ea typeface="Times New Roman"/>
                <a:cs typeface="Times New Roman"/>
                <a:sym typeface="Times New Roman"/>
              </a:rPr>
              <a:t>= 0</a:t>
            </a:r>
            <a:r>
              <a:rPr lang="en-US" sz="2700">
                <a:latin typeface="Times New Roman"/>
                <a:ea typeface="Times New Roman"/>
                <a:cs typeface="Times New Roman"/>
                <a:sym typeface="Times New Roman"/>
              </a:rPr>
              <a:t> </a:t>
            </a:r>
            <a:endParaRPr sz="2700">
              <a:latin typeface="Times New Roman"/>
              <a:ea typeface="Times New Roman"/>
              <a:cs typeface="Times New Roman"/>
              <a:sym typeface="Times New Roman"/>
            </a:endParaRPr>
          </a:p>
          <a:p>
            <a:pPr indent="-336550" lvl="0" marL="342900" rtl="0" algn="just">
              <a:spcBef>
                <a:spcPts val="560"/>
              </a:spcBef>
              <a:spcAft>
                <a:spcPts val="0"/>
              </a:spcAft>
              <a:buClr>
                <a:schemeClr val="dk1"/>
              </a:buClr>
              <a:buSzPts val="2700"/>
              <a:buFont typeface="Times New Roman"/>
              <a:buChar char="•"/>
            </a:pPr>
            <a:r>
              <a:rPr lang="en-US" sz="2700">
                <a:latin typeface="Times New Roman"/>
                <a:ea typeface="Times New Roman"/>
                <a:cs typeface="Times New Roman"/>
                <a:sym typeface="Times New Roman"/>
              </a:rPr>
              <a:t>This produces a reconstruction of the data, but it does not reduce the dimensionality at all. </a:t>
            </a:r>
            <a:endParaRPr sz="27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sz="2700">
              <a:latin typeface="Times New Roman"/>
              <a:ea typeface="Times New Roman"/>
              <a:cs typeface="Times New Roman"/>
              <a:sym typeface="Times New Roman"/>
            </a:endParaRPr>
          </a:p>
          <a:p>
            <a:pPr indent="-336550" lvl="0" marL="342900" rtl="0" algn="just">
              <a:spcBef>
                <a:spcPts val="560"/>
              </a:spcBef>
              <a:spcAft>
                <a:spcPts val="0"/>
              </a:spcAft>
              <a:buClr>
                <a:schemeClr val="dk1"/>
              </a:buClr>
              <a:buSzPts val="2700"/>
              <a:buChar char="•"/>
            </a:pPr>
            <a:r>
              <a:rPr lang="en-US" sz="2700">
                <a:latin typeface="Times New Roman"/>
                <a:ea typeface="Times New Roman"/>
                <a:cs typeface="Times New Roman"/>
                <a:sym typeface="Times New Roman"/>
              </a:rPr>
              <a:t>For this, reapply the same basic cost function, but minimize it according to the positions </a:t>
            </a:r>
            <a:r>
              <a:rPr b="1" lang="en-US" sz="2700">
                <a:latin typeface="Times New Roman"/>
                <a:ea typeface="Times New Roman"/>
                <a:cs typeface="Times New Roman"/>
                <a:sym typeface="Times New Roman"/>
              </a:rPr>
              <a:t>y</a:t>
            </a:r>
            <a:r>
              <a:rPr b="1" baseline="-25000" lang="en-US" sz="2700">
                <a:latin typeface="Times New Roman"/>
                <a:ea typeface="Times New Roman"/>
                <a:cs typeface="Times New Roman"/>
                <a:sym typeface="Times New Roman"/>
              </a:rPr>
              <a:t>i</a:t>
            </a:r>
            <a:r>
              <a:rPr b="1" i="1" lang="en-US" sz="2700">
                <a:latin typeface="Times New Roman"/>
                <a:ea typeface="Times New Roman"/>
                <a:cs typeface="Times New Roman"/>
                <a:sym typeface="Times New Roman"/>
              </a:rPr>
              <a:t> </a:t>
            </a:r>
            <a:r>
              <a:rPr lang="en-US" sz="2700">
                <a:latin typeface="Times New Roman"/>
                <a:ea typeface="Times New Roman"/>
                <a:cs typeface="Times New Roman"/>
                <a:sym typeface="Times New Roman"/>
              </a:rPr>
              <a:t>of the points in some lower dimensional space (dimension </a:t>
            </a:r>
            <a:r>
              <a:rPr i="1" lang="en-US" sz="2700">
                <a:latin typeface="Times New Roman"/>
                <a:ea typeface="Times New Roman"/>
                <a:cs typeface="Times New Roman"/>
                <a:sym typeface="Times New Roman"/>
              </a:rPr>
              <a:t>L):</a:t>
            </a:r>
            <a:endParaRPr sz="27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i="1" sz="27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sz="2700">
              <a:latin typeface="Times New Roman"/>
              <a:ea typeface="Times New Roman"/>
              <a:cs typeface="Times New Roman"/>
              <a:sym typeface="Times New Roman"/>
            </a:endParaRPr>
          </a:p>
        </p:txBody>
      </p:sp>
      <p:sp>
        <p:nvSpPr>
          <p:cNvPr id="484" name="Google Shape;484;p31"/>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86" name="Google Shape;486;p31"/>
          <p:cNvPicPr preferRelativeResize="0"/>
          <p:nvPr/>
        </p:nvPicPr>
        <p:blipFill rotWithShape="1">
          <a:blip r:embed="rId3">
            <a:alphaModFix/>
          </a:blip>
          <a:srcRect b="0" l="0" r="0" t="0"/>
          <a:stretch/>
        </p:blipFill>
        <p:spPr>
          <a:xfrm>
            <a:off x="5715000" y="3200400"/>
            <a:ext cx="1219200" cy="546100"/>
          </a:xfrm>
          <a:prstGeom prst="rect">
            <a:avLst/>
          </a:prstGeom>
          <a:noFill/>
          <a:ln>
            <a:noFill/>
          </a:ln>
        </p:spPr>
      </p:pic>
      <p:pic>
        <p:nvPicPr>
          <p:cNvPr id="487" name="Google Shape;487;p31"/>
          <p:cNvPicPr preferRelativeResize="0"/>
          <p:nvPr/>
        </p:nvPicPr>
        <p:blipFill rotWithShape="1">
          <a:blip r:embed="rId4">
            <a:alphaModFix/>
          </a:blip>
          <a:srcRect b="0" l="0" r="0" t="0"/>
          <a:stretch/>
        </p:blipFill>
        <p:spPr>
          <a:xfrm>
            <a:off x="4419600" y="5334000"/>
            <a:ext cx="4267200" cy="990600"/>
          </a:xfrm>
          <a:prstGeom prst="rect">
            <a:avLst/>
          </a:prstGeom>
          <a:noFill/>
          <a:ln>
            <a:noFill/>
          </a:ln>
        </p:spPr>
      </p:pic>
      <p:sp>
        <p:nvSpPr>
          <p:cNvPr id="488" name="Google Shape;488;p31"/>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31"/>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2"/>
          <p:cNvSpPr txBox="1"/>
          <p:nvPr>
            <p:ph type="title"/>
          </p:nvPr>
        </p:nvSpPr>
        <p:spPr>
          <a:xfrm>
            <a:off x="457200" y="0"/>
            <a:ext cx="8229600"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solidFill>
                  <a:srgbClr val="FF0000"/>
                </a:solidFill>
              </a:rPr>
              <a:t>ISOMAP</a:t>
            </a:r>
            <a:endParaRPr>
              <a:solidFill>
                <a:srgbClr val="FF0000"/>
              </a:solidFill>
            </a:endParaRPr>
          </a:p>
        </p:txBody>
      </p:sp>
      <p:sp>
        <p:nvSpPr>
          <p:cNvPr id="495" name="Google Shape;495;p32"/>
          <p:cNvSpPr txBox="1"/>
          <p:nvPr>
            <p:ph idx="1" type="body"/>
          </p:nvPr>
        </p:nvSpPr>
        <p:spPr>
          <a:xfrm>
            <a:off x="76200" y="838200"/>
            <a:ext cx="8991600" cy="5943600"/>
          </a:xfrm>
          <a:prstGeom prst="rect">
            <a:avLst/>
          </a:prstGeom>
          <a:noFill/>
          <a:ln>
            <a:noFill/>
          </a:ln>
        </p:spPr>
        <p:txBody>
          <a:bodyPr anchorCtr="0" anchor="t" bIns="45700" lIns="91425" spcFirstLastPara="1" rIns="91425" wrap="square" tIns="45700">
            <a:normAutofit/>
          </a:bodyPr>
          <a:lstStyle/>
          <a:p>
            <a:pPr indent="-330200" lvl="0" marL="342900" rtl="0" algn="just">
              <a:spcBef>
                <a:spcPts val="0"/>
              </a:spcBef>
              <a:spcAft>
                <a:spcPts val="0"/>
              </a:spcAft>
              <a:buClr>
                <a:schemeClr val="dk1"/>
              </a:buClr>
              <a:buSzPts val="2600"/>
              <a:buFont typeface="Times New Roman"/>
              <a:buChar char="•"/>
            </a:pPr>
            <a:r>
              <a:rPr lang="en-US" sz="2600">
                <a:latin typeface="Times New Roman"/>
                <a:ea typeface="Times New Roman"/>
                <a:cs typeface="Times New Roman"/>
                <a:sym typeface="Times New Roman"/>
              </a:rPr>
              <a:t>It is a variant of the standard multi-dimensional scaling (MDS) algorithm.</a:t>
            </a:r>
            <a:endParaRPr sz="2600">
              <a:latin typeface="Times New Roman"/>
              <a:ea typeface="Times New Roman"/>
              <a:cs typeface="Times New Roman"/>
              <a:sym typeface="Times New Roman"/>
            </a:endParaRPr>
          </a:p>
          <a:p>
            <a:pPr indent="0" lvl="0" marL="342900" rtl="0" algn="just">
              <a:spcBef>
                <a:spcPts val="0"/>
              </a:spcBef>
              <a:spcAft>
                <a:spcPts val="0"/>
              </a:spcAft>
              <a:buNone/>
            </a:pPr>
            <a:r>
              <a:t/>
            </a:r>
            <a:endParaRPr sz="26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None/>
            </a:pPr>
            <a:r>
              <a:rPr lang="en-US" sz="2600">
                <a:latin typeface="Times New Roman"/>
                <a:ea typeface="Times New Roman"/>
                <a:cs typeface="Times New Roman"/>
                <a:sym typeface="Times New Roman"/>
              </a:rPr>
              <a:t>MULTI-DIMENSIONAL SCALING (MDS)</a:t>
            </a:r>
            <a:endParaRPr sz="2600">
              <a:latin typeface="Times New Roman"/>
              <a:ea typeface="Times New Roman"/>
              <a:cs typeface="Times New Roman"/>
              <a:sym typeface="Times New Roman"/>
            </a:endParaRPr>
          </a:p>
          <a:p>
            <a:pPr indent="-330200" lvl="0" marL="342900" rtl="0" algn="just">
              <a:spcBef>
                <a:spcPts val="560"/>
              </a:spcBef>
              <a:spcAft>
                <a:spcPts val="0"/>
              </a:spcAft>
              <a:buClr>
                <a:schemeClr val="dk1"/>
              </a:buClr>
              <a:buSzPts val="2600"/>
              <a:buFont typeface="Times New Roman"/>
              <a:buChar char="•"/>
            </a:pPr>
            <a:r>
              <a:rPr lang="en-US" sz="2600">
                <a:latin typeface="Times New Roman"/>
                <a:ea typeface="Times New Roman"/>
                <a:cs typeface="Times New Roman"/>
                <a:sym typeface="Times New Roman"/>
              </a:rPr>
              <a:t>Like PCA, MDS tries to find a linear approximation to the full data space that embeds the data into a lower dimensionality. </a:t>
            </a:r>
            <a:endParaRPr sz="2600">
              <a:latin typeface="Times New Roman"/>
              <a:ea typeface="Times New Roman"/>
              <a:cs typeface="Times New Roman"/>
              <a:sym typeface="Times New Roman"/>
            </a:endParaRPr>
          </a:p>
          <a:p>
            <a:pPr indent="-330200" lvl="0" marL="342900" rtl="0" algn="just">
              <a:spcBef>
                <a:spcPts val="560"/>
              </a:spcBef>
              <a:spcAft>
                <a:spcPts val="0"/>
              </a:spcAft>
              <a:buClr>
                <a:schemeClr val="dk1"/>
              </a:buClr>
              <a:buSzPts val="2600"/>
              <a:buFont typeface="Times New Roman"/>
              <a:buChar char="•"/>
            </a:pPr>
            <a:r>
              <a:rPr lang="en-US" sz="2600">
                <a:latin typeface="Times New Roman"/>
                <a:ea typeface="Times New Roman"/>
                <a:cs typeface="Times New Roman"/>
                <a:sym typeface="Times New Roman"/>
              </a:rPr>
              <a:t>In the case of MDS the embedding tries to preserve the distances between all pairs of points. </a:t>
            </a:r>
            <a:endParaRPr sz="2600">
              <a:latin typeface="Times New Roman"/>
              <a:ea typeface="Times New Roman"/>
              <a:cs typeface="Times New Roman"/>
              <a:sym typeface="Times New Roman"/>
            </a:endParaRPr>
          </a:p>
          <a:p>
            <a:pPr indent="-330200" lvl="0" marL="342900" rtl="0" algn="just">
              <a:spcBef>
                <a:spcPts val="560"/>
              </a:spcBef>
              <a:spcAft>
                <a:spcPts val="0"/>
              </a:spcAft>
              <a:buClr>
                <a:schemeClr val="dk1"/>
              </a:buClr>
              <a:buSzPts val="2600"/>
              <a:buChar char="•"/>
            </a:pPr>
            <a:r>
              <a:rPr lang="en-US" sz="2600">
                <a:latin typeface="Times New Roman"/>
                <a:ea typeface="Times New Roman"/>
                <a:cs typeface="Times New Roman"/>
                <a:sym typeface="Times New Roman"/>
              </a:rPr>
              <a:t>Start with data points </a:t>
            </a:r>
            <a:r>
              <a:rPr b="1" lang="en-US" sz="2600">
                <a:latin typeface="Times New Roman"/>
                <a:ea typeface="Times New Roman"/>
                <a:cs typeface="Times New Roman"/>
                <a:sym typeface="Times New Roman"/>
              </a:rPr>
              <a:t>x</a:t>
            </a:r>
            <a:r>
              <a:rPr b="1" baseline="-25000" lang="en-US" sz="2600">
                <a:latin typeface="Times New Roman"/>
                <a:ea typeface="Times New Roman"/>
                <a:cs typeface="Times New Roman"/>
                <a:sym typeface="Times New Roman"/>
              </a:rPr>
              <a:t>1 </a:t>
            </a:r>
            <a:r>
              <a:rPr b="1" i="1" lang="en-US" sz="2600">
                <a:latin typeface="Times New Roman"/>
                <a:ea typeface="Times New Roman"/>
                <a:cs typeface="Times New Roman"/>
                <a:sym typeface="Times New Roman"/>
              </a:rPr>
              <a:t>, </a:t>
            </a:r>
            <a:r>
              <a:rPr b="1" lang="en-US" sz="2600">
                <a:latin typeface="Times New Roman"/>
                <a:ea typeface="Times New Roman"/>
                <a:cs typeface="Times New Roman"/>
                <a:sym typeface="Times New Roman"/>
              </a:rPr>
              <a:t>x</a:t>
            </a:r>
            <a:r>
              <a:rPr b="1" baseline="-25000" i="1" lang="en-US" sz="2600">
                <a:latin typeface="Times New Roman"/>
                <a:ea typeface="Times New Roman"/>
                <a:cs typeface="Times New Roman"/>
                <a:sym typeface="Times New Roman"/>
              </a:rPr>
              <a:t>2 </a:t>
            </a:r>
            <a:r>
              <a:rPr b="1" i="1" lang="en-US" sz="2600">
                <a:latin typeface="Times New Roman"/>
                <a:ea typeface="Times New Roman"/>
                <a:cs typeface="Times New Roman"/>
                <a:sym typeface="Times New Roman"/>
              </a:rPr>
              <a:t>, . . . , </a:t>
            </a:r>
            <a:r>
              <a:rPr b="1" lang="en-US" sz="2600">
                <a:latin typeface="Times New Roman"/>
                <a:ea typeface="Times New Roman"/>
                <a:cs typeface="Times New Roman"/>
                <a:sym typeface="Times New Roman"/>
              </a:rPr>
              <a:t>x</a:t>
            </a:r>
            <a:r>
              <a:rPr b="1" baseline="-25000" lang="en-US" sz="2600">
                <a:latin typeface="Times New Roman"/>
                <a:ea typeface="Times New Roman"/>
                <a:cs typeface="Times New Roman"/>
                <a:sym typeface="Times New Roman"/>
              </a:rPr>
              <a:t>N</a:t>
            </a:r>
            <a:r>
              <a:rPr b="1" lang="en-US" sz="2600">
                <a:latin typeface="Times New Roman"/>
                <a:ea typeface="Times New Roman"/>
                <a:cs typeface="Times New Roman"/>
                <a:sym typeface="Times New Roman"/>
              </a:rPr>
              <a:t> Ɛ R</a:t>
            </a:r>
            <a:r>
              <a:rPr b="1" baseline="30000" lang="en-US" sz="2600">
                <a:latin typeface="Times New Roman"/>
                <a:ea typeface="Times New Roman"/>
                <a:cs typeface="Times New Roman"/>
                <a:sym typeface="Times New Roman"/>
              </a:rPr>
              <a:t>M</a:t>
            </a:r>
            <a:r>
              <a:rPr b="1" i="1" lang="en-US" sz="2600">
                <a:latin typeface="Times New Roman"/>
                <a:ea typeface="Times New Roman"/>
                <a:cs typeface="Times New Roman"/>
                <a:sym typeface="Times New Roman"/>
              </a:rPr>
              <a:t>. </a:t>
            </a:r>
            <a:endParaRPr sz="2600">
              <a:latin typeface="Times New Roman"/>
              <a:ea typeface="Times New Roman"/>
              <a:cs typeface="Times New Roman"/>
              <a:sym typeface="Times New Roman"/>
            </a:endParaRPr>
          </a:p>
          <a:p>
            <a:pPr indent="-330200" lvl="0" marL="342900" rtl="0" algn="l">
              <a:spcBef>
                <a:spcPts val="560"/>
              </a:spcBef>
              <a:spcAft>
                <a:spcPts val="0"/>
              </a:spcAft>
              <a:buClr>
                <a:schemeClr val="dk1"/>
              </a:buClr>
              <a:buSzPts val="2600"/>
              <a:buChar char="•"/>
            </a:pPr>
            <a:r>
              <a:rPr lang="en-US" sz="2600">
                <a:latin typeface="Times New Roman"/>
                <a:ea typeface="Times New Roman"/>
                <a:cs typeface="Times New Roman"/>
                <a:sym typeface="Times New Roman"/>
              </a:rPr>
              <a:t>Choose a new dimensionality </a:t>
            </a:r>
            <a:r>
              <a:rPr i="1" lang="en-US" sz="2600">
                <a:latin typeface="Times New Roman"/>
                <a:ea typeface="Times New Roman"/>
                <a:cs typeface="Times New Roman"/>
                <a:sym typeface="Times New Roman"/>
              </a:rPr>
              <a:t>L &lt; M and compute the embedding so that the data points are </a:t>
            </a:r>
            <a:r>
              <a:rPr b="1" lang="en-US" sz="2600">
                <a:latin typeface="Times New Roman"/>
                <a:ea typeface="Times New Roman"/>
                <a:cs typeface="Times New Roman"/>
                <a:sym typeface="Times New Roman"/>
              </a:rPr>
              <a:t>z</a:t>
            </a:r>
            <a:r>
              <a:rPr b="1" baseline="-25000" lang="en-US" sz="2600">
                <a:latin typeface="Times New Roman"/>
                <a:ea typeface="Times New Roman"/>
                <a:cs typeface="Times New Roman"/>
                <a:sym typeface="Times New Roman"/>
              </a:rPr>
              <a:t>1</a:t>
            </a:r>
            <a:r>
              <a:rPr b="1" lang="en-US" sz="2600">
                <a:latin typeface="Times New Roman"/>
                <a:ea typeface="Times New Roman"/>
                <a:cs typeface="Times New Roman"/>
                <a:sym typeface="Times New Roman"/>
              </a:rPr>
              <a:t>, z</a:t>
            </a:r>
            <a:r>
              <a:rPr b="1" baseline="-25000" lang="en-US" sz="2600">
                <a:latin typeface="Times New Roman"/>
                <a:ea typeface="Times New Roman"/>
                <a:cs typeface="Times New Roman"/>
                <a:sym typeface="Times New Roman"/>
              </a:rPr>
              <a:t>2</a:t>
            </a:r>
            <a:r>
              <a:rPr b="1" lang="en-US" sz="2600">
                <a:latin typeface="Times New Roman"/>
                <a:ea typeface="Times New Roman"/>
                <a:cs typeface="Times New Roman"/>
                <a:sym typeface="Times New Roman"/>
              </a:rPr>
              <a:t>, . . . z</a:t>
            </a:r>
            <a:r>
              <a:rPr b="1" baseline="-25000" lang="en-US" sz="2600">
                <a:latin typeface="Times New Roman"/>
                <a:ea typeface="Times New Roman"/>
                <a:cs typeface="Times New Roman"/>
                <a:sym typeface="Times New Roman"/>
              </a:rPr>
              <a:t>N</a:t>
            </a:r>
            <a:r>
              <a:rPr b="1" lang="en-US" sz="2600">
                <a:latin typeface="Times New Roman"/>
                <a:ea typeface="Times New Roman"/>
                <a:cs typeface="Times New Roman"/>
                <a:sym typeface="Times New Roman"/>
              </a:rPr>
              <a:t> Ɛ R</a:t>
            </a:r>
            <a:r>
              <a:rPr b="1" baseline="30000" lang="en-US" sz="2600">
                <a:latin typeface="Times New Roman"/>
                <a:ea typeface="Times New Roman"/>
                <a:cs typeface="Times New Roman"/>
                <a:sym typeface="Times New Roman"/>
              </a:rPr>
              <a:t>L</a:t>
            </a:r>
            <a:r>
              <a:rPr b="1" i="1" lang="en-US" sz="2600">
                <a:latin typeface="Times New Roman"/>
                <a:ea typeface="Times New Roman"/>
                <a:cs typeface="Times New Roman"/>
                <a:sym typeface="Times New Roman"/>
              </a:rPr>
              <a:t>.</a:t>
            </a:r>
            <a:endParaRPr sz="26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sz="2600">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3"/>
          <p:cNvSpPr txBox="1"/>
          <p:nvPr>
            <p:ph idx="1" type="body"/>
          </p:nvPr>
        </p:nvSpPr>
        <p:spPr>
          <a:xfrm>
            <a:off x="76200" y="152400"/>
            <a:ext cx="8915400" cy="65532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2800"/>
              <a:buChar char="•"/>
            </a:pPr>
            <a:r>
              <a:rPr lang="en-US" sz="2800"/>
              <a:t>Need a cost function to minimize. </a:t>
            </a:r>
            <a:endParaRPr/>
          </a:p>
          <a:p>
            <a:pPr indent="-342900" lvl="0" marL="342900" rtl="0" algn="just">
              <a:spcBef>
                <a:spcPts val="560"/>
              </a:spcBef>
              <a:spcAft>
                <a:spcPts val="0"/>
              </a:spcAft>
              <a:buClr>
                <a:schemeClr val="dk1"/>
              </a:buClr>
              <a:buSzPts val="2800"/>
              <a:buChar char="•"/>
            </a:pPr>
            <a:r>
              <a:rPr lang="en-US" sz="2800"/>
              <a:t>Lots of choices for MDS cost functions, but the more common ones are:</a:t>
            </a:r>
            <a:endParaRPr/>
          </a:p>
          <a:p>
            <a:pPr indent="-342900" lvl="0" marL="342900" rtl="0" algn="just">
              <a:spcBef>
                <a:spcPts val="560"/>
              </a:spcBef>
              <a:spcAft>
                <a:spcPts val="0"/>
              </a:spcAft>
              <a:buClr>
                <a:schemeClr val="dk1"/>
              </a:buClr>
              <a:buSzPts val="2800"/>
              <a:buChar char="•"/>
            </a:pPr>
            <a:r>
              <a:rPr b="1" lang="en-US" sz="2800"/>
              <a:t>Kruskal–Shephard scaling (also known as least-squares)</a:t>
            </a:r>
            <a:endParaRPr/>
          </a:p>
          <a:p>
            <a:pPr indent="-342900" lvl="0" marL="342900" rtl="0" algn="just">
              <a:spcBef>
                <a:spcPts val="560"/>
              </a:spcBef>
              <a:spcAft>
                <a:spcPts val="0"/>
              </a:spcAft>
              <a:buClr>
                <a:schemeClr val="dk1"/>
              </a:buClr>
              <a:buSzPts val="2800"/>
              <a:buChar char="•"/>
            </a:pPr>
            <a:r>
              <a:rPr b="1" lang="en-US" sz="2800"/>
              <a:t>Sammon mapping </a:t>
            </a:r>
            <a:endParaRPr/>
          </a:p>
          <a:p>
            <a:pPr indent="-342900" lvl="0" marL="342900" rtl="0" algn="just">
              <a:spcBef>
                <a:spcPts val="560"/>
              </a:spcBef>
              <a:spcAft>
                <a:spcPts val="0"/>
              </a:spcAft>
              <a:buClr>
                <a:schemeClr val="dk1"/>
              </a:buClr>
              <a:buSzPts val="2800"/>
              <a:buChar char="•"/>
            </a:pPr>
            <a:r>
              <a:rPr lang="en-US" sz="2800"/>
              <a:t>This puts more weight onto short distances, so that neighbouring points stay the correct distance apart. </a:t>
            </a:r>
            <a:endParaRPr/>
          </a:p>
          <a:p>
            <a:pPr indent="-342900" lvl="0" marL="342900" rtl="0" algn="just">
              <a:spcBef>
                <a:spcPts val="560"/>
              </a:spcBef>
              <a:spcAft>
                <a:spcPts val="0"/>
              </a:spcAft>
              <a:buClr>
                <a:schemeClr val="dk1"/>
              </a:buClr>
              <a:buSzPts val="2800"/>
              <a:buChar char="•"/>
            </a:pPr>
            <a:r>
              <a:rPr lang="en-US" sz="2800"/>
              <a:t>In either case, gradient descent can be used to minimize the distances. </a:t>
            </a:r>
            <a:endParaRPr sz="2800"/>
          </a:p>
          <a:p>
            <a:pPr indent="-342900" lvl="0" marL="342900" rtl="0" algn="just">
              <a:spcBef>
                <a:spcPts val="560"/>
              </a:spcBef>
              <a:spcAft>
                <a:spcPts val="0"/>
              </a:spcAft>
              <a:buClr>
                <a:schemeClr val="dk1"/>
              </a:buClr>
              <a:buSzPts val="2800"/>
              <a:buChar char="•"/>
            </a:pPr>
            <a:r>
              <a:rPr lang="en-US" sz="2800"/>
              <a:t>It is possible to construct a direct algorithm that does not have to use gradient descent.</a:t>
            </a:r>
            <a:endParaRPr/>
          </a:p>
          <a:p>
            <a:pPr indent="-342900" lvl="0" marL="342900" rtl="0" algn="just">
              <a:spcBef>
                <a:spcPts val="560"/>
              </a:spcBef>
              <a:spcAft>
                <a:spcPts val="0"/>
              </a:spcAft>
              <a:buClr>
                <a:schemeClr val="dk1"/>
              </a:buClr>
              <a:buSzPts val="2800"/>
              <a:buChar char="•"/>
            </a:pPr>
            <a:r>
              <a:rPr lang="en-US" sz="2800"/>
              <a:t>This classical MDS algorithm works fine on flat manifolds (data spaces). </a:t>
            </a:r>
            <a:endParaRPr/>
          </a:p>
          <a:p>
            <a:pPr indent="-342900" lvl="0" marL="342900" rtl="0" algn="just">
              <a:spcBef>
                <a:spcPts val="560"/>
              </a:spcBef>
              <a:spcAft>
                <a:spcPts val="0"/>
              </a:spcAft>
              <a:buClr>
                <a:schemeClr val="dk1"/>
              </a:buClr>
              <a:buSzPts val="2800"/>
              <a:buChar char="•"/>
            </a:pPr>
            <a:r>
              <a:rPr lang="en-US" sz="2800"/>
              <a:t>Interested in manifolds that are not flat, and this is where Isomap comes in. </a:t>
            </a:r>
            <a:endParaRPr sz="2800"/>
          </a:p>
        </p:txBody>
      </p:sp>
      <p:sp>
        <p:nvSpPr>
          <p:cNvPr id="501" name="Google Shape;501;p33"/>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33"/>
          <p:cNvSpPr/>
          <p:nvPr/>
        </p:nvSpPr>
        <p:spPr>
          <a:xfrm>
            <a:off x="0" y="942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03" name="Google Shape;503;p33"/>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33"/>
          <p:cNvSpPr/>
          <p:nvPr/>
        </p:nvSpPr>
        <p:spPr>
          <a:xfrm>
            <a:off x="0" y="942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05" name="Google Shape;505;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33"/>
          <p:cNvSpPr/>
          <p:nvPr/>
        </p:nvSpPr>
        <p:spPr>
          <a:xfrm>
            <a:off x="0" y="5905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507" name="Google Shape;507;p33"/>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33"/>
          <p:cNvSpPr/>
          <p:nvPr/>
        </p:nvSpPr>
        <p:spPr>
          <a:xfrm>
            <a:off x="0" y="942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09" name="Google Shape;509;p33"/>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33"/>
          <p:cNvSpPr/>
          <p:nvPr/>
        </p:nvSpPr>
        <p:spPr>
          <a:xfrm>
            <a:off x="0" y="9429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4"/>
          <p:cNvSpPr txBox="1"/>
          <p:nvPr>
            <p:ph idx="1" type="body"/>
          </p:nvPr>
        </p:nvSpPr>
        <p:spPr>
          <a:xfrm>
            <a:off x="152400" y="152400"/>
            <a:ext cx="8839200" cy="6477000"/>
          </a:xfrm>
          <a:prstGeom prst="rect">
            <a:avLst/>
          </a:prstGeom>
          <a:noFill/>
          <a:ln>
            <a:noFill/>
          </a:ln>
        </p:spPr>
        <p:txBody>
          <a:bodyPr anchorCtr="0" anchor="t" bIns="45700" lIns="91425" spcFirstLastPara="1" rIns="91425" wrap="square" tIns="45700">
            <a:normAutofit fontScale="92500" lnSpcReduction="10000"/>
          </a:bodyPr>
          <a:lstStyle/>
          <a:p>
            <a:pPr indent="-178435" lvl="0" marL="342900" rtl="0" algn="just">
              <a:spcBef>
                <a:spcPts val="0"/>
              </a:spcBef>
              <a:spcAft>
                <a:spcPts val="0"/>
              </a:spcAft>
              <a:buClr>
                <a:schemeClr val="dk1"/>
              </a:buClr>
              <a:buSzPct val="100000"/>
              <a:buNone/>
            </a:pPr>
            <a:r>
              <a:t/>
            </a:r>
            <a:endParaRPr sz="2800"/>
          </a:p>
          <a:p>
            <a:pPr indent="-342900" lvl="0" marL="342900" rtl="0" algn="just">
              <a:spcBef>
                <a:spcPts val="518"/>
              </a:spcBef>
              <a:spcAft>
                <a:spcPts val="0"/>
              </a:spcAft>
              <a:buClr>
                <a:schemeClr val="dk1"/>
              </a:buClr>
              <a:buSzPct val="100000"/>
              <a:buChar char="•"/>
            </a:pPr>
            <a:r>
              <a:rPr lang="en-US" sz="2800"/>
              <a:t>The algorithm has to construct the distance matrix for all pairs of data points on the manifold, but there is no information about the manifold, and so the distances can’t be computed exactly.</a:t>
            </a:r>
            <a:endParaRPr/>
          </a:p>
          <a:p>
            <a:pPr indent="-342900" lvl="0" marL="342900" rtl="0" algn="just">
              <a:spcBef>
                <a:spcPts val="518"/>
              </a:spcBef>
              <a:spcAft>
                <a:spcPts val="0"/>
              </a:spcAft>
              <a:buClr>
                <a:schemeClr val="dk1"/>
              </a:buClr>
              <a:buSzPct val="100000"/>
              <a:buChar char="•"/>
            </a:pPr>
            <a:r>
              <a:rPr lang="en-US" sz="2800"/>
              <a:t>It builds up the distances between points that are far away by finding paths that run through points that are close together, i.e., that are neighbours, and then uses normal MDS on this distance matrix: Floyd’s and Dijkstra’s algorithms are well-known algorithms for finding shortest paths on graphs. </a:t>
            </a:r>
            <a:endParaRPr/>
          </a:p>
          <a:p>
            <a:pPr indent="-342900" lvl="0" marL="342900" rtl="0" algn="just">
              <a:spcBef>
                <a:spcPts val="518"/>
              </a:spcBef>
              <a:spcAft>
                <a:spcPts val="0"/>
              </a:spcAft>
              <a:buClr>
                <a:schemeClr val="dk1"/>
              </a:buClr>
              <a:buSzPct val="100000"/>
              <a:buChar char="•"/>
            </a:pPr>
            <a:r>
              <a:rPr lang="en-US" sz="2800"/>
              <a:t>They are of O(N</a:t>
            </a:r>
            <a:r>
              <a:rPr baseline="30000" lang="en-US" sz="2800"/>
              <a:t>3</a:t>
            </a:r>
            <a:r>
              <a:rPr lang="en-US" sz="2800"/>
              <a:t>) and O(N</a:t>
            </a:r>
            <a:r>
              <a:rPr baseline="30000" lang="en-US" sz="2800"/>
              <a:t>2</a:t>
            </a:r>
            <a:r>
              <a:rPr lang="en-US" sz="2800"/>
              <a:t>) time complexity, respectively</a:t>
            </a:r>
            <a:r>
              <a:rPr i="1" lang="en-US" sz="2800"/>
              <a:t>.</a:t>
            </a:r>
            <a:endParaRPr/>
          </a:p>
          <a:p>
            <a:pPr indent="-342900" lvl="0" marL="342900" rtl="0" algn="just">
              <a:spcBef>
                <a:spcPts val="518"/>
              </a:spcBef>
              <a:spcAft>
                <a:spcPts val="0"/>
              </a:spcAft>
              <a:buClr>
                <a:schemeClr val="dk1"/>
              </a:buClr>
              <a:buSzPct val="100000"/>
              <a:buChar char="•"/>
            </a:pPr>
            <a:r>
              <a:rPr lang="en-US" sz="2800"/>
              <a:t>There is one practical aspect of Isomap, which is that getting the number of neighbours right can be important, otherwise the graph splits into separate components (that is, segments of the graph that are not linked to each other), which have infinite distance between them.</a:t>
            </a:r>
            <a:endParaRPr/>
          </a:p>
          <a:p>
            <a:pPr indent="-178435" lvl="0" marL="342900" rtl="0" algn="just">
              <a:spcBef>
                <a:spcPts val="518"/>
              </a:spcBef>
              <a:spcAft>
                <a:spcPts val="0"/>
              </a:spcAft>
              <a:buClr>
                <a:schemeClr val="dk1"/>
              </a:buClr>
              <a:buSzPct val="100000"/>
              <a:buNone/>
            </a:pPr>
            <a:r>
              <a:t/>
            </a:r>
            <a:endParaRPr sz="2800"/>
          </a:p>
          <a:p>
            <a:pPr indent="-178435" lvl="0" marL="342900" rtl="0" algn="just">
              <a:spcBef>
                <a:spcPts val="518"/>
              </a:spcBef>
              <a:spcAft>
                <a:spcPts val="0"/>
              </a:spcAft>
              <a:buClr>
                <a:schemeClr val="dk1"/>
              </a:buClr>
              <a:buSzPct val="100000"/>
              <a:buNone/>
            </a:pPr>
            <a:r>
              <a:t/>
            </a:r>
            <a:endParaRPr sz="2800"/>
          </a:p>
          <a:p>
            <a:pPr indent="-178435" lvl="0" marL="342900" rtl="0" algn="just">
              <a:spcBef>
                <a:spcPts val="518"/>
              </a:spcBef>
              <a:spcAft>
                <a:spcPts val="0"/>
              </a:spcAft>
              <a:buClr>
                <a:schemeClr val="dk1"/>
              </a:buClr>
              <a:buSzPct val="100000"/>
              <a:buNone/>
            </a:pPr>
            <a:r>
              <a:t/>
            </a:r>
            <a:endParaRPr sz="2800"/>
          </a:p>
        </p:txBody>
      </p:sp>
      <p:sp>
        <p:nvSpPr>
          <p:cNvPr id="516" name="Google Shape;516;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4"/>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34"/>
          <p:cNvSpPr/>
          <p:nvPr/>
        </p:nvSpPr>
        <p:spPr>
          <a:xfrm>
            <a:off x="0" y="82867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5"/>
          <p:cNvSpPr txBox="1"/>
          <p:nvPr>
            <p:ph idx="1" type="body"/>
          </p:nvPr>
        </p:nvSpPr>
        <p:spPr>
          <a:xfrm>
            <a:off x="152400" y="76200"/>
            <a:ext cx="8839200" cy="6705600"/>
          </a:xfrm>
          <a:prstGeom prst="rect">
            <a:avLst/>
          </a:prstGeom>
          <a:noFill/>
          <a:ln>
            <a:noFill/>
          </a:ln>
        </p:spPr>
        <p:txBody>
          <a:bodyPr anchorCtr="0" anchor="t" bIns="45700" lIns="91425" spcFirstLastPara="1" rIns="91425" wrap="square" tIns="45700">
            <a:normAutofit/>
          </a:bodyPr>
          <a:lstStyle/>
          <a:p>
            <a:pPr indent="0" lvl="0" marL="342900" rtl="0" algn="just">
              <a:spcBef>
                <a:spcPts val="0"/>
              </a:spcBef>
              <a:spcAft>
                <a:spcPts val="0"/>
              </a:spcAft>
              <a:buNone/>
            </a:pPr>
            <a:r>
              <a:t/>
            </a:r>
            <a:endParaRPr/>
          </a:p>
          <a:p>
            <a:pPr indent="-342900" lvl="0" marL="342900" rtl="0" algn="just">
              <a:spcBef>
                <a:spcPts val="560"/>
              </a:spcBef>
              <a:spcAft>
                <a:spcPts val="0"/>
              </a:spcAft>
              <a:buClr>
                <a:schemeClr val="dk1"/>
              </a:buClr>
              <a:buSzPts val="2800"/>
              <a:buChar char="•"/>
            </a:pPr>
            <a:r>
              <a:rPr lang="en-US" sz="2800"/>
              <a:t>Be careful to deal only with the largest component, which means that you end up with less data than you started with.</a:t>
            </a:r>
            <a:endParaRPr/>
          </a:p>
          <a:p>
            <a:pPr indent="-342900" lvl="0" marL="342900" rtl="0" algn="just">
              <a:spcBef>
                <a:spcPts val="560"/>
              </a:spcBef>
              <a:spcAft>
                <a:spcPts val="0"/>
              </a:spcAft>
              <a:buClr>
                <a:schemeClr val="dk1"/>
              </a:buClr>
              <a:buSzPts val="2800"/>
              <a:buChar char="•"/>
            </a:pPr>
            <a:r>
              <a:rPr lang="en-US" sz="2800"/>
              <a:t>By increasing the neighbourhood size over 50, so that each point had more neighbours than were in its class, the results shown in the figure were produced.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6"/>
          <p:cNvSpPr txBox="1"/>
          <p:nvPr>
            <p:ph type="title"/>
          </p:nvPr>
        </p:nvSpPr>
        <p:spPr>
          <a:xfrm>
            <a:off x="457200" y="304800"/>
            <a:ext cx="822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659">
                <a:solidFill>
                  <a:srgbClr val="FF0000"/>
                </a:solidFill>
                <a:latin typeface="Times New Roman"/>
                <a:ea typeface="Times New Roman"/>
                <a:cs typeface="Times New Roman"/>
                <a:sym typeface="Times New Roman"/>
              </a:rPr>
              <a:t>Evolutionary Learning</a:t>
            </a:r>
            <a:endParaRPr sz="3659">
              <a:solidFill>
                <a:srgbClr val="FF0000"/>
              </a:solidFill>
              <a:latin typeface="Times New Roman"/>
              <a:ea typeface="Times New Roman"/>
              <a:cs typeface="Times New Roman"/>
              <a:sym typeface="Times New Roman"/>
            </a:endParaRPr>
          </a:p>
        </p:txBody>
      </p:sp>
      <p:sp>
        <p:nvSpPr>
          <p:cNvPr id="529" name="Google Shape;529;p36"/>
          <p:cNvSpPr txBox="1"/>
          <p:nvPr>
            <p:ph idx="1" type="body"/>
          </p:nvPr>
        </p:nvSpPr>
        <p:spPr>
          <a:xfrm>
            <a:off x="76200" y="914400"/>
            <a:ext cx="8991600" cy="5791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Need to view Evolution as a search problem. </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Animals are competing with each other in all kinds of ways—for example, eating each other—which encourages them to try to find camouflage colours, become toxic to certain predators, etc.</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Evolution works on a population through an imaginary fitness landscape, which has an implicit bias towards animals that are ‘fitter’, i.e., those animals that live long enough to reproduce, are more attractive, and so get more mates, and generate more and healthier offspring. </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The Genetic Algorithm models the Genetic process that gives rise to Evolution.</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Both parents give some genetic information to their off-spring.</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In Fig. 10.1, in biological organisms, each parent passes on one chromosome out of their two, and so there is a 50% chance of any gene making it into the offspring. </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Of the two versions of each gene (one from each parent) one allele (variation) is selected.</a:t>
            </a:r>
            <a:endParaRPr sz="2200">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37"/>
          <p:cNvPicPr preferRelativeResize="0"/>
          <p:nvPr/>
        </p:nvPicPr>
        <p:blipFill rotWithShape="1">
          <a:blip r:embed="rId3">
            <a:alphaModFix/>
          </a:blip>
          <a:srcRect b="0" l="0" r="0" t="0"/>
          <a:stretch/>
        </p:blipFill>
        <p:spPr>
          <a:xfrm>
            <a:off x="533400" y="304800"/>
            <a:ext cx="4648200" cy="3200400"/>
          </a:xfrm>
          <a:prstGeom prst="rect">
            <a:avLst/>
          </a:prstGeom>
          <a:noFill/>
          <a:ln>
            <a:noFill/>
          </a:ln>
        </p:spPr>
      </p:pic>
      <p:sp>
        <p:nvSpPr>
          <p:cNvPr id="535" name="Google Shape;535;p37"/>
          <p:cNvSpPr/>
          <p:nvPr/>
        </p:nvSpPr>
        <p:spPr>
          <a:xfrm>
            <a:off x="5334000" y="616803"/>
            <a:ext cx="3505200"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chemeClr val="dk1"/>
                </a:solidFill>
                <a:latin typeface="Calibri"/>
                <a:ea typeface="Calibri"/>
                <a:cs typeface="Calibri"/>
                <a:sym typeface="Calibri"/>
              </a:rPr>
              <a:t>FIGURE 10.1 Each adult in the mating pair passes one of their two chromosomes to their offspring.</a:t>
            </a:r>
            <a:endParaRPr sz="1600">
              <a:solidFill>
                <a:schemeClr val="dk1"/>
              </a:solidFill>
              <a:latin typeface="Calibri"/>
              <a:ea typeface="Calibri"/>
              <a:cs typeface="Calibri"/>
              <a:sym typeface="Calibri"/>
            </a:endParaRPr>
          </a:p>
        </p:txBody>
      </p:sp>
      <p:sp>
        <p:nvSpPr>
          <p:cNvPr id="536" name="Google Shape;536;p37"/>
          <p:cNvSpPr txBox="1"/>
          <p:nvPr>
            <p:ph idx="1" type="body"/>
          </p:nvPr>
        </p:nvSpPr>
        <p:spPr>
          <a:xfrm>
            <a:off x="152400" y="3505200"/>
            <a:ext cx="8839200" cy="2667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300"/>
              <a:buChar char="•"/>
            </a:pPr>
            <a:r>
              <a:rPr lang="en-US" sz="2300"/>
              <a:t>Of the two versions of each gene (one from each parent) one allele (variation) is selected. </a:t>
            </a:r>
            <a:endParaRPr/>
          </a:p>
          <a:p>
            <a:pPr indent="-342900" lvl="0" marL="342900" rtl="0" algn="just">
              <a:spcBef>
                <a:spcPts val="460"/>
              </a:spcBef>
              <a:spcAft>
                <a:spcPts val="0"/>
              </a:spcAft>
              <a:buClr>
                <a:schemeClr val="dk1"/>
              </a:buClr>
              <a:buSzPts val="2300"/>
              <a:buChar char="•"/>
            </a:pPr>
            <a:r>
              <a:rPr lang="en-US" sz="2300"/>
              <a:t>Hence, children have similarities with their parents, and there is lots of genetic inheritance. </a:t>
            </a:r>
            <a:endParaRPr/>
          </a:p>
          <a:p>
            <a:pPr indent="-342900" lvl="0" marL="342900" rtl="0" algn="just">
              <a:spcBef>
                <a:spcPts val="460"/>
              </a:spcBef>
              <a:spcAft>
                <a:spcPts val="0"/>
              </a:spcAft>
              <a:buClr>
                <a:schemeClr val="dk1"/>
              </a:buClr>
              <a:buSzPts val="2300"/>
              <a:buChar char="•"/>
            </a:pPr>
            <a:r>
              <a:rPr lang="en-US" sz="2300"/>
              <a:t>However, there are also random mutations, caused by copying errors when the chromosome material is reproduced, which means that some things do change over time.</a:t>
            </a:r>
            <a:endParaRPr sz="23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8"/>
          <p:cNvSpPr txBox="1"/>
          <p:nvPr>
            <p:ph idx="1" type="body"/>
          </p:nvPr>
        </p:nvSpPr>
        <p:spPr>
          <a:xfrm>
            <a:off x="152400" y="685800"/>
            <a:ext cx="8839200" cy="55626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t>The genetic algorithm shows many of the things that are best and worst about machine learning: it is often, but not always, very effective, it has an array of parameters that are crucial, but hard to set, and it is impossible to guarantee that it will find a result that is always good at all. </a:t>
            </a:r>
            <a:endParaRPr/>
          </a:p>
          <a:p>
            <a:pPr indent="-342900" lvl="0" marL="342900" rtl="0" algn="just">
              <a:spcBef>
                <a:spcPts val="480"/>
              </a:spcBef>
              <a:spcAft>
                <a:spcPts val="0"/>
              </a:spcAft>
              <a:buClr>
                <a:schemeClr val="dk1"/>
              </a:buClr>
              <a:buSzPts val="2400"/>
              <a:buChar char="•"/>
            </a:pPr>
            <a:r>
              <a:rPr lang="en-US" sz="2400"/>
              <a:t>Genetic algorithms perform both Exploitation and Exploration</a:t>
            </a:r>
            <a:r>
              <a:rPr lang="en-US" sz="2400"/>
              <a:t>.</a:t>
            </a:r>
            <a:endParaRPr/>
          </a:p>
          <a:p>
            <a:pPr indent="-342900" lvl="0" marL="342900" rtl="0" algn="just">
              <a:spcBef>
                <a:spcPts val="480"/>
              </a:spcBef>
              <a:spcAft>
                <a:spcPts val="0"/>
              </a:spcAft>
              <a:buClr>
                <a:schemeClr val="dk1"/>
              </a:buClr>
              <a:buSzPts val="2400"/>
              <a:buChar char="•"/>
            </a:pPr>
            <a:r>
              <a:rPr lang="en-US" sz="2400"/>
              <a:t>Make incremental improvements to current good solutions, but also find radically new solutions, some of which may be better than the current best. </a:t>
            </a:r>
            <a:endParaRPr/>
          </a:p>
          <a:p>
            <a:pPr indent="-342900" lvl="0" marL="342900" rtl="0" algn="just">
              <a:spcBef>
                <a:spcPts val="480"/>
              </a:spcBef>
              <a:spcAft>
                <a:spcPts val="0"/>
              </a:spcAft>
              <a:buClr>
                <a:schemeClr val="dk1"/>
              </a:buClr>
              <a:buSzPts val="2400"/>
              <a:buChar char="•"/>
            </a:pPr>
            <a:r>
              <a:rPr lang="en-US" sz="2400"/>
              <a:t>A variation of the genetic algorithm that acts on trees that represent  computer programs that is known as Genetic  Programming, and a set of algorithms that use sampling from a probability distribution rather than an evolving population in order to find better solutions.</a:t>
            </a:r>
            <a:endParaRPr sz="2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9"/>
          <p:cNvSpPr txBox="1"/>
          <p:nvPr>
            <p:ph type="title"/>
          </p:nvPr>
        </p:nvSpPr>
        <p:spPr>
          <a:xfrm>
            <a:off x="457200" y="533400"/>
            <a:ext cx="822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160">
                <a:solidFill>
                  <a:srgbClr val="FF0000"/>
                </a:solidFill>
                <a:latin typeface="Times New Roman"/>
                <a:ea typeface="Times New Roman"/>
                <a:cs typeface="Times New Roman"/>
                <a:sym typeface="Times New Roman"/>
              </a:rPr>
              <a:t>THE GENETIC ALGORITHM</a:t>
            </a:r>
            <a:r>
              <a:rPr lang="en-US" sz="3160">
                <a:solidFill>
                  <a:srgbClr val="FF0000"/>
                </a:solidFill>
              </a:rPr>
              <a:t> (GA)</a:t>
            </a:r>
            <a:endParaRPr sz="3160">
              <a:solidFill>
                <a:srgbClr val="FF0000"/>
              </a:solidFill>
            </a:endParaRPr>
          </a:p>
        </p:txBody>
      </p:sp>
      <p:sp>
        <p:nvSpPr>
          <p:cNvPr id="547" name="Google Shape;547;p39"/>
          <p:cNvSpPr txBox="1"/>
          <p:nvPr>
            <p:ph idx="1" type="body"/>
          </p:nvPr>
        </p:nvSpPr>
        <p:spPr>
          <a:xfrm>
            <a:off x="304800" y="1269425"/>
            <a:ext cx="8610600" cy="52077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Genetic algorithm is a class of evolutionary algorithm</a:t>
            </a:r>
            <a:endParaRPr sz="2400">
              <a:latin typeface="Times New Roman"/>
              <a:ea typeface="Times New Roman"/>
              <a:cs typeface="Times New Roman"/>
              <a:sym typeface="Times New Roman"/>
            </a:endParaRPr>
          </a:p>
          <a:p>
            <a:pPr indent="-342900" lvl="0" marL="342900" rtl="0" algn="just">
              <a:spcBef>
                <a:spcPts val="0"/>
              </a:spcBef>
              <a:spcAft>
                <a:spcPts val="0"/>
              </a:spcAft>
              <a:buSzPts val="2400"/>
              <a:buFont typeface="Times New Roman"/>
              <a:buChar char="•"/>
            </a:pPr>
            <a:r>
              <a:rPr lang="en-US" sz="2400">
                <a:latin typeface="Times New Roman"/>
                <a:ea typeface="Times New Roman"/>
                <a:cs typeface="Times New Roman"/>
                <a:sym typeface="Times New Roman"/>
              </a:rPr>
              <a:t>GA is a search technique used in computing to find approximate solutions to optimization problems and search problems.</a:t>
            </a:r>
            <a:endParaRPr sz="2400">
              <a:latin typeface="Times New Roman"/>
              <a:ea typeface="Times New Roman"/>
              <a:cs typeface="Times New Roman"/>
              <a:sym typeface="Times New Roman"/>
            </a:endParaRPr>
          </a:p>
          <a:p>
            <a:pPr indent="-342900" lvl="0" marL="342900" rtl="0" algn="just">
              <a:spcBef>
                <a:spcPts val="0"/>
              </a:spcBef>
              <a:spcAft>
                <a:spcPts val="0"/>
              </a:spcAft>
              <a:buSzPts val="2400"/>
              <a:buFont typeface="Times New Roman"/>
              <a:buChar char="•"/>
            </a:pPr>
            <a:r>
              <a:rPr lang="en-US" sz="2400">
                <a:latin typeface="Times New Roman"/>
                <a:ea typeface="Times New Roman"/>
                <a:cs typeface="Times New Roman"/>
                <a:sym typeface="Times New Roman"/>
              </a:rPr>
              <a:t>This algorithm reflects the process of natural selection where the fittest individuals are selected for reproduction in order to produce offspring of the next generation.</a:t>
            </a:r>
            <a:endParaRPr sz="2400">
              <a:latin typeface="Times New Roman"/>
              <a:ea typeface="Times New Roman"/>
              <a:cs typeface="Times New Roman"/>
              <a:sym typeface="Times New Roman"/>
            </a:endParaRPr>
          </a:p>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is a Computational Approximation to how evolution performs search, which is by producing modifications of the parent genomes in their offspring and thus producing new individuals with different fitness.</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Neuron—it attempts to abstract away everything except the important parts that we need to understand what evolution does.</a:t>
            </a:r>
            <a:endParaRPr>
              <a:latin typeface="Times New Roman"/>
              <a:ea typeface="Times New Roman"/>
              <a:cs typeface="Times New Roman"/>
              <a:sym typeface="Times New Roman"/>
            </a:endParaRPr>
          </a:p>
          <a:p>
            <a:pPr indent="0" lvl="0" marL="342900" rtl="0" algn="just">
              <a:spcBef>
                <a:spcPts val="480"/>
              </a:spcBef>
              <a:spcAft>
                <a:spcPts val="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2e7d80f2e22_0_39"/>
          <p:cNvSpPr txBox="1"/>
          <p:nvPr>
            <p:ph type="title"/>
          </p:nvPr>
        </p:nvSpPr>
        <p:spPr>
          <a:xfrm>
            <a:off x="457200" y="533400"/>
            <a:ext cx="822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60"/>
              <a:buFont typeface="Calibri"/>
              <a:buNone/>
            </a:pPr>
            <a:r>
              <a:rPr lang="en-US" sz="3160">
                <a:solidFill>
                  <a:srgbClr val="FF0000"/>
                </a:solidFill>
                <a:latin typeface="Times New Roman"/>
                <a:ea typeface="Times New Roman"/>
                <a:cs typeface="Times New Roman"/>
                <a:sym typeface="Times New Roman"/>
              </a:rPr>
              <a:t>THE GENETIC ALGORITHM</a:t>
            </a:r>
            <a:r>
              <a:rPr lang="en-US" sz="3160">
                <a:solidFill>
                  <a:srgbClr val="FF0000"/>
                </a:solidFill>
              </a:rPr>
              <a:t> (GA)</a:t>
            </a:r>
            <a:endParaRPr sz="3160">
              <a:solidFill>
                <a:srgbClr val="FF0000"/>
              </a:solidFill>
            </a:endParaRPr>
          </a:p>
        </p:txBody>
      </p:sp>
      <p:sp>
        <p:nvSpPr>
          <p:cNvPr id="553" name="Google Shape;553;g2e7d80f2e22_0_39"/>
          <p:cNvSpPr txBox="1"/>
          <p:nvPr>
            <p:ph idx="1" type="body"/>
          </p:nvPr>
        </p:nvSpPr>
        <p:spPr>
          <a:xfrm>
            <a:off x="304800" y="1066800"/>
            <a:ext cx="8610600" cy="5410200"/>
          </a:xfrm>
          <a:prstGeom prst="rect">
            <a:avLst/>
          </a:prstGeom>
          <a:noFill/>
          <a:ln>
            <a:noFill/>
          </a:ln>
        </p:spPr>
        <p:txBody>
          <a:bodyPr anchorCtr="0" anchor="t" bIns="45700" lIns="91425" spcFirstLastPara="1" rIns="91425" wrap="square" tIns="45700">
            <a:noAutofit/>
          </a:bodyPr>
          <a:lstStyle/>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From this principle, model simple genetics inside a computer and solve problems with it are: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 a method for representing problems as chromosomes</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 a way to calculate the fitness of a solution</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 a selection method to choose parents</a:t>
            </a:r>
            <a:endParaRPr>
              <a:latin typeface="Times New Roman"/>
              <a:ea typeface="Times New Roman"/>
              <a:cs typeface="Times New Roman"/>
              <a:sym typeface="Times New Roman"/>
            </a:endParaRPr>
          </a:p>
          <a:p>
            <a:pPr indent="-285750" lvl="1" marL="74295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a way to generate offspring by breeding the parents</a:t>
            </a:r>
            <a:endParaRPr sz="2400">
              <a:latin typeface="Times New Roman"/>
              <a:ea typeface="Times New Roman"/>
              <a:cs typeface="Times New Roman"/>
              <a:sym typeface="Times New Roman"/>
            </a:endParaRPr>
          </a:p>
          <a:p>
            <a:pPr indent="0" lvl="0" marL="742950" rtl="0" algn="just">
              <a:spcBef>
                <a:spcPts val="480"/>
              </a:spcBef>
              <a:spcAft>
                <a:spcPts val="0"/>
              </a:spcAft>
              <a:buNone/>
            </a:pPr>
            <a:r>
              <a:t/>
            </a:r>
            <a:endParaRPr sz="2400">
              <a:latin typeface="Times New Roman"/>
              <a:ea typeface="Times New Roman"/>
              <a:cs typeface="Times New Roman"/>
              <a:sym typeface="Times New Roman"/>
            </a:endParaRPr>
          </a:p>
          <a:p>
            <a:pPr indent="0" lvl="0" marL="742950" rtl="0" algn="just">
              <a:spcBef>
                <a:spcPts val="480"/>
              </a:spcBef>
              <a:spcAft>
                <a:spcPts val="0"/>
              </a:spcAft>
              <a:buNone/>
            </a:pPr>
            <a:r>
              <a:rPr lang="en-US" sz="2400">
                <a:latin typeface="Times New Roman"/>
                <a:ea typeface="Times New Roman"/>
                <a:cs typeface="Times New Roman"/>
                <a:sym typeface="Times New Roman"/>
              </a:rPr>
              <a:t>Applications: Image processing, Designing electronic circuits, code-breaking, artificial creativity</a:t>
            </a:r>
            <a:endParaRPr sz="24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2e7d80f2e22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59" name="Google Shape;559;g2e7d80f2e22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560" name="Google Shape;560;g2e7d80f2e22_0_0"/>
          <p:cNvPicPr preferRelativeResize="0"/>
          <p:nvPr/>
        </p:nvPicPr>
        <p:blipFill>
          <a:blip r:embed="rId3">
            <a:alphaModFix/>
          </a:blip>
          <a:stretch>
            <a:fillRect/>
          </a:stretch>
        </p:blipFill>
        <p:spPr>
          <a:xfrm>
            <a:off x="0" y="56200"/>
            <a:ext cx="9057149" cy="6801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0"/>
          <p:cNvSpPr txBox="1"/>
          <p:nvPr>
            <p:ph idx="1" type="body"/>
          </p:nvPr>
        </p:nvSpPr>
        <p:spPr>
          <a:xfrm>
            <a:off x="457200" y="762000"/>
            <a:ext cx="8229600" cy="5334000"/>
          </a:xfrm>
          <a:prstGeom prst="rect">
            <a:avLst/>
          </a:prstGeom>
          <a:noFill/>
          <a:ln>
            <a:noFill/>
          </a:ln>
        </p:spPr>
        <p:txBody>
          <a:bodyPr anchorCtr="0" anchor="t" bIns="45700" lIns="91425" spcFirstLastPara="1" rIns="91425" wrap="square" tIns="45700">
            <a:normAutofit/>
          </a:bodyPr>
          <a:lstStyle/>
          <a:p>
            <a:pPr indent="-327660" lvl="0" marL="342900" rtl="0" algn="just">
              <a:lnSpc>
                <a:spcPct val="80000"/>
              </a:lnSpc>
              <a:spcBef>
                <a:spcPts val="0"/>
              </a:spcBef>
              <a:spcAft>
                <a:spcPts val="0"/>
              </a:spcAft>
              <a:buClr>
                <a:schemeClr val="dk1"/>
              </a:buClr>
              <a:buSzPts val="2480"/>
              <a:buFont typeface="Times New Roman"/>
              <a:buChar char="•"/>
            </a:pPr>
            <a:r>
              <a:rPr lang="en-US" sz="2480">
                <a:latin typeface="Times New Roman"/>
                <a:ea typeface="Times New Roman"/>
                <a:cs typeface="Times New Roman"/>
                <a:sym typeface="Times New Roman"/>
              </a:rPr>
              <a:t>Ex: NP-complete problem (runs in exponential time or worse in the number of inputs) known as the knapsack problem and is easy to describe, but difficult to solve in general.</a:t>
            </a:r>
            <a:endParaRPr sz="2480">
              <a:latin typeface="Times New Roman"/>
              <a:ea typeface="Times New Roman"/>
              <a:cs typeface="Times New Roman"/>
              <a:sym typeface="Times New Roman"/>
            </a:endParaRPr>
          </a:p>
          <a:p>
            <a:pPr indent="-327660" lvl="0" marL="342900" rtl="0" algn="just">
              <a:lnSpc>
                <a:spcPct val="80000"/>
              </a:lnSpc>
              <a:spcBef>
                <a:spcPts val="544"/>
              </a:spcBef>
              <a:spcAft>
                <a:spcPts val="0"/>
              </a:spcAft>
              <a:buClr>
                <a:schemeClr val="dk1"/>
              </a:buClr>
              <a:buSzPts val="2480"/>
              <a:buFont typeface="Times New Roman"/>
              <a:buChar char="•"/>
            </a:pPr>
            <a:r>
              <a:rPr lang="en-US" sz="2480">
                <a:latin typeface="Times New Roman"/>
                <a:ea typeface="Times New Roman"/>
                <a:cs typeface="Times New Roman"/>
                <a:sym typeface="Times New Roman"/>
              </a:rPr>
              <a:t>To measure how much space it takes up and then write a program to work out how to fill as much of the bag as possible, so that you get the best value for your airfare. </a:t>
            </a:r>
            <a:endParaRPr sz="2480">
              <a:latin typeface="Times New Roman"/>
              <a:ea typeface="Times New Roman"/>
              <a:cs typeface="Times New Roman"/>
              <a:sym typeface="Times New Roman"/>
            </a:endParaRPr>
          </a:p>
          <a:p>
            <a:pPr indent="-327660" lvl="0" marL="342900" rtl="0" algn="just">
              <a:lnSpc>
                <a:spcPct val="80000"/>
              </a:lnSpc>
              <a:spcBef>
                <a:spcPts val="544"/>
              </a:spcBef>
              <a:spcAft>
                <a:spcPts val="0"/>
              </a:spcAft>
              <a:buClr>
                <a:schemeClr val="dk1"/>
              </a:buClr>
              <a:buSzPts val="2480"/>
              <a:buFont typeface="Times New Roman"/>
              <a:buChar char="•"/>
            </a:pPr>
            <a:r>
              <a:rPr lang="en-US" sz="2480">
                <a:latin typeface="Times New Roman"/>
                <a:ea typeface="Times New Roman"/>
                <a:cs typeface="Times New Roman"/>
                <a:sym typeface="Times New Roman"/>
              </a:rPr>
              <a:t>This problem, and variations of it, appear in various disguises in Cryptography, Combinatorics, Applied Mathematics, Logistics, and Business, so it is an important problem.</a:t>
            </a:r>
            <a:endParaRPr sz="2480">
              <a:latin typeface="Times New Roman"/>
              <a:ea typeface="Times New Roman"/>
              <a:cs typeface="Times New Roman"/>
              <a:sym typeface="Times New Roman"/>
            </a:endParaRPr>
          </a:p>
          <a:p>
            <a:pPr indent="-327660" lvl="0" marL="342900" rtl="0" algn="just">
              <a:lnSpc>
                <a:spcPct val="80000"/>
              </a:lnSpc>
              <a:spcBef>
                <a:spcPts val="544"/>
              </a:spcBef>
              <a:spcAft>
                <a:spcPts val="0"/>
              </a:spcAft>
              <a:buClr>
                <a:schemeClr val="dk1"/>
              </a:buClr>
              <a:buSzPts val="2480"/>
              <a:buFont typeface="Times New Roman"/>
              <a:buChar char="•"/>
            </a:pPr>
            <a:r>
              <a:rPr lang="en-US" sz="2480">
                <a:latin typeface="Times New Roman"/>
                <a:ea typeface="Times New Roman"/>
                <a:cs typeface="Times New Roman"/>
                <a:sym typeface="Times New Roman"/>
              </a:rPr>
              <a:t>Since it is NP-complete, finding the optimal solution for interesting cases (pretty much anything above 10 items) is computationally impossible.</a:t>
            </a:r>
            <a:endParaRPr sz="2480">
              <a:latin typeface="Times New Roman"/>
              <a:ea typeface="Times New Roman"/>
              <a:cs typeface="Times New Roman"/>
              <a:sym typeface="Times New Roman"/>
            </a:endParaRPr>
          </a:p>
          <a:p>
            <a:pPr indent="-170180" lvl="0" marL="342900" rtl="0" algn="just">
              <a:lnSpc>
                <a:spcPct val="80000"/>
              </a:lnSpc>
              <a:spcBef>
                <a:spcPts val="544"/>
              </a:spcBef>
              <a:spcAft>
                <a:spcPts val="0"/>
              </a:spcAft>
              <a:buClr>
                <a:schemeClr val="dk1"/>
              </a:buClr>
              <a:buSzPts val="2480"/>
              <a:buNone/>
            </a:pPr>
            <a:r>
              <a:t/>
            </a:r>
            <a:endParaRPr sz="2480">
              <a:latin typeface="Times New Roman"/>
              <a:ea typeface="Times New Roman"/>
              <a:cs typeface="Times New Roman"/>
              <a:sym typeface="Times New Roman"/>
            </a:endParaRPr>
          </a:p>
          <a:p>
            <a:pPr indent="-170180" lvl="0" marL="342900" rtl="0" algn="just">
              <a:lnSpc>
                <a:spcPct val="80000"/>
              </a:lnSpc>
              <a:spcBef>
                <a:spcPts val="544"/>
              </a:spcBef>
              <a:spcAft>
                <a:spcPts val="0"/>
              </a:spcAft>
              <a:buClr>
                <a:schemeClr val="dk1"/>
              </a:buClr>
              <a:buSzPts val="2480"/>
              <a:buNone/>
            </a:pPr>
            <a:r>
              <a:t/>
            </a:r>
            <a:endParaRPr sz="2480">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1"/>
          <p:cNvSpPr txBox="1"/>
          <p:nvPr>
            <p:ph idx="1" type="body"/>
          </p:nvPr>
        </p:nvSpPr>
        <p:spPr>
          <a:xfrm>
            <a:off x="152400" y="0"/>
            <a:ext cx="8839200" cy="57912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2200">
                <a:latin typeface="Times New Roman"/>
                <a:ea typeface="Times New Roman"/>
                <a:cs typeface="Times New Roman"/>
                <a:sym typeface="Times New Roman"/>
              </a:rPr>
              <a:t>Suppose that you are packing for your holidays. </a:t>
            </a:r>
            <a:endParaRPr sz="2200">
              <a:latin typeface="Times New Roman"/>
              <a:ea typeface="Times New Roman"/>
              <a:cs typeface="Times New Roman"/>
              <a:sym typeface="Times New Roman"/>
            </a:endParaRPr>
          </a:p>
          <a:p>
            <a:pPr indent="-323850" lvl="0" marL="342900" rtl="0" algn="just">
              <a:spcBef>
                <a:spcPts val="50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You’ve bought the biggest and best rucksack that was for sale, but there is still no way that you are going to fit in everything you want to take (camera, money, addresses of friends, etc.) and the things that your mum is insisting you take (spare dress, phrasebook, stamps to write home with, etc.). </a:t>
            </a:r>
            <a:endParaRPr sz="2200">
              <a:latin typeface="Times New Roman"/>
              <a:ea typeface="Times New Roman"/>
              <a:cs typeface="Times New Roman"/>
              <a:sym typeface="Times New Roman"/>
            </a:endParaRPr>
          </a:p>
          <a:p>
            <a:pPr indent="-323850" lvl="0" marL="342900" rtl="0" algn="just">
              <a:spcBef>
                <a:spcPts val="50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Greedy algorithm that finds solutions to the knapsack problem. </a:t>
            </a:r>
            <a:endParaRPr sz="2200">
              <a:latin typeface="Times New Roman"/>
              <a:ea typeface="Times New Roman"/>
              <a:cs typeface="Times New Roman"/>
              <a:sym typeface="Times New Roman"/>
            </a:endParaRPr>
          </a:p>
          <a:p>
            <a:pPr indent="-323850" lvl="0" marL="342900" rtl="0" algn="just">
              <a:spcBef>
                <a:spcPts val="50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At each stage it takes the largest thing that hasn’t been packed yet and that will still fit into the bag, and iterates that rule. </a:t>
            </a:r>
            <a:endParaRPr sz="2200">
              <a:latin typeface="Times New Roman"/>
              <a:ea typeface="Times New Roman"/>
              <a:cs typeface="Times New Roman"/>
              <a:sym typeface="Times New Roman"/>
            </a:endParaRPr>
          </a:p>
          <a:p>
            <a:pPr indent="-330200" lvl="0" marL="342900" rtl="0" algn="just">
              <a:spcBef>
                <a:spcPts val="48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Not necessarily return the optimal solution(unless each thing is larger than the sum of all the ones smaller than it, in which case it will), but it is very quick and simple. </a:t>
            </a:r>
            <a:endParaRPr sz="2200">
              <a:latin typeface="Times New Roman"/>
              <a:ea typeface="Times New Roman"/>
              <a:cs typeface="Times New Roman"/>
              <a:sym typeface="Times New Roman"/>
            </a:endParaRPr>
          </a:p>
          <a:p>
            <a:pPr indent="-330200" lvl="0" marL="342900" rtl="0" algn="just">
              <a:spcBef>
                <a:spcPts val="48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GA should be getting a much better solution than the greedy rule most of the time to be worth all the effort involved in writing and running it. </a:t>
            </a:r>
            <a:endParaRPr sz="2200">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2"/>
          <p:cNvSpPr txBox="1"/>
          <p:nvPr>
            <p:ph type="title"/>
          </p:nvPr>
        </p:nvSpPr>
        <p:spPr>
          <a:xfrm>
            <a:off x="406100" y="214550"/>
            <a:ext cx="82296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60"/>
              <a:buFont typeface="Calibri"/>
              <a:buNone/>
            </a:pPr>
            <a:r>
              <a:rPr lang="en-US" sz="2260">
                <a:latin typeface="Times New Roman"/>
                <a:ea typeface="Times New Roman"/>
                <a:cs typeface="Times New Roman"/>
                <a:sym typeface="Times New Roman"/>
              </a:rPr>
              <a:t>STRING REPRESENTATION</a:t>
            </a:r>
            <a:endParaRPr sz="2260">
              <a:latin typeface="Times New Roman"/>
              <a:ea typeface="Times New Roman"/>
              <a:cs typeface="Times New Roman"/>
              <a:sym typeface="Times New Roman"/>
            </a:endParaRPr>
          </a:p>
        </p:txBody>
      </p:sp>
      <p:sp>
        <p:nvSpPr>
          <p:cNvPr id="576" name="Google Shape;576;p42"/>
          <p:cNvSpPr txBox="1"/>
          <p:nvPr>
            <p:ph idx="1" type="body"/>
          </p:nvPr>
        </p:nvSpPr>
        <p:spPr>
          <a:xfrm>
            <a:off x="533400" y="1143000"/>
            <a:ext cx="8229600" cy="4724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individual solutions are represented in analogy to the chromosome.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GAs use a string, with each element of the string (gene) being chosen from some alphabet (Binary).</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different values in the alphabet, are analogous to the alleles(series of genes on a chromosome determine the hereditary characteristics).</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alphabet for the knapsack problem is very simple, make it binary.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Make the string </a:t>
            </a:r>
            <a:r>
              <a:rPr i="1" lang="en-US" sz="2400">
                <a:latin typeface="Times New Roman"/>
                <a:ea typeface="Times New Roman"/>
                <a:cs typeface="Times New Roman"/>
                <a:sym typeface="Times New Roman"/>
              </a:rPr>
              <a:t>L </a:t>
            </a:r>
            <a:r>
              <a:rPr lang="en-US" sz="2400">
                <a:latin typeface="Times New Roman"/>
                <a:ea typeface="Times New Roman"/>
                <a:cs typeface="Times New Roman"/>
                <a:sym typeface="Times New Roman"/>
              </a:rPr>
              <a:t>units long, where </a:t>
            </a:r>
            <a:r>
              <a:rPr i="1" lang="en-US" sz="2400">
                <a:latin typeface="Times New Roman"/>
                <a:ea typeface="Times New Roman"/>
                <a:cs typeface="Times New Roman"/>
                <a:sym typeface="Times New Roman"/>
              </a:rPr>
              <a:t>L is the total number of things and make </a:t>
            </a:r>
            <a:r>
              <a:rPr lang="en-US" sz="2400">
                <a:latin typeface="Times New Roman"/>
                <a:ea typeface="Times New Roman"/>
                <a:cs typeface="Times New Roman"/>
                <a:sym typeface="Times New Roman"/>
              </a:rPr>
              <a:t>each unit a binary digit.</a:t>
            </a:r>
            <a:endParaRPr sz="2400">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3"/>
          <p:cNvSpPr txBox="1"/>
          <p:nvPr>
            <p:ph idx="1" type="body"/>
          </p:nvPr>
        </p:nvSpPr>
        <p:spPr>
          <a:xfrm>
            <a:off x="152400" y="228600"/>
            <a:ext cx="8686800" cy="6019800"/>
          </a:xfrm>
          <a:prstGeom prst="rect">
            <a:avLst/>
          </a:prstGeom>
          <a:noFill/>
          <a:ln>
            <a:noFill/>
          </a:ln>
        </p:spPr>
        <p:txBody>
          <a:bodyPr anchorCtr="0" anchor="t" bIns="45700" lIns="91425" spcFirstLastPara="1" rIns="91425" wrap="square" tIns="45700">
            <a:norm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One option would be to set the fitness to 0 if the things in that string will not all fit.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Make the fitness function be the sum of the values of the items to be taken if they fit into the knapsack, but if they do not we will subtract twice the amount by which they are too big for the knapsack from the size of the knapsack.</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Allows solutions that are only just over to be considered for improvement, but tries to ensure that they are not the fittest solution</a:t>
            </a:r>
            <a:endParaRPr sz="2300">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None/>
            </a:pPr>
            <a:r>
              <a:rPr lang="en-US" sz="2300">
                <a:latin typeface="Times New Roman"/>
                <a:ea typeface="Times New Roman"/>
                <a:cs typeface="Times New Roman"/>
                <a:sym typeface="Times New Roman"/>
              </a:rPr>
              <a:t>POPULATION</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GA works on a population of strings, with the first generation usually being created randomly around.</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fitness of each string is then evaluated, and that first generation is bred together to make a second generation, which is then used to generate a third, and so on. </a:t>
            </a:r>
            <a:endParaRPr sz="2300">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4"/>
          <p:cNvSpPr txBox="1"/>
          <p:nvPr>
            <p:ph idx="1" type="body"/>
          </p:nvPr>
        </p:nvSpPr>
        <p:spPr>
          <a:xfrm>
            <a:off x="152400" y="762000"/>
            <a:ext cx="8763000" cy="5410200"/>
          </a:xfrm>
          <a:prstGeom prst="rect">
            <a:avLst/>
          </a:prstGeom>
          <a:noFill/>
          <a:ln>
            <a:noFill/>
          </a:ln>
        </p:spPr>
        <p:txBody>
          <a:bodyPr anchorCtr="0" anchor="t" bIns="45700" lIns="91425" spcFirstLastPara="1" rIns="91425" wrap="square" tIns="45700">
            <a:noAutofit/>
          </a:bodyPr>
          <a:lstStyle/>
          <a:p>
            <a:pPr indent="-33020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Encode a solution: 0 for the things not taken &amp; 1 for things taken </a:t>
            </a:r>
            <a:endParaRPr sz="2300">
              <a:latin typeface="Times New Roman"/>
              <a:ea typeface="Times New Roman"/>
              <a:cs typeface="Times New Roman"/>
              <a:sym typeface="Times New Roman"/>
            </a:endParaRPr>
          </a:p>
          <a:p>
            <a:pPr indent="-330200" lvl="0" marL="342900" rtl="0" algn="just">
              <a:spcBef>
                <a:spcPts val="50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Four things to take: (0</a:t>
            </a:r>
            <a:r>
              <a:rPr i="1" lang="en-US" sz="2300">
                <a:latin typeface="Times New Roman"/>
                <a:ea typeface="Times New Roman"/>
                <a:cs typeface="Times New Roman"/>
                <a:sym typeface="Times New Roman"/>
              </a:rPr>
              <a:t>, 1, 1, 0) </a:t>
            </a:r>
            <a:r>
              <a:rPr lang="en-US" sz="2300">
                <a:latin typeface="Times New Roman"/>
                <a:ea typeface="Times New Roman"/>
                <a:cs typeface="Times New Roman"/>
                <a:sym typeface="Times New Roman"/>
              </a:rPr>
              <a:t>means that take the middle two, but not the first or last.</a:t>
            </a:r>
            <a:endParaRPr sz="2300">
              <a:latin typeface="Times New Roman"/>
              <a:ea typeface="Times New Roman"/>
              <a:cs typeface="Times New Roman"/>
              <a:sym typeface="Times New Roman"/>
            </a:endParaRPr>
          </a:p>
          <a:p>
            <a:pPr indent="-330200" lvl="0" marL="342900" rtl="0" algn="just">
              <a:spcBef>
                <a:spcPts val="50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It does not tell us whether or not this string is possible nor whether it is a good string (whether it fills the knapsack). </a:t>
            </a:r>
            <a:endParaRPr sz="2300">
              <a:latin typeface="Times New Roman"/>
              <a:ea typeface="Times New Roman"/>
              <a:cs typeface="Times New Roman"/>
              <a:sym typeface="Times New Roman"/>
            </a:endParaRPr>
          </a:p>
          <a:p>
            <a:pPr indent="-330200" lvl="0" marL="342900" rtl="0" algn="just">
              <a:spcBef>
                <a:spcPts val="50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Need some way to decide how well each string fulfills the problem criteria and is known as the fitness of the string.</a:t>
            </a:r>
            <a:endParaRPr sz="2300">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None/>
            </a:pPr>
            <a:r>
              <a:rPr lang="en-US" sz="2300">
                <a:latin typeface="Times New Roman"/>
                <a:ea typeface="Times New Roman"/>
                <a:cs typeface="Times New Roman"/>
                <a:sym typeface="Times New Roman"/>
              </a:rPr>
              <a:t>EVALUATING FITNESS</a:t>
            </a:r>
            <a:endParaRPr sz="2300">
              <a:latin typeface="Times New Roman"/>
              <a:ea typeface="Times New Roman"/>
              <a:cs typeface="Times New Roman"/>
              <a:sym typeface="Times New Roman"/>
            </a:endParaRPr>
          </a:p>
          <a:p>
            <a:pPr indent="-330200" lvl="0" marL="342900" rtl="0" algn="just">
              <a:spcBef>
                <a:spcPts val="50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fitness function can be seen as an oracle that takes a string as an argument and returns a value for that string.</a:t>
            </a:r>
            <a:endParaRPr sz="2300">
              <a:latin typeface="Times New Roman"/>
              <a:ea typeface="Times New Roman"/>
              <a:cs typeface="Times New Roman"/>
              <a:sym typeface="Times New Roman"/>
            </a:endParaRPr>
          </a:p>
          <a:p>
            <a:pPr indent="-330200" lvl="0" marL="342900" rtl="0" algn="just">
              <a:spcBef>
                <a:spcPts val="50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Together with the string encoding the fitness function forms the problem-specific part of the GA.</a:t>
            </a:r>
            <a:endParaRPr sz="23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5"/>
          <p:cNvSpPr txBox="1"/>
          <p:nvPr>
            <p:ph idx="1" type="body"/>
          </p:nvPr>
        </p:nvSpPr>
        <p:spPr>
          <a:xfrm>
            <a:off x="130791" y="457200"/>
            <a:ext cx="8860809" cy="54864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After the initial population is chosen randomly, the algorithm evolves to produce each successive generation, with the hope being that there will be progressively fitter individuals in the populations as the number of generations increases.</a:t>
            </a:r>
            <a:endParaRPr sz="2400">
              <a:latin typeface="Times New Roman"/>
              <a:ea typeface="Times New Roman"/>
              <a:cs typeface="Times New Roman"/>
              <a:sym typeface="Times New Roman"/>
            </a:endParaRPr>
          </a:p>
          <a:p>
            <a:pPr indent="-336550" lvl="0" marL="342900" rtl="0" algn="just">
              <a:spcBef>
                <a:spcPts val="5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To make the initial population for the knapsack problem, we will now create a set of random binary strings of length </a:t>
            </a:r>
            <a:r>
              <a:rPr i="1" lang="en-US" sz="2400">
                <a:latin typeface="Times New Roman"/>
                <a:ea typeface="Times New Roman"/>
                <a:cs typeface="Times New Roman"/>
                <a:sym typeface="Times New Roman"/>
              </a:rPr>
              <a:t>L by using the random number generator. </a:t>
            </a:r>
            <a:endParaRPr sz="2400">
              <a:latin typeface="Times New Roman"/>
              <a:ea typeface="Times New Roman"/>
              <a:cs typeface="Times New Roman"/>
              <a:sym typeface="Times New Roman"/>
            </a:endParaRPr>
          </a:p>
          <a:p>
            <a:pPr indent="-336550" lvl="0" marL="342900" rtl="0" algn="just">
              <a:spcBef>
                <a:spcPts val="5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Choose parents out of this population, and start breeding them.</a:t>
            </a:r>
            <a:endParaRPr sz="2400">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None/>
            </a:pPr>
            <a:r>
              <a:rPr lang="en-US" sz="2400">
                <a:latin typeface="Times New Roman"/>
                <a:ea typeface="Times New Roman"/>
                <a:cs typeface="Times New Roman"/>
                <a:sym typeface="Times New Roman"/>
              </a:rPr>
              <a:t>GENERATING OFFSPRING: PARENT SELECTION</a:t>
            </a:r>
            <a:endParaRPr sz="2400">
              <a:latin typeface="Times New Roman"/>
              <a:ea typeface="Times New Roman"/>
              <a:cs typeface="Times New Roman"/>
              <a:sym typeface="Times New Roman"/>
            </a:endParaRPr>
          </a:p>
          <a:p>
            <a:pPr indent="-336550" lvl="0" marL="342900" rtl="0" algn="just">
              <a:spcBef>
                <a:spcPts val="5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idea here is that average fitness will improve if we select strings that are already relatively fit compared to the other members of the population (following natural selection), which is exploitation of our current population. </a:t>
            </a:r>
            <a:endParaRPr sz="2400">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6"/>
          <p:cNvSpPr txBox="1"/>
          <p:nvPr>
            <p:ph idx="1" type="body"/>
          </p:nvPr>
        </p:nvSpPr>
        <p:spPr>
          <a:xfrm>
            <a:off x="76200" y="381000"/>
            <a:ext cx="8915400" cy="6019800"/>
          </a:xfrm>
          <a:prstGeom prst="rect">
            <a:avLst/>
          </a:prstGeom>
          <a:noFill/>
          <a:ln>
            <a:noFill/>
          </a:ln>
        </p:spPr>
        <p:txBody>
          <a:bodyPr anchorCtr="0" anchor="t" bIns="45700" lIns="91425" spcFirstLastPara="1" rIns="91425" wrap="square" tIns="45700">
            <a:normAutofit/>
          </a:bodyPr>
          <a:lstStyle/>
          <a:p>
            <a:pPr indent="-323850" lvl="0" marL="342900" rtl="0" algn="just">
              <a:spcBef>
                <a:spcPts val="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Allow some possibility of weak strings being considered.</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Fitter strings are more likely to be chosen to enter the ‘mating pool’. </a:t>
            </a:r>
            <a:endParaRPr sz="25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None/>
            </a:pPr>
            <a:r>
              <a:rPr lang="en-US" sz="2500">
                <a:latin typeface="Times New Roman"/>
                <a:ea typeface="Times New Roman"/>
                <a:cs typeface="Times New Roman"/>
                <a:sym typeface="Times New Roman"/>
              </a:rPr>
              <a:t>Three employed ways to produce better results:</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Char char="•"/>
            </a:pPr>
            <a:r>
              <a:rPr b="1" lang="en-US" sz="2500">
                <a:latin typeface="Times New Roman"/>
                <a:ea typeface="Times New Roman"/>
                <a:cs typeface="Times New Roman"/>
                <a:sym typeface="Times New Roman"/>
              </a:rPr>
              <a:t>Tournament Selection: </a:t>
            </a:r>
            <a:r>
              <a:rPr lang="en-US" sz="2500">
                <a:latin typeface="Times New Roman"/>
                <a:ea typeface="Times New Roman"/>
                <a:cs typeface="Times New Roman"/>
                <a:sym typeface="Times New Roman"/>
              </a:rPr>
              <a:t>Repeatedly pick four strings from the population, with replacement and put the fittest two of them into the mating pool.</a:t>
            </a:r>
            <a:endParaRPr sz="2500">
              <a:latin typeface="Times New Roman"/>
              <a:ea typeface="Times New Roman"/>
              <a:cs typeface="Times New Roman"/>
              <a:sym typeface="Times New Roman"/>
            </a:endParaRPr>
          </a:p>
          <a:p>
            <a:pPr indent="-330200" lvl="1" marL="742950" rtl="0" algn="just">
              <a:spcBef>
                <a:spcPts val="560"/>
              </a:spcBef>
              <a:spcAft>
                <a:spcPts val="0"/>
              </a:spcAft>
              <a:buSzPts val="2500"/>
              <a:buFont typeface="Times New Roman"/>
              <a:buChar char="–"/>
            </a:pPr>
            <a:r>
              <a:rPr lang="en-US" sz="2500">
                <a:latin typeface="Times New Roman"/>
                <a:ea typeface="Times New Roman"/>
                <a:cs typeface="Times New Roman"/>
                <a:sym typeface="Times New Roman"/>
              </a:rPr>
              <a:t>We select k individuals from the population at random and select the best out of these to become a parent</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Char char="•"/>
            </a:pPr>
            <a:r>
              <a:rPr b="1" lang="en-US" sz="2500">
                <a:latin typeface="Times New Roman"/>
                <a:ea typeface="Times New Roman"/>
                <a:cs typeface="Times New Roman"/>
                <a:sym typeface="Times New Roman"/>
              </a:rPr>
              <a:t>Truncation Selection: </a:t>
            </a:r>
            <a:r>
              <a:rPr lang="en-US" sz="2500">
                <a:latin typeface="Times New Roman"/>
                <a:ea typeface="Times New Roman"/>
                <a:cs typeface="Times New Roman"/>
                <a:sym typeface="Times New Roman"/>
              </a:rPr>
              <a:t>Pick some fraction </a:t>
            </a:r>
            <a:r>
              <a:rPr i="1" lang="en-US" sz="2500">
                <a:latin typeface="Times New Roman"/>
                <a:ea typeface="Times New Roman"/>
                <a:cs typeface="Times New Roman"/>
                <a:sym typeface="Times New Roman"/>
              </a:rPr>
              <a:t>f of the best strings and ignore the rest. For </a:t>
            </a:r>
            <a:r>
              <a:rPr lang="en-US" sz="2500">
                <a:latin typeface="Times New Roman"/>
                <a:ea typeface="Times New Roman"/>
                <a:cs typeface="Times New Roman"/>
                <a:sym typeface="Times New Roman"/>
              </a:rPr>
              <a:t>example, </a:t>
            </a:r>
            <a:r>
              <a:rPr i="1" lang="en-US" sz="2500">
                <a:latin typeface="Times New Roman"/>
                <a:ea typeface="Times New Roman"/>
                <a:cs typeface="Times New Roman"/>
                <a:sym typeface="Times New Roman"/>
              </a:rPr>
              <a:t>f = 0.5 is often used, so the best 50% of the strings are put into the mating </a:t>
            </a:r>
            <a:r>
              <a:rPr lang="en-US" sz="2500">
                <a:latin typeface="Times New Roman"/>
                <a:ea typeface="Times New Roman"/>
                <a:cs typeface="Times New Roman"/>
                <a:sym typeface="Times New Roman"/>
              </a:rPr>
              <a:t>pool, each twice so that the pool is the right size. </a:t>
            </a:r>
            <a:endParaRPr sz="2500">
              <a:latin typeface="Times New Roman"/>
              <a:ea typeface="Times New Roman"/>
              <a:cs typeface="Times New Roman"/>
              <a:sym typeface="Times New Roman"/>
            </a:endParaRPr>
          </a:p>
          <a:p>
            <a:pPr indent="-323850" lvl="0" marL="342900" rtl="0" algn="just">
              <a:spcBef>
                <a:spcPts val="56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pool is randomly shuffled to make the pairs. </a:t>
            </a:r>
            <a:endParaRPr sz="25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2e7d80f2e22_0_18"/>
          <p:cNvSpPr txBox="1"/>
          <p:nvPr>
            <p:ph idx="1" type="body"/>
          </p:nvPr>
        </p:nvSpPr>
        <p:spPr>
          <a:xfrm>
            <a:off x="265600" y="130025"/>
            <a:ext cx="8421300" cy="5996400"/>
          </a:xfrm>
          <a:prstGeom prst="rect">
            <a:avLst/>
          </a:prstGeom>
        </p:spPr>
        <p:txBody>
          <a:bodyPr anchorCtr="0" anchor="t" bIns="45700" lIns="91425" spcFirstLastPara="1" rIns="91425" wrap="square" tIns="45700">
            <a:normAutofit/>
          </a:bodyPr>
          <a:lstStyle/>
          <a:p>
            <a:pPr indent="-292100" lvl="0" marL="457200" rtl="0" algn="l">
              <a:spcBef>
                <a:spcPts val="360"/>
              </a:spcBef>
              <a:spcAft>
                <a:spcPts val="0"/>
              </a:spcAft>
              <a:buSzPts val="1000"/>
              <a:buFont typeface="Times New Roman"/>
              <a:buChar char="•"/>
            </a:pPr>
            <a:r>
              <a:rPr lang="en-US" sz="2400">
                <a:latin typeface="Times New Roman"/>
                <a:ea typeface="Times New Roman"/>
                <a:cs typeface="Times New Roman"/>
                <a:sym typeface="Times New Roman"/>
              </a:rPr>
              <a:t>It is a method used for large population/mass selection</a:t>
            </a:r>
            <a:endParaRPr sz="2400">
              <a:latin typeface="Times New Roman"/>
              <a:ea typeface="Times New Roman"/>
              <a:cs typeface="Times New Roman"/>
              <a:sym typeface="Times New Roman"/>
            </a:endParaRPr>
          </a:p>
          <a:p>
            <a:pPr indent="-292100" lvl="0" marL="457200" rtl="0" algn="l">
              <a:spcBef>
                <a:spcPts val="0"/>
              </a:spcBef>
              <a:spcAft>
                <a:spcPts val="0"/>
              </a:spcAft>
              <a:buSzPts val="1000"/>
              <a:buFont typeface="Times New Roman"/>
              <a:buChar char="•"/>
            </a:pPr>
            <a:r>
              <a:rPr lang="en-US" sz="2400">
                <a:latin typeface="Times New Roman"/>
                <a:ea typeface="Times New Roman"/>
                <a:cs typeface="Times New Roman"/>
                <a:sym typeface="Times New Roman"/>
              </a:rPr>
              <a:t>In truncation selection, </a:t>
            </a:r>
            <a:r>
              <a:rPr lang="en-US" sz="2400">
                <a:latin typeface="Times New Roman"/>
                <a:ea typeface="Times New Roman"/>
                <a:cs typeface="Times New Roman"/>
                <a:sym typeface="Times New Roman"/>
              </a:rPr>
              <a:t>individuals</a:t>
            </a:r>
            <a:r>
              <a:rPr lang="en-US" sz="2400">
                <a:latin typeface="Times New Roman"/>
                <a:ea typeface="Times New Roman"/>
                <a:cs typeface="Times New Roman"/>
                <a:sym typeface="Times New Roman"/>
              </a:rPr>
              <a:t> are sorted according to their fitness</a:t>
            </a:r>
            <a:endParaRPr sz="2400">
              <a:latin typeface="Times New Roman"/>
              <a:ea typeface="Times New Roman"/>
              <a:cs typeface="Times New Roman"/>
              <a:sym typeface="Times New Roman"/>
            </a:endParaRPr>
          </a:p>
          <a:p>
            <a:pPr indent="-292100" lvl="0" marL="457200" rtl="0" algn="l">
              <a:spcBef>
                <a:spcPts val="0"/>
              </a:spcBef>
              <a:spcAft>
                <a:spcPts val="0"/>
              </a:spcAft>
              <a:buSzPts val="1000"/>
              <a:buFont typeface="Times New Roman"/>
              <a:buChar char="•"/>
            </a:pPr>
            <a:r>
              <a:rPr lang="en-US" sz="2400">
                <a:latin typeface="Times New Roman"/>
                <a:ea typeface="Times New Roman"/>
                <a:cs typeface="Times New Roman"/>
                <a:sym typeface="Times New Roman"/>
              </a:rPr>
              <a:t>Only the best individuals are selected as parents</a:t>
            </a:r>
            <a:endParaRPr sz="2400">
              <a:latin typeface="Times New Roman"/>
              <a:ea typeface="Times New Roman"/>
              <a:cs typeface="Times New Roman"/>
              <a:sym typeface="Times New Roman"/>
            </a:endParaRPr>
          </a:p>
          <a:p>
            <a:pPr indent="-292100" lvl="0" marL="457200" rtl="0" algn="l">
              <a:spcBef>
                <a:spcPts val="0"/>
              </a:spcBef>
              <a:spcAft>
                <a:spcPts val="0"/>
              </a:spcAft>
              <a:buSzPts val="1000"/>
              <a:buFont typeface="Times New Roman"/>
              <a:buChar char="•"/>
            </a:pPr>
            <a:r>
              <a:rPr lang="en-US" sz="2400">
                <a:latin typeface="Times New Roman"/>
                <a:ea typeface="Times New Roman"/>
                <a:cs typeface="Times New Roman"/>
                <a:sym typeface="Times New Roman"/>
              </a:rPr>
              <a:t>Truncation threshold trunc is used as the parameter for truncation selection</a:t>
            </a:r>
            <a:endParaRPr sz="2400">
              <a:latin typeface="Times New Roman"/>
              <a:ea typeface="Times New Roman"/>
              <a:cs typeface="Times New Roman"/>
              <a:sym typeface="Times New Roman"/>
            </a:endParaRPr>
          </a:p>
        </p:txBody>
      </p:sp>
      <p:pic>
        <p:nvPicPr>
          <p:cNvPr id="602" name="Google Shape;602;g2e7d80f2e22_0_18"/>
          <p:cNvPicPr preferRelativeResize="0"/>
          <p:nvPr/>
        </p:nvPicPr>
        <p:blipFill>
          <a:blip r:embed="rId3">
            <a:alphaModFix/>
          </a:blip>
          <a:stretch>
            <a:fillRect/>
          </a:stretch>
        </p:blipFill>
        <p:spPr>
          <a:xfrm>
            <a:off x="89450" y="2993925"/>
            <a:ext cx="8773626" cy="3733026"/>
          </a:xfrm>
          <a:prstGeom prst="rect">
            <a:avLst/>
          </a:prstGeom>
          <a:noFill/>
          <a:ln>
            <a:noFill/>
          </a:ln>
        </p:spPr>
      </p:pic>
      <p:sp>
        <p:nvSpPr>
          <p:cNvPr id="603" name="Google Shape;603;g2e7d80f2e22_0_18"/>
          <p:cNvSpPr txBox="1"/>
          <p:nvPr>
            <p:ph type="title"/>
          </p:nvPr>
        </p:nvSpPr>
        <p:spPr>
          <a:xfrm>
            <a:off x="206900" y="2618025"/>
            <a:ext cx="7828500" cy="298800"/>
          </a:xfrm>
          <a:prstGeom prst="rect">
            <a:avLst/>
          </a:prstGeom>
        </p:spPr>
        <p:txBody>
          <a:bodyPr anchorCtr="0" anchor="ctr" bIns="45700" lIns="91425" spcFirstLastPara="1" rIns="91425" wrap="square" tIns="45700">
            <a:normAutofit fontScale="90000"/>
          </a:bodyPr>
          <a:lstStyle/>
          <a:p>
            <a:pPr indent="0" lvl="0" marL="0" rtl="0" algn="ctr">
              <a:spcBef>
                <a:spcPts val="560"/>
              </a:spcBef>
              <a:spcAft>
                <a:spcPts val="0"/>
              </a:spcAft>
              <a:buNone/>
            </a:pPr>
            <a:r>
              <a:rPr b="1" lang="en-US" sz="2500">
                <a:latin typeface="Times New Roman"/>
                <a:ea typeface="Times New Roman"/>
                <a:cs typeface="Times New Roman"/>
                <a:sym typeface="Times New Roman"/>
              </a:rPr>
              <a:t>Tournament Sele</a:t>
            </a:r>
            <a:r>
              <a:rPr b="1" lang="en-US" sz="3100">
                <a:solidFill>
                  <a:srgbClr val="333333"/>
                </a:solidFill>
                <a:latin typeface="Times New Roman"/>
                <a:ea typeface="Times New Roman"/>
                <a:cs typeface="Times New Roman"/>
                <a:sym typeface="Times New Roman"/>
              </a:rPr>
              <a:t>ction</a:t>
            </a:r>
            <a:endParaRPr sz="5000">
              <a:solidFill>
                <a:srgbClr val="333333"/>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7"/>
          <p:cNvSpPr txBox="1"/>
          <p:nvPr>
            <p:ph idx="1" type="body"/>
          </p:nvPr>
        </p:nvSpPr>
        <p:spPr>
          <a:xfrm>
            <a:off x="228600" y="228600"/>
            <a:ext cx="8763000" cy="60198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400"/>
              <a:buChar char="•"/>
            </a:pPr>
            <a:r>
              <a:rPr b="1" lang="en-US" sz="2400">
                <a:latin typeface="Times New Roman"/>
                <a:ea typeface="Times New Roman"/>
                <a:cs typeface="Times New Roman"/>
                <a:sym typeface="Times New Roman"/>
              </a:rPr>
              <a:t>Fitness Proportional Selection: </a:t>
            </a:r>
            <a:r>
              <a:rPr lang="en-US" sz="2400">
                <a:latin typeface="Times New Roman"/>
                <a:ea typeface="Times New Roman"/>
                <a:cs typeface="Times New Roman"/>
                <a:sym typeface="Times New Roman"/>
              </a:rPr>
              <a:t>The probability of a string being selected being proportional to its fitness. </a:t>
            </a:r>
            <a:endParaRPr sz="2400">
              <a:latin typeface="Times New Roman"/>
              <a:ea typeface="Times New Roman"/>
              <a:cs typeface="Times New Roman"/>
              <a:sym typeface="Times New Roman"/>
            </a:endParaRPr>
          </a:p>
          <a:p>
            <a:pPr indent="-336550" lvl="0" marL="342900" rtl="0" algn="just">
              <a:spcBef>
                <a:spcPts val="5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function that is generally used is (for string ):</a:t>
            </a:r>
            <a:endParaRPr sz="2400">
              <a:latin typeface="Times New Roman"/>
              <a:ea typeface="Times New Roman"/>
              <a:cs typeface="Times New Roman"/>
              <a:sym typeface="Times New Roman"/>
            </a:endParaRPr>
          </a:p>
          <a:p>
            <a:pPr indent="-184150" lvl="0" marL="342900" rtl="0" algn="just">
              <a:spcBef>
                <a:spcPts val="500"/>
              </a:spcBef>
              <a:spcAft>
                <a:spcPts val="0"/>
              </a:spcAft>
              <a:buClr>
                <a:schemeClr val="dk1"/>
              </a:buClr>
              <a:buSzPts val="2500"/>
              <a:buNone/>
            </a:pPr>
            <a:r>
              <a:t/>
            </a:r>
            <a:endParaRPr sz="2400">
              <a:latin typeface="Times New Roman"/>
              <a:ea typeface="Times New Roman"/>
              <a:cs typeface="Times New Roman"/>
              <a:sym typeface="Times New Roman"/>
            </a:endParaRPr>
          </a:p>
          <a:p>
            <a:pPr indent="-184150" lvl="0" marL="342900" rtl="0" algn="just">
              <a:spcBef>
                <a:spcPts val="500"/>
              </a:spcBef>
              <a:spcAft>
                <a:spcPts val="0"/>
              </a:spcAft>
              <a:buClr>
                <a:schemeClr val="dk1"/>
              </a:buClr>
              <a:buSzPts val="2500"/>
              <a:buNone/>
            </a:pPr>
            <a:r>
              <a:t/>
            </a:r>
            <a:endParaRPr sz="2400">
              <a:latin typeface="Times New Roman"/>
              <a:ea typeface="Times New Roman"/>
              <a:cs typeface="Times New Roman"/>
              <a:sym typeface="Times New Roman"/>
            </a:endParaRPr>
          </a:p>
          <a:p>
            <a:pPr indent="-336550" lvl="0" marL="342900" rtl="0" algn="l">
              <a:spcBef>
                <a:spcPts val="500"/>
              </a:spcBef>
              <a:spcAft>
                <a:spcPts val="0"/>
              </a:spcAft>
              <a:buClr>
                <a:schemeClr val="dk1"/>
              </a:buClr>
              <a:buSzPts val="2400"/>
              <a:buChar char="•"/>
            </a:pPr>
            <a:r>
              <a:rPr lang="en-US" sz="2400">
                <a:latin typeface="Times New Roman"/>
                <a:ea typeface="Times New Roman"/>
                <a:cs typeface="Times New Roman"/>
                <a:sym typeface="Times New Roman"/>
              </a:rPr>
              <a:t>where F</a:t>
            </a:r>
            <a:r>
              <a:rPr baseline="30000" lang="en-US" sz="2400">
                <a:latin typeface="Times New Roman"/>
                <a:ea typeface="Times New Roman"/>
                <a:cs typeface="Times New Roman"/>
                <a:sym typeface="Times New Roman"/>
              </a:rPr>
              <a:t>α</a:t>
            </a:r>
            <a:r>
              <a:rPr lang="en-US" sz="2400">
                <a:latin typeface="Times New Roman"/>
                <a:ea typeface="Times New Roman"/>
                <a:cs typeface="Times New Roman"/>
                <a:sym typeface="Times New Roman"/>
              </a:rPr>
              <a:t> is the fitness. If the fitness is not positive then F needs to be replaced by exp(sF) throughout, where s is the selection strength, a parameter, and the equation is the soft-max activation. </a:t>
            </a:r>
            <a:endParaRPr sz="2400">
              <a:latin typeface="Times New Roman"/>
              <a:ea typeface="Times New Roman"/>
              <a:cs typeface="Times New Roman"/>
              <a:sym typeface="Times New Roman"/>
            </a:endParaRPr>
          </a:p>
          <a:p>
            <a:pPr indent="0" lvl="0" marL="342900" rtl="0" algn="l">
              <a:spcBef>
                <a:spcPts val="500"/>
              </a:spcBef>
              <a:spcAft>
                <a:spcPts val="0"/>
              </a:spcAft>
              <a:buNone/>
            </a:pPr>
            <a:r>
              <a:t/>
            </a:r>
            <a:endParaRPr sz="2400">
              <a:latin typeface="Times New Roman"/>
              <a:ea typeface="Times New Roman"/>
              <a:cs typeface="Times New Roman"/>
              <a:sym typeface="Times New Roman"/>
            </a:endParaRPr>
          </a:p>
          <a:p>
            <a:pPr indent="-184150" lvl="0" marL="342900" rtl="0" algn="l">
              <a:spcBef>
                <a:spcPts val="500"/>
              </a:spcBef>
              <a:spcAft>
                <a:spcPts val="0"/>
              </a:spcAft>
              <a:buClr>
                <a:schemeClr val="dk1"/>
              </a:buClr>
              <a:buSzPts val="2500"/>
              <a:buNone/>
            </a:pPr>
            <a:r>
              <a:t/>
            </a:r>
            <a:endParaRPr sz="2400">
              <a:latin typeface="Times New Roman"/>
              <a:ea typeface="Times New Roman"/>
              <a:cs typeface="Times New Roman"/>
              <a:sym typeface="Times New Roman"/>
            </a:endParaRPr>
          </a:p>
          <a:p>
            <a:pPr indent="-184150" lvl="0" marL="342900" rtl="0" algn="l">
              <a:spcBef>
                <a:spcPts val="500"/>
              </a:spcBef>
              <a:spcAft>
                <a:spcPts val="0"/>
              </a:spcAft>
              <a:buClr>
                <a:schemeClr val="dk1"/>
              </a:buClr>
              <a:buSzPts val="2500"/>
              <a:buNone/>
            </a:pPr>
            <a:r>
              <a:t/>
            </a:r>
            <a:endParaRPr sz="2400">
              <a:latin typeface="Times New Roman"/>
              <a:ea typeface="Times New Roman"/>
              <a:cs typeface="Times New Roman"/>
              <a:sym typeface="Times New Roman"/>
            </a:endParaRPr>
          </a:p>
          <a:p>
            <a:pPr indent="-336550" lvl="0" marL="342900" rtl="0" algn="l">
              <a:spcBef>
                <a:spcPts val="5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One way around this is to add more copies of the fitter strings, so that they are more likely to get chosen.</a:t>
            </a:r>
            <a:endParaRPr sz="2400">
              <a:latin typeface="Times New Roman"/>
              <a:ea typeface="Times New Roman"/>
              <a:cs typeface="Times New Roman"/>
              <a:sym typeface="Times New Roman"/>
            </a:endParaRPr>
          </a:p>
          <a:p>
            <a:pPr indent="-336550" lvl="0" marL="342900" rtl="0" algn="l">
              <a:spcBef>
                <a:spcPts val="5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This is sometimes called ‘Roulette Selection’</a:t>
            </a:r>
            <a:endParaRPr sz="2400">
              <a:latin typeface="Times New Roman"/>
              <a:ea typeface="Times New Roman"/>
              <a:cs typeface="Times New Roman"/>
              <a:sym typeface="Times New Roman"/>
            </a:endParaRPr>
          </a:p>
        </p:txBody>
      </p:sp>
      <p:pic>
        <p:nvPicPr>
          <p:cNvPr id="609" name="Google Shape;609;p47"/>
          <p:cNvPicPr preferRelativeResize="0"/>
          <p:nvPr/>
        </p:nvPicPr>
        <p:blipFill rotWithShape="1">
          <a:blip r:embed="rId3">
            <a:alphaModFix/>
          </a:blip>
          <a:srcRect b="0" l="0" r="0" t="0"/>
          <a:stretch/>
        </p:blipFill>
        <p:spPr>
          <a:xfrm>
            <a:off x="2832175" y="1498025"/>
            <a:ext cx="4953000" cy="762000"/>
          </a:xfrm>
          <a:prstGeom prst="rect">
            <a:avLst/>
          </a:prstGeom>
          <a:noFill/>
          <a:ln>
            <a:noFill/>
          </a:ln>
        </p:spPr>
      </p:pic>
      <p:pic>
        <p:nvPicPr>
          <p:cNvPr id="610" name="Google Shape;610;p47"/>
          <p:cNvPicPr preferRelativeResize="0"/>
          <p:nvPr/>
        </p:nvPicPr>
        <p:blipFill rotWithShape="1">
          <a:blip r:embed="rId4">
            <a:alphaModFix/>
          </a:blip>
          <a:srcRect b="0" l="0" r="0" t="0"/>
          <a:stretch/>
        </p:blipFill>
        <p:spPr>
          <a:xfrm>
            <a:off x="3288100" y="3540975"/>
            <a:ext cx="4953000" cy="8382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g2e7d80f2e22_0_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16" name="Google Shape;616;g2e7d80f2e22_0_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617" name="Google Shape;617;g2e7d80f2e22_0_6"/>
          <p:cNvPicPr preferRelativeResize="0"/>
          <p:nvPr/>
        </p:nvPicPr>
        <p:blipFill>
          <a:blip r:embed="rId3">
            <a:alphaModFix/>
          </a:blip>
          <a:stretch>
            <a:fillRect/>
          </a:stretch>
        </p:blipFill>
        <p:spPr>
          <a:xfrm>
            <a:off x="89375" y="62775"/>
            <a:ext cx="8776224" cy="60635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48"/>
          <p:cNvSpPr txBox="1"/>
          <p:nvPr>
            <p:ph idx="1" type="body"/>
          </p:nvPr>
        </p:nvSpPr>
        <p:spPr>
          <a:xfrm>
            <a:off x="65975" y="171125"/>
            <a:ext cx="8773200" cy="6077400"/>
          </a:xfrm>
          <a:prstGeom prst="rect">
            <a:avLst/>
          </a:prstGeom>
          <a:noFill/>
          <a:ln>
            <a:noFill/>
          </a:ln>
        </p:spPr>
        <p:txBody>
          <a:bodyPr anchorCtr="0" anchor="t" bIns="45700" lIns="91425" spcFirstLastPara="1" rIns="91425" wrap="square" tIns="45700">
            <a:noAutofit/>
          </a:bodyPr>
          <a:lstStyle/>
          <a:p>
            <a:pPr indent="-3175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If each string gets an area on a roulette wheel, then the larger the area associated to one number, the more likely it is that the ball will land there. </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Randomly pick strings from this larger set. </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Populate much larger new Population array, which contains multiple copies of each string.</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Select the strings to put into the mating pool, the next operation is to put them into pairs. </a:t>
            </a:r>
            <a:endParaRPr sz="2400">
              <a:latin typeface="Times New Roman"/>
              <a:ea typeface="Times New Roman"/>
              <a:cs typeface="Times New Roman"/>
              <a:sym typeface="Times New Roman"/>
            </a:endParaRPr>
          </a:p>
          <a:p>
            <a:pPr indent="-317500" lvl="0" marL="342900" rtl="0" algn="just">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Since the order that they are in is random, we can simply pair up the strings so that each even-indexed string takes the following odd-indexed one as its mate.</a:t>
            </a:r>
            <a:endParaRPr sz="2400">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9"/>
          <p:cNvSpPr txBox="1"/>
          <p:nvPr>
            <p:ph type="title"/>
          </p:nvPr>
        </p:nvSpPr>
        <p:spPr>
          <a:xfrm>
            <a:off x="457200" y="145600"/>
            <a:ext cx="8229600" cy="52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80"/>
              <a:buFont typeface="Calibri"/>
              <a:buNone/>
            </a:pPr>
            <a:r>
              <a:rPr b="1" lang="en-US" sz="2280">
                <a:latin typeface="Times New Roman"/>
                <a:ea typeface="Times New Roman"/>
                <a:cs typeface="Times New Roman"/>
                <a:sym typeface="Times New Roman"/>
              </a:rPr>
              <a:t>GENERATING OFFSPRING: GENETIC OPERATORS</a:t>
            </a:r>
            <a:endParaRPr sz="2280">
              <a:latin typeface="Times New Roman"/>
              <a:ea typeface="Times New Roman"/>
              <a:cs typeface="Times New Roman"/>
              <a:sym typeface="Times New Roman"/>
            </a:endParaRPr>
          </a:p>
        </p:txBody>
      </p:sp>
      <p:sp>
        <p:nvSpPr>
          <p:cNvPr id="628" name="Google Shape;628;p49"/>
          <p:cNvSpPr txBox="1"/>
          <p:nvPr>
            <p:ph idx="1" type="body"/>
          </p:nvPr>
        </p:nvSpPr>
        <p:spPr>
          <a:xfrm>
            <a:off x="457200" y="784125"/>
            <a:ext cx="8229600" cy="5692800"/>
          </a:xfrm>
          <a:prstGeom prst="rect">
            <a:avLst/>
          </a:prstGeom>
          <a:noFill/>
          <a:ln>
            <a:noFill/>
          </a:ln>
        </p:spPr>
        <p:txBody>
          <a:bodyPr anchorCtr="0" anchor="t" bIns="45700" lIns="91425" spcFirstLastPara="1" rIns="91425" wrap="square" tIns="45700">
            <a:noAutofit/>
          </a:bodyPr>
          <a:lstStyle/>
          <a:p>
            <a:pPr indent="-323850" lvl="0" marL="342900" rtl="0" algn="just">
              <a:spcBef>
                <a:spcPts val="0"/>
              </a:spcBef>
              <a:spcAft>
                <a:spcPts val="0"/>
              </a:spcAft>
              <a:buClr>
                <a:schemeClr val="dk1"/>
              </a:buClr>
              <a:buSzPts val="2300"/>
              <a:buFont typeface="Times New Roman"/>
              <a:buChar char="•"/>
            </a:pPr>
            <a:r>
              <a:rPr b="1" lang="en-US" sz="2300">
                <a:latin typeface="Times New Roman"/>
                <a:ea typeface="Times New Roman"/>
                <a:cs typeface="Times New Roman"/>
                <a:sym typeface="Times New Roman"/>
              </a:rPr>
              <a:t>Having selected our breeding pairs, now need to decide how to combine their two strings to generate the offspring,</a:t>
            </a:r>
            <a:r>
              <a:rPr lang="en-US" sz="2300">
                <a:latin typeface="Times New Roman"/>
                <a:ea typeface="Times New Roman"/>
                <a:cs typeface="Times New Roman"/>
                <a:sym typeface="Times New Roman"/>
              </a:rPr>
              <a:t> which is the genetics part of the algorithm. </a:t>
            </a:r>
            <a:endParaRPr sz="2300">
              <a:latin typeface="Times New Roman"/>
              <a:ea typeface="Times New Roman"/>
              <a:cs typeface="Times New Roman"/>
              <a:sym typeface="Times New Roman"/>
            </a:endParaRPr>
          </a:p>
          <a:p>
            <a:pPr indent="-323850" lvl="0" marL="342900" rtl="0" algn="just">
              <a:spcBef>
                <a:spcPts val="52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There are two genetic operators that are generally used.</a:t>
            </a:r>
            <a:endParaRPr sz="2300">
              <a:latin typeface="Times New Roman"/>
              <a:ea typeface="Times New Roman"/>
              <a:cs typeface="Times New Roman"/>
              <a:sym typeface="Times New Roman"/>
            </a:endParaRPr>
          </a:p>
          <a:p>
            <a:pPr indent="-342900" lvl="0" marL="342900" rtl="0" algn="just">
              <a:spcBef>
                <a:spcPts val="520"/>
              </a:spcBef>
              <a:spcAft>
                <a:spcPts val="0"/>
              </a:spcAft>
              <a:buClr>
                <a:schemeClr val="dk1"/>
              </a:buClr>
              <a:buSzPts val="2600"/>
              <a:buNone/>
            </a:pPr>
            <a:r>
              <a:rPr b="1" lang="en-US" sz="2300">
                <a:latin typeface="Times New Roman"/>
                <a:ea typeface="Times New Roman"/>
                <a:cs typeface="Times New Roman"/>
                <a:sym typeface="Times New Roman"/>
              </a:rPr>
              <a:t>CROSSOVER</a:t>
            </a:r>
            <a:endParaRPr sz="2300">
              <a:latin typeface="Times New Roman"/>
              <a:ea typeface="Times New Roman"/>
              <a:cs typeface="Times New Roman"/>
              <a:sym typeface="Times New Roman"/>
            </a:endParaRPr>
          </a:p>
          <a:p>
            <a:pPr indent="-323850" lvl="0" marL="342900" rtl="0" algn="just">
              <a:spcBef>
                <a:spcPts val="52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In biology, organisms have two chromosomes, and each parent donates one of them. </a:t>
            </a:r>
            <a:endParaRPr sz="2300">
              <a:latin typeface="Times New Roman"/>
              <a:ea typeface="Times New Roman"/>
              <a:cs typeface="Times New Roman"/>
              <a:sym typeface="Times New Roman"/>
            </a:endParaRPr>
          </a:p>
          <a:p>
            <a:pPr indent="-323850" lvl="0" marL="342900" rtl="0" algn="just">
              <a:spcBef>
                <a:spcPts val="52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Members of our GA population only have one chromosome-equivalent, the string.  </a:t>
            </a:r>
            <a:endParaRPr sz="2300">
              <a:latin typeface="Times New Roman"/>
              <a:ea typeface="Times New Roman"/>
              <a:cs typeface="Times New Roman"/>
              <a:sym typeface="Times New Roman"/>
            </a:endParaRPr>
          </a:p>
          <a:p>
            <a:pPr indent="-323850" lvl="0" marL="342900" rtl="0" algn="just">
              <a:spcBef>
                <a:spcPts val="52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Crossover is the operator that performs global exploration, since the strings that are produced are radically different to both parents in at least some places. </a:t>
            </a:r>
            <a:endParaRPr sz="2300">
              <a:latin typeface="Times New Roman"/>
              <a:ea typeface="Times New Roman"/>
              <a:cs typeface="Times New Roman"/>
              <a:sym typeface="Times New Roman"/>
            </a:endParaRPr>
          </a:p>
          <a:p>
            <a:pPr indent="-177800" lvl="0" marL="342900" rtl="0" algn="just">
              <a:spcBef>
                <a:spcPts val="520"/>
              </a:spcBef>
              <a:spcAft>
                <a:spcPts val="0"/>
              </a:spcAft>
              <a:buClr>
                <a:schemeClr val="dk1"/>
              </a:buClr>
              <a:buSzPts val="2600"/>
              <a:buNone/>
            </a:pPr>
            <a:r>
              <a:t/>
            </a:r>
            <a:endParaRPr sz="2300">
              <a:latin typeface="Times New Roman"/>
              <a:ea typeface="Times New Roman"/>
              <a:cs typeface="Times New Roman"/>
              <a:sym typeface="Times New Roman"/>
            </a:endParaRPr>
          </a:p>
          <a:p>
            <a:pPr indent="-177800" lvl="0" marL="342900" rtl="0" algn="just">
              <a:spcBef>
                <a:spcPts val="520"/>
              </a:spcBef>
              <a:spcAft>
                <a:spcPts val="0"/>
              </a:spcAft>
              <a:buClr>
                <a:schemeClr val="dk1"/>
              </a:buClr>
              <a:buSzPts val="2600"/>
              <a:buNone/>
            </a:pPr>
            <a:r>
              <a:t/>
            </a:r>
            <a:endParaRPr sz="2300">
              <a:latin typeface="Times New Roman"/>
              <a:ea typeface="Times New Roman"/>
              <a:cs typeface="Times New Roman"/>
              <a:sym typeface="Times New Roman"/>
            </a:endParaRPr>
          </a:p>
          <a:p>
            <a:pPr indent="-177800" lvl="0" marL="342900" rtl="0" algn="l">
              <a:spcBef>
                <a:spcPts val="520"/>
              </a:spcBef>
              <a:spcAft>
                <a:spcPts val="0"/>
              </a:spcAft>
              <a:buClr>
                <a:schemeClr val="dk1"/>
              </a:buClr>
              <a:buSzPts val="2600"/>
              <a:buNone/>
            </a:pPr>
            <a:r>
              <a:t/>
            </a:r>
            <a:endParaRPr sz="2300">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50"/>
          <p:cNvSpPr txBox="1"/>
          <p:nvPr>
            <p:ph idx="1" type="body"/>
          </p:nvPr>
        </p:nvSpPr>
        <p:spPr>
          <a:xfrm>
            <a:off x="76200" y="286075"/>
            <a:ext cx="8915400" cy="5809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Generate the new string as part of the first parent and part of the second.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Pick one point at random in the string, and to use parent 1 for the first part of the string, up to the crossover point and parent 2 for the rest.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Generate two offspring, with the second one consisting of the first part of parent 2 and the second part of parent 1.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known as single point crossover, and the extension to multi-point crossover is hopefully obvious.</a:t>
            </a:r>
            <a:endParaRPr>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‘Extreme’ version is known as uniform crossover and consists of independently selecting each element of the string at random from the two parents. </a:t>
            </a:r>
            <a:endParaRPr>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three types of crossover are shown in Figure 10.2.</a:t>
            </a:r>
            <a:endParaRPr sz="2400">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pic>
        <p:nvPicPr>
          <p:cNvPr id="638" name="Google Shape;638;p51"/>
          <p:cNvPicPr preferRelativeResize="0"/>
          <p:nvPr/>
        </p:nvPicPr>
        <p:blipFill rotWithShape="1">
          <a:blip r:embed="rId3">
            <a:alphaModFix/>
          </a:blip>
          <a:srcRect b="0" l="0" r="0" t="0"/>
          <a:stretch/>
        </p:blipFill>
        <p:spPr>
          <a:xfrm>
            <a:off x="0" y="0"/>
            <a:ext cx="4953000" cy="3124200"/>
          </a:xfrm>
          <a:prstGeom prst="rect">
            <a:avLst/>
          </a:prstGeom>
          <a:noFill/>
          <a:ln>
            <a:noFill/>
          </a:ln>
        </p:spPr>
      </p:pic>
      <p:sp>
        <p:nvSpPr>
          <p:cNvPr id="639" name="Google Shape;639;p51"/>
          <p:cNvSpPr/>
          <p:nvPr/>
        </p:nvSpPr>
        <p:spPr>
          <a:xfrm>
            <a:off x="4953000" y="0"/>
            <a:ext cx="4191000"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FIGURE 10.2 The different forms of the crossover operator. (a) Single point crossover. A position in the string is chosen at random, and the offspring is made up of the first part of parent 1 and the second part of parent 2. (b) Multi-point crossover. Multiple points are chosen, with the offspring being made in the same way. (c) Uniform crossover. Random numbers are used to select (0-String0 &amp; 1-String1) which parent to take each element from.</a:t>
            </a:r>
            <a:endParaRPr sz="1800">
              <a:solidFill>
                <a:schemeClr val="dk1"/>
              </a:solidFill>
              <a:latin typeface="Times New Roman"/>
              <a:ea typeface="Times New Roman"/>
              <a:cs typeface="Times New Roman"/>
              <a:sym typeface="Times New Roman"/>
            </a:endParaRPr>
          </a:p>
        </p:txBody>
      </p:sp>
      <p:sp>
        <p:nvSpPr>
          <p:cNvPr id="640" name="Google Shape;640;p51"/>
          <p:cNvSpPr/>
          <p:nvPr/>
        </p:nvSpPr>
        <p:spPr>
          <a:xfrm>
            <a:off x="152400" y="3429000"/>
            <a:ext cx="8763000" cy="26776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Times New Roman"/>
                <a:ea typeface="Times New Roman"/>
                <a:cs typeface="Times New Roman"/>
                <a:sym typeface="Times New Roman"/>
              </a:rPr>
              <a:t>Crossover is not always useful, depending upon the problem; for example, in the Travelling Salesman Problem, the strings that are generated by crossover might not even be valid tours.</a:t>
            </a:r>
            <a:endParaRPr sz="1200">
              <a:latin typeface="Times New Roman"/>
              <a:ea typeface="Times New Roman"/>
              <a:cs typeface="Times New Roman"/>
              <a:sym typeface="Times New Roman"/>
            </a:endParaRPr>
          </a:p>
          <a:p>
            <a:pPr indent="0" lvl="0" marL="0" marR="0" rtl="0" algn="just">
              <a:spcBef>
                <a:spcPts val="0"/>
              </a:spcBef>
              <a:spcAft>
                <a:spcPts val="0"/>
              </a:spcAft>
              <a:buNone/>
            </a:pPr>
            <a:r>
              <a:rPr lang="en-US" sz="2200">
                <a:solidFill>
                  <a:schemeClr val="dk1"/>
                </a:solidFill>
                <a:latin typeface="Times New Roman"/>
                <a:ea typeface="Times New Roman"/>
                <a:cs typeface="Times New Roman"/>
                <a:sym typeface="Times New Roman"/>
              </a:rPr>
              <a:t>GAs work well on problems where the solution comes from putting together lots of little solutions, so that different strings assemble each separate building block, and then crossover puts those substrings together to make the final solution.</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2"/>
          <p:cNvSpPr txBox="1"/>
          <p:nvPr>
            <p:ph idx="1" type="body"/>
          </p:nvPr>
        </p:nvSpPr>
        <p:spPr>
          <a:xfrm>
            <a:off x="152400" y="457200"/>
            <a:ext cx="8686800" cy="5715000"/>
          </a:xfrm>
          <a:prstGeom prst="rect">
            <a:avLst/>
          </a:prstGeom>
          <a:noFill/>
          <a:ln>
            <a:noFill/>
          </a:ln>
        </p:spPr>
        <p:txBody>
          <a:bodyPr anchorCtr="0" anchor="t" bIns="45700" lIns="91425" spcFirstLastPara="1" rIns="91425" wrap="square" tIns="45700">
            <a:noAutofit/>
          </a:bodyPr>
          <a:lstStyle/>
          <a:p>
            <a:pPr indent="-311150" lvl="0" marL="342900" rtl="0" algn="just">
              <a:spcBef>
                <a:spcPts val="0"/>
              </a:spcBef>
              <a:spcAft>
                <a:spcPts val="0"/>
              </a:spcAft>
              <a:buClr>
                <a:schemeClr val="dk1"/>
              </a:buClr>
              <a:buSzPts val="2300"/>
              <a:buChar char="•"/>
            </a:pPr>
            <a:r>
              <a:rPr b="1" lang="en-US" sz="2300">
                <a:latin typeface="Times New Roman"/>
                <a:ea typeface="Times New Roman"/>
                <a:cs typeface="Times New Roman"/>
                <a:sym typeface="Times New Roman"/>
              </a:rPr>
              <a:t>Example:</a:t>
            </a:r>
            <a:r>
              <a:rPr lang="en-US" sz="2300">
                <a:latin typeface="Times New Roman"/>
                <a:ea typeface="Times New Roman"/>
                <a:cs typeface="Times New Roman"/>
                <a:sym typeface="Times New Roman"/>
              </a:rPr>
              <a:t>  Imagine a bird that has webbed feet for good swimming, but that cannot fly, breeding with a bird that can fly, but not swim. </a:t>
            </a:r>
            <a:endParaRPr sz="2300">
              <a:latin typeface="Times New Roman"/>
              <a:ea typeface="Times New Roman"/>
              <a:cs typeface="Times New Roman"/>
              <a:sym typeface="Times New Roman"/>
            </a:endParaRPr>
          </a:p>
          <a:p>
            <a:pPr indent="-311150" lvl="0" marL="342900" rtl="0" algn="just">
              <a:spcBef>
                <a:spcPts val="56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offspring? A duck! Obviously, this is not biologically plausible, but it is a good picture of how crossover works.</a:t>
            </a:r>
            <a:endParaRPr sz="2300">
              <a:latin typeface="Times New Roman"/>
              <a:ea typeface="Times New Roman"/>
              <a:cs typeface="Times New Roman"/>
              <a:sym typeface="Times New Roman"/>
            </a:endParaRPr>
          </a:p>
          <a:p>
            <a:pPr indent="-311150" lvl="0" marL="342900" rtl="0" algn="just">
              <a:spcBef>
                <a:spcPts val="56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One interesting feature of the GA that obviously isn’t true in real genetics is that in addition to the duck the algorithm would produce the bird that can’t fly or swim. </a:t>
            </a:r>
            <a:endParaRPr sz="2300">
              <a:latin typeface="Times New Roman"/>
              <a:ea typeface="Times New Roman"/>
              <a:cs typeface="Times New Roman"/>
              <a:sym typeface="Times New Roman"/>
            </a:endParaRPr>
          </a:p>
          <a:p>
            <a:pPr indent="-311150" lvl="0" marL="342900" rtl="0" algn="just">
              <a:spcBef>
                <a:spcPts val="56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Exceptions to this, such as the great New Zealand Kiwi, which can neither swim nor fly, but is happily not extinct.</a:t>
            </a:r>
            <a:endParaRPr sz="23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sz="2300">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3"/>
          <p:cNvSpPr txBox="1"/>
          <p:nvPr>
            <p:ph idx="1" type="body"/>
          </p:nvPr>
        </p:nvSpPr>
        <p:spPr>
          <a:xfrm>
            <a:off x="152400" y="381000"/>
            <a:ext cx="8839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None/>
            </a:pPr>
            <a:r>
              <a:rPr b="1" lang="en-US" sz="2700">
                <a:latin typeface="Times New Roman"/>
                <a:ea typeface="Times New Roman"/>
                <a:cs typeface="Times New Roman"/>
                <a:sym typeface="Times New Roman"/>
              </a:rPr>
              <a:t>MUTATION</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other genetic operator is mutation, which effectively performs local random search.</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value of any element of the string can be changed, governed by some (usually low) probability </a:t>
            </a:r>
            <a:r>
              <a:rPr i="1" lang="en-US" sz="2300">
                <a:latin typeface="Times New Roman"/>
                <a:ea typeface="Times New Roman"/>
                <a:cs typeface="Times New Roman"/>
                <a:sym typeface="Times New Roman"/>
              </a:rPr>
              <a:t>p.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i="1" lang="en-US" sz="2300">
                <a:latin typeface="Times New Roman"/>
                <a:ea typeface="Times New Roman"/>
                <a:cs typeface="Times New Roman"/>
                <a:sym typeface="Times New Roman"/>
              </a:rPr>
              <a:t>For our binary alphabet in the knapsack problem, mutation causes a bit-flip, </a:t>
            </a:r>
            <a:r>
              <a:rPr lang="en-US" sz="2300">
                <a:latin typeface="Times New Roman"/>
                <a:ea typeface="Times New Roman"/>
                <a:cs typeface="Times New Roman"/>
                <a:sym typeface="Times New Roman"/>
              </a:rPr>
              <a:t>as is shown in Figure 10.3.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For chromosomes with real values, some random number is generally added or subtracted from the current value.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Char char="•"/>
            </a:pPr>
            <a:r>
              <a:rPr lang="en-US" sz="2300">
                <a:latin typeface="Times New Roman"/>
                <a:ea typeface="Times New Roman"/>
                <a:cs typeface="Times New Roman"/>
                <a:sym typeface="Times New Roman"/>
              </a:rPr>
              <a:t>Often, </a:t>
            </a:r>
            <a:r>
              <a:rPr i="1" lang="en-US" sz="2300">
                <a:latin typeface="Times New Roman"/>
                <a:ea typeface="Times New Roman"/>
                <a:cs typeface="Times New Roman"/>
                <a:sym typeface="Times New Roman"/>
              </a:rPr>
              <a:t>p </a:t>
            </a:r>
            <a:r>
              <a:rPr baseline="-25000" i="1" lang="en-US" sz="2300">
                <a:latin typeface="Times New Roman"/>
                <a:ea typeface="Times New Roman"/>
                <a:cs typeface="Times New Roman"/>
                <a:sym typeface="Times New Roman"/>
              </a:rPr>
              <a:t>͌  </a:t>
            </a:r>
            <a:r>
              <a:rPr i="1" lang="en-US" sz="2300">
                <a:latin typeface="Times New Roman"/>
                <a:ea typeface="Times New Roman"/>
                <a:cs typeface="Times New Roman"/>
                <a:sym typeface="Times New Roman"/>
              </a:rPr>
              <a:t>1/L where L is the string </a:t>
            </a:r>
            <a:r>
              <a:rPr lang="en-US" sz="2300">
                <a:latin typeface="Times New Roman"/>
                <a:ea typeface="Times New Roman"/>
                <a:cs typeface="Times New Roman"/>
                <a:sym typeface="Times New Roman"/>
              </a:rPr>
              <a:t>length, so that there is approximately one mutation in each string.</a:t>
            </a:r>
            <a:endParaRPr sz="3100">
              <a:latin typeface="Times New Roman"/>
              <a:ea typeface="Times New Roman"/>
              <a:cs typeface="Times New Roman"/>
              <a:sym typeface="Times New Roman"/>
            </a:endParaRPr>
          </a:p>
        </p:txBody>
      </p:sp>
      <p:pic>
        <p:nvPicPr>
          <p:cNvPr id="651" name="Google Shape;651;p53"/>
          <p:cNvPicPr preferRelativeResize="0"/>
          <p:nvPr/>
        </p:nvPicPr>
        <p:blipFill rotWithShape="1">
          <a:blip r:embed="rId3">
            <a:alphaModFix/>
          </a:blip>
          <a:srcRect b="0" l="0" r="0" t="0"/>
          <a:stretch/>
        </p:blipFill>
        <p:spPr>
          <a:xfrm>
            <a:off x="609600" y="5029200"/>
            <a:ext cx="3429000" cy="1600200"/>
          </a:xfrm>
          <a:prstGeom prst="rect">
            <a:avLst/>
          </a:prstGeom>
          <a:noFill/>
          <a:ln>
            <a:noFill/>
          </a:ln>
        </p:spPr>
      </p:pic>
      <p:sp>
        <p:nvSpPr>
          <p:cNvPr id="652" name="Google Shape;652;p53"/>
          <p:cNvSpPr/>
          <p:nvPr/>
        </p:nvSpPr>
        <p:spPr>
          <a:xfrm>
            <a:off x="4114800" y="6019800"/>
            <a:ext cx="4876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 10.3 The effects of mutation on a string.</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4"/>
          <p:cNvSpPr txBox="1"/>
          <p:nvPr>
            <p:ph type="title"/>
          </p:nvPr>
        </p:nvSpPr>
        <p:spPr>
          <a:xfrm>
            <a:off x="457200" y="94500"/>
            <a:ext cx="8229600" cy="638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40"/>
              <a:buFont typeface="Calibri"/>
              <a:buNone/>
            </a:pPr>
            <a:r>
              <a:rPr b="1" lang="en-US" sz="2640">
                <a:latin typeface="Times New Roman"/>
                <a:ea typeface="Times New Roman"/>
                <a:cs typeface="Times New Roman"/>
                <a:sym typeface="Times New Roman"/>
              </a:rPr>
              <a:t>ELITISM, TOURNAMENTS, AND NICHING</a:t>
            </a:r>
            <a:endParaRPr sz="2640">
              <a:latin typeface="Times New Roman"/>
              <a:ea typeface="Times New Roman"/>
              <a:cs typeface="Times New Roman"/>
              <a:sym typeface="Times New Roman"/>
            </a:endParaRPr>
          </a:p>
        </p:txBody>
      </p:sp>
      <p:sp>
        <p:nvSpPr>
          <p:cNvPr id="658" name="Google Shape;658;p54"/>
          <p:cNvSpPr txBox="1"/>
          <p:nvPr>
            <p:ph idx="1" type="body"/>
          </p:nvPr>
        </p:nvSpPr>
        <p:spPr>
          <a:xfrm>
            <a:off x="152400" y="924625"/>
            <a:ext cx="8839200" cy="5247600"/>
          </a:xfrm>
          <a:prstGeom prst="rect">
            <a:avLst/>
          </a:prstGeom>
          <a:noFill/>
          <a:ln>
            <a:noFill/>
          </a:ln>
        </p:spPr>
        <p:txBody>
          <a:bodyPr anchorCtr="0" anchor="t" bIns="45700" lIns="91425" spcFirstLastPara="1" rIns="91425" wrap="square" tIns="45700">
            <a:normAutofit/>
          </a:bodyPr>
          <a:lstStyle/>
          <a:p>
            <a:pPr indent="-330200" lvl="0" marL="342900" rtl="0" algn="just">
              <a:lnSpc>
                <a:spcPct val="90000"/>
              </a:lnSpc>
              <a:spcBef>
                <a:spcPts val="0"/>
              </a:spcBef>
              <a:spcAft>
                <a:spcPts val="0"/>
              </a:spcAft>
              <a:buClr>
                <a:schemeClr val="dk1"/>
              </a:buClr>
              <a:buSzPts val="2520"/>
              <a:buFont typeface="Times New Roman"/>
              <a:buChar char="•"/>
            </a:pPr>
            <a:r>
              <a:rPr lang="en-US" sz="2520">
                <a:latin typeface="Times New Roman"/>
                <a:ea typeface="Times New Roman"/>
                <a:cs typeface="Times New Roman"/>
                <a:sym typeface="Times New Roman"/>
              </a:rPr>
              <a:t>Produce pairs of offspring by taking pairs of parents</a:t>
            </a:r>
            <a:endParaRPr sz="2520">
              <a:latin typeface="Times New Roman"/>
              <a:ea typeface="Times New Roman"/>
              <a:cs typeface="Times New Roman"/>
              <a:sym typeface="Times New Roman"/>
            </a:endParaRPr>
          </a:p>
          <a:p>
            <a:pPr indent="-330200" lvl="0" marL="342900" rtl="0" algn="just">
              <a:lnSpc>
                <a:spcPct val="90000"/>
              </a:lnSpc>
              <a:spcBef>
                <a:spcPts val="544"/>
              </a:spcBef>
              <a:spcAft>
                <a:spcPts val="0"/>
              </a:spcAft>
              <a:buClr>
                <a:schemeClr val="dk1"/>
              </a:buClr>
              <a:buSzPts val="2520"/>
              <a:buFont typeface="Times New Roman"/>
              <a:buChar char="•"/>
            </a:pPr>
            <a:r>
              <a:rPr lang="en-US" sz="2520">
                <a:latin typeface="Times New Roman"/>
                <a:ea typeface="Times New Roman"/>
                <a:cs typeface="Times New Roman"/>
                <a:sym typeface="Times New Roman"/>
              </a:rPr>
              <a:t>Replace the parents by their children to make a completely new population, and carry on from there. </a:t>
            </a:r>
            <a:endParaRPr sz="2520">
              <a:latin typeface="Times New Roman"/>
              <a:ea typeface="Times New Roman"/>
              <a:cs typeface="Times New Roman"/>
              <a:sym typeface="Times New Roman"/>
            </a:endParaRPr>
          </a:p>
          <a:p>
            <a:pPr indent="-330200" lvl="0" marL="342900" rtl="0" algn="just">
              <a:lnSpc>
                <a:spcPct val="90000"/>
              </a:lnSpc>
              <a:spcBef>
                <a:spcPts val="544"/>
              </a:spcBef>
              <a:spcAft>
                <a:spcPts val="0"/>
              </a:spcAft>
              <a:buClr>
                <a:schemeClr val="dk1"/>
              </a:buClr>
              <a:buSzPts val="2520"/>
              <a:buFont typeface="Times New Roman"/>
              <a:buChar char="•"/>
            </a:pPr>
            <a:r>
              <a:rPr lang="en-US" sz="2520">
                <a:latin typeface="Times New Roman"/>
                <a:ea typeface="Times New Roman"/>
                <a:cs typeface="Times New Roman"/>
                <a:sym typeface="Times New Roman"/>
              </a:rPr>
              <a:t>The maximum fitness in each generation can decrease, at least temporarily, and since in the end we are only interested in the ‘best’ solution, this seems a bit risky: we could potentially lose a really good string that we find early on in the search, and that we never see again. </a:t>
            </a:r>
            <a:endParaRPr sz="2520">
              <a:latin typeface="Times New Roman"/>
              <a:ea typeface="Times New Roman"/>
              <a:cs typeface="Times New Roman"/>
              <a:sym typeface="Times New Roman"/>
            </a:endParaRPr>
          </a:p>
          <a:p>
            <a:pPr indent="-330200" lvl="0" marL="342900" rtl="0" algn="just">
              <a:lnSpc>
                <a:spcPct val="90000"/>
              </a:lnSpc>
              <a:spcBef>
                <a:spcPts val="544"/>
              </a:spcBef>
              <a:spcAft>
                <a:spcPts val="0"/>
              </a:spcAft>
              <a:buClr>
                <a:schemeClr val="dk1"/>
              </a:buClr>
              <a:buSzPts val="2520"/>
              <a:buChar char="•"/>
            </a:pPr>
            <a:r>
              <a:rPr b="1" lang="en-US" sz="2520">
                <a:latin typeface="Times New Roman"/>
                <a:ea typeface="Times New Roman"/>
                <a:cs typeface="Times New Roman"/>
                <a:sym typeface="Times New Roman"/>
              </a:rPr>
              <a:t>ELITISM:</a:t>
            </a:r>
            <a:r>
              <a:rPr lang="en-US" sz="2520">
                <a:latin typeface="Times New Roman"/>
                <a:ea typeface="Times New Roman"/>
                <a:cs typeface="Times New Roman"/>
                <a:sym typeface="Times New Roman"/>
              </a:rPr>
              <a:t> Takes some number of the fittest strings from one generation and puts them directly into the next population, replacing strings that are already there either at random, or by choosing the least fit to replace. </a:t>
            </a:r>
            <a:endParaRPr sz="2520">
              <a:latin typeface="Times New Roman"/>
              <a:ea typeface="Times New Roman"/>
              <a:cs typeface="Times New Roman"/>
              <a:sym typeface="Times New Roman"/>
            </a:endParaRPr>
          </a:p>
          <a:p>
            <a:pPr indent="-170180" lvl="0" marL="342900" rtl="0" algn="just">
              <a:lnSpc>
                <a:spcPct val="90000"/>
              </a:lnSpc>
              <a:spcBef>
                <a:spcPts val="544"/>
              </a:spcBef>
              <a:spcAft>
                <a:spcPts val="0"/>
              </a:spcAft>
              <a:buClr>
                <a:schemeClr val="dk1"/>
              </a:buClr>
              <a:buSzPts val="2720"/>
              <a:buNone/>
            </a:pPr>
            <a:r>
              <a:t/>
            </a:r>
            <a:endParaRPr sz="2520">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5"/>
          <p:cNvSpPr txBox="1"/>
          <p:nvPr>
            <p:ph idx="1" type="body"/>
          </p:nvPr>
        </p:nvSpPr>
        <p:spPr>
          <a:xfrm>
            <a:off x="152400" y="152400"/>
            <a:ext cx="8839200" cy="6324600"/>
          </a:xfrm>
          <a:prstGeom prst="rect">
            <a:avLst/>
          </a:prstGeom>
          <a:noFill/>
          <a:ln>
            <a:noFill/>
          </a:ln>
        </p:spPr>
        <p:txBody>
          <a:bodyPr anchorCtr="0" anchor="t" bIns="45700" lIns="91425" spcFirstLastPara="1" rIns="91425" wrap="square" tIns="45700">
            <a:norm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At every iteration the population stays the same size, something else that is unlike real evolution. </a:t>
            </a:r>
            <a:endParaRPr sz="2300">
              <a:latin typeface="Times New Roman"/>
              <a:ea typeface="Times New Roman"/>
              <a:cs typeface="Times New Roman"/>
              <a:sym typeface="Times New Roman"/>
            </a:endParaRPr>
          </a:p>
          <a:p>
            <a:pPr indent="0" lvl="0" marL="342900" rtl="0" algn="just">
              <a:spcBef>
                <a:spcPts val="0"/>
              </a:spcBef>
              <a:spcAft>
                <a:spcPts val="0"/>
              </a:spcAft>
              <a:buNone/>
            </a:pPr>
            <a:r>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Char char="•"/>
            </a:pPr>
            <a:r>
              <a:rPr b="1" lang="en-US" sz="2300">
                <a:latin typeface="Times New Roman"/>
                <a:ea typeface="Times New Roman"/>
                <a:cs typeface="Times New Roman"/>
                <a:sym typeface="Times New Roman"/>
              </a:rPr>
              <a:t>TOURNAMENT:</a:t>
            </a:r>
            <a:r>
              <a:rPr lang="en-US" sz="2300">
                <a:latin typeface="Times New Roman"/>
                <a:ea typeface="Times New Roman"/>
                <a:cs typeface="Times New Roman"/>
                <a:sym typeface="Times New Roman"/>
              </a:rPr>
              <a:t> Two parents and their two off-springs compete, with the two fittest out of the four being put into the new population.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Implementation of these functions continues along the same lines as the previous ones;</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Elitism and Tournaments both ensure that good solutions aren’t lost, they both have the problem that they can encourage premature convergence, where the algorithm settles down to a constant population that never changes even though it hasn’t found an optimum.</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GA favours fitter members of the population, which means that a solution that reaches a local maximum will generally be favoured, and this solution will be exploited.</a:t>
            </a:r>
            <a:endParaRPr sz="2300">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6"/>
          <p:cNvSpPr txBox="1"/>
          <p:nvPr>
            <p:ph idx="1" type="body"/>
          </p:nvPr>
        </p:nvSpPr>
        <p:spPr>
          <a:xfrm>
            <a:off x="152400" y="76200"/>
            <a:ext cx="8839200" cy="65532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Tournaments and Elitism encourage this, because they reduce the amount of diversity in the population by allowing the same individuals to remain over many generations.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By this Exploration aspect of the GA stops occurring.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Exploration will be downplayed, making it hard to escape from the local maximum— strings of worse fitness will be replaced in the population. </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randomness in the GA is a very large part of why it works, and schemes to reduce that randomness often harm the overall results.</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Char char="•"/>
            </a:pPr>
            <a:r>
              <a:rPr b="1" lang="en-US" sz="2300">
                <a:latin typeface="Times New Roman"/>
                <a:ea typeface="Times New Roman"/>
                <a:cs typeface="Times New Roman"/>
                <a:sym typeface="Times New Roman"/>
              </a:rPr>
              <a:t>NICHING: </a:t>
            </a:r>
            <a:r>
              <a:rPr lang="en-US" sz="2300">
                <a:latin typeface="Times New Roman"/>
                <a:ea typeface="Times New Roman"/>
                <a:cs typeface="Times New Roman"/>
                <a:sym typeface="Times New Roman"/>
              </a:rPr>
              <a:t>Used to solve the problem of premature convergence also known as using island populations, where the population is separated into several subpopulations, which all evolve independently for some period of time.</a:t>
            </a:r>
            <a:endParaRPr sz="31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So that they are likely to have converged to different local maxima, and a few members of one subpopulation are occasionally injected as ‘immigrants’ into another subpopulation. </a:t>
            </a:r>
            <a:endParaRPr sz="2300">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p57"/>
          <p:cNvPicPr preferRelativeResize="0"/>
          <p:nvPr/>
        </p:nvPicPr>
        <p:blipFill rotWithShape="1">
          <a:blip r:embed="rId3">
            <a:alphaModFix/>
          </a:blip>
          <a:srcRect b="0" l="0" r="0" t="0"/>
          <a:stretch/>
        </p:blipFill>
        <p:spPr>
          <a:xfrm>
            <a:off x="0" y="0"/>
            <a:ext cx="9144000" cy="5791200"/>
          </a:xfrm>
          <a:prstGeom prst="rect">
            <a:avLst/>
          </a:prstGeom>
          <a:noFill/>
          <a:ln>
            <a:noFill/>
          </a:ln>
        </p:spPr>
      </p:pic>
      <p:pic>
        <p:nvPicPr>
          <p:cNvPr id="674" name="Google Shape;674;p57"/>
          <p:cNvPicPr preferRelativeResize="0"/>
          <p:nvPr/>
        </p:nvPicPr>
        <p:blipFill rotWithShape="1">
          <a:blip r:embed="rId4">
            <a:alphaModFix/>
          </a:blip>
          <a:srcRect b="0" l="0" r="0" t="0"/>
          <a:stretch/>
        </p:blipFill>
        <p:spPr>
          <a:xfrm>
            <a:off x="1295400" y="5867400"/>
            <a:ext cx="6934200" cy="9144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8"/>
          <p:cNvSpPr txBox="1"/>
          <p:nvPr>
            <p:ph idx="1" type="body"/>
          </p:nvPr>
        </p:nvSpPr>
        <p:spPr>
          <a:xfrm>
            <a:off x="152400" y="76200"/>
            <a:ext cx="8839200" cy="6705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None/>
            </a:pPr>
            <a:r>
              <a:rPr b="1" lang="en-US" sz="2800">
                <a:latin typeface="Times New Roman"/>
                <a:ea typeface="Times New Roman"/>
                <a:cs typeface="Times New Roman"/>
                <a:sym typeface="Times New Roman"/>
              </a:rPr>
              <a:t>USING GENETIC ALGORITHMS</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None/>
            </a:pPr>
            <a:r>
              <a:rPr b="1" lang="en-US" sz="2400">
                <a:latin typeface="Times New Roman"/>
                <a:ea typeface="Times New Roman"/>
                <a:cs typeface="Times New Roman"/>
                <a:sym typeface="Times New Roman"/>
              </a:rPr>
              <a:t>MAP COLOURING</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Graph colouring is a typical Discrete Optimization Problem.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Colour a graph using only </a:t>
            </a:r>
            <a:r>
              <a:rPr i="1" lang="en-US" sz="2400">
                <a:latin typeface="Times New Roman"/>
                <a:ea typeface="Times New Roman"/>
                <a:cs typeface="Times New Roman"/>
                <a:sym typeface="Times New Roman"/>
              </a:rPr>
              <a:t>k colours, and choose them in such a way that adjacent regions have different colours.</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Mathematically proven that any two-dimensional planar graph can be coloured with four colours.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Even though it is impossible, we try to solve the three-colour problem using a genetic algorithm.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To apply a genetic algorithm, there are three basic tasks that need to be performed:</a:t>
            </a:r>
            <a:endParaRPr>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None/>
            </a:pPr>
            <a:r>
              <a:rPr b="1" lang="en-US" sz="2400">
                <a:latin typeface="Times New Roman"/>
                <a:ea typeface="Times New Roman"/>
                <a:cs typeface="Times New Roman"/>
                <a:sym typeface="Times New Roman"/>
              </a:rPr>
              <a:t>Encode possible solutions as strings </a:t>
            </a:r>
            <a:endParaRPr>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Choose our alphabet to consist  of the three </a:t>
            </a:r>
            <a:endParaRPr>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possible shades (black (</a:t>
            </a:r>
            <a:r>
              <a:rPr i="1" lang="en-US" sz="2400">
                <a:latin typeface="Times New Roman"/>
                <a:ea typeface="Times New Roman"/>
                <a:cs typeface="Times New Roman"/>
                <a:sym typeface="Times New Roman"/>
              </a:rPr>
              <a:t>b), dark (d), and light (l), say).</a:t>
            </a:r>
            <a:endParaRPr>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For a six-region map, a possible string is </a:t>
            </a:r>
            <a:r>
              <a:rPr i="1" lang="en-US" sz="2400">
                <a:latin typeface="Times New Roman"/>
                <a:ea typeface="Times New Roman"/>
                <a:cs typeface="Times New Roman"/>
                <a:sym typeface="Times New Roman"/>
              </a:rPr>
              <a:t> α = {bdblbb}.</a:t>
            </a:r>
            <a:endParaRPr sz="2400">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59"/>
          <p:cNvSpPr txBox="1"/>
          <p:nvPr>
            <p:ph idx="1" type="body"/>
          </p:nvPr>
        </p:nvSpPr>
        <p:spPr>
          <a:xfrm>
            <a:off x="76200" y="152400"/>
            <a:ext cx="8991600" cy="6553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This says that the first region is black, the second dark grey, etc. </a:t>
            </a:r>
            <a:endParaRPr/>
          </a:p>
          <a:p>
            <a:pPr indent="-342900" lvl="0" marL="342900" rtl="0" algn="l">
              <a:spcBef>
                <a:spcPts val="480"/>
              </a:spcBef>
              <a:spcAft>
                <a:spcPts val="0"/>
              </a:spcAft>
              <a:buClr>
                <a:schemeClr val="dk1"/>
              </a:buClr>
              <a:buSzPts val="2400"/>
              <a:buChar char="•"/>
            </a:pPr>
            <a:r>
              <a:rPr lang="en-US" sz="2400"/>
              <a:t>We choose an order to record the regions in and stick to it for all the strings, and now we can encode any way of colouring in those six regions. </a:t>
            </a:r>
            <a:endParaRPr/>
          </a:p>
          <a:p>
            <a:pPr indent="-342900" lvl="0" marL="342900" rtl="0" algn="l">
              <a:spcBef>
                <a:spcPts val="480"/>
              </a:spcBef>
              <a:spcAft>
                <a:spcPts val="0"/>
              </a:spcAft>
              <a:buClr>
                <a:schemeClr val="dk1"/>
              </a:buClr>
              <a:buSzPts val="2400"/>
              <a:buChar char="•"/>
            </a:pPr>
            <a:r>
              <a:rPr lang="en-US" sz="2400"/>
              <a:t>An example problem and a colouring are given in Figures 10.4 and 10.5.</a:t>
            </a:r>
            <a:endParaRPr sz="2400"/>
          </a:p>
        </p:txBody>
      </p:sp>
      <p:pic>
        <p:nvPicPr>
          <p:cNvPr id="685" name="Google Shape;685;p59"/>
          <p:cNvPicPr preferRelativeResize="0"/>
          <p:nvPr/>
        </p:nvPicPr>
        <p:blipFill rotWithShape="1">
          <a:blip r:embed="rId3">
            <a:alphaModFix/>
          </a:blip>
          <a:srcRect b="0" l="0" r="0" t="0"/>
          <a:stretch/>
        </p:blipFill>
        <p:spPr>
          <a:xfrm>
            <a:off x="0" y="2743200"/>
            <a:ext cx="3810000" cy="2438400"/>
          </a:xfrm>
          <a:prstGeom prst="rect">
            <a:avLst/>
          </a:prstGeom>
          <a:noFill/>
          <a:ln>
            <a:noFill/>
          </a:ln>
        </p:spPr>
      </p:pic>
      <p:pic>
        <p:nvPicPr>
          <p:cNvPr id="686" name="Google Shape;686;p59"/>
          <p:cNvPicPr preferRelativeResize="0"/>
          <p:nvPr/>
        </p:nvPicPr>
        <p:blipFill rotWithShape="1">
          <a:blip r:embed="rId4">
            <a:alphaModFix/>
          </a:blip>
          <a:srcRect b="0" l="0" r="0" t="0"/>
          <a:stretch/>
        </p:blipFill>
        <p:spPr>
          <a:xfrm>
            <a:off x="4724400" y="2819400"/>
            <a:ext cx="4191000" cy="2438400"/>
          </a:xfrm>
          <a:prstGeom prst="rect">
            <a:avLst/>
          </a:prstGeom>
          <a:noFill/>
          <a:ln>
            <a:noFill/>
          </a:ln>
        </p:spPr>
      </p:pic>
      <p:sp>
        <p:nvSpPr>
          <p:cNvPr id="687" name="Google Shape;687;p59"/>
          <p:cNvSpPr/>
          <p:nvPr/>
        </p:nvSpPr>
        <p:spPr>
          <a:xfrm>
            <a:off x="0" y="5305961"/>
            <a:ext cx="4114800"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FIGURE 10.4 </a:t>
            </a:r>
            <a:r>
              <a:rPr lang="en-US" sz="2000">
                <a:solidFill>
                  <a:schemeClr val="dk1"/>
                </a:solidFill>
                <a:latin typeface="Calibri"/>
                <a:ea typeface="Calibri"/>
                <a:cs typeface="Calibri"/>
                <a:sym typeface="Calibri"/>
              </a:rPr>
              <a:t>A sample map that we wish to colour using the three colours shown, without any two adjacent squares having the same colour.</a:t>
            </a:r>
            <a:endParaRPr sz="2000">
              <a:solidFill>
                <a:schemeClr val="dk1"/>
              </a:solidFill>
              <a:latin typeface="Calibri"/>
              <a:ea typeface="Calibri"/>
              <a:cs typeface="Calibri"/>
              <a:sym typeface="Calibri"/>
            </a:endParaRPr>
          </a:p>
        </p:txBody>
      </p:sp>
      <p:sp>
        <p:nvSpPr>
          <p:cNvPr id="688" name="Google Shape;688;p59"/>
          <p:cNvSpPr/>
          <p:nvPr/>
        </p:nvSpPr>
        <p:spPr>
          <a:xfrm>
            <a:off x="4953000" y="5537537"/>
            <a:ext cx="3886200"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FIGURE 10.5</a:t>
            </a:r>
            <a:r>
              <a:rPr lang="en-US" sz="2000">
                <a:solidFill>
                  <a:schemeClr val="dk1"/>
                </a:solidFill>
                <a:latin typeface="Calibri"/>
                <a:ea typeface="Calibri"/>
                <a:cs typeface="Calibri"/>
                <a:sym typeface="Calibri"/>
              </a:rPr>
              <a:t> A possible colouring with several adjacent squares having the same colour.</a:t>
            </a:r>
            <a:endParaRPr sz="2000">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60"/>
          <p:cNvSpPr txBox="1"/>
          <p:nvPr>
            <p:ph idx="1" type="body"/>
          </p:nvPr>
        </p:nvSpPr>
        <p:spPr>
          <a:xfrm>
            <a:off x="152400" y="533400"/>
            <a:ext cx="8763000" cy="5486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500"/>
              <a:buNone/>
            </a:pPr>
            <a:r>
              <a:rPr b="1" lang="en-US" sz="2500"/>
              <a:t>CHOOSE A SUITABLE FITNESS FUNCTION </a:t>
            </a:r>
            <a:endParaRPr/>
          </a:p>
          <a:p>
            <a:pPr indent="-342900" lvl="0" marL="342900" rtl="0" algn="just">
              <a:spcBef>
                <a:spcPts val="500"/>
              </a:spcBef>
              <a:spcAft>
                <a:spcPts val="0"/>
              </a:spcAft>
              <a:buClr>
                <a:schemeClr val="dk1"/>
              </a:buClr>
              <a:buSzPts val="2500"/>
              <a:buChar char="•"/>
            </a:pPr>
            <a:r>
              <a:rPr lang="en-US" sz="2500"/>
              <a:t>Minimize the cost function is the number of times that two adjacent regions have the same colour.</a:t>
            </a:r>
            <a:endParaRPr/>
          </a:p>
          <a:p>
            <a:pPr indent="-342900" lvl="0" marL="342900" rtl="0" algn="just">
              <a:spcBef>
                <a:spcPts val="500"/>
              </a:spcBef>
              <a:spcAft>
                <a:spcPts val="0"/>
              </a:spcAft>
              <a:buClr>
                <a:schemeClr val="dk1"/>
              </a:buClr>
              <a:buSzPts val="2500"/>
              <a:buChar char="•"/>
            </a:pPr>
            <a:r>
              <a:rPr lang="en-US" sz="2500"/>
              <a:t>The best solution has the lowest number, not the highest. </a:t>
            </a:r>
            <a:endParaRPr/>
          </a:p>
          <a:p>
            <a:pPr indent="-342900" lvl="0" marL="342900" rtl="0" algn="just">
              <a:spcBef>
                <a:spcPts val="500"/>
              </a:spcBef>
              <a:spcAft>
                <a:spcPts val="0"/>
              </a:spcAft>
              <a:buClr>
                <a:schemeClr val="dk1"/>
              </a:buClr>
              <a:buSzPts val="2500"/>
              <a:buChar char="•"/>
            </a:pPr>
            <a:r>
              <a:rPr lang="en-US" sz="2500"/>
              <a:t>Multiply all the scores by minus one and use Equation (10.2) to turn them into fitnesses, or to count the total number of lines between regions and subtract off the number where the two regions on either side of the line </a:t>
            </a:r>
            <a:endParaRPr/>
          </a:p>
          <a:p>
            <a:pPr indent="-342900" lvl="0" marL="342900" rtl="0" algn="just">
              <a:spcBef>
                <a:spcPts val="500"/>
              </a:spcBef>
              <a:spcAft>
                <a:spcPts val="0"/>
              </a:spcAft>
              <a:buClr>
                <a:schemeClr val="dk1"/>
              </a:buClr>
              <a:buSzPts val="2500"/>
              <a:buNone/>
            </a:pPr>
            <a:r>
              <a:rPr lang="en-US" sz="2500"/>
              <a:t>      have the same colour.</a:t>
            </a:r>
            <a:endParaRPr/>
          </a:p>
          <a:p>
            <a:pPr indent="-342900" lvl="0" marL="342900" rtl="0" algn="just">
              <a:spcBef>
                <a:spcPts val="500"/>
              </a:spcBef>
              <a:spcAft>
                <a:spcPts val="0"/>
              </a:spcAft>
              <a:buClr>
                <a:schemeClr val="dk1"/>
              </a:buClr>
              <a:buSzPts val="2500"/>
              <a:buChar char="•"/>
            </a:pPr>
            <a:r>
              <a:rPr lang="en-US" sz="2500"/>
              <a:t>Count the number of correct edges. </a:t>
            </a:r>
            <a:endParaRPr/>
          </a:p>
          <a:p>
            <a:pPr indent="-342900" lvl="0" marL="342900" rtl="0" algn="just">
              <a:spcBef>
                <a:spcPts val="500"/>
              </a:spcBef>
              <a:spcAft>
                <a:spcPts val="0"/>
              </a:spcAft>
              <a:buClr>
                <a:schemeClr val="dk1"/>
              </a:buClr>
              <a:buSzPts val="2500"/>
              <a:buChar char="•"/>
            </a:pPr>
            <a:r>
              <a:rPr lang="en-US" sz="2500"/>
              <a:t>The Ex. in Fig.10.5 has 16 out of the 26 boundaries correct (where a boundary is the intersection between any two squares), so its fitness is 16.</a:t>
            </a:r>
            <a:endParaRPr sz="2500"/>
          </a:p>
        </p:txBody>
      </p:sp>
      <p:pic>
        <p:nvPicPr>
          <p:cNvPr id="694" name="Google Shape;694;p60"/>
          <p:cNvPicPr preferRelativeResize="0"/>
          <p:nvPr/>
        </p:nvPicPr>
        <p:blipFill rotWithShape="1">
          <a:blip r:embed="rId3">
            <a:alphaModFix/>
          </a:blip>
          <a:srcRect b="0" l="0" r="0" t="0"/>
          <a:stretch/>
        </p:blipFill>
        <p:spPr>
          <a:xfrm>
            <a:off x="6781800" y="3505200"/>
            <a:ext cx="2000250" cy="838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1"/>
          <p:cNvSpPr txBox="1"/>
          <p:nvPr>
            <p:ph idx="1" type="body"/>
          </p:nvPr>
        </p:nvSpPr>
        <p:spPr>
          <a:xfrm>
            <a:off x="76200" y="152401"/>
            <a:ext cx="8991600" cy="2895599"/>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None/>
            </a:pPr>
            <a:r>
              <a:rPr b="1" lang="en-US" sz="2400"/>
              <a:t>CHOOSE SUITABLE GENETIC OPERATORS </a:t>
            </a:r>
            <a:endParaRPr/>
          </a:p>
          <a:p>
            <a:pPr indent="-342900" lvl="0" marL="342900" rtl="0" algn="just">
              <a:spcBef>
                <a:spcPts val="480"/>
              </a:spcBef>
              <a:spcAft>
                <a:spcPts val="0"/>
              </a:spcAft>
              <a:buClr>
                <a:schemeClr val="dk1"/>
              </a:buClr>
              <a:buSzPts val="2400"/>
              <a:buChar char="•"/>
            </a:pPr>
            <a:r>
              <a:rPr lang="en-US" sz="2400"/>
              <a:t>Use the standard genetic operators - crossover and mutation. </a:t>
            </a:r>
            <a:endParaRPr/>
          </a:p>
          <a:p>
            <a:pPr indent="-342900" lvl="0" marL="342900" rtl="0" algn="just">
              <a:spcBef>
                <a:spcPts val="480"/>
              </a:spcBef>
              <a:spcAft>
                <a:spcPts val="0"/>
              </a:spcAft>
              <a:buClr>
                <a:schemeClr val="dk1"/>
              </a:buClr>
              <a:buSzPts val="2400"/>
              <a:buChar char="•"/>
            </a:pPr>
            <a:r>
              <a:rPr lang="en-US" sz="2400"/>
              <a:t>The way that they are used is shown in Figures 10.6 and 10.7. </a:t>
            </a:r>
            <a:endParaRPr/>
          </a:p>
          <a:p>
            <a:pPr indent="-342900" lvl="0" marL="342900" rtl="0" algn="l">
              <a:spcBef>
                <a:spcPts val="480"/>
              </a:spcBef>
              <a:spcAft>
                <a:spcPts val="0"/>
              </a:spcAft>
              <a:buClr>
                <a:schemeClr val="dk1"/>
              </a:buClr>
              <a:buSzPts val="2400"/>
              <a:buNone/>
            </a:pPr>
            <a:r>
              <a:rPr lang="en-US" sz="2400"/>
              <a:t>     Having made those choices, we can let the GA run on the problem, with a possible population and their offspring shown in Figure 10.8, and look at the best solutions after some preset number of iterations. The GA produces good solutions to this problem.</a:t>
            </a:r>
            <a:endParaRPr sz="2400"/>
          </a:p>
        </p:txBody>
      </p:sp>
      <p:pic>
        <p:nvPicPr>
          <p:cNvPr id="700" name="Google Shape;700;p61"/>
          <p:cNvPicPr preferRelativeResize="0"/>
          <p:nvPr/>
        </p:nvPicPr>
        <p:blipFill rotWithShape="1">
          <a:blip r:embed="rId3">
            <a:alphaModFix/>
          </a:blip>
          <a:srcRect b="0" l="0" r="0" t="0"/>
          <a:stretch/>
        </p:blipFill>
        <p:spPr>
          <a:xfrm>
            <a:off x="1" y="3048000"/>
            <a:ext cx="3962400" cy="1295400"/>
          </a:xfrm>
          <a:prstGeom prst="rect">
            <a:avLst/>
          </a:prstGeom>
          <a:noFill/>
          <a:ln>
            <a:noFill/>
          </a:ln>
        </p:spPr>
      </p:pic>
      <p:sp>
        <p:nvSpPr>
          <p:cNvPr id="701" name="Google Shape;701;p61"/>
          <p:cNvSpPr/>
          <p:nvPr/>
        </p:nvSpPr>
        <p:spPr>
          <a:xfrm>
            <a:off x="0" y="4267200"/>
            <a:ext cx="457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FIGURE 10.6 The way that mutation is performed on a colour, changing it into one of the other colours.</a:t>
            </a:r>
            <a:endParaRPr sz="1800">
              <a:solidFill>
                <a:schemeClr val="dk1"/>
              </a:solidFill>
              <a:latin typeface="Calibri"/>
              <a:ea typeface="Calibri"/>
              <a:cs typeface="Calibri"/>
              <a:sym typeface="Calibri"/>
            </a:endParaRPr>
          </a:p>
        </p:txBody>
      </p:sp>
      <p:pic>
        <p:nvPicPr>
          <p:cNvPr id="702" name="Google Shape;702;p61"/>
          <p:cNvPicPr preferRelativeResize="0"/>
          <p:nvPr/>
        </p:nvPicPr>
        <p:blipFill rotWithShape="1">
          <a:blip r:embed="rId4">
            <a:alphaModFix/>
          </a:blip>
          <a:srcRect b="0" l="0" r="0" t="0"/>
          <a:stretch/>
        </p:blipFill>
        <p:spPr>
          <a:xfrm>
            <a:off x="4343400" y="2971800"/>
            <a:ext cx="4595813" cy="1676400"/>
          </a:xfrm>
          <a:prstGeom prst="rect">
            <a:avLst/>
          </a:prstGeom>
          <a:noFill/>
          <a:ln>
            <a:noFill/>
          </a:ln>
        </p:spPr>
      </p:pic>
      <p:sp>
        <p:nvSpPr>
          <p:cNvPr id="703" name="Google Shape;703;p61"/>
          <p:cNvSpPr/>
          <p:nvPr/>
        </p:nvSpPr>
        <p:spPr>
          <a:xfrm>
            <a:off x="4495800" y="4724400"/>
            <a:ext cx="4572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FIGURE 10.7 The effects of crossover on a map.</a:t>
            </a:r>
            <a:endParaRPr sz="1800">
              <a:solidFill>
                <a:schemeClr val="dk1"/>
              </a:solidFill>
              <a:latin typeface="Calibri"/>
              <a:ea typeface="Calibri"/>
              <a:cs typeface="Calibri"/>
              <a:sym typeface="Calibri"/>
            </a:endParaRPr>
          </a:p>
        </p:txBody>
      </p:sp>
      <p:pic>
        <p:nvPicPr>
          <p:cNvPr id="704" name="Google Shape;704;p61"/>
          <p:cNvPicPr preferRelativeResize="0"/>
          <p:nvPr/>
        </p:nvPicPr>
        <p:blipFill rotWithShape="1">
          <a:blip r:embed="rId5">
            <a:alphaModFix/>
          </a:blip>
          <a:srcRect b="0" l="0" r="0" t="0"/>
          <a:stretch/>
        </p:blipFill>
        <p:spPr>
          <a:xfrm>
            <a:off x="0" y="5181600"/>
            <a:ext cx="6781800" cy="1676400"/>
          </a:xfrm>
          <a:prstGeom prst="rect">
            <a:avLst/>
          </a:prstGeom>
          <a:noFill/>
          <a:ln>
            <a:noFill/>
          </a:ln>
        </p:spPr>
      </p:pic>
      <p:sp>
        <p:nvSpPr>
          <p:cNvPr id="705" name="Google Shape;705;p61"/>
          <p:cNvSpPr/>
          <p:nvPr/>
        </p:nvSpPr>
        <p:spPr>
          <a:xfrm>
            <a:off x="6858000" y="5410200"/>
            <a:ext cx="2209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FIGURE 10.8 One generation of the GA working on the map colouring problem.</a:t>
            </a:r>
            <a:endParaRPr sz="1800">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2"/>
          <p:cNvSpPr txBox="1"/>
          <p:nvPr>
            <p:ph idx="1" type="body"/>
          </p:nvPr>
        </p:nvSpPr>
        <p:spPr>
          <a:xfrm>
            <a:off x="228600" y="914400"/>
            <a:ext cx="8763000" cy="4419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None/>
            </a:pPr>
            <a:r>
              <a:rPr b="1" lang="en-US"/>
              <a:t>Limitations of the GA</a:t>
            </a:r>
            <a:endParaRPr/>
          </a:p>
          <a:p>
            <a:pPr indent="-342900" lvl="0" marL="342900" rtl="0" algn="just">
              <a:spcBef>
                <a:spcPts val="480"/>
              </a:spcBef>
              <a:spcAft>
                <a:spcPts val="0"/>
              </a:spcAft>
              <a:buClr>
                <a:schemeClr val="dk1"/>
              </a:buClr>
              <a:buSzPts val="2400"/>
              <a:buChar char="•"/>
            </a:pPr>
            <a:r>
              <a:rPr lang="en-US" sz="2400"/>
              <a:t>A significant one of which is they can be very slow.</a:t>
            </a:r>
            <a:endParaRPr/>
          </a:p>
          <a:p>
            <a:pPr indent="-342900" lvl="0" marL="342900" rtl="0" algn="just">
              <a:spcBef>
                <a:spcPts val="480"/>
              </a:spcBef>
              <a:spcAft>
                <a:spcPts val="0"/>
              </a:spcAft>
              <a:buClr>
                <a:schemeClr val="dk1"/>
              </a:buClr>
              <a:buSzPts val="2400"/>
              <a:buChar char="•"/>
            </a:pPr>
            <a:r>
              <a:rPr lang="en-US" sz="2400"/>
              <a:t>Once a local maximum has been reached, it can often be a long time before a string is produced that escapes from the local maximum and finds another, higher, maximum.</a:t>
            </a:r>
            <a:endParaRPr/>
          </a:p>
          <a:p>
            <a:pPr indent="-342900" lvl="0" marL="342900" rtl="0" algn="just">
              <a:spcBef>
                <a:spcPts val="480"/>
              </a:spcBef>
              <a:spcAft>
                <a:spcPts val="0"/>
              </a:spcAft>
              <a:buClr>
                <a:schemeClr val="dk1"/>
              </a:buClr>
              <a:buSzPts val="2400"/>
              <a:buChar char="•"/>
            </a:pPr>
            <a:r>
              <a:rPr lang="en-US" sz="2400"/>
              <a:t>Do not know anything about the fitness landscape</a:t>
            </a:r>
            <a:endParaRPr/>
          </a:p>
          <a:p>
            <a:pPr indent="-342900" lvl="0" marL="342900" rtl="0" algn="just">
              <a:spcBef>
                <a:spcPts val="480"/>
              </a:spcBef>
              <a:spcAft>
                <a:spcPts val="0"/>
              </a:spcAft>
              <a:buClr>
                <a:schemeClr val="dk1"/>
              </a:buClr>
              <a:buSzPts val="2400"/>
              <a:buChar char="•"/>
            </a:pPr>
            <a:r>
              <a:rPr lang="en-US" sz="2400"/>
              <a:t>It is very hard to analyse the behaviour of the GA</a:t>
            </a:r>
            <a:endParaRPr/>
          </a:p>
          <a:p>
            <a:pPr indent="-342900" lvl="0" marL="342900" rtl="0" algn="just">
              <a:spcBef>
                <a:spcPts val="480"/>
              </a:spcBef>
              <a:spcAft>
                <a:spcPts val="0"/>
              </a:spcAft>
              <a:buClr>
                <a:schemeClr val="dk1"/>
              </a:buClr>
              <a:buSzPts val="2400"/>
              <a:buChar char="•"/>
            </a:pPr>
            <a:r>
              <a:rPr lang="en-US" sz="2400"/>
              <a:t>Cannot guarantee that the algorithm will converge at all, and certainly not to the optimal solution.</a:t>
            </a:r>
            <a:endParaRPr/>
          </a:p>
          <a:p>
            <a:pPr indent="-342900" lvl="0" marL="342900" rtl="0" algn="just">
              <a:spcBef>
                <a:spcPts val="480"/>
              </a:spcBef>
              <a:spcAft>
                <a:spcPts val="0"/>
              </a:spcAft>
              <a:buClr>
                <a:schemeClr val="dk1"/>
              </a:buClr>
              <a:buSzPts val="2400"/>
              <a:buChar char="•"/>
            </a:pPr>
            <a:r>
              <a:rPr lang="en-US" sz="2400"/>
              <a:t>Treated as a black box</a:t>
            </a:r>
            <a:endParaRPr sz="24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3"/>
          <p:cNvSpPr txBox="1"/>
          <p:nvPr>
            <p:ph type="title"/>
          </p:nvPr>
        </p:nvSpPr>
        <p:spPr>
          <a:xfrm>
            <a:off x="457200" y="68975"/>
            <a:ext cx="8229600" cy="638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60"/>
              <a:buFont typeface="Calibri"/>
              <a:buNone/>
            </a:pPr>
            <a:r>
              <a:rPr b="1" lang="en-US" sz="3060">
                <a:solidFill>
                  <a:srgbClr val="FF0000"/>
                </a:solidFill>
                <a:latin typeface="Times New Roman"/>
                <a:ea typeface="Times New Roman"/>
                <a:cs typeface="Times New Roman"/>
                <a:sym typeface="Times New Roman"/>
              </a:rPr>
              <a:t>REINFORCEMENT LEARNING</a:t>
            </a:r>
            <a:endParaRPr b="1" sz="3060">
              <a:solidFill>
                <a:srgbClr val="FF0000"/>
              </a:solidFill>
              <a:latin typeface="Times New Roman"/>
              <a:ea typeface="Times New Roman"/>
              <a:cs typeface="Times New Roman"/>
              <a:sym typeface="Times New Roman"/>
            </a:endParaRPr>
          </a:p>
        </p:txBody>
      </p:sp>
      <p:sp>
        <p:nvSpPr>
          <p:cNvPr id="716" name="Google Shape;716;p63"/>
          <p:cNvSpPr txBox="1"/>
          <p:nvPr>
            <p:ph idx="1" type="body"/>
          </p:nvPr>
        </p:nvSpPr>
        <p:spPr>
          <a:xfrm>
            <a:off x="228600" y="618125"/>
            <a:ext cx="8686800" cy="6011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fills the gap between supervised learning, where the algorithm is trained on the correct answers given in the target data, and unsupervised learning, where the algorithm can only exploit similarities in the data to cluster it.</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It tries out different strategies and see which work best. </a:t>
            </a:r>
            <a:endParaRPr sz="2400">
              <a:latin typeface="Times New Roman"/>
              <a:ea typeface="Times New Roman"/>
              <a:cs typeface="Times New Roman"/>
              <a:sym typeface="Times New Roman"/>
            </a:endParaRPr>
          </a:p>
          <a:p>
            <a:pPr indent="-342900" lvl="0" marL="342900" rtl="0" algn="just">
              <a:spcBef>
                <a:spcPts val="480"/>
              </a:spcBef>
              <a:spcAft>
                <a:spcPts val="0"/>
              </a:spcAft>
              <a:buSzPts val="2400"/>
              <a:buFont typeface="Times New Roman"/>
              <a:buChar char="•"/>
            </a:pPr>
            <a:r>
              <a:rPr lang="en-US" sz="2400">
                <a:latin typeface="Times New Roman"/>
                <a:ea typeface="Times New Roman"/>
                <a:cs typeface="Times New Roman"/>
                <a:sym typeface="Times New Roman"/>
              </a:rPr>
              <a:t>Is a feed-back based machine learning approach</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b="1" lang="en-US" sz="2400">
                <a:latin typeface="Times New Roman"/>
                <a:ea typeface="Times New Roman"/>
                <a:cs typeface="Times New Roman"/>
                <a:sym typeface="Times New Roman"/>
              </a:rPr>
              <a:t>Search is a fundamental part of any reinforcement learner</a:t>
            </a:r>
            <a:r>
              <a:rPr lang="en-US" sz="2400">
                <a:latin typeface="Times New Roman"/>
                <a:ea typeface="Times New Roman"/>
                <a:cs typeface="Times New Roman"/>
                <a:sym typeface="Times New Roman"/>
              </a:rPr>
              <a:t>: the algorithm searches over the state space of possible inputs and outputs in order to try to maximize a reward.</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Described in terms of the interaction between some agent and its environment.</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agent is the thing that is learning, and the environment is where it is learning, and what it is learning about.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Environment provides information about how good a strategy is, through some reward function.</a:t>
            </a:r>
            <a:endParaRPr>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2e7d80f2e22_0_3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22" name="Google Shape;722;g2e7d80f2e22_0_3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723" name="Google Shape;723;g2e7d80f2e22_0_33"/>
          <p:cNvPicPr preferRelativeResize="0"/>
          <p:nvPr/>
        </p:nvPicPr>
        <p:blipFill>
          <a:blip r:embed="rId3">
            <a:alphaModFix/>
          </a:blip>
          <a:stretch>
            <a:fillRect/>
          </a:stretch>
        </p:blipFill>
        <p:spPr>
          <a:xfrm>
            <a:off x="0" y="52388"/>
            <a:ext cx="9144000" cy="675322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2e7d80f2e22_0_2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729" name="Google Shape;729;g2e7d80f2e22_0_2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730" name="Google Shape;730;g2e7d80f2e22_0_26"/>
          <p:cNvPicPr preferRelativeResize="0"/>
          <p:nvPr/>
        </p:nvPicPr>
        <p:blipFill>
          <a:blip r:embed="rId3">
            <a:alphaModFix/>
          </a:blip>
          <a:stretch>
            <a:fillRect/>
          </a:stretch>
        </p:blipFill>
        <p:spPr>
          <a:xfrm>
            <a:off x="92360" y="0"/>
            <a:ext cx="5689879" cy="6858000"/>
          </a:xfrm>
          <a:prstGeom prst="rect">
            <a:avLst/>
          </a:prstGeom>
          <a:noFill/>
          <a:ln>
            <a:noFill/>
          </a:ln>
        </p:spPr>
      </p:pic>
      <p:pic>
        <p:nvPicPr>
          <p:cNvPr id="731" name="Google Shape;731;g2e7d80f2e22_0_26"/>
          <p:cNvPicPr preferRelativeResize="0"/>
          <p:nvPr/>
        </p:nvPicPr>
        <p:blipFill>
          <a:blip r:embed="rId4">
            <a:alphaModFix/>
          </a:blip>
          <a:stretch>
            <a:fillRect/>
          </a:stretch>
        </p:blipFill>
        <p:spPr>
          <a:xfrm>
            <a:off x="5782250" y="114300"/>
            <a:ext cx="3844051" cy="41180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64"/>
          <p:cNvSpPr txBox="1"/>
          <p:nvPr>
            <p:ph idx="1" type="body"/>
          </p:nvPr>
        </p:nvSpPr>
        <p:spPr>
          <a:xfrm>
            <a:off x="152400" y="457200"/>
            <a:ext cx="8839200" cy="5867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500"/>
              <a:buNone/>
            </a:pPr>
            <a:r>
              <a:rPr b="1" lang="en-US" sz="2500">
                <a:latin typeface="Times New Roman"/>
                <a:ea typeface="Times New Roman"/>
                <a:cs typeface="Times New Roman"/>
                <a:sym typeface="Times New Roman"/>
              </a:rPr>
              <a:t>OVERVIEW</a:t>
            </a:r>
            <a:endParaRPr>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Reinforcement learning maps states to actions in order to maximize some numerical reward. </a:t>
            </a:r>
            <a:endParaRPr>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Algorithm knows about the current input (the state), and the possible things it can do (the actions), and its aim is to maximize the reward.</a:t>
            </a:r>
            <a:endParaRPr>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The current sensor readings of the robot could define the state. </a:t>
            </a:r>
            <a:endParaRPr>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State doesn’t necessarily tell us everything that it would be useful to know (sensors don’t tell it its location, only what it can see about it), and there can be noise and inaccuracies in the state data.</a:t>
            </a:r>
            <a:endParaRPr>
              <a:latin typeface="Times New Roman"/>
              <a:ea typeface="Times New Roman"/>
              <a:cs typeface="Times New Roman"/>
              <a:sym typeface="Times New Roman"/>
            </a:endParaRPr>
          </a:p>
          <a:p>
            <a:pPr indent="-342900" lvl="0" marL="342900" rtl="0" algn="just">
              <a:spcBef>
                <a:spcPts val="500"/>
              </a:spcBef>
              <a:spcAft>
                <a:spcPts val="0"/>
              </a:spcAft>
              <a:buClr>
                <a:schemeClr val="dk1"/>
              </a:buClr>
              <a:buSzPts val="2500"/>
              <a:buFont typeface="Times New Roman"/>
              <a:buChar char="•"/>
            </a:pPr>
            <a:r>
              <a:rPr lang="en-US" sz="2500">
                <a:latin typeface="Times New Roman"/>
                <a:ea typeface="Times New Roman"/>
                <a:cs typeface="Times New Roman"/>
                <a:sym typeface="Times New Roman"/>
              </a:rPr>
              <a:t>Possible ways of robot can drive its motors are the actions, it moves the robot in the environment, and the reward could be how well it does its task without crashing into things. </a:t>
            </a:r>
            <a:endParaRPr sz="2500">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p65"/>
          <p:cNvPicPr preferRelativeResize="0"/>
          <p:nvPr/>
        </p:nvPicPr>
        <p:blipFill rotWithShape="1">
          <a:blip r:embed="rId3">
            <a:alphaModFix/>
          </a:blip>
          <a:srcRect b="0" l="0" r="0" t="0"/>
          <a:stretch/>
        </p:blipFill>
        <p:spPr>
          <a:xfrm>
            <a:off x="1" y="0"/>
            <a:ext cx="4267199" cy="2743200"/>
          </a:xfrm>
          <a:prstGeom prst="rect">
            <a:avLst/>
          </a:prstGeom>
          <a:noFill/>
          <a:ln>
            <a:noFill/>
          </a:ln>
        </p:spPr>
      </p:pic>
      <p:sp>
        <p:nvSpPr>
          <p:cNvPr id="742" name="Google Shape;742;p65"/>
          <p:cNvSpPr/>
          <p:nvPr/>
        </p:nvSpPr>
        <p:spPr>
          <a:xfrm>
            <a:off x="0" y="2743200"/>
            <a:ext cx="441960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FIGURE 11.1 A robot perceives the current state of its environment through its sensors, and performs actions by moving its motors. The reinforcement learner (agent) within the robot tries to predict the next state and reward.</a:t>
            </a:r>
            <a:endParaRPr sz="1800">
              <a:solidFill>
                <a:schemeClr val="dk1"/>
              </a:solidFill>
              <a:latin typeface="Times New Roman"/>
              <a:ea typeface="Times New Roman"/>
              <a:cs typeface="Times New Roman"/>
              <a:sym typeface="Times New Roman"/>
            </a:endParaRPr>
          </a:p>
        </p:txBody>
      </p:sp>
      <p:pic>
        <p:nvPicPr>
          <p:cNvPr id="743" name="Google Shape;743;p65"/>
          <p:cNvPicPr preferRelativeResize="0"/>
          <p:nvPr/>
        </p:nvPicPr>
        <p:blipFill rotWithShape="1">
          <a:blip r:embed="rId4">
            <a:alphaModFix/>
          </a:blip>
          <a:srcRect b="0" l="0" r="0" t="0"/>
          <a:stretch/>
        </p:blipFill>
        <p:spPr>
          <a:xfrm>
            <a:off x="4419600" y="0"/>
            <a:ext cx="4724400" cy="2743200"/>
          </a:xfrm>
          <a:prstGeom prst="rect">
            <a:avLst/>
          </a:prstGeom>
          <a:noFill/>
          <a:ln>
            <a:noFill/>
          </a:ln>
        </p:spPr>
      </p:pic>
      <p:sp>
        <p:nvSpPr>
          <p:cNvPr id="744" name="Google Shape;744;p65"/>
          <p:cNvSpPr/>
          <p:nvPr/>
        </p:nvSpPr>
        <p:spPr>
          <a:xfrm>
            <a:off x="4495800" y="2743200"/>
            <a:ext cx="4495800"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FIGURE 11.2 The reinforcement learning cycle: the learning agent performs action </a:t>
            </a:r>
            <a:r>
              <a:rPr i="1" lang="en-US" sz="2000">
                <a:solidFill>
                  <a:schemeClr val="dk1"/>
                </a:solidFill>
                <a:latin typeface="Times New Roman"/>
                <a:ea typeface="Times New Roman"/>
                <a:cs typeface="Times New Roman"/>
                <a:sym typeface="Times New Roman"/>
              </a:rPr>
              <a:t>a</a:t>
            </a:r>
            <a:r>
              <a:rPr baseline="-25000" i="1" lang="en-US" sz="2000">
                <a:solidFill>
                  <a:schemeClr val="dk1"/>
                </a:solidFill>
                <a:latin typeface="Times New Roman"/>
                <a:ea typeface="Times New Roman"/>
                <a:cs typeface="Times New Roman"/>
                <a:sym typeface="Times New Roman"/>
              </a:rPr>
              <a:t>t </a:t>
            </a:r>
            <a:r>
              <a:rPr i="1" lang="en-US" sz="2000">
                <a:solidFill>
                  <a:schemeClr val="dk1"/>
                </a:solidFill>
                <a:latin typeface="Times New Roman"/>
                <a:ea typeface="Times New Roman"/>
                <a:cs typeface="Times New Roman"/>
                <a:sym typeface="Times New Roman"/>
              </a:rPr>
              <a:t>in </a:t>
            </a:r>
            <a:r>
              <a:rPr lang="en-US" sz="2000">
                <a:solidFill>
                  <a:schemeClr val="dk1"/>
                </a:solidFill>
                <a:latin typeface="Times New Roman"/>
                <a:ea typeface="Times New Roman"/>
                <a:cs typeface="Times New Roman"/>
                <a:sym typeface="Times New Roman"/>
              </a:rPr>
              <a:t>state </a:t>
            </a:r>
            <a:r>
              <a:rPr i="1" lang="en-US" sz="2000">
                <a:solidFill>
                  <a:schemeClr val="dk1"/>
                </a:solidFill>
                <a:latin typeface="Times New Roman"/>
                <a:ea typeface="Times New Roman"/>
                <a:cs typeface="Times New Roman"/>
                <a:sym typeface="Times New Roman"/>
              </a:rPr>
              <a:t>s</a:t>
            </a:r>
            <a:r>
              <a:rPr baseline="-25000" i="1" lang="en-US" sz="2000">
                <a:solidFill>
                  <a:schemeClr val="dk1"/>
                </a:solidFill>
                <a:latin typeface="Times New Roman"/>
                <a:ea typeface="Times New Roman"/>
                <a:cs typeface="Times New Roman"/>
                <a:sym typeface="Times New Roman"/>
              </a:rPr>
              <a:t>t</a:t>
            </a:r>
            <a:r>
              <a:rPr i="1" lang="en-US" sz="2000">
                <a:solidFill>
                  <a:schemeClr val="dk1"/>
                </a:solidFill>
                <a:latin typeface="Times New Roman"/>
                <a:ea typeface="Times New Roman"/>
                <a:cs typeface="Times New Roman"/>
                <a:sym typeface="Times New Roman"/>
              </a:rPr>
              <a:t> and receives reward r</a:t>
            </a:r>
            <a:r>
              <a:rPr baseline="-25000" i="1" lang="en-US" sz="2000">
                <a:solidFill>
                  <a:schemeClr val="dk1"/>
                </a:solidFill>
                <a:latin typeface="Times New Roman"/>
                <a:ea typeface="Times New Roman"/>
                <a:cs typeface="Times New Roman"/>
                <a:sym typeface="Times New Roman"/>
              </a:rPr>
              <a:t>t+1</a:t>
            </a:r>
            <a:r>
              <a:rPr i="1" lang="en-US" sz="2000">
                <a:solidFill>
                  <a:schemeClr val="dk1"/>
                </a:solidFill>
                <a:latin typeface="Times New Roman"/>
                <a:ea typeface="Times New Roman"/>
                <a:cs typeface="Times New Roman"/>
                <a:sym typeface="Times New Roman"/>
              </a:rPr>
              <a:t> from the environment, ending up in state s</a:t>
            </a:r>
            <a:r>
              <a:rPr baseline="-25000" i="1" lang="en-US" sz="2000">
                <a:solidFill>
                  <a:schemeClr val="dk1"/>
                </a:solidFill>
                <a:latin typeface="Times New Roman"/>
                <a:ea typeface="Times New Roman"/>
                <a:cs typeface="Times New Roman"/>
                <a:sym typeface="Times New Roman"/>
              </a:rPr>
              <a:t>t+1</a:t>
            </a:r>
            <a:endParaRPr sz="2000">
              <a:solidFill>
                <a:schemeClr val="dk1"/>
              </a:solidFill>
              <a:latin typeface="Times New Roman"/>
              <a:ea typeface="Times New Roman"/>
              <a:cs typeface="Times New Roman"/>
              <a:sym typeface="Times New Roman"/>
            </a:endParaRPr>
          </a:p>
        </p:txBody>
      </p:sp>
      <p:sp>
        <p:nvSpPr>
          <p:cNvPr id="745" name="Google Shape;745;p65"/>
          <p:cNvSpPr/>
          <p:nvPr/>
        </p:nvSpPr>
        <p:spPr>
          <a:xfrm>
            <a:off x="228600" y="4572000"/>
            <a:ext cx="8686800" cy="1938992"/>
          </a:xfrm>
          <a:prstGeom prst="rect">
            <a:avLst/>
          </a:prstGeom>
          <a:noFill/>
          <a:ln>
            <a:noFill/>
          </a:ln>
        </p:spPr>
        <p:txBody>
          <a:bodyPr anchorCtr="0" anchor="t" bIns="45700" lIns="91425" spcFirstLastPara="1" rIns="91425" wrap="square" tIns="45700">
            <a:spAutoFit/>
          </a:bodyPr>
          <a:lstStyle/>
          <a:p>
            <a:pPr indent="-152400" lvl="0" marL="0" marR="0" rtl="0" algn="just">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 Algorithm gets feedback in the form of the reward about how well it is doing. </a:t>
            </a:r>
            <a:endParaRPr>
              <a:latin typeface="Times New Roman"/>
              <a:ea typeface="Times New Roman"/>
              <a:cs typeface="Times New Roman"/>
              <a:sym typeface="Times New Roman"/>
            </a:endParaRPr>
          </a:p>
          <a:p>
            <a:pPr indent="-152400" lvl="0" marL="0" marR="0" rtl="0" algn="just">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In contrast to supervised learning, where the algorithm is ‘taught’ the correct answer, the reward function evaluates the current solution, but does not suggest how to improve it. </a:t>
            </a:r>
            <a:endParaRPr>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6"/>
          <p:cNvSpPr txBox="1"/>
          <p:nvPr>
            <p:ph idx="1" type="body"/>
          </p:nvPr>
        </p:nvSpPr>
        <p:spPr>
          <a:xfrm>
            <a:off x="304800" y="228600"/>
            <a:ext cx="8534400" cy="62484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To make the situation a little more difficult, need to think about the possibility that the reward can be delayed.</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Once the algorithm has decided on the reward, it needs to choose the action that should be performed in the current state.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Char char="•"/>
            </a:pPr>
            <a:r>
              <a:rPr lang="en-US" sz="2300">
                <a:latin typeface="Times New Roman"/>
                <a:ea typeface="Times New Roman"/>
                <a:cs typeface="Times New Roman"/>
                <a:sym typeface="Times New Roman"/>
              </a:rPr>
              <a:t>This is known as the </a:t>
            </a:r>
            <a:r>
              <a:rPr b="1" lang="en-US" sz="2300">
                <a:latin typeface="Times New Roman"/>
                <a:ea typeface="Times New Roman"/>
                <a:cs typeface="Times New Roman"/>
                <a:sym typeface="Times New Roman"/>
              </a:rPr>
              <a:t>policy</a:t>
            </a:r>
            <a:r>
              <a:rPr lang="en-US" sz="2300">
                <a:latin typeface="Times New Roman"/>
                <a:ea typeface="Times New Roman"/>
                <a:cs typeface="Times New Roman"/>
                <a:sym typeface="Times New Roman"/>
              </a:rPr>
              <a:t>.</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This is done based on some combination of exploration and exploitation (reinforcement learning is basically a search method), which in this case means deciding whether to take the action that gave the highest reward last time we were in this state, or trying out a different action in the hope of finding something even better.</a:t>
            </a:r>
            <a:endParaRPr sz="23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None/>
            </a:pPr>
            <a:r>
              <a:rPr b="1" lang="en-US" sz="2300">
                <a:latin typeface="Times New Roman"/>
                <a:ea typeface="Times New Roman"/>
                <a:cs typeface="Times New Roman"/>
                <a:sym typeface="Times New Roman"/>
              </a:rPr>
              <a:t>EXAMPLE: GETTING LOST</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You arrive in a foreign city exhausted after many hours of flying, catch the train into town and stagger into a backpacker’s hostel without noticing much of your surroundings. </a:t>
            </a:r>
            <a:endParaRPr sz="23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300">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7"/>
          <p:cNvSpPr txBox="1"/>
          <p:nvPr>
            <p:ph idx="1" type="body"/>
          </p:nvPr>
        </p:nvSpPr>
        <p:spPr>
          <a:xfrm>
            <a:off x="304800" y="304800"/>
            <a:ext cx="8610600" cy="6324600"/>
          </a:xfrm>
          <a:prstGeom prst="rect">
            <a:avLst/>
          </a:prstGeom>
          <a:noFill/>
          <a:ln>
            <a:noFill/>
          </a:ln>
        </p:spPr>
        <p:txBody>
          <a:bodyPr anchorCtr="0" anchor="t" bIns="45700" lIns="91425" spcFirstLastPara="1" rIns="91425" wrap="square" tIns="45700">
            <a:noAutofit/>
          </a:bodyPr>
          <a:lstStyle/>
          <a:p>
            <a:pPr indent="-336550" lvl="0" marL="342900" rtl="0" algn="just">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When you wake up it is dark and you are starving, so you set off for a wander around town looking for somewhere to eat.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Unfortunately, it is 3 a.m. and, even more unfortunately, you soon realize that you are completely lost.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To make matters worse, you discover that you can’t remember the name of the backpacker’s, or much else about it except that it is in one of the old squares.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Of course, that doesn’t help much because this part of the city pretty much consists of old squares.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There are only two things in your favour: you are fairly sure that you’ll recognise the building, and you’ve studied reinforcement learning and decide to apply it.</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You are sure that you’ve only walked through the old part of the city, so you don’t need to worry about any street that doesn’t. </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So at the next bus stop you come to, have a proper look at the map, and note down the map of the old town squares, which turns out to look like Figure 11.3. </a:t>
            </a:r>
            <a:endParaRPr sz="23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3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300">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68"/>
          <p:cNvSpPr txBox="1"/>
          <p:nvPr>
            <p:ph idx="1" type="body"/>
          </p:nvPr>
        </p:nvSpPr>
        <p:spPr>
          <a:xfrm>
            <a:off x="228600" y="228600"/>
            <a:ext cx="8686800" cy="4495800"/>
          </a:xfrm>
          <a:prstGeom prst="rect">
            <a:avLst/>
          </a:prstGeom>
          <a:noFill/>
          <a:ln>
            <a:noFill/>
          </a:ln>
        </p:spPr>
        <p:txBody>
          <a:bodyPr anchorCtr="0" anchor="t" bIns="45700" lIns="91425" spcFirstLastPara="1" rIns="91425" wrap="square" tIns="45700">
            <a:noAutofit/>
          </a:bodyPr>
          <a:lstStyle/>
          <a:p>
            <a:pPr indent="-336550" lvl="0" marL="342900" rtl="0" algn="l">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As you finish drawing the map you notice a 24-hour shop and buy as many bags of potato chips as you can fit into your pockets. </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As a reinforcement learner you decide to reward yourself when you take actions that lead to the backpacker’s.</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you decide that the only one that will work is to eat until you can eat no more when you actually get to the backpacker’s, and not to reward yourself at all until then. </a:t>
            </a:r>
            <a:endParaRPr sz="2300">
              <a:latin typeface="Times New Roman"/>
              <a:ea typeface="Times New Roman"/>
              <a:cs typeface="Times New Roman"/>
              <a:sym typeface="Times New Roman"/>
            </a:endParaRPr>
          </a:p>
          <a:p>
            <a:pPr indent="-336550" lvl="0" marL="342900" rtl="0" algn="l">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Hoping  that you don’t faint from hunger, Inspired by the idea of food, you decide that the backpacker’s is almost  definitely in the square labelled F on the map, because its name seems vaguely familiar. </a:t>
            </a:r>
            <a:endParaRPr sz="23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None/>
            </a:pPr>
            <a:r>
              <a:t/>
            </a:r>
            <a:endParaRPr sz="2300">
              <a:latin typeface="Times New Roman"/>
              <a:ea typeface="Times New Roman"/>
              <a:cs typeface="Times New Roman"/>
              <a:sym typeface="Times New Roman"/>
            </a:endParaRPr>
          </a:p>
        </p:txBody>
      </p:sp>
      <p:pic>
        <p:nvPicPr>
          <p:cNvPr id="761" name="Google Shape;761;p68"/>
          <p:cNvPicPr preferRelativeResize="0"/>
          <p:nvPr/>
        </p:nvPicPr>
        <p:blipFill rotWithShape="1">
          <a:blip r:embed="rId3">
            <a:alphaModFix/>
          </a:blip>
          <a:srcRect b="0" l="0" r="0" t="0"/>
          <a:stretch/>
        </p:blipFill>
        <p:spPr>
          <a:xfrm>
            <a:off x="304801" y="4572000"/>
            <a:ext cx="4648200" cy="2133600"/>
          </a:xfrm>
          <a:prstGeom prst="rect">
            <a:avLst/>
          </a:prstGeom>
          <a:noFill/>
          <a:ln>
            <a:noFill/>
          </a:ln>
        </p:spPr>
      </p:pic>
      <p:sp>
        <p:nvSpPr>
          <p:cNvPr id="762" name="Google Shape;762;p68"/>
          <p:cNvSpPr/>
          <p:nvPr/>
        </p:nvSpPr>
        <p:spPr>
          <a:xfrm>
            <a:off x="5562600" y="5562600"/>
            <a:ext cx="342900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FIGURE 11.3 The old town that you find yourself lost in.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9"/>
          <p:cNvSpPr txBox="1"/>
          <p:nvPr>
            <p:ph idx="1" type="body"/>
          </p:nvPr>
        </p:nvSpPr>
        <p:spPr>
          <a:xfrm>
            <a:off x="76200" y="2895600"/>
            <a:ext cx="8915400" cy="3962400"/>
          </a:xfrm>
          <a:prstGeom prst="rect">
            <a:avLst/>
          </a:prstGeom>
          <a:noFill/>
          <a:ln>
            <a:noFill/>
          </a:ln>
        </p:spPr>
        <p:txBody>
          <a:bodyPr anchorCtr="0" anchor="t" bIns="45700" lIns="91425" spcFirstLastPara="1" rIns="91425" wrap="square" tIns="45700">
            <a:noAutofit/>
          </a:bodyPr>
          <a:lstStyle/>
          <a:p>
            <a:pPr indent="-336550" lvl="0" marL="342900" rtl="0" algn="l">
              <a:spcBef>
                <a:spcPts val="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This results in the reward matrix </a:t>
            </a:r>
            <a:r>
              <a:rPr i="1" lang="en-US" sz="2300">
                <a:latin typeface="Times New Roman"/>
                <a:ea typeface="Times New Roman"/>
                <a:cs typeface="Times New Roman"/>
                <a:sym typeface="Times New Roman"/>
              </a:rPr>
              <a:t>R shown below (where ‘-’ shows that there is no link) and also in Figure 11.4.</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As a reinforcement learner you don’t actually know the reward matrix.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Assume that now reached a stage of tiredness where you can’t even read what is on your paper properly.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Having got this set up we’ve reached the stage where we need to do some learning, but for now we’ll leave you stranded in that foreign city and flesh out a few of the things that we’ve talked about so far.</a:t>
            </a:r>
            <a:endParaRPr sz="2300">
              <a:latin typeface="Times New Roman"/>
              <a:ea typeface="Times New Roman"/>
              <a:cs typeface="Times New Roman"/>
              <a:sym typeface="Times New Roman"/>
            </a:endParaRPr>
          </a:p>
        </p:txBody>
      </p:sp>
      <p:pic>
        <p:nvPicPr>
          <p:cNvPr id="768" name="Google Shape;768;p69"/>
          <p:cNvPicPr preferRelativeResize="0"/>
          <p:nvPr/>
        </p:nvPicPr>
        <p:blipFill rotWithShape="1">
          <a:blip r:embed="rId3">
            <a:alphaModFix/>
          </a:blip>
          <a:srcRect b="0" l="0" r="0" t="0"/>
          <a:stretch/>
        </p:blipFill>
        <p:spPr>
          <a:xfrm>
            <a:off x="0" y="0"/>
            <a:ext cx="9144000" cy="281940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70"/>
          <p:cNvSpPr txBox="1"/>
          <p:nvPr>
            <p:ph idx="1" type="body"/>
          </p:nvPr>
        </p:nvSpPr>
        <p:spPr>
          <a:xfrm>
            <a:off x="228600" y="304800"/>
            <a:ext cx="8686800" cy="63246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800"/>
              <a:buNone/>
            </a:pPr>
            <a:r>
              <a:rPr b="1" lang="en-US" sz="2300">
                <a:latin typeface="Times New Roman"/>
                <a:ea typeface="Times New Roman"/>
                <a:cs typeface="Times New Roman"/>
                <a:sym typeface="Times New Roman"/>
              </a:rPr>
              <a:t>STATE AND ACTION SPACES</a:t>
            </a:r>
            <a:endParaRPr sz="2300">
              <a:latin typeface="Times New Roman"/>
              <a:ea typeface="Times New Roman"/>
              <a:cs typeface="Times New Roman"/>
              <a:sym typeface="Times New Roman"/>
            </a:endParaRPr>
          </a:p>
          <a:p>
            <a:pPr indent="-289242" lvl="0" marL="342900" rtl="0" algn="just">
              <a:spcBef>
                <a:spcPts val="629"/>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Our reinforcement learner is basically a search algorithm, and obviously the larger the number of states that the algorithm has to search through, the longer it will take to find a good solution. </a:t>
            </a:r>
            <a:endParaRPr sz="2300">
              <a:latin typeface="Times New Roman"/>
              <a:ea typeface="Times New Roman"/>
              <a:cs typeface="Times New Roman"/>
              <a:sym typeface="Times New Roman"/>
            </a:endParaRPr>
          </a:p>
          <a:p>
            <a:pPr indent="-289242" lvl="0" marL="342900" rtl="0" algn="just">
              <a:spcBef>
                <a:spcPts val="629"/>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set of all states that are possible for the learner to experience is known as the state space. </a:t>
            </a:r>
            <a:endParaRPr sz="2300">
              <a:latin typeface="Times New Roman"/>
              <a:ea typeface="Times New Roman"/>
              <a:cs typeface="Times New Roman"/>
              <a:sym typeface="Times New Roman"/>
            </a:endParaRPr>
          </a:p>
          <a:p>
            <a:pPr indent="-289242" lvl="0" marL="342900" rtl="0" algn="just">
              <a:spcBef>
                <a:spcPts val="629"/>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There is a corresponding action space that contains all of the possible actions. </a:t>
            </a:r>
            <a:endParaRPr sz="2300">
              <a:latin typeface="Times New Roman"/>
              <a:ea typeface="Times New Roman"/>
              <a:cs typeface="Times New Roman"/>
              <a:sym typeface="Times New Roman"/>
            </a:endParaRPr>
          </a:p>
          <a:p>
            <a:pPr indent="-289242" lvl="0" marL="342900" rtl="0" algn="just">
              <a:spcBef>
                <a:spcPts val="629"/>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If we can reduce the size of the state space and action space, then it is almost always a good idea, providing that it does not oversimplify the problem.</a:t>
            </a:r>
            <a:endParaRPr sz="2300">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71"/>
          <p:cNvSpPr txBox="1"/>
          <p:nvPr>
            <p:ph idx="1" type="body"/>
          </p:nvPr>
        </p:nvSpPr>
        <p:spPr>
          <a:xfrm>
            <a:off x="228600" y="228600"/>
            <a:ext cx="8686800" cy="5334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None/>
            </a:pPr>
            <a:r>
              <a:rPr b="1" lang="en-US" sz="2300">
                <a:latin typeface="Times New Roman"/>
                <a:ea typeface="Times New Roman"/>
                <a:cs typeface="Times New Roman"/>
                <a:sym typeface="Times New Roman"/>
              </a:rPr>
              <a:t>CARROTS AND STICKS: THE REWARD FUNCTION</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basic idea of the learner is that it will choose the action that gets the maximum expected reward.</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reward function takes the current state and the chosen action and produces a numerical reward based on them.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Ex: if we are in state A, and choose the action of doing nothing, so that we remain in state A, get a reward of −5.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Note that the reward can be positive or negative, with the latter corresponding to ‘punishment’, showing that particular actions should be avoided. </a:t>
            </a:r>
            <a:endParaRPr sz="2300">
              <a:latin typeface="Times New Roman"/>
              <a:ea typeface="Times New Roman"/>
              <a:cs typeface="Times New Roman"/>
              <a:sym typeface="Times New Roman"/>
            </a:endParaRPr>
          </a:p>
          <a:p>
            <a:pPr indent="-336550" lvl="0" marL="342900" rtl="0" algn="just">
              <a:spcBef>
                <a:spcPts val="48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It is therefore usually a bad idea to include sub-goals, because the learner can find methods of achieving the sub-goals without actually achieving the real goal.</a:t>
            </a:r>
            <a:endParaRPr sz="2300">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2"/>
          <p:cNvSpPr txBox="1"/>
          <p:nvPr>
            <p:ph idx="1" type="body"/>
          </p:nvPr>
        </p:nvSpPr>
        <p:spPr>
          <a:xfrm>
            <a:off x="228600" y="228600"/>
            <a:ext cx="8686800" cy="5638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None/>
            </a:pPr>
            <a:r>
              <a:rPr b="1" lang="en-US" sz="2400">
                <a:latin typeface="Times New Roman"/>
                <a:ea typeface="Times New Roman"/>
                <a:cs typeface="Times New Roman"/>
                <a:sym typeface="Times New Roman"/>
              </a:rPr>
              <a:t>DISCOUNTING</a:t>
            </a:r>
            <a:endParaRPr b="1"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solution to this problem is known as discounting, take into account how certain we can be about things that happen in the future: there is lots of uncertainty in the learning anyway, so we should discount our predictions of rewards in the future according to how much chance there is that they are wrong. </a:t>
            </a:r>
            <a:endParaRPr>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rewards that we expect to get very soon are probably going to be more accurate predictions than those a long time in the future, because lots of other things might change.</a:t>
            </a:r>
            <a:endParaRPr sz="2400">
              <a:latin typeface="Times New Roman"/>
              <a:ea typeface="Times New Roman"/>
              <a:cs typeface="Times New Roman"/>
              <a:sym typeface="Times New Roman"/>
            </a:endParaRPr>
          </a:p>
        </p:txBody>
      </p:sp>
      <p:pic>
        <p:nvPicPr>
          <p:cNvPr id="784" name="Google Shape;784;p72"/>
          <p:cNvPicPr preferRelativeResize="0"/>
          <p:nvPr/>
        </p:nvPicPr>
        <p:blipFill rotWithShape="1">
          <a:blip r:embed="rId3">
            <a:alphaModFix/>
          </a:blip>
          <a:srcRect b="0" l="0" r="0" t="0"/>
          <a:stretch/>
        </p:blipFill>
        <p:spPr>
          <a:xfrm>
            <a:off x="533400" y="4191000"/>
            <a:ext cx="8077200" cy="10668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3"/>
          <p:cNvSpPr txBox="1"/>
          <p:nvPr>
            <p:ph idx="1" type="body"/>
          </p:nvPr>
        </p:nvSpPr>
        <p:spPr>
          <a:xfrm>
            <a:off x="228600" y="228600"/>
            <a:ext cx="8686800" cy="6400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lang="en-US" sz="2300">
                <a:latin typeface="Times New Roman"/>
                <a:ea typeface="Times New Roman"/>
                <a:cs typeface="Times New Roman"/>
                <a:sym typeface="Times New Roman"/>
              </a:rPr>
              <a:t>ACTION SELECTION</a:t>
            </a:r>
            <a:endParaRPr sz="2300">
              <a:latin typeface="Times New Roman"/>
              <a:ea typeface="Times New Roman"/>
              <a:cs typeface="Times New Roman"/>
              <a:sym typeface="Times New Roman"/>
            </a:endParaRPr>
          </a:p>
          <a:p>
            <a:pPr indent="-300990" lvl="0" marL="342900" rtl="0" algn="l">
              <a:spcBef>
                <a:spcPts val="592"/>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Compute the average reward that has been received each time in the past. </a:t>
            </a:r>
            <a:endParaRPr sz="2300">
              <a:latin typeface="Times New Roman"/>
              <a:ea typeface="Times New Roman"/>
              <a:cs typeface="Times New Roman"/>
              <a:sym typeface="Times New Roman"/>
            </a:endParaRPr>
          </a:p>
          <a:p>
            <a:pPr indent="-300990" lvl="0" marL="342900" rtl="0" algn="l">
              <a:spcBef>
                <a:spcPts val="592"/>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This is known as </a:t>
            </a:r>
            <a:r>
              <a:rPr i="1" lang="en-US" sz="2300">
                <a:latin typeface="Times New Roman"/>
                <a:ea typeface="Times New Roman"/>
                <a:cs typeface="Times New Roman"/>
                <a:sym typeface="Times New Roman"/>
              </a:rPr>
              <a:t>Q</a:t>
            </a:r>
            <a:r>
              <a:rPr baseline="-25000" i="1" lang="en-US" sz="2300">
                <a:latin typeface="Times New Roman"/>
                <a:ea typeface="Times New Roman"/>
                <a:cs typeface="Times New Roman"/>
                <a:sym typeface="Times New Roman"/>
              </a:rPr>
              <a:t>s,t</a:t>
            </a:r>
            <a:r>
              <a:rPr i="1" lang="en-US" sz="2300">
                <a:latin typeface="Times New Roman"/>
                <a:ea typeface="Times New Roman"/>
                <a:cs typeface="Times New Roman"/>
                <a:sym typeface="Times New Roman"/>
              </a:rPr>
              <a:t>(a), where s is the state, a is the action, and t is the </a:t>
            </a:r>
            <a:r>
              <a:rPr lang="en-US" sz="2300">
                <a:latin typeface="Times New Roman"/>
                <a:ea typeface="Times New Roman"/>
                <a:cs typeface="Times New Roman"/>
                <a:sym typeface="Times New Roman"/>
              </a:rPr>
              <a:t>number of times that the action has been taken before in this state.</a:t>
            </a:r>
            <a:endParaRPr sz="2300">
              <a:latin typeface="Times New Roman"/>
              <a:ea typeface="Times New Roman"/>
              <a:cs typeface="Times New Roman"/>
              <a:sym typeface="Times New Roman"/>
            </a:endParaRPr>
          </a:p>
          <a:p>
            <a:pPr indent="-300990" lvl="0" marL="342900" rtl="0" algn="l">
              <a:spcBef>
                <a:spcPts val="592"/>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This will eventually converge to the true prediction of the reward for that action. </a:t>
            </a:r>
            <a:endParaRPr sz="2300">
              <a:latin typeface="Times New Roman"/>
              <a:ea typeface="Times New Roman"/>
              <a:cs typeface="Times New Roman"/>
              <a:sym typeface="Times New Roman"/>
            </a:endParaRPr>
          </a:p>
          <a:p>
            <a:pPr indent="-300990" lvl="0" marL="342900" rtl="0" algn="l">
              <a:spcBef>
                <a:spcPts val="592"/>
              </a:spcBef>
              <a:spcAft>
                <a:spcPts val="0"/>
              </a:spcAft>
              <a:buClr>
                <a:schemeClr val="dk1"/>
              </a:buClr>
              <a:buSzPts val="2300"/>
              <a:buChar char="•"/>
            </a:pPr>
            <a:r>
              <a:rPr lang="en-US" sz="2300">
                <a:latin typeface="Times New Roman"/>
                <a:ea typeface="Times New Roman"/>
                <a:cs typeface="Times New Roman"/>
                <a:sym typeface="Times New Roman"/>
              </a:rPr>
              <a:t>Based on the current average reward predictions, there are three methods of choosing action </a:t>
            </a:r>
            <a:r>
              <a:rPr i="1" lang="en-US" sz="2300">
                <a:latin typeface="Times New Roman"/>
                <a:ea typeface="Times New Roman"/>
                <a:cs typeface="Times New Roman"/>
                <a:sym typeface="Times New Roman"/>
              </a:rPr>
              <a:t>a that are worth thinking </a:t>
            </a:r>
            <a:r>
              <a:rPr lang="en-US" sz="2300">
                <a:latin typeface="Times New Roman"/>
                <a:ea typeface="Times New Roman"/>
                <a:cs typeface="Times New Roman"/>
                <a:sym typeface="Times New Roman"/>
              </a:rPr>
              <a:t>about for reinforcement learning.</a:t>
            </a:r>
            <a:endParaRPr sz="2300">
              <a:latin typeface="Times New Roman"/>
              <a:ea typeface="Times New Roman"/>
              <a:cs typeface="Times New Roman"/>
              <a:sym typeface="Times New Roman"/>
            </a:endParaRPr>
          </a:p>
          <a:p>
            <a:pPr indent="-300990" lvl="0" marL="342900" rtl="0" algn="l">
              <a:spcBef>
                <a:spcPts val="592"/>
              </a:spcBef>
              <a:spcAft>
                <a:spcPts val="0"/>
              </a:spcAft>
              <a:buClr>
                <a:schemeClr val="dk1"/>
              </a:buClr>
              <a:buSzPts val="2300"/>
              <a:buChar char="•"/>
            </a:pPr>
            <a:r>
              <a:rPr lang="en-US" sz="2300">
                <a:latin typeface="Times New Roman"/>
                <a:ea typeface="Times New Roman"/>
                <a:cs typeface="Times New Roman"/>
                <a:sym typeface="Times New Roman"/>
              </a:rPr>
              <a:t>The Methods are 1. </a:t>
            </a:r>
            <a:r>
              <a:rPr b="1" lang="en-US" sz="2300">
                <a:latin typeface="Times New Roman"/>
                <a:ea typeface="Times New Roman"/>
                <a:cs typeface="Times New Roman"/>
                <a:sym typeface="Times New Roman"/>
              </a:rPr>
              <a:t>Greedy   2. Ɛ-greedy 3. Soft-max</a:t>
            </a:r>
            <a:endParaRPr sz="2300">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74"/>
          <p:cNvSpPr txBox="1"/>
          <p:nvPr>
            <p:ph idx="1" type="body"/>
          </p:nvPr>
        </p:nvSpPr>
        <p:spPr>
          <a:xfrm>
            <a:off x="304800" y="152400"/>
            <a:ext cx="8610600" cy="6400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None/>
            </a:pPr>
            <a:r>
              <a:rPr b="1" lang="en-US" sz="2300">
                <a:latin typeface="Times New Roman"/>
                <a:ea typeface="Times New Roman"/>
                <a:cs typeface="Times New Roman"/>
                <a:sym typeface="Times New Roman"/>
              </a:rPr>
              <a:t>POLICY</a:t>
            </a:r>
            <a:endParaRPr sz="2300">
              <a:latin typeface="Times New Roman"/>
              <a:ea typeface="Times New Roman"/>
              <a:cs typeface="Times New Roman"/>
              <a:sym typeface="Times New Roman"/>
            </a:endParaRPr>
          </a:p>
          <a:p>
            <a:pPr indent="-285750" lvl="0" marL="342900" rtl="0" algn="l">
              <a:spcBef>
                <a:spcPts val="640"/>
              </a:spcBef>
              <a:spcAft>
                <a:spcPts val="0"/>
              </a:spcAft>
              <a:buClr>
                <a:schemeClr val="dk1"/>
              </a:buClr>
              <a:buSzPts val="2300"/>
              <a:buChar char="•"/>
            </a:pPr>
            <a:r>
              <a:rPr lang="en-US" sz="2300">
                <a:latin typeface="Times New Roman"/>
                <a:ea typeface="Times New Roman"/>
                <a:cs typeface="Times New Roman"/>
                <a:sym typeface="Times New Roman"/>
              </a:rPr>
              <a:t>Considered different action selection methods, such as </a:t>
            </a:r>
            <a:r>
              <a:rPr b="1" lang="en-US" sz="2300">
                <a:latin typeface="Times New Roman"/>
                <a:ea typeface="Times New Roman"/>
                <a:cs typeface="Times New Roman"/>
                <a:sym typeface="Times New Roman"/>
              </a:rPr>
              <a:t>Ɛ</a:t>
            </a:r>
            <a:r>
              <a:rPr lang="en-US" sz="2300">
                <a:latin typeface="Times New Roman"/>
                <a:ea typeface="Times New Roman"/>
                <a:cs typeface="Times New Roman"/>
                <a:sym typeface="Times New Roman"/>
              </a:rPr>
              <a:t>-greedy and soft-max.</a:t>
            </a:r>
            <a:endParaRPr sz="2300">
              <a:latin typeface="Times New Roman"/>
              <a:ea typeface="Times New Roman"/>
              <a:cs typeface="Times New Roman"/>
              <a:sym typeface="Times New Roman"/>
            </a:endParaRPr>
          </a:p>
          <a:p>
            <a:pPr indent="-285750" lvl="0" marL="342900" rtl="0" algn="l">
              <a:spcBef>
                <a:spcPts val="64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The aim of the action selection is to trade off exploration and exploitation in such a way as to maximize the expected reward into the future. </a:t>
            </a:r>
            <a:endParaRPr sz="2300">
              <a:latin typeface="Times New Roman"/>
              <a:ea typeface="Times New Roman"/>
              <a:cs typeface="Times New Roman"/>
              <a:sym typeface="Times New Roman"/>
            </a:endParaRPr>
          </a:p>
          <a:p>
            <a:pPr indent="-285750" lvl="0" marL="342900" rtl="0" algn="l">
              <a:spcBef>
                <a:spcPts val="64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Make an explicit decision and always take the optimal choice at each stage, and not do exploration any more. </a:t>
            </a:r>
            <a:endParaRPr sz="2300">
              <a:latin typeface="Times New Roman"/>
              <a:ea typeface="Times New Roman"/>
              <a:cs typeface="Times New Roman"/>
              <a:sym typeface="Times New Roman"/>
            </a:endParaRPr>
          </a:p>
          <a:p>
            <a:pPr indent="-285750" lvl="0" marL="342900" rtl="0" algn="l">
              <a:spcBef>
                <a:spcPts val="640"/>
              </a:spcBef>
              <a:spcAft>
                <a:spcPts val="0"/>
              </a:spcAft>
              <a:buClr>
                <a:schemeClr val="dk1"/>
              </a:buClr>
              <a:buSzPts val="2300"/>
              <a:buFont typeface="Times New Roman"/>
              <a:buChar char="•"/>
            </a:pPr>
            <a:r>
              <a:rPr lang="en-US" sz="2300">
                <a:latin typeface="Times New Roman"/>
                <a:ea typeface="Times New Roman"/>
                <a:cs typeface="Times New Roman"/>
                <a:sym typeface="Times New Roman"/>
              </a:rPr>
              <a:t>Choice of which action to take in each state in order to get optimal results is known as the policy. </a:t>
            </a:r>
            <a:endParaRPr sz="2300">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REFERENCES</a:t>
            </a:r>
            <a:endParaRPr/>
          </a:p>
        </p:txBody>
      </p:sp>
      <p:sp>
        <p:nvSpPr>
          <p:cNvPr id="800" name="Google Shape;800;p7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Times New Roman"/>
              <a:buChar char="•"/>
            </a:pPr>
            <a:r>
              <a:rPr lang="en-US">
                <a:latin typeface="Times New Roman"/>
                <a:ea typeface="Times New Roman"/>
                <a:cs typeface="Times New Roman"/>
                <a:sym typeface="Times New Roman"/>
              </a:rPr>
              <a:t>1. Stephen Marsland, ―Machine Learning – An Algorithmic Perspective, Second Edition, Chapman and Hall/CRC Machine Learning and Pattern Recognition Series, 2014. </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thatiparthi rajini kanth</dc:creator>
</cp:coreProperties>
</file>