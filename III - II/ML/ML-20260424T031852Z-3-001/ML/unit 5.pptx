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06" roundtripDataSignature="AMtx7mhEASIw3yzyDfMJk8dmxk8SX6ZB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6" Type="http://customschemas.google.com/relationships/presentationmetadata" Target="metadata"/><Relationship Id="rId105" Type="http://schemas.openxmlformats.org/officeDocument/2006/relationships/slide" Target="slides/slide100.xml"/><Relationship Id="rId104" Type="http://schemas.openxmlformats.org/officeDocument/2006/relationships/slide" Target="slides/slide99.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eb7442aab0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eb7442aab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5e5034091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5e503409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5e50340913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5e5034091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5e50340913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5e5034091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5e50340913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5e5034091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5e50340913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5e5034091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66a9e9636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66a9e963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66a9e96363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66a9e9636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6590afc23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6590afc2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6590afc234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6590afc23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6590afc234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6590afc23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6590afc234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6590afc23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6590afc234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6590afc23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6590afc234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6590afc23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6590afc234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6590afc23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6590afc234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6590afc23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6590afc234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36590afc23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6590afc234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36590afc23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6590afc234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36590afc234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6590afc234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36590afc23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6590afc234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6590afc234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6590afc234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6590afc23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6590afc234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36590afc234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6590afc234_0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6590afc234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6590afc234_0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36590afc234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6590afc234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6590afc234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6590afc234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6590afc234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7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 name="Google Shape;13;p7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7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7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 name="Google Shape;19;p7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 name="Shape 23"/>
        <p:cNvGrpSpPr/>
        <p:nvPr/>
      </p:nvGrpSpPr>
      <p:grpSpPr>
        <a:xfrm>
          <a:off x="0" y="0"/>
          <a:ext cx="0" cy="0"/>
          <a:chOff x="0" y="0"/>
          <a:chExt cx="0" cy="0"/>
        </a:xfrm>
      </p:grpSpPr>
      <p:sp>
        <p:nvSpPr>
          <p:cNvPr id="24" name="Google Shape;24;p7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7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 name="Google Shape;26;p7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9" name="Shape 29"/>
        <p:cNvGrpSpPr/>
        <p:nvPr/>
      </p:nvGrpSpPr>
      <p:grpSpPr>
        <a:xfrm>
          <a:off x="0" y="0"/>
          <a:ext cx="0" cy="0"/>
          <a:chOff x="0" y="0"/>
          <a:chExt cx="0" cy="0"/>
        </a:xfrm>
      </p:grpSpPr>
      <p:sp>
        <p:nvSpPr>
          <p:cNvPr id="30" name="Google Shape;30;p7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78"/>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5" name="Shape 35"/>
        <p:cNvGrpSpPr/>
        <p:nvPr/>
      </p:nvGrpSpPr>
      <p:grpSpPr>
        <a:xfrm>
          <a:off x="0" y="0"/>
          <a:ext cx="0" cy="0"/>
          <a:chOff x="0" y="0"/>
          <a:chExt cx="0" cy="0"/>
        </a:xfrm>
      </p:grpSpPr>
      <p:sp>
        <p:nvSpPr>
          <p:cNvPr id="36" name="Google Shape;36;p7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79"/>
          <p:cNvSpPr/>
          <p:nvPr>
            <p:ph idx="2" type="pic"/>
          </p:nvPr>
        </p:nvSpPr>
        <p:spPr>
          <a:xfrm>
            <a:off x="1792288" y="612775"/>
            <a:ext cx="5486400" cy="4114800"/>
          </a:xfrm>
          <a:prstGeom prst="rect">
            <a:avLst/>
          </a:prstGeom>
          <a:noFill/>
          <a:ln>
            <a:noFill/>
          </a:ln>
        </p:spPr>
      </p:sp>
      <p:sp>
        <p:nvSpPr>
          <p:cNvPr id="38" name="Google Shape;38;p7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9" name="Google Shape;39;p7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2" name="Shape 42"/>
        <p:cNvGrpSpPr/>
        <p:nvPr/>
      </p:nvGrpSpPr>
      <p:grpSpPr>
        <a:xfrm>
          <a:off x="0" y="0"/>
          <a:ext cx="0" cy="0"/>
          <a:chOff x="0" y="0"/>
          <a:chExt cx="0" cy="0"/>
        </a:xfrm>
      </p:grpSpPr>
      <p:sp>
        <p:nvSpPr>
          <p:cNvPr id="43" name="Google Shape;43;p8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8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5" name="Google Shape;45;p8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6" name="Google Shape;46;p8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8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8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8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1" name="Google Shape;61;p8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2" name="Google Shape;62;p8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3" name="Google Shape;63;p8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4" name="Google Shape;64;p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8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9" name="Google Shape;69;p8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0" name="Google Shape;70;p8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1" name="Google Shape;71;p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sp>
        <p:nvSpPr>
          <p:cNvPr id="75" name="Google Shape;75;p8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8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7" name="Google Shape;77;p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7" name="Google Shape;7;p7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7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youtube.com/watch?v=4fVQrH65aWU" TargetMode="External"/><Relationship Id="rId4" Type="http://schemas.openxmlformats.org/officeDocument/2006/relationships/image" Target="../media/image25.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7.png"/><Relationship Id="rId5" Type="http://schemas.openxmlformats.org/officeDocument/2006/relationships/image" Target="../media/image14.png"/><Relationship Id="rId6" Type="http://schemas.openxmlformats.org/officeDocument/2006/relationships/hyperlink" Target="https://www.youtube.com/watch?v=t8RRP4OtIyM" TargetMode="External"/><Relationship Id="rId7" Type="http://schemas.openxmlformats.org/officeDocument/2006/relationships/hyperlink" Target="https://www.youtube.com/watch?v=Y8y965ZAmQ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6.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9.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6.png"/><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3.png"/><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2.png"/><Relationship Id="rId4" Type="http://schemas.openxmlformats.org/officeDocument/2006/relationships/image" Target="../media/image5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60.png"/><Relationship Id="rId4" Type="http://schemas.openxmlformats.org/officeDocument/2006/relationships/image" Target="../media/image46.png"/><Relationship Id="rId5" Type="http://schemas.openxmlformats.org/officeDocument/2006/relationships/image" Target="../media/image4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5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4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47.png"/><Relationship Id="rId4" Type="http://schemas.openxmlformats.org/officeDocument/2006/relationships/image" Target="../media/image4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58.png"/><Relationship Id="rId4" Type="http://schemas.openxmlformats.org/officeDocument/2006/relationships/image" Target="../media/image5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8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5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5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8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64.png"/><Relationship Id="rId4" Type="http://schemas.openxmlformats.org/officeDocument/2006/relationships/image" Target="../media/image7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6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6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6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5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54.png"/><Relationship Id="rId4" Type="http://schemas.openxmlformats.org/officeDocument/2006/relationships/image" Target="../media/image6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85.png"/><Relationship Id="rId4" Type="http://schemas.openxmlformats.org/officeDocument/2006/relationships/image" Target="../media/image7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7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7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7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8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76.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6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72.png"/><Relationship Id="rId4" Type="http://schemas.openxmlformats.org/officeDocument/2006/relationships/image" Target="../media/image7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8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7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78.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90.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84.png"/><Relationship Id="rId4" Type="http://schemas.openxmlformats.org/officeDocument/2006/relationships/image" Target="../media/image8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87.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8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8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rgbClr val="FF0000"/>
                </a:solidFill>
                <a:latin typeface="Calibri"/>
                <a:ea typeface="Calibri"/>
                <a:cs typeface="Calibri"/>
                <a:sym typeface="Calibri"/>
              </a:rPr>
              <a:t>UNIT-V</a:t>
            </a:r>
            <a:endParaRPr>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457200" y="274637"/>
            <a:ext cx="8229600" cy="9445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rgbClr val="FF0000"/>
                </a:solidFill>
                <a:latin typeface="Calibri"/>
                <a:ea typeface="Calibri"/>
                <a:cs typeface="Calibri"/>
                <a:sym typeface="Calibri"/>
              </a:rPr>
              <a:t>UNIT-V : </a:t>
            </a:r>
            <a:r>
              <a:rPr b="1" i="0" lang="en-US" sz="4400" u="none">
                <a:solidFill>
                  <a:srgbClr val="FF0000"/>
                </a:solidFill>
                <a:latin typeface="Calibri"/>
                <a:ea typeface="Calibri"/>
                <a:cs typeface="Calibri"/>
                <a:sym typeface="Calibri"/>
              </a:rPr>
              <a:t>GRAPHICAL MODELS</a:t>
            </a:r>
            <a:endParaRPr>
              <a:solidFill>
                <a:srgbClr val="FF0000"/>
              </a:solidFill>
            </a:endParaRPr>
          </a:p>
        </p:txBody>
      </p:sp>
      <p:sp>
        <p:nvSpPr>
          <p:cNvPr id="90" name="Google Shape;90;p2"/>
          <p:cNvSpPr txBox="1"/>
          <p:nvPr>
            <p:ph idx="1" type="body"/>
          </p:nvPr>
        </p:nvSpPr>
        <p:spPr>
          <a:xfrm>
            <a:off x="457200" y="1371600"/>
            <a:ext cx="8229600" cy="4754562"/>
          </a:xfrm>
          <a:prstGeom prst="rect">
            <a:avLst/>
          </a:prstGeom>
          <a:noFill/>
          <a:ln>
            <a:noFill/>
          </a:ln>
        </p:spPr>
        <p:txBody>
          <a:bodyPr anchorCtr="0" anchor="t" bIns="45700" lIns="91425" spcFirstLastPara="1" rIns="91425" wrap="square" tIns="45700">
            <a:normAutofit/>
          </a:bodyPr>
          <a:lstStyle/>
          <a:p>
            <a:pPr indent="-311150" lvl="0" marL="342900" marR="0" rtl="0" algn="l">
              <a:lnSpc>
                <a:spcPct val="80000"/>
              </a:lnSpc>
              <a:spcBef>
                <a:spcPts val="0"/>
              </a:spcBef>
              <a:spcAft>
                <a:spcPts val="0"/>
              </a:spcAft>
              <a:buClr>
                <a:schemeClr val="dk1"/>
              </a:buClr>
              <a:buSzPts val="2700"/>
              <a:buFont typeface="Times New Roman"/>
              <a:buChar char="•"/>
            </a:pPr>
            <a:r>
              <a:rPr i="0" lang="en-US" sz="2700" u="none" cap="none" strike="noStrike">
                <a:solidFill>
                  <a:schemeClr val="dk1"/>
                </a:solidFill>
                <a:latin typeface="Times New Roman"/>
                <a:ea typeface="Times New Roman"/>
                <a:cs typeface="Times New Roman"/>
                <a:sym typeface="Times New Roman"/>
              </a:rPr>
              <a:t>Markov Chain Monte Carlo Methods (Book-1) – </a:t>
            </a:r>
            <a:endParaRPr i="0" sz="2700" u="none" cap="none" strike="noStrike">
              <a:solidFill>
                <a:schemeClr val="dk1"/>
              </a:solidFill>
              <a:latin typeface="Times New Roman"/>
              <a:ea typeface="Times New Roman"/>
              <a:cs typeface="Times New Roman"/>
              <a:sym typeface="Times New Roman"/>
            </a:endParaRPr>
          </a:p>
          <a:p>
            <a:pPr indent="0" lvl="0" marL="342900" marR="0" rtl="0" algn="l">
              <a:lnSpc>
                <a:spcPct val="80000"/>
              </a:lnSpc>
              <a:spcBef>
                <a:spcPts val="0"/>
              </a:spcBef>
              <a:spcAft>
                <a:spcPts val="0"/>
              </a:spcAft>
              <a:buNone/>
            </a:pPr>
            <a:r>
              <a:t/>
            </a:r>
            <a:endParaRPr sz="2700">
              <a:latin typeface="Times New Roman"/>
              <a:ea typeface="Times New Roman"/>
              <a:cs typeface="Times New Roman"/>
              <a:sym typeface="Times New Roman"/>
            </a:endParaRPr>
          </a:p>
          <a:p>
            <a:pPr indent="0" lvl="0" marL="0" marR="0" rtl="0" algn="l">
              <a:lnSpc>
                <a:spcPct val="80000"/>
              </a:lnSpc>
              <a:spcBef>
                <a:spcPts val="640"/>
              </a:spcBef>
              <a:spcAft>
                <a:spcPts val="0"/>
              </a:spcAft>
              <a:buNone/>
            </a:pPr>
            <a:r>
              <a:rPr i="0" lang="en-US" sz="2700" u="none" cap="none" strike="noStrike">
                <a:solidFill>
                  <a:schemeClr val="dk1"/>
                </a:solidFill>
                <a:latin typeface="Times New Roman"/>
                <a:ea typeface="Times New Roman"/>
                <a:cs typeface="Times New Roman"/>
                <a:sym typeface="Times New Roman"/>
              </a:rPr>
              <a:t>        – </a:t>
            </a:r>
            <a:r>
              <a:rPr lang="en-US" sz="2700">
                <a:latin typeface="Times New Roman"/>
                <a:ea typeface="Times New Roman"/>
                <a:cs typeface="Times New Roman"/>
                <a:sym typeface="Times New Roman"/>
              </a:rPr>
              <a:t>Sampling   </a:t>
            </a:r>
            <a:endParaRPr i="0" sz="2700" u="none" cap="none" strike="noStrike">
              <a:solidFill>
                <a:schemeClr val="dk1"/>
              </a:solidFill>
              <a:latin typeface="Times New Roman"/>
              <a:ea typeface="Times New Roman"/>
              <a:cs typeface="Times New Roman"/>
              <a:sym typeface="Times New Roman"/>
            </a:endParaRPr>
          </a:p>
          <a:p>
            <a:pPr indent="-400050" lvl="1" marL="914400" marR="0" rtl="0" algn="l">
              <a:lnSpc>
                <a:spcPct val="80000"/>
              </a:lnSpc>
              <a:spcBef>
                <a:spcPts val="640"/>
              </a:spcBef>
              <a:spcAft>
                <a:spcPts val="0"/>
              </a:spcAft>
              <a:buSzPts val="2700"/>
              <a:buFont typeface="Times New Roman"/>
              <a:buChar char="–"/>
            </a:pPr>
            <a:r>
              <a:rPr lang="en-US" sz="2700">
                <a:latin typeface="Times New Roman"/>
                <a:ea typeface="Times New Roman"/>
                <a:cs typeface="Times New Roman"/>
                <a:sym typeface="Times New Roman"/>
              </a:rPr>
              <a:t> </a:t>
            </a:r>
            <a:r>
              <a:rPr lang="en-US" sz="2700">
                <a:latin typeface="Times New Roman"/>
                <a:ea typeface="Times New Roman"/>
                <a:cs typeface="Times New Roman"/>
                <a:sym typeface="Times New Roman"/>
              </a:rPr>
              <a:t>  </a:t>
            </a:r>
            <a:r>
              <a:rPr i="0" lang="en-US" sz="2700" u="none" cap="none" strike="noStrike">
                <a:solidFill>
                  <a:schemeClr val="dk1"/>
                </a:solidFill>
                <a:latin typeface="Times New Roman"/>
                <a:ea typeface="Times New Roman"/>
                <a:cs typeface="Times New Roman"/>
                <a:sym typeface="Times New Roman"/>
              </a:rPr>
              <a:t>Proposal Distribution </a:t>
            </a:r>
            <a:endParaRPr sz="2700">
              <a:latin typeface="Times New Roman"/>
              <a:ea typeface="Times New Roman"/>
              <a:cs typeface="Times New Roman"/>
              <a:sym typeface="Times New Roman"/>
            </a:endParaRPr>
          </a:p>
          <a:p>
            <a:pPr indent="0" lvl="0" marL="457200" marR="0" rtl="0" algn="l">
              <a:lnSpc>
                <a:spcPct val="80000"/>
              </a:lnSpc>
              <a:spcBef>
                <a:spcPts val="640"/>
              </a:spcBef>
              <a:spcAft>
                <a:spcPts val="0"/>
              </a:spcAft>
              <a:buNone/>
            </a:pPr>
            <a:r>
              <a:rPr i="0" lang="en-US" sz="2700" u="none" cap="none" strike="noStrike">
                <a:solidFill>
                  <a:schemeClr val="dk1"/>
                </a:solidFill>
                <a:latin typeface="Times New Roman"/>
                <a:ea typeface="Times New Roman"/>
                <a:cs typeface="Times New Roman"/>
                <a:sym typeface="Times New Roman"/>
              </a:rPr>
              <a:t>    – Markov Chain Monte Carlo </a:t>
            </a:r>
            <a:endParaRPr sz="2700">
              <a:latin typeface="Times New Roman"/>
              <a:ea typeface="Times New Roman"/>
              <a:cs typeface="Times New Roman"/>
              <a:sym typeface="Times New Roman"/>
            </a:endParaRPr>
          </a:p>
          <a:p>
            <a:pPr indent="0" lvl="0" marL="457200" marR="0" rtl="0" algn="l">
              <a:lnSpc>
                <a:spcPct val="80000"/>
              </a:lnSpc>
              <a:spcBef>
                <a:spcPts val="640"/>
              </a:spcBef>
              <a:spcAft>
                <a:spcPts val="0"/>
              </a:spcAft>
              <a:buNone/>
            </a:pPr>
            <a:r>
              <a:rPr i="0" lang="en-US" sz="2700" u="none" cap="none" strike="noStrike">
                <a:solidFill>
                  <a:schemeClr val="dk1"/>
                </a:solidFill>
                <a:latin typeface="Times New Roman"/>
                <a:ea typeface="Times New Roman"/>
                <a:cs typeface="Times New Roman"/>
                <a:sym typeface="Times New Roman"/>
              </a:rPr>
              <a:t>    – Graphical Models </a:t>
            </a:r>
            <a:endParaRPr sz="2700">
              <a:latin typeface="Times New Roman"/>
              <a:ea typeface="Times New Roman"/>
              <a:cs typeface="Times New Roman"/>
              <a:sym typeface="Times New Roman"/>
            </a:endParaRPr>
          </a:p>
          <a:p>
            <a:pPr indent="0" lvl="0" marL="457200" marR="0" rtl="0" algn="l">
              <a:lnSpc>
                <a:spcPct val="80000"/>
              </a:lnSpc>
              <a:spcBef>
                <a:spcPts val="640"/>
              </a:spcBef>
              <a:spcAft>
                <a:spcPts val="0"/>
              </a:spcAft>
              <a:buNone/>
            </a:pPr>
            <a:r>
              <a:rPr i="0" lang="en-US" sz="2700" u="none" cap="none" strike="noStrike">
                <a:solidFill>
                  <a:schemeClr val="dk1"/>
                </a:solidFill>
                <a:latin typeface="Times New Roman"/>
                <a:ea typeface="Times New Roman"/>
                <a:cs typeface="Times New Roman"/>
                <a:sym typeface="Times New Roman"/>
              </a:rPr>
              <a:t>    – Bayesian Networks </a:t>
            </a:r>
            <a:endParaRPr sz="2700">
              <a:latin typeface="Times New Roman"/>
              <a:ea typeface="Times New Roman"/>
              <a:cs typeface="Times New Roman"/>
              <a:sym typeface="Times New Roman"/>
            </a:endParaRPr>
          </a:p>
          <a:p>
            <a:pPr indent="0" lvl="0" marL="457200" marR="0" rtl="0" algn="l">
              <a:lnSpc>
                <a:spcPct val="80000"/>
              </a:lnSpc>
              <a:spcBef>
                <a:spcPts val="640"/>
              </a:spcBef>
              <a:spcAft>
                <a:spcPts val="0"/>
              </a:spcAft>
              <a:buNone/>
            </a:pPr>
            <a:r>
              <a:rPr i="0" lang="en-US" sz="2700" u="none" cap="none" strike="noStrike">
                <a:solidFill>
                  <a:schemeClr val="dk1"/>
                </a:solidFill>
                <a:latin typeface="Times New Roman"/>
                <a:ea typeface="Times New Roman"/>
                <a:cs typeface="Times New Roman"/>
                <a:sym typeface="Times New Roman"/>
              </a:rPr>
              <a:t>    – Markov Random Fields </a:t>
            </a:r>
            <a:endParaRPr sz="2700">
              <a:latin typeface="Times New Roman"/>
              <a:ea typeface="Times New Roman"/>
              <a:cs typeface="Times New Roman"/>
              <a:sym typeface="Times New Roman"/>
            </a:endParaRPr>
          </a:p>
          <a:p>
            <a:pPr indent="0" lvl="0" marL="457200" marR="0" rtl="0" algn="l">
              <a:lnSpc>
                <a:spcPct val="80000"/>
              </a:lnSpc>
              <a:spcBef>
                <a:spcPts val="640"/>
              </a:spcBef>
              <a:spcAft>
                <a:spcPts val="0"/>
              </a:spcAft>
              <a:buNone/>
            </a:pPr>
            <a:r>
              <a:rPr i="0" lang="en-US" sz="2700" u="none" cap="none" strike="noStrike">
                <a:solidFill>
                  <a:schemeClr val="dk1"/>
                </a:solidFill>
                <a:latin typeface="Times New Roman"/>
                <a:ea typeface="Times New Roman"/>
                <a:cs typeface="Times New Roman"/>
                <a:sym typeface="Times New Roman"/>
              </a:rPr>
              <a:t>    – Hidden Markov Models </a:t>
            </a:r>
            <a:endParaRPr sz="2700">
              <a:latin typeface="Times New Roman"/>
              <a:ea typeface="Times New Roman"/>
              <a:cs typeface="Times New Roman"/>
              <a:sym typeface="Times New Roman"/>
            </a:endParaRPr>
          </a:p>
          <a:p>
            <a:pPr indent="0" lvl="0" marL="457200" marR="0" rtl="0" algn="l">
              <a:lnSpc>
                <a:spcPct val="80000"/>
              </a:lnSpc>
              <a:spcBef>
                <a:spcPts val="640"/>
              </a:spcBef>
              <a:spcAft>
                <a:spcPts val="0"/>
              </a:spcAft>
              <a:buNone/>
            </a:pPr>
            <a:r>
              <a:rPr i="0" lang="en-US" sz="2700" u="none" cap="none" strike="noStrike">
                <a:solidFill>
                  <a:schemeClr val="dk1"/>
                </a:solidFill>
                <a:latin typeface="Times New Roman"/>
                <a:ea typeface="Times New Roman"/>
                <a:cs typeface="Times New Roman"/>
                <a:sym typeface="Times New Roman"/>
              </a:rPr>
              <a:t>    – Tracking Methods </a:t>
            </a:r>
            <a:endParaRPr sz="2700">
              <a:latin typeface="Times New Roman"/>
              <a:ea typeface="Times New Roman"/>
              <a:cs typeface="Times New Roman"/>
              <a:sym typeface="Times New Roman"/>
            </a:endParaRPr>
          </a:p>
          <a:p>
            <a:pPr indent="-139700" lvl="0" marL="342900" marR="0" rtl="0" algn="l">
              <a:lnSpc>
                <a:spcPct val="90000"/>
              </a:lnSpc>
              <a:spcBef>
                <a:spcPts val="640"/>
              </a:spcBef>
              <a:spcAft>
                <a:spcPts val="0"/>
              </a:spcAft>
              <a:buClr>
                <a:schemeClr val="dk1"/>
              </a:buClr>
              <a:buSzPts val="3200"/>
              <a:buFont typeface="Arial"/>
              <a:buNone/>
            </a:pPr>
            <a:r>
              <a:t/>
            </a:r>
            <a:endParaRPr i="0" sz="27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ph type="title"/>
          </p:nvPr>
        </p:nvSpPr>
        <p:spPr>
          <a:xfrm>
            <a:off x="152400" y="274637"/>
            <a:ext cx="8763000" cy="7921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alibri"/>
              <a:buNone/>
            </a:pPr>
            <a:r>
              <a:rPr b="1" i="0" lang="en-US" sz="3000" u="none">
                <a:solidFill>
                  <a:srgbClr val="FF0000"/>
                </a:solidFill>
                <a:latin typeface="Times New Roman"/>
                <a:ea typeface="Times New Roman"/>
                <a:cs typeface="Times New Roman"/>
                <a:sym typeface="Times New Roman"/>
              </a:rPr>
              <a:t>Markov Chain Monte Carlo (MCMC) Methods</a:t>
            </a:r>
            <a:endParaRPr sz="3800">
              <a:solidFill>
                <a:srgbClr val="FF0000"/>
              </a:solidFill>
              <a:latin typeface="Times New Roman"/>
              <a:ea typeface="Times New Roman"/>
              <a:cs typeface="Times New Roman"/>
              <a:sym typeface="Times New Roman"/>
            </a:endParaRPr>
          </a:p>
        </p:txBody>
      </p:sp>
      <p:sp>
        <p:nvSpPr>
          <p:cNvPr id="96" name="Google Shape;96;p3"/>
          <p:cNvSpPr txBox="1"/>
          <p:nvPr>
            <p:ph idx="1" type="body"/>
          </p:nvPr>
        </p:nvSpPr>
        <p:spPr>
          <a:xfrm>
            <a:off x="228600" y="1143000"/>
            <a:ext cx="8686800" cy="5486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This method has revolutionized statistical computing and statistical physics over the past 20 years. </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This algorithm has been around since 1953, but only when computers became fast enough to be able to perform the computations on real-world examples in hours instead of weeks did the methods become really well known.</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However, this algorithm has now been cited as one of the most influential ever created.</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Two basic problems that can be solved using these methods, Compute the </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600"/>
              <a:buFont typeface="Arial"/>
              <a:buNone/>
            </a:pPr>
            <a:r>
              <a:rPr i="0" lang="en-US" sz="2600" u="none">
                <a:solidFill>
                  <a:schemeClr val="dk1"/>
                </a:solidFill>
                <a:latin typeface="Times New Roman"/>
                <a:ea typeface="Times New Roman"/>
                <a:cs typeface="Times New Roman"/>
                <a:sym typeface="Times New Roman"/>
              </a:rPr>
              <a:t>		- Optimum solution to some objective function, or </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600"/>
              <a:buFont typeface="Arial"/>
              <a:buNone/>
            </a:pPr>
            <a:r>
              <a:rPr i="0" lang="en-US" sz="2600" u="none">
                <a:solidFill>
                  <a:schemeClr val="dk1"/>
                </a:solidFill>
                <a:latin typeface="Times New Roman"/>
                <a:ea typeface="Times New Roman"/>
                <a:cs typeface="Times New Roman"/>
                <a:sym typeface="Times New Roman"/>
              </a:rPr>
              <a:t>             - Posterior distribution of a statistical learning problem.</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nvSpPr>
        <p:spPr>
          <a:xfrm>
            <a:off x="228600" y="385747"/>
            <a:ext cx="8763000" cy="4679100"/>
          </a:xfrm>
          <a:prstGeom prst="rect">
            <a:avLst/>
          </a:prstGeom>
          <a:noFill/>
          <a:ln>
            <a:noFill/>
          </a:ln>
        </p:spPr>
        <p:txBody>
          <a:bodyPr anchorCtr="0" anchor="t" bIns="45700" lIns="91425" spcFirstLastPara="1" rIns="91425" wrap="square" tIns="45700">
            <a:spAutoFit/>
          </a:bodyPr>
          <a:lstStyle/>
          <a:p>
            <a:pPr indent="-165100" lvl="0" marL="0" marR="0" rtl="0" algn="just">
              <a:lnSpc>
                <a:spcPct val="100000"/>
              </a:lnSpc>
              <a:spcBef>
                <a:spcPts val="0"/>
              </a:spcBef>
              <a:spcAft>
                <a:spcPts val="0"/>
              </a:spcAft>
              <a:buClr>
                <a:schemeClr val="dk1"/>
              </a:buClr>
              <a:buSzPts val="2600"/>
              <a:buFont typeface="Times New Roman"/>
              <a:buChar char="•"/>
            </a:pPr>
            <a:r>
              <a:rPr i="0" lang="en-US" sz="2600" u="none" cap="none" strike="noStrike">
                <a:solidFill>
                  <a:schemeClr val="dk1"/>
                </a:solidFill>
                <a:latin typeface="Times New Roman"/>
                <a:ea typeface="Times New Roman"/>
                <a:cs typeface="Times New Roman"/>
                <a:sym typeface="Times New Roman"/>
              </a:rPr>
              <a:t>In either case the state space may well be very large, and we are only interested in finding the best possible answer .</a:t>
            </a:r>
            <a:endParaRPr>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600"/>
              <a:buFont typeface="Arial"/>
              <a:buNone/>
            </a:pPr>
            <a:r>
              <a:t/>
            </a:r>
            <a:endParaRPr i="0" sz="2600" u="none" cap="none" strike="noStrike">
              <a:solidFill>
                <a:schemeClr val="dk1"/>
              </a:solidFill>
              <a:latin typeface="Times New Roman"/>
              <a:ea typeface="Times New Roman"/>
              <a:cs typeface="Times New Roman"/>
              <a:sym typeface="Times New Roman"/>
            </a:endParaRPr>
          </a:p>
          <a:p>
            <a:pPr indent="-165100" lvl="0" marL="0" marR="0" rtl="0" algn="just">
              <a:lnSpc>
                <a:spcPct val="100000"/>
              </a:lnSpc>
              <a:spcBef>
                <a:spcPts val="0"/>
              </a:spcBef>
              <a:spcAft>
                <a:spcPts val="0"/>
              </a:spcAft>
              <a:buClr>
                <a:schemeClr val="dk1"/>
              </a:buClr>
              <a:buSzPts val="2600"/>
              <a:buFont typeface="Times New Roman"/>
              <a:buChar char="•"/>
            </a:pPr>
            <a:r>
              <a:rPr i="0" lang="en-US" sz="2600" u="none" cap="none" strike="noStrike">
                <a:solidFill>
                  <a:schemeClr val="dk1"/>
                </a:solidFill>
                <a:latin typeface="Times New Roman"/>
                <a:ea typeface="Times New Roman"/>
                <a:cs typeface="Times New Roman"/>
                <a:sym typeface="Times New Roman"/>
              </a:rPr>
              <a:t>It means, what Monte Carlo sampling is, and look at Markov chains.</a:t>
            </a:r>
            <a:endParaRPr>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3200"/>
              <a:buFont typeface="Arial"/>
              <a:buNone/>
            </a:pPr>
            <a:r>
              <a:t/>
            </a:r>
            <a:endParaRPr b="1" i="0" sz="32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3200"/>
              <a:buFont typeface="Calibri"/>
              <a:buNone/>
            </a:pPr>
            <a:r>
              <a:rPr b="1" i="0" lang="en-US" sz="3200" u="none" cap="none" strike="noStrike">
                <a:solidFill>
                  <a:srgbClr val="FF0000"/>
                </a:solidFill>
                <a:latin typeface="Times New Roman"/>
                <a:ea typeface="Times New Roman"/>
                <a:cs typeface="Times New Roman"/>
                <a:sym typeface="Times New Roman"/>
              </a:rPr>
              <a:t>SAMPLING</a:t>
            </a:r>
            <a:endParaRPr>
              <a:solidFill>
                <a:srgbClr val="FF0000"/>
              </a:solidFill>
              <a:latin typeface="Times New Roman"/>
              <a:ea typeface="Times New Roman"/>
              <a:cs typeface="Times New Roman"/>
              <a:sym typeface="Times New Roman"/>
            </a:endParaRPr>
          </a:p>
          <a:p>
            <a:pPr indent="-165100" lvl="0" marL="0" marR="0" rtl="0" algn="just">
              <a:lnSpc>
                <a:spcPct val="100000"/>
              </a:lnSpc>
              <a:spcBef>
                <a:spcPts val="0"/>
              </a:spcBef>
              <a:spcAft>
                <a:spcPts val="0"/>
              </a:spcAft>
              <a:buClr>
                <a:schemeClr val="dk1"/>
              </a:buClr>
              <a:buSzPts val="2600"/>
              <a:buFont typeface="Times New Roman"/>
              <a:buChar char="•"/>
            </a:pPr>
            <a:r>
              <a:rPr i="0" lang="en-US" sz="2600" u="none" cap="none" strike="noStrike">
                <a:solidFill>
                  <a:schemeClr val="dk1"/>
                </a:solidFill>
                <a:latin typeface="Times New Roman"/>
                <a:ea typeface="Times New Roman"/>
                <a:cs typeface="Times New Roman"/>
                <a:sym typeface="Times New Roman"/>
              </a:rPr>
              <a:t>Produce samples from probability distributions </a:t>
            </a:r>
            <a:endParaRPr>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600"/>
              <a:buFont typeface="Calibri"/>
              <a:buNone/>
            </a:pPr>
            <a:r>
              <a:rPr i="0" lang="en-US" sz="2600" u="none" cap="none" strike="noStrike">
                <a:solidFill>
                  <a:schemeClr val="dk1"/>
                </a:solidFill>
                <a:latin typeface="Times New Roman"/>
                <a:ea typeface="Times New Roman"/>
                <a:cs typeface="Times New Roman"/>
                <a:sym typeface="Times New Roman"/>
              </a:rPr>
              <a:t>            Ex:  Initialization of weights </a:t>
            </a:r>
            <a:endParaRPr>
              <a:latin typeface="Times New Roman"/>
              <a:ea typeface="Times New Roman"/>
              <a:cs typeface="Times New Roman"/>
              <a:sym typeface="Times New Roman"/>
            </a:endParaRPr>
          </a:p>
          <a:p>
            <a:pPr indent="-165100" lvl="0" marL="0" marR="0" rtl="0" algn="just">
              <a:lnSpc>
                <a:spcPct val="100000"/>
              </a:lnSpc>
              <a:spcBef>
                <a:spcPts val="0"/>
              </a:spcBef>
              <a:spcAft>
                <a:spcPts val="0"/>
              </a:spcAft>
              <a:buClr>
                <a:schemeClr val="dk1"/>
              </a:buClr>
              <a:buSzPts val="2600"/>
              <a:buFont typeface="Times New Roman"/>
              <a:buChar char="•"/>
            </a:pPr>
            <a:r>
              <a:rPr i="0" lang="en-US" sz="2600" u="none" cap="none" strike="noStrike">
                <a:solidFill>
                  <a:schemeClr val="dk1"/>
                </a:solidFill>
                <a:latin typeface="Times New Roman"/>
                <a:ea typeface="Times New Roman"/>
                <a:cs typeface="Times New Roman"/>
                <a:sym typeface="Times New Roman"/>
              </a:rPr>
              <a:t>In many cases, the probability distribution used has been the uniform one on [0</a:t>
            </a:r>
            <a:r>
              <a:rPr i="1" lang="en-US" sz="2600" u="none" cap="none" strike="noStrike">
                <a:solidFill>
                  <a:schemeClr val="dk1"/>
                </a:solidFill>
                <a:latin typeface="Times New Roman"/>
                <a:ea typeface="Times New Roman"/>
                <a:cs typeface="Times New Roman"/>
                <a:sym typeface="Times New Roman"/>
              </a:rPr>
              <a:t>, </a:t>
            </a:r>
            <a:r>
              <a:rPr i="0" lang="en-US" sz="2600" u="none" cap="none" strike="noStrike">
                <a:solidFill>
                  <a:schemeClr val="dk1"/>
                </a:solidFill>
                <a:latin typeface="Times New Roman"/>
                <a:ea typeface="Times New Roman"/>
                <a:cs typeface="Times New Roman"/>
                <a:sym typeface="Times New Roman"/>
              </a:rPr>
              <a:t>1), and done it using Gaussian distributions.</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ph idx="1" type="body"/>
          </p:nvPr>
        </p:nvSpPr>
        <p:spPr>
          <a:xfrm>
            <a:off x="228600" y="152400"/>
            <a:ext cx="8610600" cy="6477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None/>
            </a:pPr>
            <a:r>
              <a:rPr b="1" i="0" lang="en-US" sz="2200" u="none">
                <a:solidFill>
                  <a:schemeClr val="dk1"/>
                </a:solidFill>
                <a:latin typeface="Times New Roman"/>
                <a:ea typeface="Times New Roman"/>
                <a:cs typeface="Times New Roman"/>
                <a:sym typeface="Times New Roman"/>
              </a:rPr>
              <a:t>RANDOM NUMBERS</a:t>
            </a:r>
            <a:endParaRPr sz="3000">
              <a:latin typeface="Times New Roman"/>
              <a:ea typeface="Times New Roman"/>
              <a:cs typeface="Times New Roman"/>
              <a:sym typeface="Times New Roman"/>
            </a:endParaRPr>
          </a:p>
          <a:p>
            <a:pPr indent="-349250" lvl="0" marL="342900" marR="0" rtl="0" algn="just">
              <a:lnSpc>
                <a:spcPct val="100000"/>
              </a:lnSpc>
              <a:spcBef>
                <a:spcPts val="48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The basis of all of these sampling methods is in the generation of random numbers, and computers are not really capable of doing. </a:t>
            </a:r>
            <a:endParaRPr sz="3300">
              <a:latin typeface="Times New Roman"/>
              <a:ea typeface="Times New Roman"/>
              <a:cs typeface="Times New Roman"/>
              <a:sym typeface="Times New Roman"/>
            </a:endParaRPr>
          </a:p>
          <a:p>
            <a:pPr indent="-349250" lvl="0" marL="342900" marR="0" rtl="0" algn="just">
              <a:lnSpc>
                <a:spcPct val="100000"/>
              </a:lnSpc>
              <a:spcBef>
                <a:spcPts val="48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The simplest of the algorithms that produce pseudo</a:t>
            </a:r>
            <a:r>
              <a:rPr lang="en-US" sz="2500">
                <a:latin typeface="Times New Roman"/>
                <a:ea typeface="Times New Roman"/>
                <a:cs typeface="Times New Roman"/>
                <a:sym typeface="Times New Roman"/>
              </a:rPr>
              <a:t>random numbers is the linear congruential generator. </a:t>
            </a:r>
            <a:endParaRPr sz="3300">
              <a:latin typeface="Times New Roman"/>
              <a:ea typeface="Times New Roman"/>
              <a:cs typeface="Times New Roman"/>
              <a:sym typeface="Times New Roman"/>
            </a:endParaRPr>
          </a:p>
          <a:p>
            <a:pPr indent="-349250" lvl="0" marL="342900" marR="0" rtl="0" algn="just">
              <a:lnSpc>
                <a:spcPct val="100000"/>
              </a:lnSpc>
              <a:spcBef>
                <a:spcPts val="48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-This is a very simple function and is defined by a recurrence relation</a:t>
            </a:r>
            <a:endParaRPr sz="3300">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Arial"/>
              <a:buNone/>
            </a:pPr>
            <a:r>
              <a:rPr i="1" lang="en-US" sz="2500" u="none">
                <a:solidFill>
                  <a:schemeClr val="dk1"/>
                </a:solidFill>
                <a:latin typeface="Times New Roman"/>
                <a:ea typeface="Times New Roman"/>
                <a:cs typeface="Times New Roman"/>
                <a:sym typeface="Times New Roman"/>
              </a:rPr>
              <a:t>			</a:t>
            </a:r>
            <a:r>
              <a:rPr b="1" i="0" lang="en-US" sz="2500" u="none">
                <a:solidFill>
                  <a:schemeClr val="dk1"/>
                </a:solidFill>
                <a:latin typeface="Times New Roman"/>
                <a:ea typeface="Times New Roman"/>
                <a:cs typeface="Times New Roman"/>
                <a:sym typeface="Times New Roman"/>
              </a:rPr>
              <a:t>x</a:t>
            </a:r>
            <a:r>
              <a:rPr b="1" baseline="-25000" i="0" lang="en-US" sz="2500" u="none">
                <a:solidFill>
                  <a:schemeClr val="dk1"/>
                </a:solidFill>
                <a:latin typeface="Times New Roman"/>
                <a:ea typeface="Times New Roman"/>
                <a:cs typeface="Times New Roman"/>
                <a:sym typeface="Times New Roman"/>
              </a:rPr>
              <a:t>n+1</a:t>
            </a:r>
            <a:r>
              <a:rPr b="1" i="0" lang="en-US" sz="2500" u="none">
                <a:solidFill>
                  <a:schemeClr val="dk1"/>
                </a:solidFill>
                <a:latin typeface="Times New Roman"/>
                <a:ea typeface="Times New Roman"/>
                <a:cs typeface="Times New Roman"/>
                <a:sym typeface="Times New Roman"/>
              </a:rPr>
              <a:t> = (ax</a:t>
            </a:r>
            <a:r>
              <a:rPr b="1" baseline="-25000" i="0" lang="en-US" sz="2500" u="none">
                <a:solidFill>
                  <a:schemeClr val="dk1"/>
                </a:solidFill>
                <a:latin typeface="Times New Roman"/>
                <a:ea typeface="Times New Roman"/>
                <a:cs typeface="Times New Roman"/>
                <a:sym typeface="Times New Roman"/>
              </a:rPr>
              <a:t>n</a:t>
            </a:r>
            <a:r>
              <a:rPr b="1" i="0" lang="en-US" sz="2500" u="none">
                <a:solidFill>
                  <a:schemeClr val="dk1"/>
                </a:solidFill>
                <a:latin typeface="Times New Roman"/>
                <a:ea typeface="Times New Roman"/>
                <a:cs typeface="Times New Roman"/>
                <a:sym typeface="Times New Roman"/>
              </a:rPr>
              <a:t> + c) mod m   ---  (15.1)</a:t>
            </a:r>
            <a:endParaRPr sz="3300">
              <a:latin typeface="Times New Roman"/>
              <a:ea typeface="Times New Roman"/>
              <a:cs typeface="Times New Roman"/>
              <a:sym typeface="Times New Roman"/>
            </a:endParaRPr>
          </a:p>
          <a:p>
            <a:pPr indent="-349250" lvl="0" marL="342900" marR="0" rtl="0" algn="just">
              <a:lnSpc>
                <a:spcPct val="100000"/>
              </a:lnSpc>
              <a:spcBef>
                <a:spcPts val="480"/>
              </a:spcBef>
              <a:spcAft>
                <a:spcPts val="0"/>
              </a:spcAft>
              <a:buClr>
                <a:schemeClr val="dk1"/>
              </a:buClr>
              <a:buSzPts val="2500"/>
              <a:buFont typeface="Arial"/>
              <a:buChar char="•"/>
            </a:pPr>
            <a:r>
              <a:rPr i="0" lang="en-US" sz="2500" u="none">
                <a:solidFill>
                  <a:schemeClr val="dk1"/>
                </a:solidFill>
                <a:latin typeface="Times New Roman"/>
                <a:ea typeface="Times New Roman"/>
                <a:cs typeface="Times New Roman"/>
                <a:sym typeface="Times New Roman"/>
              </a:rPr>
              <a:t>Choose </a:t>
            </a:r>
            <a:r>
              <a:rPr b="1" i="0" lang="en-US" sz="2500" u="none">
                <a:solidFill>
                  <a:schemeClr val="dk1"/>
                </a:solidFill>
                <a:latin typeface="Times New Roman"/>
                <a:ea typeface="Times New Roman"/>
                <a:cs typeface="Times New Roman"/>
                <a:sym typeface="Times New Roman"/>
              </a:rPr>
              <a:t>a</a:t>
            </a:r>
            <a:r>
              <a:rPr i="0" lang="en-US" sz="2500" u="none">
                <a:solidFill>
                  <a:schemeClr val="dk1"/>
                </a:solidFill>
                <a:latin typeface="Times New Roman"/>
                <a:ea typeface="Times New Roman"/>
                <a:cs typeface="Times New Roman"/>
                <a:sym typeface="Times New Roman"/>
              </a:rPr>
              <a:t>, </a:t>
            </a:r>
            <a:r>
              <a:rPr b="1" i="0" lang="en-US" sz="2500" u="none">
                <a:solidFill>
                  <a:schemeClr val="dk1"/>
                </a:solidFill>
                <a:latin typeface="Times New Roman"/>
                <a:ea typeface="Times New Roman"/>
                <a:cs typeface="Times New Roman"/>
                <a:sym typeface="Times New Roman"/>
              </a:rPr>
              <a:t>c</a:t>
            </a:r>
            <a:r>
              <a:rPr i="0" lang="en-US" sz="2500" u="none">
                <a:solidFill>
                  <a:schemeClr val="dk1"/>
                </a:solidFill>
                <a:latin typeface="Times New Roman"/>
                <a:ea typeface="Times New Roman"/>
                <a:cs typeface="Times New Roman"/>
                <a:sym typeface="Times New Roman"/>
              </a:rPr>
              <a:t>, and </a:t>
            </a:r>
            <a:r>
              <a:rPr b="1" i="0" lang="en-US" sz="2500" u="none">
                <a:solidFill>
                  <a:schemeClr val="dk1"/>
                </a:solidFill>
                <a:latin typeface="Times New Roman"/>
                <a:ea typeface="Times New Roman"/>
                <a:cs typeface="Times New Roman"/>
                <a:sym typeface="Times New Roman"/>
              </a:rPr>
              <a:t>m</a:t>
            </a:r>
            <a:r>
              <a:rPr i="0" lang="en-US" sz="2500" u="none">
                <a:solidFill>
                  <a:schemeClr val="dk1"/>
                </a:solidFill>
                <a:latin typeface="Times New Roman"/>
                <a:ea typeface="Times New Roman"/>
                <a:cs typeface="Times New Roman"/>
                <a:sym typeface="Times New Roman"/>
              </a:rPr>
              <a:t> are parameters carefully</a:t>
            </a:r>
            <a:r>
              <a:rPr lang="en-US" sz="2500">
                <a:latin typeface="Times New Roman"/>
                <a:ea typeface="Times New Roman"/>
                <a:cs typeface="Times New Roman"/>
                <a:sym typeface="Times New Roman"/>
              </a:rPr>
              <a:t>.</a:t>
            </a:r>
            <a:endParaRPr sz="2500">
              <a:latin typeface="Times New Roman"/>
              <a:ea typeface="Times New Roman"/>
              <a:cs typeface="Times New Roman"/>
              <a:sym typeface="Times New Roman"/>
            </a:endParaRPr>
          </a:p>
          <a:p>
            <a:pPr indent="-330200" lvl="1" marL="742950" marR="0" rtl="0" algn="just">
              <a:lnSpc>
                <a:spcPct val="100000"/>
              </a:lnSpc>
              <a:spcBef>
                <a:spcPts val="480"/>
              </a:spcBef>
              <a:spcAft>
                <a:spcPts val="0"/>
              </a:spcAft>
              <a:buClr>
                <a:schemeClr val="dk1"/>
              </a:buClr>
              <a:buSzPts val="2500"/>
              <a:buFont typeface="Arial"/>
              <a:buChar char="–"/>
            </a:pPr>
            <a:r>
              <a:rPr lang="en-US" sz="2500">
                <a:latin typeface="Times New Roman"/>
                <a:ea typeface="Times New Roman"/>
                <a:cs typeface="Times New Roman"/>
                <a:sym typeface="Times New Roman"/>
              </a:rPr>
              <a:t>m=modulus (m&gt;0)</a:t>
            </a:r>
            <a:endParaRPr sz="2500">
              <a:latin typeface="Times New Roman"/>
              <a:ea typeface="Times New Roman"/>
              <a:cs typeface="Times New Roman"/>
              <a:sym typeface="Times New Roman"/>
            </a:endParaRPr>
          </a:p>
          <a:p>
            <a:pPr indent="-330200" lvl="1" marL="742950" marR="0" rtl="0" algn="just">
              <a:lnSpc>
                <a:spcPct val="100000"/>
              </a:lnSpc>
              <a:spcBef>
                <a:spcPts val="480"/>
              </a:spcBef>
              <a:spcAft>
                <a:spcPts val="0"/>
              </a:spcAft>
              <a:buClr>
                <a:schemeClr val="dk1"/>
              </a:buClr>
              <a:buSzPts val="2500"/>
              <a:buFont typeface="Arial"/>
              <a:buChar char="–"/>
            </a:pPr>
            <a:r>
              <a:rPr lang="en-US" sz="2500">
                <a:latin typeface="Times New Roman"/>
                <a:ea typeface="Times New Roman"/>
                <a:cs typeface="Times New Roman"/>
                <a:sym typeface="Times New Roman"/>
              </a:rPr>
              <a:t>a=multiplier (</a:t>
            </a:r>
            <a:r>
              <a:rPr i="0" lang="en-US" sz="2500" u="none">
                <a:solidFill>
                  <a:schemeClr val="dk1"/>
                </a:solidFill>
                <a:latin typeface="Times New Roman"/>
                <a:ea typeface="Times New Roman"/>
                <a:cs typeface="Times New Roman"/>
                <a:sym typeface="Times New Roman"/>
              </a:rPr>
              <a:t> 0&lt;a&lt;m)</a:t>
            </a:r>
            <a:endParaRPr i="0" sz="2500" u="none">
              <a:solidFill>
                <a:schemeClr val="dk1"/>
              </a:solidFill>
              <a:latin typeface="Times New Roman"/>
              <a:ea typeface="Times New Roman"/>
              <a:cs typeface="Times New Roman"/>
              <a:sym typeface="Times New Roman"/>
            </a:endParaRPr>
          </a:p>
          <a:p>
            <a:pPr indent="-330200" lvl="1" marL="742950" marR="0" rtl="0" algn="just">
              <a:lnSpc>
                <a:spcPct val="100000"/>
              </a:lnSpc>
              <a:spcBef>
                <a:spcPts val="480"/>
              </a:spcBef>
              <a:spcAft>
                <a:spcPts val="0"/>
              </a:spcAft>
              <a:buSzPts val="2500"/>
              <a:buFont typeface="Times New Roman"/>
              <a:buChar char="–"/>
            </a:pPr>
            <a:r>
              <a:rPr lang="en-US" sz="2500">
                <a:latin typeface="Times New Roman"/>
                <a:ea typeface="Times New Roman"/>
                <a:cs typeface="Times New Roman"/>
                <a:sym typeface="Times New Roman"/>
              </a:rPr>
              <a:t>c=increment (0&lt;=a&lt;m) </a:t>
            </a:r>
            <a:endParaRPr sz="2500">
              <a:latin typeface="Times New Roman"/>
              <a:ea typeface="Times New Roman"/>
              <a:cs typeface="Times New Roman"/>
              <a:sym typeface="Times New Roman"/>
            </a:endParaRPr>
          </a:p>
          <a:p>
            <a:pPr indent="-330200" lvl="1" marL="742950" marR="0" rtl="0" algn="just">
              <a:lnSpc>
                <a:spcPct val="100000"/>
              </a:lnSpc>
              <a:spcBef>
                <a:spcPts val="480"/>
              </a:spcBef>
              <a:spcAft>
                <a:spcPts val="0"/>
              </a:spcAft>
              <a:buSzPts val="2500"/>
              <a:buFont typeface="Times New Roman"/>
              <a:buChar char="–"/>
            </a:pPr>
            <a:r>
              <a:rPr b="1" lang="en-US" sz="2500">
                <a:latin typeface="Times New Roman"/>
                <a:ea typeface="Times New Roman"/>
                <a:cs typeface="Times New Roman"/>
                <a:sym typeface="Times New Roman"/>
              </a:rPr>
              <a:t>x</a:t>
            </a:r>
            <a:r>
              <a:rPr b="1" baseline="-25000" lang="en-US" sz="2500">
                <a:latin typeface="Times New Roman"/>
                <a:ea typeface="Times New Roman"/>
                <a:cs typeface="Times New Roman"/>
                <a:sym typeface="Times New Roman"/>
              </a:rPr>
              <a:t>0  = </a:t>
            </a:r>
            <a:r>
              <a:rPr lang="en-US" sz="2500">
                <a:latin typeface="Times New Roman"/>
                <a:ea typeface="Times New Roman"/>
                <a:cs typeface="Times New Roman"/>
                <a:sym typeface="Times New Roman"/>
              </a:rPr>
              <a:t>starting value/seed value ((0&lt;=</a:t>
            </a:r>
            <a:r>
              <a:rPr b="1" lang="en-US" sz="2500">
                <a:latin typeface="Times New Roman"/>
                <a:ea typeface="Times New Roman"/>
                <a:cs typeface="Times New Roman"/>
                <a:sym typeface="Times New Roman"/>
              </a:rPr>
              <a:t>x</a:t>
            </a:r>
            <a:r>
              <a:rPr b="1" baseline="-25000" lang="en-US" sz="2500">
                <a:latin typeface="Times New Roman"/>
                <a:ea typeface="Times New Roman"/>
                <a:cs typeface="Times New Roman"/>
                <a:sym typeface="Times New Roman"/>
              </a:rPr>
              <a:t>0 </a:t>
            </a:r>
            <a:r>
              <a:rPr lang="en-US" sz="2500">
                <a:latin typeface="Times New Roman"/>
                <a:ea typeface="Times New Roman"/>
                <a:cs typeface="Times New Roman"/>
                <a:sym typeface="Times New Roman"/>
              </a:rPr>
              <a:t>&lt;m)</a:t>
            </a:r>
            <a:r>
              <a:rPr b="1" baseline="-25000" lang="en-US" sz="2500">
                <a:latin typeface="Times New Roman"/>
                <a:ea typeface="Times New Roman"/>
                <a:cs typeface="Times New Roman"/>
                <a:sym typeface="Times New Roman"/>
              </a:rPr>
              <a:t>                                   </a:t>
            </a:r>
            <a:endParaRPr sz="2500">
              <a:latin typeface="Times New Roman"/>
              <a:ea typeface="Times New Roman"/>
              <a:cs typeface="Times New Roman"/>
              <a:sym typeface="Times New Roman"/>
            </a:endParaRPr>
          </a:p>
          <a:p>
            <a:pPr indent="-349250" lvl="0" marL="342900" marR="0" rtl="0" algn="just">
              <a:lnSpc>
                <a:spcPct val="100000"/>
              </a:lnSpc>
              <a:spcBef>
                <a:spcPts val="480"/>
              </a:spcBef>
              <a:spcAft>
                <a:spcPts val="0"/>
              </a:spcAft>
              <a:buClr>
                <a:schemeClr val="dk1"/>
              </a:buClr>
              <a:buSzPts val="2500"/>
              <a:buFont typeface="Arial"/>
              <a:buChar char="•"/>
            </a:pPr>
            <a:r>
              <a:rPr i="0" lang="en-US" sz="2500" u="none">
                <a:solidFill>
                  <a:schemeClr val="dk1"/>
                </a:solidFill>
                <a:latin typeface="Times New Roman"/>
                <a:ea typeface="Times New Roman"/>
                <a:cs typeface="Times New Roman"/>
                <a:sym typeface="Times New Roman"/>
              </a:rPr>
              <a:t>All the parameters, initial input </a:t>
            </a:r>
            <a:r>
              <a:rPr b="1" i="0" lang="en-US" sz="2500" u="none">
                <a:solidFill>
                  <a:schemeClr val="dk1"/>
                </a:solidFill>
                <a:latin typeface="Times New Roman"/>
                <a:ea typeface="Times New Roman"/>
                <a:cs typeface="Times New Roman"/>
                <a:sym typeface="Times New Roman"/>
              </a:rPr>
              <a:t>x</a:t>
            </a:r>
            <a:r>
              <a:rPr b="1" baseline="-25000" i="0" lang="en-US" sz="2500" u="none">
                <a:solidFill>
                  <a:schemeClr val="dk1"/>
                </a:solidFill>
                <a:latin typeface="Times New Roman"/>
                <a:ea typeface="Times New Roman"/>
                <a:cs typeface="Times New Roman"/>
                <a:sym typeface="Times New Roman"/>
              </a:rPr>
              <a:t>0</a:t>
            </a:r>
            <a:r>
              <a:rPr i="0" lang="en-US" sz="2500" u="none">
                <a:solidFill>
                  <a:schemeClr val="dk1"/>
                </a:solidFill>
                <a:latin typeface="Times New Roman"/>
                <a:ea typeface="Times New Roman"/>
                <a:cs typeface="Times New Roman"/>
                <a:sym typeface="Times New Roman"/>
              </a:rPr>
              <a:t> (known as the seed), and the outputs are integers</a:t>
            </a:r>
            <a:r>
              <a:rPr i="1" lang="en-US" sz="2500" u="none">
                <a:solidFill>
                  <a:schemeClr val="dk1"/>
                </a:solidFill>
                <a:latin typeface="Times New Roman"/>
                <a:ea typeface="Times New Roman"/>
                <a:cs typeface="Times New Roman"/>
                <a:sym typeface="Times New Roman"/>
              </a:rPr>
              <a:t>.</a:t>
            </a:r>
            <a:endParaRPr sz="3300">
              <a:latin typeface="Times New Roman"/>
              <a:ea typeface="Times New Roman"/>
              <a:cs typeface="Times New Roman"/>
              <a:sym typeface="Times New Roman"/>
            </a:endParaRPr>
          </a:p>
          <a:p>
            <a:pPr indent="-349250" lvl="0" marL="342900" marR="0" rtl="0" algn="just">
              <a:lnSpc>
                <a:spcPct val="100000"/>
              </a:lnSpc>
              <a:spcBef>
                <a:spcPts val="480"/>
              </a:spcBef>
              <a:spcAft>
                <a:spcPts val="0"/>
              </a:spcAft>
              <a:buClr>
                <a:schemeClr val="dk1"/>
              </a:buClr>
              <a:buSzPts val="2500"/>
              <a:buFont typeface="Times New Roman"/>
              <a:buChar char="•"/>
            </a:pPr>
            <a:r>
              <a:rPr i="1" lang="en-US" sz="2500" u="none">
                <a:solidFill>
                  <a:schemeClr val="dk1"/>
                </a:solidFill>
                <a:latin typeface="Times New Roman"/>
                <a:ea typeface="Times New Roman"/>
                <a:cs typeface="Times New Roman"/>
                <a:sym typeface="Times New Roman"/>
              </a:rPr>
              <a:t>Once one number </a:t>
            </a:r>
            <a:r>
              <a:rPr i="0" lang="en-US" sz="2500" u="none">
                <a:solidFill>
                  <a:schemeClr val="dk1"/>
                </a:solidFill>
                <a:latin typeface="Times New Roman"/>
                <a:ea typeface="Times New Roman"/>
                <a:cs typeface="Times New Roman"/>
                <a:sym typeface="Times New Roman"/>
              </a:rPr>
              <a:t>appears a second time, the whole pattern will repeat again since the equation only uses the current output as input. </a:t>
            </a:r>
            <a:endParaRPr sz="33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6"/>
          <p:cNvSpPr txBox="1"/>
          <p:nvPr>
            <p:ph idx="1" type="body"/>
          </p:nvPr>
        </p:nvSpPr>
        <p:spPr>
          <a:xfrm>
            <a:off x="152400" y="76200"/>
            <a:ext cx="8839200" cy="6705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None/>
            </a:pPr>
            <a:r>
              <a:rPr i="0" lang="en-US" sz="2200" u="none">
                <a:solidFill>
                  <a:schemeClr val="dk1"/>
                </a:solidFill>
                <a:latin typeface="Times New Roman"/>
                <a:ea typeface="Times New Roman"/>
                <a:cs typeface="Times New Roman"/>
                <a:sym typeface="Times New Roman"/>
              </a:rPr>
              <a:t> </a:t>
            </a:r>
            <a:r>
              <a:rPr b="1" i="0" lang="en-US" sz="2200" u="none">
                <a:solidFill>
                  <a:schemeClr val="dk1"/>
                </a:solidFill>
                <a:latin typeface="Times New Roman"/>
                <a:ea typeface="Times New Roman"/>
                <a:cs typeface="Times New Roman"/>
                <a:sym typeface="Times New Roman"/>
              </a:rPr>
              <a:t>Gaussian Random Numbers</a:t>
            </a:r>
            <a:endParaRPr sz="2200">
              <a:latin typeface="Times New Roman"/>
              <a:ea typeface="Times New Roman"/>
              <a:cs typeface="Times New Roman"/>
              <a:sym typeface="Times New Roman"/>
            </a:endParaRPr>
          </a:p>
          <a:p>
            <a:pPr indent="-330200" lvl="0" marL="342900" marR="0" rtl="0" algn="just">
              <a:lnSpc>
                <a:spcPct val="100000"/>
              </a:lnSpc>
              <a:spcBef>
                <a:spcPts val="48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 Mersenne twister produces uniform random numbers.</a:t>
            </a:r>
            <a:endParaRPr sz="2200">
              <a:latin typeface="Times New Roman"/>
              <a:ea typeface="Times New Roman"/>
              <a:cs typeface="Times New Roman"/>
              <a:sym typeface="Times New Roman"/>
            </a:endParaRPr>
          </a:p>
          <a:p>
            <a:pPr indent="-330200" lvl="0" marL="342900" marR="0" rtl="0" algn="just">
              <a:lnSpc>
                <a:spcPct val="100000"/>
              </a:lnSpc>
              <a:spcBef>
                <a:spcPts val="48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Produce samples from other distributions, e.g., Gaussian. </a:t>
            </a:r>
            <a:endParaRPr sz="2200">
              <a:latin typeface="Times New Roman"/>
              <a:ea typeface="Times New Roman"/>
              <a:cs typeface="Times New Roman"/>
              <a:sym typeface="Times New Roman"/>
            </a:endParaRPr>
          </a:p>
          <a:p>
            <a:pPr indent="-330200" lvl="0" marL="342900" marR="0" rtl="0" algn="just">
              <a:lnSpc>
                <a:spcPct val="100000"/>
              </a:lnSpc>
              <a:spcBef>
                <a:spcPts val="48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 usual method is the Box–Muller scheme, which uses a pair of uniformly randomly distributed numbers in order to make two independent Gaussian-distributed numbers with zero mean and unit variance. </a:t>
            </a:r>
            <a:endParaRPr sz="2200">
              <a:latin typeface="Times New Roman"/>
              <a:ea typeface="Times New Roman"/>
              <a:cs typeface="Times New Roman"/>
              <a:sym typeface="Times New Roman"/>
            </a:endParaRPr>
          </a:p>
          <a:p>
            <a:pPr indent="-330200" lvl="0" marL="342900" marR="0" rtl="0" algn="just">
              <a:lnSpc>
                <a:spcPct val="100000"/>
              </a:lnSpc>
              <a:spcBef>
                <a:spcPts val="48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 product of two independent zero mean, unit variance normals is:</a:t>
            </a:r>
            <a:endParaRPr sz="2200">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1"/>
              </a:buClr>
              <a:buSzPts val="2400"/>
              <a:buFont typeface="Arial"/>
              <a:buNone/>
            </a:pPr>
            <a:r>
              <a:t/>
            </a:r>
            <a:endParaRPr i="0" sz="2200" u="none">
              <a:solidFill>
                <a:schemeClr val="dk1"/>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1"/>
              </a:buClr>
              <a:buSzPts val="2400"/>
              <a:buFont typeface="Arial"/>
              <a:buNone/>
            </a:pPr>
            <a:r>
              <a:t/>
            </a:r>
            <a:endParaRPr i="0" sz="2200" u="none">
              <a:solidFill>
                <a:schemeClr val="dk1"/>
              </a:solidFill>
              <a:latin typeface="Times New Roman"/>
              <a:ea typeface="Times New Roman"/>
              <a:cs typeface="Times New Roman"/>
              <a:sym typeface="Times New Roman"/>
            </a:endParaRPr>
          </a:p>
          <a:p>
            <a:pPr indent="-330200" lvl="0" marL="342900" marR="0" rtl="0" algn="l">
              <a:lnSpc>
                <a:spcPct val="100000"/>
              </a:lnSpc>
              <a:spcBef>
                <a:spcPts val="48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If we use polar coordinates instead (so </a:t>
            </a:r>
            <a:r>
              <a:rPr i="1" lang="en-US" sz="2200" u="none">
                <a:solidFill>
                  <a:schemeClr val="dk1"/>
                </a:solidFill>
                <a:latin typeface="Times New Roman"/>
                <a:ea typeface="Times New Roman"/>
                <a:cs typeface="Times New Roman"/>
                <a:sym typeface="Times New Roman"/>
              </a:rPr>
              <a:t>x = r sin(Ɵ) and y = r cos(Ɵ)) then we would </a:t>
            </a:r>
            <a:r>
              <a:rPr i="0" lang="en-US" sz="2200" u="none">
                <a:solidFill>
                  <a:schemeClr val="dk1"/>
                </a:solidFill>
                <a:latin typeface="Times New Roman"/>
                <a:ea typeface="Times New Roman"/>
                <a:cs typeface="Times New Roman"/>
                <a:sym typeface="Times New Roman"/>
              </a:rPr>
              <a:t>have </a:t>
            </a:r>
            <a:r>
              <a:rPr i="1" lang="en-US" sz="2200" u="none">
                <a:solidFill>
                  <a:schemeClr val="dk1"/>
                </a:solidFill>
                <a:latin typeface="Times New Roman"/>
                <a:ea typeface="Times New Roman"/>
                <a:cs typeface="Times New Roman"/>
                <a:sym typeface="Times New Roman"/>
              </a:rPr>
              <a:t>r</a:t>
            </a:r>
            <a:r>
              <a:rPr baseline="30000" i="1" lang="en-US" sz="2200" u="none">
                <a:solidFill>
                  <a:schemeClr val="dk1"/>
                </a:solidFill>
                <a:latin typeface="Times New Roman"/>
                <a:ea typeface="Times New Roman"/>
                <a:cs typeface="Times New Roman"/>
                <a:sym typeface="Times New Roman"/>
              </a:rPr>
              <a:t>2</a:t>
            </a:r>
            <a:r>
              <a:rPr i="1" lang="en-US" sz="2200" u="none">
                <a:solidFill>
                  <a:schemeClr val="dk1"/>
                </a:solidFill>
                <a:latin typeface="Times New Roman"/>
                <a:ea typeface="Times New Roman"/>
                <a:cs typeface="Times New Roman"/>
                <a:sym typeface="Times New Roman"/>
              </a:rPr>
              <a:t> = x</a:t>
            </a:r>
            <a:r>
              <a:rPr baseline="30000" i="1" lang="en-US" sz="2200" u="none">
                <a:solidFill>
                  <a:schemeClr val="dk1"/>
                </a:solidFill>
                <a:latin typeface="Times New Roman"/>
                <a:ea typeface="Times New Roman"/>
                <a:cs typeface="Times New Roman"/>
                <a:sym typeface="Times New Roman"/>
              </a:rPr>
              <a:t>2</a:t>
            </a:r>
            <a:r>
              <a:rPr i="1" lang="en-US" sz="2200" u="none">
                <a:solidFill>
                  <a:schemeClr val="dk1"/>
                </a:solidFill>
                <a:latin typeface="Times New Roman"/>
                <a:ea typeface="Times New Roman"/>
                <a:cs typeface="Times New Roman"/>
                <a:sym typeface="Times New Roman"/>
              </a:rPr>
              <a:t> + y</a:t>
            </a:r>
            <a:r>
              <a:rPr baseline="30000" i="1" lang="en-US" sz="2200" u="none">
                <a:solidFill>
                  <a:schemeClr val="dk1"/>
                </a:solidFill>
                <a:latin typeface="Times New Roman"/>
                <a:ea typeface="Times New Roman"/>
                <a:cs typeface="Times New Roman"/>
                <a:sym typeface="Times New Roman"/>
              </a:rPr>
              <a:t>2</a:t>
            </a:r>
            <a:r>
              <a:rPr i="1" lang="en-US" sz="2200" u="none">
                <a:solidFill>
                  <a:schemeClr val="dk1"/>
                </a:solidFill>
                <a:latin typeface="Times New Roman"/>
                <a:ea typeface="Times New Roman"/>
                <a:cs typeface="Times New Roman"/>
                <a:sym typeface="Times New Roman"/>
              </a:rPr>
              <a:t> and Ɵ = tan−1(y/x). </a:t>
            </a:r>
            <a:endParaRPr sz="2200">
              <a:latin typeface="Times New Roman"/>
              <a:ea typeface="Times New Roman"/>
              <a:cs typeface="Times New Roman"/>
              <a:sym typeface="Times New Roman"/>
            </a:endParaRPr>
          </a:p>
          <a:p>
            <a:pPr indent="-330200" lvl="0" marL="342900" marR="0" rtl="0" algn="l">
              <a:lnSpc>
                <a:spcPct val="100000"/>
              </a:lnSpc>
              <a:spcBef>
                <a:spcPts val="480"/>
              </a:spcBef>
              <a:spcAft>
                <a:spcPts val="0"/>
              </a:spcAft>
              <a:buClr>
                <a:schemeClr val="dk1"/>
              </a:buClr>
              <a:buSzPts val="2200"/>
              <a:buFont typeface="Times New Roman"/>
              <a:buChar char="•"/>
            </a:pPr>
            <a:r>
              <a:rPr i="1" lang="en-US" sz="2200" u="none">
                <a:solidFill>
                  <a:schemeClr val="dk1"/>
                </a:solidFill>
                <a:latin typeface="Times New Roman"/>
                <a:ea typeface="Times New Roman"/>
                <a:cs typeface="Times New Roman"/>
                <a:sym typeface="Times New Roman"/>
              </a:rPr>
              <a:t>Both of these are uniformly distributed random </a:t>
            </a:r>
            <a:r>
              <a:rPr i="0" lang="en-US" sz="2200" u="none">
                <a:solidFill>
                  <a:schemeClr val="dk1"/>
                </a:solidFill>
                <a:latin typeface="Times New Roman"/>
                <a:ea typeface="Times New Roman"/>
                <a:cs typeface="Times New Roman"/>
                <a:sym typeface="Times New Roman"/>
              </a:rPr>
              <a:t>variables (0 ≤ </a:t>
            </a:r>
            <a:r>
              <a:rPr i="1" lang="en-US" sz="2200" u="none">
                <a:solidFill>
                  <a:schemeClr val="dk1"/>
                </a:solidFill>
                <a:latin typeface="Times New Roman"/>
                <a:ea typeface="Times New Roman"/>
                <a:cs typeface="Times New Roman"/>
                <a:sym typeface="Times New Roman"/>
              </a:rPr>
              <a:t>r ≤ 1 and 0≤ Ɵ &lt; 2∏). </a:t>
            </a:r>
            <a:endParaRPr sz="2200">
              <a:latin typeface="Times New Roman"/>
              <a:ea typeface="Times New Roman"/>
              <a:cs typeface="Times New Roman"/>
              <a:sym typeface="Times New Roman"/>
            </a:endParaRPr>
          </a:p>
          <a:p>
            <a:pPr indent="-330200" lvl="0" marL="342900" marR="0" rtl="0" algn="l">
              <a:lnSpc>
                <a:spcPct val="100000"/>
              </a:lnSpc>
              <a:spcBef>
                <a:spcPts val="480"/>
              </a:spcBef>
              <a:spcAft>
                <a:spcPts val="0"/>
              </a:spcAft>
              <a:buClr>
                <a:schemeClr val="dk1"/>
              </a:buClr>
              <a:buSzPts val="2200"/>
              <a:buFont typeface="Times New Roman"/>
              <a:buChar char="•"/>
            </a:pPr>
            <a:r>
              <a:rPr i="1" lang="en-US" sz="2200" u="none">
                <a:solidFill>
                  <a:schemeClr val="dk1"/>
                </a:solidFill>
                <a:latin typeface="Times New Roman"/>
                <a:ea typeface="Times New Roman"/>
                <a:cs typeface="Times New Roman"/>
                <a:sym typeface="Times New Roman"/>
              </a:rPr>
              <a:t>Ɵ = 2 ∏ U</a:t>
            </a:r>
            <a:r>
              <a:rPr baseline="-25000" i="1" lang="en-US" sz="2200" u="none">
                <a:solidFill>
                  <a:schemeClr val="dk1"/>
                </a:solidFill>
                <a:latin typeface="Times New Roman"/>
                <a:ea typeface="Times New Roman"/>
                <a:cs typeface="Times New Roman"/>
                <a:sym typeface="Times New Roman"/>
              </a:rPr>
              <a:t>1</a:t>
            </a:r>
            <a:r>
              <a:rPr i="1" lang="en-US" sz="2200" u="none">
                <a:solidFill>
                  <a:schemeClr val="dk1"/>
                </a:solidFill>
                <a:latin typeface="Times New Roman"/>
                <a:ea typeface="Times New Roman"/>
                <a:cs typeface="Times New Roman"/>
                <a:sym typeface="Times New Roman"/>
              </a:rPr>
              <a:t> where U</a:t>
            </a:r>
            <a:r>
              <a:rPr baseline="-25000" i="1" lang="en-US" sz="2200" u="none">
                <a:solidFill>
                  <a:schemeClr val="dk1"/>
                </a:solidFill>
                <a:latin typeface="Times New Roman"/>
                <a:ea typeface="Times New Roman"/>
                <a:cs typeface="Times New Roman"/>
                <a:sym typeface="Times New Roman"/>
              </a:rPr>
              <a:t>1</a:t>
            </a:r>
            <a:r>
              <a:rPr i="1" lang="en-US" sz="2200" u="none">
                <a:solidFill>
                  <a:schemeClr val="dk1"/>
                </a:solidFill>
                <a:latin typeface="Times New Roman"/>
                <a:ea typeface="Times New Roman"/>
                <a:cs typeface="Times New Roman"/>
                <a:sym typeface="Times New Roman"/>
              </a:rPr>
              <a:t> is a uniformly </a:t>
            </a:r>
            <a:r>
              <a:rPr i="0" lang="en-US" sz="2200" u="none">
                <a:solidFill>
                  <a:schemeClr val="dk1"/>
                </a:solidFill>
                <a:latin typeface="Times New Roman"/>
                <a:ea typeface="Times New Roman"/>
                <a:cs typeface="Times New Roman"/>
                <a:sym typeface="Times New Roman"/>
              </a:rPr>
              <a:t>distributed random variable. </a:t>
            </a:r>
            <a:endParaRPr sz="2200">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i="0" sz="2200" u="none">
              <a:solidFill>
                <a:schemeClr val="dk1"/>
              </a:solidFill>
              <a:latin typeface="Times New Roman"/>
              <a:ea typeface="Times New Roman"/>
              <a:cs typeface="Times New Roman"/>
              <a:sym typeface="Times New Roman"/>
            </a:endParaRPr>
          </a:p>
        </p:txBody>
      </p:sp>
      <p:pic>
        <p:nvPicPr>
          <p:cNvPr id="112" name="Google Shape;112;p6"/>
          <p:cNvPicPr preferRelativeResize="0"/>
          <p:nvPr/>
        </p:nvPicPr>
        <p:blipFill rotWithShape="1">
          <a:blip r:embed="rId3">
            <a:alphaModFix/>
          </a:blip>
          <a:srcRect b="0" l="0" r="0" t="0"/>
          <a:stretch/>
        </p:blipFill>
        <p:spPr>
          <a:xfrm>
            <a:off x="2133600" y="3096125"/>
            <a:ext cx="6858000" cy="838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7"/>
          <p:cNvSpPr txBox="1"/>
          <p:nvPr>
            <p:ph idx="1" type="body"/>
          </p:nvPr>
        </p:nvSpPr>
        <p:spPr>
          <a:xfrm>
            <a:off x="152400" y="228600"/>
            <a:ext cx="8763000" cy="1447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i="1" lang="en-US" sz="2400" u="none">
                <a:solidFill>
                  <a:schemeClr val="dk1"/>
                </a:solidFill>
                <a:latin typeface="Times New Roman"/>
                <a:ea typeface="Times New Roman"/>
                <a:cs typeface="Times New Roman"/>
                <a:sym typeface="Times New Roman"/>
              </a:rPr>
              <a:t>U</a:t>
            </a:r>
            <a:r>
              <a:rPr baseline="-25000" i="1" lang="en-US" sz="2400" u="none">
                <a:solidFill>
                  <a:schemeClr val="dk1"/>
                </a:solidFill>
                <a:latin typeface="Times New Roman"/>
                <a:ea typeface="Times New Roman"/>
                <a:cs typeface="Times New Roman"/>
                <a:sym typeface="Times New Roman"/>
              </a:rPr>
              <a:t>2</a:t>
            </a:r>
            <a:r>
              <a:rPr i="1" lang="en-US" sz="2400" u="none">
                <a:solidFill>
                  <a:schemeClr val="dk1"/>
                </a:solidFill>
                <a:latin typeface="Times New Roman"/>
                <a:ea typeface="Times New Roman"/>
                <a:cs typeface="Times New Roman"/>
                <a:sym typeface="Times New Roman"/>
              </a:rPr>
              <a:t> is another uniformly </a:t>
            </a:r>
            <a:r>
              <a:rPr i="0" lang="en-US" sz="2400" u="none">
                <a:solidFill>
                  <a:schemeClr val="dk1"/>
                </a:solidFill>
                <a:latin typeface="Times New Roman"/>
                <a:ea typeface="Times New Roman"/>
                <a:cs typeface="Times New Roman"/>
                <a:sym typeface="Times New Roman"/>
              </a:rPr>
              <a:t>distributed random variable, and which has solution </a:t>
            </a:r>
            <a:r>
              <a:rPr i="1" lang="en-US" sz="2400" u="none">
                <a:solidFill>
                  <a:schemeClr val="dk1"/>
                </a:solidFill>
                <a:latin typeface="Times New Roman"/>
                <a:ea typeface="Times New Roman"/>
                <a:cs typeface="Times New Roman"/>
                <a:sym typeface="Times New Roman"/>
              </a:rPr>
              <a:t>r = </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One algorithm to </a:t>
            </a:r>
            <a:r>
              <a:rPr i="0" lang="en-US" sz="2400" u="sng">
                <a:solidFill>
                  <a:schemeClr val="hlink"/>
                </a:solidFill>
                <a:latin typeface="Times New Roman"/>
                <a:ea typeface="Times New Roman"/>
                <a:cs typeface="Times New Roman"/>
                <a:sym typeface="Times New Roman"/>
                <a:hlinkClick r:id="rId3"/>
              </a:rPr>
              <a:t>generate</a:t>
            </a:r>
            <a:r>
              <a:rPr i="0" lang="en-US" sz="2400" u="none">
                <a:solidFill>
                  <a:schemeClr val="dk1"/>
                </a:solidFill>
                <a:latin typeface="Times New Roman"/>
                <a:ea typeface="Times New Roman"/>
                <a:cs typeface="Times New Roman"/>
                <a:sym typeface="Times New Roman"/>
              </a:rPr>
              <a:t> the Gaussian variables is:</a:t>
            </a:r>
            <a:endParaRPr>
              <a:latin typeface="Times New Roman"/>
              <a:ea typeface="Times New Roman"/>
              <a:cs typeface="Times New Roman"/>
              <a:sym typeface="Times New Roman"/>
            </a:endParaRPr>
          </a:p>
        </p:txBody>
      </p:sp>
      <p:pic>
        <p:nvPicPr>
          <p:cNvPr id="118" name="Google Shape;118;p7"/>
          <p:cNvPicPr preferRelativeResize="0"/>
          <p:nvPr/>
        </p:nvPicPr>
        <p:blipFill rotWithShape="1">
          <a:blip r:embed="rId4">
            <a:alphaModFix/>
          </a:blip>
          <a:srcRect b="0" l="0" r="0" t="0"/>
          <a:stretch/>
        </p:blipFill>
        <p:spPr>
          <a:xfrm>
            <a:off x="152400" y="1600200"/>
            <a:ext cx="8915400" cy="2362200"/>
          </a:xfrm>
          <a:prstGeom prst="rect">
            <a:avLst/>
          </a:prstGeom>
          <a:noFill/>
          <a:ln>
            <a:noFill/>
          </a:ln>
        </p:spPr>
      </p:pic>
      <p:pic>
        <p:nvPicPr>
          <p:cNvPr id="119" name="Google Shape;119;p7"/>
          <p:cNvPicPr preferRelativeResize="0"/>
          <p:nvPr/>
        </p:nvPicPr>
        <p:blipFill rotWithShape="1">
          <a:blip r:embed="rId5">
            <a:alphaModFix/>
          </a:blip>
          <a:srcRect b="0" l="0" r="0" t="0"/>
          <a:stretch/>
        </p:blipFill>
        <p:spPr>
          <a:xfrm>
            <a:off x="2590800" y="762000"/>
            <a:ext cx="838200" cy="390525"/>
          </a:xfrm>
          <a:prstGeom prst="rect">
            <a:avLst/>
          </a:prstGeom>
          <a:noFill/>
          <a:ln>
            <a:noFill/>
          </a:ln>
        </p:spPr>
      </p:pic>
      <p:sp>
        <p:nvSpPr>
          <p:cNvPr id="120" name="Google Shape;120;p7"/>
          <p:cNvSpPr txBox="1"/>
          <p:nvPr/>
        </p:nvSpPr>
        <p:spPr>
          <a:xfrm>
            <a:off x="76200" y="3951287"/>
            <a:ext cx="8915400" cy="2678100"/>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Times New Roman"/>
              <a:buChar char="•"/>
            </a:pPr>
            <a:r>
              <a:rPr i="0" lang="en-US" sz="2400" u="none" cap="none" strike="noStrike">
                <a:solidFill>
                  <a:schemeClr val="dk1"/>
                </a:solidFill>
                <a:latin typeface="Times New Roman"/>
                <a:ea typeface="Times New Roman"/>
                <a:cs typeface="Times New Roman"/>
                <a:sym typeface="Times New Roman"/>
              </a:rPr>
              <a:t>Other approach to compute random variables is to pick the two uniform random values and scale them to lie between -1 and 1, and to interpret them as a point in the plane. </a:t>
            </a:r>
            <a:endParaRPr>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i="0" lang="en-US" sz="2400" u="none" cap="none" strike="noStrike">
                <a:solidFill>
                  <a:schemeClr val="dk1"/>
                </a:solidFill>
                <a:latin typeface="Times New Roman"/>
                <a:ea typeface="Times New Roman"/>
                <a:cs typeface="Times New Roman"/>
                <a:sym typeface="Times New Roman"/>
              </a:rPr>
              <a:t>If this point is outside the unit circle (</a:t>
            </a:r>
            <a:r>
              <a:rPr i="1" lang="en-US" sz="2400" u="none" cap="none" strike="noStrike">
                <a:solidFill>
                  <a:schemeClr val="dk1"/>
                </a:solidFill>
                <a:latin typeface="Times New Roman"/>
                <a:ea typeface="Times New Roman"/>
                <a:cs typeface="Times New Roman"/>
                <a:sym typeface="Times New Roman"/>
              </a:rPr>
              <a:t>w</a:t>
            </a:r>
            <a:r>
              <a:rPr baseline="30000" i="1" lang="en-US" sz="2400" u="none" cap="none" strike="noStrike">
                <a:solidFill>
                  <a:schemeClr val="dk1"/>
                </a:solidFill>
                <a:latin typeface="Times New Roman"/>
                <a:ea typeface="Times New Roman"/>
                <a:cs typeface="Times New Roman"/>
                <a:sym typeface="Times New Roman"/>
              </a:rPr>
              <a:t>2</a:t>
            </a:r>
            <a:r>
              <a:rPr i="1" lang="en-US" sz="2400" u="none" cap="none" strike="noStrike">
                <a:solidFill>
                  <a:schemeClr val="dk1"/>
                </a:solidFill>
                <a:latin typeface="Times New Roman"/>
                <a:ea typeface="Times New Roman"/>
                <a:cs typeface="Times New Roman"/>
                <a:sym typeface="Times New Roman"/>
              </a:rPr>
              <a:t> = U</a:t>
            </a:r>
            <a:r>
              <a:rPr baseline="-25000" i="1" lang="en-US" sz="2400" u="none" cap="none" strike="noStrike">
                <a:solidFill>
                  <a:schemeClr val="dk1"/>
                </a:solidFill>
                <a:latin typeface="Times New Roman"/>
                <a:ea typeface="Times New Roman"/>
                <a:cs typeface="Times New Roman"/>
                <a:sym typeface="Times New Roman"/>
              </a:rPr>
              <a:t>1</a:t>
            </a:r>
            <a:r>
              <a:rPr baseline="30000" i="1" lang="en-US" sz="2400" u="none" cap="none" strike="noStrike">
                <a:solidFill>
                  <a:schemeClr val="dk1"/>
                </a:solidFill>
                <a:latin typeface="Times New Roman"/>
                <a:ea typeface="Times New Roman"/>
                <a:cs typeface="Times New Roman"/>
                <a:sym typeface="Times New Roman"/>
              </a:rPr>
              <a:t>2</a:t>
            </a:r>
            <a:r>
              <a:rPr i="1" lang="en-US" sz="2400" u="none" cap="none" strike="noStrike">
                <a:solidFill>
                  <a:schemeClr val="dk1"/>
                </a:solidFill>
                <a:latin typeface="Times New Roman"/>
                <a:ea typeface="Times New Roman"/>
                <a:cs typeface="Times New Roman"/>
                <a:sym typeface="Times New Roman"/>
              </a:rPr>
              <a:t> </a:t>
            </a:r>
            <a:r>
              <a:rPr i="0" lang="en-US" sz="2400" u="none" cap="none" strike="noStrike">
                <a:solidFill>
                  <a:schemeClr val="dk1"/>
                </a:solidFill>
                <a:latin typeface="Times New Roman"/>
                <a:ea typeface="Times New Roman"/>
                <a:cs typeface="Times New Roman"/>
                <a:sym typeface="Times New Roman"/>
              </a:rPr>
              <a:t>+</a:t>
            </a:r>
            <a:r>
              <a:rPr i="1" lang="en-US" sz="2400" u="none" cap="none" strike="noStrike">
                <a:solidFill>
                  <a:schemeClr val="dk1"/>
                </a:solidFill>
                <a:latin typeface="Times New Roman"/>
                <a:ea typeface="Times New Roman"/>
                <a:cs typeface="Times New Roman"/>
                <a:sym typeface="Times New Roman"/>
              </a:rPr>
              <a:t>U</a:t>
            </a:r>
            <a:r>
              <a:rPr baseline="-25000" i="1" lang="en-US" sz="2400" u="none" cap="none" strike="noStrike">
                <a:solidFill>
                  <a:schemeClr val="dk1"/>
                </a:solidFill>
                <a:latin typeface="Times New Roman"/>
                <a:ea typeface="Times New Roman"/>
                <a:cs typeface="Times New Roman"/>
                <a:sym typeface="Times New Roman"/>
              </a:rPr>
              <a:t>2</a:t>
            </a:r>
            <a:r>
              <a:rPr baseline="30000" i="0" lang="en-US" sz="2400" u="none" cap="none" strike="noStrike">
                <a:solidFill>
                  <a:schemeClr val="dk1"/>
                </a:solidFill>
                <a:latin typeface="Times New Roman"/>
                <a:ea typeface="Times New Roman"/>
                <a:cs typeface="Times New Roman"/>
                <a:sym typeface="Times New Roman"/>
              </a:rPr>
              <a:t>2</a:t>
            </a:r>
            <a:r>
              <a:rPr i="0" lang="en-US" sz="2400" u="none" cap="none" strike="noStrike">
                <a:solidFill>
                  <a:schemeClr val="dk1"/>
                </a:solidFill>
                <a:latin typeface="Times New Roman"/>
                <a:ea typeface="Times New Roman"/>
                <a:cs typeface="Times New Roman"/>
                <a:sym typeface="Times New Roman"/>
              </a:rPr>
              <a:t> </a:t>
            </a:r>
            <a:r>
              <a:rPr i="1" lang="en-US" sz="2400" u="none" cap="none" strike="noStrike">
                <a:solidFill>
                  <a:schemeClr val="dk1"/>
                </a:solidFill>
                <a:latin typeface="Times New Roman"/>
                <a:ea typeface="Times New Roman"/>
                <a:cs typeface="Times New Roman"/>
                <a:sym typeface="Times New Roman"/>
              </a:rPr>
              <a:t>&gt; 1) then it is discarded, and another point picked until </a:t>
            </a:r>
            <a:r>
              <a:rPr i="0" lang="en-US" sz="2400" u="none" cap="none" strike="noStrike">
                <a:solidFill>
                  <a:schemeClr val="dk1"/>
                </a:solidFill>
                <a:latin typeface="Times New Roman"/>
                <a:ea typeface="Times New Roman"/>
                <a:cs typeface="Times New Roman"/>
                <a:sym typeface="Times New Roman"/>
              </a:rPr>
              <a:t>it is within the circle. </a:t>
            </a:r>
            <a:endParaRPr>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i="0" lang="en-US" sz="2400" u="none" cap="none" strike="noStrike">
                <a:solidFill>
                  <a:schemeClr val="dk1"/>
                </a:solidFill>
                <a:latin typeface="Times New Roman"/>
                <a:ea typeface="Times New Roman"/>
                <a:cs typeface="Times New Roman"/>
                <a:sym typeface="Times New Roman"/>
              </a:rPr>
              <a:t>Then the transformation is        </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2400" u="none">
              <a:solidFill>
                <a:schemeClr val="dk1"/>
              </a:solidFill>
              <a:latin typeface="Times New Roman"/>
              <a:ea typeface="Times New Roman"/>
              <a:cs typeface="Times New Roman"/>
              <a:sym typeface="Times New Roman"/>
            </a:endParaRPr>
          </a:p>
        </p:txBody>
      </p:sp>
      <p:sp>
        <p:nvSpPr>
          <p:cNvPr id="121" name="Google Shape;121;p7"/>
          <p:cNvSpPr txBox="1"/>
          <p:nvPr/>
        </p:nvSpPr>
        <p:spPr>
          <a:xfrm>
            <a:off x="4953000" y="5867400"/>
            <a:ext cx="2286000" cy="83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idx="1" type="body"/>
          </p:nvPr>
        </p:nvSpPr>
        <p:spPr>
          <a:xfrm>
            <a:off x="228600" y="228600"/>
            <a:ext cx="8686800" cy="6400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Similarly for </a:t>
            </a:r>
            <a:r>
              <a:rPr i="1" lang="en-US" sz="2400" u="none">
                <a:solidFill>
                  <a:schemeClr val="dk1"/>
                </a:solidFill>
                <a:latin typeface="Times New Roman"/>
                <a:ea typeface="Times New Roman"/>
                <a:cs typeface="Times New Roman"/>
                <a:sym typeface="Times New Roman"/>
              </a:rPr>
              <a:t>y  with U</a:t>
            </a:r>
            <a:r>
              <a:rPr baseline="-25000" i="1" lang="en-US" sz="2400" u="none">
                <a:solidFill>
                  <a:schemeClr val="dk1"/>
                </a:solidFill>
                <a:latin typeface="Times New Roman"/>
                <a:ea typeface="Times New Roman"/>
                <a:cs typeface="Times New Roman"/>
                <a:sym typeface="Times New Roman"/>
              </a:rPr>
              <a:t>2</a:t>
            </a:r>
            <a:r>
              <a:rPr i="1" lang="en-US" sz="2400" u="none">
                <a:solidFill>
                  <a:schemeClr val="dk1"/>
                </a:solidFill>
                <a:latin typeface="Times New Roman"/>
                <a:ea typeface="Times New Roman"/>
                <a:cs typeface="Times New Roman"/>
                <a:sym typeface="Times New Roman"/>
              </a:rPr>
              <a:t> also provides the variables.</a:t>
            </a:r>
            <a:endParaRPr sz="2400">
              <a:latin typeface="Times New Roman"/>
              <a:ea typeface="Times New Roman"/>
              <a:cs typeface="Times New Roman"/>
              <a:sym typeface="Times New Roman"/>
            </a:endParaRPr>
          </a:p>
          <a:p>
            <a:pPr indent="-349250" lvl="0" marL="342900" marR="0" rtl="0" algn="just">
              <a:lnSpc>
                <a:spcPct val="100000"/>
              </a:lnSpc>
              <a:spcBef>
                <a:spcPts val="46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difference between the methods is that one requires the computation of sin(Ɵ), while the other requires that some points are sampled and discarded. </a:t>
            </a:r>
            <a:endParaRPr sz="2400">
              <a:latin typeface="Times New Roman"/>
              <a:ea typeface="Times New Roman"/>
              <a:cs typeface="Times New Roman"/>
              <a:sym typeface="Times New Roman"/>
            </a:endParaRPr>
          </a:p>
          <a:p>
            <a:pPr indent="-349250" lvl="0" marL="342900" marR="0" rtl="0" algn="just">
              <a:lnSpc>
                <a:spcPct val="100000"/>
              </a:lnSpc>
              <a:spcBef>
                <a:spcPts val="46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Which is faster depends upon the programming language and computer architecture.</a:t>
            </a:r>
            <a:endParaRPr sz="2400">
              <a:latin typeface="Times New Roman"/>
              <a:ea typeface="Times New Roman"/>
              <a:cs typeface="Times New Roman"/>
              <a:sym typeface="Times New Roman"/>
            </a:endParaRPr>
          </a:p>
          <a:p>
            <a:pPr indent="-349250" lvl="0" marL="342900" marR="0" rtl="0" algn="just">
              <a:lnSpc>
                <a:spcPct val="100000"/>
              </a:lnSpc>
              <a:spcBef>
                <a:spcPts val="46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A plot of 1,000 samples created by the Box–Muller scheme along with the zero mean, unit variance Gaussian line is shown in Figure 15.1.</a:t>
            </a:r>
            <a:endParaRPr sz="2400">
              <a:latin typeface="Times New Roman"/>
              <a:ea typeface="Times New Roman"/>
              <a:cs typeface="Times New Roman"/>
              <a:sym typeface="Times New Roman"/>
            </a:endParaRPr>
          </a:p>
        </p:txBody>
      </p:sp>
      <p:sp>
        <p:nvSpPr>
          <p:cNvPr id="127" name="Google Shape;127;p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28" name="Google Shape;128;p8"/>
          <p:cNvPicPr preferRelativeResize="0"/>
          <p:nvPr/>
        </p:nvPicPr>
        <p:blipFill rotWithShape="1">
          <a:blip r:embed="rId3">
            <a:alphaModFix/>
          </a:blip>
          <a:srcRect b="0" l="0" r="0" t="0"/>
          <a:stretch/>
        </p:blipFill>
        <p:spPr>
          <a:xfrm>
            <a:off x="0" y="3733800"/>
            <a:ext cx="4876800" cy="3124200"/>
          </a:xfrm>
          <a:prstGeom prst="rect">
            <a:avLst/>
          </a:prstGeom>
          <a:noFill/>
          <a:ln>
            <a:noFill/>
          </a:ln>
        </p:spPr>
      </p:pic>
      <p:sp>
        <p:nvSpPr>
          <p:cNvPr id="129" name="Google Shape;129;p8"/>
          <p:cNvSpPr txBox="1"/>
          <p:nvPr/>
        </p:nvSpPr>
        <p:spPr>
          <a:xfrm>
            <a:off x="4953000" y="4160837"/>
            <a:ext cx="4038600" cy="14779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FIGURE 15.1 Histogram of 1,000 Gaussian samples created by the Box–Muller scheme. The line gives the Gaussian distribution with zero mean and unit variance.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9"/>
          <p:cNvSpPr txBox="1"/>
          <p:nvPr>
            <p:ph idx="1" type="body"/>
          </p:nvPr>
        </p:nvSpPr>
        <p:spPr>
          <a:xfrm>
            <a:off x="152400" y="228600"/>
            <a:ext cx="8839200" cy="6400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None/>
            </a:pPr>
            <a:r>
              <a:t/>
            </a:r>
            <a:endParaRPr b="1"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Arial"/>
              <a:buNone/>
            </a:pPr>
            <a:r>
              <a:rPr b="1" i="0" lang="en-US" sz="2400" u="none">
                <a:solidFill>
                  <a:schemeClr val="dk1"/>
                </a:solidFill>
                <a:latin typeface="Times New Roman"/>
                <a:ea typeface="Times New Roman"/>
                <a:cs typeface="Times New Roman"/>
                <a:sym typeface="Times New Roman"/>
              </a:rPr>
              <a:t>MONTE CARLO OR BUST</a:t>
            </a:r>
            <a:endParaRPr sz="2400">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Monte Carlo, a tiny principality on the Mediterranean coast between France and Italy, is famous mostly for its casino and Grand Prix race. </a:t>
            </a:r>
            <a:endParaRPr sz="2400">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Rich and famous flock to lose money there, they are unlikely to know that the principality also has the dubious honour of having an important statistical principle named after it. </a:t>
            </a:r>
            <a:endParaRPr sz="2400">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Arial"/>
              <a:buChar char="•"/>
            </a:pPr>
            <a:r>
              <a:rPr i="0" lang="en-US" sz="2400" u="none">
                <a:solidFill>
                  <a:schemeClr val="dk1"/>
                </a:solidFill>
                <a:latin typeface="Times New Roman"/>
                <a:ea typeface="Times New Roman"/>
                <a:cs typeface="Times New Roman"/>
                <a:sym typeface="Times New Roman"/>
              </a:rPr>
              <a:t>The Monte Carlo principle states that if you take independent and identically distributed (i.e., well-behaved) samples </a:t>
            </a:r>
            <a:r>
              <a:rPr b="1" i="0"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a:t>
            </a:r>
            <a:r>
              <a:rPr b="1" baseline="30000" i="1" lang="en-US" sz="2400" u="none">
                <a:solidFill>
                  <a:schemeClr val="dk1"/>
                </a:solidFill>
                <a:latin typeface="Times New Roman"/>
                <a:ea typeface="Times New Roman"/>
                <a:cs typeface="Times New Roman"/>
                <a:sym typeface="Times New Roman"/>
              </a:rPr>
              <a:t>i) </a:t>
            </a:r>
            <a:r>
              <a:rPr i="0" lang="en-US" sz="2400" u="none">
                <a:solidFill>
                  <a:schemeClr val="dk1"/>
                </a:solidFill>
                <a:latin typeface="Times New Roman"/>
                <a:ea typeface="Times New Roman"/>
                <a:cs typeface="Times New Roman"/>
                <a:sym typeface="Times New Roman"/>
              </a:rPr>
              <a:t>from an unknown high-dimensional distribution </a:t>
            </a:r>
            <a:r>
              <a:rPr b="1" i="1" lang="en-US" sz="2400" u="none">
                <a:solidFill>
                  <a:schemeClr val="dk1"/>
                </a:solidFill>
                <a:latin typeface="Times New Roman"/>
                <a:ea typeface="Times New Roman"/>
                <a:cs typeface="Times New Roman"/>
                <a:sym typeface="Times New Roman"/>
              </a:rPr>
              <a:t>p</a:t>
            </a:r>
            <a:r>
              <a:rPr i="1" lang="en-US" sz="2400" u="none">
                <a:solidFill>
                  <a:schemeClr val="dk1"/>
                </a:solidFill>
                <a:latin typeface="Times New Roman"/>
                <a:ea typeface="Times New Roman"/>
                <a:cs typeface="Times New Roman"/>
                <a:sym typeface="Times New Roman"/>
              </a:rPr>
              <a:t>(</a:t>
            </a:r>
            <a:r>
              <a:rPr b="1" i="1" lang="en-US" sz="2400" u="none">
                <a:solidFill>
                  <a:schemeClr val="dk1"/>
                </a:solidFill>
                <a:latin typeface="Times New Roman"/>
                <a:ea typeface="Times New Roman"/>
                <a:cs typeface="Times New Roman"/>
                <a:sym typeface="Times New Roman"/>
              </a:rPr>
              <a:t>x), </a:t>
            </a:r>
            <a:r>
              <a:rPr i="0" lang="en-US" sz="2400" u="none">
                <a:solidFill>
                  <a:schemeClr val="dk1"/>
                </a:solidFill>
                <a:latin typeface="Times New Roman"/>
                <a:ea typeface="Times New Roman"/>
                <a:cs typeface="Times New Roman"/>
                <a:sym typeface="Times New Roman"/>
              </a:rPr>
              <a:t>then as the number of samples gets larger the sample distribution will converge to the true distribution.</a:t>
            </a:r>
            <a:endParaRPr sz="2400">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10"/>
          <p:cNvPicPr preferRelativeResize="0"/>
          <p:nvPr/>
        </p:nvPicPr>
        <p:blipFill rotWithShape="1">
          <a:blip r:embed="rId3">
            <a:alphaModFix/>
          </a:blip>
          <a:srcRect b="0" l="0" r="0" t="0"/>
          <a:stretch/>
        </p:blipFill>
        <p:spPr>
          <a:xfrm>
            <a:off x="1258887" y="692150"/>
            <a:ext cx="5791200" cy="1944687"/>
          </a:xfrm>
          <a:prstGeom prst="rect">
            <a:avLst/>
          </a:prstGeom>
          <a:noFill/>
          <a:ln>
            <a:noFill/>
          </a:ln>
        </p:spPr>
      </p:pic>
      <p:pic>
        <p:nvPicPr>
          <p:cNvPr id="140" name="Google Shape;140;p10"/>
          <p:cNvPicPr preferRelativeResize="0"/>
          <p:nvPr/>
        </p:nvPicPr>
        <p:blipFill rotWithShape="1">
          <a:blip r:embed="rId4">
            <a:alphaModFix/>
          </a:blip>
          <a:srcRect b="0" l="0" r="0" t="0"/>
          <a:stretch/>
        </p:blipFill>
        <p:spPr>
          <a:xfrm>
            <a:off x="1258875" y="4705412"/>
            <a:ext cx="7239000" cy="1839912"/>
          </a:xfrm>
          <a:prstGeom prst="rect">
            <a:avLst/>
          </a:prstGeom>
          <a:noFill/>
          <a:ln>
            <a:noFill/>
          </a:ln>
        </p:spPr>
      </p:pic>
      <p:pic>
        <p:nvPicPr>
          <p:cNvPr id="141" name="Google Shape;141;p10"/>
          <p:cNvPicPr preferRelativeResize="0"/>
          <p:nvPr/>
        </p:nvPicPr>
        <p:blipFill rotWithShape="1">
          <a:blip r:embed="rId5">
            <a:alphaModFix/>
          </a:blip>
          <a:srcRect b="0" l="0" r="0" t="0"/>
          <a:stretch/>
        </p:blipFill>
        <p:spPr>
          <a:xfrm>
            <a:off x="304800" y="2708275"/>
            <a:ext cx="8534400" cy="2376487"/>
          </a:xfrm>
          <a:prstGeom prst="rect">
            <a:avLst/>
          </a:prstGeom>
          <a:noFill/>
          <a:ln>
            <a:noFill/>
          </a:ln>
        </p:spPr>
      </p:pic>
      <p:sp>
        <p:nvSpPr>
          <p:cNvPr id="142" name="Google Shape;142;p10"/>
          <p:cNvSpPr txBox="1"/>
          <p:nvPr/>
        </p:nvSpPr>
        <p:spPr>
          <a:xfrm>
            <a:off x="7512000" y="235000"/>
            <a:ext cx="1327200" cy="12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u="sng">
                <a:solidFill>
                  <a:schemeClr val="hlink"/>
                </a:solidFill>
                <a:latin typeface="Calibri"/>
                <a:ea typeface="Calibri"/>
                <a:cs typeface="Calibri"/>
                <a:sym typeface="Calibri"/>
                <a:hlinkClick r:id="rId6"/>
              </a:rPr>
              <a:t>Dirac</a:t>
            </a:r>
            <a:r>
              <a:rPr lang="en-US" sz="3200">
                <a:solidFill>
                  <a:schemeClr val="dk1"/>
                </a:solidFill>
                <a:latin typeface="Calibri"/>
                <a:ea typeface="Calibri"/>
                <a:cs typeface="Calibri"/>
                <a:sym typeface="Calibri"/>
              </a:rPr>
              <a:t>   d</a:t>
            </a:r>
            <a:r>
              <a:rPr lang="en-US" sz="3200" u="sng">
                <a:solidFill>
                  <a:schemeClr val="hlink"/>
                </a:solidFill>
                <a:latin typeface="Calibri"/>
                <a:ea typeface="Calibri"/>
                <a:cs typeface="Calibri"/>
                <a:sym typeface="Calibri"/>
                <a:hlinkClick r:id="rId7"/>
              </a:rPr>
              <a:t>elta</a:t>
            </a:r>
            <a:endParaRPr sz="3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1"/>
          <p:cNvSpPr txBox="1"/>
          <p:nvPr>
            <p:ph idx="1" type="body"/>
          </p:nvPr>
        </p:nvSpPr>
        <p:spPr>
          <a:xfrm>
            <a:off x="228600" y="228600"/>
            <a:ext cx="8686800" cy="6400800"/>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9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fact that the sample distribution becomes more and more true as samples are more likely to be drawn from parts of the distribution that have high probability. </a:t>
            </a:r>
            <a:endParaRPr sz="2400">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Arial"/>
              <a:buChar char="•"/>
            </a:pPr>
            <a:r>
              <a:rPr i="0" lang="en-US" sz="2400" u="none">
                <a:solidFill>
                  <a:schemeClr val="dk1"/>
                </a:solidFill>
                <a:latin typeface="Times New Roman"/>
                <a:ea typeface="Times New Roman"/>
                <a:cs typeface="Times New Roman"/>
                <a:sym typeface="Times New Roman"/>
              </a:rPr>
              <a:t>The whole of probability theory was originally developed by some of the great French mathematicians, such as </a:t>
            </a:r>
            <a:r>
              <a:rPr b="1" i="0" lang="en-US" sz="2400" u="none">
                <a:solidFill>
                  <a:schemeClr val="dk1"/>
                </a:solidFill>
                <a:latin typeface="Times New Roman"/>
                <a:ea typeface="Times New Roman"/>
                <a:cs typeface="Times New Roman"/>
                <a:sym typeface="Times New Roman"/>
              </a:rPr>
              <a:t>Fermat</a:t>
            </a:r>
            <a:r>
              <a:rPr i="0" lang="en-US" sz="2400" u="none">
                <a:solidFill>
                  <a:schemeClr val="dk1"/>
                </a:solidFill>
                <a:latin typeface="Times New Roman"/>
                <a:ea typeface="Times New Roman"/>
                <a:cs typeface="Times New Roman"/>
                <a:sym typeface="Times New Roman"/>
              </a:rPr>
              <a:t>, in order to reason about games of chance.</a:t>
            </a:r>
            <a:endParaRPr sz="2400">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Monte Carlo principle tells you that it is exactly what you should be doing. </a:t>
            </a:r>
            <a:endParaRPr sz="2400">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Arial"/>
              <a:buChar char="•"/>
            </a:pPr>
            <a:r>
              <a:rPr i="0" lang="en-US" sz="2400" u="none">
                <a:solidFill>
                  <a:schemeClr val="dk1"/>
                </a:solidFill>
                <a:latin typeface="Times New Roman"/>
                <a:ea typeface="Times New Roman"/>
                <a:cs typeface="Times New Roman"/>
                <a:sym typeface="Times New Roman"/>
              </a:rPr>
              <a:t>Suppose that you play ten </a:t>
            </a:r>
            <a:r>
              <a:rPr b="1" i="0" lang="en-US" sz="2400" u="none">
                <a:solidFill>
                  <a:schemeClr val="dk1"/>
                </a:solidFill>
                <a:latin typeface="Times New Roman"/>
                <a:ea typeface="Times New Roman"/>
                <a:cs typeface="Times New Roman"/>
                <a:sym typeface="Times New Roman"/>
              </a:rPr>
              <a:t>games of patience </a:t>
            </a:r>
            <a:r>
              <a:rPr i="0" lang="en-US" sz="2400" u="none">
                <a:solidFill>
                  <a:schemeClr val="dk1"/>
                </a:solidFill>
                <a:latin typeface="Times New Roman"/>
                <a:ea typeface="Times New Roman"/>
                <a:cs typeface="Times New Roman"/>
                <a:sym typeface="Times New Roman"/>
              </a:rPr>
              <a:t>(or </a:t>
            </a:r>
            <a:r>
              <a:rPr b="1" i="0" lang="en-US" sz="2400" u="none">
                <a:solidFill>
                  <a:schemeClr val="dk1"/>
                </a:solidFill>
                <a:latin typeface="Times New Roman"/>
                <a:ea typeface="Times New Roman"/>
                <a:cs typeface="Times New Roman"/>
                <a:sym typeface="Times New Roman"/>
              </a:rPr>
              <a:t>solitaire</a:t>
            </a:r>
            <a:r>
              <a:rPr i="0" lang="en-US" sz="2400" u="none">
                <a:solidFill>
                  <a:schemeClr val="dk1"/>
                </a:solidFill>
                <a:latin typeface="Times New Roman"/>
                <a:ea typeface="Times New Roman"/>
                <a:cs typeface="Times New Roman"/>
                <a:sym typeface="Times New Roman"/>
              </a:rPr>
              <a:t> is a genre of card </a:t>
            </a:r>
            <a:r>
              <a:rPr b="1" i="0" lang="en-US" sz="2400" u="none">
                <a:solidFill>
                  <a:schemeClr val="dk1"/>
                </a:solidFill>
                <a:latin typeface="Times New Roman"/>
                <a:ea typeface="Times New Roman"/>
                <a:cs typeface="Times New Roman"/>
                <a:sym typeface="Times New Roman"/>
              </a:rPr>
              <a:t>games</a:t>
            </a:r>
            <a:r>
              <a:rPr i="0" lang="en-US" sz="2400" u="none">
                <a:solidFill>
                  <a:schemeClr val="dk1"/>
                </a:solidFill>
                <a:latin typeface="Times New Roman"/>
                <a:ea typeface="Times New Roman"/>
                <a:cs typeface="Times New Roman"/>
                <a:sym typeface="Times New Roman"/>
              </a:rPr>
              <a:t>) and six of them come out i.e. approximately 60% of the patience games will do well.</a:t>
            </a:r>
            <a:endParaRPr sz="2400">
              <a:latin typeface="Times New Roman"/>
              <a:ea typeface="Times New Roman"/>
              <a:cs typeface="Times New Roman"/>
              <a:sym typeface="Times New Roman"/>
            </a:endParaRPr>
          </a:p>
          <a:p>
            <a:pPr indent="-342900" lvl="0" marL="342900" marR="0" rtl="0" algn="just">
              <a:lnSpc>
                <a:spcPct val="90000"/>
              </a:lnSpc>
              <a:spcBef>
                <a:spcPts val="560"/>
              </a:spcBef>
              <a:spcAft>
                <a:spcPts val="0"/>
              </a:spcAft>
              <a:buClr>
                <a:schemeClr val="dk1"/>
              </a:buClr>
              <a:buSzPts val="2800"/>
              <a:buFont typeface="Arial"/>
              <a:buNone/>
            </a:pPr>
            <a:r>
              <a:t/>
            </a:r>
            <a:endParaRPr b="1" i="0" sz="2400" u="none">
              <a:solidFill>
                <a:schemeClr val="dk1"/>
              </a:solidFill>
              <a:latin typeface="Times New Roman"/>
              <a:ea typeface="Times New Roman"/>
              <a:cs typeface="Times New Roman"/>
              <a:sym typeface="Times New Roman"/>
            </a:endParaRPr>
          </a:p>
          <a:p>
            <a:pPr indent="-342900" lvl="0" marL="342900" marR="0" rtl="0" algn="just">
              <a:lnSpc>
                <a:spcPct val="90000"/>
              </a:lnSpc>
              <a:spcBef>
                <a:spcPts val="560"/>
              </a:spcBef>
              <a:spcAft>
                <a:spcPts val="0"/>
              </a:spcAft>
              <a:buClr>
                <a:schemeClr val="dk1"/>
              </a:buClr>
              <a:buSzPts val="2800"/>
              <a:buFont typeface="Arial"/>
              <a:buNone/>
            </a:pPr>
            <a:r>
              <a:rPr b="1" i="0" lang="en-US" sz="2400" u="none">
                <a:solidFill>
                  <a:srgbClr val="FF0000"/>
                </a:solidFill>
                <a:latin typeface="Times New Roman"/>
                <a:ea typeface="Times New Roman"/>
                <a:cs typeface="Times New Roman"/>
                <a:sym typeface="Times New Roman"/>
              </a:rPr>
              <a:t>THE PROPOSAL DISTRIBUTION</a:t>
            </a:r>
            <a:endParaRPr sz="2400">
              <a:solidFill>
                <a:srgbClr val="FF0000"/>
              </a:solidFill>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Arial"/>
              <a:buChar char="•"/>
            </a:pPr>
            <a:r>
              <a:rPr i="0" lang="en-US" sz="2400" u="none">
                <a:solidFill>
                  <a:schemeClr val="dk1"/>
                </a:solidFill>
                <a:latin typeface="Times New Roman"/>
                <a:ea typeface="Times New Roman"/>
                <a:cs typeface="Times New Roman"/>
                <a:sym typeface="Times New Roman"/>
              </a:rPr>
              <a:t>Distribution p(x)</a:t>
            </a:r>
            <a:r>
              <a:rPr b="1" i="1" lang="en-US" sz="2400" u="none">
                <a:solidFill>
                  <a:schemeClr val="dk1"/>
                </a:solidFill>
                <a:latin typeface="Times New Roman"/>
                <a:ea typeface="Times New Roman"/>
                <a:cs typeface="Times New Roman"/>
                <a:sym typeface="Times New Roman"/>
              </a:rPr>
              <a:t> </a:t>
            </a:r>
            <a:r>
              <a:rPr i="0" lang="en-US" sz="2400" u="none">
                <a:solidFill>
                  <a:schemeClr val="dk1"/>
                </a:solidFill>
                <a:latin typeface="Times New Roman"/>
                <a:ea typeface="Times New Roman"/>
                <a:cs typeface="Times New Roman"/>
                <a:sym typeface="Times New Roman"/>
              </a:rPr>
              <a:t>that we are sampling from</a:t>
            </a:r>
            <a:r>
              <a:rPr b="1" i="1" lang="en-US" sz="2400" u="none">
                <a:solidFill>
                  <a:schemeClr val="dk1"/>
                </a:solidFill>
                <a:latin typeface="Times New Roman"/>
                <a:ea typeface="Times New Roman"/>
                <a:cs typeface="Times New Roman"/>
                <a:sym typeface="Times New Roman"/>
              </a:rPr>
              <a:t> </a:t>
            </a:r>
            <a:r>
              <a:rPr i="0" lang="en-US" sz="2400" u="none">
                <a:solidFill>
                  <a:schemeClr val="dk1"/>
                </a:solidFill>
                <a:latin typeface="Times New Roman"/>
                <a:ea typeface="Times New Roman"/>
                <a:cs typeface="Times New Roman"/>
                <a:sym typeface="Times New Roman"/>
              </a:rPr>
              <a:t>is easy (that is, not computationally expensive). </a:t>
            </a:r>
            <a:endParaRPr sz="2400">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Unfortunately, this is very rare case, but fortunately there is a way to get around this problem.</a:t>
            </a:r>
            <a:endParaRPr sz="24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12"/>
          <p:cNvPicPr preferRelativeResize="0"/>
          <p:nvPr/>
        </p:nvPicPr>
        <p:blipFill rotWithShape="1">
          <a:blip r:embed="rId3">
            <a:alphaModFix/>
          </a:blip>
          <a:srcRect b="0" l="0" r="0" t="0"/>
          <a:stretch/>
        </p:blipFill>
        <p:spPr>
          <a:xfrm>
            <a:off x="1331912" y="549275"/>
            <a:ext cx="5588000" cy="935037"/>
          </a:xfrm>
          <a:prstGeom prst="rect">
            <a:avLst/>
          </a:prstGeom>
          <a:noFill/>
          <a:ln>
            <a:noFill/>
          </a:ln>
        </p:spPr>
      </p:pic>
      <p:pic>
        <p:nvPicPr>
          <p:cNvPr id="153" name="Google Shape;153;p12"/>
          <p:cNvPicPr preferRelativeResize="0"/>
          <p:nvPr/>
        </p:nvPicPr>
        <p:blipFill rotWithShape="1">
          <a:blip r:embed="rId4">
            <a:alphaModFix/>
          </a:blip>
          <a:srcRect b="0" l="0" r="0" t="0"/>
          <a:stretch/>
        </p:blipFill>
        <p:spPr>
          <a:xfrm>
            <a:off x="152400" y="1989137"/>
            <a:ext cx="8839200" cy="48688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3"/>
          <p:cNvSpPr txBox="1"/>
          <p:nvPr>
            <p:ph idx="1" type="body"/>
          </p:nvPr>
        </p:nvSpPr>
        <p:spPr>
          <a:xfrm>
            <a:off x="228600" y="228600"/>
            <a:ext cx="8686800" cy="1524000"/>
          </a:xfrm>
          <a:prstGeom prst="rect">
            <a:avLst/>
          </a:prstGeom>
          <a:noFill/>
          <a:ln>
            <a:noFill/>
          </a:ln>
        </p:spPr>
        <p:txBody>
          <a:bodyPr anchorCtr="0" anchor="t" bIns="45700" lIns="91425" spcFirstLastPara="1" rIns="91425" wrap="square" tIns="45700">
            <a:noAutofit/>
          </a:bodyPr>
          <a:lstStyle/>
          <a:p>
            <a:pPr indent="-190500" lvl="0" marL="342900" marR="0" rtl="0" algn="just">
              <a:lnSpc>
                <a:spcPct val="100000"/>
              </a:lnSpc>
              <a:spcBef>
                <a:spcPts val="0"/>
              </a:spcBef>
              <a:spcAft>
                <a:spcPts val="0"/>
              </a:spcAft>
              <a:buClr>
                <a:schemeClr val="dk1"/>
              </a:buClr>
              <a:buSzPts val="2400"/>
              <a:buFont typeface="Arial"/>
              <a:buNone/>
            </a:pPr>
            <a:r>
              <a:t/>
            </a:r>
            <a:endParaRPr b="1" i="1"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1" i="1"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1" i="1"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1" i="1"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1" i="1" sz="2400" u="none">
              <a:solidFill>
                <a:schemeClr val="dk1"/>
              </a:solidFill>
              <a:latin typeface="Calibri"/>
              <a:ea typeface="Calibri"/>
              <a:cs typeface="Calibri"/>
              <a:sym typeface="Calibri"/>
            </a:endParaRPr>
          </a:p>
          <a:p>
            <a:pPr indent="-190500" lvl="0" marL="342900" marR="0" rtl="0" algn="l">
              <a:spcBef>
                <a:spcPts val="480"/>
              </a:spcBef>
              <a:spcAft>
                <a:spcPts val="0"/>
              </a:spcAft>
              <a:buClr>
                <a:schemeClr val="dk1"/>
              </a:buClr>
              <a:buSzPts val="2400"/>
              <a:buFont typeface="Arial"/>
              <a:buNone/>
            </a:pPr>
            <a:r>
              <a:t/>
            </a:r>
            <a:endParaRPr b="1" i="1" sz="2400" u="none">
              <a:solidFill>
                <a:schemeClr val="dk1"/>
              </a:solidFill>
              <a:latin typeface="Calibri"/>
              <a:ea typeface="Calibri"/>
              <a:cs typeface="Calibri"/>
              <a:sym typeface="Calibri"/>
            </a:endParaRPr>
          </a:p>
        </p:txBody>
      </p:sp>
      <p:pic>
        <p:nvPicPr>
          <p:cNvPr id="159" name="Google Shape;159;p13"/>
          <p:cNvPicPr preferRelativeResize="0"/>
          <p:nvPr/>
        </p:nvPicPr>
        <p:blipFill rotWithShape="1">
          <a:blip r:embed="rId3">
            <a:alphaModFix/>
          </a:blip>
          <a:srcRect b="0" l="0" r="0" t="0"/>
          <a:stretch/>
        </p:blipFill>
        <p:spPr>
          <a:xfrm>
            <a:off x="152400" y="152400"/>
            <a:ext cx="4267200" cy="2057400"/>
          </a:xfrm>
          <a:prstGeom prst="rect">
            <a:avLst/>
          </a:prstGeom>
          <a:noFill/>
          <a:ln>
            <a:noFill/>
          </a:ln>
        </p:spPr>
      </p:pic>
      <p:sp>
        <p:nvSpPr>
          <p:cNvPr id="160" name="Google Shape;160;p13"/>
          <p:cNvSpPr txBox="1"/>
          <p:nvPr/>
        </p:nvSpPr>
        <p:spPr>
          <a:xfrm>
            <a:off x="5105400" y="381000"/>
            <a:ext cx="2971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i="0" lang="en-US" sz="1800" u="none">
                <a:solidFill>
                  <a:schemeClr val="dk1"/>
                </a:solidFill>
                <a:latin typeface="Times New Roman"/>
                <a:ea typeface="Times New Roman"/>
                <a:cs typeface="Times New Roman"/>
                <a:sym typeface="Times New Roman"/>
              </a:rPr>
              <a:t>FIGURE 15.2 The proposal distribution method.</a:t>
            </a:r>
            <a:endParaRPr>
              <a:latin typeface="Times New Roman"/>
              <a:ea typeface="Times New Roman"/>
              <a:cs typeface="Times New Roman"/>
              <a:sym typeface="Times New Roman"/>
            </a:endParaRPr>
          </a:p>
        </p:txBody>
      </p:sp>
      <p:pic>
        <p:nvPicPr>
          <p:cNvPr id="161" name="Google Shape;161;p13"/>
          <p:cNvPicPr preferRelativeResize="0"/>
          <p:nvPr/>
        </p:nvPicPr>
        <p:blipFill rotWithShape="1">
          <a:blip r:embed="rId4">
            <a:alphaModFix/>
          </a:blip>
          <a:srcRect b="0" l="0" r="0" t="0"/>
          <a:stretch/>
        </p:blipFill>
        <p:spPr>
          <a:xfrm>
            <a:off x="533400" y="2590800"/>
            <a:ext cx="8077200" cy="3505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4"/>
          <p:cNvSpPr txBox="1"/>
          <p:nvPr>
            <p:ph idx="1" type="body"/>
          </p:nvPr>
        </p:nvSpPr>
        <p:spPr>
          <a:xfrm>
            <a:off x="228600" y="228600"/>
            <a:ext cx="8686800" cy="198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100"/>
              <a:buFont typeface="Times New Roman"/>
              <a:buChar char="•"/>
            </a:pPr>
            <a:r>
              <a:rPr i="0" lang="en-US" sz="2100" u="none">
                <a:solidFill>
                  <a:schemeClr val="dk1"/>
                </a:solidFill>
                <a:latin typeface="Times New Roman"/>
                <a:ea typeface="Times New Roman"/>
                <a:cs typeface="Times New Roman"/>
                <a:sym typeface="Times New Roman"/>
              </a:rPr>
              <a:t>As an example of using rejection sampling, Figure 15.3 shows the results of using it to sample from the mixture of two Gaussians by using the uniform distribution shown by the dotted line.</a:t>
            </a:r>
            <a:endParaRPr>
              <a:latin typeface="Times New Roman"/>
              <a:ea typeface="Times New Roman"/>
              <a:cs typeface="Times New Roman"/>
              <a:sym typeface="Times New Roman"/>
            </a:endParaRPr>
          </a:p>
          <a:p>
            <a:pPr indent="-342900" lvl="0" marL="342900" marR="0" rtl="0" algn="l">
              <a:lnSpc>
                <a:spcPct val="100000"/>
              </a:lnSpc>
              <a:spcBef>
                <a:spcPts val="420"/>
              </a:spcBef>
              <a:spcAft>
                <a:spcPts val="0"/>
              </a:spcAft>
              <a:buClr>
                <a:schemeClr val="dk1"/>
              </a:buClr>
              <a:buSzPts val="2100"/>
              <a:buFont typeface="Times New Roman"/>
              <a:buChar char="•"/>
            </a:pPr>
            <a:r>
              <a:rPr i="0" lang="en-US" sz="2100" u="none">
                <a:solidFill>
                  <a:schemeClr val="dk1"/>
                </a:solidFill>
                <a:latin typeface="Times New Roman"/>
                <a:ea typeface="Times New Roman"/>
                <a:cs typeface="Times New Roman"/>
                <a:sym typeface="Times New Roman"/>
              </a:rPr>
              <a:t>Using </a:t>
            </a:r>
            <a:r>
              <a:rPr i="1" lang="en-US" sz="2100" u="none">
                <a:solidFill>
                  <a:schemeClr val="dk1"/>
                </a:solidFill>
                <a:latin typeface="Times New Roman"/>
                <a:ea typeface="Times New Roman"/>
                <a:cs typeface="Times New Roman"/>
                <a:sym typeface="Times New Roman"/>
              </a:rPr>
              <a:t>M = 0.8, as shown in the fig., the algorithm rejects about half of </a:t>
            </a:r>
            <a:r>
              <a:rPr i="0" lang="en-US" sz="2100" u="none">
                <a:solidFill>
                  <a:schemeClr val="dk1"/>
                </a:solidFill>
                <a:latin typeface="Times New Roman"/>
                <a:ea typeface="Times New Roman"/>
                <a:cs typeface="Times New Roman"/>
                <a:sym typeface="Times New Roman"/>
              </a:rPr>
              <a:t>the samples.  Using </a:t>
            </a:r>
            <a:r>
              <a:rPr i="1" lang="en-US" sz="2100" u="none">
                <a:solidFill>
                  <a:schemeClr val="dk1"/>
                </a:solidFill>
                <a:latin typeface="Times New Roman"/>
                <a:ea typeface="Times New Roman"/>
                <a:cs typeface="Times New Roman"/>
                <a:sym typeface="Times New Roman"/>
              </a:rPr>
              <a:t>M = 2 the algorithm rejects about 85% of samples. </a:t>
            </a:r>
            <a:endParaRPr>
              <a:latin typeface="Times New Roman"/>
              <a:ea typeface="Times New Roman"/>
              <a:cs typeface="Times New Roman"/>
              <a:sym typeface="Times New Roman"/>
            </a:endParaRPr>
          </a:p>
        </p:txBody>
      </p:sp>
      <p:pic>
        <p:nvPicPr>
          <p:cNvPr id="167" name="Google Shape;167;p14"/>
          <p:cNvPicPr preferRelativeResize="0"/>
          <p:nvPr/>
        </p:nvPicPr>
        <p:blipFill rotWithShape="1">
          <a:blip r:embed="rId3">
            <a:alphaModFix/>
          </a:blip>
          <a:srcRect b="0" l="0" r="0" t="0"/>
          <a:stretch/>
        </p:blipFill>
        <p:spPr>
          <a:xfrm>
            <a:off x="0" y="2057400"/>
            <a:ext cx="4724400" cy="1981200"/>
          </a:xfrm>
          <a:prstGeom prst="rect">
            <a:avLst/>
          </a:prstGeom>
          <a:noFill/>
          <a:ln>
            <a:noFill/>
          </a:ln>
        </p:spPr>
      </p:pic>
      <p:sp>
        <p:nvSpPr>
          <p:cNvPr id="168" name="Google Shape;168;p14"/>
          <p:cNvSpPr txBox="1"/>
          <p:nvPr/>
        </p:nvSpPr>
        <p:spPr>
          <a:xfrm>
            <a:off x="4876800" y="2209800"/>
            <a:ext cx="3886200" cy="1477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i="0" lang="en-US" sz="1800" u="none">
                <a:solidFill>
                  <a:schemeClr val="dk1"/>
                </a:solidFill>
                <a:latin typeface="Times New Roman"/>
                <a:ea typeface="Times New Roman"/>
                <a:cs typeface="Times New Roman"/>
                <a:sym typeface="Times New Roman"/>
              </a:rPr>
              <a:t>FIGURE 15.3 The histogram shows samples of a mixture of two Gaussians (given by the solid line) as sampled from the uniform box shown as a dotted line by using rejection sampling.</a:t>
            </a:r>
            <a:endParaRPr>
              <a:latin typeface="Times New Roman"/>
              <a:ea typeface="Times New Roman"/>
              <a:cs typeface="Times New Roman"/>
              <a:sym typeface="Times New Roman"/>
            </a:endParaRPr>
          </a:p>
        </p:txBody>
      </p:sp>
      <p:sp>
        <p:nvSpPr>
          <p:cNvPr id="169" name="Google Shape;169;p14"/>
          <p:cNvSpPr txBox="1"/>
          <p:nvPr/>
        </p:nvSpPr>
        <p:spPr>
          <a:xfrm>
            <a:off x="152400" y="4038600"/>
            <a:ext cx="8839200" cy="2570400"/>
          </a:xfrm>
          <a:prstGeom prst="rect">
            <a:avLst/>
          </a:prstGeom>
          <a:noFill/>
          <a:ln>
            <a:noFill/>
          </a:ln>
        </p:spPr>
        <p:txBody>
          <a:bodyPr anchorCtr="0" anchor="t" bIns="45700" lIns="91425" spcFirstLastPara="1" rIns="91425" wrap="square" tIns="45700">
            <a:spAutoFit/>
          </a:bodyPr>
          <a:lstStyle/>
          <a:p>
            <a:pPr indent="-146050" lvl="0" marL="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So with rejection sampling, throw away samples, and if you don’t pick </a:t>
            </a:r>
            <a:r>
              <a:rPr i="1" lang="en-US" sz="2300" u="none">
                <a:solidFill>
                  <a:schemeClr val="dk1"/>
                </a:solidFill>
                <a:latin typeface="Times New Roman"/>
                <a:ea typeface="Times New Roman"/>
                <a:cs typeface="Times New Roman"/>
                <a:sym typeface="Times New Roman"/>
              </a:rPr>
              <a:t>M properly, you will </a:t>
            </a:r>
            <a:r>
              <a:rPr i="0" lang="en-US" sz="2300" u="none">
                <a:solidFill>
                  <a:schemeClr val="dk1"/>
                </a:solidFill>
                <a:latin typeface="Times New Roman"/>
                <a:ea typeface="Times New Roman"/>
                <a:cs typeface="Times New Roman"/>
                <a:sym typeface="Times New Roman"/>
              </a:rPr>
              <a:t>have to reject a lot of them. </a:t>
            </a:r>
            <a:endParaRPr>
              <a:latin typeface="Times New Roman"/>
              <a:ea typeface="Times New Roman"/>
              <a:cs typeface="Times New Roman"/>
              <a:sym typeface="Times New Roman"/>
            </a:endParaRPr>
          </a:p>
          <a:p>
            <a:pPr indent="-146050" lvl="0" marL="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 curse of dimensionality makes the problem even worse.</a:t>
            </a:r>
            <a:endParaRPr>
              <a:latin typeface="Times New Roman"/>
              <a:ea typeface="Times New Roman"/>
              <a:cs typeface="Times New Roman"/>
              <a:sym typeface="Times New Roman"/>
            </a:endParaRPr>
          </a:p>
          <a:p>
            <a:pPr indent="-146050" lvl="0" marL="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There are two things that we can do to get over this problem.</a:t>
            </a:r>
            <a:endParaRPr>
              <a:latin typeface="Times New Roman"/>
              <a:ea typeface="Times New Roman"/>
              <a:cs typeface="Times New Roman"/>
              <a:sym typeface="Times New Roman"/>
            </a:endParaRPr>
          </a:p>
          <a:p>
            <a:pPr indent="-146050" lvl="0" marL="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One is to develop more sophisticated methods of understanding the space that we are sampling, and the other is to try to ensure that the samples are taken from areas of the space that have high probability.</a:t>
            </a:r>
            <a:endParaRPr>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5"/>
          <p:cNvSpPr txBox="1"/>
          <p:nvPr>
            <p:ph idx="1" type="body"/>
          </p:nvPr>
        </p:nvSpPr>
        <p:spPr>
          <a:xfrm>
            <a:off x="152400" y="152400"/>
            <a:ext cx="8763000" cy="2895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A method that tries to ensure that the samples come from regions of high probability and is known as Importance Sampling, because it attaches a weight that says how important each sample is.</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To compute the expectation of a function f(x) for a c.r.v x distributed according to unknown distribution p(x).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Starting from the expression of the expectation that we wrote out earlier, we can introduce another distribution q(x):</a:t>
            </a:r>
            <a:endParaRPr>
              <a:latin typeface="Times New Roman"/>
              <a:ea typeface="Times New Roman"/>
              <a:cs typeface="Times New Roman"/>
              <a:sym typeface="Times New Roman"/>
            </a:endParaRPr>
          </a:p>
        </p:txBody>
      </p:sp>
      <p:pic>
        <p:nvPicPr>
          <p:cNvPr id="175" name="Google Shape;175;p15"/>
          <p:cNvPicPr preferRelativeResize="0"/>
          <p:nvPr/>
        </p:nvPicPr>
        <p:blipFill rotWithShape="1">
          <a:blip r:embed="rId3">
            <a:alphaModFix/>
          </a:blip>
          <a:srcRect b="0" l="0" r="0" t="0"/>
          <a:stretch/>
        </p:blipFill>
        <p:spPr>
          <a:xfrm>
            <a:off x="76200" y="2895600"/>
            <a:ext cx="8991600" cy="3962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16"/>
          <p:cNvPicPr preferRelativeResize="0"/>
          <p:nvPr/>
        </p:nvPicPr>
        <p:blipFill rotWithShape="1">
          <a:blip r:embed="rId3">
            <a:alphaModFix/>
          </a:blip>
          <a:srcRect b="0" l="0" r="0" t="0"/>
          <a:stretch/>
        </p:blipFill>
        <p:spPr>
          <a:xfrm>
            <a:off x="0" y="152400"/>
            <a:ext cx="9144000" cy="2971800"/>
          </a:xfrm>
          <a:prstGeom prst="rect">
            <a:avLst/>
          </a:prstGeom>
          <a:noFill/>
          <a:ln>
            <a:noFill/>
          </a:ln>
        </p:spPr>
      </p:pic>
      <p:sp>
        <p:nvSpPr>
          <p:cNvPr id="181" name="Google Shape;181;p16"/>
          <p:cNvSpPr txBox="1"/>
          <p:nvPr>
            <p:ph idx="1" type="body"/>
          </p:nvPr>
        </p:nvSpPr>
        <p:spPr>
          <a:xfrm>
            <a:off x="228600" y="3276600"/>
            <a:ext cx="8686800" cy="3124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results of using sampling importance-Resampling on the example in Figure 15.3 are given in Figure 15.4.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Note that this method does not reject any samples, but it does involve two separate sampling steps and a relatively expensive loop.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Arial"/>
              <a:buChar char="•"/>
            </a:pPr>
            <a:r>
              <a:rPr i="0" lang="en-US" sz="2400" u="none">
                <a:solidFill>
                  <a:schemeClr val="dk1"/>
                </a:solidFill>
                <a:latin typeface="Times New Roman"/>
                <a:ea typeface="Times New Roman"/>
                <a:cs typeface="Times New Roman"/>
                <a:sym typeface="Times New Roman"/>
              </a:rPr>
              <a:t>Like the other algorithms we have seen, it is sensitive to the quality of the match between the proposal distribution </a:t>
            </a:r>
            <a:r>
              <a:rPr i="1" lang="en-US" sz="2400" u="none">
                <a:solidFill>
                  <a:schemeClr val="dk1"/>
                </a:solidFill>
                <a:latin typeface="Times New Roman"/>
                <a:ea typeface="Times New Roman"/>
                <a:cs typeface="Times New Roman"/>
                <a:sym typeface="Times New Roman"/>
              </a:rPr>
              <a:t>q(</a:t>
            </a:r>
            <a:r>
              <a:rPr b="1" i="1" lang="en-US" sz="2400" u="none">
                <a:solidFill>
                  <a:schemeClr val="dk1"/>
                </a:solidFill>
                <a:latin typeface="Times New Roman"/>
                <a:ea typeface="Times New Roman"/>
                <a:cs typeface="Times New Roman"/>
                <a:sym typeface="Times New Roman"/>
              </a:rPr>
              <a:t>x) and the actual distribution </a:t>
            </a:r>
            <a:r>
              <a:rPr i="1" lang="en-US" sz="2400" u="none">
                <a:solidFill>
                  <a:schemeClr val="dk1"/>
                </a:solidFill>
                <a:latin typeface="Times New Roman"/>
                <a:ea typeface="Times New Roman"/>
                <a:cs typeface="Times New Roman"/>
                <a:sym typeface="Times New Roman"/>
              </a:rPr>
              <a:t>p(</a:t>
            </a:r>
            <a:r>
              <a:rPr b="1" i="1" lang="en-US" sz="2400" u="none">
                <a:solidFill>
                  <a:schemeClr val="dk1"/>
                </a:solidFill>
                <a:latin typeface="Times New Roman"/>
                <a:ea typeface="Times New Roman"/>
                <a:cs typeface="Times New Roman"/>
                <a:sym typeface="Times New Roman"/>
              </a:rPr>
              <a:t>x).</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17"/>
          <p:cNvPicPr preferRelativeResize="0"/>
          <p:nvPr/>
        </p:nvPicPr>
        <p:blipFill rotWithShape="1">
          <a:blip r:embed="rId3">
            <a:alphaModFix/>
          </a:blip>
          <a:srcRect b="0" l="0" r="0" t="0"/>
          <a:stretch/>
        </p:blipFill>
        <p:spPr>
          <a:xfrm>
            <a:off x="228600" y="228600"/>
            <a:ext cx="4495800" cy="3124200"/>
          </a:xfrm>
          <a:prstGeom prst="rect">
            <a:avLst/>
          </a:prstGeom>
          <a:noFill/>
          <a:ln>
            <a:noFill/>
          </a:ln>
        </p:spPr>
      </p:pic>
      <p:sp>
        <p:nvSpPr>
          <p:cNvPr id="187" name="Google Shape;187;p17"/>
          <p:cNvSpPr txBox="1"/>
          <p:nvPr/>
        </p:nvSpPr>
        <p:spPr>
          <a:xfrm>
            <a:off x="4724400" y="762000"/>
            <a:ext cx="4267200" cy="1754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i="0" lang="en-US" sz="1800" u="none">
                <a:solidFill>
                  <a:schemeClr val="dk1"/>
                </a:solidFill>
                <a:latin typeface="Times New Roman"/>
                <a:ea typeface="Times New Roman"/>
                <a:cs typeface="Times New Roman"/>
                <a:sym typeface="Times New Roman"/>
              </a:rPr>
              <a:t>FIGURE 15.4 The histogram shows samples created using sampling-importance-Re sampling from a mixture of two Gaussians (given by the solid line) as sampled from the uniform box shown as a dotted line.</a:t>
            </a:r>
            <a:endParaRPr>
              <a:latin typeface="Times New Roman"/>
              <a:ea typeface="Times New Roman"/>
              <a:cs typeface="Times New Roman"/>
              <a:sym typeface="Times New Roman"/>
            </a:endParaRPr>
          </a:p>
        </p:txBody>
      </p:sp>
      <p:sp>
        <p:nvSpPr>
          <p:cNvPr id="188" name="Google Shape;188;p17"/>
          <p:cNvSpPr txBox="1"/>
          <p:nvPr>
            <p:ph idx="1" type="body"/>
          </p:nvPr>
        </p:nvSpPr>
        <p:spPr>
          <a:xfrm>
            <a:off x="152400" y="3810000"/>
            <a:ext cx="8686800" cy="2514600"/>
          </a:xfrm>
          <a:prstGeom prst="rect">
            <a:avLst/>
          </a:prstGeom>
          <a:noFill/>
          <a:ln>
            <a:noFill/>
          </a:ln>
        </p:spPr>
        <p:txBody>
          <a:bodyPr anchorCtr="0" anchor="t" bIns="45700" lIns="91425" spcFirstLastPara="1" rIns="91425" wrap="square" tIns="45700">
            <a:normAutofit/>
          </a:bodyPr>
          <a:lstStyle/>
          <a:p>
            <a:pPr indent="-336550" lvl="0" marL="342900" marR="0" rtl="0" algn="l">
              <a:lnSpc>
                <a:spcPct val="8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A method that uses sampling-importance-Resampling in an on-line application, known as a particle filter or sequential Monte Carlo method. </a:t>
            </a:r>
            <a:endParaRPr sz="3100">
              <a:latin typeface="Times New Roman"/>
              <a:ea typeface="Times New Roman"/>
              <a:cs typeface="Times New Roman"/>
              <a:sym typeface="Times New Roman"/>
            </a:endParaRPr>
          </a:p>
          <a:p>
            <a:pPr indent="-336550" lvl="0" marL="342900" marR="0" rtl="0" algn="l">
              <a:lnSpc>
                <a:spcPct val="80000"/>
              </a:lnSpc>
              <a:spcBef>
                <a:spcPts val="50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How to find out sample space. </a:t>
            </a:r>
            <a:endParaRPr sz="3100">
              <a:latin typeface="Times New Roman"/>
              <a:ea typeface="Times New Roman"/>
              <a:cs typeface="Times New Roman"/>
              <a:sym typeface="Times New Roman"/>
            </a:endParaRPr>
          </a:p>
          <a:p>
            <a:pPr indent="-336550" lvl="0" marL="342900" marR="0" rtl="0" algn="l">
              <a:lnSpc>
                <a:spcPct val="80000"/>
              </a:lnSpc>
              <a:spcBef>
                <a:spcPts val="50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basic idea is to keep track of the sequence of samples and modify the proposal distribution to take advantage of this, for which we will have to use some more complicated machinery.</a:t>
            </a:r>
            <a:endParaRPr sz="31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8"/>
          <p:cNvSpPr txBox="1"/>
          <p:nvPr>
            <p:ph type="title"/>
          </p:nvPr>
        </p:nvSpPr>
        <p:spPr>
          <a:xfrm>
            <a:off x="457200" y="228600"/>
            <a:ext cx="82296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alibri"/>
              <a:buNone/>
            </a:pPr>
            <a:r>
              <a:rPr b="1" i="0" lang="en-US" sz="2900" u="none">
                <a:solidFill>
                  <a:srgbClr val="FF0000"/>
                </a:solidFill>
                <a:latin typeface="Times New Roman"/>
                <a:ea typeface="Times New Roman"/>
                <a:cs typeface="Times New Roman"/>
                <a:sym typeface="Times New Roman"/>
              </a:rPr>
              <a:t>MARKOV CHAIN MONTE CARLO</a:t>
            </a:r>
            <a:endParaRPr sz="3259">
              <a:solidFill>
                <a:srgbClr val="FF0000"/>
              </a:solidFill>
              <a:latin typeface="Times New Roman"/>
              <a:ea typeface="Times New Roman"/>
              <a:cs typeface="Times New Roman"/>
              <a:sym typeface="Times New Roman"/>
            </a:endParaRPr>
          </a:p>
        </p:txBody>
      </p:sp>
      <p:sp>
        <p:nvSpPr>
          <p:cNvPr id="194" name="Google Shape;194;p18"/>
          <p:cNvSpPr txBox="1"/>
          <p:nvPr>
            <p:ph idx="1" type="body"/>
          </p:nvPr>
        </p:nvSpPr>
        <p:spPr>
          <a:xfrm>
            <a:off x="228600" y="914400"/>
            <a:ext cx="8686800" cy="5638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200"/>
              <a:buFont typeface="Arial"/>
              <a:buNone/>
            </a:pPr>
            <a:r>
              <a:rPr b="1" i="0" lang="en-US" sz="2200" u="none">
                <a:solidFill>
                  <a:schemeClr val="dk1"/>
                </a:solidFill>
                <a:latin typeface="Times New Roman"/>
                <a:ea typeface="Times New Roman"/>
                <a:cs typeface="Times New Roman"/>
                <a:sym typeface="Times New Roman"/>
              </a:rPr>
              <a:t>MARKOV CHAINS</a:t>
            </a:r>
            <a:endParaRPr sz="2200">
              <a:latin typeface="Times New Roman"/>
              <a:ea typeface="Times New Roman"/>
              <a:cs typeface="Times New Roman"/>
              <a:sym typeface="Times New Roman"/>
            </a:endParaRPr>
          </a:p>
          <a:p>
            <a:pPr indent="-342900" lvl="0" marL="342900" marR="0" rtl="0" algn="just">
              <a:lnSpc>
                <a:spcPct val="90000"/>
              </a:lnSpc>
              <a:spcBef>
                <a:spcPts val="44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In probabilistic terms a chain is a sequence of possible states, where the probability of being in state </a:t>
            </a:r>
            <a:r>
              <a:rPr i="1" lang="en-US" sz="2200" u="none">
                <a:solidFill>
                  <a:schemeClr val="dk1"/>
                </a:solidFill>
                <a:latin typeface="Times New Roman"/>
                <a:ea typeface="Times New Roman"/>
                <a:cs typeface="Times New Roman"/>
                <a:sym typeface="Times New Roman"/>
              </a:rPr>
              <a:t>s at time t is a function of the previous states. </a:t>
            </a:r>
            <a:endParaRPr sz="2200">
              <a:latin typeface="Times New Roman"/>
              <a:ea typeface="Times New Roman"/>
              <a:cs typeface="Times New Roman"/>
              <a:sym typeface="Times New Roman"/>
            </a:endParaRPr>
          </a:p>
          <a:p>
            <a:pPr indent="-342900" lvl="0" marL="342900" marR="0" rtl="0" algn="just">
              <a:lnSpc>
                <a:spcPct val="90000"/>
              </a:lnSpc>
              <a:spcBef>
                <a:spcPts val="440"/>
              </a:spcBef>
              <a:spcAft>
                <a:spcPts val="0"/>
              </a:spcAft>
              <a:buClr>
                <a:schemeClr val="dk1"/>
              </a:buClr>
              <a:buSzPts val="2200"/>
              <a:buFont typeface="Times New Roman"/>
              <a:buChar char="•"/>
            </a:pPr>
            <a:r>
              <a:rPr i="1" lang="en-US" sz="2200" u="none">
                <a:solidFill>
                  <a:schemeClr val="dk1"/>
                </a:solidFill>
                <a:latin typeface="Times New Roman"/>
                <a:ea typeface="Times New Roman"/>
                <a:cs typeface="Times New Roman"/>
                <a:sym typeface="Times New Roman"/>
              </a:rPr>
              <a:t>A Markov chain is a chain with </a:t>
            </a:r>
            <a:r>
              <a:rPr i="0" lang="en-US" sz="2200" u="none">
                <a:solidFill>
                  <a:schemeClr val="dk1"/>
                </a:solidFill>
                <a:latin typeface="Times New Roman"/>
                <a:ea typeface="Times New Roman"/>
                <a:cs typeface="Times New Roman"/>
                <a:sym typeface="Times New Roman"/>
              </a:rPr>
              <a:t>the Markov property, i.e., the probability at time </a:t>
            </a:r>
            <a:r>
              <a:rPr i="1" lang="en-US" sz="2200" u="none">
                <a:solidFill>
                  <a:schemeClr val="dk1"/>
                </a:solidFill>
                <a:latin typeface="Times New Roman"/>
                <a:ea typeface="Times New Roman"/>
                <a:cs typeface="Times New Roman"/>
                <a:sym typeface="Times New Roman"/>
              </a:rPr>
              <a:t>t depends only on the state at t − 1.</a:t>
            </a:r>
            <a:endParaRPr sz="2200">
              <a:latin typeface="Times New Roman"/>
              <a:ea typeface="Times New Roman"/>
              <a:cs typeface="Times New Roman"/>
              <a:sym typeface="Times New Roman"/>
            </a:endParaRPr>
          </a:p>
          <a:p>
            <a:pPr indent="-342900" lvl="0" marL="342900" marR="0" rtl="0" algn="just">
              <a:lnSpc>
                <a:spcPct val="90000"/>
              </a:lnSpc>
              <a:spcBef>
                <a:spcPts val="44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 set of possible states are </a:t>
            </a:r>
            <a:r>
              <a:rPr b="1" i="0" lang="en-US" sz="2200" u="none">
                <a:solidFill>
                  <a:schemeClr val="dk1"/>
                </a:solidFill>
                <a:latin typeface="Times New Roman"/>
                <a:ea typeface="Times New Roman"/>
                <a:cs typeface="Times New Roman"/>
                <a:sym typeface="Times New Roman"/>
              </a:rPr>
              <a:t>linked together by transition probabilities</a:t>
            </a:r>
            <a:r>
              <a:rPr i="0" lang="en-US" sz="2200" u="none">
                <a:solidFill>
                  <a:schemeClr val="dk1"/>
                </a:solidFill>
                <a:latin typeface="Times New Roman"/>
                <a:ea typeface="Times New Roman"/>
                <a:cs typeface="Times New Roman"/>
                <a:sym typeface="Times New Roman"/>
              </a:rPr>
              <a:t> that say how likely it is that you move from the current state to each of the others, and they are generally written as a matrix </a:t>
            </a:r>
            <a:r>
              <a:rPr i="1" lang="en-US" sz="2200" u="none">
                <a:solidFill>
                  <a:schemeClr val="dk1"/>
                </a:solidFill>
                <a:latin typeface="Times New Roman"/>
                <a:ea typeface="Times New Roman"/>
                <a:cs typeface="Times New Roman"/>
                <a:sym typeface="Times New Roman"/>
              </a:rPr>
              <a:t>T. </a:t>
            </a:r>
            <a:endParaRPr sz="2200">
              <a:latin typeface="Times New Roman"/>
              <a:ea typeface="Times New Roman"/>
              <a:cs typeface="Times New Roman"/>
              <a:sym typeface="Times New Roman"/>
            </a:endParaRPr>
          </a:p>
          <a:p>
            <a:pPr indent="-342900" lvl="0" marL="342900" marR="0" rtl="0" algn="just">
              <a:lnSpc>
                <a:spcPct val="90000"/>
              </a:lnSpc>
              <a:spcBef>
                <a:spcPts val="440"/>
              </a:spcBef>
              <a:spcAft>
                <a:spcPts val="0"/>
              </a:spcAft>
              <a:buClr>
                <a:schemeClr val="dk1"/>
              </a:buClr>
              <a:buSzPts val="2200"/>
              <a:buFont typeface="Times New Roman"/>
              <a:buChar char="•"/>
            </a:pPr>
            <a:r>
              <a:rPr i="1" lang="en-US" sz="2200" u="none">
                <a:solidFill>
                  <a:schemeClr val="dk1"/>
                </a:solidFill>
                <a:latin typeface="Times New Roman"/>
                <a:ea typeface="Times New Roman"/>
                <a:cs typeface="Times New Roman"/>
                <a:sym typeface="Times New Roman"/>
              </a:rPr>
              <a:t>They might be constant, or functions </a:t>
            </a:r>
            <a:r>
              <a:rPr i="0" lang="en-US" sz="2200" u="none">
                <a:solidFill>
                  <a:schemeClr val="dk1"/>
                </a:solidFill>
                <a:latin typeface="Times New Roman"/>
                <a:ea typeface="Times New Roman"/>
                <a:cs typeface="Times New Roman"/>
                <a:sym typeface="Times New Roman"/>
              </a:rPr>
              <a:t>of some other variables, but here we will assume that they are constant.</a:t>
            </a:r>
            <a:endParaRPr sz="2200">
              <a:latin typeface="Times New Roman"/>
              <a:ea typeface="Times New Roman"/>
              <a:cs typeface="Times New Roman"/>
              <a:sym typeface="Times New Roman"/>
            </a:endParaRPr>
          </a:p>
          <a:p>
            <a:pPr indent="-342900" lvl="0" marL="342900" marR="0" rtl="0" algn="just">
              <a:lnSpc>
                <a:spcPct val="90000"/>
              </a:lnSpc>
              <a:spcBef>
                <a:spcPts val="44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There is no action here that affects the probability of moving into a particular state.</a:t>
            </a:r>
            <a:endParaRPr sz="2200">
              <a:latin typeface="Times New Roman"/>
              <a:ea typeface="Times New Roman"/>
              <a:cs typeface="Times New Roman"/>
              <a:sym typeface="Times New Roman"/>
            </a:endParaRPr>
          </a:p>
          <a:p>
            <a:pPr indent="-342900" lvl="0" marL="342900" marR="0" rtl="0" algn="just">
              <a:lnSpc>
                <a:spcPct val="90000"/>
              </a:lnSpc>
              <a:spcBef>
                <a:spcPts val="44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Given a chain, we can perform a random walk on the chain by choosing a start state and randomly choosing each successive state according to the transition probabilities. </a:t>
            </a:r>
            <a:endParaRPr sz="22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g2eb7442aab0_1_0"/>
          <p:cNvPicPr preferRelativeResize="0"/>
          <p:nvPr/>
        </p:nvPicPr>
        <p:blipFill>
          <a:blip r:embed="rId3">
            <a:alphaModFix/>
          </a:blip>
          <a:stretch>
            <a:fillRect/>
          </a:stretch>
        </p:blipFill>
        <p:spPr>
          <a:xfrm>
            <a:off x="5011191" y="3566775"/>
            <a:ext cx="1585550" cy="1195725"/>
          </a:xfrm>
          <a:prstGeom prst="rect">
            <a:avLst/>
          </a:prstGeom>
          <a:noFill/>
          <a:ln>
            <a:noFill/>
          </a:ln>
        </p:spPr>
      </p:pic>
      <p:pic>
        <p:nvPicPr>
          <p:cNvPr id="200" name="Google Shape;200;g2eb7442aab0_1_0"/>
          <p:cNvPicPr preferRelativeResize="0"/>
          <p:nvPr/>
        </p:nvPicPr>
        <p:blipFill>
          <a:blip r:embed="rId4">
            <a:alphaModFix/>
          </a:blip>
          <a:stretch>
            <a:fillRect/>
          </a:stretch>
        </p:blipFill>
        <p:spPr>
          <a:xfrm>
            <a:off x="306150" y="0"/>
            <a:ext cx="8388801" cy="70110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9"/>
          <p:cNvSpPr txBox="1"/>
          <p:nvPr>
            <p:ph idx="1" type="body"/>
          </p:nvPr>
        </p:nvSpPr>
        <p:spPr>
          <a:xfrm>
            <a:off x="152400" y="304800"/>
            <a:ext cx="8763000" cy="6248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link to sampling that we need is that if the transition probabilities reflect the distribution that we wish to sample from, then a random walk will explore that distribution. </a:t>
            </a:r>
            <a:endParaRPr sz="2400">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One problem with this is that random walks are very inefficient at exploring space, since they move back towards the start as often as they move away, which means the distance they move from the start scales as     </a:t>
            </a:r>
            <a:r>
              <a:rPr i="1" lang="en-US" sz="2400" u="none">
                <a:solidFill>
                  <a:schemeClr val="dk1"/>
                </a:solidFill>
                <a:latin typeface="Times New Roman"/>
                <a:ea typeface="Times New Roman"/>
                <a:cs typeface="Times New Roman"/>
                <a:sym typeface="Times New Roman"/>
              </a:rPr>
              <a:t>  , where t is the number of samples. </a:t>
            </a:r>
            <a:endParaRPr sz="2400">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1" lang="en-US" sz="2400" u="none">
                <a:solidFill>
                  <a:schemeClr val="dk1"/>
                </a:solidFill>
                <a:latin typeface="Times New Roman"/>
                <a:ea typeface="Times New Roman"/>
                <a:cs typeface="Times New Roman"/>
                <a:sym typeface="Times New Roman"/>
              </a:rPr>
              <a:t>Need to explore more </a:t>
            </a:r>
            <a:r>
              <a:rPr i="0" lang="en-US" sz="2400" u="none">
                <a:solidFill>
                  <a:schemeClr val="dk1"/>
                </a:solidFill>
                <a:latin typeface="Times New Roman"/>
                <a:ea typeface="Times New Roman"/>
                <a:cs typeface="Times New Roman"/>
                <a:sym typeface="Times New Roman"/>
              </a:rPr>
              <a:t>efficiently than just using a random walk.</a:t>
            </a:r>
            <a:endParaRPr sz="2400">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Do this by setting up our Markov chain so that it reflects the distribution we wish to sample from, and we want the distribution p(x</a:t>
            </a:r>
            <a:r>
              <a:rPr baseline="30000" i="0" lang="en-US" sz="2400" u="none">
                <a:solidFill>
                  <a:schemeClr val="dk1"/>
                </a:solidFill>
                <a:latin typeface="Times New Roman"/>
                <a:ea typeface="Times New Roman"/>
                <a:cs typeface="Times New Roman"/>
                <a:sym typeface="Times New Roman"/>
              </a:rPr>
              <a:t>(i)</a:t>
            </a:r>
            <a:r>
              <a:rPr i="0" lang="en-US" sz="2400" u="none">
                <a:solidFill>
                  <a:schemeClr val="dk1"/>
                </a:solidFill>
                <a:latin typeface="Times New Roman"/>
                <a:ea typeface="Times New Roman"/>
                <a:cs typeface="Times New Roman"/>
                <a:sym typeface="Times New Roman"/>
              </a:rPr>
              <a:t>) to converge to the actual distribution p(x) no matter what state we start from.</a:t>
            </a:r>
            <a:endParaRPr sz="2400">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Since we can start from any state, this tells us that every state is reachable from every other state, which means that the chain is irreducible so that the transition matrix can’t be cut up into smaller matrices.</a:t>
            </a:r>
            <a:endParaRPr sz="2400">
              <a:latin typeface="Times New Roman"/>
              <a:ea typeface="Times New Roman"/>
              <a:cs typeface="Times New Roman"/>
              <a:sym typeface="Times New Roman"/>
            </a:endParaRPr>
          </a:p>
        </p:txBody>
      </p:sp>
      <p:pic>
        <p:nvPicPr>
          <p:cNvPr id="206" name="Google Shape;206;p19"/>
          <p:cNvPicPr preferRelativeResize="0"/>
          <p:nvPr/>
        </p:nvPicPr>
        <p:blipFill rotWithShape="1">
          <a:blip r:embed="rId3">
            <a:alphaModFix/>
          </a:blip>
          <a:srcRect b="0" l="0" r="0" t="0"/>
          <a:stretch/>
        </p:blipFill>
        <p:spPr>
          <a:xfrm>
            <a:off x="2362200" y="2660650"/>
            <a:ext cx="304800" cy="387350"/>
          </a:xfrm>
          <a:prstGeom prst="rect">
            <a:avLst/>
          </a:prstGeom>
          <a:noFill/>
          <a:ln>
            <a:noFill/>
          </a:ln>
        </p:spPr>
      </p:pic>
      <p:sp>
        <p:nvSpPr>
          <p:cNvPr id="207" name="Google Shape;207;p19"/>
          <p:cNvSpPr txBox="1"/>
          <p:nvPr/>
        </p:nvSpPr>
        <p:spPr>
          <a:xfrm>
            <a:off x="0" y="67627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0"/>
          <p:cNvSpPr txBox="1"/>
          <p:nvPr>
            <p:ph idx="1" type="body"/>
          </p:nvPr>
        </p:nvSpPr>
        <p:spPr>
          <a:xfrm>
            <a:off x="152400" y="228600"/>
            <a:ext cx="8839200" cy="6324600"/>
          </a:xfrm>
          <a:prstGeom prst="rect">
            <a:avLst/>
          </a:prstGeom>
          <a:noFill/>
          <a:ln>
            <a:noFill/>
          </a:ln>
        </p:spPr>
        <p:txBody>
          <a:bodyPr anchorCtr="0" anchor="t" bIns="45700" lIns="91425" spcFirstLastPara="1" rIns="91425" wrap="square" tIns="45700">
            <a:normAutofit/>
          </a:bodyPr>
          <a:lstStyle/>
          <a:p>
            <a:pPr indent="-336550" lvl="0" marL="342900" marR="0" rtl="0" algn="just">
              <a:lnSpc>
                <a:spcPct val="90000"/>
              </a:lnSpc>
              <a:spcBef>
                <a:spcPts val="0"/>
              </a:spcBef>
              <a:spcAft>
                <a:spcPts val="0"/>
              </a:spcAft>
              <a:buClr>
                <a:schemeClr val="dk1"/>
              </a:buClr>
              <a:buSzPts val="2300"/>
              <a:buFont typeface="Arial"/>
              <a:buChar char="•"/>
            </a:pPr>
            <a:r>
              <a:rPr i="0" lang="en-US" sz="2300" u="none">
                <a:solidFill>
                  <a:schemeClr val="dk1"/>
                </a:solidFill>
                <a:latin typeface="Times New Roman"/>
                <a:ea typeface="Times New Roman"/>
                <a:cs typeface="Times New Roman"/>
                <a:sym typeface="Times New Roman"/>
              </a:rPr>
              <a:t>The chain also has to be </a:t>
            </a:r>
            <a:r>
              <a:rPr b="1" i="0" lang="en-US" sz="2300" u="none">
                <a:solidFill>
                  <a:schemeClr val="dk1"/>
                </a:solidFill>
                <a:latin typeface="Times New Roman"/>
                <a:ea typeface="Times New Roman"/>
                <a:cs typeface="Times New Roman"/>
                <a:sym typeface="Times New Roman"/>
              </a:rPr>
              <a:t>ergodic,</a:t>
            </a:r>
            <a:r>
              <a:rPr i="0" lang="en-US" sz="2300" u="none">
                <a:solidFill>
                  <a:schemeClr val="dk1"/>
                </a:solidFill>
                <a:latin typeface="Times New Roman"/>
                <a:ea typeface="Times New Roman"/>
                <a:cs typeface="Times New Roman"/>
                <a:sym typeface="Times New Roman"/>
              </a:rPr>
              <a:t> which means that we will revisit every state, so that the probability of visiting any particular state in the future never goes to zero, but is </a:t>
            </a:r>
            <a:r>
              <a:rPr b="1" i="0" lang="en-US" sz="2300" u="none">
                <a:solidFill>
                  <a:schemeClr val="dk1"/>
                </a:solidFill>
                <a:latin typeface="Times New Roman"/>
                <a:ea typeface="Times New Roman"/>
                <a:cs typeface="Times New Roman"/>
                <a:sym typeface="Times New Roman"/>
              </a:rPr>
              <a:t>not periodic</a:t>
            </a:r>
            <a:r>
              <a:rPr i="0" lang="en-US" sz="2300" u="none">
                <a:solidFill>
                  <a:schemeClr val="dk1"/>
                </a:solidFill>
                <a:latin typeface="Times New Roman"/>
                <a:ea typeface="Times New Roman"/>
                <a:cs typeface="Times New Roman"/>
                <a:sym typeface="Times New Roman"/>
              </a:rPr>
              <a:t>, which means that we can visit at any time, not just every </a:t>
            </a:r>
            <a:r>
              <a:rPr b="1" i="1" lang="en-US" sz="2300" u="none">
                <a:solidFill>
                  <a:schemeClr val="dk1"/>
                </a:solidFill>
                <a:latin typeface="Times New Roman"/>
                <a:ea typeface="Times New Roman"/>
                <a:cs typeface="Times New Roman"/>
                <a:sym typeface="Times New Roman"/>
              </a:rPr>
              <a:t>k</a:t>
            </a:r>
            <a:r>
              <a:rPr i="1" lang="en-US" sz="2300" u="none">
                <a:solidFill>
                  <a:schemeClr val="dk1"/>
                </a:solidFill>
                <a:latin typeface="Times New Roman"/>
                <a:ea typeface="Times New Roman"/>
                <a:cs typeface="Times New Roman"/>
                <a:sym typeface="Times New Roman"/>
              </a:rPr>
              <a:t> iterations for some constant k.</a:t>
            </a:r>
            <a:endParaRPr sz="2300">
              <a:latin typeface="Times New Roman"/>
              <a:ea typeface="Times New Roman"/>
              <a:cs typeface="Times New Roman"/>
              <a:sym typeface="Times New Roman"/>
            </a:endParaRPr>
          </a:p>
          <a:p>
            <a:pPr indent="-336550" lvl="0" marL="342900" marR="0" rtl="0" algn="just">
              <a:lnSpc>
                <a:spcPct val="90000"/>
              </a:lnSpc>
              <a:spcBef>
                <a:spcPts val="48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 distribution p(x) to be invariant to the Markov chain, which means that the transition probabilities don’t change the distribution:</a:t>
            </a:r>
            <a:endParaRPr sz="2300">
              <a:latin typeface="Times New Roman"/>
              <a:ea typeface="Times New Roman"/>
              <a:cs typeface="Times New Roman"/>
              <a:sym typeface="Times New Roman"/>
            </a:endParaRPr>
          </a:p>
          <a:p>
            <a:pPr indent="-190500" lvl="0" marL="342900" marR="0" rtl="0" algn="just">
              <a:lnSpc>
                <a:spcPct val="90000"/>
              </a:lnSpc>
              <a:spcBef>
                <a:spcPts val="480"/>
              </a:spcBef>
              <a:spcAft>
                <a:spcPts val="0"/>
              </a:spcAft>
              <a:buClr>
                <a:schemeClr val="dk1"/>
              </a:buClr>
              <a:buSzPts val="2400"/>
              <a:buFont typeface="Arial"/>
              <a:buNone/>
            </a:pPr>
            <a:r>
              <a:t/>
            </a:r>
            <a:endParaRPr i="0" sz="2300" u="none">
              <a:solidFill>
                <a:schemeClr val="dk1"/>
              </a:solidFill>
              <a:latin typeface="Times New Roman"/>
              <a:ea typeface="Times New Roman"/>
              <a:cs typeface="Times New Roman"/>
              <a:sym typeface="Times New Roman"/>
            </a:endParaRPr>
          </a:p>
          <a:p>
            <a:pPr indent="-190500" lvl="0" marL="342900" marR="0" rtl="0" algn="just">
              <a:lnSpc>
                <a:spcPct val="90000"/>
              </a:lnSpc>
              <a:spcBef>
                <a:spcPts val="480"/>
              </a:spcBef>
              <a:spcAft>
                <a:spcPts val="0"/>
              </a:spcAft>
              <a:buClr>
                <a:schemeClr val="dk1"/>
              </a:buClr>
              <a:buSzPts val="2400"/>
              <a:buFont typeface="Arial"/>
              <a:buNone/>
            </a:pPr>
            <a:r>
              <a:t/>
            </a:r>
            <a:endParaRPr i="0" sz="2300" u="none">
              <a:solidFill>
                <a:schemeClr val="dk1"/>
              </a:solidFill>
              <a:latin typeface="Times New Roman"/>
              <a:ea typeface="Times New Roman"/>
              <a:cs typeface="Times New Roman"/>
              <a:sym typeface="Times New Roman"/>
            </a:endParaRPr>
          </a:p>
          <a:p>
            <a:pPr indent="0" lvl="0" marL="342900" marR="0" rtl="0" algn="just">
              <a:lnSpc>
                <a:spcPct val="90000"/>
              </a:lnSpc>
              <a:spcBef>
                <a:spcPts val="480"/>
              </a:spcBef>
              <a:spcAft>
                <a:spcPts val="0"/>
              </a:spcAft>
              <a:buNone/>
            </a:pPr>
            <a:r>
              <a:t/>
            </a:r>
            <a:endParaRPr sz="2300">
              <a:latin typeface="Times New Roman"/>
              <a:ea typeface="Times New Roman"/>
              <a:cs typeface="Times New Roman"/>
              <a:sym typeface="Times New Roman"/>
            </a:endParaRPr>
          </a:p>
          <a:p>
            <a:pPr indent="-336550" lvl="0" marL="342900" marR="0" rtl="0" algn="just">
              <a:lnSpc>
                <a:spcPct val="90000"/>
              </a:lnSpc>
              <a:spcBef>
                <a:spcPts val="48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Finding the transition probabilities to make this true: Move backwards and forwards along the chain with equal probability, so that the chain is reversible.</a:t>
            </a:r>
            <a:endParaRPr sz="2300">
              <a:latin typeface="Times New Roman"/>
              <a:ea typeface="Times New Roman"/>
              <a:cs typeface="Times New Roman"/>
              <a:sym typeface="Times New Roman"/>
            </a:endParaRPr>
          </a:p>
          <a:p>
            <a:pPr indent="-336550" lvl="0" marL="342900" marR="0" rtl="0" algn="just">
              <a:lnSpc>
                <a:spcPct val="90000"/>
              </a:lnSpc>
              <a:spcBef>
                <a:spcPts val="5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Probability of being in an unlikely state </a:t>
            </a:r>
            <a:r>
              <a:rPr i="1" lang="en-US" sz="2300" u="none">
                <a:solidFill>
                  <a:schemeClr val="dk1"/>
                </a:solidFill>
                <a:latin typeface="Times New Roman"/>
                <a:ea typeface="Times New Roman"/>
                <a:cs typeface="Times New Roman"/>
                <a:sym typeface="Times New Roman"/>
              </a:rPr>
              <a:t>s (sampling data point </a:t>
            </a:r>
            <a:r>
              <a:rPr i="0" lang="en-US" sz="2300" u="none">
                <a:solidFill>
                  <a:schemeClr val="dk1"/>
                </a:solidFill>
                <a:latin typeface="Times New Roman"/>
                <a:ea typeface="Times New Roman"/>
                <a:cs typeface="Times New Roman"/>
                <a:sym typeface="Times New Roman"/>
              </a:rPr>
              <a:t>x), but heading for a likely state </a:t>
            </a:r>
            <a:r>
              <a:rPr i="1" lang="en-US" sz="2300" u="none">
                <a:solidFill>
                  <a:schemeClr val="dk1"/>
                </a:solidFill>
                <a:latin typeface="Times New Roman"/>
                <a:ea typeface="Times New Roman"/>
                <a:cs typeface="Times New Roman"/>
                <a:sym typeface="Times New Roman"/>
              </a:rPr>
              <a:t>s</a:t>
            </a:r>
            <a:r>
              <a:rPr baseline="30000" i="1" lang="en-US" sz="2300" u="none">
                <a:solidFill>
                  <a:schemeClr val="dk1"/>
                </a:solidFill>
                <a:latin typeface="Times New Roman"/>
                <a:ea typeface="Times New Roman"/>
                <a:cs typeface="Times New Roman"/>
                <a:sym typeface="Times New Roman"/>
              </a:rPr>
              <a:t>i</a:t>
            </a:r>
            <a:r>
              <a:rPr i="1" lang="en-US" sz="2300" u="none">
                <a:solidFill>
                  <a:schemeClr val="dk1"/>
                </a:solidFill>
                <a:latin typeface="Times New Roman"/>
                <a:ea typeface="Times New Roman"/>
                <a:cs typeface="Times New Roman"/>
                <a:sym typeface="Times New Roman"/>
              </a:rPr>
              <a:t> (data point </a:t>
            </a:r>
            <a:r>
              <a:rPr i="0" lang="en-US" sz="2300" u="none">
                <a:solidFill>
                  <a:schemeClr val="dk1"/>
                </a:solidFill>
                <a:latin typeface="Times New Roman"/>
                <a:ea typeface="Times New Roman"/>
                <a:cs typeface="Times New Roman"/>
                <a:sym typeface="Times New Roman"/>
              </a:rPr>
              <a:t>x</a:t>
            </a:r>
            <a:r>
              <a:rPr baseline="30000" i="0" lang="en-US" sz="2300" u="none">
                <a:solidFill>
                  <a:schemeClr val="dk1"/>
                </a:solidFill>
                <a:latin typeface="Times New Roman"/>
                <a:ea typeface="Times New Roman"/>
                <a:cs typeface="Times New Roman"/>
                <a:sym typeface="Times New Roman"/>
              </a:rPr>
              <a:t>i</a:t>
            </a:r>
            <a:r>
              <a:rPr i="0" lang="en-US" sz="2300" u="none">
                <a:solidFill>
                  <a:schemeClr val="dk1"/>
                </a:solidFill>
                <a:latin typeface="Times New Roman"/>
                <a:ea typeface="Times New Roman"/>
                <a:cs typeface="Times New Roman"/>
                <a:sym typeface="Times New Roman"/>
              </a:rPr>
              <a:t>) should be the same as being in the likely state </a:t>
            </a:r>
            <a:r>
              <a:rPr i="1" lang="en-US" sz="2300" u="none">
                <a:solidFill>
                  <a:schemeClr val="dk1"/>
                </a:solidFill>
                <a:latin typeface="Times New Roman"/>
                <a:ea typeface="Times New Roman"/>
                <a:cs typeface="Times New Roman"/>
                <a:sym typeface="Times New Roman"/>
              </a:rPr>
              <a:t>s</a:t>
            </a:r>
            <a:r>
              <a:rPr baseline="30000" i="1" lang="en-US" sz="2300" u="none">
                <a:solidFill>
                  <a:schemeClr val="dk1"/>
                </a:solidFill>
                <a:latin typeface="Times New Roman"/>
                <a:ea typeface="Times New Roman"/>
                <a:cs typeface="Times New Roman"/>
                <a:sym typeface="Times New Roman"/>
              </a:rPr>
              <a:t>i</a:t>
            </a:r>
            <a:r>
              <a:rPr i="1" lang="en-US" sz="2300" u="none">
                <a:solidFill>
                  <a:schemeClr val="dk1"/>
                </a:solidFill>
                <a:latin typeface="Times New Roman"/>
                <a:ea typeface="Times New Roman"/>
                <a:cs typeface="Times New Roman"/>
                <a:sym typeface="Times New Roman"/>
              </a:rPr>
              <a:t> and heading for the unlikely state s, so that: </a:t>
            </a:r>
            <a:endParaRPr sz="2300">
              <a:latin typeface="Times New Roman"/>
              <a:ea typeface="Times New Roman"/>
              <a:cs typeface="Times New Roman"/>
              <a:sym typeface="Times New Roman"/>
            </a:endParaRPr>
          </a:p>
        </p:txBody>
      </p:sp>
      <p:pic>
        <p:nvPicPr>
          <p:cNvPr id="213" name="Google Shape;213;p20"/>
          <p:cNvPicPr preferRelativeResize="0"/>
          <p:nvPr/>
        </p:nvPicPr>
        <p:blipFill rotWithShape="1">
          <a:blip r:embed="rId3">
            <a:alphaModFix/>
          </a:blip>
          <a:srcRect b="0" l="0" r="0" t="0"/>
          <a:stretch/>
        </p:blipFill>
        <p:spPr>
          <a:xfrm>
            <a:off x="2532162" y="2331650"/>
            <a:ext cx="5224462" cy="762000"/>
          </a:xfrm>
          <a:prstGeom prst="rect">
            <a:avLst/>
          </a:prstGeom>
          <a:noFill/>
          <a:ln>
            <a:noFill/>
          </a:ln>
        </p:spPr>
      </p:pic>
      <p:pic>
        <p:nvPicPr>
          <p:cNvPr id="214" name="Google Shape;214;p20"/>
          <p:cNvPicPr preferRelativeResize="0"/>
          <p:nvPr/>
        </p:nvPicPr>
        <p:blipFill rotWithShape="1">
          <a:blip r:embed="rId4">
            <a:alphaModFix/>
          </a:blip>
          <a:srcRect b="0" l="0" r="0" t="0"/>
          <a:stretch/>
        </p:blipFill>
        <p:spPr>
          <a:xfrm>
            <a:off x="2710050" y="5620750"/>
            <a:ext cx="5257800" cy="533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1"/>
          <p:cNvSpPr txBox="1"/>
          <p:nvPr>
            <p:ph idx="1" type="body"/>
          </p:nvPr>
        </p:nvSpPr>
        <p:spPr>
          <a:xfrm>
            <a:off x="228600" y="228600"/>
            <a:ext cx="8686800" cy="6477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This is known as the detailed balance condition and the fact that it leaves the distribution p(x) alone is fairly obvious with a little calculation.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If the chain satisfies the detailed balance condition, then it must be ergodic,                                       since you must have come from some state, and so</a:t>
            </a:r>
            <a:endParaRPr>
              <a:latin typeface="Times New Roman"/>
              <a:ea typeface="Times New Roman"/>
              <a:cs typeface="Times New Roman"/>
              <a:sym typeface="Times New Roman"/>
            </a:endParaRPr>
          </a:p>
          <a:p>
            <a:pPr indent="-190500" lvl="0" marL="342900" marR="0" rtl="0" algn="just">
              <a:lnSpc>
                <a:spcPct val="100000"/>
              </a:lnSpc>
              <a:spcBef>
                <a:spcPts val="480"/>
              </a:spcBef>
              <a:spcAft>
                <a:spcPts val="0"/>
              </a:spcAft>
              <a:buClr>
                <a:schemeClr val="dk1"/>
              </a:buClr>
              <a:buSzPts val="2400"/>
              <a:buFont typeface="Arial"/>
              <a:buNone/>
            </a:pPr>
            <a:r>
              <a:t/>
            </a:r>
            <a:endParaRPr i="0" sz="2400" u="none">
              <a:solidFill>
                <a:schemeClr val="dk1"/>
              </a:solidFill>
              <a:latin typeface="Times New Roman"/>
              <a:ea typeface="Times New Roman"/>
              <a:cs typeface="Times New Roman"/>
              <a:sym typeface="Times New Roman"/>
            </a:endParaRPr>
          </a:p>
          <a:p>
            <a:pPr indent="-190500" lvl="0" marL="342900" marR="0" rtl="0" algn="just">
              <a:lnSpc>
                <a:spcPct val="100000"/>
              </a:lnSpc>
              <a:spcBef>
                <a:spcPts val="480"/>
              </a:spcBef>
              <a:spcAft>
                <a:spcPts val="0"/>
              </a:spcAft>
              <a:buClr>
                <a:schemeClr val="dk1"/>
              </a:buClr>
              <a:buSzPts val="2400"/>
              <a:buFont typeface="Arial"/>
              <a:buNone/>
            </a:pPr>
            <a:r>
              <a:t/>
            </a:r>
            <a:endParaRPr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which means that p(x) must be an invariant distribution of T.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So if we can work out how to construct a Markov chain with detailed balance we can sample from it in order to sample from our distribution.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This is known as Markov Chain Monte Carlo (MCMC) sampling, and the most popular algorithm that is used for MCMC is the Metropolis–Hastings algorithm after the two people who were directly involved in its creation.</a:t>
            </a:r>
            <a:endParaRPr>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i="0" sz="2400" u="none">
              <a:solidFill>
                <a:schemeClr val="dk1"/>
              </a:solidFill>
              <a:latin typeface="Times New Roman"/>
              <a:ea typeface="Times New Roman"/>
              <a:cs typeface="Times New Roman"/>
              <a:sym typeface="Times New Roman"/>
            </a:endParaRPr>
          </a:p>
        </p:txBody>
      </p:sp>
      <p:sp>
        <p:nvSpPr>
          <p:cNvPr id="220" name="Google Shape;220;p21"/>
          <p:cNvSpPr txBox="1"/>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21" name="Google Shape;221;p21"/>
          <p:cNvPicPr preferRelativeResize="0"/>
          <p:nvPr/>
        </p:nvPicPr>
        <p:blipFill rotWithShape="1">
          <a:blip r:embed="rId3">
            <a:alphaModFix/>
          </a:blip>
          <a:srcRect b="0" l="0" r="0" t="0"/>
          <a:stretch/>
        </p:blipFill>
        <p:spPr>
          <a:xfrm>
            <a:off x="2971800" y="1828800"/>
            <a:ext cx="1514475" cy="533400"/>
          </a:xfrm>
          <a:prstGeom prst="rect">
            <a:avLst/>
          </a:prstGeom>
          <a:noFill/>
          <a:ln>
            <a:noFill/>
          </a:ln>
        </p:spPr>
      </p:pic>
      <p:sp>
        <p:nvSpPr>
          <p:cNvPr id="222" name="Google Shape;222;p21"/>
          <p:cNvSpPr txBox="1"/>
          <p:nvPr/>
        </p:nvSpPr>
        <p:spPr>
          <a:xfrm>
            <a:off x="0" y="103822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23" name="Google Shape;223;p21"/>
          <p:cNvPicPr preferRelativeResize="0"/>
          <p:nvPr/>
        </p:nvPicPr>
        <p:blipFill rotWithShape="1">
          <a:blip r:embed="rId4">
            <a:alphaModFix/>
          </a:blip>
          <a:srcRect b="0" l="0" r="0" t="0"/>
          <a:stretch/>
        </p:blipFill>
        <p:spPr>
          <a:xfrm>
            <a:off x="3124200" y="2514600"/>
            <a:ext cx="4876800" cy="685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2"/>
          <p:cNvSpPr txBox="1"/>
          <p:nvPr>
            <p:ph idx="1" type="body"/>
          </p:nvPr>
        </p:nvSpPr>
        <p:spPr>
          <a:xfrm>
            <a:off x="228600" y="228600"/>
            <a:ext cx="8686800" cy="6400800"/>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100000"/>
              </a:lnSpc>
              <a:spcBef>
                <a:spcPts val="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 Metropolis–Hastings Algorithm We assume that we have a proposal distribution of the form q(x</a:t>
            </a:r>
            <a:r>
              <a:rPr baseline="30000" i="0" lang="en-US" sz="2600" u="none">
                <a:solidFill>
                  <a:schemeClr val="dk1"/>
                </a:solidFill>
                <a:latin typeface="Times New Roman"/>
                <a:ea typeface="Times New Roman"/>
                <a:cs typeface="Times New Roman"/>
                <a:sym typeface="Times New Roman"/>
              </a:rPr>
              <a:t>(i)</a:t>
            </a:r>
            <a:r>
              <a:rPr i="0" lang="en-US" sz="2200" u="none">
                <a:solidFill>
                  <a:schemeClr val="dk1"/>
                </a:solidFill>
                <a:latin typeface="Times New Roman"/>
                <a:ea typeface="Times New Roman"/>
                <a:cs typeface="Times New Roman"/>
                <a:sym typeface="Times New Roman"/>
              </a:rPr>
              <a:t>|x</a:t>
            </a:r>
            <a:r>
              <a:rPr baseline="30000" i="0" lang="en-US" sz="2600" u="none">
                <a:solidFill>
                  <a:schemeClr val="dk1"/>
                </a:solidFill>
                <a:latin typeface="Times New Roman"/>
                <a:ea typeface="Times New Roman"/>
                <a:cs typeface="Times New Roman"/>
                <a:sym typeface="Times New Roman"/>
              </a:rPr>
              <a:t>(i−1)</a:t>
            </a:r>
            <a:r>
              <a:rPr i="0" lang="en-US" sz="2200" u="none">
                <a:solidFill>
                  <a:schemeClr val="dk1"/>
                </a:solidFill>
                <a:latin typeface="Times New Roman"/>
                <a:ea typeface="Times New Roman"/>
                <a:cs typeface="Times New Roman"/>
                <a:sym typeface="Times New Roman"/>
              </a:rPr>
              <a:t>) that we can sample from. </a:t>
            </a:r>
            <a:endParaRPr>
              <a:latin typeface="Times New Roman"/>
              <a:ea typeface="Times New Roman"/>
              <a:cs typeface="Times New Roman"/>
              <a:sym typeface="Times New Roman"/>
            </a:endParaRPr>
          </a:p>
          <a:p>
            <a:pPr indent="-342900" lvl="0" marL="342900" marR="0" rtl="0" algn="just">
              <a:lnSpc>
                <a:spcPct val="100000"/>
              </a:lnSpc>
              <a:spcBef>
                <a:spcPts val="44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 </a:t>
            </a:r>
            <a:r>
              <a:rPr b="1" i="0" lang="en-US" sz="2200" u="none">
                <a:solidFill>
                  <a:schemeClr val="dk1"/>
                </a:solidFill>
                <a:latin typeface="Times New Roman"/>
                <a:ea typeface="Times New Roman"/>
                <a:cs typeface="Times New Roman"/>
                <a:sym typeface="Times New Roman"/>
              </a:rPr>
              <a:t>idea of Metropolis–Hastings is similar to that of rejection sampling:</a:t>
            </a:r>
            <a:r>
              <a:rPr i="0" lang="en-US" sz="2200" u="none">
                <a:solidFill>
                  <a:schemeClr val="dk1"/>
                </a:solidFill>
                <a:latin typeface="Times New Roman"/>
                <a:ea typeface="Times New Roman"/>
                <a:cs typeface="Times New Roman"/>
                <a:sym typeface="Times New Roman"/>
              </a:rPr>
              <a:t> we take a sample x and choose whether or not to keep it. </a:t>
            </a:r>
            <a:endParaRPr>
              <a:latin typeface="Times New Roman"/>
              <a:ea typeface="Times New Roman"/>
              <a:cs typeface="Times New Roman"/>
              <a:sym typeface="Times New Roman"/>
            </a:endParaRPr>
          </a:p>
          <a:p>
            <a:pPr indent="-342900" lvl="0" marL="342900" marR="0" rtl="0" algn="just">
              <a:lnSpc>
                <a:spcPct val="100000"/>
              </a:lnSpc>
              <a:spcBef>
                <a:spcPts val="440"/>
              </a:spcBef>
              <a:spcAft>
                <a:spcPts val="0"/>
              </a:spcAft>
              <a:buClr>
                <a:schemeClr val="dk1"/>
              </a:buClr>
              <a:buSzPts val="2200"/>
              <a:buFont typeface="Arial"/>
              <a:buChar char="•"/>
            </a:pPr>
            <a:r>
              <a:rPr i="0" lang="en-US" sz="2200" u="none">
                <a:solidFill>
                  <a:schemeClr val="dk1"/>
                </a:solidFill>
                <a:latin typeface="Times New Roman"/>
                <a:ea typeface="Times New Roman"/>
                <a:cs typeface="Times New Roman"/>
                <a:sym typeface="Times New Roman"/>
              </a:rPr>
              <a:t>Except, unlike rejection sampling</a:t>
            </a:r>
            <a:r>
              <a:rPr b="1" i="0" lang="en-US" sz="2200" u="none">
                <a:solidFill>
                  <a:schemeClr val="dk1"/>
                </a:solidFill>
                <a:latin typeface="Times New Roman"/>
                <a:ea typeface="Times New Roman"/>
                <a:cs typeface="Times New Roman"/>
                <a:sym typeface="Times New Roman"/>
              </a:rPr>
              <a:t>, </a:t>
            </a:r>
            <a:r>
              <a:rPr i="0" lang="en-US" sz="2200" u="none">
                <a:solidFill>
                  <a:schemeClr val="dk1"/>
                </a:solidFill>
                <a:latin typeface="Times New Roman"/>
                <a:ea typeface="Times New Roman"/>
                <a:cs typeface="Times New Roman"/>
                <a:sym typeface="Times New Roman"/>
              </a:rPr>
              <a:t>rather than picking another sample if we reject the current one, instead we add another copy of the previous accepted sample. </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Here, the probability of keeping the sample is u(x*|x</a:t>
            </a:r>
            <a:r>
              <a:rPr baseline="30000" i="0" lang="en-US" sz="2600" u="none">
                <a:solidFill>
                  <a:schemeClr val="dk1"/>
                </a:solidFill>
                <a:latin typeface="Times New Roman"/>
                <a:ea typeface="Times New Roman"/>
                <a:cs typeface="Times New Roman"/>
                <a:sym typeface="Times New Roman"/>
              </a:rPr>
              <a:t>(i−1</a:t>
            </a:r>
            <a:r>
              <a:rPr i="0" lang="en-US" sz="2200" u="none">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203200" lvl="0" marL="342900" marR="0" rtl="0" algn="just">
              <a:lnSpc>
                <a:spcPct val="100000"/>
              </a:lnSpc>
              <a:spcBef>
                <a:spcPts val="440"/>
              </a:spcBef>
              <a:spcAft>
                <a:spcPts val="0"/>
              </a:spcAft>
              <a:buClr>
                <a:schemeClr val="dk1"/>
              </a:buClr>
              <a:buSzPts val="2200"/>
              <a:buFont typeface="Arial"/>
              <a:buNone/>
            </a:pPr>
            <a:r>
              <a:t/>
            </a:r>
            <a:endParaRPr i="0" sz="2200" u="none">
              <a:solidFill>
                <a:schemeClr val="dk1"/>
              </a:solidFill>
              <a:latin typeface="Times New Roman"/>
              <a:ea typeface="Times New Roman"/>
              <a:cs typeface="Times New Roman"/>
              <a:sym typeface="Times New Roman"/>
            </a:endParaRPr>
          </a:p>
          <a:p>
            <a:pPr indent="-203200" lvl="0" marL="342900" marR="0" rtl="0" algn="just">
              <a:lnSpc>
                <a:spcPct val="100000"/>
              </a:lnSpc>
              <a:spcBef>
                <a:spcPts val="440"/>
              </a:spcBef>
              <a:spcAft>
                <a:spcPts val="0"/>
              </a:spcAft>
              <a:buClr>
                <a:schemeClr val="dk1"/>
              </a:buClr>
              <a:buSzPts val="2200"/>
              <a:buFont typeface="Arial"/>
              <a:buNone/>
            </a:pPr>
            <a:r>
              <a:t/>
            </a:r>
            <a:endParaRPr i="0" sz="2200" u="none">
              <a:solidFill>
                <a:schemeClr val="dk1"/>
              </a:solidFill>
              <a:latin typeface="Times New Roman"/>
              <a:ea typeface="Times New Roman"/>
              <a:cs typeface="Times New Roman"/>
              <a:sym typeface="Times New Roman"/>
            </a:endParaRPr>
          </a:p>
          <a:p>
            <a:pPr indent="-203200" lvl="0" marL="342900" marR="0" rtl="0" algn="just">
              <a:lnSpc>
                <a:spcPct val="100000"/>
              </a:lnSpc>
              <a:spcBef>
                <a:spcPts val="440"/>
              </a:spcBef>
              <a:spcAft>
                <a:spcPts val="0"/>
              </a:spcAft>
              <a:buClr>
                <a:schemeClr val="dk1"/>
              </a:buClr>
              <a:buSzPts val="2200"/>
              <a:buFont typeface="Arial"/>
              <a:buNone/>
            </a:pPr>
            <a:r>
              <a:t/>
            </a:r>
            <a:endParaRPr i="0" sz="2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4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Each step involves using the current value to sample from the proposal distribution. </a:t>
            </a:r>
            <a:endParaRPr>
              <a:latin typeface="Times New Roman"/>
              <a:ea typeface="Times New Roman"/>
              <a:cs typeface="Times New Roman"/>
              <a:sym typeface="Times New Roman"/>
            </a:endParaRPr>
          </a:p>
          <a:p>
            <a:pPr indent="-342900" lvl="0" marL="342900" marR="0" rtl="0" algn="just">
              <a:lnSpc>
                <a:spcPct val="100000"/>
              </a:lnSpc>
              <a:spcBef>
                <a:spcPts val="44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These values are accepted if they move the Markov chain towards more likely states, and because the Markov chain is reversible (since it satisfies the detailed balance condition) the algorithm explores states that are proportional to the difficult distribution </a:t>
            </a:r>
            <a:r>
              <a:rPr i="1" lang="en-US" sz="2200" u="none">
                <a:solidFill>
                  <a:schemeClr val="dk1"/>
                </a:solidFill>
                <a:latin typeface="Times New Roman"/>
                <a:ea typeface="Times New Roman"/>
                <a:cs typeface="Times New Roman"/>
                <a:sym typeface="Times New Roman"/>
              </a:rPr>
              <a:t>p(x).</a:t>
            </a:r>
            <a:endParaRPr>
              <a:latin typeface="Times New Roman"/>
              <a:ea typeface="Times New Roman"/>
              <a:cs typeface="Times New Roman"/>
              <a:sym typeface="Times New Roman"/>
            </a:endParaRPr>
          </a:p>
        </p:txBody>
      </p:sp>
      <p:pic>
        <p:nvPicPr>
          <p:cNvPr id="229" name="Google Shape;229;p22"/>
          <p:cNvPicPr preferRelativeResize="0"/>
          <p:nvPr/>
        </p:nvPicPr>
        <p:blipFill rotWithShape="1">
          <a:blip r:embed="rId3">
            <a:alphaModFix/>
          </a:blip>
          <a:srcRect b="0" l="0" r="0" t="0"/>
          <a:stretch/>
        </p:blipFill>
        <p:spPr>
          <a:xfrm>
            <a:off x="2514600" y="3352800"/>
            <a:ext cx="6172200" cy="838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3"/>
          <p:cNvSpPr txBox="1"/>
          <p:nvPr>
            <p:ph idx="1" type="body"/>
          </p:nvPr>
        </p:nvSpPr>
        <p:spPr>
          <a:xfrm>
            <a:off x="76200" y="3810000"/>
            <a:ext cx="8915400" cy="2819400"/>
          </a:xfrm>
          <a:prstGeom prst="rect">
            <a:avLst/>
          </a:prstGeom>
          <a:noFill/>
          <a:ln>
            <a:noFill/>
          </a:ln>
        </p:spPr>
        <p:txBody>
          <a:bodyPr anchorCtr="0" anchor="t" bIns="45700" lIns="91425" spcFirstLastPara="1" rIns="91425" wrap="square" tIns="45700">
            <a:noAutofit/>
          </a:bodyPr>
          <a:lstStyle/>
          <a:p>
            <a:pPr indent="-330200" lvl="0" marL="342900" marR="0" rtl="0" algn="just">
              <a:lnSpc>
                <a:spcPct val="100000"/>
              </a:lnSpc>
              <a:spcBef>
                <a:spcPts val="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The Metropolis–Hastings (and variants of it) are by far the most commonly used MCMC methods, and it is also the most general. </a:t>
            </a:r>
            <a:endParaRPr sz="3000">
              <a:latin typeface="Times New Roman"/>
              <a:ea typeface="Times New Roman"/>
              <a:cs typeface="Times New Roman"/>
              <a:sym typeface="Times New Roman"/>
            </a:endParaRPr>
          </a:p>
          <a:p>
            <a:pPr indent="-330200" lvl="0" marL="342900" marR="0" rtl="0" algn="just">
              <a:lnSpc>
                <a:spcPct val="100000"/>
              </a:lnSpc>
              <a:spcBef>
                <a:spcPts val="48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It requires that you choose the proposal distribution q(x*|x) carefully, but it is a very simple algorithm to use. </a:t>
            </a:r>
            <a:endParaRPr sz="3000">
              <a:latin typeface="Times New Roman"/>
              <a:ea typeface="Times New Roman"/>
              <a:cs typeface="Times New Roman"/>
              <a:sym typeface="Times New Roman"/>
            </a:endParaRPr>
          </a:p>
          <a:p>
            <a:pPr indent="-330200" lvl="0" marL="342900" marR="0" rtl="0" algn="just">
              <a:lnSpc>
                <a:spcPct val="100000"/>
              </a:lnSpc>
              <a:spcBef>
                <a:spcPts val="480"/>
              </a:spcBef>
              <a:spcAft>
                <a:spcPts val="0"/>
              </a:spcAft>
              <a:buClr>
                <a:schemeClr val="dk1"/>
              </a:buClr>
              <a:buSzPts val="2200"/>
              <a:buFont typeface="Times New Roman"/>
              <a:buChar char="•"/>
            </a:pPr>
            <a:r>
              <a:rPr i="0" lang="en-US" sz="2200" u="none">
                <a:solidFill>
                  <a:schemeClr val="dk1"/>
                </a:solidFill>
                <a:latin typeface="Times New Roman"/>
                <a:ea typeface="Times New Roman"/>
                <a:cs typeface="Times New Roman"/>
                <a:sym typeface="Times New Roman"/>
              </a:rPr>
              <a:t>Figure 15.5 shows 5,000 samples computed using the algorithm on a mixture of two Gaussians based on a proposal distribution that is a single Gaussian.</a:t>
            </a:r>
            <a:endParaRPr sz="3000">
              <a:latin typeface="Times New Roman"/>
              <a:ea typeface="Times New Roman"/>
              <a:cs typeface="Times New Roman"/>
              <a:sym typeface="Times New Roman"/>
            </a:endParaRPr>
          </a:p>
        </p:txBody>
      </p:sp>
      <p:pic>
        <p:nvPicPr>
          <p:cNvPr id="235" name="Google Shape;235;p23"/>
          <p:cNvPicPr preferRelativeResize="0"/>
          <p:nvPr/>
        </p:nvPicPr>
        <p:blipFill rotWithShape="1">
          <a:blip r:embed="rId3">
            <a:alphaModFix/>
          </a:blip>
          <a:srcRect b="0" l="0" r="0" t="0"/>
          <a:stretch/>
        </p:blipFill>
        <p:spPr>
          <a:xfrm>
            <a:off x="457200" y="0"/>
            <a:ext cx="6629400" cy="37338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24"/>
          <p:cNvPicPr preferRelativeResize="0"/>
          <p:nvPr/>
        </p:nvPicPr>
        <p:blipFill rotWithShape="1">
          <a:blip r:embed="rId3">
            <a:alphaModFix/>
          </a:blip>
          <a:srcRect b="0" l="0" r="0" t="0"/>
          <a:stretch/>
        </p:blipFill>
        <p:spPr>
          <a:xfrm>
            <a:off x="1908175" y="1268412"/>
            <a:ext cx="5854700" cy="5157787"/>
          </a:xfrm>
          <a:prstGeom prst="rect">
            <a:avLst/>
          </a:prstGeom>
          <a:noFill/>
          <a:ln>
            <a:noFill/>
          </a:ln>
        </p:spPr>
      </p:pic>
      <p:sp>
        <p:nvSpPr>
          <p:cNvPr id="241" name="Google Shape;241;p24"/>
          <p:cNvSpPr txBox="1"/>
          <p:nvPr/>
        </p:nvSpPr>
        <p:spPr>
          <a:xfrm>
            <a:off x="1476375" y="228600"/>
            <a:ext cx="7286700" cy="923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i="0" lang="en-US" sz="1800" u="none">
                <a:solidFill>
                  <a:schemeClr val="dk1"/>
                </a:solidFill>
                <a:latin typeface="Times New Roman"/>
                <a:ea typeface="Times New Roman"/>
                <a:cs typeface="Times New Roman"/>
                <a:sym typeface="Times New Roman"/>
              </a:rPr>
              <a:t>FIGURE 15.5 The results of the Metropolis–Hastings algorithm when the true distribution is a mixture of two Gaussians (shown by the solid line) and the proposal distribution is a single Gaussian (the dotted line).</a:t>
            </a:r>
            <a:endParaRPr>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25"/>
          <p:cNvPicPr preferRelativeResize="0"/>
          <p:nvPr/>
        </p:nvPicPr>
        <p:blipFill rotWithShape="1">
          <a:blip r:embed="rId3">
            <a:alphaModFix/>
          </a:blip>
          <a:srcRect b="0" l="0" r="0" t="0"/>
          <a:stretch/>
        </p:blipFill>
        <p:spPr>
          <a:xfrm>
            <a:off x="539750" y="2133600"/>
            <a:ext cx="7272337" cy="4319587"/>
          </a:xfrm>
          <a:prstGeom prst="rect">
            <a:avLst/>
          </a:prstGeom>
          <a:noFill/>
          <a:ln>
            <a:noFill/>
          </a:ln>
        </p:spPr>
      </p:pic>
      <p:sp>
        <p:nvSpPr>
          <p:cNvPr id="247" name="Google Shape;247;p25"/>
          <p:cNvSpPr txBox="1"/>
          <p:nvPr/>
        </p:nvSpPr>
        <p:spPr>
          <a:xfrm>
            <a:off x="611187" y="633412"/>
            <a:ext cx="8380500" cy="877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i="0" lang="en-US" sz="1700" u="none">
                <a:solidFill>
                  <a:schemeClr val="dk1"/>
                </a:solidFill>
                <a:latin typeface="Times New Roman"/>
                <a:ea typeface="Times New Roman"/>
                <a:cs typeface="Times New Roman"/>
                <a:sym typeface="Times New Roman"/>
              </a:rPr>
              <a:t>FIGURE 15.6 The results of the Metropolis algorithm when the true distribution is a mixture of two Gaussians (shown by the solid line) and the proposal distribution is a single Gaussian (the dotted line).</a:t>
            </a:r>
            <a:endParaRPr sz="130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6"/>
          <p:cNvSpPr txBox="1"/>
          <p:nvPr>
            <p:ph type="title"/>
          </p:nvPr>
        </p:nvSpPr>
        <p:spPr>
          <a:xfrm>
            <a:off x="1547812" y="333375"/>
            <a:ext cx="4953000" cy="8683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3600"/>
              <a:buFont typeface="Calibri"/>
              <a:buNone/>
            </a:pPr>
            <a:r>
              <a:rPr b="1" i="0" lang="en-US" sz="2900" u="none">
                <a:solidFill>
                  <a:srgbClr val="FF0000"/>
                </a:solidFill>
                <a:latin typeface="Times New Roman"/>
                <a:ea typeface="Times New Roman"/>
                <a:cs typeface="Times New Roman"/>
                <a:sym typeface="Times New Roman"/>
              </a:rPr>
              <a:t>GRAPHICAL MODELS</a:t>
            </a:r>
            <a:endParaRPr sz="3259">
              <a:solidFill>
                <a:srgbClr val="FF0000"/>
              </a:solidFill>
              <a:latin typeface="Times New Roman"/>
              <a:ea typeface="Times New Roman"/>
              <a:cs typeface="Times New Roman"/>
              <a:sym typeface="Times New Roman"/>
            </a:endParaRPr>
          </a:p>
        </p:txBody>
      </p:sp>
      <p:sp>
        <p:nvSpPr>
          <p:cNvPr id="253" name="Google Shape;253;p26"/>
          <p:cNvSpPr txBox="1"/>
          <p:nvPr>
            <p:ph idx="1" type="body"/>
          </p:nvPr>
        </p:nvSpPr>
        <p:spPr>
          <a:xfrm>
            <a:off x="152400" y="1557337"/>
            <a:ext cx="8839200" cy="38401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Machine Learning brings together computer science and statistics. </a:t>
            </a:r>
            <a:endParaRPr>
              <a:latin typeface="Times New Roman"/>
              <a:ea typeface="Times New Roman"/>
              <a:cs typeface="Times New Roman"/>
              <a:sym typeface="Times New Roman"/>
            </a:endParaRPr>
          </a:p>
          <a:p>
            <a:pPr indent="-342900" lvl="0" marL="342900" marR="0" rtl="0" algn="just">
              <a:lnSpc>
                <a:spcPct val="100000"/>
              </a:lnSpc>
              <a:spcBef>
                <a:spcPts val="50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Graphical models (or more completely, probabilistic graphical models), use graph theory with all its underlying computational and mathematical machinery in order to explain probabilistic models.</a:t>
            </a:r>
            <a:endParaRPr>
              <a:latin typeface="Times New Roman"/>
              <a:ea typeface="Times New Roman"/>
              <a:cs typeface="Times New Roman"/>
              <a:sym typeface="Times New Roman"/>
            </a:endParaRPr>
          </a:p>
          <a:p>
            <a:pPr indent="-342900" lvl="0" marL="342900" marR="0" rtl="0" algn="just">
              <a:lnSpc>
                <a:spcPct val="100000"/>
              </a:lnSpc>
              <a:spcBef>
                <a:spcPts val="50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The graphs used in graphical models are the exact ones that are taught in basic algorithms classes: a set of nodes, together with links between them, which can be either directed or not.</a:t>
            </a:r>
            <a:endParaRPr b="1" i="0" sz="2500" u="none">
              <a:solidFill>
                <a:schemeClr val="dk1"/>
              </a:solidFill>
              <a:latin typeface="Times New Roman"/>
              <a:ea typeface="Times New Roman"/>
              <a:cs typeface="Times New Roman"/>
              <a:sym typeface="Times New Roman"/>
            </a:endParaRPr>
          </a:p>
          <a:p>
            <a:pPr indent="-184150" lvl="0" marL="342900" marR="0" rtl="0" algn="l">
              <a:spcBef>
                <a:spcPts val="500"/>
              </a:spcBef>
              <a:spcAft>
                <a:spcPts val="0"/>
              </a:spcAft>
              <a:buClr>
                <a:schemeClr val="dk1"/>
              </a:buClr>
              <a:buSzPts val="2500"/>
              <a:buFont typeface="Arial"/>
              <a:buNone/>
            </a:pPr>
            <a:r>
              <a:t/>
            </a:r>
            <a:endParaRPr b="1" i="0" sz="2500" u="none">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7"/>
          <p:cNvSpPr txBox="1"/>
          <p:nvPr>
            <p:ph idx="1" type="body"/>
          </p:nvPr>
        </p:nvSpPr>
        <p:spPr>
          <a:xfrm>
            <a:off x="152400" y="457200"/>
            <a:ext cx="8839200" cy="5867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There are two basic types of graphical models, depending upon whether or not the edges are directed.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We will focus primarily on directed graphs, but the undirected kind (known as Markov Random Fields).</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For such a simple data structure, graphs have turned out to be incredibly powerful in many different parts of computer science, from constructing compilers to managing computer networks.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For this reason, there are lots of readily available algorithms for finding shortest paths (Floyd’s and Djiksta’s algorithms), determining cycles, etc.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Generate a node for each random variable, and label it accordingly. </a:t>
            </a:r>
            <a:endParaRPr>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8"/>
          <p:cNvSpPr txBox="1"/>
          <p:nvPr>
            <p:ph idx="1" type="body"/>
          </p:nvPr>
        </p:nvSpPr>
        <p:spPr>
          <a:xfrm>
            <a:off x="228600" y="228600"/>
            <a:ext cx="8763000" cy="6400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Only consider discrete variables, so that there is a finite number of possible values that the random variable can take. </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Given a continuous variable we will discretized it into a finite set. </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While this loses information, it makes the problem much simpler. </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alternative is to specify the variable by a probability density function, which can be done, but makes the whole thing harder to describe and understand.</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If there is no connection between those two variables, which is the same as saying that they are independent. </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Except it isn’t quite as simple as that, because two nodes could be linked through a third node. </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Have a look at the right of Figure 16.1, where C is not directly linked to B, but there is a link through A. </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For this reason we have to be careful and talk about conditional independence: C is conditionally independent of B, given A.</a:t>
            </a:r>
            <a:endParaRPr>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9"/>
          <p:cNvSpPr txBox="1"/>
          <p:nvPr>
            <p:ph idx="1" type="body"/>
          </p:nvPr>
        </p:nvSpPr>
        <p:spPr>
          <a:xfrm>
            <a:off x="76200" y="2438400"/>
            <a:ext cx="8991600" cy="4267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Use directed links because these relationships are not symmetrical. </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Top of Figure 16.1, mean? ‘A’ causes ‘B’ (but note that this isn’t quite the same semantic usage that we normally have for ‘causes’, since there may be several  variables that are all involved in causing B).</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Graph tells us that the probability of A and B is the same as the probability of A times the probability of B conditioned on A: </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Arial"/>
              <a:buNone/>
            </a:pPr>
            <a:r>
              <a:rPr i="1" lang="en-US" sz="2300" u="none">
                <a:solidFill>
                  <a:schemeClr val="dk1"/>
                </a:solidFill>
                <a:latin typeface="Times New Roman"/>
                <a:ea typeface="Times New Roman"/>
                <a:cs typeface="Times New Roman"/>
                <a:sym typeface="Times New Roman"/>
              </a:rPr>
              <a:t>				P(a, b) = P(b | a) P(a).</a:t>
            </a:r>
            <a:endParaRPr>
              <a:latin typeface="Times New Roman"/>
              <a:ea typeface="Times New Roman"/>
              <a:cs typeface="Times New Roman"/>
              <a:sym typeface="Times New Roman"/>
            </a:endParaRPr>
          </a:p>
          <a:p>
            <a:pPr indent="-342900" lvl="0" marL="342900" marR="0" rtl="0" algn="l">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If there is no direct link between two nodes then they are conditionally independent of each other.</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Third thing to specify the problem properly, is the conditional probability table for each variable. </a:t>
            </a:r>
            <a:endParaRPr>
              <a:latin typeface="Times New Roman"/>
              <a:ea typeface="Times New Roman"/>
              <a:cs typeface="Times New Roman"/>
              <a:sym typeface="Times New Roman"/>
            </a:endParaRPr>
          </a:p>
        </p:txBody>
      </p:sp>
      <p:pic>
        <p:nvPicPr>
          <p:cNvPr id="269" name="Google Shape;269;p29"/>
          <p:cNvPicPr preferRelativeResize="0"/>
          <p:nvPr/>
        </p:nvPicPr>
        <p:blipFill rotWithShape="1">
          <a:blip r:embed="rId3">
            <a:alphaModFix/>
          </a:blip>
          <a:srcRect b="0" l="0" r="0" t="0"/>
          <a:stretch/>
        </p:blipFill>
        <p:spPr>
          <a:xfrm>
            <a:off x="0" y="0"/>
            <a:ext cx="3505200" cy="1143000"/>
          </a:xfrm>
          <a:prstGeom prst="rect">
            <a:avLst/>
          </a:prstGeom>
          <a:noFill/>
          <a:ln>
            <a:noFill/>
          </a:ln>
        </p:spPr>
      </p:pic>
      <p:pic>
        <p:nvPicPr>
          <p:cNvPr id="270" name="Google Shape;270;p29"/>
          <p:cNvPicPr preferRelativeResize="0"/>
          <p:nvPr/>
        </p:nvPicPr>
        <p:blipFill rotWithShape="1">
          <a:blip r:embed="rId4">
            <a:alphaModFix/>
          </a:blip>
          <a:srcRect b="0" l="0" r="0" t="0"/>
          <a:stretch/>
        </p:blipFill>
        <p:spPr>
          <a:xfrm>
            <a:off x="5791200" y="0"/>
            <a:ext cx="3352800" cy="1600200"/>
          </a:xfrm>
          <a:prstGeom prst="rect">
            <a:avLst/>
          </a:prstGeom>
          <a:noFill/>
          <a:ln>
            <a:noFill/>
          </a:ln>
        </p:spPr>
      </p:pic>
      <p:sp>
        <p:nvSpPr>
          <p:cNvPr id="271" name="Google Shape;271;p29"/>
          <p:cNvSpPr txBox="1"/>
          <p:nvPr/>
        </p:nvSpPr>
        <p:spPr>
          <a:xfrm>
            <a:off x="228600" y="1639887"/>
            <a:ext cx="86868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i="0" lang="en-US" sz="1800" u="none">
                <a:solidFill>
                  <a:schemeClr val="dk1"/>
                </a:solidFill>
                <a:latin typeface="Times New Roman"/>
                <a:ea typeface="Times New Roman"/>
                <a:cs typeface="Times New Roman"/>
                <a:sym typeface="Times New Roman"/>
              </a:rPr>
              <a:t>FIGURE 16.1 Two simple graphical models. The arrows denote causal relationships between nodes that represent features.</a:t>
            </a:r>
            <a:endParaRPr>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0"/>
          <p:cNvSpPr txBox="1"/>
          <p:nvPr>
            <p:ph idx="1" type="body"/>
          </p:nvPr>
        </p:nvSpPr>
        <p:spPr>
          <a:xfrm>
            <a:off x="152400" y="660400"/>
            <a:ext cx="8839200" cy="5072062"/>
          </a:xfrm>
          <a:prstGeom prst="rect">
            <a:avLst/>
          </a:prstGeom>
          <a:noFill/>
          <a:ln>
            <a:noFill/>
          </a:ln>
        </p:spPr>
        <p:txBody>
          <a:bodyPr anchorCtr="0" anchor="t" bIns="45700" lIns="91425" spcFirstLastPara="1" rIns="91425" wrap="square" tIns="45700">
            <a:noAutofit/>
          </a:bodyPr>
          <a:lstStyle/>
          <a:p>
            <a:pPr indent="-330200" lvl="0" marL="342900" marR="0" rtl="0" algn="just">
              <a:lnSpc>
                <a:spcPct val="100000"/>
              </a:lnSpc>
              <a:spcBef>
                <a:spcPts val="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This specifies what the probabilities are for each of the nodes, conditioned on any nodes that are its parents.</a:t>
            </a:r>
            <a:endParaRPr sz="3000">
              <a:latin typeface="Times New Roman"/>
              <a:ea typeface="Times New Roman"/>
              <a:cs typeface="Times New Roman"/>
              <a:sym typeface="Times New Roman"/>
            </a:endParaRPr>
          </a:p>
          <a:p>
            <a:pPr indent="-330200" lvl="0" marL="342900" marR="0" rtl="0" algn="just">
              <a:lnSpc>
                <a:spcPct val="100000"/>
              </a:lnSpc>
              <a:spcBef>
                <a:spcPts val="56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To work out a value for </a:t>
            </a:r>
            <a:r>
              <a:rPr i="1" lang="en-US" sz="2600" u="none">
                <a:solidFill>
                  <a:schemeClr val="dk1"/>
                </a:solidFill>
                <a:latin typeface="Times New Roman"/>
                <a:ea typeface="Times New Roman"/>
                <a:cs typeface="Times New Roman"/>
                <a:sym typeface="Times New Roman"/>
              </a:rPr>
              <a:t>P(a, b), it needs a distribution table for P(a) and one for P(b |a ). </a:t>
            </a:r>
            <a:endParaRPr sz="3000">
              <a:latin typeface="Times New Roman"/>
              <a:ea typeface="Times New Roman"/>
              <a:cs typeface="Times New Roman"/>
              <a:sym typeface="Times New Roman"/>
            </a:endParaRPr>
          </a:p>
          <a:p>
            <a:pPr indent="-330200" lvl="0" marL="342900" marR="0" rtl="0" algn="just">
              <a:lnSpc>
                <a:spcPct val="100000"/>
              </a:lnSpc>
              <a:spcBef>
                <a:spcPts val="560"/>
              </a:spcBef>
              <a:spcAft>
                <a:spcPts val="0"/>
              </a:spcAft>
              <a:buClr>
                <a:schemeClr val="dk1"/>
              </a:buClr>
              <a:buSzPts val="2600"/>
              <a:buFont typeface="Times New Roman"/>
              <a:buChar char="•"/>
            </a:pPr>
            <a:r>
              <a:rPr i="1" lang="en-US" sz="2600" u="none">
                <a:solidFill>
                  <a:schemeClr val="dk1"/>
                </a:solidFill>
                <a:latin typeface="Times New Roman"/>
                <a:ea typeface="Times New Roman"/>
                <a:cs typeface="Times New Roman"/>
                <a:sym typeface="Times New Roman"/>
              </a:rPr>
              <a:t>The nodes are separated into those and their values are </a:t>
            </a:r>
            <a:r>
              <a:rPr i="0" lang="en-US" sz="2600" u="none">
                <a:solidFill>
                  <a:schemeClr val="dk1"/>
                </a:solidFill>
                <a:latin typeface="Times New Roman"/>
                <a:ea typeface="Times New Roman"/>
                <a:cs typeface="Times New Roman"/>
                <a:sym typeface="Times New Roman"/>
              </a:rPr>
              <a:t>directly as observed nodes—and hidden or latent nodes, whose values we hope to infer, and which may not have clear meanings in all cases.</a:t>
            </a:r>
            <a:endParaRPr sz="3000">
              <a:latin typeface="Times New Roman"/>
              <a:ea typeface="Times New Roman"/>
              <a:cs typeface="Times New Roman"/>
              <a:sym typeface="Times New Roman"/>
            </a:endParaRPr>
          </a:p>
          <a:p>
            <a:pPr indent="-330200" lvl="0" marL="342900" marR="0" rtl="0" algn="just">
              <a:lnSpc>
                <a:spcPct val="100000"/>
              </a:lnSpc>
              <a:spcBef>
                <a:spcPts val="56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The basic concept of the graphical model is very simple, and it produces a powerful set of tools for understanding and creating machine learning algorithms. </a:t>
            </a:r>
            <a:endParaRPr sz="300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1"/>
          <p:cNvSpPr txBox="1"/>
          <p:nvPr>
            <p:ph type="title"/>
          </p:nvPr>
        </p:nvSpPr>
        <p:spPr>
          <a:xfrm>
            <a:off x="457200" y="228600"/>
            <a:ext cx="82296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alibri"/>
              <a:buNone/>
            </a:pPr>
            <a:r>
              <a:rPr i="0" lang="en-US" sz="2900" u="none">
                <a:solidFill>
                  <a:srgbClr val="FF0000"/>
                </a:solidFill>
                <a:latin typeface="Times New Roman"/>
                <a:ea typeface="Times New Roman"/>
                <a:cs typeface="Times New Roman"/>
                <a:sym typeface="Times New Roman"/>
              </a:rPr>
              <a:t>BAYESIAN NETWORKS</a:t>
            </a:r>
            <a:endParaRPr sz="3259">
              <a:solidFill>
                <a:srgbClr val="FF0000"/>
              </a:solidFill>
              <a:latin typeface="Times New Roman"/>
              <a:ea typeface="Times New Roman"/>
              <a:cs typeface="Times New Roman"/>
              <a:sym typeface="Times New Roman"/>
            </a:endParaRPr>
          </a:p>
        </p:txBody>
      </p:sp>
      <p:sp>
        <p:nvSpPr>
          <p:cNvPr id="282" name="Google Shape;282;p31"/>
          <p:cNvSpPr txBox="1"/>
          <p:nvPr>
            <p:ph idx="1" type="body"/>
          </p:nvPr>
        </p:nvSpPr>
        <p:spPr>
          <a:xfrm>
            <a:off x="152400" y="914400"/>
            <a:ext cx="8839200" cy="5791200"/>
          </a:xfrm>
          <a:prstGeom prst="rect">
            <a:avLst/>
          </a:prstGeom>
          <a:noFill/>
          <a:ln>
            <a:noFill/>
          </a:ln>
        </p:spPr>
        <p:txBody>
          <a:bodyPr anchorCtr="0" anchor="t" bIns="45700" lIns="91425" spcFirstLastPara="1" rIns="91425" wrap="square" tIns="45700">
            <a:normAutofit/>
          </a:bodyPr>
          <a:lstStyle/>
          <a:p>
            <a:pPr indent="-336550" lvl="0" marL="342900" marR="0" rtl="0" algn="just">
              <a:lnSpc>
                <a:spcPct val="9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Consider directed graphs, and make one restriction to them, that they must not contain cycles, i.e. there cannot be any loops in the graphs. </a:t>
            </a:r>
            <a:endParaRPr sz="3100">
              <a:latin typeface="Times New Roman"/>
              <a:ea typeface="Times New Roman"/>
              <a:cs typeface="Times New Roman"/>
              <a:sym typeface="Times New Roman"/>
            </a:endParaRPr>
          </a:p>
          <a:p>
            <a:pPr indent="-336550" lvl="0" marL="342900" marR="0" rtl="0" algn="just">
              <a:lnSpc>
                <a:spcPct val="90000"/>
              </a:lnSpc>
              <a:spcBef>
                <a:spcPts val="48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These graphs are Directed Acyclic graphs (DAGs), but for graphical models, when they are paired with the conditional probability tables, they are called Bayesian networks. </a:t>
            </a:r>
            <a:endParaRPr sz="3100">
              <a:latin typeface="Times New Roman"/>
              <a:ea typeface="Times New Roman"/>
              <a:cs typeface="Times New Roman"/>
              <a:sym typeface="Times New Roman"/>
            </a:endParaRPr>
          </a:p>
          <a:p>
            <a:pPr indent="-336550" lvl="0" marL="342900" marR="0" rtl="0" algn="just">
              <a:lnSpc>
                <a:spcPct val="90000"/>
              </a:lnSpc>
              <a:spcBef>
                <a:spcPts val="48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Ex: Exam Fear</a:t>
            </a:r>
            <a:endParaRPr sz="3100">
              <a:latin typeface="Times New Roman"/>
              <a:ea typeface="Times New Roman"/>
              <a:cs typeface="Times New Roman"/>
              <a:sym typeface="Times New Roman"/>
            </a:endParaRPr>
          </a:p>
          <a:p>
            <a:pPr indent="-336550" lvl="0" marL="342900" marR="0" rtl="0" algn="just">
              <a:lnSpc>
                <a:spcPct val="90000"/>
              </a:lnSpc>
              <a:spcBef>
                <a:spcPts val="48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Figure 16.2 shows a graph with a full set of distribution tables specified. It is a handy guide to whether or not you will be scared before an exam based on whether or not the course was boring (‘B’), which was the key factor you used to decide whether or not to attend lectures (‘A’) and revise (‘R’).</a:t>
            </a:r>
            <a:endParaRPr sz="3100">
              <a:latin typeface="Times New Roman"/>
              <a:ea typeface="Times New Roman"/>
              <a:cs typeface="Times New Roman"/>
              <a:sym typeface="Times New Roman"/>
            </a:endParaRPr>
          </a:p>
          <a:p>
            <a:pPr indent="-336550" lvl="0" marL="342900" marR="0" rtl="0" algn="just">
              <a:lnSpc>
                <a:spcPct val="90000"/>
              </a:lnSpc>
              <a:spcBef>
                <a:spcPts val="48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To perform inference in order to decide the likelihood of you being scared before the exam (‘S’). </a:t>
            </a:r>
            <a:endParaRPr sz="3100">
              <a:latin typeface="Times New Roman"/>
              <a:ea typeface="Times New Roman"/>
              <a:cs typeface="Times New Roman"/>
              <a:sym typeface="Times New Roman"/>
            </a:endParaRPr>
          </a:p>
          <a:p>
            <a:pPr indent="-336550" lvl="0" marL="342900" marR="0" rtl="0" algn="just">
              <a:lnSpc>
                <a:spcPct val="90000"/>
              </a:lnSpc>
              <a:spcBef>
                <a:spcPts val="48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Two kinds of inferences, depending on whether the observations that are made come from the top of the graph or the bottom.</a:t>
            </a:r>
            <a:endParaRPr sz="3100">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2"/>
          <p:cNvSpPr txBox="1"/>
          <p:nvPr>
            <p:ph idx="1" type="body"/>
          </p:nvPr>
        </p:nvSpPr>
        <p:spPr>
          <a:xfrm>
            <a:off x="152400" y="4249737"/>
            <a:ext cx="8839200" cy="2203450"/>
          </a:xfrm>
          <a:prstGeom prst="rect">
            <a:avLst/>
          </a:prstGeom>
          <a:noFill/>
          <a:ln>
            <a:noFill/>
          </a:ln>
        </p:spPr>
        <p:txBody>
          <a:bodyPr anchorCtr="0" anchor="t" bIns="45700" lIns="91425" spcFirstLastPara="1" rIns="91425" wrap="square" tIns="45700">
            <a:noAutofit/>
          </a:bodyPr>
          <a:lstStyle/>
          <a:p>
            <a:pPr indent="-330200" lvl="0" marL="342900" marR="0" rtl="0" algn="just">
              <a:lnSpc>
                <a:spcPct val="100000"/>
              </a:lnSpc>
              <a:spcBef>
                <a:spcPts val="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If we have a set of observations that can be used to predict an unknown outcome, then we are doing top-down inference or prediction, whereas if the outcome is known, but the causes are hidden, then we are doing bottom-up inference or diagnosis. </a:t>
            </a:r>
            <a:endParaRPr sz="3000">
              <a:latin typeface="Times New Roman"/>
              <a:ea typeface="Times New Roman"/>
              <a:cs typeface="Times New Roman"/>
              <a:sym typeface="Times New Roman"/>
            </a:endParaRPr>
          </a:p>
        </p:txBody>
      </p:sp>
      <p:pic>
        <p:nvPicPr>
          <p:cNvPr id="288" name="Google Shape;288;p32"/>
          <p:cNvPicPr preferRelativeResize="0"/>
          <p:nvPr/>
        </p:nvPicPr>
        <p:blipFill rotWithShape="1">
          <a:blip r:embed="rId3">
            <a:alphaModFix/>
          </a:blip>
          <a:srcRect b="0" l="0" r="0" t="0"/>
          <a:stretch/>
        </p:blipFill>
        <p:spPr>
          <a:xfrm>
            <a:off x="0" y="0"/>
            <a:ext cx="5181600" cy="4149725"/>
          </a:xfrm>
          <a:prstGeom prst="rect">
            <a:avLst/>
          </a:prstGeom>
          <a:noFill/>
          <a:ln>
            <a:noFill/>
          </a:ln>
        </p:spPr>
      </p:pic>
      <p:sp>
        <p:nvSpPr>
          <p:cNvPr id="289" name="Google Shape;289;p32"/>
          <p:cNvSpPr txBox="1"/>
          <p:nvPr/>
        </p:nvSpPr>
        <p:spPr>
          <a:xfrm>
            <a:off x="5257800" y="0"/>
            <a:ext cx="3581400" cy="1816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i="0" lang="en-US" sz="1600" u="none">
                <a:solidFill>
                  <a:schemeClr val="dk1"/>
                </a:solidFill>
                <a:latin typeface="Times New Roman"/>
                <a:ea typeface="Times New Roman"/>
                <a:cs typeface="Times New Roman"/>
                <a:sym typeface="Times New Roman"/>
              </a:rPr>
              <a:t>FIGURE 16.2 The sample graphical model. ‘B’ denotes a node stating whether the exam was boring, ‘R’ whether or not you revised, ‘A’ whether or not you attended lectures, and ‘S’ whether or not you will be scared before the exam.</a:t>
            </a:r>
            <a:endParaRPr sz="1200">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3"/>
          <p:cNvSpPr txBox="1"/>
          <p:nvPr>
            <p:ph idx="1" type="body"/>
          </p:nvPr>
        </p:nvSpPr>
        <p:spPr>
          <a:xfrm>
            <a:off x="228600" y="304800"/>
            <a:ext cx="8686800" cy="6324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To compute the probability of being scared, need to compute  </a:t>
            </a:r>
            <a:r>
              <a:rPr b="0" i="1" lang="en-US" sz="2400" u="none">
                <a:solidFill>
                  <a:schemeClr val="dk1"/>
                </a:solidFill>
                <a:latin typeface="Calibri"/>
                <a:ea typeface="Calibri"/>
                <a:cs typeface="Calibri"/>
                <a:sym typeface="Calibri"/>
              </a:rPr>
              <a:t>P(b, r, a, s), </a:t>
            </a:r>
            <a:r>
              <a:rPr b="0" i="0" lang="en-US" sz="2400" u="none">
                <a:solidFill>
                  <a:schemeClr val="dk1"/>
                </a:solidFill>
                <a:latin typeface="Calibri"/>
                <a:ea typeface="Calibri"/>
                <a:cs typeface="Calibri"/>
                <a:sym typeface="Calibri"/>
              </a:rPr>
              <a:t>where the lower-case letters indicate particular values that the upper-case variables can take.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Read the conditional probabilities from the graph—if there is no direct link, then variables are conditionally independent given a node that is already included, so those variables are not needed. </a:t>
            </a:r>
            <a:endParaRPr/>
          </a:p>
          <a:p>
            <a:pPr indent="-342900" lvl="0" marL="342900" marR="0" rtl="0" algn="just">
              <a:lnSpc>
                <a:spcPct val="10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just">
              <a:lnSpc>
                <a:spcPct val="10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l">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p:txBody>
      </p:sp>
      <p:pic>
        <p:nvPicPr>
          <p:cNvPr id="295" name="Google Shape;295;p33"/>
          <p:cNvPicPr preferRelativeResize="0"/>
          <p:nvPr/>
        </p:nvPicPr>
        <p:blipFill rotWithShape="1">
          <a:blip r:embed="rId3">
            <a:alphaModFix/>
          </a:blip>
          <a:srcRect b="0" l="0" r="0" t="0"/>
          <a:stretch/>
        </p:blipFill>
        <p:spPr>
          <a:xfrm>
            <a:off x="1066800" y="3560762"/>
            <a:ext cx="7696200" cy="253206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4"/>
          <p:cNvSpPr txBox="1"/>
          <p:nvPr>
            <p:ph idx="1" type="body"/>
          </p:nvPr>
        </p:nvSpPr>
        <p:spPr>
          <a:xfrm>
            <a:off x="228600" y="228600"/>
            <a:ext cx="8610600" cy="6477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conditional  independence gives us even more: if I know both whether or not you attended lectures and whether or not you revised, then I don’t need to know if the course was boring, since there is no direct connection between ‘B’ and ‘S’.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probability of you being scared can be read off the final distribution table as 0.8.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power of the graphical model is when you don’t have full information.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Suppose you know that the course was boring, and want to work out how likely it is that you will be scared before the exam.</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In that case you can ignore the </a:t>
            </a:r>
            <a:r>
              <a:rPr i="1" lang="en-US" sz="2400" u="none">
                <a:solidFill>
                  <a:schemeClr val="dk1"/>
                </a:solidFill>
                <a:latin typeface="Times New Roman"/>
                <a:ea typeface="Times New Roman"/>
                <a:cs typeface="Times New Roman"/>
                <a:sym typeface="Times New Roman"/>
              </a:rPr>
              <a:t>P(b) terms, and just need to sum up the probabilities for r </a:t>
            </a:r>
            <a:r>
              <a:rPr i="0" lang="en-US" sz="2400" u="none">
                <a:solidFill>
                  <a:schemeClr val="dk1"/>
                </a:solidFill>
                <a:latin typeface="Times New Roman"/>
                <a:ea typeface="Times New Roman"/>
                <a:cs typeface="Times New Roman"/>
                <a:sym typeface="Times New Roman"/>
              </a:rPr>
              <a:t>and </a:t>
            </a:r>
            <a:r>
              <a:rPr i="1" lang="en-US" sz="2400" u="none">
                <a:solidFill>
                  <a:schemeClr val="dk1"/>
                </a:solidFill>
                <a:latin typeface="Times New Roman"/>
                <a:ea typeface="Times New Roman"/>
                <a:cs typeface="Times New Roman"/>
                <a:sym typeface="Times New Roman"/>
              </a:rPr>
              <a:t>a using Equation (16.1):</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i="1" lang="en-US" sz="2400" u="none">
                <a:solidFill>
                  <a:schemeClr val="dk1"/>
                </a:solidFill>
                <a:latin typeface="Times New Roman"/>
                <a:ea typeface="Times New Roman"/>
                <a:cs typeface="Times New Roman"/>
                <a:sym typeface="Times New Roman"/>
              </a:rPr>
              <a:t>P(s) = 0.3 × 0.1 × 0 + 0.3 × 0.9 × 0.8 + 0.7 × 0.1 × 0.6 + 0.7 × 0.9 × 1</a:t>
            </a:r>
            <a:endParaRPr>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Arial"/>
              <a:buNone/>
            </a:pPr>
            <a:r>
              <a:rPr i="0" lang="en-US" sz="2400" u="none">
                <a:solidFill>
                  <a:schemeClr val="dk1"/>
                </a:solidFill>
                <a:latin typeface="Times New Roman"/>
                <a:ea typeface="Times New Roman"/>
                <a:cs typeface="Times New Roman"/>
                <a:sym typeface="Times New Roman"/>
              </a:rPr>
              <a:t>            = 0</a:t>
            </a:r>
            <a:r>
              <a:rPr i="1" lang="en-US" sz="2400" u="none">
                <a:solidFill>
                  <a:schemeClr val="dk1"/>
                </a:solidFill>
                <a:latin typeface="Times New Roman"/>
                <a:ea typeface="Times New Roman"/>
                <a:cs typeface="Times New Roman"/>
                <a:sym typeface="Times New Roman"/>
              </a:rPr>
              <a:t>.328      -----     (16.2)</a:t>
            </a:r>
            <a:endParaRPr>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5"/>
          <p:cNvSpPr txBox="1"/>
          <p:nvPr>
            <p:ph idx="1" type="body"/>
          </p:nvPr>
        </p:nvSpPr>
        <p:spPr>
          <a:xfrm>
            <a:off x="228600" y="228600"/>
            <a:ext cx="8686800" cy="2768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backwards inference, or diagnosis, can also be useful.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Suppose that I see you looking very scared outside the exam.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You look vaguely familiar, but I’m not sure whether or not you came to the lectures.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Computations that need are (</a:t>
            </a:r>
            <a:r>
              <a:rPr b="0" i="1" lang="en-US" sz="2400" u="none">
                <a:solidFill>
                  <a:schemeClr val="dk1"/>
                </a:solidFill>
                <a:latin typeface="Calibri"/>
                <a:ea typeface="Calibri"/>
                <a:cs typeface="Calibri"/>
                <a:sym typeface="Calibri"/>
              </a:rPr>
              <a:t>P(s) is the </a:t>
            </a:r>
            <a:r>
              <a:rPr b="0" i="0" lang="en-US" sz="2400" u="none">
                <a:solidFill>
                  <a:schemeClr val="dk1"/>
                </a:solidFill>
                <a:latin typeface="Calibri"/>
                <a:ea typeface="Calibri"/>
                <a:cs typeface="Calibri"/>
                <a:sym typeface="Calibri"/>
              </a:rPr>
              <a:t>normalizing constant found by summing over all values of </a:t>
            </a:r>
            <a:r>
              <a:rPr b="0" i="1" lang="en-US" sz="2400" u="none">
                <a:solidFill>
                  <a:schemeClr val="dk1"/>
                </a:solidFill>
                <a:latin typeface="Calibri"/>
                <a:ea typeface="Calibri"/>
                <a:cs typeface="Calibri"/>
                <a:sym typeface="Calibri"/>
              </a:rPr>
              <a:t>r, a, and b, i.e., Equ. (16.2)):</a:t>
            </a:r>
            <a:endParaRPr/>
          </a:p>
        </p:txBody>
      </p:sp>
      <p:pic>
        <p:nvPicPr>
          <p:cNvPr id="306" name="Google Shape;306;p35"/>
          <p:cNvPicPr preferRelativeResize="0"/>
          <p:nvPr/>
        </p:nvPicPr>
        <p:blipFill rotWithShape="1">
          <a:blip r:embed="rId3">
            <a:alphaModFix/>
          </a:blip>
          <a:srcRect b="0" l="0" r="0" t="0"/>
          <a:stretch/>
        </p:blipFill>
        <p:spPr>
          <a:xfrm>
            <a:off x="250825" y="2997200"/>
            <a:ext cx="8686800" cy="31686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6"/>
          <p:cNvSpPr txBox="1"/>
          <p:nvPr>
            <p:ph idx="1" type="body"/>
          </p:nvPr>
        </p:nvSpPr>
        <p:spPr>
          <a:xfrm>
            <a:off x="152400" y="1905000"/>
            <a:ext cx="8686800" cy="4800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This use of Bayes’ rule is the reason why this type of graphical model is known as a Bayesian network.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Even in this very simple example, the inference was not trivial, since there were a lot of calculations to do and the problem is actually rather worse than that.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computational cost of the simple algorithm we used (start at the root, and follow each link through the graph to perform the computation) is O(2</a:t>
            </a:r>
            <a:r>
              <a:rPr baseline="30000" i="1" lang="en-US" sz="2400" u="none">
                <a:solidFill>
                  <a:schemeClr val="dk1"/>
                </a:solidFill>
                <a:latin typeface="Times New Roman"/>
                <a:ea typeface="Times New Roman"/>
                <a:cs typeface="Times New Roman"/>
                <a:sym typeface="Times New Roman"/>
              </a:rPr>
              <a:t>N</a:t>
            </a:r>
            <a:r>
              <a:rPr i="1" lang="en-US" sz="2400" u="none">
                <a:solidFill>
                  <a:schemeClr val="dk1"/>
                </a:solidFill>
                <a:latin typeface="Times New Roman"/>
                <a:ea typeface="Times New Roman"/>
                <a:cs typeface="Times New Roman"/>
                <a:sym typeface="Times New Roman"/>
              </a:rPr>
              <a:t>) for a graph with N </a:t>
            </a:r>
            <a:r>
              <a:rPr i="0" lang="en-US" sz="2400" u="none">
                <a:solidFill>
                  <a:schemeClr val="dk1"/>
                </a:solidFill>
                <a:latin typeface="Times New Roman"/>
                <a:ea typeface="Times New Roman"/>
                <a:cs typeface="Times New Roman"/>
                <a:sym typeface="Times New Roman"/>
              </a:rPr>
              <a:t>nodes where each node can be either true or false.</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Problem of exact inference on Bayesian networks is NP-hard.</a:t>
            </a:r>
            <a:endParaRPr>
              <a:latin typeface="Times New Roman"/>
              <a:ea typeface="Times New Roman"/>
              <a:cs typeface="Times New Roman"/>
              <a:sym typeface="Times New Roman"/>
            </a:endParaRPr>
          </a:p>
        </p:txBody>
      </p:sp>
      <p:pic>
        <p:nvPicPr>
          <p:cNvPr id="312" name="Google Shape;312;p36"/>
          <p:cNvPicPr preferRelativeResize="0"/>
          <p:nvPr/>
        </p:nvPicPr>
        <p:blipFill rotWithShape="1">
          <a:blip r:embed="rId3">
            <a:alphaModFix/>
          </a:blip>
          <a:srcRect b="0" l="0" r="0" t="0"/>
          <a:stretch/>
        </p:blipFill>
        <p:spPr>
          <a:xfrm>
            <a:off x="685800" y="304800"/>
            <a:ext cx="8077200" cy="15240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7"/>
          <p:cNvSpPr txBox="1"/>
          <p:nvPr>
            <p:ph idx="1" type="body"/>
          </p:nvPr>
        </p:nvSpPr>
        <p:spPr>
          <a:xfrm>
            <a:off x="152400" y="228600"/>
            <a:ext cx="8763000" cy="6400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it is rare to find such polytrees in real examples, so we can either try to turn other networks into polytrees, or consider only approximate inference, which is the most common solution to the problem.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Speed up the things a little by getting things into the form of Equation (16.1), where the summations were carefully placed as far to the right as possible, so that program loops can be minimized.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By doing this the algorithm is as efficient as possible, but it is still NP-hard.</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Idea is to convert the conditional probability tables into what are called </a:t>
            </a:r>
            <a:r>
              <a:rPr b="0" i="1" lang="en-US" sz="2400" u="none">
                <a:solidFill>
                  <a:schemeClr val="dk1"/>
                </a:solidFill>
                <a:latin typeface="Calibri"/>
                <a:ea typeface="Calibri"/>
                <a:cs typeface="Calibri"/>
                <a:sym typeface="Calibri"/>
              </a:rPr>
              <a:t> λ tables, which simply list all of the possible values for all variables, and </a:t>
            </a:r>
            <a:r>
              <a:rPr b="0" i="0" lang="en-US" sz="2400" u="none">
                <a:solidFill>
                  <a:schemeClr val="dk1"/>
                </a:solidFill>
                <a:latin typeface="Calibri"/>
                <a:ea typeface="Calibri"/>
                <a:cs typeface="Calibri"/>
                <a:sym typeface="Calibri"/>
              </a:rPr>
              <a:t>which initially contain the conditional probabilities. For Ex: the </a:t>
            </a:r>
            <a:r>
              <a:rPr b="0" i="1" lang="en-US" sz="2400" u="none">
                <a:solidFill>
                  <a:schemeClr val="dk1"/>
                </a:solidFill>
                <a:latin typeface="Calibri"/>
                <a:ea typeface="Calibri"/>
                <a:cs typeface="Calibri"/>
                <a:sym typeface="Calibri"/>
              </a:rPr>
              <a:t>λ  table for the ‘S’ </a:t>
            </a:r>
            <a:r>
              <a:rPr b="0" i="0" lang="en-US" sz="2400" u="none">
                <a:solidFill>
                  <a:schemeClr val="dk1"/>
                </a:solidFill>
                <a:latin typeface="Calibri"/>
                <a:ea typeface="Calibri"/>
                <a:cs typeface="Calibri"/>
                <a:sym typeface="Calibri"/>
              </a:rPr>
              <a:t>variable in Figure 16.2 is: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8"/>
          <p:cNvSpPr txBox="1"/>
          <p:nvPr>
            <p:ph idx="1" type="body"/>
          </p:nvPr>
        </p:nvSpPr>
        <p:spPr>
          <a:xfrm>
            <a:off x="152400" y="3335337"/>
            <a:ext cx="8763000" cy="283051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Don’t know whether you revised or not, and don’t know if you found the lectures boring, so marginalize over these variables.</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 order in which we marginalize doesn’t change the correctness so pick R first. </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To eliminate R from the graph, we have to find all of the </a:t>
            </a:r>
            <a:r>
              <a:rPr i="1" lang="en-US" sz="2300" u="none">
                <a:solidFill>
                  <a:schemeClr val="dk1"/>
                </a:solidFill>
                <a:latin typeface="Times New Roman"/>
                <a:ea typeface="Times New Roman"/>
                <a:cs typeface="Times New Roman"/>
                <a:sym typeface="Times New Roman"/>
              </a:rPr>
              <a:t> tables that contain </a:t>
            </a:r>
            <a:r>
              <a:rPr i="0" lang="en-US" sz="2300" u="none">
                <a:solidFill>
                  <a:schemeClr val="dk1"/>
                </a:solidFill>
                <a:latin typeface="Times New Roman"/>
                <a:ea typeface="Times New Roman"/>
                <a:cs typeface="Times New Roman"/>
                <a:sym typeface="Times New Roman"/>
              </a:rPr>
              <a:t>it (there will be two of them containing R: the one for R itself and the one that we have just modified to remove S). </a:t>
            </a:r>
            <a:endParaRPr>
              <a:latin typeface="Times New Roman"/>
              <a:ea typeface="Times New Roman"/>
              <a:cs typeface="Times New Roman"/>
              <a:sym typeface="Times New Roman"/>
            </a:endParaRPr>
          </a:p>
        </p:txBody>
      </p:sp>
      <p:pic>
        <p:nvPicPr>
          <p:cNvPr id="323" name="Google Shape;323;p38"/>
          <p:cNvPicPr preferRelativeResize="0"/>
          <p:nvPr/>
        </p:nvPicPr>
        <p:blipFill rotWithShape="1">
          <a:blip r:embed="rId3">
            <a:alphaModFix/>
          </a:blip>
          <a:srcRect b="0" l="0" r="0" t="0"/>
          <a:stretch/>
        </p:blipFill>
        <p:spPr>
          <a:xfrm>
            <a:off x="228600" y="152400"/>
            <a:ext cx="2286000" cy="2743200"/>
          </a:xfrm>
          <a:prstGeom prst="rect">
            <a:avLst/>
          </a:prstGeom>
          <a:noFill/>
          <a:ln>
            <a:noFill/>
          </a:ln>
        </p:spPr>
      </p:pic>
      <p:sp>
        <p:nvSpPr>
          <p:cNvPr id="324" name="Google Shape;324;p38"/>
          <p:cNvSpPr txBox="1"/>
          <p:nvPr/>
        </p:nvSpPr>
        <p:spPr>
          <a:xfrm>
            <a:off x="2819400" y="228600"/>
            <a:ext cx="6096000" cy="2678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Calibri"/>
              <a:buNone/>
            </a:pPr>
            <a:r>
              <a:rPr i="0" lang="en-US" sz="2400" u="none">
                <a:solidFill>
                  <a:schemeClr val="dk1"/>
                </a:solidFill>
                <a:latin typeface="Times New Roman"/>
                <a:ea typeface="Times New Roman"/>
                <a:cs typeface="Times New Roman"/>
                <a:sym typeface="Times New Roman"/>
              </a:rPr>
              <a:t>If I see you looking scared outside the exam (so that S is true), then I can eliminate it from the graph by removing from each table all rows that have S false in them, and deleting the S column. This simplifies things a little, but I have to do rather more in order to compute the probability of you having attended lectures.</a:t>
            </a:r>
            <a:endParaRPr>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9"/>
          <p:cNvSpPr txBox="1"/>
          <p:nvPr>
            <p:ph idx="1" type="body"/>
          </p:nvPr>
        </p:nvSpPr>
        <p:spPr>
          <a:xfrm>
            <a:off x="228600" y="587375"/>
            <a:ext cx="8686800" cy="19050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To complete the entry where B is true and A is false, we have to multiply together the values where B, A, R are respectively true, false, true in the two tables and then add to that the product of where B, A, R are respectively true, false, false. </a:t>
            </a:r>
            <a:endParaRPr>
              <a:latin typeface="Times New Roman"/>
              <a:ea typeface="Times New Roman"/>
              <a:cs typeface="Times New Roman"/>
              <a:sym typeface="Times New Roman"/>
            </a:endParaRPr>
          </a:p>
          <a:p>
            <a:pPr indent="-342900" lvl="0" marL="342900" marR="0" rtl="0" algn="l">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In other words:</a:t>
            </a:r>
            <a:endParaRPr>
              <a:latin typeface="Times New Roman"/>
              <a:ea typeface="Times New Roman"/>
              <a:cs typeface="Times New Roman"/>
              <a:sym typeface="Times New Roman"/>
            </a:endParaRPr>
          </a:p>
        </p:txBody>
      </p:sp>
      <p:pic>
        <p:nvPicPr>
          <p:cNvPr id="330" name="Google Shape;330;p39"/>
          <p:cNvPicPr preferRelativeResize="0"/>
          <p:nvPr/>
        </p:nvPicPr>
        <p:blipFill rotWithShape="1">
          <a:blip r:embed="rId3">
            <a:alphaModFix/>
          </a:blip>
          <a:srcRect b="0" l="0" r="0" t="0"/>
          <a:stretch/>
        </p:blipFill>
        <p:spPr>
          <a:xfrm>
            <a:off x="323850" y="2727325"/>
            <a:ext cx="8305800" cy="22860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0"/>
          <p:cNvSpPr txBox="1"/>
          <p:nvPr/>
        </p:nvSpPr>
        <p:spPr>
          <a:xfrm>
            <a:off x="152400" y="304800"/>
            <a:ext cx="8763000" cy="3047700"/>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To see that these algorithms do not scale well, consider Figure 16.3, which shows a very simple development of the example in Figure 16.2 by adding just one extra node to the network: whether or not this is your final year (‘F’). </a:t>
            </a:r>
            <a:endParaRPr>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This makes the network significantly more complicated, since we need another table and extra entries in two of the other tables, and therefore the variable elimination algorithm will take rather longer to run.</a:t>
            </a:r>
            <a:endParaRPr>
              <a:latin typeface="Times New Roman"/>
              <a:ea typeface="Times New Roman"/>
              <a:cs typeface="Times New Roman"/>
              <a:sym typeface="Times New Roman"/>
            </a:endParaRPr>
          </a:p>
        </p:txBody>
      </p:sp>
      <p:pic>
        <p:nvPicPr>
          <p:cNvPr id="336" name="Google Shape;336;p40"/>
          <p:cNvPicPr preferRelativeResize="0"/>
          <p:nvPr/>
        </p:nvPicPr>
        <p:blipFill rotWithShape="1">
          <a:blip r:embed="rId3">
            <a:alphaModFix/>
          </a:blip>
          <a:srcRect b="0" l="0" r="0" t="0"/>
          <a:stretch/>
        </p:blipFill>
        <p:spPr>
          <a:xfrm>
            <a:off x="457200" y="3429000"/>
            <a:ext cx="3133725" cy="3095625"/>
          </a:xfrm>
          <a:prstGeom prst="rect">
            <a:avLst/>
          </a:prstGeom>
          <a:noFill/>
          <a:ln>
            <a:noFill/>
          </a:ln>
        </p:spPr>
      </p:pic>
      <p:sp>
        <p:nvSpPr>
          <p:cNvPr id="337" name="Google Shape;337;p40"/>
          <p:cNvSpPr txBox="1"/>
          <p:nvPr/>
        </p:nvSpPr>
        <p:spPr>
          <a:xfrm>
            <a:off x="4267200" y="4114800"/>
            <a:ext cx="4572000" cy="163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Calibri"/>
              <a:buNone/>
            </a:pPr>
            <a:r>
              <a:rPr i="0" lang="en-US" sz="2000" u="none">
                <a:solidFill>
                  <a:schemeClr val="dk1"/>
                </a:solidFill>
                <a:latin typeface="Times New Roman"/>
                <a:ea typeface="Times New Roman"/>
                <a:cs typeface="Times New Roman"/>
                <a:sym typeface="Times New Roman"/>
              </a:rPr>
              <a:t>FIGURE 16.3 Adding just one extra node (‘F’, information about whether or not this is your final year) makes the conditional probability tables significantly more complicated.</a:t>
            </a:r>
            <a:endParaRPr>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p41"/>
          <p:cNvPicPr preferRelativeResize="0"/>
          <p:nvPr/>
        </p:nvPicPr>
        <p:blipFill rotWithShape="1">
          <a:blip r:embed="rId3">
            <a:alphaModFix/>
          </a:blip>
          <a:srcRect b="0" l="0" r="0" t="0"/>
          <a:stretch/>
        </p:blipFill>
        <p:spPr>
          <a:xfrm>
            <a:off x="533400" y="228600"/>
            <a:ext cx="8153400" cy="2667000"/>
          </a:xfrm>
          <a:prstGeom prst="rect">
            <a:avLst/>
          </a:prstGeom>
          <a:noFill/>
          <a:ln>
            <a:noFill/>
          </a:ln>
        </p:spPr>
      </p:pic>
      <p:pic>
        <p:nvPicPr>
          <p:cNvPr id="343" name="Google Shape;343;p41"/>
          <p:cNvPicPr preferRelativeResize="0"/>
          <p:nvPr/>
        </p:nvPicPr>
        <p:blipFill rotWithShape="1">
          <a:blip r:embed="rId4">
            <a:alphaModFix/>
          </a:blip>
          <a:srcRect b="0" l="0" r="0" t="0"/>
          <a:stretch/>
        </p:blipFill>
        <p:spPr>
          <a:xfrm>
            <a:off x="304800" y="2819400"/>
            <a:ext cx="8534400" cy="3810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42"/>
          <p:cNvPicPr preferRelativeResize="0"/>
          <p:nvPr/>
        </p:nvPicPr>
        <p:blipFill rotWithShape="1">
          <a:blip r:embed="rId3">
            <a:alphaModFix/>
          </a:blip>
          <a:srcRect b="0" l="0" r="0" t="0"/>
          <a:stretch/>
        </p:blipFill>
        <p:spPr>
          <a:xfrm>
            <a:off x="838200" y="1052512"/>
            <a:ext cx="7046912" cy="45370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3"/>
          <p:cNvSpPr txBox="1"/>
          <p:nvPr>
            <p:ph idx="1" type="body"/>
          </p:nvPr>
        </p:nvSpPr>
        <p:spPr>
          <a:xfrm>
            <a:off x="152400" y="228600"/>
            <a:ext cx="8763000" cy="6400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 basic idea of using MCMC methods in Bayesian networks is to sample from the hidden variables, and then weight the samples by their likelihoods. </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Creating the samples is very easy: for prediction, we start at the top of the graph and sample from each of the known probability distributions.</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Sample from each distribution independently, and then throw away any samples that don’t match the other variables. </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Which is computationally easier, but need to reject a lot of samples.</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Gibbs sampling  will find us the maxima of our probability distribution given enough samples.</a:t>
            </a:r>
            <a:endParaRPr>
              <a:latin typeface="Times New Roman"/>
              <a:ea typeface="Times New Roman"/>
              <a:cs typeface="Times New Roman"/>
              <a:sym typeface="Times New Roman"/>
            </a:endParaRPr>
          </a:p>
          <a:p>
            <a:pPr indent="-342900" lvl="0" marL="342900" marR="0" rtl="0" algn="l">
              <a:lnSpc>
                <a:spcPct val="100000"/>
              </a:lnSpc>
              <a:spcBef>
                <a:spcPts val="460"/>
              </a:spcBef>
              <a:spcAft>
                <a:spcPts val="0"/>
              </a:spcAft>
              <a:buClr>
                <a:schemeClr val="dk1"/>
              </a:buClr>
              <a:buSzPts val="2300"/>
              <a:buFont typeface="Arial"/>
              <a:buChar char="•"/>
            </a:pPr>
            <a:r>
              <a:rPr i="0" lang="en-US" sz="2300" u="none">
                <a:solidFill>
                  <a:schemeClr val="dk1"/>
                </a:solidFill>
                <a:latin typeface="Times New Roman"/>
                <a:ea typeface="Times New Roman"/>
                <a:cs typeface="Times New Roman"/>
                <a:sym typeface="Times New Roman"/>
              </a:rPr>
              <a:t>For any node consider its parents, its children, and the other parents of the children, as shown in Figure 16.4. and this set is known as the </a:t>
            </a:r>
            <a:r>
              <a:rPr b="1" i="0" lang="en-US" sz="2300" u="none">
                <a:solidFill>
                  <a:schemeClr val="dk1"/>
                </a:solidFill>
                <a:latin typeface="Times New Roman"/>
                <a:ea typeface="Times New Roman"/>
                <a:cs typeface="Times New Roman"/>
                <a:sym typeface="Times New Roman"/>
              </a:rPr>
              <a:t>Markov blanket of a node</a:t>
            </a:r>
            <a:r>
              <a:rPr i="0" lang="en-US" sz="2300" u="none">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4"/>
          <p:cNvSpPr txBox="1"/>
          <p:nvPr>
            <p:ph idx="1" type="body"/>
          </p:nvPr>
        </p:nvSpPr>
        <p:spPr>
          <a:xfrm>
            <a:off x="250825" y="4000500"/>
            <a:ext cx="8610600" cy="230822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Making Bayesian Networks</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If we are given the structure and conditional probability tables of the Bayesian network, then we can perform inference on it by using Gibbs sampling or, if the network is simple enough, exactly. </a:t>
            </a:r>
            <a:endParaRPr/>
          </a:p>
        </p:txBody>
      </p:sp>
      <p:pic>
        <p:nvPicPr>
          <p:cNvPr id="359" name="Google Shape;359;p44"/>
          <p:cNvPicPr preferRelativeResize="0"/>
          <p:nvPr/>
        </p:nvPicPr>
        <p:blipFill rotWithShape="1">
          <a:blip r:embed="rId3">
            <a:alphaModFix/>
          </a:blip>
          <a:srcRect b="0" l="0" r="0" t="0"/>
          <a:stretch/>
        </p:blipFill>
        <p:spPr>
          <a:xfrm>
            <a:off x="228600" y="0"/>
            <a:ext cx="3733800" cy="3789362"/>
          </a:xfrm>
          <a:prstGeom prst="rect">
            <a:avLst/>
          </a:prstGeom>
          <a:noFill/>
          <a:ln>
            <a:noFill/>
          </a:ln>
        </p:spPr>
      </p:pic>
      <p:sp>
        <p:nvSpPr>
          <p:cNvPr id="360" name="Google Shape;360;p44"/>
          <p:cNvSpPr txBox="1"/>
          <p:nvPr/>
        </p:nvSpPr>
        <p:spPr>
          <a:xfrm>
            <a:off x="4191000" y="0"/>
            <a:ext cx="4572000" cy="1200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FIGURE 16.4 The Markov blanket of a node is the set of nodes (shaded light grey) that are either parents or children of the node, or other parents of its children (shaded dark grey).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g35e50340913_0_0"/>
          <p:cNvSpPr txBox="1"/>
          <p:nvPr>
            <p:ph type="title"/>
          </p:nvPr>
        </p:nvSpPr>
        <p:spPr>
          <a:xfrm>
            <a:off x="457200" y="274631"/>
            <a:ext cx="8229600" cy="586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Case study (Naive Bayes )</a:t>
            </a:r>
            <a:endParaRPr/>
          </a:p>
        </p:txBody>
      </p:sp>
      <p:sp>
        <p:nvSpPr>
          <p:cNvPr id="366" name="Google Shape;366;g35e50340913_0_0"/>
          <p:cNvSpPr txBox="1"/>
          <p:nvPr>
            <p:ph idx="1" type="body"/>
          </p:nvPr>
        </p:nvSpPr>
        <p:spPr>
          <a:xfrm>
            <a:off x="0" y="861125"/>
            <a:ext cx="8992200" cy="5265300"/>
          </a:xfrm>
          <a:prstGeom prst="rect">
            <a:avLst/>
          </a:prstGeom>
        </p:spPr>
        <p:txBody>
          <a:bodyPr anchorCtr="0" anchor="t" bIns="45700" lIns="91425" spcFirstLastPara="1" rIns="91425" wrap="square" tIns="45700">
            <a:noAutofit/>
          </a:bodyPr>
          <a:lstStyle/>
          <a:p>
            <a:pPr indent="-292100" lvl="0" marL="457200" rtl="0" algn="just">
              <a:spcBef>
                <a:spcPts val="360"/>
              </a:spcBef>
              <a:spcAft>
                <a:spcPts val="0"/>
              </a:spcAft>
              <a:buSzPts val="1000"/>
              <a:buFont typeface="Times New Roman"/>
              <a:buChar char="•"/>
            </a:pPr>
            <a:r>
              <a:rPr lang="en-US" sz="2400">
                <a:latin typeface="Times New Roman"/>
                <a:ea typeface="Times New Roman"/>
                <a:cs typeface="Times New Roman"/>
                <a:sym typeface="Times New Roman"/>
              </a:rPr>
              <a:t>It is supervised learning alg</a:t>
            </a:r>
            <a:endParaRPr sz="2400">
              <a:latin typeface="Times New Roman"/>
              <a:ea typeface="Times New Roman"/>
              <a:cs typeface="Times New Roman"/>
              <a:sym typeface="Times New Roman"/>
            </a:endParaRPr>
          </a:p>
          <a:p>
            <a:pPr indent="-381000" lvl="0" marL="457200" rtl="0" algn="just">
              <a:spcBef>
                <a:spcPts val="0"/>
              </a:spcBef>
              <a:spcAft>
                <a:spcPts val="0"/>
              </a:spcAft>
              <a:buSzPts val="2400"/>
              <a:buFont typeface="Times New Roman"/>
              <a:buChar char="•"/>
            </a:pPr>
            <a:r>
              <a:rPr lang="en-US" sz="2400">
                <a:latin typeface="Times New Roman"/>
                <a:ea typeface="Times New Roman"/>
                <a:cs typeface="Times New Roman"/>
                <a:sym typeface="Times New Roman"/>
              </a:rPr>
              <a:t>It is one of the most fast and easy ML alg to predict a class of datasets</a:t>
            </a:r>
            <a:endParaRPr sz="2400">
              <a:latin typeface="Times New Roman"/>
              <a:ea typeface="Times New Roman"/>
              <a:cs typeface="Times New Roman"/>
              <a:sym typeface="Times New Roman"/>
            </a:endParaRPr>
          </a:p>
          <a:p>
            <a:pPr indent="-292100" lvl="0" marL="457200" rtl="0" algn="just">
              <a:spcBef>
                <a:spcPts val="0"/>
              </a:spcBef>
              <a:spcAft>
                <a:spcPts val="0"/>
              </a:spcAft>
              <a:buSzPts val="1000"/>
              <a:buFont typeface="Times New Roman"/>
              <a:buChar char="•"/>
            </a:pPr>
            <a:r>
              <a:rPr lang="en-US" sz="2400">
                <a:latin typeface="Times New Roman"/>
                <a:ea typeface="Times New Roman"/>
                <a:cs typeface="Times New Roman"/>
                <a:sym typeface="Times New Roman"/>
              </a:rPr>
              <a:t>Used to solve the classification problems (Binary /Multi-class)</a:t>
            </a:r>
            <a:endParaRPr sz="2400">
              <a:latin typeface="Times New Roman"/>
              <a:ea typeface="Times New Roman"/>
              <a:cs typeface="Times New Roman"/>
              <a:sym typeface="Times New Roman"/>
            </a:endParaRPr>
          </a:p>
          <a:p>
            <a:pPr indent="-292100" lvl="0" marL="457200" rtl="0" algn="just">
              <a:spcBef>
                <a:spcPts val="0"/>
              </a:spcBef>
              <a:spcAft>
                <a:spcPts val="0"/>
              </a:spcAft>
              <a:buSzPts val="1000"/>
              <a:buFont typeface="Times New Roman"/>
              <a:buChar char="•"/>
            </a:pPr>
            <a:r>
              <a:rPr lang="en-US" sz="2400">
                <a:latin typeface="Times New Roman"/>
                <a:ea typeface="Times New Roman"/>
                <a:cs typeface="Times New Roman"/>
                <a:sym typeface="Times New Roman"/>
              </a:rPr>
              <a:t>It is one of the simplest and effective </a:t>
            </a:r>
            <a:r>
              <a:rPr lang="en-US" sz="2400">
                <a:latin typeface="Times New Roman"/>
                <a:ea typeface="Times New Roman"/>
                <a:cs typeface="Times New Roman"/>
                <a:sym typeface="Times New Roman"/>
              </a:rPr>
              <a:t>classification</a:t>
            </a:r>
            <a:r>
              <a:rPr lang="en-US" sz="2400">
                <a:latin typeface="Times New Roman"/>
                <a:ea typeface="Times New Roman"/>
                <a:cs typeface="Times New Roman"/>
                <a:sym typeface="Times New Roman"/>
              </a:rPr>
              <a:t> alg</a:t>
            </a:r>
            <a:endParaRPr sz="2400">
              <a:latin typeface="Times New Roman"/>
              <a:ea typeface="Times New Roman"/>
              <a:cs typeface="Times New Roman"/>
              <a:sym typeface="Times New Roman"/>
            </a:endParaRPr>
          </a:p>
          <a:p>
            <a:pPr indent="-292100" lvl="0" marL="457200" rtl="0" algn="just">
              <a:spcBef>
                <a:spcPts val="0"/>
              </a:spcBef>
              <a:spcAft>
                <a:spcPts val="0"/>
              </a:spcAft>
              <a:buSzPts val="1000"/>
              <a:buFont typeface="Times New Roman"/>
              <a:buChar char="•"/>
            </a:pPr>
            <a:r>
              <a:rPr lang="en-US" sz="2400">
                <a:latin typeface="Times New Roman"/>
                <a:ea typeface="Times New Roman"/>
                <a:cs typeface="Times New Roman"/>
                <a:sym typeface="Times New Roman"/>
              </a:rPr>
              <a:t>Popular for text classification problems</a:t>
            </a:r>
            <a:endParaRPr sz="2400">
              <a:latin typeface="Times New Roman"/>
              <a:ea typeface="Times New Roman"/>
              <a:cs typeface="Times New Roman"/>
              <a:sym typeface="Times New Roman"/>
            </a:endParaRPr>
          </a:p>
          <a:p>
            <a:pPr indent="-292100" lvl="0" marL="457200" rtl="0" algn="just">
              <a:spcBef>
                <a:spcPts val="0"/>
              </a:spcBef>
              <a:spcAft>
                <a:spcPts val="0"/>
              </a:spcAft>
              <a:buSzPts val="1000"/>
              <a:buFont typeface="Times New Roman"/>
              <a:buChar char="•"/>
            </a:pPr>
            <a:r>
              <a:rPr lang="en-US" sz="2400">
                <a:latin typeface="Times New Roman"/>
                <a:ea typeface="Times New Roman"/>
                <a:cs typeface="Times New Roman"/>
                <a:sym typeface="Times New Roman"/>
              </a:rPr>
              <a:t>It is also called probabilistic classification algorithm because will predict the output based on the probability</a:t>
            </a:r>
            <a:endParaRPr sz="2400">
              <a:latin typeface="Times New Roman"/>
              <a:ea typeface="Times New Roman"/>
              <a:cs typeface="Times New Roman"/>
              <a:sym typeface="Times New Roman"/>
            </a:endParaRPr>
          </a:p>
          <a:p>
            <a:pPr indent="-292100" lvl="0" marL="457200" rtl="0" algn="just">
              <a:spcBef>
                <a:spcPts val="0"/>
              </a:spcBef>
              <a:spcAft>
                <a:spcPts val="0"/>
              </a:spcAft>
              <a:buSzPts val="1000"/>
              <a:buFont typeface="Times New Roman"/>
              <a:buChar char="•"/>
            </a:pPr>
            <a:r>
              <a:rPr lang="en-US" sz="2400">
                <a:latin typeface="Times New Roman"/>
                <a:ea typeface="Times New Roman"/>
                <a:cs typeface="Times New Roman"/>
                <a:sym typeface="Times New Roman"/>
              </a:rPr>
              <a:t>Ex:to filter the spam mails, sentiment analysis, </a:t>
            </a:r>
            <a:r>
              <a:rPr lang="en-US" sz="2400">
                <a:latin typeface="Times New Roman"/>
                <a:ea typeface="Times New Roman"/>
                <a:cs typeface="Times New Roman"/>
                <a:sym typeface="Times New Roman"/>
              </a:rPr>
              <a:t>article</a:t>
            </a:r>
            <a:r>
              <a:rPr lang="en-US" sz="2400">
                <a:latin typeface="Times New Roman"/>
                <a:ea typeface="Times New Roman"/>
                <a:cs typeface="Times New Roman"/>
                <a:sym typeface="Times New Roman"/>
              </a:rPr>
              <a:t> classification etc…</a:t>
            </a:r>
            <a:endParaRPr sz="2400">
              <a:latin typeface="Times New Roman"/>
              <a:ea typeface="Times New Roman"/>
              <a:cs typeface="Times New Roman"/>
              <a:sym typeface="Times New Roman"/>
            </a:endParaRPr>
          </a:p>
          <a:p>
            <a:pPr indent="-381000" lvl="0" marL="457200" rtl="0" algn="just">
              <a:spcBef>
                <a:spcPts val="0"/>
              </a:spcBef>
              <a:spcAft>
                <a:spcPts val="0"/>
              </a:spcAft>
              <a:buSzPts val="2400"/>
              <a:buFont typeface="Times New Roman"/>
              <a:buChar char="•"/>
            </a:pPr>
            <a:r>
              <a:rPr lang="en-US" sz="2400">
                <a:latin typeface="Times New Roman"/>
                <a:ea typeface="Times New Roman"/>
                <a:cs typeface="Times New Roman"/>
                <a:sym typeface="Times New Roman"/>
              </a:rPr>
              <a:t>Why it is called as Naive Bayesian classification </a:t>
            </a:r>
            <a:endParaRPr sz="2400">
              <a:latin typeface="Times New Roman"/>
              <a:ea typeface="Times New Roman"/>
              <a:cs typeface="Times New Roman"/>
              <a:sym typeface="Times New Roman"/>
            </a:endParaRPr>
          </a:p>
          <a:p>
            <a:pPr indent="0" lvl="0" marL="457200" rtl="0" algn="just">
              <a:spcBef>
                <a:spcPts val="360"/>
              </a:spcBef>
              <a:spcAft>
                <a:spcPts val="0"/>
              </a:spcAft>
              <a:buNone/>
            </a:pPr>
            <a:r>
              <a:rPr lang="en-US" sz="2400">
                <a:latin typeface="Times New Roman"/>
                <a:ea typeface="Times New Roman"/>
                <a:cs typeface="Times New Roman"/>
                <a:sym typeface="Times New Roman"/>
              </a:rPr>
              <a:t>  Naive: If we have </a:t>
            </a:r>
            <a:r>
              <a:rPr lang="en-US" sz="2400">
                <a:latin typeface="Times New Roman"/>
                <a:ea typeface="Times New Roman"/>
                <a:cs typeface="Times New Roman"/>
                <a:sym typeface="Times New Roman"/>
              </a:rPr>
              <a:t>independent</a:t>
            </a:r>
            <a:r>
              <a:rPr lang="en-US" sz="2400">
                <a:latin typeface="Times New Roman"/>
                <a:ea typeface="Times New Roman"/>
                <a:cs typeface="Times New Roman"/>
                <a:sym typeface="Times New Roman"/>
              </a:rPr>
              <a:t> variable, based on the independent variable properties will do classification</a:t>
            </a:r>
            <a:endParaRPr sz="2400">
              <a:latin typeface="Times New Roman"/>
              <a:ea typeface="Times New Roman"/>
              <a:cs typeface="Times New Roman"/>
              <a:sym typeface="Times New Roman"/>
            </a:endParaRPr>
          </a:p>
          <a:p>
            <a:pPr indent="0" lvl="0" marL="457200" rtl="0" algn="just">
              <a:spcBef>
                <a:spcPts val="360"/>
              </a:spcBef>
              <a:spcAft>
                <a:spcPts val="0"/>
              </a:spcAft>
              <a:buNone/>
            </a:pPr>
            <a:r>
              <a:rPr lang="en-US" sz="2400">
                <a:latin typeface="Times New Roman"/>
                <a:ea typeface="Times New Roman"/>
                <a:cs typeface="Times New Roman"/>
                <a:sym typeface="Times New Roman"/>
              </a:rPr>
              <a:t>    ex : Fruit : properties color :red, shape : round , Taste:sweet → apple</a:t>
            </a:r>
            <a:endParaRPr sz="2400">
              <a:latin typeface="Times New Roman"/>
              <a:ea typeface="Times New Roman"/>
              <a:cs typeface="Times New Roman"/>
              <a:sym typeface="Times New Roman"/>
            </a:endParaRPr>
          </a:p>
          <a:p>
            <a:pPr indent="0" lvl="0" marL="457200" rtl="0" algn="just">
              <a:spcBef>
                <a:spcPts val="360"/>
              </a:spcBef>
              <a:spcAft>
                <a:spcPts val="0"/>
              </a:spcAft>
              <a:buNone/>
            </a:pPr>
            <a:r>
              <a:rPr lang="en-US" sz="2400">
                <a:latin typeface="Times New Roman"/>
                <a:ea typeface="Times New Roman"/>
                <a:cs typeface="Times New Roman"/>
                <a:sym typeface="Times New Roman"/>
              </a:rPr>
              <a:t>Bayes: Based on the bayesian theorem principle it will work</a:t>
            </a:r>
            <a:endParaRPr sz="2400">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5e50340913_0_5"/>
          <p:cNvSpPr txBox="1"/>
          <p:nvPr>
            <p:ph idx="1" type="body"/>
          </p:nvPr>
        </p:nvSpPr>
        <p:spPr>
          <a:xfrm>
            <a:off x="457200" y="208775"/>
            <a:ext cx="8229600" cy="5655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Whether it is possible to play in sunny or not?</a:t>
            </a:r>
            <a:endParaRPr/>
          </a:p>
        </p:txBody>
      </p:sp>
      <p:pic>
        <p:nvPicPr>
          <p:cNvPr id="372" name="Google Shape;372;g35e50340913_0_5"/>
          <p:cNvPicPr preferRelativeResize="0"/>
          <p:nvPr/>
        </p:nvPicPr>
        <p:blipFill>
          <a:blip r:embed="rId3">
            <a:alphaModFix/>
          </a:blip>
          <a:stretch>
            <a:fillRect/>
          </a:stretch>
        </p:blipFill>
        <p:spPr>
          <a:xfrm>
            <a:off x="-142100" y="1017825"/>
            <a:ext cx="9503602" cy="597792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5e50340913_0_11"/>
          <p:cNvSpPr txBox="1"/>
          <p:nvPr>
            <p:ph idx="1" type="body"/>
          </p:nvPr>
        </p:nvSpPr>
        <p:spPr>
          <a:xfrm>
            <a:off x="457200" y="208775"/>
            <a:ext cx="8229600" cy="59175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378" name="Google Shape;378;g35e50340913_0_11"/>
          <p:cNvPicPr preferRelativeResize="0"/>
          <p:nvPr/>
        </p:nvPicPr>
        <p:blipFill>
          <a:blip r:embed="rId3">
            <a:alphaModFix/>
          </a:blip>
          <a:stretch>
            <a:fillRect/>
          </a:stretch>
        </p:blipFill>
        <p:spPr>
          <a:xfrm>
            <a:off x="0" y="-80690"/>
            <a:ext cx="9143999" cy="2901680"/>
          </a:xfrm>
          <a:prstGeom prst="rect">
            <a:avLst/>
          </a:prstGeom>
          <a:noFill/>
          <a:ln>
            <a:noFill/>
          </a:ln>
        </p:spPr>
      </p:pic>
      <p:pic>
        <p:nvPicPr>
          <p:cNvPr id="379" name="Google Shape;379;g35e50340913_0_11"/>
          <p:cNvPicPr preferRelativeResize="0"/>
          <p:nvPr/>
        </p:nvPicPr>
        <p:blipFill>
          <a:blip r:embed="rId4">
            <a:alphaModFix/>
          </a:blip>
          <a:stretch>
            <a:fillRect/>
          </a:stretch>
        </p:blipFill>
        <p:spPr>
          <a:xfrm>
            <a:off x="108900" y="3033175"/>
            <a:ext cx="8970350" cy="37407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35e50340913_0_18"/>
          <p:cNvSpPr txBox="1"/>
          <p:nvPr>
            <p:ph idx="1" type="body"/>
          </p:nvPr>
        </p:nvSpPr>
        <p:spPr>
          <a:xfrm>
            <a:off x="457200" y="107300"/>
            <a:ext cx="8229600" cy="60189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385" name="Google Shape;385;g35e50340913_0_18"/>
          <p:cNvPicPr preferRelativeResize="0"/>
          <p:nvPr/>
        </p:nvPicPr>
        <p:blipFill>
          <a:blip r:embed="rId3">
            <a:alphaModFix/>
          </a:blip>
          <a:stretch>
            <a:fillRect/>
          </a:stretch>
        </p:blipFill>
        <p:spPr>
          <a:xfrm>
            <a:off x="-58000" y="-6"/>
            <a:ext cx="9143999" cy="2507411"/>
          </a:xfrm>
          <a:prstGeom prst="rect">
            <a:avLst/>
          </a:prstGeom>
          <a:noFill/>
          <a:ln>
            <a:noFill/>
          </a:ln>
        </p:spPr>
      </p:pic>
      <p:pic>
        <p:nvPicPr>
          <p:cNvPr id="386" name="Google Shape;386;g35e50340913_0_18"/>
          <p:cNvPicPr preferRelativeResize="0"/>
          <p:nvPr/>
        </p:nvPicPr>
        <p:blipFill>
          <a:blip r:embed="rId4">
            <a:alphaModFix/>
          </a:blip>
          <a:stretch>
            <a:fillRect/>
          </a:stretch>
        </p:blipFill>
        <p:spPr>
          <a:xfrm>
            <a:off x="0" y="2507400"/>
            <a:ext cx="9086001" cy="43817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35e50340913_0_25"/>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392" name="Google Shape;392;g35e50340913_0_25"/>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393" name="Google Shape;393;g35e50340913_0_25"/>
          <p:cNvPicPr preferRelativeResize="0"/>
          <p:nvPr/>
        </p:nvPicPr>
        <p:blipFill>
          <a:blip r:embed="rId3">
            <a:alphaModFix/>
          </a:blip>
          <a:stretch>
            <a:fillRect/>
          </a:stretch>
        </p:blipFill>
        <p:spPr>
          <a:xfrm>
            <a:off x="0" y="6"/>
            <a:ext cx="9144002" cy="61263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5"/>
          <p:cNvSpPr txBox="1"/>
          <p:nvPr>
            <p:ph type="title"/>
          </p:nvPr>
        </p:nvSpPr>
        <p:spPr>
          <a:xfrm>
            <a:off x="457200" y="274637"/>
            <a:ext cx="8229600" cy="7921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i="0" lang="en-US" sz="2900" u="none">
                <a:solidFill>
                  <a:schemeClr val="dk1"/>
                </a:solidFill>
                <a:latin typeface="Times New Roman"/>
                <a:ea typeface="Times New Roman"/>
                <a:cs typeface="Times New Roman"/>
                <a:sym typeface="Times New Roman"/>
              </a:rPr>
              <a:t>MARKOV RANDOM FIELDS</a:t>
            </a:r>
            <a:endParaRPr sz="2900">
              <a:latin typeface="Times New Roman"/>
              <a:ea typeface="Times New Roman"/>
              <a:cs typeface="Times New Roman"/>
              <a:sym typeface="Times New Roman"/>
            </a:endParaRPr>
          </a:p>
        </p:txBody>
      </p:sp>
      <p:sp>
        <p:nvSpPr>
          <p:cNvPr id="399" name="Google Shape;399;p45"/>
          <p:cNvSpPr txBox="1"/>
          <p:nvPr>
            <p:ph idx="1" type="body"/>
          </p:nvPr>
        </p:nvSpPr>
        <p:spPr>
          <a:xfrm>
            <a:off x="228600" y="1143000"/>
            <a:ext cx="8610600" cy="5486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Bayesian networks are inherently asymmetric, since each edge had an arrow on it.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If we remove this constraint, then there is no longer any idea of children and parent nodes. </a:t>
            </a:r>
            <a:endParaRPr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SzPts val="2400"/>
              <a:buFont typeface="Times New Roman"/>
              <a:buChar char="•"/>
            </a:pPr>
            <a:r>
              <a:rPr lang="en-US" sz="2400">
                <a:latin typeface="Times New Roman"/>
                <a:ea typeface="Times New Roman"/>
                <a:cs typeface="Times New Roman"/>
                <a:sym typeface="Times New Roman"/>
              </a:rPr>
              <a:t>It is a undirected graph</a:t>
            </a:r>
            <a:endParaRPr sz="2400">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SzPts val="2400"/>
              <a:buFont typeface="Times New Roman"/>
              <a:buChar char="•"/>
            </a:pPr>
            <a:r>
              <a:rPr lang="en-US" sz="2400">
                <a:latin typeface="Times New Roman"/>
                <a:ea typeface="Times New Roman"/>
                <a:cs typeface="Times New Roman"/>
                <a:sym typeface="Times New Roman"/>
              </a:rPr>
              <a:t>Each node represents a discrete random variable</a:t>
            </a:r>
            <a:endParaRPr sz="2400">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It also makes the idea of conditional independence that we saw for the Bayesian network easier: two nodes in a Markov Random Field (MRF) are conditionally independent of each other, given a third node, if there is no path between the two nodes that doesn’t pass through the third node.</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This is actually a variation on the Markov property.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state of a particular node is a function only of the states of its immediate neighbours, since all other nodes are conditionally independent given its neighbours.</a:t>
            </a:r>
            <a:endParaRPr>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6"/>
          <p:cNvSpPr txBox="1"/>
          <p:nvPr>
            <p:ph idx="1" type="body"/>
          </p:nvPr>
        </p:nvSpPr>
        <p:spPr>
          <a:xfrm>
            <a:off x="304800" y="228600"/>
            <a:ext cx="8534400" cy="6400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There are particular applications where MRF methods have turned out to be particularly useful. </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Arial"/>
              <a:buNone/>
            </a:pPr>
            <a:r>
              <a:rPr i="0" lang="en-US" sz="2300" u="none">
                <a:solidFill>
                  <a:schemeClr val="dk1"/>
                </a:solidFill>
                <a:latin typeface="Times New Roman"/>
                <a:ea typeface="Times New Roman"/>
                <a:cs typeface="Times New Roman"/>
                <a:sym typeface="Times New Roman"/>
              </a:rPr>
              <a:t>     Ex: Image De-Noising, when we talked about Auto-Associative Learning in the MLP. </a:t>
            </a:r>
            <a:endParaRPr>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Suppose we have a Binary Image </a:t>
            </a:r>
            <a:r>
              <a:rPr i="1" lang="en-US" sz="3200" u="none">
                <a:solidFill>
                  <a:schemeClr val="dk1"/>
                </a:solidFill>
                <a:latin typeface="Times New Roman"/>
                <a:ea typeface="Times New Roman"/>
                <a:cs typeface="Times New Roman"/>
                <a:sym typeface="Times New Roman"/>
              </a:rPr>
              <a:t>I</a:t>
            </a:r>
            <a:r>
              <a:rPr i="1" lang="en-US" sz="2300" u="none">
                <a:solidFill>
                  <a:schemeClr val="dk1"/>
                </a:solidFill>
                <a:latin typeface="Times New Roman"/>
                <a:ea typeface="Times New Roman"/>
                <a:cs typeface="Times New Roman"/>
                <a:sym typeface="Times New Roman"/>
              </a:rPr>
              <a:t> with pixel values </a:t>
            </a:r>
            <a:r>
              <a:rPr i="1" lang="en-US" sz="3200" u="none">
                <a:solidFill>
                  <a:schemeClr val="dk1"/>
                </a:solidFill>
                <a:latin typeface="Times New Roman"/>
                <a:ea typeface="Times New Roman"/>
                <a:cs typeface="Times New Roman"/>
                <a:sym typeface="Times New Roman"/>
              </a:rPr>
              <a:t>I</a:t>
            </a:r>
            <a:r>
              <a:rPr baseline="-25000" i="1" lang="en-US" sz="3200" u="none">
                <a:solidFill>
                  <a:schemeClr val="dk1"/>
                </a:solidFill>
                <a:latin typeface="Times New Roman"/>
                <a:ea typeface="Times New Roman"/>
                <a:cs typeface="Times New Roman"/>
                <a:sym typeface="Times New Roman"/>
              </a:rPr>
              <a:t>xi, xj</a:t>
            </a:r>
            <a:r>
              <a:rPr i="1" lang="en-US" sz="3200" u="none">
                <a:solidFill>
                  <a:schemeClr val="dk1"/>
                </a:solidFill>
                <a:latin typeface="Times New Roman"/>
                <a:ea typeface="Times New Roman"/>
                <a:cs typeface="Times New Roman"/>
                <a:sym typeface="Times New Roman"/>
              </a:rPr>
              <a:t> </a:t>
            </a:r>
            <a:r>
              <a:rPr i="1" lang="en-US" sz="2300" u="none">
                <a:solidFill>
                  <a:schemeClr val="dk1"/>
                </a:solidFill>
                <a:latin typeface="Times New Roman"/>
                <a:ea typeface="Times New Roman"/>
                <a:cs typeface="Times New Roman"/>
                <a:sym typeface="Times New Roman"/>
              </a:rPr>
              <a:t>Ɛ {−1, 1}.</a:t>
            </a:r>
            <a:endParaRPr>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This image is a representation of an ‘Ideal’ Image </a:t>
            </a:r>
            <a:r>
              <a:rPr i="1" lang="en-US" sz="3200" u="none">
                <a:solidFill>
                  <a:schemeClr val="dk1"/>
                </a:solidFill>
                <a:latin typeface="Times New Roman"/>
                <a:ea typeface="Times New Roman"/>
                <a:cs typeface="Times New Roman"/>
                <a:sym typeface="Times New Roman"/>
              </a:rPr>
              <a:t>I'</a:t>
            </a:r>
            <a:r>
              <a:rPr baseline="-25000" i="1" lang="en-US" sz="3200" u="none">
                <a:solidFill>
                  <a:schemeClr val="dk1"/>
                </a:solidFill>
                <a:latin typeface="Times New Roman"/>
                <a:ea typeface="Times New Roman"/>
                <a:cs typeface="Times New Roman"/>
                <a:sym typeface="Times New Roman"/>
              </a:rPr>
              <a:t>xi,xj</a:t>
            </a:r>
            <a:r>
              <a:rPr baseline="-25000" i="1" lang="en-US" sz="2300" u="none">
                <a:solidFill>
                  <a:schemeClr val="dk1"/>
                </a:solidFill>
                <a:latin typeface="Times New Roman"/>
                <a:ea typeface="Times New Roman"/>
                <a:cs typeface="Times New Roman"/>
                <a:sym typeface="Times New Roman"/>
              </a:rPr>
              <a:t> </a:t>
            </a:r>
            <a:r>
              <a:rPr i="1" lang="en-US" sz="2300" u="none">
                <a:solidFill>
                  <a:schemeClr val="dk1"/>
                </a:solidFill>
                <a:latin typeface="Times New Roman"/>
                <a:ea typeface="Times New Roman"/>
                <a:cs typeface="Times New Roman"/>
                <a:sym typeface="Times New Roman"/>
              </a:rPr>
              <a:t>that has no noise in it, which is what we want to recover. </a:t>
            </a:r>
            <a:endParaRPr>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2300"/>
              <a:buFont typeface="Times New Roman"/>
              <a:buChar char="•"/>
            </a:pPr>
            <a:r>
              <a:rPr i="1" lang="en-US" sz="2300" u="none">
                <a:solidFill>
                  <a:schemeClr val="dk1"/>
                </a:solidFill>
                <a:latin typeface="Times New Roman"/>
                <a:ea typeface="Times New Roman"/>
                <a:cs typeface="Times New Roman"/>
                <a:sym typeface="Times New Roman"/>
              </a:rPr>
              <a:t>If we assume </a:t>
            </a:r>
            <a:r>
              <a:rPr i="0" lang="en-US" sz="2300" u="none">
                <a:solidFill>
                  <a:schemeClr val="dk1"/>
                </a:solidFill>
                <a:latin typeface="Times New Roman"/>
                <a:ea typeface="Times New Roman"/>
                <a:cs typeface="Times New Roman"/>
                <a:sym typeface="Times New Roman"/>
              </a:rPr>
              <a:t>that the amount of noise is small, then there should be a good correlation between the values of each pixel in the two images, so </a:t>
            </a:r>
            <a:r>
              <a:rPr i="1" lang="en-US" sz="3200" u="none">
                <a:solidFill>
                  <a:schemeClr val="dk1"/>
                </a:solidFill>
                <a:latin typeface="Times New Roman"/>
                <a:ea typeface="Times New Roman"/>
                <a:cs typeface="Times New Roman"/>
                <a:sym typeface="Times New Roman"/>
              </a:rPr>
              <a:t>I</a:t>
            </a:r>
            <a:r>
              <a:rPr baseline="-25000" i="1" lang="en-US" sz="3200" u="none">
                <a:solidFill>
                  <a:schemeClr val="dk1"/>
                </a:solidFill>
                <a:latin typeface="Times New Roman"/>
                <a:ea typeface="Times New Roman"/>
                <a:cs typeface="Times New Roman"/>
                <a:sym typeface="Times New Roman"/>
              </a:rPr>
              <a:t>xi,xj</a:t>
            </a:r>
            <a:r>
              <a:rPr baseline="-25000" i="1" lang="en-US" sz="2300" u="none">
                <a:solidFill>
                  <a:schemeClr val="dk1"/>
                </a:solidFill>
                <a:latin typeface="Times New Roman"/>
                <a:ea typeface="Times New Roman"/>
                <a:cs typeface="Times New Roman"/>
                <a:sym typeface="Times New Roman"/>
              </a:rPr>
              <a:t> </a:t>
            </a:r>
            <a:r>
              <a:rPr i="1" lang="en-US" sz="2300" u="none">
                <a:solidFill>
                  <a:schemeClr val="dk1"/>
                </a:solidFill>
                <a:latin typeface="Times New Roman"/>
                <a:ea typeface="Times New Roman"/>
                <a:cs typeface="Times New Roman"/>
                <a:sym typeface="Times New Roman"/>
              </a:rPr>
              <a:t>and </a:t>
            </a:r>
            <a:r>
              <a:rPr i="1" lang="en-US" sz="3200" u="none">
                <a:solidFill>
                  <a:schemeClr val="dk1"/>
                </a:solidFill>
                <a:latin typeface="Times New Roman"/>
                <a:ea typeface="Times New Roman"/>
                <a:cs typeface="Times New Roman"/>
                <a:sym typeface="Times New Roman"/>
              </a:rPr>
              <a:t>I'</a:t>
            </a:r>
            <a:r>
              <a:rPr baseline="-25000" i="1" lang="en-US" sz="3200" u="none">
                <a:solidFill>
                  <a:schemeClr val="dk1"/>
                </a:solidFill>
                <a:latin typeface="Times New Roman"/>
                <a:ea typeface="Times New Roman"/>
                <a:cs typeface="Times New Roman"/>
                <a:sym typeface="Times New Roman"/>
              </a:rPr>
              <a:t>xi,xj</a:t>
            </a:r>
            <a:r>
              <a:rPr baseline="-25000" i="1" lang="en-US" sz="2300" u="none">
                <a:solidFill>
                  <a:schemeClr val="dk1"/>
                </a:solidFill>
                <a:latin typeface="Times New Roman"/>
                <a:ea typeface="Times New Roman"/>
                <a:cs typeface="Times New Roman"/>
                <a:sym typeface="Times New Roman"/>
              </a:rPr>
              <a:t> </a:t>
            </a:r>
            <a:r>
              <a:rPr i="1" lang="en-US" sz="2300" u="none">
                <a:solidFill>
                  <a:schemeClr val="dk1"/>
                </a:solidFill>
                <a:latin typeface="Times New Roman"/>
                <a:ea typeface="Times New Roman"/>
                <a:cs typeface="Times New Roman"/>
                <a:sym typeface="Times New Roman"/>
              </a:rPr>
              <a:t> should be correlated.</a:t>
            </a:r>
            <a:endParaRPr>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Assume that within a small ‘patch’ or region in an image, there is good correlation between pixels (so </a:t>
            </a:r>
            <a:r>
              <a:rPr i="1" lang="en-US" sz="3200" u="none">
                <a:solidFill>
                  <a:schemeClr val="dk1"/>
                </a:solidFill>
                <a:latin typeface="Times New Roman"/>
                <a:ea typeface="Times New Roman"/>
                <a:cs typeface="Times New Roman"/>
                <a:sym typeface="Times New Roman"/>
              </a:rPr>
              <a:t>I</a:t>
            </a:r>
            <a:r>
              <a:rPr baseline="-25000" i="1" lang="en-US" sz="3200" u="none">
                <a:solidFill>
                  <a:schemeClr val="dk1"/>
                </a:solidFill>
                <a:latin typeface="Times New Roman"/>
                <a:ea typeface="Times New Roman"/>
                <a:cs typeface="Times New Roman"/>
                <a:sym typeface="Times New Roman"/>
              </a:rPr>
              <a:t>xi,xj</a:t>
            </a:r>
            <a:r>
              <a:rPr i="1" lang="en-US" sz="2300" u="none">
                <a:solidFill>
                  <a:schemeClr val="dk1"/>
                </a:solidFill>
                <a:latin typeface="Times New Roman"/>
                <a:ea typeface="Times New Roman"/>
                <a:cs typeface="Times New Roman"/>
                <a:sym typeface="Times New Roman"/>
              </a:rPr>
              <a:t> should correlate well with </a:t>
            </a:r>
            <a:r>
              <a:rPr i="1" lang="en-US" sz="3200" u="none">
                <a:solidFill>
                  <a:schemeClr val="dk1"/>
                </a:solidFill>
                <a:latin typeface="Times New Roman"/>
                <a:ea typeface="Times New Roman"/>
                <a:cs typeface="Times New Roman"/>
                <a:sym typeface="Times New Roman"/>
              </a:rPr>
              <a:t>I</a:t>
            </a:r>
            <a:r>
              <a:rPr baseline="-25000" i="1" lang="en-US" sz="3200" u="none">
                <a:solidFill>
                  <a:schemeClr val="dk1"/>
                </a:solidFill>
                <a:latin typeface="Times New Roman"/>
                <a:ea typeface="Times New Roman"/>
                <a:cs typeface="Times New Roman"/>
                <a:sym typeface="Times New Roman"/>
              </a:rPr>
              <a:t>xi+1,xj</a:t>
            </a:r>
            <a:r>
              <a:rPr i="1" lang="en-US" sz="2300" u="none">
                <a:solidFill>
                  <a:schemeClr val="dk1"/>
                </a:solidFill>
                <a:latin typeface="Times New Roman"/>
                <a:ea typeface="Times New Roman"/>
                <a:cs typeface="Times New Roman"/>
                <a:sym typeface="Times New Roman"/>
              </a:rPr>
              <a:t> and its other neighbouring pixels (</a:t>
            </a:r>
            <a:r>
              <a:rPr i="1" lang="en-US" sz="3200" u="none">
                <a:solidFill>
                  <a:schemeClr val="dk1"/>
                </a:solidFill>
                <a:latin typeface="Times New Roman"/>
                <a:ea typeface="Times New Roman"/>
                <a:cs typeface="Times New Roman"/>
                <a:sym typeface="Times New Roman"/>
              </a:rPr>
              <a:t>I</a:t>
            </a:r>
            <a:r>
              <a:rPr baseline="-25000" i="1" lang="en-US" sz="3200" u="none">
                <a:solidFill>
                  <a:schemeClr val="dk1"/>
                </a:solidFill>
                <a:latin typeface="Times New Roman"/>
                <a:ea typeface="Times New Roman"/>
                <a:cs typeface="Times New Roman"/>
                <a:sym typeface="Times New Roman"/>
              </a:rPr>
              <a:t>xi,xj−1</a:t>
            </a:r>
            <a:r>
              <a:rPr i="1" lang="en-US" sz="2300" u="none">
                <a:solidFill>
                  <a:schemeClr val="dk1"/>
                </a:solidFill>
                <a:latin typeface="Times New Roman"/>
                <a:ea typeface="Times New Roman"/>
                <a:cs typeface="Times New Roman"/>
                <a:sym typeface="Times New Roman"/>
              </a:rPr>
              <a:t>, etc.).</a:t>
            </a:r>
            <a:endParaRPr>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7"/>
          <p:cNvSpPr txBox="1"/>
          <p:nvPr>
            <p:ph idx="1" type="body"/>
          </p:nvPr>
        </p:nvSpPr>
        <p:spPr>
          <a:xfrm>
            <a:off x="228600" y="981075"/>
            <a:ext cx="8686800" cy="572452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Assumption says that there are lots of places in the image where all of the pixels are of the same value, and this is true for most images, and pixels are correlated (other pixels in the image are conditionally independent of </a:t>
            </a:r>
            <a:r>
              <a:rPr i="0" lang="en-US" sz="3200" u="none">
                <a:solidFill>
                  <a:schemeClr val="dk1"/>
                </a:solidFill>
                <a:latin typeface="Times New Roman"/>
                <a:ea typeface="Times New Roman"/>
                <a:cs typeface="Times New Roman"/>
                <a:sym typeface="Times New Roman"/>
              </a:rPr>
              <a:t>I</a:t>
            </a:r>
            <a:r>
              <a:rPr baseline="-25000" i="0" lang="en-US" sz="3200" u="none">
                <a:solidFill>
                  <a:schemeClr val="dk1"/>
                </a:solidFill>
                <a:latin typeface="Times New Roman"/>
                <a:ea typeface="Times New Roman"/>
                <a:cs typeface="Times New Roman"/>
                <a:sym typeface="Times New Roman"/>
              </a:rPr>
              <a:t>xi,xj</a:t>
            </a:r>
            <a:r>
              <a:rPr i="0" lang="en-US" sz="2400" u="none">
                <a:solidFill>
                  <a:schemeClr val="dk1"/>
                </a:solidFill>
                <a:latin typeface="Times New Roman"/>
                <a:ea typeface="Times New Roman"/>
                <a:cs typeface="Times New Roman"/>
                <a:sym typeface="Times New Roman"/>
              </a:rPr>
              <a:t> given the neighbours of that pixel, which is the MRF bit)</a:t>
            </a:r>
            <a:endParaRPr i="1"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original theory of MRFs was worked out by physicists, initially by looking at the Ising model, which is a statistical description of a set of atoms connected in a chain, where each can spin up (+1) or down (-1) and whose spin affects those connected to it in the chain. </a:t>
            </a:r>
            <a:endParaRPr>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Write the energy of the same pixel in two images as −</a:t>
            </a:r>
            <a:r>
              <a:rPr i="0" lang="en-US" sz="3200" u="none">
                <a:solidFill>
                  <a:schemeClr val="dk1"/>
                </a:solidFill>
                <a:latin typeface="Times New Roman"/>
                <a:ea typeface="Times New Roman"/>
                <a:cs typeface="Times New Roman"/>
                <a:sym typeface="Times New Roman"/>
              </a:rPr>
              <a:t>η</a:t>
            </a:r>
            <a:r>
              <a:rPr i="1" lang="en-US" sz="3200" u="none">
                <a:solidFill>
                  <a:schemeClr val="dk1"/>
                </a:solidFill>
                <a:latin typeface="Times New Roman"/>
                <a:ea typeface="Times New Roman"/>
                <a:cs typeface="Times New Roman"/>
                <a:sym typeface="Times New Roman"/>
              </a:rPr>
              <a:t> </a:t>
            </a:r>
            <a:r>
              <a:rPr i="0" lang="en-US" sz="3200" u="none">
                <a:solidFill>
                  <a:schemeClr val="dk1"/>
                </a:solidFill>
                <a:latin typeface="Times New Roman"/>
                <a:ea typeface="Times New Roman"/>
                <a:cs typeface="Times New Roman"/>
                <a:sym typeface="Times New Roman"/>
              </a:rPr>
              <a:t>I</a:t>
            </a:r>
            <a:r>
              <a:rPr baseline="-25000" i="0" lang="en-US" sz="3200" u="none">
                <a:solidFill>
                  <a:schemeClr val="dk1"/>
                </a:solidFill>
                <a:latin typeface="Times New Roman"/>
                <a:ea typeface="Times New Roman"/>
                <a:cs typeface="Times New Roman"/>
                <a:sym typeface="Times New Roman"/>
              </a:rPr>
              <a:t>xi,xj </a:t>
            </a:r>
            <a:r>
              <a:rPr i="0" lang="en-US" sz="3200" u="none">
                <a:solidFill>
                  <a:schemeClr val="dk1"/>
                </a:solidFill>
                <a:latin typeface="Times New Roman"/>
                <a:ea typeface="Times New Roman"/>
                <a:cs typeface="Times New Roman"/>
                <a:sym typeface="Times New Roman"/>
              </a:rPr>
              <a:t>I'</a:t>
            </a:r>
            <a:r>
              <a:rPr baseline="-25000" i="0" lang="en-US" sz="3200" u="none">
                <a:solidFill>
                  <a:schemeClr val="dk1"/>
                </a:solidFill>
                <a:latin typeface="Times New Roman"/>
                <a:ea typeface="Times New Roman"/>
                <a:cs typeface="Times New Roman"/>
                <a:sym typeface="Times New Roman"/>
              </a:rPr>
              <a:t>xi,xj </a:t>
            </a:r>
            <a:r>
              <a:rPr i="0" lang="en-US" sz="2400" u="none">
                <a:solidFill>
                  <a:schemeClr val="dk1"/>
                </a:solidFill>
                <a:latin typeface="Times New Roman"/>
                <a:ea typeface="Times New Roman"/>
                <a:cs typeface="Times New Roman"/>
                <a:sym typeface="Times New Roman"/>
              </a:rPr>
              <a:t>where η is a positive constant</a:t>
            </a:r>
            <a:r>
              <a:rPr i="1" lang="en-US" sz="2400" u="none">
                <a:solidFill>
                  <a:schemeClr val="dk1"/>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8"/>
          <p:cNvSpPr txBox="1"/>
          <p:nvPr>
            <p:ph idx="1" type="body"/>
          </p:nvPr>
        </p:nvSpPr>
        <p:spPr>
          <a:xfrm>
            <a:off x="228600" y="304800"/>
            <a:ext cx="8686800" cy="6400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If the two pixels have the same sign then the energy is negative, while if they have opposite signs then the energy is positive and therefore larger. </a:t>
            </a:r>
            <a:endParaRPr>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energy of two neighbouring pixels is −</a:t>
            </a:r>
            <a:r>
              <a:rPr i="1" lang="en-US" sz="1800" u="none">
                <a:solidFill>
                  <a:schemeClr val="dk1"/>
                </a:solidFill>
                <a:latin typeface="Times New Roman"/>
                <a:ea typeface="Times New Roman"/>
                <a:cs typeface="Times New Roman"/>
                <a:sym typeface="Times New Roman"/>
              </a:rPr>
              <a:t> </a:t>
            </a:r>
            <a:r>
              <a:rPr i="1" lang="en-US" sz="2800" u="none">
                <a:solidFill>
                  <a:schemeClr val="dk1"/>
                </a:solidFill>
                <a:latin typeface="Times New Roman"/>
                <a:ea typeface="Times New Roman"/>
                <a:cs typeface="Times New Roman"/>
                <a:sym typeface="Times New Roman"/>
              </a:rPr>
              <a:t>ζ</a:t>
            </a:r>
            <a:r>
              <a:rPr i="0" lang="en-US" sz="3200" u="none">
                <a:solidFill>
                  <a:schemeClr val="dk1"/>
                </a:solidFill>
                <a:latin typeface="Times New Roman"/>
                <a:ea typeface="Times New Roman"/>
                <a:cs typeface="Times New Roman"/>
                <a:sym typeface="Times New Roman"/>
              </a:rPr>
              <a:t>I</a:t>
            </a:r>
            <a:r>
              <a:rPr baseline="-25000" i="0" lang="en-US" sz="3200" u="none">
                <a:solidFill>
                  <a:schemeClr val="dk1"/>
                </a:solidFill>
                <a:latin typeface="Times New Roman"/>
                <a:ea typeface="Times New Roman"/>
                <a:cs typeface="Times New Roman"/>
                <a:sym typeface="Times New Roman"/>
              </a:rPr>
              <a:t>xi,xj</a:t>
            </a:r>
            <a:r>
              <a:rPr baseline="-25000" i="0" lang="en-US" sz="2400" u="none">
                <a:solidFill>
                  <a:schemeClr val="dk1"/>
                </a:solidFill>
                <a:latin typeface="Times New Roman"/>
                <a:ea typeface="Times New Roman"/>
                <a:cs typeface="Times New Roman"/>
                <a:sym typeface="Times New Roman"/>
              </a:rPr>
              <a:t> </a:t>
            </a:r>
            <a:r>
              <a:rPr i="0" lang="en-US" sz="3200" u="none">
                <a:solidFill>
                  <a:schemeClr val="dk1"/>
                </a:solidFill>
                <a:latin typeface="Times New Roman"/>
                <a:ea typeface="Times New Roman"/>
                <a:cs typeface="Times New Roman"/>
                <a:sym typeface="Times New Roman"/>
              </a:rPr>
              <a:t>I</a:t>
            </a:r>
            <a:r>
              <a:rPr baseline="-25000" i="0" lang="en-US" sz="3200" u="none">
                <a:solidFill>
                  <a:schemeClr val="dk1"/>
                </a:solidFill>
                <a:latin typeface="Times New Roman"/>
                <a:ea typeface="Times New Roman"/>
                <a:cs typeface="Times New Roman"/>
                <a:sym typeface="Times New Roman"/>
              </a:rPr>
              <a:t>xi+1,xj</a:t>
            </a:r>
            <a:r>
              <a:rPr i="1" lang="en-US" sz="1800" u="none">
                <a:solidFill>
                  <a:schemeClr val="dk1"/>
                </a:solidFill>
                <a:latin typeface="Times New Roman"/>
                <a:ea typeface="Times New Roman"/>
                <a:cs typeface="Times New Roman"/>
                <a:sym typeface="Times New Roman"/>
              </a:rPr>
              <a:t> </a:t>
            </a:r>
            <a:r>
              <a:rPr i="1" lang="en-US" sz="2400" u="none">
                <a:solidFill>
                  <a:schemeClr val="dk1"/>
                </a:solidFill>
                <a:latin typeface="Times New Roman"/>
                <a:ea typeface="Times New Roman"/>
                <a:cs typeface="Times New Roman"/>
                <a:sym typeface="Times New Roman"/>
              </a:rPr>
              <a:t> , and </a:t>
            </a:r>
            <a:r>
              <a:rPr i="0" lang="en-US" sz="2400" u="none">
                <a:solidFill>
                  <a:schemeClr val="dk1"/>
                </a:solidFill>
                <a:latin typeface="Times New Roman"/>
                <a:ea typeface="Times New Roman"/>
                <a:cs typeface="Times New Roman"/>
                <a:sym typeface="Times New Roman"/>
              </a:rPr>
              <a:t>add these components together to get the total energy:</a:t>
            </a:r>
            <a:endParaRPr>
              <a:latin typeface="Times New Roman"/>
              <a:ea typeface="Times New Roman"/>
              <a:cs typeface="Times New Roman"/>
              <a:sym typeface="Times New Roman"/>
            </a:endParaRPr>
          </a:p>
          <a:p>
            <a:pPr indent="-190500" lvl="0" marL="342900" marR="0" rtl="0" algn="just">
              <a:lnSpc>
                <a:spcPct val="100000"/>
              </a:lnSpc>
              <a:spcBef>
                <a:spcPts val="480"/>
              </a:spcBef>
              <a:spcAft>
                <a:spcPts val="0"/>
              </a:spcAft>
              <a:buClr>
                <a:schemeClr val="dk1"/>
              </a:buClr>
              <a:buSzPts val="2400"/>
              <a:buFont typeface="Arial"/>
              <a:buNone/>
            </a:pPr>
            <a:r>
              <a:t/>
            </a:r>
            <a:endParaRPr i="0" sz="2400" u="none">
              <a:solidFill>
                <a:schemeClr val="dk1"/>
              </a:solidFill>
              <a:latin typeface="Times New Roman"/>
              <a:ea typeface="Times New Roman"/>
              <a:cs typeface="Times New Roman"/>
              <a:sym typeface="Times New Roman"/>
            </a:endParaRPr>
          </a:p>
          <a:p>
            <a:pPr indent="-190500" lvl="0" marL="342900" marR="0" rtl="0" algn="just">
              <a:lnSpc>
                <a:spcPct val="100000"/>
              </a:lnSpc>
              <a:spcBef>
                <a:spcPts val="480"/>
              </a:spcBef>
              <a:spcAft>
                <a:spcPts val="0"/>
              </a:spcAft>
              <a:buClr>
                <a:schemeClr val="dk1"/>
              </a:buClr>
              <a:buSzPts val="2400"/>
              <a:buFont typeface="Arial"/>
              <a:buNone/>
            </a:pPr>
            <a:r>
              <a:t/>
            </a:r>
            <a:endParaRPr i="0" sz="2400" u="none">
              <a:solidFill>
                <a:schemeClr val="dk1"/>
              </a:solidFill>
              <a:latin typeface="Times New Roman"/>
              <a:ea typeface="Times New Roman"/>
              <a:cs typeface="Times New Roman"/>
              <a:sym typeface="Times New Roman"/>
            </a:endParaRPr>
          </a:p>
          <a:p>
            <a:pPr indent="-190500" lvl="0" marL="342900" marR="0" rtl="0" algn="just">
              <a:lnSpc>
                <a:spcPct val="100000"/>
              </a:lnSpc>
              <a:spcBef>
                <a:spcPts val="480"/>
              </a:spcBef>
              <a:spcAft>
                <a:spcPts val="0"/>
              </a:spcAft>
              <a:buClr>
                <a:schemeClr val="dk1"/>
              </a:buClr>
              <a:buSzPts val="2400"/>
              <a:buFont typeface="Arial"/>
              <a:buNone/>
            </a:pPr>
            <a:r>
              <a:t/>
            </a:r>
            <a:endParaRPr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Index of the pixels is assumed to run from 1 to </a:t>
            </a:r>
            <a:r>
              <a:rPr i="1" lang="en-US" sz="2400" u="none">
                <a:solidFill>
                  <a:schemeClr val="dk1"/>
                </a:solidFill>
                <a:latin typeface="Times New Roman"/>
                <a:ea typeface="Times New Roman"/>
                <a:cs typeface="Times New Roman"/>
                <a:sym typeface="Times New Roman"/>
              </a:rPr>
              <a:t>N in both the x and y directions in </a:t>
            </a:r>
            <a:r>
              <a:rPr i="0" lang="en-US" sz="2400" u="none">
                <a:solidFill>
                  <a:schemeClr val="dk1"/>
                </a:solidFill>
                <a:latin typeface="Times New Roman"/>
                <a:ea typeface="Times New Roman"/>
                <a:cs typeface="Times New Roman"/>
                <a:sym typeface="Times New Roman"/>
              </a:rPr>
              <a:t>both images and we are only interested in locally flat patches of the image we are changing, which is </a:t>
            </a:r>
            <a:r>
              <a:rPr i="0" lang="en-US" sz="32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a:t>
            </a:r>
            <a:endParaRPr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There is a simple iterative update algorithm, which is to start with noisy image </a:t>
            </a:r>
            <a:r>
              <a:rPr i="0" lang="en-US" sz="32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 </a:t>
            </a:r>
            <a:r>
              <a:rPr i="0" lang="en-US" sz="2400" u="none">
                <a:solidFill>
                  <a:schemeClr val="dk1"/>
                </a:solidFill>
                <a:latin typeface="Times New Roman"/>
                <a:ea typeface="Times New Roman"/>
                <a:cs typeface="Times New Roman"/>
                <a:sym typeface="Times New Roman"/>
              </a:rPr>
              <a:t>and ideal </a:t>
            </a:r>
            <a:r>
              <a:rPr i="0" lang="en-US" sz="32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 </a:t>
            </a:r>
            <a:r>
              <a:rPr i="0" lang="en-US" sz="2400" u="none">
                <a:solidFill>
                  <a:schemeClr val="dk1"/>
                </a:solidFill>
                <a:latin typeface="Times New Roman"/>
                <a:ea typeface="Times New Roman"/>
                <a:cs typeface="Times New Roman"/>
                <a:sym typeface="Times New Roman"/>
              </a:rPr>
              <a:t>and update </a:t>
            </a:r>
            <a:r>
              <a:rPr i="0" lang="en-US" sz="32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 </a:t>
            </a:r>
            <a:r>
              <a:rPr i="0" lang="en-US" sz="2400" u="none">
                <a:solidFill>
                  <a:schemeClr val="dk1"/>
                </a:solidFill>
                <a:latin typeface="Times New Roman"/>
                <a:ea typeface="Times New Roman"/>
                <a:cs typeface="Times New Roman"/>
                <a:sym typeface="Times New Roman"/>
              </a:rPr>
              <a:t>so that at each step the energy calculation is lower.</a:t>
            </a:r>
            <a:endParaRPr>
              <a:latin typeface="Times New Roman"/>
              <a:ea typeface="Times New Roman"/>
              <a:cs typeface="Times New Roman"/>
              <a:sym typeface="Times New Roman"/>
            </a:endParaRPr>
          </a:p>
        </p:txBody>
      </p:sp>
      <p:pic>
        <p:nvPicPr>
          <p:cNvPr id="415" name="Google Shape;415;p48"/>
          <p:cNvPicPr preferRelativeResize="0"/>
          <p:nvPr/>
        </p:nvPicPr>
        <p:blipFill rotWithShape="1">
          <a:blip r:embed="rId3">
            <a:alphaModFix/>
          </a:blip>
          <a:srcRect b="0" l="0" r="0" t="0"/>
          <a:stretch/>
        </p:blipFill>
        <p:spPr>
          <a:xfrm>
            <a:off x="971550" y="2492375"/>
            <a:ext cx="7907337" cy="1081087"/>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9"/>
          <p:cNvSpPr txBox="1"/>
          <p:nvPr>
            <p:ph idx="1" type="body"/>
          </p:nvPr>
        </p:nvSpPr>
        <p:spPr>
          <a:xfrm>
            <a:off x="228600" y="373062"/>
            <a:ext cx="8686800" cy="6224587"/>
          </a:xfrm>
          <a:prstGeom prst="rect">
            <a:avLst/>
          </a:prstGeom>
          <a:noFill/>
          <a:ln>
            <a:noFill/>
          </a:ln>
        </p:spPr>
        <p:txBody>
          <a:bodyPr anchorCtr="0" anchor="t" bIns="45700" lIns="91425" spcFirstLastPara="1" rIns="91425" wrap="square" tIns="45700">
            <a:noAutofit/>
          </a:bodyPr>
          <a:lstStyle/>
          <a:p>
            <a:pPr indent="-323850" lvl="0" marL="342900" marR="0" rtl="0" algn="just">
              <a:lnSpc>
                <a:spcPct val="100000"/>
              </a:lnSpc>
              <a:spcBef>
                <a:spcPts val="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Pick one pixel I</a:t>
            </a:r>
            <a:r>
              <a:rPr baseline="-25000" i="0" lang="en-US" sz="2500" u="none">
                <a:solidFill>
                  <a:schemeClr val="dk1"/>
                </a:solidFill>
                <a:latin typeface="Times New Roman"/>
                <a:ea typeface="Times New Roman"/>
                <a:cs typeface="Times New Roman"/>
                <a:sym typeface="Times New Roman"/>
              </a:rPr>
              <a:t>xi,xj</a:t>
            </a:r>
            <a:r>
              <a:rPr i="1" lang="en-US" sz="2500" u="none">
                <a:solidFill>
                  <a:schemeClr val="dk1"/>
                </a:solidFill>
                <a:latin typeface="Times New Roman"/>
                <a:ea typeface="Times New Roman"/>
                <a:cs typeface="Times New Roman"/>
                <a:sym typeface="Times New Roman"/>
              </a:rPr>
              <a:t> </a:t>
            </a:r>
            <a:r>
              <a:rPr i="0" lang="en-US" sz="2500" u="none">
                <a:solidFill>
                  <a:schemeClr val="dk1"/>
                </a:solidFill>
                <a:latin typeface="Times New Roman"/>
                <a:ea typeface="Times New Roman"/>
                <a:cs typeface="Times New Roman"/>
                <a:sym typeface="Times New Roman"/>
              </a:rPr>
              <a:t>for some values of xi, xj at a time, and compute the energies with this pixel being set to -1 and 1, picking the lower one. </a:t>
            </a:r>
            <a:endParaRPr sz="2900">
              <a:latin typeface="Times New Roman"/>
              <a:ea typeface="Times New Roman"/>
              <a:cs typeface="Times New Roman"/>
              <a:sym typeface="Times New Roman"/>
            </a:endParaRPr>
          </a:p>
          <a:p>
            <a:pPr indent="-323850" lvl="0" marL="342900" marR="0" rtl="0" algn="just">
              <a:lnSpc>
                <a:spcPct val="100000"/>
              </a:lnSpc>
              <a:spcBef>
                <a:spcPts val="56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Make the probability of P(I, I') higher. </a:t>
            </a:r>
            <a:endParaRPr sz="2900">
              <a:latin typeface="Times New Roman"/>
              <a:ea typeface="Times New Roman"/>
              <a:cs typeface="Times New Roman"/>
              <a:sym typeface="Times New Roman"/>
            </a:endParaRPr>
          </a:p>
          <a:p>
            <a:pPr indent="-323850" lvl="0" marL="342900" marR="0" rtl="0" algn="just">
              <a:lnSpc>
                <a:spcPct val="100000"/>
              </a:lnSpc>
              <a:spcBef>
                <a:spcPts val="56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The algorithm then moves on to another pixel, either choosing a random pixel at each step or moving through them in some pre-determined order, running  through the set of pixels until their values stop changing. </a:t>
            </a:r>
            <a:endParaRPr sz="2900">
              <a:latin typeface="Times New Roman"/>
              <a:ea typeface="Times New Roman"/>
              <a:cs typeface="Times New Roman"/>
              <a:sym typeface="Times New Roman"/>
            </a:endParaRPr>
          </a:p>
          <a:p>
            <a:pPr indent="-323850" lvl="0" marL="342900" marR="0" rtl="0" algn="just">
              <a:lnSpc>
                <a:spcPct val="100000"/>
              </a:lnSpc>
              <a:spcBef>
                <a:spcPts val="56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Figure 16.5 shows an original black and white image, a version corrupted with 10% noise, and the MRF-reconstructed version using parameters η </a:t>
            </a:r>
            <a:r>
              <a:rPr i="1" lang="en-US" sz="2500" u="none">
                <a:solidFill>
                  <a:schemeClr val="dk1"/>
                </a:solidFill>
                <a:latin typeface="Times New Roman"/>
                <a:ea typeface="Times New Roman"/>
                <a:cs typeface="Times New Roman"/>
                <a:sym typeface="Times New Roman"/>
              </a:rPr>
              <a:t>= 2.0, ζ = 1.5. </a:t>
            </a:r>
            <a:endParaRPr sz="2900">
              <a:latin typeface="Times New Roman"/>
              <a:ea typeface="Times New Roman"/>
              <a:cs typeface="Times New Roman"/>
              <a:sym typeface="Times New Roman"/>
            </a:endParaRPr>
          </a:p>
          <a:p>
            <a:pPr indent="-323850" lvl="0" marL="342900" marR="0" rtl="0" algn="just">
              <a:lnSpc>
                <a:spcPct val="100000"/>
              </a:lnSpc>
              <a:spcBef>
                <a:spcPts val="560"/>
              </a:spcBef>
              <a:spcAft>
                <a:spcPts val="0"/>
              </a:spcAft>
              <a:buClr>
                <a:schemeClr val="dk1"/>
              </a:buClr>
              <a:buSzPts val="2500"/>
              <a:buFont typeface="Times New Roman"/>
              <a:buChar char="•"/>
            </a:pPr>
            <a:r>
              <a:rPr i="0" lang="en-US" sz="2500" u="none">
                <a:solidFill>
                  <a:schemeClr val="dk1"/>
                </a:solidFill>
                <a:latin typeface="Times New Roman"/>
                <a:ea typeface="Times New Roman"/>
                <a:cs typeface="Times New Roman"/>
                <a:sym typeface="Times New Roman"/>
              </a:rPr>
              <a:t>This reduces the error from 10% to less than 1%, although it also removes New Zealand from the map!</a:t>
            </a:r>
            <a:endParaRPr sz="2900">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id="425" name="Google Shape;425;p50"/>
          <p:cNvPicPr preferRelativeResize="0"/>
          <p:nvPr/>
        </p:nvPicPr>
        <p:blipFill rotWithShape="1">
          <a:blip r:embed="rId3">
            <a:alphaModFix/>
          </a:blip>
          <a:srcRect b="0" l="0" r="0" t="0"/>
          <a:stretch/>
        </p:blipFill>
        <p:spPr>
          <a:xfrm>
            <a:off x="0" y="0"/>
            <a:ext cx="4427537" cy="3429000"/>
          </a:xfrm>
          <a:prstGeom prst="rect">
            <a:avLst/>
          </a:prstGeom>
          <a:noFill/>
          <a:ln>
            <a:noFill/>
          </a:ln>
        </p:spPr>
      </p:pic>
      <p:sp>
        <p:nvSpPr>
          <p:cNvPr id="426" name="Google Shape;426;p50"/>
          <p:cNvSpPr txBox="1"/>
          <p:nvPr/>
        </p:nvSpPr>
        <p:spPr>
          <a:xfrm>
            <a:off x="4572000" y="3429000"/>
            <a:ext cx="4343400" cy="2616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Calibri"/>
              <a:buNone/>
            </a:pPr>
            <a:r>
              <a:rPr b="0" i="0" lang="en-US" sz="2000" u="none">
                <a:solidFill>
                  <a:schemeClr val="dk1"/>
                </a:solidFill>
                <a:latin typeface="Calibri"/>
                <a:ea typeface="Calibri"/>
                <a:cs typeface="Calibri"/>
                <a:sym typeface="Calibri"/>
              </a:rPr>
              <a:t>FIGURE 16.5 Using the MRF image de-noising algorithm with η = 2.1, ζ = 1.5 on a map of the world (top right) corrupted by 10% uniformly distributed random noise (below left)</a:t>
            </a:r>
            <a:r>
              <a:rPr b="0" i="1" lang="en-US" sz="2000" u="none">
                <a:solidFill>
                  <a:schemeClr val="dk1"/>
                </a:solidFill>
                <a:latin typeface="Calibri"/>
                <a:ea typeface="Calibri"/>
                <a:cs typeface="Calibri"/>
                <a:sym typeface="Calibri"/>
              </a:rPr>
              <a:t> </a:t>
            </a:r>
            <a:r>
              <a:rPr b="0" i="0" lang="en-US" sz="2000" u="none">
                <a:solidFill>
                  <a:schemeClr val="dk1"/>
                </a:solidFill>
                <a:latin typeface="Calibri"/>
                <a:ea typeface="Calibri"/>
                <a:cs typeface="Calibri"/>
                <a:sym typeface="Calibri"/>
              </a:rPr>
              <a:t>gives the image which has about 1% error, although it has smoothed out the edges of all the continents.</a:t>
            </a:r>
            <a:endParaRPr/>
          </a:p>
        </p:txBody>
      </p:sp>
      <p:pic>
        <p:nvPicPr>
          <p:cNvPr id="427" name="Google Shape;427;p50"/>
          <p:cNvPicPr preferRelativeResize="0"/>
          <p:nvPr/>
        </p:nvPicPr>
        <p:blipFill rotWithShape="1">
          <a:blip r:embed="rId4">
            <a:alphaModFix/>
          </a:blip>
          <a:srcRect b="0" l="0" r="0" t="0"/>
          <a:stretch/>
        </p:blipFill>
        <p:spPr>
          <a:xfrm>
            <a:off x="4572000" y="0"/>
            <a:ext cx="4572000" cy="3225800"/>
          </a:xfrm>
          <a:prstGeom prst="rect">
            <a:avLst/>
          </a:prstGeom>
          <a:noFill/>
          <a:ln>
            <a:noFill/>
          </a:ln>
        </p:spPr>
      </p:pic>
      <p:pic>
        <p:nvPicPr>
          <p:cNvPr id="428" name="Google Shape;428;p50"/>
          <p:cNvPicPr preferRelativeResize="0"/>
          <p:nvPr/>
        </p:nvPicPr>
        <p:blipFill rotWithShape="1">
          <a:blip r:embed="rId5">
            <a:alphaModFix/>
          </a:blip>
          <a:srcRect b="0" l="0" r="0" t="0"/>
          <a:stretch/>
        </p:blipFill>
        <p:spPr>
          <a:xfrm>
            <a:off x="0" y="3357562"/>
            <a:ext cx="4427537" cy="3500437"/>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1"/>
          <p:cNvSpPr txBox="1"/>
          <p:nvPr>
            <p:ph idx="1" type="body"/>
          </p:nvPr>
        </p:nvSpPr>
        <p:spPr>
          <a:xfrm>
            <a:off x="228600" y="4038600"/>
            <a:ext cx="8610600" cy="2057400"/>
          </a:xfrm>
          <a:prstGeom prst="rect">
            <a:avLst/>
          </a:prstGeom>
          <a:noFill/>
          <a:ln>
            <a:noFill/>
          </a:ln>
        </p:spPr>
        <p:txBody>
          <a:bodyPr anchorCtr="0" anchor="t" bIns="45700" lIns="91425" spcFirstLastPara="1" rIns="91425" wrap="square" tIns="45700">
            <a:noAutofit/>
          </a:bodyPr>
          <a:lstStyle/>
          <a:p>
            <a:pPr indent="-317500" lvl="0" marL="342900" marR="0" rtl="0" algn="just">
              <a:lnSpc>
                <a:spcPct val="100000"/>
              </a:lnSpc>
              <a:spcBef>
                <a:spcPts val="0"/>
              </a:spcBef>
              <a:spcAft>
                <a:spcPts val="0"/>
              </a:spcAft>
              <a:buClr>
                <a:schemeClr val="dk1"/>
              </a:buClr>
              <a:buSzPts val="2800"/>
              <a:buFont typeface="Times New Roman"/>
              <a:buChar char="•"/>
            </a:pPr>
            <a:r>
              <a:rPr i="0" lang="en-US" sz="2800" u="none">
                <a:solidFill>
                  <a:schemeClr val="dk1"/>
                </a:solidFill>
                <a:latin typeface="Times New Roman"/>
                <a:ea typeface="Times New Roman"/>
                <a:cs typeface="Times New Roman"/>
                <a:sym typeface="Times New Roman"/>
              </a:rPr>
              <a:t>We will now focus on a type of graphical model that is in very common use, and that has computationally tractable algorithms for doing exact inference on it.</a:t>
            </a:r>
            <a:endParaRPr sz="2800">
              <a:latin typeface="Times New Roman"/>
              <a:ea typeface="Times New Roman"/>
              <a:cs typeface="Times New Roman"/>
              <a:sym typeface="Times New Roman"/>
            </a:endParaRPr>
          </a:p>
        </p:txBody>
      </p:sp>
      <p:pic>
        <p:nvPicPr>
          <p:cNvPr id="434" name="Google Shape;434;p51"/>
          <p:cNvPicPr preferRelativeResize="0"/>
          <p:nvPr/>
        </p:nvPicPr>
        <p:blipFill rotWithShape="1">
          <a:blip r:embed="rId3">
            <a:alphaModFix/>
          </a:blip>
          <a:srcRect b="0" l="0" r="0" t="0"/>
          <a:stretch/>
        </p:blipFill>
        <p:spPr>
          <a:xfrm>
            <a:off x="539750" y="333375"/>
            <a:ext cx="7632700" cy="338296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2"/>
          <p:cNvSpPr txBox="1"/>
          <p:nvPr>
            <p:ph type="title"/>
          </p:nvPr>
        </p:nvSpPr>
        <p:spPr>
          <a:xfrm>
            <a:off x="457200" y="274637"/>
            <a:ext cx="8229600" cy="9445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alibri"/>
              <a:buNone/>
            </a:pPr>
            <a:r>
              <a:rPr i="0" lang="en-US" sz="2300" u="none">
                <a:solidFill>
                  <a:schemeClr val="dk1"/>
                </a:solidFill>
                <a:latin typeface="Times New Roman"/>
                <a:ea typeface="Times New Roman"/>
                <a:cs typeface="Times New Roman"/>
                <a:sym typeface="Times New Roman"/>
              </a:rPr>
              <a:t>HIDDEN MARKOV MODELS (HMMS)</a:t>
            </a:r>
            <a:endParaRPr sz="2660">
              <a:latin typeface="Times New Roman"/>
              <a:ea typeface="Times New Roman"/>
              <a:cs typeface="Times New Roman"/>
              <a:sym typeface="Times New Roman"/>
            </a:endParaRPr>
          </a:p>
        </p:txBody>
      </p:sp>
      <p:sp>
        <p:nvSpPr>
          <p:cNvPr id="440" name="Google Shape;440;p52"/>
          <p:cNvSpPr txBox="1"/>
          <p:nvPr>
            <p:ph idx="1" type="body"/>
          </p:nvPr>
        </p:nvSpPr>
        <p:spPr>
          <a:xfrm>
            <a:off x="228600" y="1371600"/>
            <a:ext cx="8610600" cy="5257800"/>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9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Hidden Markov Model is one of the most popular graphical models. </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It is used in speech processing and in a lot of statistical work and  works on a set of temporal data. </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At each clock tick the system moves into a new state, which can be the same as the previous one. </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Its power comes from the fact that it deals with situations where you have a Markov model, but you do not know exactly which state of the Markov model you are in—instead, you see observations that do not uniquely identify the state.</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Arial"/>
              <a:buChar char="•"/>
            </a:pPr>
            <a:r>
              <a:rPr i="0" lang="en-US" sz="2400" u="none">
                <a:solidFill>
                  <a:schemeClr val="dk1"/>
                </a:solidFill>
                <a:latin typeface="Times New Roman"/>
                <a:ea typeface="Times New Roman"/>
                <a:cs typeface="Times New Roman"/>
                <a:sym typeface="Times New Roman"/>
              </a:rPr>
              <a:t>This is where the </a:t>
            </a:r>
            <a:r>
              <a:rPr b="1" i="1" lang="en-US" sz="2400" u="none">
                <a:solidFill>
                  <a:schemeClr val="dk1"/>
                </a:solidFill>
                <a:latin typeface="Times New Roman"/>
                <a:ea typeface="Times New Roman"/>
                <a:cs typeface="Times New Roman"/>
                <a:sym typeface="Times New Roman"/>
              </a:rPr>
              <a:t>hidden</a:t>
            </a:r>
            <a:r>
              <a:rPr i="1" lang="en-US" sz="2400" u="none">
                <a:solidFill>
                  <a:schemeClr val="dk1"/>
                </a:solidFill>
                <a:latin typeface="Times New Roman"/>
                <a:ea typeface="Times New Roman"/>
                <a:cs typeface="Times New Roman"/>
                <a:sym typeface="Times New Roman"/>
              </a:rPr>
              <a:t> in the title comes from. </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1" lang="en-US" sz="2400" u="none">
                <a:solidFill>
                  <a:schemeClr val="dk1"/>
                </a:solidFill>
                <a:latin typeface="Times New Roman"/>
                <a:ea typeface="Times New Roman"/>
                <a:cs typeface="Times New Roman"/>
                <a:sym typeface="Times New Roman"/>
              </a:rPr>
              <a:t>Performing inference on the HMM is not that computationally </a:t>
            </a:r>
            <a:r>
              <a:rPr i="0" lang="en-US" sz="2400" u="none">
                <a:solidFill>
                  <a:schemeClr val="dk1"/>
                </a:solidFill>
                <a:latin typeface="Times New Roman"/>
                <a:ea typeface="Times New Roman"/>
                <a:cs typeface="Times New Roman"/>
                <a:sym typeface="Times New Roman"/>
              </a:rPr>
              <a:t>expensive, which is a big improvement over the more general Bayesian network.</a:t>
            </a:r>
            <a:endParaRPr>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3"/>
          <p:cNvSpPr txBox="1"/>
          <p:nvPr>
            <p:ph idx="1" type="body"/>
          </p:nvPr>
        </p:nvSpPr>
        <p:spPr>
          <a:xfrm>
            <a:off x="228600" y="228600"/>
            <a:ext cx="8610600" cy="4572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 applications that most commonly applied are temporal: a set of measurements made at regular time intervals, which comprise the observations of the state.</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HMM is the simplest Dynamic Bayesian Network, a Bayesian Network deals with sequential (time-series) data.</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Figure 16.6 shows the HMM as a graphical model.</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Ex: As a caring teacher I want to know whether or not you are actually working towards the exam.</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There are four things that you do in the evenings (go to the pub, watch TV, go to a party, study) and I want to work out whether or not you are studying.</a:t>
            </a:r>
            <a:endParaRPr>
              <a:latin typeface="Times New Roman"/>
              <a:ea typeface="Times New Roman"/>
              <a:cs typeface="Times New Roman"/>
              <a:sym typeface="Times New Roman"/>
            </a:endParaRPr>
          </a:p>
          <a:p>
            <a:pPr indent="-342900" lvl="0" marL="342900" marR="0" rtl="0" algn="l">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However, I can’t just ask you, because you would probably lie to me.</a:t>
            </a:r>
            <a:endParaRPr>
              <a:latin typeface="Times New Roman"/>
              <a:ea typeface="Times New Roman"/>
              <a:cs typeface="Times New Roman"/>
              <a:sym typeface="Times New Roman"/>
            </a:endParaRPr>
          </a:p>
          <a:p>
            <a:pPr indent="-196850" lvl="0" marL="342900" marR="0" rtl="0" algn="l">
              <a:spcBef>
                <a:spcPts val="460"/>
              </a:spcBef>
              <a:spcAft>
                <a:spcPts val="0"/>
              </a:spcAft>
              <a:buClr>
                <a:schemeClr val="dk1"/>
              </a:buClr>
              <a:buSzPts val="2300"/>
              <a:buFont typeface="Arial"/>
              <a:buNone/>
            </a:pPr>
            <a:r>
              <a:t/>
            </a:r>
            <a:endParaRPr i="0" sz="2300" u="none">
              <a:solidFill>
                <a:schemeClr val="dk1"/>
              </a:solidFill>
              <a:latin typeface="Times New Roman"/>
              <a:ea typeface="Times New Roman"/>
              <a:cs typeface="Times New Roman"/>
              <a:sym typeface="Times New Roman"/>
            </a:endParaRPr>
          </a:p>
        </p:txBody>
      </p:sp>
      <p:sp>
        <p:nvSpPr>
          <p:cNvPr id="446" name="Google Shape;446;p53"/>
          <p:cNvSpPr txBox="1"/>
          <p:nvPr/>
        </p:nvSpPr>
        <p:spPr>
          <a:xfrm>
            <a:off x="4419600" y="5013325"/>
            <a:ext cx="4473600" cy="163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Calibri"/>
              <a:buNone/>
            </a:pPr>
            <a:r>
              <a:rPr i="0" lang="en-US" sz="2000" u="none">
                <a:solidFill>
                  <a:schemeClr val="dk1"/>
                </a:solidFill>
                <a:latin typeface="Times New Roman"/>
                <a:ea typeface="Times New Roman"/>
                <a:cs typeface="Times New Roman"/>
                <a:sym typeface="Times New Roman"/>
              </a:rPr>
              <a:t>FIGURE 16.6 The Hidden Markov Model is an example of a Dynamic Bayesian network. The figure shows the first three states and the related observations unrolled as time progresses.</a:t>
            </a:r>
            <a:endParaRPr>
              <a:latin typeface="Times New Roman"/>
              <a:ea typeface="Times New Roman"/>
              <a:cs typeface="Times New Roman"/>
              <a:sym typeface="Times New Roman"/>
            </a:endParaRPr>
          </a:p>
        </p:txBody>
      </p:sp>
      <p:pic>
        <p:nvPicPr>
          <p:cNvPr id="447" name="Google Shape;447;p53"/>
          <p:cNvPicPr preferRelativeResize="0"/>
          <p:nvPr/>
        </p:nvPicPr>
        <p:blipFill rotWithShape="1">
          <a:blip r:embed="rId3">
            <a:alphaModFix/>
          </a:blip>
          <a:srcRect b="0" l="0" r="0" t="0"/>
          <a:stretch/>
        </p:blipFill>
        <p:spPr>
          <a:xfrm>
            <a:off x="0" y="5227650"/>
            <a:ext cx="4211625" cy="16303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4"/>
          <p:cNvSpPr txBox="1"/>
          <p:nvPr>
            <p:ph idx="1" type="body"/>
          </p:nvPr>
        </p:nvSpPr>
        <p:spPr>
          <a:xfrm>
            <a:off x="304800" y="398000"/>
            <a:ext cx="8534400" cy="56949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Try to make observations about your behaviour and appearance.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 can probably work out if you look tired, hungover, scared, or fine.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Use these observations to try to work out what you did last night.</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problem is that I don’t know why you look the way you do, but I can guess by assigning probabilities to those things.</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So if you look hungover, then I might give probability 0.5 to the guess that you went to the pub last night, 0.25 to the guess that you went to a party, 0.2 to watching TV, and 0.05 to studying.</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Each day I see you in lectures I make an observation of your appearance, </a:t>
            </a:r>
            <a:r>
              <a:rPr i="1" lang="en-US" sz="2400" u="none">
                <a:solidFill>
                  <a:schemeClr val="dk1"/>
                </a:solidFill>
                <a:latin typeface="Times New Roman"/>
                <a:ea typeface="Times New Roman"/>
                <a:cs typeface="Times New Roman"/>
                <a:sym typeface="Times New Roman"/>
              </a:rPr>
              <a:t>o(t), and </a:t>
            </a:r>
            <a:r>
              <a:rPr i="0" lang="en-US" sz="2400" u="none">
                <a:solidFill>
                  <a:schemeClr val="dk1"/>
                </a:solidFill>
                <a:latin typeface="Times New Roman"/>
                <a:ea typeface="Times New Roman"/>
                <a:cs typeface="Times New Roman"/>
                <a:sym typeface="Times New Roman"/>
              </a:rPr>
              <a:t>I want to use that observation to guess the state </a:t>
            </a:r>
            <a:r>
              <a:rPr i="1" lang="en-US" sz="2400" u="none">
                <a:solidFill>
                  <a:schemeClr val="dk1"/>
                </a:solidFill>
                <a:latin typeface="Times New Roman"/>
                <a:ea typeface="Times New Roman"/>
                <a:cs typeface="Times New Roman"/>
                <a:sym typeface="Times New Roman"/>
              </a:rPr>
              <a:t>ω(t).</a:t>
            </a:r>
            <a:endParaRPr>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5"/>
          <p:cNvSpPr txBox="1"/>
          <p:nvPr>
            <p:ph idx="1" type="body"/>
          </p:nvPr>
        </p:nvSpPr>
        <p:spPr>
          <a:xfrm>
            <a:off x="228600" y="515937"/>
            <a:ext cx="8686800" cy="5360987"/>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Requires me to build up some kind of probabilities P(</a:t>
            </a:r>
            <a:r>
              <a:rPr i="0" lang="en-US" sz="2600" u="none">
                <a:solidFill>
                  <a:schemeClr val="dk1"/>
                </a:solidFill>
                <a:latin typeface="Times New Roman"/>
                <a:ea typeface="Times New Roman"/>
                <a:cs typeface="Times New Roman"/>
                <a:sym typeface="Times New Roman"/>
              </a:rPr>
              <a:t>o</a:t>
            </a:r>
            <a:r>
              <a:rPr baseline="-25000" i="0" lang="en-US" sz="2600" u="none">
                <a:solidFill>
                  <a:schemeClr val="dk1"/>
                </a:solidFill>
                <a:latin typeface="Times New Roman"/>
                <a:ea typeface="Times New Roman"/>
                <a:cs typeface="Times New Roman"/>
                <a:sym typeface="Times New Roman"/>
              </a:rPr>
              <a:t>k</a:t>
            </a:r>
            <a:r>
              <a:rPr i="0" lang="en-US" sz="2600" u="none">
                <a:solidFill>
                  <a:schemeClr val="dk1"/>
                </a:solidFill>
                <a:latin typeface="Times New Roman"/>
                <a:ea typeface="Times New Roman"/>
                <a:cs typeface="Times New Roman"/>
                <a:sym typeface="Times New Roman"/>
              </a:rPr>
              <a:t>(t)| ω</a:t>
            </a:r>
            <a:r>
              <a:rPr baseline="-25000" i="0" lang="en-US" sz="2600" u="none">
                <a:solidFill>
                  <a:schemeClr val="dk1"/>
                </a:solidFill>
                <a:latin typeface="Times New Roman"/>
                <a:ea typeface="Times New Roman"/>
                <a:cs typeface="Times New Roman"/>
                <a:sym typeface="Times New Roman"/>
              </a:rPr>
              <a:t>j</a:t>
            </a:r>
            <a:r>
              <a:rPr i="0" lang="en-US" sz="2600" u="none">
                <a:solidFill>
                  <a:schemeClr val="dk1"/>
                </a:solidFill>
                <a:latin typeface="Times New Roman"/>
                <a:ea typeface="Times New Roman"/>
                <a:cs typeface="Times New Roman"/>
                <a:sym typeface="Times New Roman"/>
              </a:rPr>
              <a:t>(t)</a:t>
            </a:r>
            <a:r>
              <a:rPr i="0" lang="en-US" sz="2400" u="none">
                <a:solidFill>
                  <a:schemeClr val="dk1"/>
                </a:solidFill>
                <a:latin typeface="Times New Roman"/>
                <a:ea typeface="Times New Roman"/>
                <a:cs typeface="Times New Roman"/>
                <a:sym typeface="Times New Roman"/>
              </a:rPr>
              <a:t>), which is the probability that  I see observation </a:t>
            </a:r>
            <a:r>
              <a:rPr i="0" lang="en-US" sz="2600" u="none">
                <a:solidFill>
                  <a:schemeClr val="dk1"/>
                </a:solidFill>
                <a:latin typeface="Times New Roman"/>
                <a:ea typeface="Times New Roman"/>
                <a:cs typeface="Times New Roman"/>
                <a:sym typeface="Times New Roman"/>
              </a:rPr>
              <a:t>o</a:t>
            </a:r>
            <a:r>
              <a:rPr baseline="-25000" i="0" lang="en-US" sz="2600" u="none">
                <a:solidFill>
                  <a:schemeClr val="dk1"/>
                </a:solidFill>
                <a:latin typeface="Times New Roman"/>
                <a:ea typeface="Times New Roman"/>
                <a:cs typeface="Times New Roman"/>
                <a:sym typeface="Times New Roman"/>
              </a:rPr>
              <a:t>k</a:t>
            </a:r>
            <a:r>
              <a:rPr i="0" lang="en-US" sz="2400" u="none">
                <a:solidFill>
                  <a:schemeClr val="dk1"/>
                </a:solidFill>
                <a:latin typeface="Times New Roman"/>
                <a:ea typeface="Times New Roman"/>
                <a:cs typeface="Times New Roman"/>
                <a:sym typeface="Times New Roman"/>
              </a:rPr>
              <a:t> (e.g., you are tired) given that you were in state </a:t>
            </a:r>
            <a:r>
              <a:rPr i="0" lang="en-US" sz="2600" u="none">
                <a:solidFill>
                  <a:schemeClr val="dk1"/>
                </a:solidFill>
                <a:latin typeface="Times New Roman"/>
                <a:ea typeface="Times New Roman"/>
                <a:cs typeface="Times New Roman"/>
                <a:sym typeface="Times New Roman"/>
              </a:rPr>
              <a:t>ω</a:t>
            </a:r>
            <a:r>
              <a:rPr baseline="-25000" i="0" lang="en-US" sz="2600" u="none">
                <a:solidFill>
                  <a:schemeClr val="dk1"/>
                </a:solidFill>
                <a:latin typeface="Times New Roman"/>
                <a:ea typeface="Times New Roman"/>
                <a:cs typeface="Times New Roman"/>
                <a:sym typeface="Times New Roman"/>
              </a:rPr>
              <a:t>j</a:t>
            </a:r>
            <a:r>
              <a:rPr i="0" lang="en-US" sz="2400" u="none">
                <a:solidFill>
                  <a:schemeClr val="dk1"/>
                </a:solidFill>
                <a:latin typeface="Times New Roman"/>
                <a:ea typeface="Times New Roman"/>
                <a:cs typeface="Times New Roman"/>
                <a:sym typeface="Times New Roman"/>
              </a:rPr>
              <a:t> (e.g., you went to a party) last night. </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These are usually labelled as </a:t>
            </a:r>
            <a:r>
              <a:rPr i="0" lang="en-US" sz="2600" u="none">
                <a:solidFill>
                  <a:schemeClr val="dk1"/>
                </a:solidFill>
                <a:latin typeface="Times New Roman"/>
                <a:ea typeface="Times New Roman"/>
                <a:cs typeface="Times New Roman"/>
                <a:sym typeface="Times New Roman"/>
              </a:rPr>
              <a:t>b</a:t>
            </a:r>
            <a:r>
              <a:rPr baseline="-25000" i="0" lang="en-US" sz="2600" u="none">
                <a:solidFill>
                  <a:schemeClr val="dk1"/>
                </a:solidFill>
                <a:latin typeface="Times New Roman"/>
                <a:ea typeface="Times New Roman"/>
                <a:cs typeface="Times New Roman"/>
                <a:sym typeface="Times New Roman"/>
              </a:rPr>
              <a:t>j</a:t>
            </a:r>
            <a:r>
              <a:rPr i="0" lang="en-US" sz="2400" u="none">
                <a:solidFill>
                  <a:schemeClr val="dk1"/>
                </a:solidFill>
                <a:latin typeface="Times New Roman"/>
                <a:ea typeface="Times New Roman"/>
                <a:cs typeface="Times New Roman"/>
                <a:sym typeface="Times New Roman"/>
              </a:rPr>
              <a:t>(</a:t>
            </a:r>
            <a:r>
              <a:rPr i="0" lang="en-US" sz="2600" u="none">
                <a:solidFill>
                  <a:schemeClr val="dk1"/>
                </a:solidFill>
                <a:latin typeface="Times New Roman"/>
                <a:ea typeface="Times New Roman"/>
                <a:cs typeface="Times New Roman"/>
                <a:sym typeface="Times New Roman"/>
              </a:rPr>
              <a:t>o</a:t>
            </a:r>
            <a:r>
              <a:rPr baseline="-25000" i="0" lang="en-US" sz="2600" u="none">
                <a:solidFill>
                  <a:schemeClr val="dk1"/>
                </a:solidFill>
                <a:latin typeface="Times New Roman"/>
                <a:ea typeface="Times New Roman"/>
                <a:cs typeface="Times New Roman"/>
                <a:sym typeface="Times New Roman"/>
              </a:rPr>
              <a:t>k</a:t>
            </a:r>
            <a:r>
              <a:rPr i="0" lang="en-US" sz="2400" u="none">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other information that I have, or think I have, is the Transition Probability, which tells me how likely you are to be in state ω</a:t>
            </a:r>
            <a:r>
              <a:rPr baseline="-25000" i="0" lang="en-US" sz="2400" u="none">
                <a:solidFill>
                  <a:schemeClr val="dk1"/>
                </a:solidFill>
                <a:latin typeface="Times New Roman"/>
                <a:ea typeface="Times New Roman"/>
                <a:cs typeface="Times New Roman"/>
                <a:sym typeface="Times New Roman"/>
              </a:rPr>
              <a:t>j</a:t>
            </a:r>
            <a:r>
              <a:rPr i="0" lang="en-US" sz="2000" u="none">
                <a:solidFill>
                  <a:schemeClr val="dk1"/>
                </a:solidFill>
                <a:latin typeface="Times New Roman"/>
                <a:ea typeface="Times New Roman"/>
                <a:cs typeface="Times New Roman"/>
                <a:sym typeface="Times New Roman"/>
              </a:rPr>
              <a:t> </a:t>
            </a:r>
            <a:r>
              <a:rPr i="1" lang="en-US" sz="2400" u="none">
                <a:solidFill>
                  <a:schemeClr val="dk1"/>
                </a:solidFill>
                <a:latin typeface="Times New Roman"/>
                <a:ea typeface="Times New Roman"/>
                <a:cs typeface="Times New Roman"/>
                <a:sym typeface="Times New Roman"/>
              </a:rPr>
              <a:t>tonight given that </a:t>
            </a:r>
            <a:r>
              <a:rPr i="0" lang="en-US" sz="2400" u="none">
                <a:solidFill>
                  <a:schemeClr val="dk1"/>
                </a:solidFill>
                <a:latin typeface="Times New Roman"/>
                <a:ea typeface="Times New Roman"/>
                <a:cs typeface="Times New Roman"/>
                <a:sym typeface="Times New Roman"/>
              </a:rPr>
              <a:t>you were in state </a:t>
            </a:r>
            <a:r>
              <a:rPr i="0" lang="en-US" sz="2600" u="none">
                <a:solidFill>
                  <a:schemeClr val="dk1"/>
                </a:solidFill>
                <a:latin typeface="Times New Roman"/>
                <a:ea typeface="Times New Roman"/>
                <a:cs typeface="Times New Roman"/>
                <a:sym typeface="Times New Roman"/>
              </a:rPr>
              <a:t>ω</a:t>
            </a:r>
            <a:r>
              <a:rPr baseline="-25000" i="1" lang="en-US" sz="26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 last night.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1" lang="en-US" sz="2400" u="none">
                <a:solidFill>
                  <a:schemeClr val="dk1"/>
                </a:solidFill>
                <a:latin typeface="Times New Roman"/>
                <a:ea typeface="Times New Roman"/>
                <a:cs typeface="Times New Roman"/>
                <a:sym typeface="Times New Roman"/>
              </a:rPr>
              <a:t>So if I think you were at the pub last night I will probably </a:t>
            </a:r>
            <a:r>
              <a:rPr i="0" lang="en-US" sz="2400" u="none">
                <a:solidFill>
                  <a:schemeClr val="dk1"/>
                </a:solidFill>
                <a:latin typeface="Times New Roman"/>
                <a:ea typeface="Times New Roman"/>
                <a:cs typeface="Times New Roman"/>
                <a:sym typeface="Times New Roman"/>
              </a:rPr>
              <a:t>guess that the probability of you being there again tonight is small because your student loan won’t be able to handle it.</a:t>
            </a:r>
            <a:endParaRPr>
              <a:latin typeface="Times New Roman"/>
              <a:ea typeface="Times New Roman"/>
              <a:cs typeface="Times New Roman"/>
              <a:sym typeface="Times New Roman"/>
            </a:endParaRPr>
          </a:p>
          <a:p>
            <a:pPr indent="-342900" lvl="0" marL="342900" marR="0" rtl="0" algn="l">
              <a:lnSpc>
                <a:spcPct val="100000"/>
              </a:lnSpc>
              <a:spcBef>
                <a:spcPts val="52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This is written as </a:t>
            </a:r>
            <a:r>
              <a:rPr i="1" lang="en-US" sz="2400" u="none">
                <a:solidFill>
                  <a:schemeClr val="dk1"/>
                </a:solidFill>
                <a:latin typeface="Times New Roman"/>
                <a:ea typeface="Times New Roman"/>
                <a:cs typeface="Times New Roman"/>
                <a:sym typeface="Times New Roman"/>
              </a:rPr>
              <a:t>P(</a:t>
            </a:r>
            <a:r>
              <a:rPr i="0" lang="en-US" sz="2400" u="none">
                <a:solidFill>
                  <a:schemeClr val="dk1"/>
                </a:solidFill>
                <a:latin typeface="Times New Roman"/>
                <a:ea typeface="Times New Roman"/>
                <a:cs typeface="Times New Roman"/>
                <a:sym typeface="Times New Roman"/>
              </a:rPr>
              <a:t>ω</a:t>
            </a:r>
            <a:r>
              <a:rPr baseline="-25000" i="0" lang="en-US" sz="2400" u="none">
                <a:solidFill>
                  <a:schemeClr val="dk1"/>
                </a:solidFill>
                <a:latin typeface="Times New Roman"/>
                <a:ea typeface="Times New Roman"/>
                <a:cs typeface="Times New Roman"/>
                <a:sym typeface="Times New Roman"/>
              </a:rPr>
              <a:t>j</a:t>
            </a:r>
            <a:r>
              <a:rPr i="1" lang="en-US" sz="2400" u="none">
                <a:solidFill>
                  <a:schemeClr val="dk1"/>
                </a:solidFill>
                <a:latin typeface="Times New Roman"/>
                <a:ea typeface="Times New Roman"/>
                <a:cs typeface="Times New Roman"/>
                <a:sym typeface="Times New Roman"/>
              </a:rPr>
              <a:t>(t+1)|</a:t>
            </a:r>
            <a:r>
              <a:rPr i="0" lang="en-US" sz="2400" u="none">
                <a:solidFill>
                  <a:schemeClr val="dk1"/>
                </a:solidFill>
                <a:latin typeface="Times New Roman"/>
                <a:ea typeface="Times New Roman"/>
                <a:cs typeface="Times New Roman"/>
                <a:sym typeface="Times New Roman"/>
              </a:rPr>
              <a:t> ω</a:t>
            </a:r>
            <a:r>
              <a:rPr baseline="-25000" i="1" lang="en-US" sz="24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(t)) and is usually labelled </a:t>
            </a:r>
            <a:r>
              <a:rPr i="0" lang="en-US" sz="2400" u="none">
                <a:solidFill>
                  <a:schemeClr val="dk1"/>
                </a:solidFill>
                <a:latin typeface="Times New Roman"/>
                <a:ea typeface="Times New Roman"/>
                <a:cs typeface="Times New Roman"/>
                <a:sym typeface="Times New Roman"/>
              </a:rPr>
              <a:t>as </a:t>
            </a:r>
            <a:r>
              <a:rPr i="1" lang="en-US" sz="2600" u="none">
                <a:solidFill>
                  <a:schemeClr val="dk1"/>
                </a:solidFill>
                <a:latin typeface="Times New Roman"/>
                <a:ea typeface="Times New Roman"/>
                <a:cs typeface="Times New Roman"/>
                <a:sym typeface="Times New Roman"/>
              </a:rPr>
              <a:t>a</a:t>
            </a:r>
            <a:r>
              <a:rPr baseline="-25000" i="1" lang="en-US" sz="2600" u="none">
                <a:solidFill>
                  <a:schemeClr val="dk1"/>
                </a:solidFill>
                <a:latin typeface="Times New Roman"/>
                <a:ea typeface="Times New Roman"/>
                <a:cs typeface="Times New Roman"/>
                <a:sym typeface="Times New Roman"/>
              </a:rPr>
              <a:t>i,j</a:t>
            </a:r>
            <a:r>
              <a:rPr i="1" lang="en-US" sz="2400" u="none">
                <a:solidFill>
                  <a:schemeClr val="dk1"/>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i="1"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6"/>
          <p:cNvSpPr txBox="1"/>
          <p:nvPr>
            <p:ph idx="1" type="body"/>
          </p:nvPr>
        </p:nvSpPr>
        <p:spPr>
          <a:xfrm>
            <a:off x="228600" y="228600"/>
            <a:ext cx="8686800" cy="6400800"/>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9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Know that you did something last night, so </a:t>
            </a:r>
            <a:r>
              <a:rPr i="0" lang="en-US" sz="2800" u="none">
                <a:solidFill>
                  <a:schemeClr val="dk1"/>
                </a:solidFill>
                <a:latin typeface="Times New Roman"/>
                <a:ea typeface="Times New Roman"/>
                <a:cs typeface="Times New Roman"/>
                <a:sym typeface="Times New Roman"/>
              </a:rPr>
              <a:t>Σ</a:t>
            </a:r>
            <a:r>
              <a:rPr baseline="-25000" i="0" lang="en-US" sz="2800" u="none">
                <a:solidFill>
                  <a:schemeClr val="dk1"/>
                </a:solidFill>
                <a:latin typeface="Times New Roman"/>
                <a:ea typeface="Times New Roman"/>
                <a:cs typeface="Times New Roman"/>
                <a:sym typeface="Times New Roman"/>
              </a:rPr>
              <a:t>j</a:t>
            </a:r>
            <a:r>
              <a:rPr i="0" lang="en-US" sz="2400" u="none">
                <a:solidFill>
                  <a:schemeClr val="dk1"/>
                </a:solidFill>
                <a:latin typeface="Times New Roman"/>
                <a:ea typeface="Times New Roman"/>
                <a:cs typeface="Times New Roman"/>
                <a:sym typeface="Times New Roman"/>
              </a:rPr>
              <a:t> </a:t>
            </a:r>
            <a:r>
              <a:rPr i="0" lang="en-US" sz="2800" u="none">
                <a:solidFill>
                  <a:schemeClr val="dk1"/>
                </a:solidFill>
                <a:latin typeface="Times New Roman"/>
                <a:ea typeface="Times New Roman"/>
                <a:cs typeface="Times New Roman"/>
                <a:sym typeface="Times New Roman"/>
              </a:rPr>
              <a:t>ɑ</a:t>
            </a:r>
            <a:r>
              <a:rPr baseline="-25000" i="0" lang="en-US" sz="2800" u="none">
                <a:solidFill>
                  <a:schemeClr val="dk1"/>
                </a:solidFill>
                <a:latin typeface="Times New Roman"/>
                <a:ea typeface="Times New Roman"/>
                <a:cs typeface="Times New Roman"/>
                <a:sym typeface="Times New Roman"/>
              </a:rPr>
              <a:t>ij</a:t>
            </a:r>
            <a:r>
              <a:rPr i="0" lang="en-US" sz="2400" u="none">
                <a:solidFill>
                  <a:schemeClr val="dk1"/>
                </a:solidFill>
                <a:latin typeface="Times New Roman"/>
                <a:ea typeface="Times New Roman"/>
                <a:cs typeface="Times New Roman"/>
                <a:sym typeface="Times New Roman"/>
              </a:rPr>
              <a:t> </a:t>
            </a:r>
            <a:r>
              <a:rPr i="1" lang="en-US" sz="2400" u="none">
                <a:solidFill>
                  <a:schemeClr val="dk1"/>
                </a:solidFill>
                <a:latin typeface="Times New Roman"/>
                <a:ea typeface="Times New Roman"/>
                <a:cs typeface="Times New Roman"/>
                <a:sym typeface="Times New Roman"/>
              </a:rPr>
              <a:t>= 1 and I know that I will make </a:t>
            </a:r>
            <a:r>
              <a:rPr i="0" lang="en-US" sz="2400" u="none">
                <a:solidFill>
                  <a:schemeClr val="dk1"/>
                </a:solidFill>
                <a:latin typeface="Times New Roman"/>
                <a:ea typeface="Times New Roman"/>
                <a:cs typeface="Times New Roman"/>
                <a:sym typeface="Times New Roman"/>
              </a:rPr>
              <a:t>some P observation (since if you aren’t in the lecture I’ll assume you were too tired), so </a:t>
            </a:r>
            <a:r>
              <a:rPr i="0" lang="en-US" sz="2900" u="none">
                <a:solidFill>
                  <a:schemeClr val="dk1"/>
                </a:solidFill>
                <a:latin typeface="Times New Roman"/>
                <a:ea typeface="Times New Roman"/>
                <a:cs typeface="Times New Roman"/>
                <a:sym typeface="Times New Roman"/>
              </a:rPr>
              <a:t>Σ</a:t>
            </a:r>
            <a:r>
              <a:rPr baseline="-25000" i="1" lang="en-US" sz="2600" u="none">
                <a:solidFill>
                  <a:schemeClr val="dk1"/>
                </a:solidFill>
                <a:latin typeface="Times New Roman"/>
                <a:ea typeface="Times New Roman"/>
                <a:cs typeface="Times New Roman"/>
                <a:sym typeface="Times New Roman"/>
              </a:rPr>
              <a:t>k</a:t>
            </a:r>
            <a:r>
              <a:rPr i="1" lang="en-US" sz="2400" u="none">
                <a:solidFill>
                  <a:schemeClr val="dk1"/>
                </a:solidFill>
                <a:latin typeface="Times New Roman"/>
                <a:ea typeface="Times New Roman"/>
                <a:cs typeface="Times New Roman"/>
                <a:sym typeface="Times New Roman"/>
              </a:rPr>
              <a:t> </a:t>
            </a:r>
            <a:r>
              <a:rPr i="1" lang="en-US" sz="2600" u="none">
                <a:solidFill>
                  <a:schemeClr val="dk1"/>
                </a:solidFill>
                <a:latin typeface="Times New Roman"/>
                <a:ea typeface="Times New Roman"/>
                <a:cs typeface="Times New Roman"/>
                <a:sym typeface="Times New Roman"/>
              </a:rPr>
              <a:t>b</a:t>
            </a:r>
            <a:r>
              <a:rPr baseline="-25000" i="1" lang="en-US" sz="2600" u="none">
                <a:solidFill>
                  <a:schemeClr val="dk1"/>
                </a:solidFill>
                <a:latin typeface="Times New Roman"/>
                <a:ea typeface="Times New Roman"/>
                <a:cs typeface="Times New Roman"/>
                <a:sym typeface="Times New Roman"/>
              </a:rPr>
              <a:t>j</a:t>
            </a:r>
            <a:r>
              <a:rPr i="1" lang="en-US" sz="2400" u="none">
                <a:solidFill>
                  <a:schemeClr val="dk1"/>
                </a:solidFill>
                <a:latin typeface="Times New Roman"/>
                <a:ea typeface="Times New Roman"/>
                <a:cs typeface="Times New Roman"/>
                <a:sym typeface="Times New Roman"/>
              </a:rPr>
              <a:t>(</a:t>
            </a:r>
            <a:r>
              <a:rPr i="1" lang="en-US" sz="2600" u="none">
                <a:solidFill>
                  <a:schemeClr val="dk1"/>
                </a:solidFill>
                <a:latin typeface="Times New Roman"/>
                <a:ea typeface="Times New Roman"/>
                <a:cs typeface="Times New Roman"/>
                <a:sym typeface="Times New Roman"/>
              </a:rPr>
              <a:t>o</a:t>
            </a:r>
            <a:r>
              <a:rPr baseline="-25000" i="1" lang="en-US" sz="2600" u="none">
                <a:solidFill>
                  <a:schemeClr val="dk1"/>
                </a:solidFill>
                <a:latin typeface="Times New Roman"/>
                <a:ea typeface="Times New Roman"/>
                <a:cs typeface="Times New Roman"/>
                <a:sym typeface="Times New Roman"/>
              </a:rPr>
              <a:t>k</a:t>
            </a:r>
            <a:r>
              <a:rPr i="1" lang="en-US" sz="2400" u="none">
                <a:solidFill>
                  <a:schemeClr val="dk1"/>
                </a:solidFill>
                <a:latin typeface="Times New Roman"/>
                <a:ea typeface="Times New Roman"/>
                <a:cs typeface="Times New Roman"/>
                <a:sym typeface="Times New Roman"/>
              </a:rPr>
              <a:t>) = 1. </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1" lang="en-US" sz="2400" u="none">
                <a:solidFill>
                  <a:schemeClr val="dk1"/>
                </a:solidFill>
                <a:latin typeface="Times New Roman"/>
                <a:ea typeface="Times New Roman"/>
                <a:cs typeface="Times New Roman"/>
                <a:sym typeface="Times New Roman"/>
              </a:rPr>
              <a:t>There is one other thing that is generally assumed, which is that the Markov </a:t>
            </a:r>
            <a:r>
              <a:rPr i="0" lang="en-US" sz="2400" u="none">
                <a:solidFill>
                  <a:schemeClr val="dk1"/>
                </a:solidFill>
                <a:latin typeface="Times New Roman"/>
                <a:ea typeface="Times New Roman"/>
                <a:cs typeface="Times New Roman"/>
                <a:sym typeface="Times New Roman"/>
              </a:rPr>
              <a:t>chain is ergodic, it means that there is a non-zero probability of reaching every state eventually, no matter what the starting state.</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After a couple of weeks of the course I have made observations about you, and I am ready to sort out my HMM. </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There are three things that I might want to do with the data:</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Arial"/>
              <a:buNone/>
            </a:pPr>
            <a:r>
              <a:rPr i="0" lang="en-US" sz="2400" u="none">
                <a:solidFill>
                  <a:schemeClr val="dk1"/>
                </a:solidFill>
                <a:latin typeface="Times New Roman"/>
                <a:ea typeface="Times New Roman"/>
                <a:cs typeface="Times New Roman"/>
                <a:sym typeface="Times New Roman"/>
              </a:rPr>
              <a:t>    • see how well the sequence of observations that I’ve made match my current HMM</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Arial"/>
              <a:buNone/>
            </a:pPr>
            <a:r>
              <a:rPr i="0" lang="en-US" sz="2400" u="none">
                <a:solidFill>
                  <a:schemeClr val="dk1"/>
                </a:solidFill>
                <a:latin typeface="Times New Roman"/>
                <a:ea typeface="Times New Roman"/>
                <a:cs typeface="Times New Roman"/>
                <a:sym typeface="Times New Roman"/>
              </a:rPr>
              <a:t>    • work out the most probable sequence of states that you’ve been in based on my observations</a:t>
            </a:r>
            <a:endParaRPr>
              <a:latin typeface="Times New Roman"/>
              <a:ea typeface="Times New Roman"/>
              <a:cs typeface="Times New Roman"/>
              <a:sym typeface="Times New Roman"/>
            </a:endParaRPr>
          </a:p>
          <a:p>
            <a:pPr indent="-342900" lvl="0" marL="342900" marR="0" rtl="0" algn="just">
              <a:lnSpc>
                <a:spcPct val="90000"/>
              </a:lnSpc>
              <a:spcBef>
                <a:spcPts val="480"/>
              </a:spcBef>
              <a:spcAft>
                <a:spcPts val="0"/>
              </a:spcAft>
              <a:buClr>
                <a:schemeClr val="dk1"/>
              </a:buClr>
              <a:buSzPts val="2400"/>
              <a:buFont typeface="Arial"/>
              <a:buNone/>
            </a:pPr>
            <a:r>
              <a:rPr i="0" lang="en-US" sz="2400" u="none">
                <a:solidFill>
                  <a:schemeClr val="dk1"/>
                </a:solidFill>
                <a:latin typeface="Times New Roman"/>
                <a:ea typeface="Times New Roman"/>
                <a:cs typeface="Times New Roman"/>
                <a:sym typeface="Times New Roman"/>
              </a:rPr>
              <a:t>    • given several sets of observations (for example, by watching several students) generate a good HMM for the data</a:t>
            </a:r>
            <a:endParaRPr>
              <a:latin typeface="Times New Roman"/>
              <a:ea typeface="Times New Roman"/>
              <a:cs typeface="Times New Roman"/>
              <a:sym typeface="Times New Roman"/>
            </a:endParaRPr>
          </a:p>
        </p:txBody>
      </p:sp>
      <p:sp>
        <p:nvSpPr>
          <p:cNvPr id="463" name="Google Shape;463;p56"/>
          <p:cNvSpPr txBox="1"/>
          <p:nvPr/>
        </p:nvSpPr>
        <p:spPr>
          <a:xfrm>
            <a:off x="10980737" y="1341437"/>
            <a:ext cx="657225" cy="5143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4" name="Google Shape;464;p56"/>
          <p:cNvSpPr txBox="1"/>
          <p:nvPr/>
        </p:nvSpPr>
        <p:spPr>
          <a:xfrm>
            <a:off x="0" y="97155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7"/>
          <p:cNvSpPr txBox="1"/>
          <p:nvPr>
            <p:ph idx="1" type="body"/>
          </p:nvPr>
        </p:nvSpPr>
        <p:spPr>
          <a:xfrm>
            <a:off x="228600" y="228600"/>
            <a:ext cx="8610600" cy="1981200"/>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9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HMM itself is made up of the transition probabilities </a:t>
            </a:r>
            <a:r>
              <a:rPr b="0" i="1" lang="en-US" sz="2800" u="none">
                <a:solidFill>
                  <a:schemeClr val="dk1"/>
                </a:solidFill>
                <a:latin typeface="Calibri"/>
                <a:ea typeface="Calibri"/>
                <a:cs typeface="Calibri"/>
                <a:sym typeface="Calibri"/>
              </a:rPr>
              <a:t>a</a:t>
            </a:r>
            <a:r>
              <a:rPr b="0" baseline="-25000" i="1" lang="en-US" sz="2800" u="none">
                <a:solidFill>
                  <a:schemeClr val="dk1"/>
                </a:solidFill>
                <a:latin typeface="Calibri"/>
                <a:ea typeface="Calibri"/>
                <a:cs typeface="Calibri"/>
                <a:sym typeface="Calibri"/>
              </a:rPr>
              <a:t>i,j</a:t>
            </a:r>
            <a:r>
              <a:rPr b="0" i="1" lang="en-US" sz="2400" u="none">
                <a:solidFill>
                  <a:schemeClr val="dk1"/>
                </a:solidFill>
                <a:latin typeface="Calibri"/>
                <a:ea typeface="Calibri"/>
                <a:cs typeface="Calibri"/>
                <a:sym typeface="Calibri"/>
              </a:rPr>
              <a:t> and the observation </a:t>
            </a:r>
            <a:r>
              <a:rPr b="0" i="0" lang="en-US" sz="2400" u="none">
                <a:solidFill>
                  <a:schemeClr val="dk1"/>
                </a:solidFill>
                <a:latin typeface="Calibri"/>
                <a:ea typeface="Calibri"/>
                <a:cs typeface="Calibri"/>
                <a:sym typeface="Calibri"/>
              </a:rPr>
              <a:t>probabilities </a:t>
            </a:r>
            <a:r>
              <a:rPr b="0" i="1" lang="en-US" sz="2600" u="none">
                <a:solidFill>
                  <a:schemeClr val="dk1"/>
                </a:solidFill>
                <a:latin typeface="Calibri"/>
                <a:ea typeface="Calibri"/>
                <a:cs typeface="Calibri"/>
                <a:sym typeface="Calibri"/>
              </a:rPr>
              <a:t>b</a:t>
            </a:r>
            <a:r>
              <a:rPr b="0" baseline="-25000" i="1" lang="en-US" sz="2600" u="none">
                <a:solidFill>
                  <a:schemeClr val="dk1"/>
                </a:solidFill>
                <a:latin typeface="Calibri"/>
                <a:ea typeface="Calibri"/>
                <a:cs typeface="Calibri"/>
                <a:sym typeface="Calibri"/>
              </a:rPr>
              <a:t>j</a:t>
            </a:r>
            <a:r>
              <a:rPr b="0" i="1" lang="en-US" sz="2400" u="none">
                <a:solidFill>
                  <a:schemeClr val="dk1"/>
                </a:solidFill>
                <a:latin typeface="Calibri"/>
                <a:ea typeface="Calibri"/>
                <a:cs typeface="Calibri"/>
                <a:sym typeface="Calibri"/>
              </a:rPr>
              <a:t>(</a:t>
            </a:r>
            <a:r>
              <a:rPr b="0" i="1" lang="en-US" sz="2600" u="none">
                <a:solidFill>
                  <a:schemeClr val="dk1"/>
                </a:solidFill>
                <a:latin typeface="Calibri"/>
                <a:ea typeface="Calibri"/>
                <a:cs typeface="Calibri"/>
                <a:sym typeface="Calibri"/>
              </a:rPr>
              <a:t>o</a:t>
            </a:r>
            <a:r>
              <a:rPr b="0" baseline="-25000" i="1" lang="en-US" sz="2600" u="none">
                <a:solidFill>
                  <a:schemeClr val="dk1"/>
                </a:solidFill>
                <a:latin typeface="Calibri"/>
                <a:ea typeface="Calibri"/>
                <a:cs typeface="Calibri"/>
                <a:sym typeface="Calibri"/>
              </a:rPr>
              <a:t>k</a:t>
            </a:r>
            <a:r>
              <a:rPr b="0" i="1" lang="en-US" sz="2400" u="none">
                <a:solidFill>
                  <a:schemeClr val="dk1"/>
                </a:solidFill>
                <a:latin typeface="Calibri"/>
                <a:ea typeface="Calibri"/>
                <a:cs typeface="Calibri"/>
                <a:sym typeface="Calibri"/>
              </a:rPr>
              <a:t>), and the probability of starting in each of the states, ∏</a:t>
            </a:r>
            <a:r>
              <a:rPr b="0" baseline="-25000" i="1" lang="en-US" sz="2600" u="none">
                <a:solidFill>
                  <a:schemeClr val="dk1"/>
                </a:solidFill>
                <a:latin typeface="Calibri"/>
                <a:ea typeface="Calibri"/>
                <a:cs typeface="Calibri"/>
                <a:sym typeface="Calibri"/>
              </a:rPr>
              <a:t>I </a:t>
            </a:r>
            <a:r>
              <a:rPr b="0" i="1" lang="en-US" sz="2400" u="none">
                <a:solidFill>
                  <a:schemeClr val="dk1"/>
                </a:solidFill>
                <a:latin typeface="Calibri"/>
                <a:ea typeface="Calibri"/>
                <a:cs typeface="Calibri"/>
                <a:sym typeface="Calibri"/>
              </a:rPr>
              <a:t>. </a:t>
            </a:r>
            <a:endParaRPr/>
          </a:p>
          <a:p>
            <a:pPr indent="-342900" lvl="0" marL="342900" marR="0" rtl="0" algn="just">
              <a:lnSpc>
                <a:spcPct val="90000"/>
              </a:lnSpc>
              <a:spcBef>
                <a:spcPts val="480"/>
              </a:spcBef>
              <a:spcAft>
                <a:spcPts val="0"/>
              </a:spcAft>
              <a:buClr>
                <a:schemeClr val="dk1"/>
              </a:buClr>
              <a:buSzPts val="2400"/>
              <a:buFont typeface="Arial"/>
              <a:buChar char="•"/>
            </a:pPr>
            <a:r>
              <a:rPr b="0" i="1" lang="en-US" sz="2400" u="none">
                <a:solidFill>
                  <a:schemeClr val="dk1"/>
                </a:solidFill>
                <a:latin typeface="Calibri"/>
                <a:ea typeface="Calibri"/>
                <a:cs typeface="Calibri"/>
                <a:sym typeface="Calibri"/>
              </a:rPr>
              <a:t>So these are </a:t>
            </a:r>
            <a:r>
              <a:rPr b="0" i="0" lang="en-US" sz="2400" u="none">
                <a:solidFill>
                  <a:schemeClr val="dk1"/>
                </a:solidFill>
                <a:latin typeface="Calibri"/>
                <a:ea typeface="Calibri"/>
                <a:cs typeface="Calibri"/>
                <a:sym typeface="Calibri"/>
              </a:rPr>
              <a:t>the things need to be specified, starting with the transition probabilities shown in Figure 16.7</a:t>
            </a:r>
            <a:endParaRPr/>
          </a:p>
        </p:txBody>
      </p:sp>
      <p:sp>
        <p:nvSpPr>
          <p:cNvPr id="470" name="Google Shape;470;p57"/>
          <p:cNvSpPr txBox="1"/>
          <p:nvPr/>
        </p:nvSpPr>
        <p:spPr>
          <a:xfrm>
            <a:off x="533400" y="6259512"/>
            <a:ext cx="82296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FIGURE 16.7 The example HMM with transition and observation probabilities shown.</a:t>
            </a:r>
            <a:endParaRPr/>
          </a:p>
        </p:txBody>
      </p:sp>
      <p:pic>
        <p:nvPicPr>
          <p:cNvPr id="471" name="Google Shape;471;p57"/>
          <p:cNvPicPr preferRelativeResize="0"/>
          <p:nvPr/>
        </p:nvPicPr>
        <p:blipFill rotWithShape="1">
          <a:blip r:embed="rId3">
            <a:alphaModFix/>
          </a:blip>
          <a:srcRect b="0" l="0" r="0" t="0"/>
          <a:stretch/>
        </p:blipFill>
        <p:spPr>
          <a:xfrm>
            <a:off x="0" y="2133600"/>
            <a:ext cx="9144000" cy="402431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8"/>
          <p:cNvSpPr txBox="1"/>
          <p:nvPr>
            <p:ph idx="1" type="body"/>
          </p:nvPr>
        </p:nvSpPr>
        <p:spPr>
          <a:xfrm>
            <a:off x="228600" y="2286000"/>
            <a:ext cx="87630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None/>
            </a:pPr>
            <a:r>
              <a:rPr i="0" lang="en-US" sz="2400" u="none">
                <a:solidFill>
                  <a:schemeClr val="dk1"/>
                </a:solidFill>
                <a:latin typeface="Times New Roman"/>
                <a:ea typeface="Times New Roman"/>
                <a:cs typeface="Times New Roman"/>
                <a:sym typeface="Times New Roman"/>
              </a:rPr>
              <a:t>THE FORWARD ALGORITHM</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Following are the observations: </a:t>
            </a:r>
            <a:r>
              <a:rPr i="1" lang="en-US" sz="2300" u="none">
                <a:solidFill>
                  <a:schemeClr val="dk1"/>
                </a:solidFill>
                <a:latin typeface="Times New Roman"/>
                <a:ea typeface="Times New Roman"/>
                <a:cs typeface="Times New Roman"/>
                <a:sym typeface="Times New Roman"/>
              </a:rPr>
              <a:t>O = (tired, tired, fine, hungover, hungover, </a:t>
            </a:r>
            <a:r>
              <a:rPr i="0" lang="en-US" sz="2300" u="none">
                <a:solidFill>
                  <a:schemeClr val="dk1"/>
                </a:solidFill>
                <a:latin typeface="Times New Roman"/>
                <a:ea typeface="Times New Roman"/>
                <a:cs typeface="Times New Roman"/>
                <a:sym typeface="Times New Roman"/>
              </a:rPr>
              <a:t>scared, hungover, fine) and  want to work out the likely run of states that generated it.</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The probability of observations </a:t>
            </a:r>
            <a:r>
              <a:rPr i="1" lang="en-US" sz="2300" u="none">
                <a:solidFill>
                  <a:schemeClr val="dk1"/>
                </a:solidFill>
                <a:latin typeface="Times New Roman"/>
                <a:ea typeface="Times New Roman"/>
                <a:cs typeface="Times New Roman"/>
                <a:sym typeface="Times New Roman"/>
              </a:rPr>
              <a:t>O = {o(1), . . . , o(T)} come from the model can be </a:t>
            </a:r>
            <a:r>
              <a:rPr i="0" lang="en-US" sz="2300" u="none">
                <a:solidFill>
                  <a:schemeClr val="dk1"/>
                </a:solidFill>
                <a:latin typeface="Times New Roman"/>
                <a:ea typeface="Times New Roman"/>
                <a:cs typeface="Times New Roman"/>
                <a:sym typeface="Times New Roman"/>
              </a:rPr>
              <a:t>computed using simple conditional probability. </a:t>
            </a:r>
            <a:endParaRPr>
              <a:latin typeface="Times New Roman"/>
              <a:ea typeface="Times New Roman"/>
              <a:cs typeface="Times New Roman"/>
              <a:sym typeface="Times New Roman"/>
            </a:endParaRPr>
          </a:p>
          <a:p>
            <a:pPr indent="-342900" lvl="0" marL="342900" marR="0" rtl="0" algn="just">
              <a:lnSpc>
                <a:spcPct val="100000"/>
              </a:lnSpc>
              <a:spcBef>
                <a:spcPts val="460"/>
              </a:spcBef>
              <a:spcAft>
                <a:spcPts val="0"/>
              </a:spcAft>
              <a:buClr>
                <a:schemeClr val="dk1"/>
              </a:buClr>
              <a:buSzPts val="2300"/>
              <a:buFont typeface="Times New Roman"/>
              <a:buChar char="•"/>
            </a:pPr>
            <a:r>
              <a:rPr i="0" lang="en-US" sz="2300" u="none">
                <a:solidFill>
                  <a:schemeClr val="dk1"/>
                </a:solidFill>
                <a:latin typeface="Times New Roman"/>
                <a:ea typeface="Times New Roman"/>
                <a:cs typeface="Times New Roman"/>
                <a:sym typeface="Times New Roman"/>
              </a:rPr>
              <a:t>Knowing that you were doing something last night, so for an observation </a:t>
            </a:r>
            <a:r>
              <a:rPr i="1" lang="en-US" sz="2300" u="none">
                <a:solidFill>
                  <a:schemeClr val="dk1"/>
                </a:solidFill>
                <a:latin typeface="Times New Roman"/>
                <a:ea typeface="Times New Roman"/>
                <a:cs typeface="Times New Roman"/>
                <a:sym typeface="Times New Roman"/>
              </a:rPr>
              <a:t>o(t) =tired (say) just need to compute the probability that made </a:t>
            </a:r>
            <a:r>
              <a:rPr i="0" lang="en-US" sz="2300" u="none">
                <a:solidFill>
                  <a:schemeClr val="dk1"/>
                </a:solidFill>
                <a:latin typeface="Times New Roman"/>
                <a:ea typeface="Times New Roman"/>
                <a:cs typeface="Times New Roman"/>
                <a:sym typeface="Times New Roman"/>
              </a:rPr>
              <a:t>that observation given you were in a particular state (say watching TV) and multiply it by the probability that you were in that state given the state thought you were in the night before (say partying).</a:t>
            </a:r>
            <a:endParaRPr>
              <a:latin typeface="Times New Roman"/>
              <a:ea typeface="Times New Roman"/>
              <a:cs typeface="Times New Roman"/>
              <a:sym typeface="Times New Roman"/>
            </a:endParaRPr>
          </a:p>
        </p:txBody>
      </p:sp>
      <p:pic>
        <p:nvPicPr>
          <p:cNvPr id="477" name="Google Shape;477;p58"/>
          <p:cNvPicPr preferRelativeResize="0"/>
          <p:nvPr/>
        </p:nvPicPr>
        <p:blipFill rotWithShape="1">
          <a:blip r:embed="rId3">
            <a:alphaModFix/>
          </a:blip>
          <a:srcRect b="0" l="0" r="0" t="0"/>
          <a:stretch/>
        </p:blipFill>
        <p:spPr>
          <a:xfrm>
            <a:off x="76200" y="152400"/>
            <a:ext cx="3886200" cy="1743075"/>
          </a:xfrm>
          <a:prstGeom prst="rect">
            <a:avLst/>
          </a:prstGeom>
          <a:noFill/>
          <a:ln>
            <a:noFill/>
          </a:ln>
        </p:spPr>
      </p:pic>
      <p:sp>
        <p:nvSpPr>
          <p:cNvPr id="478" name="Google Shape;478;p58"/>
          <p:cNvSpPr txBox="1"/>
          <p:nvPr/>
        </p:nvSpPr>
        <p:spPr>
          <a:xfrm>
            <a:off x="2633662" y="1905000"/>
            <a:ext cx="384333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and then the observation probabilities:</a:t>
            </a:r>
            <a:endParaRPr/>
          </a:p>
        </p:txBody>
      </p:sp>
      <p:pic>
        <p:nvPicPr>
          <p:cNvPr id="479" name="Google Shape;479;p58"/>
          <p:cNvPicPr preferRelativeResize="0"/>
          <p:nvPr/>
        </p:nvPicPr>
        <p:blipFill rotWithShape="1">
          <a:blip r:embed="rId4">
            <a:alphaModFix/>
          </a:blip>
          <a:srcRect b="0" l="0" r="0" t="0"/>
          <a:stretch/>
        </p:blipFill>
        <p:spPr>
          <a:xfrm>
            <a:off x="5029200" y="0"/>
            <a:ext cx="3810000" cy="19050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9"/>
          <p:cNvSpPr txBox="1"/>
          <p:nvPr>
            <p:ph idx="1" type="body"/>
          </p:nvPr>
        </p:nvSpPr>
        <p:spPr>
          <a:xfrm>
            <a:off x="152400" y="304800"/>
            <a:ext cx="8763000" cy="535622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So for the example, compute the probability that you were tired given that you were watching TV, which is 0.2, and then multiply it by the probability that  you spent last night watching TV given that I thought you were partying the night before, which is 0.1.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So this yields probability 0.02 for this particular state change.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There is one extra thing that we need which is to decide which state you actually start in and as don’t know this, assign probability 0.25 to each state.</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If there are </a:t>
            </a:r>
            <a:r>
              <a:rPr i="1" lang="en-US" sz="2400" u="none">
                <a:solidFill>
                  <a:schemeClr val="dk1"/>
                </a:solidFill>
                <a:latin typeface="Times New Roman"/>
                <a:ea typeface="Times New Roman"/>
                <a:cs typeface="Times New Roman"/>
                <a:sym typeface="Times New Roman"/>
              </a:rPr>
              <a:t>N hidden states then there are N</a:t>
            </a:r>
            <a:r>
              <a:rPr baseline="30000" i="1" lang="en-US" sz="2400" u="none">
                <a:solidFill>
                  <a:schemeClr val="dk1"/>
                </a:solidFill>
                <a:latin typeface="Times New Roman"/>
                <a:ea typeface="Times New Roman"/>
                <a:cs typeface="Times New Roman"/>
                <a:sym typeface="Times New Roman"/>
              </a:rPr>
              <a:t>T</a:t>
            </a:r>
            <a:r>
              <a:rPr i="1" lang="en-US" sz="2400" u="none">
                <a:solidFill>
                  <a:schemeClr val="dk1"/>
                </a:solidFill>
                <a:latin typeface="Times New Roman"/>
                <a:ea typeface="Times New Roman"/>
                <a:cs typeface="Times New Roman"/>
                <a:sym typeface="Times New Roman"/>
              </a:rPr>
              <a:t> possible </a:t>
            </a:r>
            <a:r>
              <a:rPr i="0" lang="en-US" sz="2400" u="none">
                <a:solidFill>
                  <a:schemeClr val="dk1"/>
                </a:solidFill>
                <a:latin typeface="Times New Roman"/>
                <a:ea typeface="Times New Roman"/>
                <a:cs typeface="Times New Roman"/>
                <a:sym typeface="Times New Roman"/>
              </a:rPr>
              <a:t>sequences, and for each one we have to compute a product of </a:t>
            </a:r>
            <a:r>
              <a:rPr i="1" lang="en-US" sz="2400" u="none">
                <a:solidFill>
                  <a:schemeClr val="dk1"/>
                </a:solidFill>
                <a:latin typeface="Times New Roman"/>
                <a:ea typeface="Times New Roman"/>
                <a:cs typeface="Times New Roman"/>
                <a:sym typeface="Times New Roman"/>
              </a:rPr>
              <a:t>T Probabilities. </a:t>
            </a:r>
            <a:endParaRPr>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i="1" lang="en-US" sz="2400" u="none">
                <a:solidFill>
                  <a:schemeClr val="dk1"/>
                </a:solidFill>
                <a:latin typeface="Times New Roman"/>
                <a:ea typeface="Times New Roman"/>
                <a:cs typeface="Times New Roman"/>
                <a:sym typeface="Times New Roman"/>
              </a:rPr>
              <a:t>Not only will </a:t>
            </a:r>
            <a:r>
              <a:rPr i="0" lang="en-US" sz="2400" u="none">
                <a:solidFill>
                  <a:schemeClr val="dk1"/>
                </a:solidFill>
                <a:latin typeface="Times New Roman"/>
                <a:ea typeface="Times New Roman"/>
                <a:cs typeface="Times New Roman"/>
                <a:sym typeface="Times New Roman"/>
              </a:rPr>
              <a:t>these probabilities be incredibly small, but the computational cost of getting them will be astronomical: O(</a:t>
            </a:r>
            <a:r>
              <a:rPr i="1" lang="en-US" sz="2400" u="none">
                <a:solidFill>
                  <a:schemeClr val="dk1"/>
                </a:solidFill>
                <a:latin typeface="Times New Roman"/>
                <a:ea typeface="Times New Roman"/>
                <a:cs typeface="Times New Roman"/>
                <a:sym typeface="Times New Roman"/>
              </a:rPr>
              <a:t>N</a:t>
            </a:r>
            <a:r>
              <a:rPr baseline="30000" i="1" lang="en-US" sz="2400" u="none">
                <a:solidFill>
                  <a:schemeClr val="dk1"/>
                </a:solidFill>
                <a:latin typeface="Times New Roman"/>
                <a:ea typeface="Times New Roman"/>
                <a:cs typeface="Times New Roman"/>
                <a:sym typeface="Times New Roman"/>
              </a:rPr>
              <a:t>T</a:t>
            </a:r>
            <a:r>
              <a:rPr i="1" lang="en-US" sz="2400" u="none">
                <a:solidFill>
                  <a:schemeClr val="dk1"/>
                </a:solidFill>
                <a:latin typeface="Times New Roman"/>
                <a:ea typeface="Times New Roman"/>
                <a:cs typeface="Times New Roman"/>
                <a:sym typeface="Times New Roman"/>
              </a:rPr>
              <a:t> T).</a:t>
            </a:r>
            <a:endParaRPr>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0"/>
          <p:cNvSpPr txBox="1"/>
          <p:nvPr>
            <p:ph idx="1" type="body"/>
          </p:nvPr>
        </p:nvSpPr>
        <p:spPr>
          <a:xfrm>
            <a:off x="228600" y="3886200"/>
            <a:ext cx="8763000" cy="1752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i="0" lang="en-US" sz="2400" u="none">
                <a:solidFill>
                  <a:schemeClr val="dk1"/>
                </a:solidFill>
                <a:latin typeface="Times New Roman"/>
                <a:ea typeface="Times New Roman"/>
                <a:cs typeface="Times New Roman"/>
                <a:sym typeface="Times New Roman"/>
              </a:rPr>
              <a:t>To construct the trellis we introduce a new variable </a:t>
            </a:r>
            <a:r>
              <a:rPr i="0" lang="en-US" sz="2600" u="none">
                <a:solidFill>
                  <a:schemeClr val="dk1"/>
                </a:solidFill>
                <a:latin typeface="Times New Roman"/>
                <a:ea typeface="Times New Roman"/>
                <a:cs typeface="Times New Roman"/>
                <a:sym typeface="Times New Roman"/>
              </a:rPr>
              <a:t>α</a:t>
            </a:r>
            <a:r>
              <a:rPr baseline="-25000" i="1" lang="en-US" sz="26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(t) that describes the probability that at time t</a:t>
            </a:r>
            <a:endParaRPr>
              <a:latin typeface="Times New Roman"/>
              <a:ea typeface="Times New Roman"/>
              <a:cs typeface="Times New Roman"/>
              <a:sym typeface="Times New Roman"/>
            </a:endParaRPr>
          </a:p>
          <a:p>
            <a:pPr indent="-342900" lvl="0" marL="342900" marR="0" rtl="0" algn="just">
              <a:lnSpc>
                <a:spcPct val="100000"/>
              </a:lnSpc>
              <a:spcBef>
                <a:spcPts val="520"/>
              </a:spcBef>
              <a:spcAft>
                <a:spcPts val="0"/>
              </a:spcAft>
              <a:buClr>
                <a:schemeClr val="dk1"/>
              </a:buClr>
              <a:buSzPts val="2400"/>
              <a:buFont typeface="Times New Roman"/>
              <a:buChar char="•"/>
            </a:pPr>
            <a:r>
              <a:rPr i="0" lang="en-US" sz="2400" u="none">
                <a:solidFill>
                  <a:schemeClr val="dk1"/>
                </a:solidFill>
                <a:latin typeface="Times New Roman"/>
                <a:ea typeface="Times New Roman"/>
                <a:cs typeface="Times New Roman"/>
                <a:sym typeface="Times New Roman"/>
              </a:rPr>
              <a:t>the state is </a:t>
            </a:r>
            <a:r>
              <a:rPr i="0" lang="en-US" sz="2600" u="none">
                <a:solidFill>
                  <a:schemeClr val="dk1"/>
                </a:solidFill>
                <a:latin typeface="Times New Roman"/>
                <a:ea typeface="Times New Roman"/>
                <a:cs typeface="Times New Roman"/>
                <a:sym typeface="Times New Roman"/>
              </a:rPr>
              <a:t>ω</a:t>
            </a:r>
            <a:r>
              <a:rPr baseline="-25000" i="1" lang="en-US" sz="2600" u="none">
                <a:solidFill>
                  <a:schemeClr val="dk1"/>
                </a:solidFill>
                <a:latin typeface="Times New Roman"/>
                <a:ea typeface="Times New Roman"/>
                <a:cs typeface="Times New Roman"/>
                <a:sym typeface="Times New Roman"/>
              </a:rPr>
              <a:t>i</a:t>
            </a:r>
            <a:r>
              <a:rPr i="1" lang="en-US" sz="2400" u="none">
                <a:solidFill>
                  <a:schemeClr val="dk1"/>
                </a:solidFill>
                <a:latin typeface="Times New Roman"/>
                <a:ea typeface="Times New Roman"/>
                <a:cs typeface="Times New Roman"/>
                <a:sym typeface="Times New Roman"/>
              </a:rPr>
              <a:t> and that the first (t − 1) steps all matched the observations o(t):</a:t>
            </a:r>
            <a:endParaRPr>
              <a:latin typeface="Times New Roman"/>
              <a:ea typeface="Times New Roman"/>
              <a:cs typeface="Times New Roman"/>
              <a:sym typeface="Times New Roman"/>
            </a:endParaRPr>
          </a:p>
        </p:txBody>
      </p:sp>
      <p:pic>
        <p:nvPicPr>
          <p:cNvPr id="490" name="Google Shape;490;p60"/>
          <p:cNvPicPr preferRelativeResize="0"/>
          <p:nvPr/>
        </p:nvPicPr>
        <p:blipFill rotWithShape="1">
          <a:blip r:embed="rId3">
            <a:alphaModFix/>
          </a:blip>
          <a:srcRect b="0" l="0" r="0" t="0"/>
          <a:stretch/>
        </p:blipFill>
        <p:spPr>
          <a:xfrm>
            <a:off x="1676400" y="5486400"/>
            <a:ext cx="6858000" cy="1219200"/>
          </a:xfrm>
          <a:prstGeom prst="rect">
            <a:avLst/>
          </a:prstGeom>
          <a:noFill/>
          <a:ln>
            <a:noFill/>
          </a:ln>
        </p:spPr>
      </p:pic>
      <p:pic>
        <p:nvPicPr>
          <p:cNvPr id="491" name="Google Shape;491;p60"/>
          <p:cNvPicPr preferRelativeResize="0"/>
          <p:nvPr/>
        </p:nvPicPr>
        <p:blipFill rotWithShape="1">
          <a:blip r:embed="rId4">
            <a:alphaModFix/>
          </a:blip>
          <a:srcRect b="0" l="0" r="0" t="0"/>
          <a:stretch/>
        </p:blipFill>
        <p:spPr>
          <a:xfrm>
            <a:off x="0" y="0"/>
            <a:ext cx="6858000" cy="3886200"/>
          </a:xfrm>
          <a:prstGeom prst="rect">
            <a:avLst/>
          </a:prstGeom>
          <a:noFill/>
          <a:ln>
            <a:noFill/>
          </a:ln>
        </p:spPr>
      </p:pic>
      <p:sp>
        <p:nvSpPr>
          <p:cNvPr id="492" name="Google Shape;492;p60"/>
          <p:cNvSpPr txBox="1"/>
          <p:nvPr/>
        </p:nvSpPr>
        <p:spPr>
          <a:xfrm>
            <a:off x="6934200" y="152400"/>
            <a:ext cx="2133600" cy="1754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i="0" lang="en-US" sz="1800" u="none">
                <a:solidFill>
                  <a:schemeClr val="dk1"/>
                </a:solidFill>
                <a:latin typeface="Times New Roman"/>
                <a:ea typeface="Times New Roman"/>
                <a:cs typeface="Times New Roman"/>
                <a:sym typeface="Times New Roman"/>
              </a:rPr>
              <a:t>FIGURE 16.8 The forward trellis (graph with vertical slices) for the first two observations of the example HMM</a:t>
            </a:r>
            <a:endParaRPr>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1"/>
          <p:cNvSpPr txBox="1"/>
          <p:nvPr>
            <p:ph idx="1" type="body"/>
          </p:nvPr>
        </p:nvSpPr>
        <p:spPr>
          <a:xfrm>
            <a:off x="304800" y="381000"/>
            <a:ext cx="8534400" cy="110331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Computing </a:t>
            </a:r>
            <a:r>
              <a:rPr b="0" i="1" lang="en-US" sz="2400" u="none">
                <a:solidFill>
                  <a:schemeClr val="dk1"/>
                </a:solidFill>
                <a:latin typeface="Calibri"/>
                <a:ea typeface="Calibri"/>
                <a:cs typeface="Calibri"/>
                <a:sym typeface="Calibri"/>
              </a:rPr>
              <a:t>P(O) now requires only O(N</a:t>
            </a:r>
            <a:r>
              <a:rPr b="0" baseline="30000" i="1" lang="en-US" sz="2400" u="none">
                <a:solidFill>
                  <a:schemeClr val="dk1"/>
                </a:solidFill>
                <a:latin typeface="Calibri"/>
                <a:ea typeface="Calibri"/>
                <a:cs typeface="Calibri"/>
                <a:sym typeface="Calibri"/>
              </a:rPr>
              <a:t>2</a:t>
            </a:r>
            <a:r>
              <a:rPr b="0" i="1" lang="en-US" sz="2400" u="none">
                <a:solidFill>
                  <a:schemeClr val="dk1"/>
                </a:solidFill>
                <a:latin typeface="Calibri"/>
                <a:ea typeface="Calibri"/>
                <a:cs typeface="Calibri"/>
                <a:sym typeface="Calibri"/>
              </a:rPr>
              <a:t>T), which is a substantial improvement. </a:t>
            </a:r>
            <a:endParaRPr/>
          </a:p>
        </p:txBody>
      </p:sp>
      <p:pic>
        <p:nvPicPr>
          <p:cNvPr id="498" name="Google Shape;498;p61"/>
          <p:cNvPicPr preferRelativeResize="0"/>
          <p:nvPr/>
        </p:nvPicPr>
        <p:blipFill rotWithShape="1">
          <a:blip r:embed="rId3">
            <a:alphaModFix/>
          </a:blip>
          <a:srcRect b="0" l="0" r="0" t="0"/>
          <a:stretch/>
        </p:blipFill>
        <p:spPr>
          <a:xfrm>
            <a:off x="539750" y="1916112"/>
            <a:ext cx="7704137" cy="4433887"/>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2"/>
          <p:cNvSpPr txBox="1"/>
          <p:nvPr>
            <p:ph idx="1" type="body"/>
          </p:nvPr>
        </p:nvSpPr>
        <p:spPr>
          <a:xfrm>
            <a:off x="304800" y="304800"/>
            <a:ext cx="8610600" cy="2895600"/>
          </a:xfrm>
          <a:prstGeom prst="rect">
            <a:avLst/>
          </a:prstGeom>
          <a:noFill/>
          <a:ln>
            <a:noFill/>
          </a:ln>
        </p:spPr>
        <p:txBody>
          <a:bodyPr anchorCtr="0" anchor="t" bIns="45700" lIns="91425" spcFirstLastPara="1" rIns="91425" wrap="square" tIns="45700">
            <a:normAutofit lnSpcReduction="20000"/>
          </a:bodyPr>
          <a:lstStyle/>
          <a:p>
            <a:pPr indent="-342900" lvl="0" marL="342900" marR="0" rtl="0" algn="l">
              <a:lnSpc>
                <a:spcPct val="90000"/>
              </a:lnSpc>
              <a:spcBef>
                <a:spcPts val="0"/>
              </a:spcBef>
              <a:spcAft>
                <a:spcPts val="0"/>
              </a:spcAft>
              <a:buClr>
                <a:schemeClr val="dk1"/>
              </a:buClr>
              <a:buSzPts val="2400"/>
              <a:buFont typeface="Arial"/>
              <a:buNone/>
            </a:pPr>
            <a:r>
              <a:rPr i="0" lang="en-US" sz="2200" u="none">
                <a:solidFill>
                  <a:schemeClr val="dk1"/>
                </a:solidFill>
                <a:latin typeface="Times New Roman"/>
                <a:ea typeface="Times New Roman"/>
                <a:cs typeface="Times New Roman"/>
                <a:sym typeface="Times New Roman"/>
              </a:rPr>
              <a:t>The Viterbi Algorithm</a:t>
            </a:r>
            <a:endParaRPr sz="3000">
              <a:latin typeface="Times New Roman"/>
              <a:ea typeface="Times New Roman"/>
              <a:cs typeface="Times New Roman"/>
              <a:sym typeface="Times New Roman"/>
            </a:endParaRPr>
          </a:p>
          <a:p>
            <a:pPr indent="-374650" lvl="0" marL="342900" marR="0" rtl="0" algn="just">
              <a:lnSpc>
                <a:spcPct val="90000"/>
              </a:lnSpc>
              <a:spcBef>
                <a:spcPts val="460"/>
              </a:spcBef>
              <a:spcAft>
                <a:spcPts val="0"/>
              </a:spcAft>
              <a:buSzPts val="2800"/>
              <a:buFont typeface="Times New Roman"/>
              <a:buChar char="•"/>
            </a:pPr>
            <a:r>
              <a:rPr lang="en-US" sz="2050">
                <a:highlight>
                  <a:schemeClr val="lt1"/>
                </a:highlight>
                <a:latin typeface="Times New Roman"/>
                <a:ea typeface="Times New Roman"/>
                <a:cs typeface="Times New Roman"/>
                <a:sym typeface="Times New Roman"/>
              </a:rPr>
              <a:t>The Viterbi algorithm is a dynamic programming algorithm for finding the most likely sequence of hidden states in a Hidden Markov Model (HMM)</a:t>
            </a:r>
            <a:endParaRPr sz="2800">
              <a:highlight>
                <a:schemeClr val="lt1"/>
              </a:highlight>
              <a:latin typeface="Times New Roman"/>
              <a:ea typeface="Times New Roman"/>
              <a:cs typeface="Times New Roman"/>
              <a:sym typeface="Times New Roman"/>
            </a:endParaRPr>
          </a:p>
          <a:p>
            <a:pPr indent="-330200" lvl="0" marL="342900" marR="0" rtl="0" algn="just">
              <a:lnSpc>
                <a:spcPct val="90000"/>
              </a:lnSpc>
              <a:spcBef>
                <a:spcPts val="460"/>
              </a:spcBef>
              <a:spcAft>
                <a:spcPts val="0"/>
              </a:spcAft>
              <a:buClr>
                <a:schemeClr val="dk1"/>
              </a:buClr>
              <a:buSzPts val="2100"/>
              <a:buFont typeface="Times New Roman"/>
              <a:buChar char="•"/>
            </a:pPr>
            <a:r>
              <a:rPr i="0" lang="en-US" sz="2100" u="none">
                <a:solidFill>
                  <a:schemeClr val="dk1"/>
                </a:solidFill>
                <a:latin typeface="Times New Roman"/>
                <a:ea typeface="Times New Roman"/>
                <a:cs typeface="Times New Roman"/>
                <a:sym typeface="Times New Roman"/>
              </a:rPr>
              <a:t>The next problem that we want to solve is the decoding problem of working out the hidden states: I can use my model of how students are expected to behave and match them with my observations to guess what you have been doing each evening. </a:t>
            </a:r>
            <a:endParaRPr sz="3000">
              <a:latin typeface="Times New Roman"/>
              <a:ea typeface="Times New Roman"/>
              <a:cs typeface="Times New Roman"/>
              <a:sym typeface="Times New Roman"/>
            </a:endParaRPr>
          </a:p>
          <a:p>
            <a:pPr indent="-330200" lvl="0" marL="342900" marR="0" rtl="0" algn="just">
              <a:lnSpc>
                <a:spcPct val="90000"/>
              </a:lnSpc>
              <a:spcBef>
                <a:spcPts val="460"/>
              </a:spcBef>
              <a:spcAft>
                <a:spcPts val="0"/>
              </a:spcAft>
              <a:buClr>
                <a:schemeClr val="dk1"/>
              </a:buClr>
              <a:buSzPts val="2100"/>
              <a:buFont typeface="Times New Roman"/>
              <a:buChar char="•"/>
            </a:pPr>
            <a:r>
              <a:rPr i="0" lang="en-US" sz="2100" u="none">
                <a:solidFill>
                  <a:schemeClr val="dk1"/>
                </a:solidFill>
                <a:latin typeface="Times New Roman"/>
                <a:ea typeface="Times New Roman"/>
                <a:cs typeface="Times New Roman"/>
                <a:sym typeface="Times New Roman"/>
              </a:rPr>
              <a:t>The algorithm is known as the Viterbi algorithm after its creator, although he actually derived it for error correction, a completely different application.</a:t>
            </a:r>
            <a:endParaRPr sz="3000">
              <a:latin typeface="Times New Roman"/>
              <a:ea typeface="Times New Roman"/>
              <a:cs typeface="Times New Roman"/>
              <a:sym typeface="Times New Roman"/>
            </a:endParaRPr>
          </a:p>
        </p:txBody>
      </p:sp>
      <p:pic>
        <p:nvPicPr>
          <p:cNvPr id="504" name="Google Shape;504;p62"/>
          <p:cNvPicPr preferRelativeResize="0"/>
          <p:nvPr/>
        </p:nvPicPr>
        <p:blipFill rotWithShape="1">
          <a:blip r:embed="rId3">
            <a:alphaModFix/>
          </a:blip>
          <a:srcRect b="0" l="0" r="0" t="0"/>
          <a:stretch/>
        </p:blipFill>
        <p:spPr>
          <a:xfrm>
            <a:off x="381000" y="3048000"/>
            <a:ext cx="8458200" cy="38100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3"/>
          <p:cNvSpPr txBox="1"/>
          <p:nvPr>
            <p:ph idx="1" type="body"/>
          </p:nvPr>
        </p:nvSpPr>
        <p:spPr>
          <a:xfrm>
            <a:off x="228600" y="152400"/>
            <a:ext cx="8686800" cy="111601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Figure 16.9 shows the path for the first three states of the example. </a:t>
            </a:r>
            <a:endParaRPr/>
          </a:p>
        </p:txBody>
      </p:sp>
      <p:pic>
        <p:nvPicPr>
          <p:cNvPr id="510" name="Google Shape;510;p63"/>
          <p:cNvPicPr preferRelativeResize="0"/>
          <p:nvPr/>
        </p:nvPicPr>
        <p:blipFill rotWithShape="1">
          <a:blip r:embed="rId3">
            <a:alphaModFix/>
          </a:blip>
          <a:srcRect b="0" l="0" r="0" t="0"/>
          <a:stretch/>
        </p:blipFill>
        <p:spPr>
          <a:xfrm>
            <a:off x="228600" y="1844675"/>
            <a:ext cx="6267450" cy="4784725"/>
          </a:xfrm>
          <a:prstGeom prst="rect">
            <a:avLst/>
          </a:prstGeom>
          <a:noFill/>
          <a:ln>
            <a:noFill/>
          </a:ln>
        </p:spPr>
      </p:pic>
      <p:sp>
        <p:nvSpPr>
          <p:cNvPr id="511" name="Google Shape;511;p63"/>
          <p:cNvSpPr txBox="1"/>
          <p:nvPr/>
        </p:nvSpPr>
        <p:spPr>
          <a:xfrm>
            <a:off x="6553200" y="3276600"/>
            <a:ext cx="2362200" cy="1200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FIGURE 16.9 The Viterbi trellis for the first three observations of the example HMM.</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4"/>
          <p:cNvSpPr txBox="1"/>
          <p:nvPr>
            <p:ph idx="1" type="body"/>
          </p:nvPr>
        </p:nvSpPr>
        <p:spPr>
          <a:xfrm>
            <a:off x="228600" y="1096962"/>
            <a:ext cx="8686800" cy="427672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THE BAUM–WELCH OR FORWARD–BACKWARD ALGORITHM</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Generate the HMM from sets of observations rather than by making up the transition probabilities.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This is a learning process, and it is an unsupervised learning problem since we don’t have any target solutions to go on.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Finding the optimal probabilities is an NP-complete problem, since we have to search over all the possible sets of probabilities for all the possible sequences.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Instead, we will use an EM algorithm known as the Baum–Welch algorithm.</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5"/>
          <p:cNvSpPr txBox="1"/>
          <p:nvPr>
            <p:ph type="title"/>
          </p:nvPr>
        </p:nvSpPr>
        <p:spPr>
          <a:xfrm>
            <a:off x="457200" y="274637"/>
            <a:ext cx="8229600" cy="7159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TRACKING METHODS</a:t>
            </a:r>
            <a:endParaRPr/>
          </a:p>
        </p:txBody>
      </p:sp>
      <p:sp>
        <p:nvSpPr>
          <p:cNvPr id="522" name="Google Shape;522;p65"/>
          <p:cNvSpPr txBox="1"/>
          <p:nvPr>
            <p:ph idx="1" type="body"/>
          </p:nvPr>
        </p:nvSpPr>
        <p:spPr>
          <a:xfrm>
            <a:off x="304800" y="1066800"/>
            <a:ext cx="8534400" cy="5334000"/>
          </a:xfrm>
          <a:prstGeom prst="rect">
            <a:avLst/>
          </a:prstGeom>
          <a:noFill/>
          <a:ln>
            <a:noFill/>
          </a:ln>
        </p:spPr>
        <p:txBody>
          <a:bodyPr anchorCtr="0" anchor="t" bIns="45700" lIns="91425" spcFirstLastPara="1" rIns="91425" wrap="square" tIns="45700">
            <a:normAutofit/>
          </a:bodyPr>
          <a:lstStyle/>
          <a:p>
            <a:pPr indent="-336550" lvl="0" marL="342900" marR="0" rtl="0" algn="just">
              <a:lnSpc>
                <a:spcPct val="90000"/>
              </a:lnSpc>
              <a:spcBef>
                <a:spcPts val="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Look at two methods of performing tracking. </a:t>
            </a:r>
            <a:endParaRPr sz="3100">
              <a:latin typeface="Times New Roman"/>
              <a:ea typeface="Times New Roman"/>
              <a:cs typeface="Times New Roman"/>
              <a:sym typeface="Times New Roman"/>
            </a:endParaRPr>
          </a:p>
          <a:p>
            <a:pPr indent="-336550" lvl="0" marL="342900" marR="0" rtl="0" algn="just">
              <a:lnSpc>
                <a:spcPct val="90000"/>
              </a:lnSpc>
              <a:spcBef>
                <a:spcPts val="54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Perform tracking fairly easily, keeping tabs on where something is and how it is moving. </a:t>
            </a:r>
            <a:endParaRPr sz="3100">
              <a:latin typeface="Times New Roman"/>
              <a:ea typeface="Times New Roman"/>
              <a:cs typeface="Times New Roman"/>
              <a:sym typeface="Times New Roman"/>
            </a:endParaRPr>
          </a:p>
          <a:p>
            <a:pPr indent="-336550" lvl="0" marL="342900" marR="0" rtl="0" algn="just">
              <a:lnSpc>
                <a:spcPct val="90000"/>
              </a:lnSpc>
              <a:spcBef>
                <a:spcPts val="54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This has an obvious evolutionary benefit, since keeping track of where predators were and whether they were coming towards you could keep you alive. </a:t>
            </a:r>
            <a:endParaRPr sz="3100">
              <a:latin typeface="Times New Roman"/>
              <a:ea typeface="Times New Roman"/>
              <a:cs typeface="Times New Roman"/>
              <a:sym typeface="Times New Roman"/>
            </a:endParaRPr>
          </a:p>
          <a:p>
            <a:pPr indent="-336550" lvl="0" marL="342900" marR="0" rtl="0" algn="just">
              <a:lnSpc>
                <a:spcPct val="90000"/>
              </a:lnSpc>
              <a:spcBef>
                <a:spcPts val="54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It is also useful for a machine to be able to do this, both for similar reasons to a human or animal (watching something moving and predicting what path it will follow, for example in radar or other imaging method) and to keep track of a changing probability distribution. </a:t>
            </a:r>
            <a:endParaRPr sz="3100">
              <a:latin typeface="Times New Roman"/>
              <a:ea typeface="Times New Roman"/>
              <a:cs typeface="Times New Roman"/>
              <a:sym typeface="Times New Roman"/>
            </a:endParaRPr>
          </a:p>
          <a:p>
            <a:pPr indent="-336550" lvl="0" marL="342900" marR="0" rtl="0" algn="just">
              <a:lnSpc>
                <a:spcPct val="90000"/>
              </a:lnSpc>
              <a:spcBef>
                <a:spcPts val="540"/>
              </a:spcBef>
              <a:spcAft>
                <a:spcPts val="0"/>
              </a:spcAft>
              <a:buClr>
                <a:schemeClr val="dk1"/>
              </a:buClr>
              <a:buSzPts val="2600"/>
              <a:buFont typeface="Times New Roman"/>
              <a:buChar char="•"/>
            </a:pPr>
            <a:r>
              <a:rPr i="0" lang="en-US" sz="2600" u="none">
                <a:solidFill>
                  <a:schemeClr val="dk1"/>
                </a:solidFill>
                <a:latin typeface="Times New Roman"/>
                <a:ea typeface="Times New Roman"/>
                <a:cs typeface="Times New Roman"/>
                <a:sym typeface="Times New Roman"/>
              </a:rPr>
              <a:t>We will look at two methods of doing it, the Kalman filter and the particle filter.</a:t>
            </a:r>
            <a:endParaRPr sz="3100">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6"/>
          <p:cNvSpPr txBox="1"/>
          <p:nvPr/>
        </p:nvSpPr>
        <p:spPr>
          <a:xfrm>
            <a:off x="228600" y="238173"/>
            <a:ext cx="8704200" cy="5079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Calibri"/>
              <a:buNone/>
            </a:pPr>
            <a:r>
              <a:rPr b="0" i="0" lang="en-US" sz="2400" u="none">
                <a:solidFill>
                  <a:schemeClr val="dk1"/>
                </a:solidFill>
                <a:latin typeface="Calibri"/>
                <a:ea typeface="Calibri"/>
                <a:cs typeface="Calibri"/>
                <a:sym typeface="Calibri"/>
              </a:rPr>
              <a:t>THE KALMAN FILTER</a:t>
            </a:r>
            <a:endParaRPr b="0" i="0" sz="2400" u="non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146050" lvl="0" marL="0" marR="0" rtl="0" algn="just">
              <a:lnSpc>
                <a:spcPct val="100000"/>
              </a:lnSpc>
              <a:spcBef>
                <a:spcPts val="0"/>
              </a:spcBef>
              <a:spcAft>
                <a:spcPts val="0"/>
              </a:spcAft>
              <a:buClr>
                <a:schemeClr val="dk1"/>
              </a:buClr>
              <a:buSzPts val="2300"/>
              <a:buFont typeface="Arial"/>
              <a:buChar char="•"/>
            </a:pPr>
            <a:r>
              <a:rPr b="0" i="0" lang="en-US" sz="2300" u="none">
                <a:solidFill>
                  <a:schemeClr val="dk1"/>
                </a:solidFill>
                <a:latin typeface="Calibri"/>
                <a:ea typeface="Calibri"/>
                <a:cs typeface="Calibri"/>
                <a:sym typeface="Calibri"/>
              </a:rPr>
              <a:t>The Kalman filter (named for E. Kalman; although he was not the original inventor he did do quite a lot of work on it) is a recursive estimator. </a:t>
            </a:r>
            <a:endParaRPr/>
          </a:p>
          <a:p>
            <a:pPr indent="-146050" lvl="0" marL="0" marR="0" rtl="0" algn="just">
              <a:lnSpc>
                <a:spcPct val="100000"/>
              </a:lnSpc>
              <a:spcBef>
                <a:spcPts val="0"/>
              </a:spcBef>
              <a:spcAft>
                <a:spcPts val="0"/>
              </a:spcAft>
              <a:buClr>
                <a:schemeClr val="dk1"/>
              </a:buClr>
              <a:buSzPts val="2300"/>
              <a:buFont typeface="Arial"/>
              <a:buChar char="•"/>
            </a:pPr>
            <a:r>
              <a:rPr b="0" i="0" lang="en-US" sz="2300" u="none">
                <a:solidFill>
                  <a:schemeClr val="dk1"/>
                </a:solidFill>
                <a:latin typeface="Calibri"/>
                <a:ea typeface="Calibri"/>
                <a:cs typeface="Calibri"/>
                <a:sym typeface="Calibri"/>
              </a:rPr>
              <a:t>It makes an estimate of the next step, then computes an error term based on the value that was actually produced in the next step, and tries to correct it. </a:t>
            </a:r>
            <a:endParaRPr/>
          </a:p>
          <a:p>
            <a:pPr indent="-146050" lvl="0" marL="0" marR="0" rtl="0" algn="just">
              <a:lnSpc>
                <a:spcPct val="100000"/>
              </a:lnSpc>
              <a:spcBef>
                <a:spcPts val="0"/>
              </a:spcBef>
              <a:spcAft>
                <a:spcPts val="0"/>
              </a:spcAft>
              <a:buClr>
                <a:schemeClr val="dk1"/>
              </a:buClr>
              <a:buSzPts val="2300"/>
              <a:buFont typeface="Arial"/>
              <a:buChar char="•"/>
            </a:pPr>
            <a:r>
              <a:rPr b="0" i="0" lang="en-US" sz="2300" u="none">
                <a:solidFill>
                  <a:schemeClr val="dk1"/>
                </a:solidFill>
                <a:latin typeface="Calibri"/>
                <a:ea typeface="Calibri"/>
                <a:cs typeface="Calibri"/>
                <a:sym typeface="Calibri"/>
              </a:rPr>
              <a:t>Uses both of those to make the next prediction, and iterates this procedure. </a:t>
            </a:r>
            <a:endParaRPr/>
          </a:p>
          <a:p>
            <a:pPr indent="-146050" lvl="0" marL="0" marR="0" rtl="0" algn="just">
              <a:lnSpc>
                <a:spcPct val="100000"/>
              </a:lnSpc>
              <a:spcBef>
                <a:spcPts val="0"/>
              </a:spcBef>
              <a:spcAft>
                <a:spcPts val="0"/>
              </a:spcAft>
              <a:buClr>
                <a:schemeClr val="dk1"/>
              </a:buClr>
              <a:buSzPts val="2300"/>
              <a:buFont typeface="Arial"/>
              <a:buChar char="•"/>
            </a:pPr>
            <a:r>
              <a:rPr b="0" i="0" lang="en-US" sz="2300" u="none">
                <a:solidFill>
                  <a:schemeClr val="dk1"/>
                </a:solidFill>
                <a:latin typeface="Calibri"/>
                <a:ea typeface="Calibri"/>
                <a:cs typeface="Calibri"/>
                <a:sym typeface="Calibri"/>
              </a:rPr>
              <a:t>It is a simple cycle of predict-correct behaviour, where the error at each step is used to improve the estimate at the next iteration. </a:t>
            </a:r>
            <a:endParaRPr/>
          </a:p>
          <a:p>
            <a:pPr indent="-146050" lvl="0" marL="0" marR="0" rtl="0" algn="just">
              <a:lnSpc>
                <a:spcPct val="100000"/>
              </a:lnSpc>
              <a:spcBef>
                <a:spcPts val="0"/>
              </a:spcBef>
              <a:spcAft>
                <a:spcPts val="0"/>
              </a:spcAft>
              <a:buClr>
                <a:schemeClr val="dk1"/>
              </a:buClr>
              <a:buSzPts val="2300"/>
              <a:buFont typeface="Arial"/>
              <a:buChar char="•"/>
            </a:pPr>
            <a:r>
              <a:rPr b="0" i="0" lang="en-US" sz="2300" u="none">
                <a:solidFill>
                  <a:schemeClr val="dk1"/>
                </a:solidFill>
                <a:latin typeface="Calibri"/>
                <a:ea typeface="Calibri"/>
                <a:cs typeface="Calibri"/>
                <a:sym typeface="Calibri"/>
              </a:rPr>
              <a:t>The Kalman filter can be represented by the graphical model shown in Figure 16.10.</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7"/>
          <p:cNvSpPr txBox="1"/>
          <p:nvPr>
            <p:ph idx="1" type="body"/>
          </p:nvPr>
        </p:nvSpPr>
        <p:spPr>
          <a:xfrm>
            <a:off x="152400" y="4200525"/>
            <a:ext cx="8763000" cy="239712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underlying idea is that there is some time-varying process that is generating a set of noisy outputs, where there are two sources of noise.</a:t>
            </a:r>
            <a:endParaRPr/>
          </a:p>
          <a:p>
            <a:pPr indent="-342900" lvl="0" marL="342900" marR="0" rtl="0" algn="just">
              <a:lnSpc>
                <a:spcPct val="100000"/>
              </a:lnSpc>
              <a:spcBef>
                <a:spcPts val="52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Write the process as a stochastic  difference equation in x, which has n dimensions:       </a:t>
            </a:r>
            <a:r>
              <a:rPr b="1" i="0" lang="en-US" sz="2600" u="none">
                <a:solidFill>
                  <a:schemeClr val="dk1"/>
                </a:solidFill>
                <a:latin typeface="Calibri"/>
                <a:ea typeface="Calibri"/>
                <a:cs typeface="Calibri"/>
                <a:sym typeface="Calibri"/>
              </a:rPr>
              <a:t>x</a:t>
            </a:r>
            <a:r>
              <a:rPr b="1" baseline="-25000" i="1" lang="en-US" sz="2600" u="none">
                <a:solidFill>
                  <a:schemeClr val="dk1"/>
                </a:solidFill>
                <a:latin typeface="Calibri"/>
                <a:ea typeface="Calibri"/>
                <a:cs typeface="Calibri"/>
                <a:sym typeface="Calibri"/>
              </a:rPr>
              <a:t>t+1</a:t>
            </a:r>
            <a:r>
              <a:rPr b="1" i="1" lang="en-US" sz="2600" u="none">
                <a:solidFill>
                  <a:schemeClr val="dk1"/>
                </a:solidFill>
                <a:latin typeface="Calibri"/>
                <a:ea typeface="Calibri"/>
                <a:cs typeface="Calibri"/>
                <a:sym typeface="Calibri"/>
              </a:rPr>
              <a:t> = Ax</a:t>
            </a:r>
            <a:r>
              <a:rPr b="1" baseline="-25000" i="1" lang="en-US" sz="2600" u="none">
                <a:solidFill>
                  <a:schemeClr val="dk1"/>
                </a:solidFill>
                <a:latin typeface="Calibri"/>
                <a:ea typeface="Calibri"/>
                <a:cs typeface="Calibri"/>
                <a:sym typeface="Calibri"/>
              </a:rPr>
              <a:t>t</a:t>
            </a:r>
            <a:r>
              <a:rPr b="1" i="1" lang="en-US" sz="2600" u="none">
                <a:solidFill>
                  <a:schemeClr val="dk1"/>
                </a:solidFill>
                <a:latin typeface="Calibri"/>
                <a:ea typeface="Calibri"/>
                <a:cs typeface="Calibri"/>
                <a:sym typeface="Calibri"/>
              </a:rPr>
              <a:t> + Bu</a:t>
            </a:r>
            <a:r>
              <a:rPr b="1" baseline="-25000" i="1" lang="en-US" sz="2600" u="none">
                <a:solidFill>
                  <a:schemeClr val="dk1"/>
                </a:solidFill>
                <a:latin typeface="Calibri"/>
                <a:ea typeface="Calibri"/>
                <a:cs typeface="Calibri"/>
                <a:sym typeface="Calibri"/>
              </a:rPr>
              <a:t>t</a:t>
            </a:r>
            <a:r>
              <a:rPr b="1" i="1" lang="en-US" sz="2600" u="none">
                <a:solidFill>
                  <a:schemeClr val="dk1"/>
                </a:solidFill>
                <a:latin typeface="Calibri"/>
                <a:ea typeface="Calibri"/>
                <a:cs typeface="Calibri"/>
                <a:sym typeface="Calibri"/>
              </a:rPr>
              <a:t> + w</a:t>
            </a:r>
            <a:r>
              <a:rPr b="1" baseline="-25000" i="1" lang="en-US" sz="2600" u="none">
                <a:solidFill>
                  <a:schemeClr val="dk1"/>
                </a:solidFill>
                <a:latin typeface="Calibri"/>
                <a:ea typeface="Calibri"/>
                <a:cs typeface="Calibri"/>
                <a:sym typeface="Calibri"/>
              </a:rPr>
              <a:t>t</a:t>
            </a:r>
            <a:r>
              <a:rPr b="1" i="1" lang="en-US" sz="2400" u="none">
                <a:solidFill>
                  <a:schemeClr val="dk1"/>
                </a:solidFill>
                <a:latin typeface="Calibri"/>
                <a:ea typeface="Calibri"/>
                <a:cs typeface="Calibri"/>
                <a:sym typeface="Calibri"/>
              </a:rPr>
              <a:t>    - --   (16.21)</a:t>
            </a:r>
            <a:endParaRPr/>
          </a:p>
        </p:txBody>
      </p:sp>
      <p:pic>
        <p:nvPicPr>
          <p:cNvPr id="533" name="Google Shape;533;p67"/>
          <p:cNvPicPr preferRelativeResize="0"/>
          <p:nvPr/>
        </p:nvPicPr>
        <p:blipFill rotWithShape="1">
          <a:blip r:embed="rId3">
            <a:alphaModFix/>
          </a:blip>
          <a:srcRect b="0" l="0" r="0" t="0"/>
          <a:stretch/>
        </p:blipFill>
        <p:spPr>
          <a:xfrm>
            <a:off x="0" y="0"/>
            <a:ext cx="4716462" cy="4005262"/>
          </a:xfrm>
          <a:prstGeom prst="rect">
            <a:avLst/>
          </a:prstGeom>
          <a:noFill/>
          <a:ln>
            <a:noFill/>
          </a:ln>
        </p:spPr>
      </p:pic>
      <p:sp>
        <p:nvSpPr>
          <p:cNvPr id="534" name="Google Shape;534;p67"/>
          <p:cNvSpPr txBox="1"/>
          <p:nvPr/>
        </p:nvSpPr>
        <p:spPr>
          <a:xfrm>
            <a:off x="4800600" y="304800"/>
            <a:ext cx="3962400" cy="9239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FIGURE 16.10 A representation of the Kalman filter with time derivatives (such as for tracking) as a graphical model.</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8"/>
          <p:cNvSpPr txBox="1"/>
          <p:nvPr>
            <p:ph idx="1" type="body"/>
          </p:nvPr>
        </p:nvSpPr>
        <p:spPr>
          <a:xfrm>
            <a:off x="179387" y="1165225"/>
            <a:ext cx="8785225" cy="48561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500"/>
              <a:buFont typeface="Arial"/>
              <a:buChar char="•"/>
            </a:pPr>
            <a:r>
              <a:rPr b="0" i="0" lang="en-US" sz="2500" u="none">
                <a:solidFill>
                  <a:schemeClr val="dk1"/>
                </a:solidFill>
                <a:latin typeface="Calibri"/>
                <a:ea typeface="Calibri"/>
                <a:cs typeface="Calibri"/>
                <a:sym typeface="Calibri"/>
              </a:rPr>
              <a:t>where</a:t>
            </a:r>
            <a:r>
              <a:rPr b="0" i="0" lang="en-US" sz="2400" u="none">
                <a:solidFill>
                  <a:schemeClr val="dk1"/>
                </a:solidFill>
                <a:latin typeface="Calibri"/>
                <a:ea typeface="Calibri"/>
                <a:cs typeface="Calibri"/>
                <a:sym typeface="Calibri"/>
              </a:rPr>
              <a:t> A</a:t>
            </a:r>
            <a:r>
              <a:rPr b="0" baseline="-25000" i="0" lang="en-US" sz="2400" u="none">
                <a:solidFill>
                  <a:schemeClr val="dk1"/>
                </a:solidFill>
                <a:latin typeface="Calibri"/>
                <a:ea typeface="Calibri"/>
                <a:cs typeface="Calibri"/>
                <a:sym typeface="Calibri"/>
              </a:rPr>
              <a:t>t</a:t>
            </a:r>
            <a:r>
              <a:rPr b="0" i="0" lang="en-US" sz="2400" u="none">
                <a:solidFill>
                  <a:schemeClr val="dk1"/>
                </a:solidFill>
                <a:latin typeface="Calibri"/>
                <a:ea typeface="Calibri"/>
                <a:cs typeface="Calibri"/>
                <a:sym typeface="Calibri"/>
              </a:rPr>
              <a:t> </a:t>
            </a:r>
            <a:r>
              <a:rPr b="0" i="0" lang="en-US" sz="2500" u="none">
                <a:solidFill>
                  <a:schemeClr val="dk1"/>
                </a:solidFill>
                <a:latin typeface="Calibri"/>
                <a:ea typeface="Calibri"/>
                <a:cs typeface="Calibri"/>
                <a:sym typeface="Calibri"/>
              </a:rPr>
              <a:t>is an n × n matrix that represents the non-driven part of the underlying process, B is an n × l matrix that represents the driving force, and u is the l-dimensional driving forc</a:t>
            </a:r>
            <a:r>
              <a:rPr b="0" i="0" lang="en-US" sz="2400" u="none">
                <a:solidFill>
                  <a:schemeClr val="dk1"/>
                </a:solidFill>
                <a:latin typeface="Calibri"/>
                <a:ea typeface="Calibri"/>
                <a:cs typeface="Calibri"/>
                <a:sym typeface="Calibri"/>
              </a:rPr>
              <a:t>e. </a:t>
            </a:r>
            <a:endParaRPr/>
          </a:p>
          <a:p>
            <a:pPr indent="-342900" lvl="0" marL="342900" marR="0" rtl="0" algn="just">
              <a:lnSpc>
                <a:spcPct val="100000"/>
              </a:lnSpc>
              <a:spcBef>
                <a:spcPts val="500"/>
              </a:spcBef>
              <a:spcAft>
                <a:spcPts val="0"/>
              </a:spcAft>
              <a:buClr>
                <a:schemeClr val="dk1"/>
              </a:buClr>
              <a:buSzPts val="2500"/>
              <a:buFont typeface="Arial"/>
              <a:buChar char="•"/>
            </a:pPr>
            <a:r>
              <a:rPr b="0" i="0" lang="en-US" sz="2500" u="none">
                <a:solidFill>
                  <a:schemeClr val="dk1"/>
                </a:solidFill>
                <a:latin typeface="Calibri"/>
                <a:ea typeface="Calibri"/>
                <a:cs typeface="Calibri"/>
                <a:sym typeface="Calibri"/>
              </a:rPr>
              <a:t>w is the process noise, which is assumed to be zero mean with standard deviation Q</a:t>
            </a:r>
            <a:r>
              <a:rPr b="0" i="0" lang="en-US" sz="2400" u="none">
                <a:solidFill>
                  <a:schemeClr val="dk1"/>
                </a:solidFill>
                <a:latin typeface="Calibri"/>
                <a:ea typeface="Calibri"/>
                <a:cs typeface="Calibri"/>
                <a:sym typeface="Calibri"/>
              </a:rPr>
              <a:t>.</a:t>
            </a:r>
            <a:endParaRPr/>
          </a:p>
          <a:p>
            <a:pPr indent="-342900" lvl="0" marL="342900" marR="0" rtl="0" algn="just">
              <a:lnSpc>
                <a:spcPct val="100000"/>
              </a:lnSpc>
              <a:spcBef>
                <a:spcPts val="500"/>
              </a:spcBef>
              <a:spcAft>
                <a:spcPts val="0"/>
              </a:spcAft>
              <a:buClr>
                <a:schemeClr val="dk1"/>
              </a:buClr>
              <a:buSzPts val="2500"/>
              <a:buFont typeface="Arial"/>
              <a:buChar char="•"/>
            </a:pPr>
            <a:r>
              <a:rPr b="0" i="0" lang="en-US" sz="2500" u="none">
                <a:solidFill>
                  <a:schemeClr val="dk1"/>
                </a:solidFill>
                <a:latin typeface="Calibri"/>
                <a:ea typeface="Calibri"/>
                <a:cs typeface="Calibri"/>
                <a:sym typeface="Calibri"/>
              </a:rPr>
              <a:t>The observations that we make are m-dimensional</a:t>
            </a:r>
            <a:r>
              <a:rPr b="0" i="0" lang="en-US" sz="2400" u="none">
                <a:solidFill>
                  <a:schemeClr val="dk1"/>
                </a:solidFill>
                <a:latin typeface="Calibri"/>
                <a:ea typeface="Calibri"/>
                <a:cs typeface="Calibri"/>
                <a:sym typeface="Calibri"/>
              </a:rPr>
              <a:t>:</a:t>
            </a:r>
            <a:endParaRPr/>
          </a:p>
          <a:p>
            <a:pPr indent="-342900" lvl="0" marL="342900" marR="0" rtl="0" algn="just">
              <a:lnSpc>
                <a:spcPct val="100000"/>
              </a:lnSpc>
              <a:spcBef>
                <a:spcPts val="520"/>
              </a:spcBef>
              <a:spcAft>
                <a:spcPts val="0"/>
              </a:spcAft>
              <a:buClr>
                <a:schemeClr val="dk1"/>
              </a:buClr>
              <a:buSzPts val="2400"/>
              <a:buFont typeface="Arial"/>
              <a:buNone/>
            </a:pPr>
            <a:r>
              <a:rPr b="1" i="0" lang="en-US" sz="2400" u="none">
                <a:solidFill>
                  <a:schemeClr val="dk1"/>
                </a:solidFill>
                <a:latin typeface="Calibri"/>
                <a:ea typeface="Calibri"/>
                <a:cs typeface="Calibri"/>
                <a:sym typeface="Calibri"/>
              </a:rPr>
              <a:t>                          </a:t>
            </a:r>
            <a:r>
              <a:rPr b="1" i="0" lang="en-US" sz="2600" u="none">
                <a:solidFill>
                  <a:schemeClr val="dk1"/>
                </a:solidFill>
                <a:latin typeface="Calibri"/>
                <a:ea typeface="Calibri"/>
                <a:cs typeface="Calibri"/>
                <a:sym typeface="Calibri"/>
              </a:rPr>
              <a:t>y</a:t>
            </a:r>
            <a:r>
              <a:rPr b="1" baseline="-25000" i="0" lang="en-US" sz="2600" u="none">
                <a:solidFill>
                  <a:schemeClr val="dk1"/>
                </a:solidFill>
                <a:latin typeface="Calibri"/>
                <a:ea typeface="Calibri"/>
                <a:cs typeface="Calibri"/>
                <a:sym typeface="Calibri"/>
              </a:rPr>
              <a:t>t </a:t>
            </a:r>
            <a:r>
              <a:rPr b="1" i="0" lang="en-US" sz="2600" u="none">
                <a:solidFill>
                  <a:schemeClr val="dk1"/>
                </a:solidFill>
                <a:latin typeface="Calibri"/>
                <a:ea typeface="Calibri"/>
                <a:cs typeface="Calibri"/>
                <a:sym typeface="Calibri"/>
              </a:rPr>
              <a:t>= Hx</a:t>
            </a:r>
            <a:r>
              <a:rPr b="1" baseline="-25000" i="0" lang="en-US" sz="2600" u="none">
                <a:solidFill>
                  <a:schemeClr val="dk1"/>
                </a:solidFill>
                <a:latin typeface="Calibri"/>
                <a:ea typeface="Calibri"/>
                <a:cs typeface="Calibri"/>
                <a:sym typeface="Calibri"/>
              </a:rPr>
              <a:t>t</a:t>
            </a:r>
            <a:r>
              <a:rPr b="1" i="0" lang="en-US" sz="2600" u="none">
                <a:solidFill>
                  <a:schemeClr val="dk1"/>
                </a:solidFill>
                <a:latin typeface="Calibri"/>
                <a:ea typeface="Calibri"/>
                <a:cs typeface="Calibri"/>
                <a:sym typeface="Calibri"/>
              </a:rPr>
              <a:t> + v</a:t>
            </a:r>
            <a:r>
              <a:rPr b="1" baseline="-25000" i="0" lang="en-US" sz="2600" u="none">
                <a:solidFill>
                  <a:schemeClr val="dk1"/>
                </a:solidFill>
                <a:latin typeface="Calibri"/>
                <a:ea typeface="Calibri"/>
                <a:cs typeface="Calibri"/>
                <a:sym typeface="Calibri"/>
              </a:rPr>
              <a:t>t</a:t>
            </a:r>
            <a:r>
              <a:rPr b="1" i="0" lang="en-US" sz="2600" u="none">
                <a:solidFill>
                  <a:schemeClr val="dk1"/>
                </a:solidFill>
                <a:latin typeface="Calibri"/>
                <a:ea typeface="Calibri"/>
                <a:cs typeface="Calibri"/>
                <a:sym typeface="Calibri"/>
              </a:rPr>
              <a:t>    </a:t>
            </a:r>
            <a:r>
              <a:rPr b="1" i="0" lang="en-US" sz="2400" u="none">
                <a:solidFill>
                  <a:schemeClr val="dk1"/>
                </a:solidFill>
                <a:latin typeface="Calibri"/>
                <a:ea typeface="Calibri"/>
                <a:cs typeface="Calibri"/>
                <a:sym typeface="Calibri"/>
              </a:rPr>
              <a:t>---    (16.22)</a:t>
            </a:r>
            <a:endParaRPr/>
          </a:p>
          <a:p>
            <a:pPr indent="-342900" lvl="0" marL="342900" marR="0" rtl="0" algn="l">
              <a:lnSpc>
                <a:spcPct val="100000"/>
              </a:lnSpc>
              <a:spcBef>
                <a:spcPts val="520"/>
              </a:spcBef>
              <a:spcAft>
                <a:spcPts val="0"/>
              </a:spcAft>
              <a:buClr>
                <a:schemeClr val="dk1"/>
              </a:buClr>
              <a:buSzPts val="2500"/>
              <a:buFont typeface="Arial"/>
              <a:buChar char="•"/>
            </a:pPr>
            <a:r>
              <a:rPr b="0" i="0" lang="en-US" sz="2500" u="none">
                <a:solidFill>
                  <a:schemeClr val="dk1"/>
                </a:solidFill>
                <a:latin typeface="Calibri"/>
                <a:ea typeface="Calibri"/>
                <a:cs typeface="Calibri"/>
                <a:sym typeface="Calibri"/>
              </a:rPr>
              <a:t>Since there is no driving force the next term is </a:t>
            </a:r>
            <a:r>
              <a:rPr b="0" i="0" lang="en-US" sz="2600" u="none">
                <a:solidFill>
                  <a:schemeClr val="dk1"/>
                </a:solidFill>
                <a:latin typeface="Calibri"/>
                <a:ea typeface="Calibri"/>
                <a:cs typeface="Calibri"/>
                <a:sym typeface="Calibri"/>
              </a:rPr>
              <a:t>Bu</a:t>
            </a:r>
            <a:r>
              <a:rPr b="0" baseline="-25000" i="0" lang="en-US" sz="2600" u="none">
                <a:solidFill>
                  <a:schemeClr val="dk1"/>
                </a:solidFill>
                <a:latin typeface="Calibri"/>
                <a:ea typeface="Calibri"/>
                <a:cs typeface="Calibri"/>
                <a:sym typeface="Calibri"/>
              </a:rPr>
              <a:t>t</a:t>
            </a:r>
            <a:r>
              <a:rPr b="0" i="0" lang="en-US" sz="2600" u="none">
                <a:solidFill>
                  <a:schemeClr val="dk1"/>
                </a:solidFill>
                <a:latin typeface="Calibri"/>
                <a:ea typeface="Calibri"/>
                <a:cs typeface="Calibri"/>
                <a:sym typeface="Calibri"/>
              </a:rPr>
              <a:t> = 0</a:t>
            </a:r>
            <a:r>
              <a:rPr b="0" i="0" lang="en-US" sz="2400" u="none">
                <a:solidFill>
                  <a:schemeClr val="dk1"/>
                </a:solidFill>
                <a:latin typeface="Calibri"/>
                <a:ea typeface="Calibri"/>
                <a:cs typeface="Calibri"/>
                <a:sym typeface="Calibri"/>
              </a:rPr>
              <a:t>. </a:t>
            </a:r>
            <a:endParaRPr/>
          </a:p>
          <a:p>
            <a:pPr indent="-342900" lvl="0" marL="342900" marR="0" rtl="0" algn="l">
              <a:lnSpc>
                <a:spcPct val="100000"/>
              </a:lnSpc>
              <a:spcBef>
                <a:spcPts val="600"/>
              </a:spcBef>
              <a:spcAft>
                <a:spcPts val="0"/>
              </a:spcAft>
              <a:buClr>
                <a:schemeClr val="dk1"/>
              </a:buClr>
              <a:buSzPts val="2500"/>
              <a:buFont typeface="Arial"/>
              <a:buChar char="•"/>
            </a:pPr>
            <a:r>
              <a:rPr b="0" i="0" lang="en-US" sz="2500" u="none">
                <a:solidFill>
                  <a:schemeClr val="dk1"/>
                </a:solidFill>
                <a:latin typeface="Calibri"/>
                <a:ea typeface="Calibri"/>
                <a:cs typeface="Calibri"/>
                <a:sym typeface="Calibri"/>
              </a:rPr>
              <a:t>The process equation is then derived by using Newton’s laws of motion </a:t>
            </a:r>
            <a:r>
              <a:rPr b="0" i="0" lang="en-US" sz="2400" u="none">
                <a:solidFill>
                  <a:schemeClr val="dk1"/>
                </a:solidFill>
                <a:latin typeface="Calibri"/>
                <a:ea typeface="Calibri"/>
                <a:cs typeface="Calibri"/>
                <a:sym typeface="Calibri"/>
              </a:rPr>
              <a:t>(so </a:t>
            </a:r>
            <a:r>
              <a:rPr b="0" i="0" lang="en-US" sz="2600" u="none">
                <a:solidFill>
                  <a:schemeClr val="dk1"/>
                </a:solidFill>
                <a:latin typeface="Calibri"/>
                <a:ea typeface="Calibri"/>
                <a:cs typeface="Calibri"/>
                <a:sym typeface="Calibri"/>
              </a:rPr>
              <a:t>x</a:t>
            </a:r>
            <a:r>
              <a:rPr b="0" baseline="-25000" i="0" lang="en-US" sz="2600" u="none">
                <a:solidFill>
                  <a:schemeClr val="dk1"/>
                </a:solidFill>
                <a:latin typeface="Calibri"/>
                <a:ea typeface="Calibri"/>
                <a:cs typeface="Calibri"/>
                <a:sym typeface="Calibri"/>
              </a:rPr>
              <a:t>t+1</a:t>
            </a:r>
            <a:r>
              <a:rPr b="0" i="0" lang="en-US" sz="2600" u="none">
                <a:solidFill>
                  <a:schemeClr val="dk1"/>
                </a:solidFill>
                <a:latin typeface="Calibri"/>
                <a:ea typeface="Calibri"/>
                <a:cs typeface="Calibri"/>
                <a:sym typeface="Calibri"/>
              </a:rPr>
              <a:t> = x</a:t>
            </a:r>
            <a:r>
              <a:rPr b="0" baseline="-25000" i="0" lang="en-US" sz="2600" u="none">
                <a:solidFill>
                  <a:schemeClr val="dk1"/>
                </a:solidFill>
                <a:latin typeface="Calibri"/>
                <a:ea typeface="Calibri"/>
                <a:cs typeface="Calibri"/>
                <a:sym typeface="Calibri"/>
              </a:rPr>
              <a:t>t </a:t>
            </a:r>
            <a:r>
              <a:rPr b="0" i="0" lang="en-US" sz="2600" u="none">
                <a:solidFill>
                  <a:schemeClr val="dk1"/>
                </a:solidFill>
                <a:latin typeface="Calibri"/>
                <a:ea typeface="Calibri"/>
                <a:cs typeface="Calibri"/>
                <a:sym typeface="Calibri"/>
              </a:rPr>
              <a:t>+</a:t>
            </a:r>
            <a:r>
              <a:rPr b="0" i="0" lang="en-US" sz="2600" u="none">
                <a:solidFill>
                  <a:schemeClr val="dk1"/>
                </a:solidFill>
                <a:latin typeface="Arial"/>
                <a:ea typeface="Arial"/>
                <a:cs typeface="Arial"/>
                <a:sym typeface="Arial"/>
              </a:rPr>
              <a:t>Δ</a:t>
            </a:r>
            <a:r>
              <a:rPr b="0" i="0" lang="en-US" sz="2600" u="none">
                <a:solidFill>
                  <a:schemeClr val="dk1"/>
                </a:solidFill>
                <a:latin typeface="Calibri"/>
                <a:ea typeface="Calibri"/>
                <a:cs typeface="Calibri"/>
                <a:sym typeface="Calibri"/>
              </a:rPr>
              <a:t> </a:t>
            </a:r>
            <a:r>
              <a:rPr b="0" i="0" lang="en-US" sz="3000" u="none">
                <a:solidFill>
                  <a:schemeClr val="dk1"/>
                </a:solidFill>
                <a:latin typeface="Calibri"/>
                <a:ea typeface="Calibri"/>
                <a:cs typeface="Calibri"/>
                <a:sym typeface="Calibri"/>
              </a:rPr>
              <a:t>t</a:t>
            </a:r>
            <a:r>
              <a:rPr b="0" baseline="-25000" i="0" lang="en-US" sz="3000" u="none">
                <a:solidFill>
                  <a:schemeClr val="dk1"/>
                </a:solidFill>
                <a:latin typeface="Calibri"/>
                <a:ea typeface="Calibri"/>
                <a:cs typeface="Calibri"/>
                <a:sym typeface="Calibri"/>
              </a:rPr>
              <a:t>x˙</a:t>
            </a:r>
            <a:r>
              <a:rPr b="0" i="0" lang="en-US" sz="2600" u="none">
                <a:solidFill>
                  <a:schemeClr val="dk1"/>
                </a:solidFill>
                <a:latin typeface="Calibri"/>
                <a:ea typeface="Calibri"/>
                <a:cs typeface="Calibri"/>
                <a:sym typeface="Calibri"/>
              </a:rPr>
              <a:t> t</a:t>
            </a:r>
            <a:r>
              <a:rPr b="0" i="0" lang="en-US" sz="2400" u="none">
                <a:solidFill>
                  <a:schemeClr val="dk1"/>
                </a:solidFill>
                <a:latin typeface="Calibri"/>
                <a:ea typeface="Calibri"/>
                <a:cs typeface="Calibri"/>
                <a:sym typeface="Calibri"/>
              </a:rPr>
              <a:t>, </a:t>
            </a:r>
            <a:r>
              <a:rPr b="0" i="0" lang="en-US" sz="2500" u="none">
                <a:solidFill>
                  <a:schemeClr val="dk1"/>
                </a:solidFill>
                <a:latin typeface="Calibri"/>
                <a:ea typeface="Calibri"/>
                <a:cs typeface="Calibri"/>
                <a:sym typeface="Calibri"/>
              </a:rPr>
              <a:t>and since we are making indexing by time</a:t>
            </a:r>
            <a:r>
              <a:rPr b="0" i="0" lang="en-US" sz="2400" u="none">
                <a:solidFill>
                  <a:schemeClr val="dk1"/>
                </a:solidFill>
                <a:latin typeface="Calibri"/>
                <a:ea typeface="Calibri"/>
                <a:cs typeface="Calibri"/>
                <a:sym typeface="Calibri"/>
              </a:rPr>
              <a:t>, </a:t>
            </a:r>
            <a:r>
              <a:rPr b="0" i="0" lang="en-US" sz="2400" u="none">
                <a:solidFill>
                  <a:schemeClr val="dk1"/>
                </a:solidFill>
                <a:latin typeface="Arial"/>
                <a:ea typeface="Arial"/>
                <a:cs typeface="Arial"/>
                <a:sym typeface="Arial"/>
              </a:rPr>
              <a:t>Δ</a:t>
            </a:r>
            <a:r>
              <a:rPr b="0" baseline="-25000" i="0" lang="en-US" sz="2600" u="none">
                <a:solidFill>
                  <a:schemeClr val="dk1"/>
                </a:solidFill>
                <a:latin typeface="Calibri"/>
                <a:ea typeface="Calibri"/>
                <a:cs typeface="Calibri"/>
                <a:sym typeface="Calibri"/>
              </a:rPr>
              <a:t>t</a:t>
            </a:r>
            <a:r>
              <a:rPr b="0" i="0" lang="en-US" sz="2400" u="none">
                <a:solidFill>
                  <a:schemeClr val="dk1"/>
                </a:solidFill>
                <a:latin typeface="Calibri"/>
                <a:ea typeface="Calibri"/>
                <a:cs typeface="Calibri"/>
                <a:sym typeface="Calibri"/>
              </a:rPr>
              <a:t> = 1, </a:t>
            </a:r>
            <a:r>
              <a:rPr b="0" i="0" lang="en-US" sz="2500" u="none">
                <a:solidFill>
                  <a:schemeClr val="dk1"/>
                </a:solidFill>
                <a:latin typeface="Calibri"/>
                <a:ea typeface="Calibri"/>
                <a:cs typeface="Calibri"/>
                <a:sym typeface="Calibri"/>
              </a:rPr>
              <a:t>and the velocity is constant</a:t>
            </a:r>
            <a:r>
              <a:rPr b="0" i="0" lang="en-US" sz="2400" u="none">
                <a:solidFill>
                  <a:schemeClr val="dk1"/>
                </a:solidFill>
                <a:latin typeface="Calibri"/>
                <a:ea typeface="Calibri"/>
                <a:cs typeface="Calibri"/>
                <a:sym typeface="Calibri"/>
              </a:rPr>
              <a:t>)</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9"/>
          <p:cNvSpPr txBox="1"/>
          <p:nvPr>
            <p:ph idx="1" type="body"/>
          </p:nvPr>
        </p:nvSpPr>
        <p:spPr>
          <a:xfrm>
            <a:off x="304800" y="1354137"/>
            <a:ext cx="8534400" cy="4595812"/>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9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We can observe the position of the particle, up to measurement noise, but not the velocity, and so the measurement equation is:</a:t>
            </a:r>
            <a:endParaRPr/>
          </a:p>
          <a:p>
            <a:pPr indent="-190500" lvl="0" marL="342900" marR="0" rtl="0" algn="just">
              <a:lnSpc>
                <a:spcPct val="9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just">
              <a:lnSpc>
                <a:spcPct val="9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just">
              <a:lnSpc>
                <a:spcPct val="9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just">
              <a:lnSpc>
                <a:spcPct val="9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principal simplifying assumptions of the Kalman filter are that the process is linear and that all of the distributions are Gaussian with constant covariance. Since the Convolution of Gaussians is also Gaussian, this means that we can put them together to form new Gaussians, and so the model stays well behaved. </a:t>
            </a:r>
            <a:endParaRPr/>
          </a:p>
        </p:txBody>
      </p:sp>
      <p:pic>
        <p:nvPicPr>
          <p:cNvPr id="545" name="Google Shape;545;p69"/>
          <p:cNvPicPr preferRelativeResize="0"/>
          <p:nvPr/>
        </p:nvPicPr>
        <p:blipFill rotWithShape="1">
          <a:blip r:embed="rId3">
            <a:alphaModFix/>
          </a:blip>
          <a:srcRect b="0" l="0" r="0" t="0"/>
          <a:stretch/>
        </p:blipFill>
        <p:spPr>
          <a:xfrm>
            <a:off x="1600200" y="228600"/>
            <a:ext cx="6477000" cy="762000"/>
          </a:xfrm>
          <a:prstGeom prst="rect">
            <a:avLst/>
          </a:prstGeom>
          <a:noFill/>
          <a:ln>
            <a:noFill/>
          </a:ln>
        </p:spPr>
      </p:pic>
      <p:pic>
        <p:nvPicPr>
          <p:cNvPr id="546" name="Google Shape;546;p69"/>
          <p:cNvPicPr preferRelativeResize="0"/>
          <p:nvPr/>
        </p:nvPicPr>
        <p:blipFill rotWithShape="1">
          <a:blip r:embed="rId4">
            <a:alphaModFix/>
          </a:blip>
          <a:srcRect b="0" l="0" r="0" t="0"/>
          <a:stretch/>
        </p:blipFill>
        <p:spPr>
          <a:xfrm>
            <a:off x="1600200" y="2530475"/>
            <a:ext cx="6067425" cy="89852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70"/>
          <p:cNvSpPr txBox="1"/>
          <p:nvPr>
            <p:ph idx="1" type="body"/>
          </p:nvPr>
        </p:nvSpPr>
        <p:spPr>
          <a:xfrm>
            <a:off x="228600" y="304800"/>
            <a:ext cx="8610600" cy="6248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400"/>
              <a:buFont typeface="Arial"/>
              <a:buNone/>
            </a:pPr>
            <a:r>
              <a:rPr i="0" lang="en-US" sz="2500" u="none">
                <a:solidFill>
                  <a:schemeClr val="dk1"/>
                </a:solidFill>
                <a:latin typeface="Times New Roman"/>
                <a:ea typeface="Times New Roman"/>
                <a:cs typeface="Times New Roman"/>
                <a:sym typeface="Times New Roman"/>
              </a:rPr>
              <a:t>THE PARTICLE FILTER</a:t>
            </a:r>
            <a:endParaRPr sz="2300">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i="0" lang="en-US" sz="2800" u="none">
                <a:solidFill>
                  <a:schemeClr val="dk1"/>
                </a:solidFill>
                <a:latin typeface="Times New Roman"/>
                <a:ea typeface="Times New Roman"/>
                <a:cs typeface="Times New Roman"/>
                <a:sym typeface="Times New Roman"/>
              </a:rPr>
              <a:t>As well as the linearity of the function, the Kalman filter also assumes that the distributions are Gaussian, so that they can be convolved and stay as Gaussians. </a:t>
            </a:r>
            <a:endParaRPr>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i="0" lang="en-US" sz="2800" u="none">
                <a:solidFill>
                  <a:schemeClr val="dk1"/>
                </a:solidFill>
                <a:latin typeface="Times New Roman"/>
                <a:ea typeface="Times New Roman"/>
                <a:cs typeface="Times New Roman"/>
                <a:sym typeface="Times New Roman"/>
              </a:rPr>
              <a:t>The particular sampling technique that we will use is the sampling importance - re-sampling algorithm, which forms the basis of the particle filter, or condensation method. </a:t>
            </a:r>
            <a:endParaRPr>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i="0" lang="en-US" sz="2800" u="none">
                <a:solidFill>
                  <a:schemeClr val="dk1"/>
                </a:solidFill>
                <a:latin typeface="Times New Roman"/>
                <a:ea typeface="Times New Roman"/>
                <a:cs typeface="Times New Roman"/>
                <a:sym typeface="Times New Roman"/>
              </a:rPr>
              <a:t>The idea is to use sampling to keep track of the state of the probability distribution. </a:t>
            </a:r>
            <a:endParaRPr>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i="0" lang="en-US" sz="2800" u="none">
                <a:solidFill>
                  <a:schemeClr val="dk1"/>
                </a:solidFill>
                <a:latin typeface="Times New Roman"/>
                <a:ea typeface="Times New Roman"/>
                <a:cs typeface="Times New Roman"/>
                <a:sym typeface="Times New Roman"/>
              </a:rPr>
              <a:t>This is known as sequential sampling, since we are using a set of samples for time </a:t>
            </a:r>
            <a:r>
              <a:rPr i="1" lang="en-US" sz="2800" u="none">
                <a:solidFill>
                  <a:schemeClr val="dk1"/>
                </a:solidFill>
                <a:latin typeface="Times New Roman"/>
                <a:ea typeface="Times New Roman"/>
                <a:cs typeface="Times New Roman"/>
                <a:sym typeface="Times New Roman"/>
              </a:rPr>
              <a:t>t to estimate the process at </a:t>
            </a:r>
            <a:r>
              <a:rPr i="0" lang="en-US" sz="2800" u="none">
                <a:solidFill>
                  <a:schemeClr val="dk1"/>
                </a:solidFill>
                <a:latin typeface="Times New Roman"/>
                <a:ea typeface="Times New Roman"/>
                <a:cs typeface="Times New Roman"/>
                <a:sym typeface="Times New Roman"/>
              </a:rPr>
              <a:t>time </a:t>
            </a:r>
            <a:r>
              <a:rPr i="1" lang="en-US" sz="2800" u="none">
                <a:solidFill>
                  <a:schemeClr val="dk1"/>
                </a:solidFill>
                <a:latin typeface="Times New Roman"/>
                <a:ea typeface="Times New Roman"/>
                <a:cs typeface="Times New Roman"/>
                <a:sym typeface="Times New Roman"/>
              </a:rPr>
              <a:t>t+1, and then re-sampling from there.</a:t>
            </a:r>
            <a:endParaRPr>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1"/>
          <p:cNvSpPr txBox="1"/>
          <p:nvPr>
            <p:ph idx="1" type="body"/>
          </p:nvPr>
        </p:nvSpPr>
        <p:spPr>
          <a:xfrm>
            <a:off x="179387" y="592137"/>
            <a:ext cx="8686800" cy="20447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In tracking, prior history can be useful, which means that the Markov assumption is a bad one. </a:t>
            </a:r>
            <a:endParaRPr/>
          </a:p>
          <a:p>
            <a:pPr indent="-342900" lvl="0" marL="342900"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A schematic of one iteration of the particle filter is shown in Figure 16.16.</a:t>
            </a:r>
            <a:endParaRPr/>
          </a:p>
        </p:txBody>
      </p:sp>
      <p:pic>
        <p:nvPicPr>
          <p:cNvPr id="557" name="Google Shape;557;p71"/>
          <p:cNvPicPr preferRelativeResize="0"/>
          <p:nvPr/>
        </p:nvPicPr>
        <p:blipFill rotWithShape="1">
          <a:blip r:embed="rId3">
            <a:alphaModFix/>
          </a:blip>
          <a:srcRect b="0" l="0" r="0" t="0"/>
          <a:stretch/>
        </p:blipFill>
        <p:spPr>
          <a:xfrm>
            <a:off x="3505200" y="2205037"/>
            <a:ext cx="5638800" cy="4652962"/>
          </a:xfrm>
          <a:prstGeom prst="rect">
            <a:avLst/>
          </a:prstGeom>
          <a:noFill/>
          <a:ln>
            <a:noFill/>
          </a:ln>
        </p:spPr>
      </p:pic>
      <p:sp>
        <p:nvSpPr>
          <p:cNvPr id="558" name="Google Shape;558;p71"/>
          <p:cNvSpPr txBox="1"/>
          <p:nvPr/>
        </p:nvSpPr>
        <p:spPr>
          <a:xfrm>
            <a:off x="0" y="3886200"/>
            <a:ext cx="3429000" cy="25860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FIGURE 16.16 A schematic of one iteration of a particle filter. A set of random particle positioned have importance weights computed according to the distribution, and then new particles are created and modified based on these weights, and the estimated distribution is updated.</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p72"/>
          <p:cNvPicPr preferRelativeResize="0"/>
          <p:nvPr/>
        </p:nvPicPr>
        <p:blipFill rotWithShape="1">
          <a:blip r:embed="rId3">
            <a:alphaModFix/>
          </a:blip>
          <a:srcRect b="0" l="0" r="0" t="0"/>
          <a:stretch/>
        </p:blipFill>
        <p:spPr>
          <a:xfrm>
            <a:off x="762000" y="228600"/>
            <a:ext cx="7620000" cy="5143500"/>
          </a:xfrm>
          <a:prstGeom prst="rect">
            <a:avLst/>
          </a:prstGeom>
          <a:noFill/>
          <a:ln>
            <a:noFill/>
          </a:ln>
        </p:spPr>
      </p:pic>
      <p:sp>
        <p:nvSpPr>
          <p:cNvPr id="564" name="Google Shape;564;p72"/>
          <p:cNvSpPr txBox="1"/>
          <p:nvPr/>
        </p:nvSpPr>
        <p:spPr>
          <a:xfrm>
            <a:off x="0" y="5505450"/>
            <a:ext cx="8991600" cy="1200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FIGURE 16.18 A particle filter tracking an object moving at a constant speed upwards and to the right in 2D. The crosses show the position of the object, and the circles show 15 particles at each iteration, starting at black (</a:t>
            </a:r>
            <a:r>
              <a:rPr b="0" i="1" lang="en-US" sz="1800" u="none">
                <a:solidFill>
                  <a:schemeClr val="dk1"/>
                </a:solidFill>
                <a:latin typeface="Calibri"/>
                <a:ea typeface="Calibri"/>
                <a:cs typeface="Calibri"/>
                <a:sym typeface="Calibri"/>
              </a:rPr>
              <a:t>t = 0) and fading to white (t = 10). It can </a:t>
            </a:r>
            <a:r>
              <a:rPr b="0" i="0" lang="en-US" sz="1800" u="none">
                <a:solidFill>
                  <a:schemeClr val="dk1"/>
                </a:solidFill>
                <a:latin typeface="Calibri"/>
                <a:ea typeface="Calibri"/>
                <a:cs typeface="Calibri"/>
                <a:sym typeface="Calibri"/>
              </a:rPr>
              <a:t>be seen that the particles track the object successfully.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g366a9e96363_0_0"/>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CASE STUDY on CNN</a:t>
            </a:r>
            <a:endParaRPr/>
          </a:p>
        </p:txBody>
      </p:sp>
      <p:sp>
        <p:nvSpPr>
          <p:cNvPr id="570" name="Google Shape;570;g366a9e96363_0_0"/>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571" name="Google Shape;571;g366a9e96363_0_0"/>
          <p:cNvPicPr preferRelativeResize="0"/>
          <p:nvPr/>
        </p:nvPicPr>
        <p:blipFill>
          <a:blip r:embed="rId3">
            <a:alphaModFix/>
          </a:blip>
          <a:stretch>
            <a:fillRect/>
          </a:stretch>
        </p:blipFill>
        <p:spPr>
          <a:xfrm>
            <a:off x="0" y="1367228"/>
            <a:ext cx="9143998" cy="5490774"/>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g366a9e96363_0_6"/>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577" name="Google Shape;577;g366a9e96363_0_6"/>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578" name="Google Shape;578;g366a9e96363_0_6"/>
          <p:cNvPicPr preferRelativeResize="0"/>
          <p:nvPr/>
        </p:nvPicPr>
        <p:blipFill>
          <a:blip r:embed="rId3">
            <a:alphaModFix/>
          </a:blip>
          <a:stretch>
            <a:fillRect/>
          </a:stretch>
        </p:blipFill>
        <p:spPr>
          <a:xfrm>
            <a:off x="0" y="63800"/>
            <a:ext cx="9144002" cy="629252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6590afc234_0_0"/>
          <p:cNvSpPr txBox="1"/>
          <p:nvPr>
            <p:ph idx="1" type="body"/>
          </p:nvPr>
        </p:nvSpPr>
        <p:spPr>
          <a:xfrm>
            <a:off x="457200" y="281275"/>
            <a:ext cx="8229600" cy="58449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Char char="•"/>
            </a:pPr>
            <a:r>
              <a:rPr lang="en-US"/>
              <a:t>Suppose we have hand written digit 9 to be understood by the computer</a:t>
            </a:r>
            <a:endParaRPr/>
          </a:p>
          <a:p>
            <a:pPr indent="0" lvl="0" marL="457200" rtl="0" algn="l">
              <a:spcBef>
                <a:spcPts val="360"/>
              </a:spcBef>
              <a:spcAft>
                <a:spcPts val="0"/>
              </a:spcAft>
              <a:buNone/>
            </a:pPr>
            <a:r>
              <a:rPr lang="en-US"/>
              <a:t>   ex: </a:t>
            </a:r>
            <a:endParaRPr/>
          </a:p>
          <a:p>
            <a:pPr indent="-342900" lvl="0" marL="457200" rtl="0" algn="l">
              <a:spcBef>
                <a:spcPts val="360"/>
              </a:spcBef>
              <a:spcAft>
                <a:spcPts val="0"/>
              </a:spcAft>
              <a:buSzPts val="1800"/>
              <a:buChar char="•"/>
            </a:pPr>
            <a:r>
              <a:rPr lang="en-US"/>
              <a:t>Computer looks it as grid of numbers (-1 and 1). In reality it uses RGB (0-255)</a:t>
            </a:r>
            <a:endParaRPr/>
          </a:p>
          <a:p>
            <a:pPr indent="-342900" lvl="0" marL="457200" rtl="0" algn="l">
              <a:spcBef>
                <a:spcPts val="0"/>
              </a:spcBef>
              <a:spcAft>
                <a:spcPts val="0"/>
              </a:spcAft>
              <a:buSzPts val="1800"/>
              <a:buChar char="•"/>
            </a:pPr>
            <a:r>
              <a:rPr lang="en-US"/>
              <a:t>Here we have issue is it is fully hard coded, if you have little shift in digit 9</a:t>
            </a:r>
            <a:endParaRPr/>
          </a:p>
        </p:txBody>
      </p:sp>
      <p:pic>
        <p:nvPicPr>
          <p:cNvPr id="584" name="Google Shape;584;g36590afc234_0_0"/>
          <p:cNvPicPr preferRelativeResize="0"/>
          <p:nvPr/>
        </p:nvPicPr>
        <p:blipFill>
          <a:blip r:embed="rId3">
            <a:alphaModFix/>
          </a:blip>
          <a:stretch>
            <a:fillRect/>
          </a:stretch>
        </p:blipFill>
        <p:spPr>
          <a:xfrm>
            <a:off x="1962200" y="1278925"/>
            <a:ext cx="1457325" cy="858225"/>
          </a:xfrm>
          <a:prstGeom prst="rect">
            <a:avLst/>
          </a:prstGeom>
          <a:noFill/>
          <a:ln>
            <a:noFill/>
          </a:ln>
        </p:spPr>
      </p:pic>
      <p:pic>
        <p:nvPicPr>
          <p:cNvPr id="585" name="Google Shape;585;g36590afc234_0_0"/>
          <p:cNvPicPr preferRelativeResize="0"/>
          <p:nvPr/>
        </p:nvPicPr>
        <p:blipFill>
          <a:blip r:embed="rId4">
            <a:alphaModFix/>
          </a:blip>
          <a:stretch>
            <a:fillRect/>
          </a:stretch>
        </p:blipFill>
        <p:spPr>
          <a:xfrm>
            <a:off x="904925" y="3819025"/>
            <a:ext cx="2896700" cy="2711300"/>
          </a:xfrm>
          <a:prstGeom prst="rect">
            <a:avLst/>
          </a:prstGeom>
          <a:noFill/>
          <a:ln>
            <a:noFill/>
          </a:ln>
        </p:spPr>
      </p:pic>
      <p:pic>
        <p:nvPicPr>
          <p:cNvPr id="586" name="Google Shape;586;g36590afc234_0_0"/>
          <p:cNvPicPr preferRelativeResize="0"/>
          <p:nvPr/>
        </p:nvPicPr>
        <p:blipFill>
          <a:blip r:embed="rId5">
            <a:alphaModFix/>
          </a:blip>
          <a:stretch>
            <a:fillRect/>
          </a:stretch>
        </p:blipFill>
        <p:spPr>
          <a:xfrm>
            <a:off x="4306438" y="4310988"/>
            <a:ext cx="1952625" cy="221932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g36590afc234_0_10"/>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592" name="Google Shape;592;g36590afc234_0_10"/>
          <p:cNvPicPr preferRelativeResize="0"/>
          <p:nvPr/>
        </p:nvPicPr>
        <p:blipFill>
          <a:blip r:embed="rId3">
            <a:alphaModFix/>
          </a:blip>
          <a:stretch>
            <a:fillRect/>
          </a:stretch>
        </p:blipFill>
        <p:spPr>
          <a:xfrm>
            <a:off x="0" y="0"/>
            <a:ext cx="9064751" cy="2314575"/>
          </a:xfrm>
          <a:prstGeom prst="rect">
            <a:avLst/>
          </a:prstGeom>
          <a:noFill/>
          <a:ln>
            <a:noFill/>
          </a:ln>
        </p:spPr>
      </p:pic>
      <p:pic>
        <p:nvPicPr>
          <p:cNvPr id="593" name="Google Shape;593;g36590afc234_0_10"/>
          <p:cNvPicPr preferRelativeResize="0"/>
          <p:nvPr/>
        </p:nvPicPr>
        <p:blipFill>
          <a:blip r:embed="rId4">
            <a:alphaModFix/>
          </a:blip>
          <a:stretch>
            <a:fillRect/>
          </a:stretch>
        </p:blipFill>
        <p:spPr>
          <a:xfrm>
            <a:off x="104400" y="3304225"/>
            <a:ext cx="8960351" cy="207645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36590afc234_0_18"/>
          <p:cNvSpPr txBox="1"/>
          <p:nvPr>
            <p:ph idx="1" type="body"/>
          </p:nvPr>
        </p:nvSpPr>
        <p:spPr>
          <a:xfrm>
            <a:off x="133400" y="78300"/>
            <a:ext cx="8553300" cy="60480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Char char="•"/>
            </a:pPr>
            <a:r>
              <a:rPr lang="en-US"/>
              <a:t>To handle variety in digits, we can use simple </a:t>
            </a:r>
            <a:r>
              <a:rPr lang="en-US"/>
              <a:t>artificial</a:t>
            </a:r>
            <a:r>
              <a:rPr lang="en-US"/>
              <a:t> neural networks(ANN)</a:t>
            </a:r>
            <a:endParaRPr/>
          </a:p>
          <a:p>
            <a:pPr indent="-342900" lvl="0" marL="457200" rtl="0" algn="l">
              <a:spcBef>
                <a:spcPts val="0"/>
              </a:spcBef>
              <a:spcAft>
                <a:spcPts val="0"/>
              </a:spcAft>
              <a:buSzPts val="1800"/>
              <a:buChar char="•"/>
            </a:pPr>
            <a:r>
              <a:t/>
            </a:r>
            <a:endParaRPr/>
          </a:p>
          <a:p>
            <a:pPr indent="0" lvl="0" marL="457200" rtl="0" algn="l">
              <a:spcBef>
                <a:spcPts val="360"/>
              </a:spcBef>
              <a:spcAft>
                <a:spcPts val="0"/>
              </a:spcAft>
              <a:buNone/>
            </a:pPr>
            <a:r>
              <a:t/>
            </a:r>
            <a:endParaRPr/>
          </a:p>
        </p:txBody>
      </p:sp>
      <p:pic>
        <p:nvPicPr>
          <p:cNvPr id="599" name="Google Shape;599;g36590afc234_0_18"/>
          <p:cNvPicPr preferRelativeResize="0"/>
          <p:nvPr/>
        </p:nvPicPr>
        <p:blipFill>
          <a:blip r:embed="rId3">
            <a:alphaModFix/>
          </a:blip>
          <a:stretch>
            <a:fillRect/>
          </a:stretch>
        </p:blipFill>
        <p:spPr>
          <a:xfrm>
            <a:off x="419100" y="1154013"/>
            <a:ext cx="8305800" cy="2143125"/>
          </a:xfrm>
          <a:prstGeom prst="rect">
            <a:avLst/>
          </a:prstGeom>
          <a:noFill/>
          <a:ln>
            <a:noFill/>
          </a:ln>
        </p:spPr>
      </p:pic>
      <p:pic>
        <p:nvPicPr>
          <p:cNvPr id="600" name="Google Shape;600;g36590afc234_0_18"/>
          <p:cNvPicPr preferRelativeResize="0"/>
          <p:nvPr/>
        </p:nvPicPr>
        <p:blipFill>
          <a:blip r:embed="rId4">
            <a:alphaModFix/>
          </a:blip>
          <a:stretch>
            <a:fillRect/>
          </a:stretch>
        </p:blipFill>
        <p:spPr>
          <a:xfrm>
            <a:off x="133400" y="4036500"/>
            <a:ext cx="9143999" cy="3077375"/>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6590afc234_0_26"/>
          <p:cNvSpPr txBox="1"/>
          <p:nvPr>
            <p:ph idx="1" type="body"/>
          </p:nvPr>
        </p:nvSpPr>
        <p:spPr>
          <a:xfrm>
            <a:off x="234875" y="223275"/>
            <a:ext cx="8451900" cy="59031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AutoNum type="arabicPeriod"/>
            </a:pPr>
            <a:r>
              <a:rPr lang="en-US"/>
              <a:t>The disadvantage of using ANN for image classification is</a:t>
            </a:r>
            <a:endParaRPr/>
          </a:p>
          <a:p>
            <a:pPr indent="-342900" lvl="1" marL="914400" rtl="0" algn="l">
              <a:spcBef>
                <a:spcPts val="0"/>
              </a:spcBef>
              <a:spcAft>
                <a:spcPts val="0"/>
              </a:spcAft>
              <a:buSzPts val="1800"/>
              <a:buAutoNum type="arabicPeriod"/>
            </a:pPr>
            <a:r>
              <a:rPr lang="en-US"/>
              <a:t>Too much computation</a:t>
            </a:r>
            <a:endParaRPr/>
          </a:p>
          <a:p>
            <a:pPr indent="-342900" lvl="1" marL="914400" rtl="0" algn="l">
              <a:spcBef>
                <a:spcPts val="0"/>
              </a:spcBef>
              <a:spcAft>
                <a:spcPts val="0"/>
              </a:spcAft>
              <a:buSzPts val="1800"/>
              <a:buAutoNum type="arabicPeriod"/>
            </a:pPr>
            <a:r>
              <a:rPr lang="en-US"/>
              <a:t>Sensitive to location of an object in an image</a:t>
            </a:r>
            <a:endParaRPr/>
          </a:p>
          <a:p>
            <a:pPr indent="0" lvl="0" marL="0" rtl="0" algn="l">
              <a:spcBef>
                <a:spcPts val="360"/>
              </a:spcBef>
              <a:spcAft>
                <a:spcPts val="0"/>
              </a:spcAft>
              <a:buNone/>
            </a:pPr>
            <a:r>
              <a:t/>
            </a:r>
            <a:endParaRPr/>
          </a:p>
          <a:p>
            <a:pPr indent="-342900" lvl="0" marL="457200" rtl="0" algn="l">
              <a:spcBef>
                <a:spcPts val="360"/>
              </a:spcBef>
              <a:spcAft>
                <a:spcPts val="0"/>
              </a:spcAft>
              <a:buSzPts val="1800"/>
              <a:buChar char="•"/>
            </a:pPr>
            <a:r>
              <a:rPr lang="en-US"/>
              <a:t>Suppose if you see any image like ex :koala, how human can recognize by seeing its eyes, nose ,ear etc…</a:t>
            </a:r>
            <a:endParaRPr/>
          </a:p>
          <a:p>
            <a:pPr indent="-342900" lvl="0" marL="457200" rtl="0" algn="l">
              <a:spcBef>
                <a:spcPts val="0"/>
              </a:spcBef>
              <a:spcAft>
                <a:spcPts val="0"/>
              </a:spcAft>
              <a:buSzPts val="1800"/>
              <a:buChar char="•"/>
            </a:pPr>
            <a:r>
              <a:rPr lang="en-US"/>
              <a:t>In our brain each neuron collects information about each part of the koala and decide whether it is koala or not</a:t>
            </a:r>
            <a:endParaRPr/>
          </a:p>
          <a:p>
            <a:pPr indent="0" lvl="0" marL="0" rtl="0" algn="l">
              <a:spcBef>
                <a:spcPts val="360"/>
              </a:spcBef>
              <a:spcAft>
                <a:spcPts val="0"/>
              </a:spcAft>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g36590afc234_0_31"/>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611" name="Google Shape;611;g36590afc234_0_31"/>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612" name="Google Shape;612;g36590afc234_0_31"/>
          <p:cNvPicPr preferRelativeResize="0"/>
          <p:nvPr/>
        </p:nvPicPr>
        <p:blipFill>
          <a:blip r:embed="rId3">
            <a:alphaModFix/>
          </a:blip>
          <a:stretch>
            <a:fillRect/>
          </a:stretch>
        </p:blipFill>
        <p:spPr>
          <a:xfrm>
            <a:off x="0" y="0"/>
            <a:ext cx="9144000" cy="6660824"/>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6590afc234_0_37"/>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618" name="Google Shape;618;g36590afc234_0_37"/>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619" name="Google Shape;619;g36590afc234_0_37"/>
          <p:cNvPicPr preferRelativeResize="0"/>
          <p:nvPr/>
        </p:nvPicPr>
        <p:blipFill>
          <a:blip r:embed="rId3">
            <a:alphaModFix/>
          </a:blip>
          <a:stretch>
            <a:fillRect/>
          </a:stretch>
        </p:blipFill>
        <p:spPr>
          <a:xfrm>
            <a:off x="0" y="0"/>
            <a:ext cx="9144000" cy="61263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g36590afc234_0_43"/>
          <p:cNvSpPr txBox="1"/>
          <p:nvPr>
            <p:ph idx="1" type="body"/>
          </p:nvPr>
        </p:nvSpPr>
        <p:spPr>
          <a:xfrm>
            <a:off x="249375" y="223275"/>
            <a:ext cx="8437500" cy="59031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Char char="•"/>
            </a:pPr>
            <a:r>
              <a:rPr lang="en-US"/>
              <a:t>How could a computer could recognize  these small features (eyes, nose etc…).  with the help of  filters</a:t>
            </a:r>
            <a:endParaRPr/>
          </a:p>
        </p:txBody>
      </p:sp>
      <p:pic>
        <p:nvPicPr>
          <p:cNvPr id="625" name="Google Shape;625;g36590afc234_0_43"/>
          <p:cNvPicPr preferRelativeResize="0"/>
          <p:nvPr/>
        </p:nvPicPr>
        <p:blipFill>
          <a:blip r:embed="rId3">
            <a:alphaModFix/>
          </a:blip>
          <a:stretch>
            <a:fillRect/>
          </a:stretch>
        </p:blipFill>
        <p:spPr>
          <a:xfrm>
            <a:off x="152400" y="1850075"/>
            <a:ext cx="8868849" cy="486872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36590afc234_0_50"/>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631" name="Google Shape;631;g36590afc234_0_50"/>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632" name="Google Shape;632;g36590afc234_0_50"/>
          <p:cNvPicPr preferRelativeResize="0"/>
          <p:nvPr/>
        </p:nvPicPr>
        <p:blipFill>
          <a:blip r:embed="rId3">
            <a:alphaModFix/>
          </a:blip>
          <a:stretch>
            <a:fillRect/>
          </a:stretch>
        </p:blipFill>
        <p:spPr>
          <a:xfrm>
            <a:off x="0" y="0"/>
            <a:ext cx="9144000" cy="600075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6590afc234_0_56"/>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638" name="Google Shape;638;g36590afc234_0_56"/>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639" name="Google Shape;639;g36590afc234_0_56"/>
          <p:cNvPicPr preferRelativeResize="0"/>
          <p:nvPr/>
        </p:nvPicPr>
        <p:blipFill>
          <a:blip r:embed="rId3">
            <a:alphaModFix/>
          </a:blip>
          <a:stretch>
            <a:fillRect/>
          </a:stretch>
        </p:blipFill>
        <p:spPr>
          <a:xfrm>
            <a:off x="0" y="0"/>
            <a:ext cx="9144000" cy="621135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g36590afc234_0_62"/>
          <p:cNvSpPr txBox="1"/>
          <p:nvPr>
            <p:ph type="title"/>
          </p:nvPr>
        </p:nvSpPr>
        <p:spPr>
          <a:xfrm>
            <a:off x="94725" y="92805"/>
            <a:ext cx="8229600" cy="628800"/>
          </a:xfrm>
          <a:prstGeom prst="rect">
            <a:avLst/>
          </a:prstGeom>
        </p:spPr>
        <p:txBody>
          <a:bodyPr anchorCtr="0" anchor="ctr" bIns="45700" lIns="91425" spcFirstLastPara="1" rIns="91425" wrap="square" tIns="45700">
            <a:noAutofit/>
          </a:bodyPr>
          <a:lstStyle/>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Filter are here nothing but feature detectors</a:t>
            </a:r>
            <a:endParaRPr sz="2000">
              <a:latin typeface="Times New Roman"/>
              <a:ea typeface="Times New Roman"/>
              <a:cs typeface="Times New Roman"/>
              <a:sym typeface="Times New Roman"/>
            </a:endParaRPr>
          </a:p>
        </p:txBody>
      </p:sp>
      <p:sp>
        <p:nvSpPr>
          <p:cNvPr id="645" name="Google Shape;645;g36590afc234_0_62"/>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646" name="Google Shape;646;g36590afc234_0_62"/>
          <p:cNvPicPr preferRelativeResize="0"/>
          <p:nvPr/>
        </p:nvPicPr>
        <p:blipFill>
          <a:blip r:embed="rId3">
            <a:alphaModFix/>
          </a:blip>
          <a:stretch>
            <a:fillRect/>
          </a:stretch>
        </p:blipFill>
        <p:spPr>
          <a:xfrm>
            <a:off x="0" y="857251"/>
            <a:ext cx="9144000" cy="514350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g36590afc234_0_68"/>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652" name="Google Shape;652;g36590afc234_0_68"/>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653" name="Google Shape;653;g36590afc234_0_68"/>
          <p:cNvPicPr preferRelativeResize="0"/>
          <p:nvPr/>
        </p:nvPicPr>
        <p:blipFill>
          <a:blip r:embed="rId3">
            <a:alphaModFix/>
          </a:blip>
          <a:stretch>
            <a:fillRect/>
          </a:stretch>
        </p:blipFill>
        <p:spPr>
          <a:xfrm>
            <a:off x="58000" y="0"/>
            <a:ext cx="9144000" cy="3429000"/>
          </a:xfrm>
          <a:prstGeom prst="rect">
            <a:avLst/>
          </a:prstGeom>
          <a:noFill/>
          <a:ln>
            <a:noFill/>
          </a:ln>
        </p:spPr>
      </p:pic>
      <p:pic>
        <p:nvPicPr>
          <p:cNvPr id="654" name="Google Shape;654;g36590afc234_0_68"/>
          <p:cNvPicPr preferRelativeResize="0"/>
          <p:nvPr/>
        </p:nvPicPr>
        <p:blipFill>
          <a:blip r:embed="rId4">
            <a:alphaModFix/>
          </a:blip>
          <a:stretch>
            <a:fillRect/>
          </a:stretch>
        </p:blipFill>
        <p:spPr>
          <a:xfrm>
            <a:off x="0" y="3665725"/>
            <a:ext cx="9144001" cy="3123075"/>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g36590afc234_0_75"/>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660" name="Google Shape;660;g36590afc234_0_75"/>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661" name="Google Shape;661;g36590afc234_0_75"/>
          <p:cNvPicPr preferRelativeResize="0"/>
          <p:nvPr/>
        </p:nvPicPr>
        <p:blipFill>
          <a:blip r:embed="rId3">
            <a:alphaModFix/>
          </a:blip>
          <a:stretch>
            <a:fillRect/>
          </a:stretch>
        </p:blipFill>
        <p:spPr>
          <a:xfrm>
            <a:off x="0" y="0"/>
            <a:ext cx="9144000" cy="6370826"/>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6590afc234_0_81"/>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667" name="Google Shape;667;g36590afc234_0_81"/>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668" name="Google Shape;668;g36590afc234_0_81"/>
          <p:cNvPicPr preferRelativeResize="0"/>
          <p:nvPr/>
        </p:nvPicPr>
        <p:blipFill>
          <a:blip r:embed="rId3">
            <a:alphaModFix/>
          </a:blip>
          <a:stretch>
            <a:fillRect/>
          </a:stretch>
        </p:blipFill>
        <p:spPr>
          <a:xfrm>
            <a:off x="0" y="400175"/>
            <a:ext cx="9144000" cy="572612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6590afc234_0_87"/>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355600" lvl="0" marL="457200" rtl="0" algn="l">
              <a:spcBef>
                <a:spcPts val="0"/>
              </a:spcBef>
              <a:spcAft>
                <a:spcPts val="0"/>
              </a:spcAft>
              <a:buSzPts val="2000"/>
              <a:buChar char="●"/>
            </a:pPr>
            <a:r>
              <a:rPr lang="en-US" sz="2000"/>
              <a:t>ReLu to get nonlinearity in the model</a:t>
            </a:r>
            <a:endParaRPr sz="2000"/>
          </a:p>
          <a:p>
            <a:pPr indent="-355600" lvl="0" marL="457200" rtl="0" algn="l">
              <a:spcBef>
                <a:spcPts val="0"/>
              </a:spcBef>
              <a:spcAft>
                <a:spcPts val="0"/>
              </a:spcAft>
              <a:buSzPts val="2000"/>
              <a:buChar char="●"/>
            </a:pPr>
            <a:r>
              <a:rPr lang="en-US" sz="2000"/>
              <a:t>It will take feature map, </a:t>
            </a:r>
            <a:r>
              <a:rPr lang="en-US" sz="2000"/>
              <a:t>wherever</a:t>
            </a:r>
            <a:r>
              <a:rPr lang="en-US" sz="2000"/>
              <a:t> negative values are theres it will replace with 0, if more than zero keep it as it is,</a:t>
            </a:r>
            <a:endParaRPr sz="2000"/>
          </a:p>
        </p:txBody>
      </p:sp>
      <p:sp>
        <p:nvSpPr>
          <p:cNvPr id="674" name="Google Shape;674;g36590afc234_0_87"/>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675" name="Google Shape;675;g36590afc234_0_87"/>
          <p:cNvPicPr preferRelativeResize="0"/>
          <p:nvPr/>
        </p:nvPicPr>
        <p:blipFill>
          <a:blip r:embed="rId3">
            <a:alphaModFix/>
          </a:blip>
          <a:stretch>
            <a:fillRect/>
          </a:stretch>
        </p:blipFill>
        <p:spPr>
          <a:xfrm>
            <a:off x="0" y="1600199"/>
            <a:ext cx="9144001" cy="452610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g36590afc234_0_93"/>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355600" lvl="0" marL="457200" rtl="0" algn="l">
              <a:spcBef>
                <a:spcPts val="0"/>
              </a:spcBef>
              <a:spcAft>
                <a:spcPts val="0"/>
              </a:spcAft>
              <a:buSzPts val="2000"/>
              <a:buChar char="●"/>
            </a:pPr>
            <a:r>
              <a:rPr lang="en-US" sz="2000"/>
              <a:t>In below the size of the image is same, so to reduce we use pooling</a:t>
            </a:r>
            <a:endParaRPr sz="2000"/>
          </a:p>
        </p:txBody>
      </p:sp>
      <p:sp>
        <p:nvSpPr>
          <p:cNvPr id="681" name="Google Shape;681;g36590afc234_0_93"/>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682" name="Google Shape;682;g36590afc234_0_93"/>
          <p:cNvPicPr preferRelativeResize="0"/>
          <p:nvPr/>
        </p:nvPicPr>
        <p:blipFill>
          <a:blip r:embed="rId3">
            <a:alphaModFix/>
          </a:blip>
          <a:stretch>
            <a:fillRect/>
          </a:stretch>
        </p:blipFill>
        <p:spPr>
          <a:xfrm>
            <a:off x="0" y="1180225"/>
            <a:ext cx="9144000" cy="5677776"/>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g36590afc234_0_99"/>
          <p:cNvSpPr txBox="1"/>
          <p:nvPr>
            <p:ph type="title"/>
          </p:nvPr>
        </p:nvSpPr>
        <p:spPr>
          <a:xfrm>
            <a:off x="457200" y="274632"/>
            <a:ext cx="8229600" cy="441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Max pooling</a:t>
            </a:r>
            <a:endParaRPr/>
          </a:p>
        </p:txBody>
      </p:sp>
      <p:sp>
        <p:nvSpPr>
          <p:cNvPr id="688" name="Google Shape;688;g36590afc234_0_99"/>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689" name="Google Shape;689;g36590afc234_0_99"/>
          <p:cNvPicPr preferRelativeResize="0"/>
          <p:nvPr/>
        </p:nvPicPr>
        <p:blipFill>
          <a:blip r:embed="rId3">
            <a:alphaModFix/>
          </a:blip>
          <a:stretch>
            <a:fillRect/>
          </a:stretch>
        </p:blipFill>
        <p:spPr>
          <a:xfrm>
            <a:off x="0" y="933725"/>
            <a:ext cx="4236600" cy="5060151"/>
          </a:xfrm>
          <a:prstGeom prst="rect">
            <a:avLst/>
          </a:prstGeom>
          <a:noFill/>
          <a:ln>
            <a:noFill/>
          </a:ln>
        </p:spPr>
      </p:pic>
      <p:pic>
        <p:nvPicPr>
          <p:cNvPr id="690" name="Google Shape;690;g36590afc234_0_99"/>
          <p:cNvPicPr preferRelativeResize="0"/>
          <p:nvPr/>
        </p:nvPicPr>
        <p:blipFill>
          <a:blip r:embed="rId4">
            <a:alphaModFix/>
          </a:blip>
          <a:stretch>
            <a:fillRect/>
          </a:stretch>
        </p:blipFill>
        <p:spPr>
          <a:xfrm>
            <a:off x="4352575" y="803250"/>
            <a:ext cx="4943827" cy="5349899"/>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g36590afc234_0_106"/>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696" name="Google Shape;696;g36590afc234_0_106"/>
          <p:cNvSpPr txBox="1"/>
          <p:nvPr>
            <p:ph idx="1" type="body"/>
          </p:nvPr>
        </p:nvSpPr>
        <p:spPr>
          <a:xfrm>
            <a:off x="457200" y="274625"/>
            <a:ext cx="8229600" cy="5851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697" name="Google Shape;697;g36590afc234_0_106"/>
          <p:cNvPicPr preferRelativeResize="0"/>
          <p:nvPr/>
        </p:nvPicPr>
        <p:blipFill>
          <a:blip r:embed="rId3">
            <a:alphaModFix/>
          </a:blip>
          <a:stretch>
            <a:fillRect/>
          </a:stretch>
        </p:blipFill>
        <p:spPr>
          <a:xfrm>
            <a:off x="152400" y="2"/>
            <a:ext cx="9143998" cy="6126425"/>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g36590afc234_0_113"/>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703" name="Google Shape;703;g36590afc234_0_113"/>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704" name="Google Shape;704;g36590afc234_0_113"/>
          <p:cNvPicPr preferRelativeResize="0"/>
          <p:nvPr/>
        </p:nvPicPr>
        <p:blipFill>
          <a:blip r:embed="rId3">
            <a:alphaModFix/>
          </a:blip>
          <a:stretch>
            <a:fillRect/>
          </a:stretch>
        </p:blipFill>
        <p:spPr>
          <a:xfrm>
            <a:off x="0" y="-2"/>
            <a:ext cx="9143999" cy="612630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g36590afc234_0_119"/>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710" name="Google Shape;710;g36590afc234_0_119"/>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711" name="Google Shape;711;g36590afc234_0_119"/>
          <p:cNvPicPr preferRelativeResize="0"/>
          <p:nvPr/>
        </p:nvPicPr>
        <p:blipFill>
          <a:blip r:embed="rId3">
            <a:alphaModFix/>
          </a:blip>
          <a:stretch>
            <a:fillRect/>
          </a:stretch>
        </p:blipFill>
        <p:spPr>
          <a:xfrm>
            <a:off x="0" y="0"/>
            <a:ext cx="9144000" cy="6298349"/>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73"/>
          <p:cNvSpPr txBox="1"/>
          <p:nvPr>
            <p:ph type="title"/>
          </p:nvPr>
        </p:nvSpPr>
        <p:spPr>
          <a:xfrm>
            <a:off x="457200" y="25908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thatiparthi rajini kanth</dc:creator>
</cp:coreProperties>
</file>