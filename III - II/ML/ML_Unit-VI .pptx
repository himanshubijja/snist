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lUn3w3E3ebxcCzN5LLltS/Agl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8d73e45e4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e8d73e45e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8d73e45e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8d73e45e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8d73e45e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e8d73e45e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scribbr.com/methodology/inductive-deductive-reaso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hyperlink" Target="https://www.geeksforgeeks.org/inductive-learning-algorith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solidFill>
                  <a:srgbClr val="FF0000"/>
                </a:solidFill>
              </a:rPr>
              <a:t>UNIT- VI</a:t>
            </a:r>
            <a:endParaRPr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b="1" lang="en-US" sz="2960">
                <a:solidFill>
                  <a:srgbClr val="FF0000"/>
                </a:solidFill>
                <a:latin typeface="Times New Roman"/>
                <a:ea typeface="Times New Roman"/>
                <a:cs typeface="Times New Roman"/>
                <a:sym typeface="Times New Roman"/>
              </a:rPr>
              <a:t>UNIT – VI   ANALYTICAL LEARNING</a:t>
            </a:r>
            <a:endParaRPr sz="2960">
              <a:solidFill>
                <a:srgbClr val="FF0000"/>
              </a:solidFill>
              <a:latin typeface="Times New Roman"/>
              <a:ea typeface="Times New Roman"/>
              <a:cs typeface="Times New Roman"/>
              <a:sym typeface="Times New Roman"/>
            </a:endParaRPr>
          </a:p>
        </p:txBody>
      </p:sp>
      <p:sp>
        <p:nvSpPr>
          <p:cNvPr id="90" name="Google Shape;90;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lang="en-US">
                <a:latin typeface="Times New Roman"/>
                <a:ea typeface="Times New Roman"/>
                <a:cs typeface="Times New Roman"/>
                <a:sym typeface="Times New Roman"/>
              </a:rPr>
              <a:t>Learning with perfect domain theory (Book-2)</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 Explanation based Learning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 Inductive analytical approach to learning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None/>
            </a:pPr>
            <a:r>
              <a:rPr lang="en-US">
                <a:latin typeface="Times New Roman"/>
                <a:ea typeface="Times New Roman"/>
                <a:cs typeface="Times New Roman"/>
                <a:sym typeface="Times New Roman"/>
              </a:rPr>
              <a:t>    – KBANN algorithm </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457200" y="228600"/>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2960">
                <a:solidFill>
                  <a:srgbClr val="FF0000"/>
                </a:solidFill>
                <a:latin typeface="Times New Roman"/>
                <a:ea typeface="Times New Roman"/>
                <a:cs typeface="Times New Roman"/>
                <a:sym typeface="Times New Roman"/>
              </a:rPr>
              <a:t>EXPLANATION BASED LEARNING</a:t>
            </a:r>
            <a:endParaRPr sz="2960">
              <a:solidFill>
                <a:srgbClr val="FF0000"/>
              </a:solidFill>
              <a:latin typeface="Times New Roman"/>
              <a:ea typeface="Times New Roman"/>
              <a:cs typeface="Times New Roman"/>
              <a:sym typeface="Times New Roman"/>
            </a:endParaRPr>
          </a:p>
        </p:txBody>
      </p:sp>
      <p:sp>
        <p:nvSpPr>
          <p:cNvPr id="96" name="Google Shape;96;p3"/>
          <p:cNvSpPr txBox="1"/>
          <p:nvPr>
            <p:ph idx="1" type="body"/>
          </p:nvPr>
        </p:nvSpPr>
        <p:spPr>
          <a:xfrm>
            <a:off x="228600" y="1294975"/>
            <a:ext cx="8686800" cy="5410500"/>
          </a:xfrm>
          <a:prstGeom prst="rect">
            <a:avLst/>
          </a:prstGeom>
          <a:noFill/>
          <a:ln>
            <a:noFill/>
          </a:ln>
        </p:spPr>
        <p:txBody>
          <a:bodyPr anchorCtr="0" anchor="t" bIns="45700" lIns="91425" spcFirstLastPara="1" rIns="91425" wrap="square" tIns="45700">
            <a:normAutofit lnSpcReduction="10000"/>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Inductive learning</a:t>
            </a:r>
            <a:r>
              <a:rPr lang="en-US" sz="2300">
                <a:latin typeface="Times New Roman"/>
                <a:ea typeface="Times New Roman"/>
                <a:cs typeface="Times New Roman"/>
                <a:sym typeface="Times New Roman"/>
              </a:rPr>
              <a:t> methods such as Neural Network and Decision Tree Learning,  Inductive Logic Programming, and Genetic Algorithms require a certain number of training examples to achieve a given level of generalization accuracy.</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Analytical learning uses Prior Knowledge and </a:t>
            </a:r>
            <a:r>
              <a:rPr lang="en-US" sz="2300" u="sng">
                <a:solidFill>
                  <a:schemeClr val="hlink"/>
                </a:solidFill>
                <a:latin typeface="Times New Roman"/>
                <a:ea typeface="Times New Roman"/>
                <a:cs typeface="Times New Roman"/>
                <a:sym typeface="Times New Roman"/>
                <a:hlinkClick r:id="rId3"/>
              </a:rPr>
              <a:t>Deductive Reasoning </a:t>
            </a:r>
            <a:r>
              <a:rPr lang="en-US" sz="2300">
                <a:latin typeface="Times New Roman"/>
                <a:ea typeface="Times New Roman"/>
                <a:cs typeface="Times New Roman"/>
                <a:sym typeface="Times New Roman"/>
              </a:rPr>
              <a:t>to augment the information provided by the training examples, so that it is not subject to these same bounds.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 Explanation-Based Learning (EBL) when the learner's prior knowledge is correct and complete.</a:t>
            </a:r>
            <a:endParaRPr sz="2300">
              <a:latin typeface="Times New Roman"/>
              <a:ea typeface="Times New Roman"/>
              <a:cs typeface="Times New Roman"/>
              <a:sym typeface="Times New Roman"/>
            </a:endParaRPr>
          </a:p>
          <a:p>
            <a:pPr indent="-336550" lvl="0" marL="342900" rtl="0" algn="just">
              <a:spcBef>
                <a:spcPts val="480"/>
              </a:spcBef>
              <a:spcAft>
                <a:spcPts val="0"/>
              </a:spcAft>
              <a:buSzPts val="2300"/>
              <a:buFont typeface="Times New Roman"/>
              <a:buChar char="•"/>
            </a:pPr>
            <a:r>
              <a:rPr lang="en-US" sz="2300">
                <a:latin typeface="Times New Roman"/>
                <a:ea typeface="Times New Roman"/>
                <a:cs typeface="Times New Roman"/>
                <a:sym typeface="Times New Roman"/>
              </a:rPr>
              <a:t>EBL is a analytical </a:t>
            </a:r>
            <a:r>
              <a:rPr lang="en-US" sz="2300">
                <a:latin typeface="Times New Roman"/>
                <a:ea typeface="Times New Roman"/>
                <a:cs typeface="Times New Roman"/>
                <a:sym typeface="Times New Roman"/>
              </a:rPr>
              <a:t>approach</a:t>
            </a:r>
            <a:r>
              <a:rPr lang="en-US" sz="2300">
                <a:latin typeface="Times New Roman"/>
                <a:ea typeface="Times New Roman"/>
                <a:cs typeface="Times New Roman"/>
                <a:sym typeface="Times New Roman"/>
              </a:rPr>
              <a:t> which uses prior knowledge</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Prior knowledge is used to analyze, or explain, how each observed training example satisfies the target concept.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Explanation is used to distinguish the relevant features vs irrelevant, and so examples can be generalized based on logical rather than statistical reasoning.</a:t>
            </a:r>
            <a:endParaRPr sz="23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EBL algorithms accept </a:t>
            </a:r>
            <a:r>
              <a:rPr b="1" lang="en-US" sz="2300">
                <a:latin typeface="Times New Roman"/>
                <a:ea typeface="Times New Roman"/>
                <a:cs typeface="Times New Roman"/>
                <a:sym typeface="Times New Roman"/>
              </a:rPr>
              <a:t>explicit prior knowledge</a:t>
            </a:r>
            <a:r>
              <a:rPr lang="en-US" sz="2300">
                <a:latin typeface="Times New Roman"/>
                <a:ea typeface="Times New Roman"/>
                <a:cs typeface="Times New Roman"/>
                <a:sym typeface="Times New Roman"/>
              </a:rPr>
              <a:t> as an input, in </a:t>
            </a:r>
            <a:r>
              <a:rPr b="1" lang="en-US" sz="2300">
                <a:latin typeface="Times New Roman"/>
                <a:ea typeface="Times New Roman"/>
                <a:cs typeface="Times New Roman"/>
                <a:sym typeface="Times New Roman"/>
              </a:rPr>
              <a:t>addition to the input training data. </a:t>
            </a:r>
            <a:endParaRPr b="1"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This generalizes more accurately than inductive systems that rely on the data alone.</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It </a:t>
            </a:r>
            <a:r>
              <a:rPr b="1" lang="en-US" sz="2300">
                <a:latin typeface="Times New Roman"/>
                <a:ea typeface="Times New Roman"/>
                <a:cs typeface="Times New Roman"/>
                <a:sym typeface="Times New Roman"/>
              </a:rPr>
              <a:t>uses prior knowledge to reduce the complexity of the hypothesis space to be searched.</a:t>
            </a:r>
            <a:endParaRPr b="1"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Consider the task of learning to play chess. (Figure 11.1 )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Chess program to learn to recognize important classes of game positions, such as the target concept "chessboard positions in which black will lose its queen within two moves"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chessboard is fairly complex (32 pieces and 64 squares), and because the particular patterns that capture this concept are fairly subtle.</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Provide thousands of training examples like Fig.11.1 to expect an inductively learned hypothesis to generalize correctly to new situations.</a:t>
            </a:r>
            <a:endParaRPr sz="23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idx="1" type="body"/>
          </p:nvPr>
        </p:nvSpPr>
        <p:spPr>
          <a:xfrm>
            <a:off x="304800" y="152400"/>
            <a:ext cx="8610600" cy="1219200"/>
          </a:xfrm>
          <a:prstGeom prst="rect">
            <a:avLst/>
          </a:prstGeom>
          <a:noFill/>
          <a:ln>
            <a:noFill/>
          </a:ln>
        </p:spPr>
        <p:txBody>
          <a:bodyPr anchorCtr="0" anchor="t" bIns="45700" lIns="91425" spcFirstLastPara="1" rIns="91425" wrap="square" tIns="45700">
            <a:norm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answer appears to be that people rely heavily on explaining, or analyzing, the training example in terms of their prior knowledge about the legal moves of chess.</a:t>
            </a:r>
            <a:endParaRPr sz="2300">
              <a:latin typeface="Times New Roman"/>
              <a:ea typeface="Times New Roman"/>
              <a:cs typeface="Times New Roman"/>
              <a:sym typeface="Times New Roman"/>
            </a:endParaRPr>
          </a:p>
        </p:txBody>
      </p:sp>
      <p:pic>
        <p:nvPicPr>
          <p:cNvPr id="107" name="Google Shape;107;p5"/>
          <p:cNvPicPr preferRelativeResize="0"/>
          <p:nvPr/>
        </p:nvPicPr>
        <p:blipFill rotWithShape="1">
          <a:blip r:embed="rId3">
            <a:alphaModFix/>
          </a:blip>
          <a:srcRect b="0" l="0" r="0" t="0"/>
          <a:stretch/>
        </p:blipFill>
        <p:spPr>
          <a:xfrm>
            <a:off x="1600200" y="1524000"/>
            <a:ext cx="5638800" cy="4114800"/>
          </a:xfrm>
          <a:prstGeom prst="rect">
            <a:avLst/>
          </a:prstGeom>
          <a:noFill/>
          <a:ln>
            <a:noFill/>
          </a:ln>
        </p:spPr>
      </p:pic>
      <p:sp>
        <p:nvSpPr>
          <p:cNvPr id="108" name="Google Shape;108;p5"/>
          <p:cNvSpPr/>
          <p:nvPr/>
        </p:nvSpPr>
        <p:spPr>
          <a:xfrm>
            <a:off x="304800" y="5657671"/>
            <a:ext cx="8610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700" u="none" cap="none" strike="noStrike">
                <a:solidFill>
                  <a:schemeClr val="dk1"/>
                </a:solidFill>
                <a:latin typeface="Times New Roman"/>
                <a:ea typeface="Times New Roman"/>
                <a:cs typeface="Times New Roman"/>
                <a:sym typeface="Times New Roman"/>
              </a:rPr>
              <a:t>FIGURE 11.1 : A positive example of the target concept "chess positions in which black will lose its queen within two moves." Note the white knight is simultaneously attacking both the black king and queen. Black must therefore move its king, enabling white to capture its queen.</a:t>
            </a:r>
            <a:endParaRPr i="0" sz="17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6"/>
          <p:cNvPicPr preferRelativeResize="0"/>
          <p:nvPr/>
        </p:nvPicPr>
        <p:blipFill rotWithShape="1">
          <a:blip r:embed="rId3">
            <a:alphaModFix/>
          </a:blip>
          <a:srcRect b="0" l="0" r="0" t="0"/>
          <a:stretch/>
        </p:blipFill>
        <p:spPr>
          <a:xfrm>
            <a:off x="76200" y="838200"/>
            <a:ext cx="4267200" cy="5029200"/>
          </a:xfrm>
          <a:prstGeom prst="rect">
            <a:avLst/>
          </a:prstGeom>
          <a:noFill/>
          <a:ln>
            <a:noFill/>
          </a:ln>
        </p:spPr>
      </p:pic>
      <p:pic>
        <p:nvPicPr>
          <p:cNvPr id="114" name="Google Shape;114;p6"/>
          <p:cNvPicPr preferRelativeResize="0"/>
          <p:nvPr/>
        </p:nvPicPr>
        <p:blipFill rotWithShape="1">
          <a:blip r:embed="rId4">
            <a:alphaModFix/>
          </a:blip>
          <a:srcRect b="0" l="0" r="0" t="0"/>
          <a:stretch/>
        </p:blipFill>
        <p:spPr>
          <a:xfrm>
            <a:off x="4495800" y="914400"/>
            <a:ext cx="4648200" cy="518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7"/>
          <p:cNvPicPr preferRelativeResize="0"/>
          <p:nvPr/>
        </p:nvPicPr>
        <p:blipFill rotWithShape="1">
          <a:blip r:embed="rId3">
            <a:alphaModFix/>
          </a:blip>
          <a:srcRect b="0" l="0" r="0" t="0"/>
          <a:stretch/>
        </p:blipFill>
        <p:spPr>
          <a:xfrm>
            <a:off x="533400" y="914400"/>
            <a:ext cx="8153400" cy="5791200"/>
          </a:xfrm>
          <a:prstGeom prst="rect">
            <a:avLst/>
          </a:prstGeom>
          <a:noFill/>
          <a:ln>
            <a:noFill/>
          </a:ln>
        </p:spPr>
      </p:pic>
      <p:pic>
        <p:nvPicPr>
          <p:cNvPr id="120" name="Google Shape;120;p7"/>
          <p:cNvPicPr preferRelativeResize="0"/>
          <p:nvPr/>
        </p:nvPicPr>
        <p:blipFill rotWithShape="1">
          <a:blip r:embed="rId4">
            <a:alphaModFix/>
          </a:blip>
          <a:srcRect b="0" l="0" r="0" t="0"/>
          <a:stretch/>
        </p:blipFill>
        <p:spPr>
          <a:xfrm>
            <a:off x="762000" y="228600"/>
            <a:ext cx="6096000" cy="70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idx="1" type="body"/>
          </p:nvPr>
        </p:nvSpPr>
        <p:spPr>
          <a:xfrm>
            <a:off x="152400" y="304800"/>
            <a:ext cx="8763000" cy="63246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90000"/>
              </a:lnSpc>
              <a:spcBef>
                <a:spcPts val="0"/>
              </a:spcBef>
              <a:spcAft>
                <a:spcPts val="0"/>
              </a:spcAft>
              <a:buClr>
                <a:schemeClr val="dk1"/>
              </a:buClr>
              <a:buSzPts val="2400"/>
              <a:buNone/>
            </a:pPr>
            <a:r>
              <a:rPr b="1" lang="en-US" sz="2300">
                <a:latin typeface="Times New Roman"/>
                <a:ea typeface="Times New Roman"/>
                <a:cs typeface="Times New Roman"/>
                <a:sym typeface="Times New Roman"/>
              </a:rPr>
              <a:t>LEARNING WITH PERFECT DOMAIN THEORIES:</a:t>
            </a:r>
            <a:endParaRPr b="1" sz="2300">
              <a:latin typeface="Times New Roman"/>
              <a:ea typeface="Times New Roman"/>
              <a:cs typeface="Times New Roman"/>
              <a:sym typeface="Times New Roman"/>
            </a:endParaRPr>
          </a:p>
          <a:p>
            <a:pPr indent="-342900" lvl="0" marL="342900" rtl="0" algn="l">
              <a:lnSpc>
                <a:spcPct val="90000"/>
              </a:lnSpc>
              <a:spcBef>
                <a:spcPts val="0"/>
              </a:spcBef>
              <a:spcAft>
                <a:spcPts val="0"/>
              </a:spcAft>
              <a:buClr>
                <a:schemeClr val="dk1"/>
              </a:buClr>
              <a:buSzPts val="2400"/>
              <a:buNone/>
            </a:pPr>
            <a:r>
              <a:rPr b="1" lang="en-US" sz="2300">
                <a:latin typeface="Times New Roman"/>
                <a:ea typeface="Times New Roman"/>
                <a:cs typeface="Times New Roman"/>
                <a:sym typeface="Times New Roman"/>
              </a:rPr>
              <a:t>PROLOG-EBG</a:t>
            </a:r>
            <a:endParaRPr b="1"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PROLOG is logic programming language</a:t>
            </a:r>
            <a:endParaRPr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SzPts val="2300"/>
              <a:buFont typeface="Times New Roman"/>
              <a:buChar char="•"/>
            </a:pPr>
            <a:r>
              <a:rPr lang="en-US" sz="2300">
                <a:latin typeface="Times New Roman"/>
                <a:ea typeface="Times New Roman"/>
                <a:cs typeface="Times New Roman"/>
                <a:sym typeface="Times New Roman"/>
              </a:rPr>
              <a:t>PROLOG is a declarative language</a:t>
            </a:r>
            <a:endParaRPr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SzPts val="2300"/>
              <a:buFont typeface="Times New Roman"/>
              <a:buChar char="•"/>
            </a:pPr>
            <a:r>
              <a:rPr lang="en-US" sz="2300">
                <a:latin typeface="Times New Roman"/>
                <a:ea typeface="Times New Roman"/>
                <a:cs typeface="Times New Roman"/>
                <a:sym typeface="Times New Roman"/>
              </a:rPr>
              <a:t>Logic is expressed in the form of relations (facts and rules)</a:t>
            </a:r>
            <a:endParaRPr sz="23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Consider EBL from domain theories that are perfect, that is, domain theories that are correct and complete. </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Char char="•"/>
            </a:pPr>
            <a:r>
              <a:rPr lang="en-US" sz="2300">
                <a:latin typeface="Times New Roman"/>
                <a:ea typeface="Times New Roman"/>
                <a:cs typeface="Times New Roman"/>
                <a:sym typeface="Times New Roman"/>
              </a:rPr>
              <a:t>A domain theory is said to be </a:t>
            </a:r>
            <a:r>
              <a:rPr b="1" lang="en-US" sz="2300">
                <a:latin typeface="Times New Roman"/>
                <a:ea typeface="Times New Roman"/>
                <a:cs typeface="Times New Roman"/>
                <a:sym typeface="Times New Roman"/>
              </a:rPr>
              <a:t>correct</a:t>
            </a:r>
            <a:r>
              <a:rPr lang="en-US" sz="2300">
                <a:latin typeface="Times New Roman"/>
                <a:ea typeface="Times New Roman"/>
                <a:cs typeface="Times New Roman"/>
                <a:sym typeface="Times New Roman"/>
              </a:rPr>
              <a:t> if each of its assertions is a truthful statement about the world. </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Char char="•"/>
            </a:pPr>
            <a:r>
              <a:rPr lang="en-US" sz="2300">
                <a:latin typeface="Times New Roman"/>
                <a:ea typeface="Times New Roman"/>
                <a:cs typeface="Times New Roman"/>
                <a:sym typeface="Times New Roman"/>
              </a:rPr>
              <a:t>A domain theory is said to be </a:t>
            </a:r>
            <a:r>
              <a:rPr b="1" lang="en-US" sz="2300">
                <a:latin typeface="Times New Roman"/>
                <a:ea typeface="Times New Roman"/>
                <a:cs typeface="Times New Roman"/>
                <a:sym typeface="Times New Roman"/>
              </a:rPr>
              <a:t>complete</a:t>
            </a:r>
            <a:r>
              <a:rPr lang="en-US" sz="2300">
                <a:latin typeface="Times New Roman"/>
                <a:ea typeface="Times New Roman"/>
                <a:cs typeface="Times New Roman"/>
                <a:sym typeface="Times New Roman"/>
              </a:rPr>
              <a:t> with respect to a given target concept and instance space, if the domain theory covers every positive example in the instance space. </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If we follow the usual PROLOG convention that un-provable assertions are assumed to be false, then this definition of completeness includes full coverage of both positive and negative examples by the domain theory.</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First, there are cases in which it is feasible to provide a perfect domain theory.</a:t>
            </a:r>
            <a:endParaRPr sz="3100">
              <a:latin typeface="Times New Roman"/>
              <a:ea typeface="Times New Roman"/>
              <a:cs typeface="Times New Roman"/>
              <a:sym typeface="Times New Roman"/>
            </a:endParaRPr>
          </a:p>
          <a:p>
            <a:pPr indent="-336550" lvl="0" marL="342900" rtl="0" algn="just">
              <a:lnSpc>
                <a:spcPct val="90000"/>
              </a:lnSpc>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Second, in many other cases it is unreasonable to assume that a perfect domain theory is available.</a:t>
            </a:r>
            <a:endParaRPr sz="31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nvPicPr>
        <p:blipFill rotWithShape="1">
          <a:blip r:embed="rId3">
            <a:alphaModFix/>
          </a:blip>
          <a:srcRect b="0" l="0" r="0" t="0"/>
          <a:stretch/>
        </p:blipFill>
        <p:spPr>
          <a:xfrm>
            <a:off x="838200" y="533400"/>
            <a:ext cx="6858000" cy="5562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0"/>
          <p:cNvPicPr preferRelativeResize="0"/>
          <p:nvPr/>
        </p:nvPicPr>
        <p:blipFill rotWithShape="1">
          <a:blip r:embed="rId3">
            <a:alphaModFix/>
          </a:blip>
          <a:srcRect b="0" l="0" r="0" t="0"/>
          <a:stretch/>
        </p:blipFill>
        <p:spPr>
          <a:xfrm>
            <a:off x="914400" y="533400"/>
            <a:ext cx="7391400" cy="5943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1"/>
          <p:cNvPicPr preferRelativeResize="0"/>
          <p:nvPr/>
        </p:nvPicPr>
        <p:blipFill rotWithShape="1">
          <a:blip r:embed="rId3">
            <a:alphaModFix/>
          </a:blip>
          <a:srcRect b="0" l="0" r="0" t="0"/>
          <a:stretch/>
        </p:blipFill>
        <p:spPr>
          <a:xfrm>
            <a:off x="1066800" y="152400"/>
            <a:ext cx="5791200" cy="561975"/>
          </a:xfrm>
          <a:prstGeom prst="rect">
            <a:avLst/>
          </a:prstGeom>
          <a:noFill/>
          <a:ln>
            <a:noFill/>
          </a:ln>
        </p:spPr>
      </p:pic>
      <p:pic>
        <p:nvPicPr>
          <p:cNvPr id="141" name="Google Shape;141;p11"/>
          <p:cNvPicPr preferRelativeResize="0"/>
          <p:nvPr/>
        </p:nvPicPr>
        <p:blipFill rotWithShape="1">
          <a:blip r:embed="rId4">
            <a:alphaModFix/>
          </a:blip>
          <a:srcRect b="0" l="0" r="0" t="0"/>
          <a:stretch/>
        </p:blipFill>
        <p:spPr>
          <a:xfrm>
            <a:off x="228600" y="762000"/>
            <a:ext cx="8610600" cy="6057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type="title"/>
          </p:nvPr>
        </p:nvSpPr>
        <p:spPr>
          <a:xfrm>
            <a:off x="152400" y="274638"/>
            <a:ext cx="8763000" cy="715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400"/>
              <a:buFont typeface="Calibri"/>
              <a:buNone/>
            </a:pPr>
            <a:r>
              <a:rPr b="1" lang="en-US" sz="2600"/>
              <a:t>REMARKS ON EXPLANATION-BASED LEARNING</a:t>
            </a:r>
            <a:endParaRPr sz="2600"/>
          </a:p>
        </p:txBody>
      </p:sp>
      <p:sp>
        <p:nvSpPr>
          <p:cNvPr id="147" name="Google Shape;147;p12"/>
          <p:cNvSpPr txBox="1"/>
          <p:nvPr>
            <p:ph idx="1" type="body"/>
          </p:nvPr>
        </p:nvSpPr>
        <p:spPr>
          <a:xfrm>
            <a:off x="228600" y="1066800"/>
            <a:ext cx="8686800" cy="5486400"/>
          </a:xfrm>
          <a:prstGeom prst="rect">
            <a:avLst/>
          </a:prstGeom>
          <a:noFill/>
          <a:ln>
            <a:noFill/>
          </a:ln>
        </p:spPr>
        <p:txBody>
          <a:bodyPr anchorCtr="0" anchor="t" bIns="45700" lIns="91425" spcFirstLastPara="1" rIns="91425" wrap="square" tIns="45700">
            <a:normAutofit/>
          </a:bodyPr>
          <a:lstStyle/>
          <a:p>
            <a:pPr indent="-330835"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following are the key properties of this algorithm.</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produces justified general hypotheses by using prior knowledge to analyze individual examples.</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explanation of how the example satisfies the target concept determines which example attributes are relevant.</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Analysis of the explanation allows deriving more general constraints on the values of the relevant features.</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Each learned Horn clause corresponds to a sufficient condition for satisfying the target concept.</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generality depends on the formulation of the domain theory and on the sequence.</a:t>
            </a:r>
            <a:endParaRPr sz="2400">
              <a:latin typeface="Times New Roman"/>
              <a:ea typeface="Times New Roman"/>
              <a:cs typeface="Times New Roman"/>
              <a:sym typeface="Times New Roman"/>
            </a:endParaRPr>
          </a:p>
          <a:p>
            <a:pPr indent="-330835" lvl="0" marL="342900" rtl="0" algn="just">
              <a:spcBef>
                <a:spcPts val="518"/>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assumes that the domain theory is correct and complete. </a:t>
            </a:r>
            <a:endParaRPr sz="2400">
              <a:latin typeface="Times New Roman"/>
              <a:ea typeface="Times New Roman"/>
              <a:cs typeface="Times New Roman"/>
              <a:sym typeface="Times New Roman"/>
            </a:endParaRPr>
          </a:p>
          <a:p>
            <a:pPr indent="-178435" lvl="0" marL="342900" rtl="0" algn="just">
              <a:spcBef>
                <a:spcPts val="518"/>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3"/>
          <p:cNvPicPr preferRelativeResize="0"/>
          <p:nvPr/>
        </p:nvPicPr>
        <p:blipFill rotWithShape="1">
          <a:blip r:embed="rId3">
            <a:alphaModFix/>
          </a:blip>
          <a:srcRect b="0" l="0" r="0" t="0"/>
          <a:stretch/>
        </p:blipFill>
        <p:spPr>
          <a:xfrm>
            <a:off x="381000" y="762000"/>
            <a:ext cx="8305800" cy="5715000"/>
          </a:xfrm>
          <a:prstGeom prst="rect">
            <a:avLst/>
          </a:prstGeom>
          <a:noFill/>
          <a:ln>
            <a:noFill/>
          </a:ln>
        </p:spPr>
      </p:pic>
      <p:pic>
        <p:nvPicPr>
          <p:cNvPr id="153" name="Google Shape;153;p13"/>
          <p:cNvPicPr preferRelativeResize="0"/>
          <p:nvPr/>
        </p:nvPicPr>
        <p:blipFill rotWithShape="1">
          <a:blip r:embed="rId4">
            <a:alphaModFix/>
          </a:blip>
          <a:srcRect b="0" l="0" r="0" t="0"/>
          <a:stretch/>
        </p:blipFill>
        <p:spPr>
          <a:xfrm>
            <a:off x="1447800" y="152400"/>
            <a:ext cx="5334000" cy="619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4"/>
          <p:cNvPicPr preferRelativeResize="0"/>
          <p:nvPr/>
        </p:nvPicPr>
        <p:blipFill rotWithShape="1">
          <a:blip r:embed="rId3">
            <a:alphaModFix/>
          </a:blip>
          <a:srcRect b="0" l="0" r="0" t="0"/>
          <a:stretch/>
        </p:blipFill>
        <p:spPr>
          <a:xfrm>
            <a:off x="657225" y="609600"/>
            <a:ext cx="7829550" cy="4191000"/>
          </a:xfrm>
          <a:prstGeom prst="rect">
            <a:avLst/>
          </a:prstGeom>
          <a:noFill/>
          <a:ln>
            <a:noFill/>
          </a:ln>
        </p:spPr>
      </p:pic>
      <p:pic>
        <p:nvPicPr>
          <p:cNvPr id="159" name="Google Shape;159;p14"/>
          <p:cNvPicPr preferRelativeResize="0"/>
          <p:nvPr/>
        </p:nvPicPr>
        <p:blipFill rotWithShape="1">
          <a:blip r:embed="rId4">
            <a:alphaModFix/>
          </a:blip>
          <a:srcRect b="0" l="0" r="0" t="0"/>
          <a:stretch/>
        </p:blipFill>
        <p:spPr>
          <a:xfrm>
            <a:off x="609600" y="4953000"/>
            <a:ext cx="7848600" cy="1266825"/>
          </a:xfrm>
          <a:prstGeom prst="rect">
            <a:avLst/>
          </a:prstGeom>
          <a:noFill/>
          <a:ln>
            <a:noFill/>
          </a:ln>
        </p:spPr>
      </p:pic>
      <p:sp>
        <p:nvSpPr>
          <p:cNvPr id="160" name="Google Shape;160;p14"/>
          <p:cNvSpPr txBox="1"/>
          <p:nvPr/>
        </p:nvSpPr>
        <p:spPr>
          <a:xfrm>
            <a:off x="0" y="0"/>
            <a:ext cx="3000000" cy="677100"/>
          </a:xfrm>
          <a:prstGeom prst="rect">
            <a:avLst/>
          </a:prstGeom>
          <a:noFill/>
          <a:ln>
            <a:noFill/>
          </a:ln>
        </p:spPr>
        <p:txBody>
          <a:bodyPr anchorCtr="0" anchor="t" bIns="91425" lIns="91425" spcFirstLastPara="1" rIns="91425" wrap="square" tIns="91425">
            <a:spAutoFit/>
          </a:bodyPr>
          <a:lstStyle/>
          <a:p>
            <a:pPr indent="-342900" lvl="0" marL="342900" rtl="0" algn="ctr">
              <a:spcBef>
                <a:spcPts val="640"/>
              </a:spcBef>
              <a:spcAft>
                <a:spcPts val="0"/>
              </a:spcAft>
              <a:buNone/>
            </a:pPr>
            <a:r>
              <a:rPr lang="en-US" sz="3200" u="sng">
                <a:solidFill>
                  <a:schemeClr val="hlink"/>
                </a:solidFill>
                <a:latin typeface="Times New Roman"/>
                <a:ea typeface="Times New Roman"/>
                <a:cs typeface="Times New Roman"/>
                <a:sym typeface="Times New Roman"/>
                <a:hlinkClick r:id="rId5"/>
              </a:rPr>
              <a:t>Inductive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5"/>
          <p:cNvPicPr preferRelativeResize="0"/>
          <p:nvPr/>
        </p:nvPicPr>
        <p:blipFill rotWithShape="1">
          <a:blip r:embed="rId3">
            <a:alphaModFix/>
          </a:blip>
          <a:srcRect b="0" l="0" r="0" t="0"/>
          <a:stretch/>
        </p:blipFill>
        <p:spPr>
          <a:xfrm>
            <a:off x="533400" y="304800"/>
            <a:ext cx="8153399" cy="6096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6"/>
          <p:cNvPicPr preferRelativeResize="0"/>
          <p:nvPr/>
        </p:nvPicPr>
        <p:blipFill rotWithShape="1">
          <a:blip r:embed="rId3">
            <a:alphaModFix/>
          </a:blip>
          <a:srcRect b="0" l="0" r="0" t="0"/>
          <a:stretch/>
        </p:blipFill>
        <p:spPr>
          <a:xfrm>
            <a:off x="304800" y="1143000"/>
            <a:ext cx="8382000" cy="5524500"/>
          </a:xfrm>
          <a:prstGeom prst="rect">
            <a:avLst/>
          </a:prstGeom>
          <a:noFill/>
          <a:ln>
            <a:noFill/>
          </a:ln>
        </p:spPr>
      </p:pic>
      <p:pic>
        <p:nvPicPr>
          <p:cNvPr id="171" name="Google Shape;171;p16"/>
          <p:cNvPicPr preferRelativeResize="0"/>
          <p:nvPr/>
        </p:nvPicPr>
        <p:blipFill rotWithShape="1">
          <a:blip r:embed="rId4">
            <a:alphaModFix/>
          </a:blip>
          <a:srcRect b="0" l="0" r="0" t="0"/>
          <a:stretch/>
        </p:blipFill>
        <p:spPr>
          <a:xfrm>
            <a:off x="2286000" y="228600"/>
            <a:ext cx="36195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e8d73e45e4_0_1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77" name="Google Shape;177;g2e8d73e45e4_0_1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78" name="Google Shape;178;g2e8d73e45e4_0_14"/>
          <p:cNvPicPr preferRelativeResize="0"/>
          <p:nvPr/>
        </p:nvPicPr>
        <p:blipFill>
          <a:blip r:embed="rId3">
            <a:alphaModFix/>
          </a:blip>
          <a:stretch>
            <a:fillRect/>
          </a:stretch>
        </p:blipFill>
        <p:spPr>
          <a:xfrm>
            <a:off x="155800" y="94500"/>
            <a:ext cx="8786425" cy="6031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e8d73e45e4_0_2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84" name="Google Shape;184;g2e8d73e45e4_0_2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85" name="Google Shape;185;g2e8d73e45e4_0_21"/>
          <p:cNvPicPr preferRelativeResize="0"/>
          <p:nvPr/>
        </p:nvPicPr>
        <p:blipFill>
          <a:blip r:embed="rId3">
            <a:alphaModFix/>
          </a:blip>
          <a:stretch>
            <a:fillRect/>
          </a:stretch>
        </p:blipFill>
        <p:spPr>
          <a:xfrm>
            <a:off x="0" y="158350"/>
            <a:ext cx="8929450" cy="5836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e8d73e45e4_0_2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91" name="Google Shape;191;g2e8d73e45e4_0_2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92" name="Google Shape;192;g2e8d73e45e4_0_27"/>
          <p:cNvPicPr preferRelativeResize="0"/>
          <p:nvPr/>
        </p:nvPicPr>
        <p:blipFill>
          <a:blip r:embed="rId3">
            <a:alphaModFix/>
          </a:blip>
          <a:stretch>
            <a:fillRect/>
          </a:stretch>
        </p:blipFill>
        <p:spPr>
          <a:xfrm>
            <a:off x="117500" y="274650"/>
            <a:ext cx="8850250" cy="5851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17"/>
          <p:cNvPicPr preferRelativeResize="0"/>
          <p:nvPr/>
        </p:nvPicPr>
        <p:blipFill rotWithShape="1">
          <a:blip r:embed="rId3">
            <a:alphaModFix/>
          </a:blip>
          <a:srcRect b="0" l="0" r="0" t="0"/>
          <a:stretch/>
        </p:blipFill>
        <p:spPr>
          <a:xfrm>
            <a:off x="0" y="0"/>
            <a:ext cx="5105400" cy="2514600"/>
          </a:xfrm>
          <a:prstGeom prst="rect">
            <a:avLst/>
          </a:prstGeom>
          <a:noFill/>
          <a:ln>
            <a:noFill/>
          </a:ln>
        </p:spPr>
      </p:pic>
      <p:pic>
        <p:nvPicPr>
          <p:cNvPr id="198" name="Google Shape;198;p17"/>
          <p:cNvPicPr preferRelativeResize="0"/>
          <p:nvPr/>
        </p:nvPicPr>
        <p:blipFill rotWithShape="1">
          <a:blip r:embed="rId4">
            <a:alphaModFix/>
          </a:blip>
          <a:srcRect b="0" l="0" r="0" t="0"/>
          <a:stretch/>
        </p:blipFill>
        <p:spPr>
          <a:xfrm>
            <a:off x="228600" y="2590800"/>
            <a:ext cx="7772400" cy="4267201"/>
          </a:xfrm>
          <a:prstGeom prst="rect">
            <a:avLst/>
          </a:prstGeom>
          <a:noFill/>
          <a:ln>
            <a:noFill/>
          </a:ln>
        </p:spPr>
      </p:pic>
      <p:pic>
        <p:nvPicPr>
          <p:cNvPr id="199" name="Google Shape;199;p17"/>
          <p:cNvPicPr preferRelativeResize="0"/>
          <p:nvPr/>
        </p:nvPicPr>
        <p:blipFill rotWithShape="1">
          <a:blip r:embed="rId5">
            <a:alphaModFix/>
          </a:blip>
          <a:srcRect b="0" l="0" r="0" t="0"/>
          <a:stretch/>
        </p:blipFill>
        <p:spPr>
          <a:xfrm>
            <a:off x="3429000" y="6324600"/>
            <a:ext cx="5257800" cy="533400"/>
          </a:xfrm>
          <a:prstGeom prst="rect">
            <a:avLst/>
          </a:prstGeom>
          <a:noFill/>
          <a:ln>
            <a:noFill/>
          </a:ln>
        </p:spPr>
      </p:pic>
      <p:sp>
        <p:nvSpPr>
          <p:cNvPr id="200" name="Google Shape;200;p17"/>
          <p:cNvSpPr txBox="1"/>
          <p:nvPr/>
        </p:nvSpPr>
        <p:spPr>
          <a:xfrm>
            <a:off x="1558050" y="217100"/>
            <a:ext cx="735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E8E8E8"/>
                </a:solidFill>
                <a:highlight>
                  <a:srgbClr val="1F1F1F"/>
                </a:highlight>
              </a:rPr>
              <a:t>Knowledge-Based Artificial Neural Networks</a:t>
            </a:r>
            <a:endParaRPr/>
          </a:p>
        </p:txBody>
      </p:sp>
      <p:sp>
        <p:nvSpPr>
          <p:cNvPr id="201" name="Google Shape;201;p17"/>
          <p:cNvSpPr txBox="1"/>
          <p:nvPr/>
        </p:nvSpPr>
        <p:spPr>
          <a:xfrm>
            <a:off x="4229750" y="962925"/>
            <a:ext cx="5325600" cy="1047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K</a:t>
            </a:r>
            <a:r>
              <a:rPr lang="en-US" sz="1900">
                <a:solidFill>
                  <a:schemeClr val="dk1"/>
                </a:solidFill>
                <a:latin typeface="Times New Roman"/>
                <a:ea typeface="Times New Roman"/>
                <a:cs typeface="Times New Roman"/>
                <a:sym typeface="Times New Roman"/>
              </a:rPr>
              <a:t>BANN is an hybrid learning system (combine both domain knowledge + Training examples)</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8"/>
          <p:cNvPicPr preferRelativeResize="0"/>
          <p:nvPr/>
        </p:nvPicPr>
        <p:blipFill rotWithShape="1">
          <a:blip r:embed="rId3">
            <a:alphaModFix/>
          </a:blip>
          <a:srcRect b="0" l="0" r="0" t="0"/>
          <a:stretch/>
        </p:blipFill>
        <p:spPr>
          <a:xfrm>
            <a:off x="457200" y="0"/>
            <a:ext cx="807720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9"/>
          <p:cNvPicPr preferRelativeResize="0"/>
          <p:nvPr/>
        </p:nvPicPr>
        <p:blipFill rotWithShape="1">
          <a:blip r:embed="rId3">
            <a:alphaModFix/>
          </a:blip>
          <a:srcRect b="0" l="0" r="0" t="0"/>
          <a:stretch/>
        </p:blipFill>
        <p:spPr>
          <a:xfrm>
            <a:off x="609600" y="228600"/>
            <a:ext cx="7467600" cy="6477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0"/>
          <p:cNvPicPr preferRelativeResize="0"/>
          <p:nvPr/>
        </p:nvPicPr>
        <p:blipFill rotWithShape="1">
          <a:blip r:embed="rId3">
            <a:alphaModFix/>
          </a:blip>
          <a:srcRect b="0" l="0" r="0" t="0"/>
          <a:stretch/>
        </p:blipFill>
        <p:spPr>
          <a:xfrm>
            <a:off x="1447800" y="990600"/>
            <a:ext cx="6705600" cy="464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1"/>
          <p:cNvSpPr txBox="1"/>
          <p:nvPr>
            <p:ph type="title"/>
          </p:nvPr>
        </p:nvSpPr>
        <p:spPr>
          <a:xfrm>
            <a:off x="457200" y="21336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thatiparthi rajini kanth</dc:creator>
</cp:coreProperties>
</file>