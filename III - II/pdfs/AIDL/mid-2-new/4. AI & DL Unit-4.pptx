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323" r:id="rId2"/>
    <p:sldId id="257" r:id="rId3"/>
    <p:sldId id="324" r:id="rId4"/>
    <p:sldId id="325" r:id="rId5"/>
    <p:sldId id="326" r:id="rId6"/>
    <p:sldId id="327" r:id="rId7"/>
    <p:sldId id="331" r:id="rId8"/>
    <p:sldId id="332" r:id="rId9"/>
    <p:sldId id="333" r:id="rId10"/>
    <p:sldId id="328" r:id="rId11"/>
    <p:sldId id="329" r:id="rId12"/>
    <p:sldId id="330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4" r:id="rId23"/>
    <p:sldId id="345" r:id="rId24"/>
    <p:sldId id="346" r:id="rId25"/>
    <p:sldId id="347" r:id="rId26"/>
    <p:sldId id="348" r:id="rId27"/>
    <p:sldId id="343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5" r:id="rId41"/>
    <p:sldId id="361" r:id="rId42"/>
    <p:sldId id="362" r:id="rId43"/>
    <p:sldId id="363" r:id="rId44"/>
    <p:sldId id="364" r:id="rId45"/>
    <p:sldId id="366" r:id="rId46"/>
    <p:sldId id="367" r:id="rId47"/>
    <p:sldId id="368" r:id="rId48"/>
    <p:sldId id="369" r:id="rId49"/>
    <p:sldId id="370" r:id="rId50"/>
    <p:sldId id="371" r:id="rId51"/>
  </p:sldIdLst>
  <p:sldSz cx="115220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>
      <p:cViewPr varScale="1">
        <p:scale>
          <a:sx n="97" d="100"/>
          <a:sy n="97" d="100"/>
        </p:scale>
        <p:origin x="104" y="248"/>
      </p:cViewPr>
      <p:guideLst>
        <p:guide orient="horz" pos="2160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0412E-D3B6-41B7-A78E-5F987C397848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9275" y="685800"/>
            <a:ext cx="5759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34420-1874-4A84-9770-CC3A013FEB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156" y="2130426"/>
            <a:ext cx="9793764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8311" y="3886200"/>
            <a:ext cx="80654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097E9-3B4F-40D3-A811-B688D9038A8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7A43-EE88-4C60-8689-73DBD7B89338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164" y="4406901"/>
            <a:ext cx="979376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0164" y="2906713"/>
            <a:ext cx="979376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0589-2583-4429-8392-E6A1EDFFEF4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104" y="1600201"/>
            <a:ext cx="50889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57055" y="1600201"/>
            <a:ext cx="50889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FBD7-09F4-46F2-8723-F2FBAE5E6A2B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535113"/>
            <a:ext cx="5090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104" y="2174875"/>
            <a:ext cx="5090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53055" y="1535113"/>
            <a:ext cx="5092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53055" y="2174875"/>
            <a:ext cx="5092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0BEB-5693-4A46-9612-98CF8BCE0B0F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D235-7361-42A2-87EE-628BE77311DC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5787-0416-49AF-AA7C-6287D854F8AA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5" y="273050"/>
            <a:ext cx="37906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811" y="273051"/>
            <a:ext cx="644116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105" y="1435101"/>
            <a:ext cx="37906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59C1-EDB4-4C68-99C9-EF07BE441E2B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407" y="4800600"/>
            <a:ext cx="69132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58407" y="612775"/>
            <a:ext cx="69132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8407" y="5367338"/>
            <a:ext cx="69132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E8F5-94A5-4F70-8E0D-083DB1FFCB5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17A0-07B8-42E0-B9EB-D4E16846EE3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53504" y="274639"/>
            <a:ext cx="259246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104" y="274639"/>
            <a:ext cx="758536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75B72-15D6-4045-B263-2AF10BD57FF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76104" y="273600"/>
            <a:ext cx="10368961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76104" y="1604520"/>
            <a:ext cx="10368961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F89EB1F8-EA03-4EDF-8CDD-562987FD27A6}" type="datetime1">
              <a:rPr lang="en-US" smtClean="0"/>
              <a:t>4/15/2026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24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600201"/>
            <a:ext cx="103698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104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93F9C-4757-44A8-BE10-FD40C3740F5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6709" y="6356351"/>
            <a:ext cx="3648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7487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2"/>
          <p:cNvPicPr/>
          <p:nvPr/>
        </p:nvPicPr>
        <p:blipFill>
          <a:blip r:embed="rId2"/>
          <a:stretch/>
        </p:blipFill>
        <p:spPr>
          <a:xfrm>
            <a:off x="4277410" y="3740040"/>
            <a:ext cx="3827157" cy="727920"/>
          </a:xfrm>
          <a:prstGeom prst="rect">
            <a:avLst/>
          </a:prstGeom>
          <a:ln w="0">
            <a:noFill/>
          </a:ln>
        </p:spPr>
      </p:pic>
      <p:sp>
        <p:nvSpPr>
          <p:cNvPr id="36" name="object 3"/>
          <p:cNvSpPr/>
          <p:nvPr/>
        </p:nvSpPr>
        <p:spPr>
          <a:xfrm>
            <a:off x="4991974" y="3756962"/>
            <a:ext cx="4771835" cy="10111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3320" rIns="0" bIns="0" anchor="t">
            <a:spAutoFit/>
          </a:bodyPr>
          <a:lstStyle/>
          <a:p>
            <a:pPr marL="12600">
              <a:spcBef>
                <a:spcPts val="105"/>
              </a:spcBef>
            </a:pPr>
            <a:r>
              <a:rPr lang="en-US" sz="3200" spc="-151" dirty="0">
                <a:solidFill>
                  <a:srgbClr val="000000"/>
                </a:solidFill>
                <a:latin typeface="Times New Roman"/>
              </a:rPr>
              <a:t>    UNIT-IV</a:t>
            </a:r>
          </a:p>
          <a:p>
            <a:pPr marL="12600">
              <a:spcBef>
                <a:spcPts val="105"/>
              </a:spcBef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object 4"/>
          <p:cNvPicPr/>
          <p:nvPr/>
        </p:nvPicPr>
        <p:blipFill>
          <a:blip r:embed="rId3"/>
          <a:stretch/>
        </p:blipFill>
        <p:spPr>
          <a:xfrm>
            <a:off x="1629317" y="1110960"/>
            <a:ext cx="8074800" cy="21816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29317" y="1126080"/>
            <a:ext cx="7713120" cy="2207160"/>
          </a:xfrm>
          <a:prstGeom prst="rect">
            <a:avLst/>
          </a:prstGeom>
          <a:noFill/>
          <a:ln w="0">
            <a:noFill/>
          </a:ln>
        </p:spPr>
        <p:txBody>
          <a:bodyPr vert="horz" lIns="0" tIns="12600" rIns="0" bIns="0" rtlCol="0" anchor="t">
            <a:noAutofit/>
          </a:bodyPr>
          <a:lstStyle/>
          <a:p>
            <a:pPr marL="12600" indent="2025720">
              <a:spcBef>
                <a:spcPts val="99"/>
              </a:spcBef>
              <a:tabLst>
                <a:tab pos="0" algn="l"/>
              </a:tabLst>
            </a:pPr>
            <a:r>
              <a:rPr lang="en-US" sz="3600" spc="-41" dirty="0">
                <a:solidFill>
                  <a:schemeClr val="dk1"/>
                </a:solidFill>
                <a:latin typeface="Times New Roman"/>
              </a:rPr>
              <a:t>COURSE</a:t>
            </a:r>
            <a:br>
              <a:rPr lang="en-US" sz="3600" spc="-41" dirty="0">
                <a:solidFill>
                  <a:schemeClr val="dk1"/>
                </a:solidFill>
                <a:latin typeface="Times New Roman"/>
              </a:rPr>
            </a:br>
            <a:r>
              <a:rPr lang="en-US" sz="3200" spc="-100" dirty="0">
                <a:solidFill>
                  <a:schemeClr val="dk1"/>
                </a:solidFill>
                <a:latin typeface="Times New Roman"/>
              </a:rPr>
              <a:t>ARTIFICIAL</a:t>
            </a:r>
            <a:r>
              <a:rPr lang="en-US" sz="3200" spc="-52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80" dirty="0">
                <a:solidFill>
                  <a:schemeClr val="dk1"/>
                </a:solidFill>
                <a:latin typeface="Times New Roman"/>
              </a:rPr>
              <a:t>INTELLIGENCE </a:t>
            </a:r>
            <a:r>
              <a:rPr lang="en-US" sz="3200" spc="-262" dirty="0">
                <a:solidFill>
                  <a:schemeClr val="dk1"/>
                </a:solidFill>
                <a:latin typeface="Times New Roman"/>
              </a:rPr>
              <a:t>AND</a:t>
            </a:r>
            <a:r>
              <a:rPr lang="en-US" sz="3200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32" dirty="0">
                <a:solidFill>
                  <a:schemeClr val="dk1"/>
                </a:solidFill>
                <a:latin typeface="Times New Roman"/>
              </a:rPr>
              <a:t>DEEP</a:t>
            </a:r>
            <a:r>
              <a:rPr lang="en-US" sz="3200" spc="-15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185" dirty="0">
                <a:solidFill>
                  <a:schemeClr val="dk1"/>
                </a:solidFill>
                <a:latin typeface="Times New Roman"/>
              </a:rPr>
              <a:t>LEARNING</a:t>
            </a:r>
            <a:r>
              <a:rPr lang="en-US" sz="3200" spc="-4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12" dirty="0">
                <a:solidFill>
                  <a:schemeClr val="dk1"/>
                </a:solidFill>
                <a:latin typeface="Times New Roman"/>
              </a:rPr>
              <a:t>(AIDL)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object 8"/>
          <p:cNvPicPr/>
          <p:nvPr/>
        </p:nvPicPr>
        <p:blipFill>
          <a:blip r:embed="rId4"/>
          <a:stretch/>
        </p:blipFill>
        <p:spPr>
          <a:xfrm>
            <a:off x="1955477" y="5004720"/>
            <a:ext cx="7265880" cy="803880"/>
          </a:xfrm>
          <a:prstGeom prst="rect">
            <a:avLst/>
          </a:prstGeom>
          <a:ln w="0">
            <a:noFill/>
          </a:ln>
        </p:spPr>
      </p:pic>
      <p:sp>
        <p:nvSpPr>
          <p:cNvPr id="42" name="object 9"/>
          <p:cNvSpPr/>
          <p:nvPr/>
        </p:nvSpPr>
        <p:spPr>
          <a:xfrm>
            <a:off x="2179757" y="5072042"/>
            <a:ext cx="7041600" cy="566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</a:pPr>
            <a:r>
              <a:rPr lang="en-IN" sz="3600" spc="-12">
                <a:solidFill>
                  <a:srgbClr val="000000"/>
                </a:solidFill>
                <a:latin typeface="Times New Roman"/>
              </a:rPr>
              <a:t>Mr. P Ramu,Assistant Professor</a:t>
            </a:r>
            <a:endParaRPr lang="en-US" sz="36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object 10"/>
          <p:cNvPicPr/>
          <p:nvPr/>
        </p:nvPicPr>
        <p:blipFill>
          <a:blip r:embed="rId5"/>
          <a:stretch/>
        </p:blipFill>
        <p:spPr>
          <a:xfrm>
            <a:off x="3149957" y="214920"/>
            <a:ext cx="4715280" cy="536400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761F-15FD-BD69-0A57-A04117D84050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A81ED630-824B-4250-8E66-00603831D5FB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DCDD3-7C09-5357-8FD9-7FF9513D0E2A}"/>
              </a:ext>
            </a:extLst>
          </p:cNvPr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6AA8-8E63-E162-81B0-A43DC6853E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UNIT IV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104" y="762000"/>
            <a:ext cx="10369868" cy="5714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 Knowledge and Reasoning :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Bayes’ Rule,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Concepts of Time and Uncertainty,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Utility Functions,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Value of Information,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Value iteration,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Policy iteration,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Partially Observable MDP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38F1E-B0A6-F78E-B380-1AB46052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2567-E9D4-4D74-9BD4-EB24C2F69B2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BF51-359E-07E2-5B6E-8BE3139E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1A9E-436E-E5B5-C041-A9170684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 Knowledge and Reasoning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C659-F592-BDD3-BC57-31D5136BF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 Knowledge and Reasoning in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core concept in Artificial Intelligence that deals with making decisions when information is incomplete, noisy, or ambiguous—just like real-world situations.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Uncertainty in AI?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arises when: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(missing values)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Observations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or imprecise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environment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or unpredictable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weather prediction system cannot say with 100% certainty that it will rain tomorrow.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9569F-2584-EE8D-3CC3-0E5BA1E0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9B416-8FFE-2CD2-BCBF-BA42B0D9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11D4-F46E-4B2E-8222-17C8C40C1C5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3C91-943A-7BB5-69E6-06ED49B7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</p:spTree>
    <p:extLst>
      <p:ext uri="{BB962C8B-B14F-4D97-AF65-F5344CB8AC3E}">
        <p14:creationId xmlns:p14="http://schemas.microsoft.com/office/powerpoint/2010/main" val="107135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7D9C-6BAB-5E58-686E-0EF367BBA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136525"/>
            <a:ext cx="10369868" cy="598964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Reasoning in AI?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refers to: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logic, rules, and knowledge to infer new information from existing data.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“All humans are mortal” and “Ram is a human.”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AI concludes → “Ram is mortal.”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3B845-CAE7-3EAA-EA25-1A8F74BC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07A37-B6F8-89CF-D3F1-06614A25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20D95-52B4-4F3D-89E9-98E450F0E803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A9D0D-D47F-F0E0-7FEF-B35940A4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</p:spTree>
    <p:extLst>
      <p:ext uri="{BB962C8B-B14F-4D97-AF65-F5344CB8AC3E}">
        <p14:creationId xmlns:p14="http://schemas.microsoft.com/office/powerpoint/2010/main" val="345668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40838-68DC-A739-1558-BBF418A6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228601"/>
            <a:ext cx="10369868" cy="58975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Handling Uncertainty</a:t>
            </a:r>
          </a:p>
          <a:p>
            <a:pPr marL="0" indent="0">
              <a:buNone/>
            </a:pPr>
            <a:r>
              <a:rPr lang="en-US" dirty="0"/>
              <a:t>1. Probability Theory.</a:t>
            </a:r>
          </a:p>
          <a:p>
            <a:pPr marL="0" indent="0">
              <a:buNone/>
            </a:pPr>
            <a:r>
              <a:rPr lang="en-US" dirty="0"/>
              <a:t>2. Bayesian Networks.</a:t>
            </a:r>
          </a:p>
          <a:p>
            <a:pPr marL="0" indent="0">
              <a:buNone/>
            </a:pPr>
            <a:r>
              <a:rPr lang="en-US" dirty="0"/>
              <a:t>3. Fuzzy Logic.</a:t>
            </a:r>
          </a:p>
          <a:p>
            <a:pPr marL="0" indent="0">
              <a:buNone/>
            </a:pPr>
            <a:r>
              <a:rPr lang="en-US" dirty="0"/>
              <a:t>4. Markov Models.</a:t>
            </a:r>
          </a:p>
          <a:p>
            <a:pPr marL="0" indent="0">
              <a:buNone/>
            </a:pPr>
            <a:r>
              <a:rPr lang="en-US" dirty="0"/>
              <a:t>5. Utility Theory.</a:t>
            </a: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Handling Reasoning</a:t>
            </a:r>
          </a:p>
          <a:p>
            <a:pPr marL="0" indent="0">
              <a:buNone/>
            </a:pPr>
            <a:r>
              <a:rPr lang="en-US" dirty="0"/>
              <a:t>1. Logical Reasoning.</a:t>
            </a:r>
          </a:p>
          <a:p>
            <a:pPr marL="0" indent="0">
              <a:buNone/>
            </a:pPr>
            <a:r>
              <a:rPr lang="en-US" dirty="0"/>
              <a:t>2. Rule-Based Reasoning</a:t>
            </a:r>
          </a:p>
          <a:p>
            <a:pPr marL="0" indent="0">
              <a:buNone/>
            </a:pPr>
            <a:r>
              <a:rPr lang="en-US" dirty="0"/>
              <a:t>3. Probabilistic Reasoning.</a:t>
            </a:r>
          </a:p>
          <a:p>
            <a:pPr marL="0" indent="0">
              <a:buNone/>
            </a:pPr>
            <a:r>
              <a:rPr lang="en-US" dirty="0"/>
              <a:t>4. Fuzzy Logic Reasoning.</a:t>
            </a:r>
          </a:p>
          <a:p>
            <a:pPr marL="0" indent="0">
              <a:buNone/>
            </a:pPr>
            <a:r>
              <a:rPr lang="en-US" dirty="0"/>
              <a:t>5. Non-Monotonic Reasoning.</a:t>
            </a:r>
          </a:p>
          <a:p>
            <a:pPr marL="0" indent="0">
              <a:buNone/>
            </a:pPr>
            <a:r>
              <a:rPr lang="en-US" dirty="0"/>
              <a:t>6. Case-Based Reasoning (CBR).</a:t>
            </a:r>
          </a:p>
          <a:p>
            <a:pPr marL="0" indent="0">
              <a:buNone/>
            </a:pPr>
            <a:r>
              <a:rPr lang="en-US" dirty="0"/>
              <a:t>7. Model-Based Reasoning.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72548-808B-BF33-CEE6-60692505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2486-7655-4F2A-83D6-8BCD5950223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05DF0-32DF-53FB-E6AD-C5CB5B57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8B413-6611-68C3-90B1-82062D7B4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D6B4-6E29-340C-938E-5493E138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24936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Bayes’ Rule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D7E2-04E7-CFA9-520C-6FC027ED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1549-E85C-4356-8EDE-E07BD187D00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A5DE6-1C2B-2B9A-DB2A-BE4C402A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4B539-E233-2F08-1DA4-EB0914C8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B24AC-91FF-1799-2EF9-02B94E0ACBD7}"/>
              </a:ext>
            </a:extLst>
          </p:cNvPr>
          <p:cNvSpPr txBox="1"/>
          <p:nvPr/>
        </p:nvSpPr>
        <p:spPr>
          <a:xfrm>
            <a:off x="960437" y="1143001"/>
            <a:ext cx="96012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 is a mathematical formula used to determine the conditional probability of an event based on prior knowledge and new evidence.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adjusts probabilities when new information comes in and helps make better decisions in uncertain situations.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sz="2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Bayes’ rule follows three conditions.</a:t>
            </a:r>
            <a:endParaRPr lang="en-US" sz="28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spcAft>
                <a:spcPts val="750"/>
              </a:spcAft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probability.</a:t>
            </a:r>
          </a:p>
          <a:p>
            <a:pPr marL="342900" indent="-342900" fontAlgn="base">
              <a:spcAft>
                <a:spcPts val="750"/>
              </a:spcAft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events.</a:t>
            </a:r>
          </a:p>
          <a:p>
            <a:pPr marL="342900" indent="-342900" fontAlgn="base">
              <a:spcAft>
                <a:spcPts val="750"/>
              </a:spcAft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Dependent events.</a:t>
            </a:r>
            <a:endParaRPr lang="en-US" sz="28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0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980612-FFF2-4025-C506-DB0F14C194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probability</a:t>
                </a:r>
              </a:p>
              <a:p>
                <a:r>
                  <a:rPr lang="en-US" b="1" dirty="0"/>
                  <a:t>Problem</a:t>
                </a:r>
              </a:p>
              <a:p>
                <a:r>
                  <a:rPr lang="en-US" dirty="0"/>
                  <a:t>A card is drawn from a deck.</a:t>
                </a:r>
                <a:br>
                  <a:rPr lang="en-US" dirty="0"/>
                </a:br>
                <a:r>
                  <a:rPr lang="en-US" dirty="0"/>
                  <a:t>Given that the card is a </a:t>
                </a:r>
                <a:r>
                  <a:rPr lang="en-US" b="1" dirty="0"/>
                  <a:t>face card</a:t>
                </a:r>
                <a:r>
                  <a:rPr lang="en-US" dirty="0"/>
                  <a:t>, what is the probability it is a </a:t>
                </a:r>
                <a:r>
                  <a:rPr lang="en-US" b="1" dirty="0"/>
                  <a:t>King</a:t>
                </a:r>
                <a:r>
                  <a:rPr lang="en-US" dirty="0"/>
                  <a:t>?</a:t>
                </a:r>
              </a:p>
              <a:p>
                <a:r>
                  <a:rPr lang="en-US" b="1" dirty="0"/>
                  <a:t>Solution</a:t>
                </a:r>
              </a:p>
              <a:p>
                <a:r>
                  <a:rPr lang="en-US" dirty="0"/>
                  <a:t>Let: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= card is King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= card is a face card </a:t>
                </a:r>
              </a:p>
              <a:p>
                <a:r>
                  <a:rPr lang="en-US" dirty="0"/>
                  <a:t>We know:</a:t>
                </a:r>
              </a:p>
              <a:p>
                <a:r>
                  <a:rPr lang="en-US" dirty="0"/>
                  <a:t>Total face cards = 12 (J, Q, K of 4 suits) </a:t>
                </a:r>
              </a:p>
              <a:p>
                <a:r>
                  <a:rPr lang="en-US" dirty="0"/>
                  <a:t>Kings = 4 </a:t>
                </a:r>
              </a:p>
              <a:p>
                <a:r>
                  <a:rPr lang="en-US" dirty="0"/>
                  <a:t>Using conditional probability: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980612-FFF2-4025-C506-DB0F14C194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  <a:blipFill>
                <a:blip r:embed="rId2"/>
                <a:stretch>
                  <a:fillRect l="-1117" t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6B612-2A6D-298F-E2A3-9A57D5C4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B33A7-845E-4E58-B0A8-9791F05F13B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BF8C7-21E5-AF46-D64D-5ADD3BCF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80633-664C-DEBA-6401-89447C8C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61235D-F5B6-137B-BE3A-EBCC3BCF8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Independent Events Example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coin is tossed and a dice is rolled.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probability of getting: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 and a 4 </a:t>
                </a:r>
              </a:p>
              <a:p>
                <a:pPr marL="0" indent="0">
                  <a:buNone/>
                </a:pP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Head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Getting 4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they are independent: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61235D-F5B6-137B-BE3A-EBCC3BCF8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  <a:blipFill>
                <a:blip r:embed="rId2"/>
                <a:stretch>
                  <a:fillRect l="-1117" t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47FA-BBF6-9C3B-8397-65B52198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971D5-5A59-461B-B1DF-C87605BE355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746D-1920-E8E7-8E13-CA7CE6BA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B8440-7BFB-BD54-0521-56D0F9F7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7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FC51A-4962-6CB1-1DB5-D8DA46A2CC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Dependent Events Example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bag has 5 red and 3 blue balls.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balls are drawn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replacement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probability both are red.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red: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red (after one red removed):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dependent: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FC51A-4962-6CB1-1DB5-D8DA46A2C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  <a:blipFill>
                <a:blip r:embed="rId2"/>
                <a:stretch>
                  <a:fillRect l="-1117" t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0007-BE8B-282C-225B-DFD20874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3B82E-D18E-4D6E-B6EA-4E83A046E30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B22D-DBE6-74C3-ED49-C1A20DAA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4C5AB-ABAE-CBBB-8903-D68ECD95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45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FFF11C-05ED-C1B0-71B3-95DCFBD4D5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1371601"/>
                <a:ext cx="10369868" cy="4754564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 of Terms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probability (initial belief)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Likelihood (evidence given hypothesis)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(total probability of B)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Posterior probability (updated belief)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FFF11C-05ED-C1B0-71B3-95DCFBD4D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1371601"/>
                <a:ext cx="10369868" cy="4754564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1DE3-0409-832F-156A-85B86C3D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AA0B6-D011-4B0B-B077-25F494AF21D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141B4-4E35-BDCF-ED51-FA8009A1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D5030-8E38-97E3-C97E-C69DA3CA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EAEE28-A1A2-96E2-E194-AFA292E16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7" y="228600"/>
            <a:ext cx="10591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1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A23A0E-D612-3D5A-3B1F-1D952F66C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37" y="685800"/>
            <a:ext cx="10214134" cy="54403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C0E6-83B0-0BF7-F33C-3839B4B3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708D5-5210-4F3D-B8B9-C42D034908E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39D15-53C7-418C-4CD6-8EFC8373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AA53A-9820-C4D8-CEB8-48E8FE37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9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CDC4F-3F9B-2A49-3817-06B3A163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20C7-F711-417E-9AA7-0585F35697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92706-3E5C-D2F2-1E68-8FCABDDE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1F09-52CC-FA32-E308-B88B8F4E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8C2E7C-48CA-0089-CB41-F2B944057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037" y="533400"/>
            <a:ext cx="9829800" cy="51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9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BE068-9D23-7236-AA9E-23F26E41B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136524"/>
                <a:ext cx="10369868" cy="6188076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Problem: </a:t>
                </a:r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Sreenidhi has two bags. Bag I has 7 red and 4 blue balls, and Bag II has 5 red and 9 blue balls. Sreenidhi draws a ball at random, and it turns out to be red. Determine the probability that the ball was from the bag I.</a:t>
                </a:r>
              </a:p>
              <a:p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Data</a:t>
                </a:r>
              </a:p>
              <a:p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 I</a:t>
                </a:r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7 red, 4 blue → total = 11 </a:t>
                </a:r>
              </a:p>
              <a:p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 II</a:t>
                </a:r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5 red, 9 blue → total = 14 </a:t>
                </a:r>
              </a:p>
              <a:p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a bag is chosen </a:t>
                </a:r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randomly</a:t>
                </a:r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55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5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5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55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ar-AE" sz="55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55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55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5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5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55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ar-AE" sz="55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55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5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55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55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sz="5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Let:</a:t>
                </a:r>
                <a14:m>
                  <m:oMath xmlns:m="http://schemas.openxmlformats.org/officeDocument/2006/math">
                    <m:r>
                      <a:rPr lang="en-US" sz="55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event of drawing a red ball </a:t>
                </a:r>
              </a:p>
              <a:p>
                <a:endParaRPr lang="en-US" sz="5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5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1: Conditional Probabilities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5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5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55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5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55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55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55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5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ar-AE" sz="55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55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5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55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5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55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55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55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5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sz="550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br>
                  <a:rPr lang="ar-AE" sz="5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5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BE068-9D23-7236-AA9E-23F26E41B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136524"/>
                <a:ext cx="10369868" cy="6188076"/>
              </a:xfrm>
              <a:blipFill>
                <a:blip r:embed="rId2"/>
                <a:stretch>
                  <a:fillRect l="-1058" t="-2165" r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195E-FFAC-BAC0-7AE3-73561D2F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35A9-54AF-42B5-B8F1-BBBD77E65E4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9D3F8-0906-AC21-B1F0-601C2816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71288-A79B-8811-94EB-194C45D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9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0E6981-1094-3E06-6B2F-4038ED410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609601"/>
                <a:ext cx="10369868" cy="551656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Total Probability of Red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98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308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153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308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3: Apply Bayes’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ar-AE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153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308</m:t>
                              </m:r>
                            </m:den>
                          </m:f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308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153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153</m:t>
                          </m:r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0E6981-1094-3E06-6B2F-4038ED410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609601"/>
                <a:ext cx="10369868" cy="5516564"/>
              </a:xfrm>
              <a:blipFill>
                <a:blip r:embed="rId2"/>
                <a:stretch>
                  <a:fillRect l="-705" t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4E56-4736-412F-A8C5-B56EC6FC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4990-B03C-420A-9A84-FDEFAC02C0A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B1CA2-6F95-E06E-F9F7-F6EDFBD6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7ABB-AD89-7658-75C8-C255ADF5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38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08B1-0806-05B8-2D68-4B9E5FC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Concepts of Time and Uncertainty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BCCD-909C-8D35-1982-3E053EED0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1143001"/>
            <a:ext cx="10369868" cy="49831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 with changing environments (time)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or uncertain information (uncertainty)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—both are essential for real-world decision-making.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Concept of Time in AI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Time?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represents how a system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from one state to another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must: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past states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present state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states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5770-6983-B25C-3AF2-E76D92A7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89DF-9F52-4ABD-AF21-E3F80B33A0F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A6ED0-05CB-A8A7-211D-938B102B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591-32A8-807B-93D7-79172BD3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0B753-C237-1AEB-FB8F-939F46556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533401"/>
                <a:ext cx="10369868" cy="55927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 of Time Representation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Discrete Time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is divided into steps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Example: Daily stock prices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Continuous Time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flows continuously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Example: Temperature monitoring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Relationships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Describes how events relate over time: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Before 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After 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During 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Simultaneous.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0B753-C237-1AEB-FB8F-939F46556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533401"/>
                <a:ext cx="10369868" cy="5592764"/>
              </a:xfrm>
              <a:blipFill>
                <a:blip r:embed="rId2"/>
                <a:stretch>
                  <a:fillRect l="-1117" t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9C55-8C9A-FCC7-F76E-D808061C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390A-A2AE-430A-866F-F9D33C0D451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11F2-52C8-D01F-93CB-16AB70AE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50BF9-998D-3BFF-FD75-BC3A67F5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7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6CBA-6E89-FCEE-E37F-BA8D8C03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457201"/>
            <a:ext cx="10369868" cy="56689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Temporal Models</a:t>
            </a:r>
          </a:p>
          <a:p>
            <a:pPr marL="0" indent="0">
              <a:buNone/>
            </a:pPr>
            <a:r>
              <a:rPr lang="en-US" b="1" dirty="0"/>
              <a:t>State-Space Representation</a:t>
            </a:r>
          </a:p>
          <a:p>
            <a:r>
              <a:rPr lang="en-US" dirty="0"/>
              <a:t>System moves from one state to another over time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Markov Models</a:t>
            </a:r>
          </a:p>
          <a:p>
            <a:r>
              <a:rPr lang="en-US" dirty="0"/>
              <a:t>Future depends only on present state </a:t>
            </a:r>
          </a:p>
          <a:p>
            <a:pPr marL="0" indent="0">
              <a:buNone/>
            </a:pPr>
            <a:r>
              <a:rPr lang="en-US" dirty="0"/>
              <a:t> Includes:</a:t>
            </a:r>
          </a:p>
          <a:p>
            <a:r>
              <a:rPr lang="en-US" dirty="0"/>
              <a:t>Markov Decision Process </a:t>
            </a:r>
          </a:p>
          <a:p>
            <a:r>
              <a:rPr lang="en-US" dirty="0"/>
              <a:t>Hidden Markov Models (HMM)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Temporal Logic</a:t>
            </a:r>
          </a:p>
          <a:p>
            <a:r>
              <a:rPr lang="en-US" dirty="0"/>
              <a:t>Logic with time-based expressions </a:t>
            </a:r>
          </a:p>
          <a:p>
            <a:pPr marL="0" indent="0">
              <a:buNone/>
            </a:pPr>
            <a:r>
              <a:rPr lang="en-US" dirty="0" err="1"/>
              <a:t>Example:“Eventually</a:t>
            </a:r>
            <a:r>
              <a:rPr lang="en-US" dirty="0"/>
              <a:t> the system stops”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88E5-514E-0B8B-B313-67086054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0554-5F35-4B59-A5D5-3BE69F6A76B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8CAF7-82EE-F46C-928E-58EE2761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5A0B-6501-C757-3D2F-54B2FDA4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8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6DE1-C6BA-59EC-B880-28AEBC3F4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3" y="304800"/>
            <a:ext cx="10595133" cy="60197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Concept of Uncertainty in AI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Uncertainty?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arises when: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is incomplete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Observations are noisy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future is unpredictable 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of Uncertainty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Aleatory Uncertainty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randomness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Tossing a coin 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Epistemic Uncertainty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a lack of knowledge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Incomplete medical diagnosis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0C15-5B34-469C-79E4-67D8359B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45AE-A314-4644-B810-F0A12FA4DD9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40D3-BD91-A174-EB3A-2EBE3DF9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25DA4-F7EC-7908-10DC-3E153B65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0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198E6-20E5-A558-BFEE-07BF9D172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457201"/>
            <a:ext cx="10369868" cy="56689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to Handle Uncertainty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Probability Theory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numerical probabilities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concept: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Fuzzy Logic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vague information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“Temperature is hot”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Bayesian Networks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probabilistic models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Utility Theory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decision-making 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6AFEC-29E7-6837-27C8-A2194BD2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956F-EDFD-43B9-B25F-BAAFE04542D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DE8C-3758-5016-0BA9-1329CEE9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203AD-E869-7160-1E92-2F9FC878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10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0C94-61E9-20E8-4409-B9679B04D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381001"/>
            <a:ext cx="10369868" cy="57451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Combining Time and Uncertainty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AI problems involve both!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over time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 outcomes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Combining Both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Hidden Markov Models (HMM)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states + observable outputs.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Dynamic Bayesian Networks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Bayesian models over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Markov Decision Process (MDP)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over time under uncertainty.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F385-0520-46B1-16FF-5C147E25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915-0301-44C0-82E8-A0836A8AE6E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7303-CEFE-15AB-62D4-401D566A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E18F5-59E0-4A4C-49F9-0410F790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92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3070-1C91-FB22-041C-1316C6DF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228600"/>
            <a:ext cx="10369868" cy="5897565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Speech recognition 🎤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Robotics 🤖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Autonomous vehicles 🚗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Stock market prediction 📈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Medical diagnosis 🏥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D67D5-E23F-BA31-7421-4FD68CE8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753CF-6888-40BA-B0B1-BAA7D86D42C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FF6A-0182-126F-2B5D-0D4C9EC7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E67D-EB7A-0805-3429-3E920DC0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BF382E-40EA-0AE8-5AE4-EACE1A209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" y="3276600"/>
            <a:ext cx="10595134" cy="284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0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8568-7913-850F-985F-82ED2B69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792162"/>
          </a:xfrm>
        </p:spPr>
        <p:txBody>
          <a:bodyPr/>
          <a:lstStyle/>
          <a:p>
            <a:r>
              <a:rPr lang="en-US" dirty="0"/>
              <a:t>3. Utility Function in Artificial Intelligence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0699D-6AEC-8996-2260-005745BED6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utility function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mathematical tool that helps an AI system 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how good or desirable an outcome is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choose the best action.</a:t>
                </a:r>
              </a:p>
              <a:p>
                <a:pPr marL="0" indent="0">
                  <a:buNone/>
                </a:pP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utility function assigns a numerical value to each outcome:</a:t>
                </a:r>
              </a:p>
              <a:p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3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sz="3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ar-AE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 </a:t>
                </a:r>
              </a:p>
              <a:p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utility (preference value) </a:t>
                </a:r>
              </a:p>
              <a:p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Higher value → better outcome</a:t>
                </a:r>
                <a:b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Lower value → worse outcome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0699D-6AEC-8996-2260-005745BED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242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C7C5A-02D4-F2FF-52C5-DFDE1B2E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C28C-46BA-415A-9024-18AEAF1FC82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18F5-A4CC-6237-FFED-74141F21F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14218-B89B-AD15-F4C2-D325CB89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7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817C-2D99-6AC6-00BB-2B49DFAC92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3" y="533401"/>
                <a:ext cx="10442733" cy="559276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Utility Functions are Important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real-world AI: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Outcomes are uncertain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actions are possible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Utility functions help to: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 different choices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Handle uncertainty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optimal decisions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Expected Utility (Decision Rule)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 selects the action with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expected utility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𝐸𝑈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817C-2D99-6AC6-00BB-2B49DFAC9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3" y="533401"/>
                <a:ext cx="10442733" cy="5592764"/>
              </a:xfrm>
              <a:blipFill>
                <a:blip r:embed="rId2"/>
                <a:stretch>
                  <a:fillRect l="-1401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B75E3-F962-8994-754B-6E80F42F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88CCD-290C-4549-8B53-57128A0B086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34692-291F-A580-6672-BA2EF904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1337D-B205-D3FA-3F9E-AE27CF91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0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807D0-46E6-2329-09AD-A5C666910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Example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AI chooses between two actions: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A: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80% success → Utility = 100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20% failure → Utility = 0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𝐸𝑈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B: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60% success → Utility = 150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40% failure → Utility = 0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𝐸𝑈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B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(higher expected utility)</a:t>
                </a:r>
              </a:p>
              <a:p>
                <a:pPr marL="0" indent="0">
                  <a:buNone/>
                </a:pP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807D0-46E6-2329-09AD-A5C666910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  <a:blipFill>
                <a:blip r:embed="rId2"/>
                <a:stretch>
                  <a:fillRect l="-1411" t="-3011" b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72C56-9552-548A-887D-6E33C097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412B-17C9-4FE0-B0C7-C071E194F548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0A774-EE78-5DB1-8BEB-8A5321D1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DFA6E-19E6-72BC-26C3-82F33955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65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C47E-B8A0-6F62-5ADA-6E4CE789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381001"/>
            <a:ext cx="10369868" cy="5745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Utility Functions: Three Utility Functions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Risk-Averse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safer outcomes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increases slowly (concave) 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Risk-Neutral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only expected value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utility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Risk-Seeking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risky outcomes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increases rapidly (convex)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9B66D-05E5-D52A-32B8-E40EB157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AB6B-A891-435C-A0FC-FA76CF8279B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E67E0-68F8-AD01-3531-A5838B1B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83418-A3CB-B0C3-A3E7-32A384AB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86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8106-91B0-6D03-3F83-571AD3F3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381001"/>
            <a:ext cx="10369868" cy="57451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Represents preferences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Helps in rational decision-making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Used with probability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🏥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🤖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🚗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🎮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 💰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E295-7E79-4932-EC66-CA529C99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3ADE-B4E7-4903-9F23-E1FAA9E2A8A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DFA6E-9555-2744-B156-177D3449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57996-28B7-C204-B049-CE9677F6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763-E1B1-B4DD-8549-55428280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58975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8C566-A3BA-36BE-36C1-312860C6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4C46-E53B-4E55-88C9-8B9655902BB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2454-D5F4-E449-8B8D-B11C0505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7CE64-67C9-3915-B71D-2A6412C0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B379EF-91CD-BCA4-5C9C-1C2C7D76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37" y="787264"/>
            <a:ext cx="10290334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27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7428-A548-EDF6-B33A-D5C46B31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792162"/>
          </a:xfrm>
        </p:spPr>
        <p:txBody>
          <a:bodyPr/>
          <a:lstStyle/>
          <a:p>
            <a:r>
              <a:rPr lang="en-US" dirty="0"/>
              <a:t>4. Value of Information (</a:t>
            </a:r>
            <a:r>
              <a:rPr lang="en-US" dirty="0" err="1"/>
              <a:t>VoI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C4CA7-F3C1-C5C0-50C6-10CF76101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1219201"/>
                <a:ext cx="10369868" cy="490696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Artificial Intelligence, decision-making often occurs under uncertainty.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of Information (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concept that helps determine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whether acquiring additional information will improve the quality of a decision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of Information is the increase in expected utility obtained by acquiring additional information before making a decision.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VoI</m:t>
                      </m:r>
                      <m:r>
                        <a:rPr lang="en-US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EU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information</m:t>
                          </m:r>
                        </m:e>
                      </m:d>
                      <m:r>
                        <a:rPr lang="ar-AE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ar-AE" i="0" smtClean="0">
                          <a:latin typeface="Cambria Math" panose="02040503050406030204" pitchFamily="18" charset="0"/>
                        </a:rPr>
                        <m:t>EU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without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information</m:t>
                          </m:r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  <a14:m>
                  <m:oMath xmlns:m="http://schemas.openxmlformats.org/officeDocument/2006/math">
                    <m:r>
                      <a:rPr lang="en-US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EU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Expected Utility.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C4CA7-F3C1-C5C0-50C6-10CF76101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1219201"/>
                <a:ext cx="10369868" cy="4906964"/>
              </a:xfrm>
              <a:blipFill>
                <a:blip r:embed="rId2"/>
                <a:stretch>
                  <a:fillRect l="-1117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F56AE-FDF0-6109-B10F-42924F14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65884-EC53-487C-B4E6-918BA393422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EE74B-6B70-5D8C-5053-C5E31AAB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801C-4884-2DC9-7366-D1DD4F37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50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1D5FB-B577-463D-71FD-964192C5C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609601"/>
                <a:ext cx="10369868" cy="551656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 of Value of Information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Value of Perfect Information (VPI)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completely accurate information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possible improvement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Value of Imperfect Information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may be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 or noisy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 realistic in practical scenarios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 to Calculate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VoI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expected utility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information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expected utility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information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Subtract: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VoI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1D5FB-B577-463D-71FD-964192C5C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609601"/>
                <a:ext cx="10369868" cy="5516564"/>
              </a:xfrm>
              <a:blipFill>
                <a:blip r:embed="rId2"/>
                <a:stretch>
                  <a:fillRect l="-1117" t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20C5C-4C18-5DBE-9EF4-42C7B06E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51F1-887D-4EBE-B120-02D47E6138B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73F2-4BE1-9928-8539-B01EEA9C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DCAC9-675D-193C-A5F7-52AC6A42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80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58D2B-512F-9ED8-5CD1-C467FF429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doctor must choose a treatment: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Test: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Treatment A → EU = 80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Treatment B → EU = 70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Best choice = A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Test: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performing a test → better decision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Utility = 90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VoI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information improves decision quality by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 units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Rule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Cost of information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Acquire information ✔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Cost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Do not acquire ✘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58D2B-512F-9ED8-5CD1-C467FF429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  <a:blipFill>
                <a:blip r:embed="rId2"/>
                <a:stretch>
                  <a:fillRect l="-764" t="-1885" b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3A08F-5837-2B71-A5BC-B0D3307E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A6553-EFA7-4578-B1C8-D607C163BA6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1994-A82B-3563-3455-9DD325A8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D369A-7120-58A6-69F8-9ABB94AB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8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9818E-C62E-EA85-F074-9008F9694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457201"/>
            <a:ext cx="10369868" cy="5668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r>
              <a:rPr lang="en-US" dirty="0"/>
              <a:t>Medical diagnosis (lab tests) </a:t>
            </a:r>
          </a:p>
          <a:p>
            <a:r>
              <a:rPr lang="en-US" dirty="0"/>
              <a:t>Business and investment decisions </a:t>
            </a:r>
          </a:p>
          <a:p>
            <a:r>
              <a:rPr lang="en-US" dirty="0"/>
              <a:t>Robotics and sensor systems </a:t>
            </a:r>
          </a:p>
          <a:p>
            <a:r>
              <a:rPr lang="en-US" dirty="0"/>
              <a:t>Weather prediction </a:t>
            </a:r>
          </a:p>
          <a:p>
            <a:r>
              <a:rPr lang="en-US" dirty="0"/>
              <a:t>Risk analysis </a:t>
            </a:r>
            <a:br>
              <a:rPr lang="en-US" dirty="0"/>
            </a:br>
            <a:r>
              <a:rPr lang="en-US" b="1" dirty="0"/>
              <a:t>Advantages</a:t>
            </a:r>
          </a:p>
          <a:p>
            <a:pPr marL="0" indent="0">
              <a:buNone/>
            </a:pPr>
            <a:r>
              <a:rPr lang="en-US" dirty="0"/>
              <a:t>✔ Improves decision accuracy</a:t>
            </a:r>
            <a:br>
              <a:rPr lang="en-US" dirty="0"/>
            </a:br>
            <a:r>
              <a:rPr lang="en-US" dirty="0"/>
              <a:t>✔ Helps avoid unnecessary data collection</a:t>
            </a:r>
            <a:br>
              <a:rPr lang="en-US" dirty="0"/>
            </a:br>
            <a:r>
              <a:rPr lang="en-US" dirty="0"/>
              <a:t>✔ Saves cost and time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A91A-79D2-F98E-6703-60B81ED0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F38C8-DE2C-4F59-AEF3-562955DD51F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2E11F-A7B4-A035-2676-C256B6DC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0C96-E724-3CAD-4D3F-360CEEB0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06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357F-8341-7D7B-7D86-42E2B0D8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792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Value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56F7-10E5-2B96-B588-0B204EFF1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Iteration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fundamental algorithm used to solve decision-making problems modeled as a Markov Decision Process. It helps an agent 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policy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computing the best value for each state.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real-world problems: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of actions is uncertain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must be made over time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Iteration is used to compute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decisions step-by-step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457B-F512-BE09-B904-12EBC5B9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D7C0-3277-46CA-8068-81A1AAB636B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979C2-ED99-ED7B-908B-8C90F2A8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6BD14-DFB8-C8C1-A626-3674AEA2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0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54B6D-3B1F-CC64-95D7-39A3F5A9A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Bellman Optimality Equation</a:t>
                </a: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Steps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Initialize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states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Repeat: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each state using Bellman equation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Stop when values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Extract optimal policy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54B6D-3B1F-CC64-95D7-39A3F5A9A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  <a:blipFill>
                <a:blip r:embed="rId2"/>
                <a:stretch>
                  <a:fillRect l="-1117" t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CB83F-D862-5A82-B1E0-C919CDD9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FFDF1-842F-4C12-9DE1-67C9CE719E3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F8D1-05D0-4CDB-8C5B-49B287A7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87DD-998B-FA03-B913-D9C69D37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0694A2-DCF4-5797-4650-31B6EB703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03" y="838201"/>
            <a:ext cx="9375933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28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C1B51-044D-AF9E-A722-1FD4C5382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Example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1: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2: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updated using future rewards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Continue until stable values are reached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Extraction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computing values: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/>
                            </m:func>
                          </m:e>
                          <m:li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e>
                    </m:func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Gives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action for each state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C1B51-044D-AF9E-A722-1FD4C5382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  <a:blipFill>
                <a:blip r:embed="rId2"/>
                <a:stretch>
                  <a:fillRect l="-764" t="-1911" b="-6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F70B-4094-E39E-5D3C-260FD64E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AF8D4-962B-434C-94ED-04DEA429F9A8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923A-24C0-38D5-9382-09BA839C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C7545-7EFA-CF6D-A39E-B75B02A0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51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82BCC-B542-57BB-1092-617ADFDAC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</p:spPr>
            <p:txBody>
              <a:bodyPr>
                <a:normAutofit fontScale="40000" lnSpcReduction="20000"/>
              </a:bodyPr>
              <a:lstStyle/>
              <a:p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Bellman Equation</a:t>
                </a:r>
              </a:p>
              <a:p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40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1: Initialize Values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Iteration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br>
                  <a:rPr lang="ar-AE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Iteration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br>
                  <a:rPr lang="ar-AE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4: Iteration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5: Iteration 4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42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878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0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ar-AE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sz="4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42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4000">
                        <a:latin typeface="Cambria Math" panose="02040503050406030204" pitchFamily="18" charset="0"/>
                      </a:rPr>
                      <m:t>878</m:t>
                    </m:r>
                  </m:oMath>
                </a14:m>
                <a:endParaRPr lang="ar-AE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82BCC-B542-57BB-1092-617ADFDAC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  <a:blipFill>
                <a:blip r:embed="rId2"/>
                <a:stretch>
                  <a:fillRect l="-353" t="-1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91787-E332-3D73-F16C-DB351F05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8628-4A37-411A-96B6-9D0694EE8D9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35260-A461-E28F-533A-A5E73984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FF499-A36A-EA8C-6C7C-A38CBDCF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16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7F5D-450C-1575-BD91-B1769FD11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457201"/>
            <a:ext cx="10369868" cy="56689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Guarantees optimal solution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Simple and widely used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Works well with known models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Computationally expensive for large states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Requires full model (probabilities, rewards)</a:t>
            </a:r>
          </a:p>
          <a:p>
            <a:pPr marL="0" indent="0">
              <a:buNone/>
            </a:pP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🤖 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🎮 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🚗 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4B16-4618-14E4-7EFD-22A23DC23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A82-9D0A-44CF-8F56-41D2FD4C41F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0F96-D88F-4FA4-A23D-72D83C1E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2990E-3E82-7D74-0AAD-30974417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01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3864-5DB0-1DB1-D072-AFCCBD63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792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Policy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A759-EE6F-341C-A766-A6FB8D034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1143001"/>
            <a:ext cx="10369868" cy="49831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Iteration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algorithm used to 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policy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action for each state) in a Markov Decision Process.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decision-making problems: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 must choose actions in different states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action gives rewards over time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Iteration finds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strategy (policy)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 policy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it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7A07E-591D-C2B3-7544-CFFA0B4F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7BE0-ECAD-4777-83C4-7DBF58A2061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E453B-7937-0428-4BDF-AA5021F3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7D9D2-5FFA-BF35-DA66-F79FA836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74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ED304-C34D-09A4-9A3A-0318DEA58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Main Steps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Policy Evaluation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value of each state for a given policy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Improvement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policy by choosing better actions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/>
                            </m:fun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</m:t>
                        </m:r>
                      </m:e>
                    </m:d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Steps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Initialize a random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Policy Evaluation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states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Policy Improvement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policy using max operator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Repeat steps 2 &amp; 3 until policy stops changing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ED304-C34D-09A4-9A3A-0318DEA58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  <a:blipFill>
                <a:blip r:embed="rId2"/>
                <a:stretch>
                  <a:fillRect l="-764" t="-1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5D164-B645-C9D0-A7C1-6393EA8C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7445-14A0-4F0E-A89B-281E5E6F532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82C47-F4DB-ABA8-A24A-4E627FF6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89CDA-22B4-84ED-55BD-B1123CDF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2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205E70-B938-21BC-CCD8-2380F1E8B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Example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 Policy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Policy Evaluation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values based on current policy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Policy Improvement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if better actions exist: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yes → update policy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no → optimal policy found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205E70-B938-21BC-CCD8-2380F1E8B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457201"/>
                <a:ext cx="10369868" cy="5668964"/>
              </a:xfrm>
              <a:blipFill>
                <a:blip r:embed="rId2"/>
                <a:stretch>
                  <a:fillRect l="-647"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3B3F-C564-89A3-1283-F142E7D7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0413-1125-4060-A76C-77087DA85C99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421B-8462-3286-D6E7-C782DABA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66C2-3D00-C12E-E88E-F1A7273C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94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9773-79B6-B015-9834-C5C51D85C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228601"/>
            <a:ext cx="10369868" cy="58975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convergence in many cases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Directly gives optimal policy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to understand conceptually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Policy evaluation can be costly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Requires full knowledge of model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🤖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AI 🎮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🚗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4DC04-E2B8-0404-9DE2-F7D1EA45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4B6B-1C8B-47DC-9A59-8D2314162AE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4E13D-9256-67F1-1D02-8C3E423B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46BE0-8CEC-9EB2-352C-50915176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08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58CE-C307-EB60-19A9-460DEA4FF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5635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numerical example of Policy Iteration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C4FE5-DFC1-9A05-AD94-AC4C52926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990601"/>
                <a:ext cx="10369868" cy="536575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Setup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Discount factor: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&amp; Rewards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= 5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= 10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= 2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= 3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C4FE5-DFC1-9A05-AD94-AC4C52926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990601"/>
                <a:ext cx="10369868" cy="5365750"/>
              </a:xfrm>
              <a:blipFill>
                <a:blip r:embed="rId2"/>
                <a:stretch>
                  <a:fillRect l="-764" t="-2045" b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F87D1-F123-363E-DF4B-44E8DEFC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E8A3-A473-4132-8F13-89E1B0BCDC9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60C8-B34D-651F-38F9-24AA08C3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4739C-267C-9496-EC63-4323BC29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07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569EB2-932D-12E6-61A6-D696E9533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Policy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initial policy: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8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2: Policy Evaluation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current policy: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br>
                  <a:rPr lang="ar-AE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38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3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3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3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br>
                  <a:rPr lang="ar-AE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Policy Improvement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check if better actions exist.</a:t>
                </a:r>
                <a:b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80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380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change)</a:t>
                </a:r>
              </a:p>
              <a:p>
                <a:pPr marL="0" indent="0">
                  <a:buNone/>
                </a:pPr>
                <a:endPara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80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47</m:t>
                      </m:r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380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ar-AE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80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</m:d>
                      <m:r>
                        <a:rPr lang="ar-AE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80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ar-AE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3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3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 policy)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569EB2-932D-12E6-61A6-D696E9533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  <a:blipFill>
                <a:blip r:embed="rId2"/>
                <a:stretch>
                  <a:fillRect l="-235" t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78B6-8043-2593-A168-D45B6730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8D34-84AB-4E7F-BF36-16FF210A195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B454B-CA6A-8A99-ADC0-803FCA87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64F11-3045-94C8-7D44-697FCB48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09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6761F-C57E-0B7E-AB71-A15243DE2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136525"/>
                <a:ext cx="10369868" cy="598964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Policy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4: Policy Evaluation (New Policy)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substitute: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Policy Improvement Again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update)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change)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6761F-C57E-0B7E-AB71-A15243DE2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136525"/>
                <a:ext cx="10369868" cy="5989640"/>
              </a:xfrm>
              <a:blipFill>
                <a:blip r:embed="rId2"/>
                <a:stretch>
                  <a:fillRect l="-529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76EDD-22FB-2A11-A1A7-4059E741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4DA1-0045-41BD-88FA-E17CCAC17D2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2D55C-1B51-EA25-F568-C23B79E0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00E7-1838-AE9A-1F55-77EC07D7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363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820A5-43DC-6E6A-9187-AE498FA07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136525"/>
                <a:ext cx="10369868" cy="598964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Policy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6: Final Check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Re-evaluate and improve: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 further changes →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policy reached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Final Answer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Policy: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Values: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820A5-43DC-6E6A-9187-AE498FA07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136525"/>
                <a:ext cx="10369868" cy="5989640"/>
              </a:xfrm>
              <a:blipFill>
                <a:blip r:embed="rId2"/>
                <a:stretch>
                  <a:fillRect l="-882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FAB9-AC89-D20D-6BC9-DE5C7417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9DE-E923-45E2-9D9F-8DB2A91C22B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3B05-0A8C-FF7A-1ED8-6ED124C9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FB5A-EA4E-C417-3F3F-083BCAF3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40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AC25-B5FB-9D47-D5F8-C702FA7C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4" y="136524"/>
            <a:ext cx="10369868" cy="854076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Partially Observable MDP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C107-5E58-FF13-AEB4-86ACD9636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4" y="1066801"/>
            <a:ext cx="10369868" cy="505936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Observable Markov Decision Process (POMDP)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a Markov Decision Process where the agent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directly observe the true state of the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real-world situations: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state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or uncertain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receives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or noisy observations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POMDP helps an agent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optimal decisions under uncertainty and incomplete information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2F2F7-54F7-1609-3B11-ED1B3103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2C2B-E717-4510-AE8D-B530E8E98EA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461EB-8204-386E-3F56-C2E00FF5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5C70C-F654-2B63-1E72-9B6DE07C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604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4F10D-AAEE-91DE-CDDC-84BF9B2BD8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Components of POMDP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POMDP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Set of states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Set of actions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probability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function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Set of observations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 probability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Discount factor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4F10D-AAEE-91DE-CDDC-84BF9B2BD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04801"/>
                <a:ext cx="10369868" cy="5821364"/>
              </a:xfrm>
              <a:blipFill>
                <a:blip r:embed="rId2"/>
                <a:stretch>
                  <a:fillRect l="-1411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F4D04-0EBA-6082-6434-0ECA3A49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EDD2-265A-40B9-9752-0C7AE0D1EF2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D77FB-0670-DE98-046E-9ED9FC65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282F8-1029-2B22-8B79-8C684F20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509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0623D-F056-CCFA-C41F-60F92A3C3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Belief State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 true state is unknown, the agent uses: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Belief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that system is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Belief is updated after every action and observation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Belief Update Equation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𝑠𝑎</m:t>
                        </m:r>
                      </m:e>
                    </m:d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normalization constant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belief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0623D-F056-CCFA-C41F-60F92A3C3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  <a:blipFill>
                <a:blip r:embed="rId2"/>
                <a:stretch>
                  <a:fillRect l="-1529" t="-1448" b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A6833-DFC4-9850-10ED-4F3ABA79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40A6-4E28-48A3-890D-72A1ECC393A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F136-1B54-D5AC-8E34-866819BC8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D0D10-2E0F-23BD-BE3E-233E517D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098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0B47AF-0975-0D37-19D4-0AA83DA94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037" y="640424"/>
            <a:ext cx="9982200" cy="515011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AA931-650E-08B1-1088-9233DEC0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CAF2-3C92-4FBB-B630-66688A9AA5B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EE66-648C-910F-BE32-C4147CBB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9BCF9-938D-1A5D-95E4-4B2E2984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19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759211-75C9-EB8D-3827-53EA19306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Problem: POMDP (Belief Update)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🔷 Problem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robot can be in two states: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room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Dirty room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belief: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Robot performs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“Clean”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model: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Clean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Clean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Observation: Robot senses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“Clean”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 model: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Clean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Clean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Find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belief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759211-75C9-EB8D-3827-53EA19306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381001"/>
                <a:ext cx="10369868" cy="5745164"/>
              </a:xfrm>
              <a:blipFill>
                <a:blip r:embed="rId2"/>
                <a:stretch>
                  <a:fillRect l="-764" t="-1911" b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298BB-FECE-ADC3-F621-780108F8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AFFC-0B95-4A15-8538-2983B544A75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E4CE8-C274-5C67-935C-5027E7E5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3D826-2077-9817-9452-0A8AAF14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86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90110-C272-1079-886A-230D8C6DE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Prediction (Before Observation)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82</m:t>
                      </m:r>
                    </m:oMath>
                  </m:oMathPara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Apply Observation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Clean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656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Normalize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054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656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054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71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Step 4: Final Beliefs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656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71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924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054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71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076</m:t>
                      </m:r>
                    </m:oMath>
                  </m:oMathPara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Final Answer: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924</m:t>
                    </m:r>
                  </m:oMath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076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90110-C272-1079-886A-230D8C6DE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104" y="228601"/>
                <a:ext cx="10369868" cy="5897564"/>
              </a:xfrm>
              <a:blipFill>
                <a:blip r:embed="rId2"/>
                <a:stretch>
                  <a:fillRect l="-235" t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505C7-AAB3-ADB0-AABE-1D3A2FC8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B739-45B0-4F17-9419-E1D4C2BF43E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9E823-344B-F84F-357F-1E0D3179D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08B7A-C80B-9E17-A2E5-7ECA6FE9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0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3743</TotalTime>
  <Words>3432</Words>
  <Application>Microsoft Office PowerPoint</Application>
  <PresentationFormat>Custom</PresentationFormat>
  <Paragraphs>670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Times New Roman</vt:lpstr>
      <vt:lpstr>Wingdings</vt:lpstr>
      <vt:lpstr>Office Theme</vt:lpstr>
      <vt:lpstr>COURSE ARTIFICIAL INTELLIGENCE AND DEEP LEARNING (AIDL)</vt:lpstr>
      <vt:lpstr>UNIT IV </vt:lpstr>
      <vt:lpstr>Uncertain Knowledge and Reasoning</vt:lpstr>
      <vt:lpstr>PowerPoint Presentation</vt:lpstr>
      <vt:lpstr>PowerPoint Presentation</vt:lpstr>
      <vt:lpstr>1. Bayes’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Concepts of Time and Uncertainty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Utility Function in 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Value of Information (VoI)</vt:lpstr>
      <vt:lpstr>PowerPoint Presentation</vt:lpstr>
      <vt:lpstr>PowerPoint Presentation</vt:lpstr>
      <vt:lpstr>PowerPoint Presentation</vt:lpstr>
      <vt:lpstr>5. Value Iteration</vt:lpstr>
      <vt:lpstr>PowerPoint Presentation</vt:lpstr>
      <vt:lpstr>PowerPoint Presentation</vt:lpstr>
      <vt:lpstr>PowerPoint Presentation</vt:lpstr>
      <vt:lpstr>PowerPoint Presentation</vt:lpstr>
      <vt:lpstr>6. Policy Iteration</vt:lpstr>
      <vt:lpstr>PowerPoint Presentation</vt:lpstr>
      <vt:lpstr>PowerPoint Presentation</vt:lpstr>
      <vt:lpstr>PowerPoint Presentation</vt:lpstr>
      <vt:lpstr>step-by-step numerical example of Policy Iteration </vt:lpstr>
      <vt:lpstr>PowerPoint Presentation</vt:lpstr>
      <vt:lpstr>PowerPoint Presentation</vt:lpstr>
      <vt:lpstr>PowerPoint Presentation</vt:lpstr>
      <vt:lpstr> 7. Partially Observable MDP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UNIT-IV</dc:title>
  <dc:creator>thatiparthi rajini kanth</dc:creator>
  <cp:lastModifiedBy>Pasam Ramu</cp:lastModifiedBy>
  <cp:revision>142</cp:revision>
  <dcterms:created xsi:type="dcterms:W3CDTF">2006-08-16T00:00:00Z</dcterms:created>
  <dcterms:modified xsi:type="dcterms:W3CDTF">2026-04-15T01:24:01Z</dcterms:modified>
</cp:coreProperties>
</file>