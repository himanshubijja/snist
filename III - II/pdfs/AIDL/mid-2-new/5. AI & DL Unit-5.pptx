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4"/>
  </p:notesMasterIdLst>
  <p:sldIdLst>
    <p:sldId id="289" r:id="rId3"/>
    <p:sldId id="257" r:id="rId4"/>
    <p:sldId id="283" r:id="rId5"/>
    <p:sldId id="284" r:id="rId6"/>
    <p:sldId id="285" r:id="rId7"/>
    <p:sldId id="286" r:id="rId8"/>
    <p:sldId id="287" r:id="rId9"/>
    <p:sldId id="288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319" r:id="rId18"/>
    <p:sldId id="320" r:id="rId19"/>
    <p:sldId id="321" r:id="rId20"/>
    <p:sldId id="322" r:id="rId21"/>
    <p:sldId id="323" r:id="rId22"/>
    <p:sldId id="324" r:id="rId23"/>
    <p:sldId id="325" r:id="rId24"/>
    <p:sldId id="326" r:id="rId25"/>
    <p:sldId id="327" r:id="rId26"/>
    <p:sldId id="328" r:id="rId27"/>
    <p:sldId id="329" r:id="rId28"/>
    <p:sldId id="330" r:id="rId29"/>
    <p:sldId id="331" r:id="rId30"/>
    <p:sldId id="332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11" r:id="rId41"/>
    <p:sldId id="309" r:id="rId42"/>
    <p:sldId id="297" r:id="rId43"/>
    <p:sldId id="298" r:id="rId44"/>
    <p:sldId id="312" r:id="rId45"/>
    <p:sldId id="313" r:id="rId46"/>
    <p:sldId id="314" r:id="rId47"/>
    <p:sldId id="306" r:id="rId48"/>
    <p:sldId id="307" r:id="rId49"/>
    <p:sldId id="381" r:id="rId50"/>
    <p:sldId id="315" r:id="rId51"/>
    <p:sldId id="308" r:id="rId52"/>
    <p:sldId id="316" r:id="rId53"/>
    <p:sldId id="317" r:id="rId54"/>
    <p:sldId id="318" r:id="rId55"/>
    <p:sldId id="342" r:id="rId56"/>
    <p:sldId id="343" r:id="rId57"/>
    <p:sldId id="344" r:id="rId58"/>
    <p:sldId id="345" r:id="rId59"/>
    <p:sldId id="346" r:id="rId60"/>
    <p:sldId id="347" r:id="rId61"/>
    <p:sldId id="348" r:id="rId62"/>
    <p:sldId id="349" r:id="rId63"/>
    <p:sldId id="350" r:id="rId64"/>
    <p:sldId id="351" r:id="rId65"/>
    <p:sldId id="352" r:id="rId66"/>
    <p:sldId id="353" r:id="rId67"/>
    <p:sldId id="354" r:id="rId68"/>
    <p:sldId id="355" r:id="rId69"/>
    <p:sldId id="356" r:id="rId70"/>
    <p:sldId id="359" r:id="rId71"/>
    <p:sldId id="357" r:id="rId72"/>
    <p:sldId id="358" r:id="rId73"/>
    <p:sldId id="360" r:id="rId74"/>
    <p:sldId id="362" r:id="rId75"/>
    <p:sldId id="363" r:id="rId76"/>
    <p:sldId id="364" r:id="rId77"/>
    <p:sldId id="365" r:id="rId78"/>
    <p:sldId id="366" r:id="rId79"/>
    <p:sldId id="367" r:id="rId80"/>
    <p:sldId id="368" r:id="rId81"/>
    <p:sldId id="369" r:id="rId82"/>
    <p:sldId id="370" r:id="rId83"/>
    <p:sldId id="371" r:id="rId84"/>
    <p:sldId id="372" r:id="rId85"/>
    <p:sldId id="373" r:id="rId86"/>
    <p:sldId id="374" r:id="rId87"/>
    <p:sldId id="375" r:id="rId88"/>
    <p:sldId id="376" r:id="rId89"/>
    <p:sldId id="377" r:id="rId90"/>
    <p:sldId id="378" r:id="rId91"/>
    <p:sldId id="379" r:id="rId92"/>
    <p:sldId id="380" r:id="rId93"/>
  </p:sldIdLst>
  <p:sldSz cx="1123315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53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69" autoAdjust="0"/>
  </p:normalViewPr>
  <p:slideViewPr>
    <p:cSldViewPr>
      <p:cViewPr varScale="1">
        <p:scale>
          <a:sx n="99" d="100"/>
          <a:sy n="99" d="100"/>
        </p:scale>
        <p:origin x="96" y="244"/>
      </p:cViewPr>
      <p:guideLst>
        <p:guide orient="horz" pos="2160"/>
        <p:guide pos="353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4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E8148-F222-440C-8F37-83E241B08B57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20713" y="685800"/>
            <a:ext cx="56165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C87933-DF9E-480B-8ED2-C207DCC073D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2486" y="2130426"/>
            <a:ext cx="9548178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4973" y="3886200"/>
            <a:ext cx="7863205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F2F41-F762-455A-A8EF-6C691D6DE0A6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341" y="4406901"/>
            <a:ext cx="954817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341" y="2906713"/>
            <a:ext cx="954817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CE83-25B0-4337-90EC-0F0AABB4DEFD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1657" y="1600201"/>
            <a:ext cx="496130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0185" y="1600201"/>
            <a:ext cx="496130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AFE47-344C-49F4-928E-A2C64CC7355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657" y="1535113"/>
            <a:ext cx="496325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1657" y="2174875"/>
            <a:ext cx="496325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6285" y="1535113"/>
            <a:ext cx="496520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6285" y="2174875"/>
            <a:ext cx="496520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BE785-2AE4-4051-AF2B-FE99BD64BE77}" type="datetime1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2AE04-750D-4329-9FF5-6997E1AD8D2F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DDAA5-8627-4534-BD1C-1B3BFE222799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658" y="273050"/>
            <a:ext cx="369562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1850" y="273051"/>
            <a:ext cx="627964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1658" y="1435101"/>
            <a:ext cx="369562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327182-3BA0-4226-BF6D-82CDE9561BCC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1776" y="4800600"/>
            <a:ext cx="673989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01776" y="612775"/>
            <a:ext cx="673989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01776" y="5367338"/>
            <a:ext cx="673989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AAFDC-EF34-4099-9E7C-9D64662D9FC9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6ABC7-2790-4FEB-9C48-2CA5F5C9E63A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44034" y="274639"/>
            <a:ext cx="2527459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1658" y="274639"/>
            <a:ext cx="7395157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3AFC2-11CF-4E92-A01D-4F961968A691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61657" y="273600"/>
            <a:ext cx="10108951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/>
            </a:lvl1pPr>
          </a:lstStyle>
          <a:p>
            <a:pPr indent="0" algn="ctr">
              <a:buNone/>
            </a:pPr>
            <a:endParaRPr lang="en-US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61657" y="1604520"/>
            <a:ext cx="10108951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>
              <a:spcBef>
                <a:spcPts val="1417"/>
              </a:spcBef>
              <a:buNone/>
              <a:defRPr/>
            </a:lvl1pPr>
          </a:lstStyle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AEE5FD-FE86-4142-8F11-32AB513D6210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394EA0D4-4B40-4B36-80CA-79E77E472534}" type="datetime1">
              <a:rPr lang="en-US" smtClean="0"/>
              <a:t>4/3/2026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836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1658" y="1600201"/>
            <a:ext cx="1010983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1658" y="6356351"/>
            <a:ext cx="26210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ED9CD-D5DF-4A6A-98B0-3495180EF69F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37993" y="6356351"/>
            <a:ext cx="3557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0424" y="6356351"/>
            <a:ext cx="26210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61657" y="273600"/>
            <a:ext cx="10108951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61657" y="1604520"/>
            <a:ext cx="10108951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819271" y="6378120"/>
            <a:ext cx="3593724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r>
              <a:rPr lang="en-US"/>
              <a:t>Mr P Ramu,Assistant Professor,CSE</a:t>
            </a: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8087868" y="6378120"/>
            <a:ext cx="258274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strike="noStrike" spc="-1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fld id="{AC4A028C-7575-44CC-9BF8-D4811789CD03}" type="slidenum">
              <a:rPr lang="en-US" smtClean="0"/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61658" y="6378120"/>
            <a:ext cx="2582740" cy="34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fld id="{2F8839F1-4B6A-4374-BD33-06436CA890E1}" type="datetime1">
              <a:rPr lang="en-US" smtClean="0"/>
              <a:t>4/3/2026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11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/>
  <p:txStyles>
    <p:titleStyle>
      <a:lvl1pPr indent="0"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00" rtl="0" eaLnBrk="1" latinLnBrk="0" hangingPunct="1">
        <a:lnSpc>
          <a:spcPct val="90000"/>
        </a:lnSpc>
        <a:spcBef>
          <a:spcPts val="1417"/>
        </a:spcBef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gi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object 2"/>
          <p:cNvPicPr/>
          <p:nvPr/>
        </p:nvPicPr>
        <p:blipFill>
          <a:blip r:embed="rId2"/>
          <a:stretch/>
        </p:blipFill>
        <p:spPr>
          <a:xfrm>
            <a:off x="4132947" y="3740040"/>
            <a:ext cx="3827157" cy="727920"/>
          </a:xfrm>
          <a:prstGeom prst="rect">
            <a:avLst/>
          </a:prstGeom>
          <a:ln w="0">
            <a:noFill/>
          </a:ln>
        </p:spPr>
      </p:pic>
      <p:sp>
        <p:nvSpPr>
          <p:cNvPr id="36" name="object 3"/>
          <p:cNvSpPr/>
          <p:nvPr/>
        </p:nvSpPr>
        <p:spPr>
          <a:xfrm>
            <a:off x="4847511" y="3756961"/>
            <a:ext cx="4771835" cy="10111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3320" rIns="0" bIns="0" anchor="t">
            <a:spAutoFit/>
          </a:bodyPr>
          <a:lstStyle/>
          <a:p>
            <a:pPr marL="12600">
              <a:spcBef>
                <a:spcPts val="105"/>
              </a:spcBef>
            </a:pPr>
            <a:r>
              <a:rPr lang="en-US" sz="3200" spc="-151" dirty="0">
                <a:solidFill>
                  <a:srgbClr val="000000"/>
                </a:solidFill>
                <a:latin typeface="Times New Roman"/>
              </a:rPr>
              <a:t>    UNIT-V</a:t>
            </a:r>
          </a:p>
          <a:p>
            <a:pPr marL="12600">
              <a:spcBef>
                <a:spcPts val="105"/>
              </a:spcBef>
            </a:pP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object 4"/>
          <p:cNvPicPr/>
          <p:nvPr/>
        </p:nvPicPr>
        <p:blipFill>
          <a:blip r:embed="rId3"/>
          <a:stretch/>
        </p:blipFill>
        <p:spPr>
          <a:xfrm>
            <a:off x="1484855" y="1110960"/>
            <a:ext cx="8074800" cy="218160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484855" y="1126080"/>
            <a:ext cx="7713120" cy="2207160"/>
          </a:xfrm>
          <a:prstGeom prst="rect">
            <a:avLst/>
          </a:prstGeom>
          <a:noFill/>
          <a:ln w="0">
            <a:noFill/>
          </a:ln>
        </p:spPr>
        <p:txBody>
          <a:bodyPr lIns="0" tIns="12600" rIns="0" bIns="0" anchor="t">
            <a:noAutofit/>
          </a:bodyPr>
          <a:lstStyle/>
          <a:p>
            <a:pPr marL="12600" indent="2025720">
              <a:lnSpc>
                <a:spcPct val="100000"/>
              </a:lnSpc>
              <a:spcBef>
                <a:spcPts val="99"/>
              </a:spcBef>
              <a:tabLst>
                <a:tab pos="0" algn="l"/>
              </a:tabLst>
            </a:pPr>
            <a:r>
              <a:rPr lang="en-US" sz="3600" spc="-41" dirty="0">
                <a:solidFill>
                  <a:schemeClr val="dk1"/>
                </a:solidFill>
                <a:latin typeface="Times New Roman"/>
              </a:rPr>
              <a:t>COURSE</a:t>
            </a:r>
            <a:br>
              <a:rPr lang="en-US" sz="3600" spc="-41" dirty="0">
                <a:solidFill>
                  <a:schemeClr val="dk1"/>
                </a:solidFill>
                <a:latin typeface="Times New Roman"/>
              </a:rPr>
            </a:br>
            <a:r>
              <a:rPr lang="en-US" sz="3200" spc="-100" dirty="0">
                <a:solidFill>
                  <a:schemeClr val="dk1"/>
                </a:solidFill>
                <a:latin typeface="Times New Roman"/>
              </a:rPr>
              <a:t>ARTIFICIAL</a:t>
            </a:r>
            <a:r>
              <a:rPr lang="en-US" sz="3200" spc="-52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80" dirty="0">
                <a:solidFill>
                  <a:schemeClr val="dk1"/>
                </a:solidFill>
                <a:latin typeface="Times New Roman"/>
              </a:rPr>
              <a:t>INTELLIGENCE </a:t>
            </a:r>
            <a:r>
              <a:rPr lang="en-US" sz="3200" spc="-262" dirty="0">
                <a:solidFill>
                  <a:schemeClr val="dk1"/>
                </a:solidFill>
                <a:latin typeface="Times New Roman"/>
              </a:rPr>
              <a:t>AND</a:t>
            </a:r>
            <a:r>
              <a:rPr lang="en-US" sz="3200" spc="-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32" dirty="0">
                <a:solidFill>
                  <a:schemeClr val="dk1"/>
                </a:solidFill>
                <a:latin typeface="Times New Roman"/>
              </a:rPr>
              <a:t>DEEP</a:t>
            </a:r>
            <a:r>
              <a:rPr lang="en-US" sz="3200" spc="-15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185" dirty="0">
                <a:solidFill>
                  <a:schemeClr val="dk1"/>
                </a:solidFill>
                <a:latin typeface="Times New Roman"/>
              </a:rPr>
              <a:t>LEARNING</a:t>
            </a:r>
            <a:r>
              <a:rPr lang="en-US" sz="3200" spc="-41" dirty="0">
                <a:solidFill>
                  <a:schemeClr val="dk1"/>
                </a:solidFill>
                <a:latin typeface="Times New Roman"/>
              </a:rPr>
              <a:t> </a:t>
            </a:r>
            <a:r>
              <a:rPr lang="en-US" sz="3200" spc="-12" dirty="0">
                <a:solidFill>
                  <a:schemeClr val="dk1"/>
                </a:solidFill>
                <a:latin typeface="Times New Roman"/>
              </a:rPr>
              <a:t>(AIDL)</a:t>
            </a:r>
            <a:endParaRPr lang="en-US" sz="3200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" name="object 8"/>
          <p:cNvPicPr/>
          <p:nvPr/>
        </p:nvPicPr>
        <p:blipFill>
          <a:blip r:embed="rId4"/>
          <a:stretch/>
        </p:blipFill>
        <p:spPr>
          <a:xfrm>
            <a:off x="1811015" y="5004720"/>
            <a:ext cx="7265880" cy="803880"/>
          </a:xfrm>
          <a:prstGeom prst="rect">
            <a:avLst/>
          </a:prstGeom>
          <a:ln w="0">
            <a:noFill/>
          </a:ln>
        </p:spPr>
      </p:pic>
      <p:sp>
        <p:nvSpPr>
          <p:cNvPr id="42" name="object 9"/>
          <p:cNvSpPr/>
          <p:nvPr/>
        </p:nvSpPr>
        <p:spPr>
          <a:xfrm>
            <a:off x="2035295" y="5072041"/>
            <a:ext cx="7041600" cy="5667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 anchor="t">
            <a:spAutoFit/>
          </a:bodyPr>
          <a:lstStyle/>
          <a:p>
            <a:pPr marL="12600">
              <a:spcBef>
                <a:spcPts val="99"/>
              </a:spcBef>
            </a:pPr>
            <a:r>
              <a:rPr lang="en-IN" sz="3600" spc="-12">
                <a:solidFill>
                  <a:srgbClr val="000000"/>
                </a:solidFill>
                <a:latin typeface="Times New Roman"/>
              </a:rPr>
              <a:t>Mr. P Ramu,Assistant Professor</a:t>
            </a:r>
            <a:endParaRPr lang="en-US" sz="3600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object 10"/>
          <p:cNvPicPr/>
          <p:nvPr/>
        </p:nvPicPr>
        <p:blipFill>
          <a:blip r:embed="rId5"/>
          <a:stretch/>
        </p:blipFill>
        <p:spPr>
          <a:xfrm>
            <a:off x="3005495" y="214920"/>
            <a:ext cx="4715280" cy="536400"/>
          </a:xfrm>
          <a:prstGeom prst="rect">
            <a:avLst/>
          </a:prstGeom>
          <a:ln w="0"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761F-15FD-BD69-0A57-A04117D84050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/>
          <a:lstStyle/>
          <a:p>
            <a:fld id="{A91AA843-B6AE-4D23-9E64-A8E9A489816D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DCDD3-7C09-5357-8FD9-7FF9513D0E2A}"/>
              </a:ext>
            </a:extLst>
          </p:cNvPr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A6AA8-8E63-E162-81B0-A43DC6853E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27AEE5FD-FE86-4142-8F11-32AB513D6210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658" y="152400"/>
            <a:ext cx="1010983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UNIT – 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2575" y="990600"/>
            <a:ext cx="5105400" cy="5791200"/>
          </a:xfrm>
        </p:spPr>
        <p:txBody>
          <a:bodyPr>
            <a:no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DEEP LEARNING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Deep learning architectures: Convolutional Neural Networks : Neurons in Human Vision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Shortcomings of Feature Selection 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3.Full Description of the Convolutional Layer 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Max Pooling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Full Architectural Description of Convolution Networks 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Closing the Loop on MNIST with Convolutional Networks</a:t>
            </a:r>
          </a:p>
          <a:p>
            <a:pPr algn="just"/>
            <a:endParaRPr lang="en-US" sz="26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21375" y="1219200"/>
            <a:ext cx="4935590" cy="4525963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7.Building a Convolutional Network for CIFAR-10</a:t>
            </a:r>
          </a:p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8.Visualizing Learning in Convolutional Networks</a:t>
            </a:r>
          </a:p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Leveraging Convolutional Filters to Replicate Artistic Styles</a:t>
            </a:r>
          </a:p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Learning Convolutional Filters for Other Problem Domains</a:t>
            </a:r>
          </a:p>
          <a:p>
            <a:pPr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 Training algorithms.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5FB601-3932-5FBA-9DDD-96CCEDC4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C6A6A-0881-42BA-BCA3-FB39C6F833C6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4EB55-74A9-5240-D254-0FFE7D305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707377-36CE-F0FA-8F44-42508401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7B044-8DC9-AAD1-547A-419BC618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F434-A0E0-22CF-A894-334271066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is a subfield of Machine Learning and a part of Artificial Intelligence that 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with many layers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automatically learn patterns from large amounts of data.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inspired by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and functioning of the human brain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interconnected neurons process information and learn from experience.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64B3-D7C6-7D9B-0DE2-BAD12CBA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2A052-A885-4D1F-8CEB-C4D48077A5E9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DC226-2E2E-F97E-A05C-2B83B968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D95AD-4DC5-5561-D01A-AB5C92B5B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17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67B0-B293-8F20-1BC0-DEA8C8F82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architectures</a:t>
            </a:r>
            <a:endParaRPr lang="en-US" sz="4800" b="1" dirty="0">
              <a:highlight>
                <a:srgbClr val="FFFF00"/>
              </a:highlight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E4C297-73F5-9A04-62A1-E7D92815DC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6975" y="1600200"/>
            <a:ext cx="9144000" cy="452596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10D542-5606-6799-09E5-6F0832EAA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AA7C5-BDAB-4F32-9F7F-9AF16319319D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9CD16-5E5F-29A0-6E1C-939A650E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4289C-C4DC-311E-BA7D-113DDE2EB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727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FB8863-2B8D-61EE-1222-6FD4D478FF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685800"/>
            <a:ext cx="10439400" cy="54102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9901EA-AEC8-7A8A-7FA8-1902B6CFC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106AC-1F84-405E-BADF-918D1779998B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E85C0E-8AAC-7B7F-913E-98C200B89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C04DF-584F-FAA3-4853-72AC42C7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1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A6CD82-98CC-B1E8-D7B5-B9DA58AB9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5" y="685800"/>
            <a:ext cx="9982199" cy="5334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F65CBA-F7DE-8B9F-1573-DDFADFAF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4A38D-FBF9-4833-B54C-91AC0BE454C0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B8306E-162F-201C-48EC-79D55B18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D81CA-4254-E7BA-A60D-79D2DBA8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76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61BB6C-FE3B-C7DF-6023-C60636D4C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775" y="685800"/>
            <a:ext cx="9753600" cy="4399819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4E284-9544-BCB8-FAD2-B0D1AA7EF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349E6-F7A6-4248-9917-1584E8D01700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6D25D-93B8-F0A0-68A4-1053E247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ECEF2-0DF4-A9FC-F0CE-035E44D6C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26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E22A9A-0EBD-1F86-7589-0376427DA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375" y="838200"/>
            <a:ext cx="10134600" cy="466654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33C1DF-C609-660D-570D-7314E1E1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DD47F-3087-48DD-9755-1A8319744944}" type="datetime1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E592F-C7C3-DECE-3C65-E0388FA1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0717A-37A3-2A7E-04F7-520C4917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504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866C-0605-72C1-C77E-91ED667C2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48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Types of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C48F-4EE9-32C8-8FB9-7DD72B16F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(ANN)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 (RNN)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Networks (GAN)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E2041-F78E-C684-3044-6EA13E9F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5A703-65DD-45F3-A760-8D4A31EF7683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79144-4B85-88E2-216E-ADC6E7A41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5CF3C-D7DC-3778-3EA6-A4BB546A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91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5C4CA-0CEC-9B11-8441-F6BD55AA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Artificial Neural Networks (ANN)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19BB0F-8BE3-999E-7C1A-95DE512FDF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175" y="914400"/>
            <a:ext cx="8863601" cy="2133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A9AE72-17C3-3E3C-6A5F-F7C93B494792}"/>
              </a:ext>
            </a:extLst>
          </p:cNvPr>
          <p:cNvSpPr txBox="1"/>
          <p:nvPr/>
        </p:nvSpPr>
        <p:spPr>
          <a:xfrm>
            <a:off x="561657" y="1859340"/>
            <a:ext cx="10388917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(ANN) are the basic model of deep learning.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Consists of input, hidden, and output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neuron is connected with weighted links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activation functions to produce output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problems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D3059E-913A-904E-E487-43481177C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FF2A6-8AAC-4D40-8CF9-61F4E2231DEF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EFFC1-7E4F-06FC-5CEE-2066EDDB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C563-5BD9-C09D-EC2A-0CDC12C8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02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7F1E6-2567-62E4-066F-8A63C27A9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-76200"/>
            <a:ext cx="10109835" cy="99060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Convolutional Neural Networks (CNN)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62822C-4FEF-BD5D-54C4-B818477590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894" y="838201"/>
            <a:ext cx="8979361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C7A55E-698D-9FF7-AACF-F115F762DEE6}"/>
              </a:ext>
            </a:extLst>
          </p:cNvPr>
          <p:cNvSpPr txBox="1"/>
          <p:nvPr/>
        </p:nvSpPr>
        <p:spPr>
          <a:xfrm>
            <a:off x="1425575" y="1356909"/>
            <a:ext cx="94488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mainly used for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and visual data 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Deep Learning.</a:t>
            </a:r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filters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edges, shapes, and textures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pooling layers to reduce feature map size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cars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67C5FB-6C6F-86B9-A4A7-3854B3F6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E995D-5C77-43CB-AD5E-C2D42A3E0BAE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EA77E3-B4AB-A5C5-ECE9-EACA9D281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0CDEC-27FE-331D-92AA-FC5B56E2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84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34052-059A-786C-2D00-694A3E619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3. Recurrent Neural Networks (RNN)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92DDAD-6F56-3D76-E4C3-6838EE5A3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975" y="838201"/>
            <a:ext cx="10109200" cy="27431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5D9F7-AD97-6ADD-7DCD-59A8844C03A2}"/>
              </a:ext>
            </a:extLst>
          </p:cNvPr>
          <p:cNvSpPr txBox="1"/>
          <p:nvPr/>
        </p:nvSpPr>
        <p:spPr>
          <a:xfrm>
            <a:off x="739775" y="1859340"/>
            <a:ext cx="10109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Neural Networks (RNNs)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designed to process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connections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memory of previous inputs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time-dependent data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translation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prediction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F288ED-B3D3-5D41-8EC2-7F008665D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BC4BB-AA0E-42C7-B4B1-FD6982D6F301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6673F-87A6-9629-C9F9-EFD1D2B7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D8228-7A52-FF3A-275B-080BB00EA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8672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685D-06BC-1AD2-A836-7B96CD2A3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0"/>
            <a:ext cx="10109835" cy="990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Long Short-Term Memory (LSTM)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73DD21-A226-052C-A152-4261925ACA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575" y="457201"/>
            <a:ext cx="9448800" cy="2057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C8CDBD-D767-F15A-E87F-E64B6F1F9EB8}"/>
              </a:ext>
            </a:extLst>
          </p:cNvPr>
          <p:cNvSpPr txBox="1"/>
          <p:nvPr/>
        </p:nvSpPr>
        <p:spPr>
          <a:xfrm>
            <a:off x="1273174" y="990600"/>
            <a:ext cx="9313885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Short-Term Memory (LSTM)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advanced type of RNN that solves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dependency problem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cells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three gates: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Forget gate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gate</a:t>
            </a: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translation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prediction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prediction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AA4419-B00F-0722-E6F1-B8FB2815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26A47-B2D1-41E1-8778-4B5BD49BDB48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8A193-43C9-BDB3-C801-B57AB1C66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EAF61-8F6D-4F92-584F-950B87D7D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3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88644-5AA6-592E-78BB-49520B657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Generative Adversarial Networks (GAN)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2C5D08-B74A-D831-4D4F-66D3E5C4F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104" y="1143001"/>
            <a:ext cx="8572941" cy="2286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9DF00C-AC91-BCDB-88BC-B34A3A39AB76}"/>
              </a:ext>
            </a:extLst>
          </p:cNvPr>
          <p:cNvSpPr txBox="1"/>
          <p:nvPr/>
        </p:nvSpPr>
        <p:spPr>
          <a:xfrm>
            <a:off x="892175" y="1997839"/>
            <a:ext cx="9220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Adversarial Networks (GANs)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new data similar to training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creates fake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distinguishes real data from fake data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Deepfake videos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art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A0D6D-9DA3-1653-1D11-9812AD72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00CC2-4B24-4484-BE23-365616F94EE7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7C698D-D32A-078C-6CB0-40364DBF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7DCE0-C177-92A7-8F91-007C7C1E5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80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AD091-69F7-255A-BB75-34D0BF0C1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792162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F48D1A-177B-AEFD-8682-C46D7FB6FB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795" y="1371600"/>
            <a:ext cx="10052980" cy="374894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23074B-399C-0347-B053-1CF1E9531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DF5F-14E3-490B-8E0C-3F2752FF2039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FD841-27C4-896A-335D-7F723C74E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AB07FE-6E7A-6D80-150A-F15E02B5B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19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C204-2A0F-E05B-0219-D7CEE03AC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944562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Convolutional Neural Networks: Neurons in Human Vision</a:t>
            </a:r>
            <a:endParaRPr lang="en-US" sz="36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70A45C3-2D26-C7AC-BFD6-67A37B836D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575" y="1600200"/>
            <a:ext cx="9372599" cy="45259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A57A0-F53E-A4C0-D456-D4E47DECA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7A6AC-B182-1030-C639-A7522215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2CDE3-2670-03A2-341F-68437C894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09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C04F1-0A75-8BC9-5E5D-FCBF1123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Visual Processing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B9ACD-8D5D-2B34-7E34-6CFDC0CE2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humans, vision is processed in the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cortex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1.Eyes capture light and form an image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2.Signals are sent to the brain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3.Neurons detect features like edges, colors, motion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4.Brain combines features → object recognition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A3BD-56B5-2046-F226-18EC1E63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48AE6-CF19-E160-CDAB-4F8F33CF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6354F-6134-AE5B-AE90-F251F4054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350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CBAB-2B06-7B88-421B-9335772A9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639762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Neurons in Human 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01566-3180-A1E7-8AC6-6A6B247F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914401"/>
            <a:ext cx="10109835" cy="544195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Simple Cells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edges and orientations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specific patterns (horizontal, vertical, diagonal lines)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activates only for a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vertical edge</a:t>
            </a: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Complex Cells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irrespective of exact position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moving edges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outputs from simple cells</a:t>
            </a: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Hypercomplex Cells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shapes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like corners, curves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in recognizing objects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ED441-DF71-10BF-1C0E-738F7980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875EA-C850-76AD-F491-7F6F13942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85CD6-AD92-811D-55B9-7F46D02E6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276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D775D-98D0-50F8-DA96-04459A96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Receptive Field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D6737-60F2-0C3B-D88F-3BD08AD9E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1295401"/>
            <a:ext cx="10109835" cy="48307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receptive field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 of the visual field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neuron responds to.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neuron sees only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part of the image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neurons combine → full image understanding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CNNs, this is similar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(kernels)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scanning small regions.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3D5EB-223B-ADC7-E041-F048F8486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BB90C-ECB5-06D2-0A00-66D0826B1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1A804-1471-33A2-24D9-D9143D2C7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5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667A-8F69-3B9B-283F-3BC199971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Human Vision to CNN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1BD83F-4808-17B0-ECAB-B1CEB07803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174" y="1752600"/>
            <a:ext cx="9779317" cy="4114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6E881-4B65-064B-E689-C551E7F1A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E84AF-99B8-6906-F18B-42433583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E1EA4-C772-C515-CB10-5E483C3F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20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C4D31-E72D-A83F-90E7-2F71C5BC3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1657" y="838201"/>
            <a:ext cx="4961308" cy="528796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Hierarchical Feature Learning in CNN</a:t>
            </a:r>
          </a:p>
          <a:p>
            <a:r>
              <a:rPr lang="en-US" dirty="0"/>
              <a:t>CNN mimics human vision by learning features in stages:</a:t>
            </a:r>
          </a:p>
          <a:p>
            <a:pPr marL="0" indent="0">
              <a:buNone/>
            </a:pPr>
            <a:r>
              <a:rPr lang="en-US" b="1" dirty="0"/>
              <a:t>First Layer</a:t>
            </a:r>
            <a:r>
              <a:rPr lang="en-US" dirty="0"/>
              <a:t> → edges, lines</a:t>
            </a:r>
          </a:p>
          <a:p>
            <a:pPr marL="0" indent="0">
              <a:buNone/>
            </a:pPr>
            <a:r>
              <a:rPr lang="en-US" b="1" dirty="0"/>
              <a:t>Second Layer</a:t>
            </a:r>
            <a:r>
              <a:rPr lang="en-US" dirty="0"/>
              <a:t> → textures</a:t>
            </a:r>
          </a:p>
          <a:p>
            <a:pPr marL="0" indent="0">
              <a:buNone/>
            </a:pPr>
            <a:r>
              <a:rPr lang="en-US" b="1" dirty="0"/>
              <a:t>Deeper Layers</a:t>
            </a:r>
            <a:r>
              <a:rPr lang="en-US" dirty="0"/>
              <a:t> → shapes, objects</a:t>
            </a:r>
          </a:p>
          <a:p>
            <a:pPr marL="0" indent="0">
              <a:buNone/>
            </a:pPr>
            <a:r>
              <a:rPr lang="en-US" b="1" dirty="0"/>
              <a:t>Final Layer</a:t>
            </a:r>
            <a:r>
              <a:rPr lang="en-US" dirty="0"/>
              <a:t> → classification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7E49ED-9F6B-02C9-8EE5-BEA2D367F1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10185" y="838201"/>
            <a:ext cx="4961308" cy="5287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Example: Human Vision</a:t>
            </a:r>
          </a:p>
          <a:p>
            <a:r>
              <a:rPr lang="en-US" dirty="0"/>
              <a:t>To recognize a </a:t>
            </a:r>
            <a:r>
              <a:rPr lang="en-US" b="1" dirty="0"/>
              <a:t>cat</a:t>
            </a:r>
            <a:r>
              <a:rPr lang="en-US" dirty="0"/>
              <a:t>:</a:t>
            </a:r>
          </a:p>
          <a:p>
            <a:r>
              <a:rPr lang="en-US" dirty="0"/>
              <a:t>Detect edges → ears</a:t>
            </a:r>
          </a:p>
          <a:p>
            <a:r>
              <a:rPr lang="en-US" dirty="0"/>
              <a:t>Detect shapes → face</a:t>
            </a:r>
          </a:p>
          <a:p>
            <a:r>
              <a:rPr lang="en-US" dirty="0"/>
              <a:t>Combine → identify as cat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5688D-9CC6-0234-E229-1273044E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AFE47-344C-49F4-928E-A2C64CC7355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4F94C0-F935-2919-DC61-16B23017C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CCC16-2AFB-FB97-96C0-922F136BE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921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F2CAC-1F8E-1AC7-5C17-804827457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The Shortcomings of Feature Selection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F9EB3-E802-1CA2-4F5A-EBF0BDF89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selecting the most relevant input variables (features) for building a model.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it is useful, it has several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compared to modern approaches in Deep Learning like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CNNs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automatically learn features.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5D449-3427-250E-DDDB-0F32DC3C0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C1D23-3A10-9DE7-01A0-0703CA07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9CA8A-9811-7A2B-6111-E96C18E5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68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33967-CE92-9060-E22E-EACC4BB40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Shortcomings of 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6EF7-6F4A-9A91-7E4C-06C176D04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Manual Effort Required.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Loss of Important Information.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Not Scalable for Large Data.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Difficulty in Handling Complex Data.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Dependency on Data Representation.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Static Features (No Learning).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Limited Performance in Image Tasks.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Risk of Overfitting.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0C1A5-6B9E-60B2-B1D5-7F6F7DCD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5C45C-CE86-2CD8-D4DB-267B03240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DA23E-B2BD-A7EF-8EE1-CC97C44C6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23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5CB34FE-B6D5-D635-71F8-1114860020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1975" y="533402"/>
            <a:ext cx="5054600" cy="571499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E4C2AE0-9B99-5A9A-CA85-CE73B6211A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10238" y="381000"/>
            <a:ext cx="5240337" cy="57911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7595F6-AD89-2EB3-9B5B-C71B217FB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AFE47-344C-49F4-928E-A2C64CC7355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EABED-0466-BDB7-042C-B84AD335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E79D7-5390-2E4E-F95E-13A32E6BC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80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7926105-CEE2-A5A1-DB00-83416F03C0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1975" y="762000"/>
            <a:ext cx="5207000" cy="5334000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7F064E5-9229-4726-1007-44507C62C2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914113" y="609600"/>
            <a:ext cx="4884061" cy="54102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1FD4D2-45CA-167A-4E9E-5008C7A26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AFE47-344C-49F4-928E-A2C64CC7355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DC3B3-F4E2-7D39-8083-330D41255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6B2F8-4C17-6277-0D36-14C2B98E2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351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B97CD-E4DF-70DC-0E6A-F365A38EA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Deep Learning Overcomes These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F2A1F-39A5-32B0-009C-70B3FB30F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Modern models like CNNs in Deep Learning:</a:t>
            </a:r>
          </a:p>
          <a:p>
            <a:pPr marL="0" indent="0">
              <a:buNone/>
            </a:pPr>
            <a:r>
              <a:rPr lang="en-US" dirty="0"/>
              <a:t>1. Automatically </a:t>
            </a:r>
            <a:r>
              <a:rPr lang="en-US" b="1" dirty="0"/>
              <a:t>learn hierarchical features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2. Do not require manual feature selection</a:t>
            </a:r>
          </a:p>
          <a:p>
            <a:pPr marL="0" indent="0">
              <a:buNone/>
            </a:pPr>
            <a:r>
              <a:rPr lang="en-US" dirty="0"/>
              <a:t>3. Handle complex data (images, videos) efficiently</a:t>
            </a:r>
          </a:p>
          <a:p>
            <a:pPr marL="0" indent="0">
              <a:buNone/>
            </a:pPr>
            <a:r>
              <a:rPr lang="en-US" dirty="0"/>
              <a:t>4. Improve performance with large datasets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EA7E-DFE9-D41F-3271-0D98C360E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E5AE5-0F46-7F74-69FC-441774DF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71086-5444-4328-671C-C50FA50D1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726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C1269-01C7-E2FE-8CD5-11B431760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Full Description of the Convolutional Layer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96CCA-EC2C-1834-1339-7C97F3F2E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1219200"/>
            <a:ext cx="10109835" cy="5105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of Full Description of the Convolutional Layer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Introduction.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Convolution?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Convolutional Layer.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 Operation (Step-by-Step Example).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Size Formula.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Filters.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Function.</a:t>
            </a:r>
          </a:p>
          <a:p>
            <a:pPr marL="514350" indent="-514350">
              <a:buAutoNum type="arabicPeriod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Advantages.</a:t>
            </a:r>
          </a:p>
          <a:p>
            <a:pPr marL="514350" indent="-514350"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68A5D-7AA6-B5A0-CCB0-42AD13F59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CC1EB-DC84-EC37-0272-FAB56F8F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8D4CC-A229-7D62-60AB-57C63A94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7444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72C3FE-86BE-4C32-FFA8-CF4C92A00F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775" y="609600"/>
            <a:ext cx="9931717" cy="5410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158CC-61F0-3A2B-A9E3-6FE74F0E8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8D5D9-9CAD-06E2-9C5F-F025C0D50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C1D18-7890-BE8F-EA64-E8A08D176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606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44585D-4A60-29F3-4747-A87EFC6A0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78" y="609600"/>
            <a:ext cx="10875497" cy="51054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F89C5-7DD6-1BAE-BBE7-2434514CC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E79F2-C5CE-19D9-6EE2-99B5DD0E5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4A098-CC2A-A1BA-F62D-9DF6DED68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540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33E6A89-1A29-2EC0-80F8-5E82ADC9CE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175" y="381000"/>
            <a:ext cx="10058400" cy="528570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4E93B2-E873-CB31-DEC6-B4CE7452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C1DAD-7988-A077-6FE0-E78ADA7B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789CC-C77C-97A4-AC22-99984CB7A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01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EC0212D-C1D3-D8AF-7FBC-832F7B6E8B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658" y="938885"/>
            <a:ext cx="5512117" cy="470559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8CC8D-3D13-14FC-1BBA-0FA9A70C2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0E829-23D5-4FE3-58E2-D48FDC84B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10AE5-E81A-6E48-27EF-B7881C561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49AB7F-11B7-FE8A-38DF-5D9175FE8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375" y="838200"/>
            <a:ext cx="4571999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041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4CB18BB-332B-F066-E0D5-5EF03386C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381000"/>
            <a:ext cx="10287000" cy="5791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B839-37C0-B6AE-89F0-E45EB4B60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ED67F-A635-0DA3-84FE-19BEA8D4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31B15-4F70-4925-8B9C-3B76102A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026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A035647-40BA-BD64-99A0-5CACD2AE1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6" y="457201"/>
            <a:ext cx="9855516" cy="32003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D327A-65EA-21C4-0973-06FAD23B5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78C3D-A744-78EB-1987-784C64081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D9B5-D05D-C995-967A-D9E01775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93E71-08A5-41B8-3EAE-930004C03718}"/>
              </a:ext>
            </a:extLst>
          </p:cNvPr>
          <p:cNvSpPr txBox="1"/>
          <p:nvPr/>
        </p:nvSpPr>
        <p:spPr>
          <a:xfrm>
            <a:off x="815976" y="2819400"/>
            <a:ext cx="9601198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feature extraction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parameters than fully connected layers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for 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27926567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4861-5E80-5243-15DA-22F9E46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Max Pooling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11EFB0-F3B8-CD25-9DB5-BAD8ED1B52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9775" y="1417638"/>
            <a:ext cx="9753600" cy="414496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1C6C1-F17C-C5CE-550D-C9DA26BD8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AF92E-8674-C8DB-77D3-F3CC0373C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ED7F0-6102-6287-26CB-49BA863E2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536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F06838F-8E6B-4887-55F7-DB7176F94F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609600"/>
            <a:ext cx="9829800" cy="523490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E49B3-FFAB-281D-7621-D35BB3CA6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B7B02-02EC-94BC-589F-4ADAD1DF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AE0C6-53FB-1CD2-8144-A09215D4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61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BE446-F302-6A94-593F-8E88C719A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9407-8A5C-2FF1-819B-20337208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7BA19-5171-BAF7-6E2D-45D8E6A8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pic>
        <p:nvPicPr>
          <p:cNvPr id="7" name="Picture 4" descr="Max pooling and average pooling | Download Scientific Diagram">
            <a:extLst>
              <a:ext uri="{FF2B5EF4-FFF2-40B4-BE49-F238E27FC236}">
                <a16:creationId xmlns:a16="http://schemas.microsoft.com/office/drawing/2014/main" id="{2FFD6528-0B63-CB78-B2E0-22A4581C26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75" y="609600"/>
            <a:ext cx="8848725" cy="563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8024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0A9A70-8325-E22B-A737-5DD7062D3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575" y="533400"/>
            <a:ext cx="9506164" cy="51904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6F71C-A082-B081-8E24-0CDBBB8B5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1EF4-7D28-45F1-E973-49EF94DC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5CE92-E6E9-B678-261C-4876B09BB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671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5013539-7C9A-843F-758A-C5B0C65E07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6" y="609600"/>
            <a:ext cx="9223594" cy="5334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706D8-BD5A-47D5-B77C-A238495FD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37C67-85DF-9F4E-6C93-65C15AE7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4DF13-1A81-C389-44A9-FE52F145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134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8818-D64A-1190-F67E-5877D6A0D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Architecture of Convolutional Neural Networks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8E6252-7685-36BA-7F46-2EE3064DAB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658" y="1600200"/>
            <a:ext cx="10109835" cy="452596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871454-2DB2-CB1E-0A67-BA4B79797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B388-27FF-4171-9750-05307E19BD6F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92312-00D9-9E70-C719-DA2A9C053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33DAB-D5C4-FA36-4EBC-9C2CB318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401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EB421-288C-FBBA-2D51-804DD8CE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168198"/>
            <a:ext cx="10084118" cy="1249440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of Convolutional Neural Networks</a:t>
            </a:r>
            <a:br>
              <a:rPr lang="en-US" b="1" dirty="0"/>
            </a:br>
            <a:endParaRPr lang="en-US" dirty="0"/>
          </a:p>
        </p:txBody>
      </p:sp>
      <p:sp>
        <p:nvSpPr>
          <p:cNvPr id="7" name="AutoShape 8" descr="Convolutional Neural Network Arcitecture">
            <a:extLst>
              <a:ext uri="{FF2B5EF4-FFF2-40B4-BE49-F238E27FC236}">
                <a16:creationId xmlns:a16="http://schemas.microsoft.com/office/drawing/2014/main" id="{F6DA56DF-EEA5-63A7-BA83-B6C42DECC51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641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10" descr="Convolutional Neural Network Arcitecture">
            <a:extLst>
              <a:ext uri="{FF2B5EF4-FFF2-40B4-BE49-F238E27FC236}">
                <a16:creationId xmlns:a16="http://schemas.microsoft.com/office/drawing/2014/main" id="{C2BECE0C-DCE8-3C9D-F246-444356AC4B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3575" y="1524000"/>
            <a:ext cx="10134599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A7824F-A403-7679-7771-77591FC92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575" y="1920797"/>
            <a:ext cx="9448800" cy="301640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A8D197-6304-0C6E-E2BC-A86CA2F60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7" y="1828718"/>
            <a:ext cx="9627095" cy="3200564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A0893-224F-8B75-3AED-5A97C9ADE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383D-16B8-4C94-AD9B-BBC421172EB6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60B1E-644F-93E8-9509-747BE5AB1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FAB94-CCDA-C11E-A1C8-BE7E0CCED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98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C9B0-10D1-ECA8-95DC-F4206138B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(CNN)</a:t>
            </a: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910E-D78F-F911-C1C3-217B3F1E2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 (CNN)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deep learning model used mainly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recognition and computer vision tasks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Deep Learning.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consists of several layers that work together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features and perform classification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0E3C0-9E6D-5A9B-0247-D2F0151B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1DB41-B8CA-4CDD-9180-F46FC506F11B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46605-B601-C3D2-C2F7-FE5E9E7B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4FF65-8AE1-D80F-8F08-574F82DF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6992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6E13-A122-BC8A-F42D-2ED9BBA9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Layers of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41ECD-9D94-515C-7FE1-E26E654AE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/>
              <a:t>Input Layer.</a:t>
            </a:r>
          </a:p>
          <a:p>
            <a:pPr marL="0" indent="0">
              <a:buNone/>
            </a:pPr>
            <a:r>
              <a:rPr lang="en-US" b="1" dirty="0"/>
              <a:t>2. Convolutional Layer.</a:t>
            </a:r>
          </a:p>
          <a:p>
            <a:pPr marL="0" indent="0">
              <a:buNone/>
            </a:pPr>
            <a:r>
              <a:rPr lang="en-US" b="1" dirty="0"/>
              <a:t>3. Activation Layer.</a:t>
            </a:r>
          </a:p>
          <a:p>
            <a:pPr marL="0" indent="0">
              <a:buNone/>
            </a:pPr>
            <a:r>
              <a:rPr lang="en-US" b="1" dirty="0"/>
              <a:t>4. Pooling Layer.</a:t>
            </a:r>
          </a:p>
          <a:p>
            <a:pPr marL="0" indent="0">
              <a:buNone/>
            </a:pPr>
            <a:r>
              <a:rPr lang="en-US" b="1" dirty="0"/>
              <a:t>5. Flatten Layer.</a:t>
            </a:r>
          </a:p>
          <a:p>
            <a:pPr marL="0" indent="0">
              <a:buNone/>
            </a:pPr>
            <a:r>
              <a:rPr lang="en-US" b="1" dirty="0"/>
              <a:t>6. Fully Connected Layer.</a:t>
            </a:r>
          </a:p>
          <a:p>
            <a:pPr marL="0" indent="0">
              <a:buNone/>
            </a:pPr>
            <a:r>
              <a:rPr lang="en-US" b="1" dirty="0"/>
              <a:t>7. Output Layer.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6C2D1-678A-71F1-B84C-53A9EC7D2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C20EB-846E-4C0C-B59B-77ACFBC83672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52F67-08B0-C41B-58C7-BDBFBD433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5DE95-D13B-6526-B6AB-7A5A4780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97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B2E2-6AF4-B148-7BF8-18E01CE2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5635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1. Input Layer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EA80D2-DA1D-786F-C68E-FFAE56A19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175" y="914400"/>
            <a:ext cx="9677399" cy="48768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B60C4D-053A-D786-4197-D447E77A1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91B66-214A-41E5-BF9A-3A2BD9B718E1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CEFEE-1EA1-27F6-A984-CEF1B4EF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C256F-F77A-0928-F2C7-7BBC744D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5310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48D6-2D86-2EC2-21A2-1739BC1DB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MNIST dataset  in CNN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B8BDD8-7260-32FA-EE93-926B27AC14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375" y="2234323"/>
            <a:ext cx="6324600" cy="32577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08F053-C70F-E814-F496-3D321A274574}"/>
              </a:ext>
            </a:extLst>
          </p:cNvPr>
          <p:cNvSpPr txBox="1"/>
          <p:nvPr/>
        </p:nvSpPr>
        <p:spPr>
          <a:xfrm>
            <a:off x="7826375" y="2413338"/>
            <a:ext cx="3124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Characteristics: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</a:t>
            </a:r>
            <a:r>
              <a:rPr lang="en-US" b="1" dirty="0"/>
              <a:t>handwritten digit images (0–9)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images: </a:t>
            </a:r>
            <a:r>
              <a:rPr lang="en-US" b="1" dirty="0"/>
              <a:t>70,000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images: </a:t>
            </a:r>
            <a:r>
              <a:rPr lang="en-US" b="1" dirty="0"/>
              <a:t>60,000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Testing images: </a:t>
            </a:r>
            <a:r>
              <a:rPr lang="en-US" b="1" dirty="0"/>
              <a:t>10,000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 size: </a:t>
            </a:r>
            <a:r>
              <a:rPr lang="en-US" b="1" dirty="0"/>
              <a:t>28 × 28 pixels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Grayscale images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073ADD-40C3-6569-FCBC-3D05909F2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829CF-FC2F-4F4F-83D1-5CC8CE2CA9D2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5B485-16E5-4824-7A28-CA058D4B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A350E-FD1E-F345-0BA6-F0E1D0A4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099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14C0-48CA-EE92-89B3-923E16C37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563562"/>
          </a:xfrm>
        </p:spPr>
        <p:txBody>
          <a:bodyPr>
            <a:normAutofit fontScale="90000"/>
          </a:bodyPr>
          <a:lstStyle/>
          <a:p>
            <a:r>
              <a:rPr lang="en-US" dirty="0"/>
              <a:t>CIFAR-10 dataset in CNN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5CB9AC-1771-41D9-7854-FD6F920FAB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1143000"/>
            <a:ext cx="7772400" cy="533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FB9E0-160C-FE77-9726-24885E65D375}"/>
              </a:ext>
            </a:extLst>
          </p:cNvPr>
          <p:cNvSpPr txBox="1"/>
          <p:nvPr/>
        </p:nvSpPr>
        <p:spPr>
          <a:xfrm>
            <a:off x="8435975" y="2551837"/>
            <a:ext cx="266699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Characteristics: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Contains </a:t>
            </a:r>
            <a:r>
              <a:rPr lang="en-US" b="1" dirty="0"/>
              <a:t>60,000 color images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Image size: </a:t>
            </a:r>
            <a:r>
              <a:rPr lang="en-US" b="1" dirty="0"/>
              <a:t>32 × 32 pixels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Training images: </a:t>
            </a:r>
            <a:r>
              <a:rPr lang="en-US" b="1" dirty="0"/>
              <a:t>50,000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Testing images: </a:t>
            </a:r>
            <a:r>
              <a:rPr lang="en-US" b="1" dirty="0"/>
              <a:t>10,000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10 object categories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4C315B-F671-7860-7F5D-EEDA6B375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4B245-12FC-4268-A971-8EFDB1332F30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B04B88-30F5-D16E-4709-978B3707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2532-A700-69D2-C5E1-A679675C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2949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92B8E-EE2C-3014-3910-E8619C241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Convolutional Layer</a:t>
            </a:r>
            <a:endParaRPr lang="en-US" dirty="0"/>
          </a:p>
        </p:txBody>
      </p:sp>
      <p:pic>
        <p:nvPicPr>
          <p:cNvPr id="1026" name="Picture 2" descr="Convolution Animation">
            <a:extLst>
              <a:ext uri="{FF2B5EF4-FFF2-40B4-BE49-F238E27FC236}">
                <a16:creationId xmlns:a16="http://schemas.microsoft.com/office/drawing/2014/main" id="{F9301E2A-BE5E-F7BA-5ADB-A0C6FDEB5CB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75" y="1524001"/>
            <a:ext cx="9448799" cy="3963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54E790-3847-4840-1DCF-940B3CEE7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877D-28AC-426D-9019-04DEC9855317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20D8C-0AC8-6374-5304-B1049DDB8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CD1A8-D4B3-A2D4-A2B9-B5864A304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338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E3771-32E5-A2DB-297B-925E57BC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Convolutional Layer</a:t>
            </a:r>
            <a:endParaRPr lang="en-US" dirty="0"/>
          </a:p>
        </p:txBody>
      </p:sp>
      <p:pic>
        <p:nvPicPr>
          <p:cNvPr id="2050" name="Picture 2" descr="RGB Convolution Animation">
            <a:extLst>
              <a:ext uri="{FF2B5EF4-FFF2-40B4-BE49-F238E27FC236}">
                <a16:creationId xmlns:a16="http://schemas.microsoft.com/office/drawing/2014/main" id="{44A0F870-1F0E-A473-C860-437DCA32B7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975" y="2133600"/>
            <a:ext cx="85344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45909-B8C5-ADE4-F4B1-AFB4535C4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73EE0-530C-48A1-A295-08F2DB0856D1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4BE7E0-3860-BE97-C6B0-90BC9D0C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FD4B4-A085-2098-DAAC-E9F1DEEB0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628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6084-21FA-32D0-956C-BB467942F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455612"/>
            <a:ext cx="10109835" cy="458788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3. Activation Layer.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856A1-AFA0-2BE9-21DF-40849B94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FCB78-E2D5-BCB8-2645-C90068231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E921B-5258-776A-398A-0387751FE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9FEEF008-E324-8882-6683-3860732133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384" y="1005558"/>
            <a:ext cx="6661391" cy="4800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A83D64-BB5E-FDFD-AA33-29C76FB87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375" y="1219200"/>
            <a:ext cx="4222944" cy="49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07322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BCC3-5C06-9C24-F3D2-585FB2B8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Pooling Layer</a:t>
            </a:r>
            <a:endParaRPr lang="en-US" dirty="0"/>
          </a:p>
        </p:txBody>
      </p:sp>
      <p:pic>
        <p:nvPicPr>
          <p:cNvPr id="1026" name="Picture 2" descr="Illustration of Max Pooling and Average Pooling Figure 2 above shows an...  | Download Scientific Diagram">
            <a:extLst>
              <a:ext uri="{FF2B5EF4-FFF2-40B4-BE49-F238E27FC236}">
                <a16:creationId xmlns:a16="http://schemas.microsoft.com/office/drawing/2014/main" id="{5059D1FE-2EF1-C6EA-F0CE-1703A83A94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658" y="1715294"/>
            <a:ext cx="4140517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ax pooling and average pooling | Download Scientific Diagram">
            <a:extLst>
              <a:ext uri="{FF2B5EF4-FFF2-40B4-BE49-F238E27FC236}">
                <a16:creationId xmlns:a16="http://schemas.microsoft.com/office/drawing/2014/main" id="{1B55DCB0-1B58-84EB-8642-0534411D2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4574" y="1457324"/>
            <a:ext cx="6096001" cy="471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EFA70-426F-9165-A775-6ED4DABCF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8478B-3F61-4B03-86D9-58879BF570CD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CC32BF-9C3A-2C0A-2476-9DDA952B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3658F-03E3-B5CD-171B-D0A3E2314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96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1F17-9490-6C88-1108-0BDAD4D19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Flatten Layer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949DA9-282A-1245-B868-29783E433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6419" y="1828800"/>
            <a:ext cx="9433155" cy="36251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A65B05-7BAD-6D14-C304-E613504E7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99260-17DE-40EC-BACC-6C879FCF6B13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494406-B92E-6B30-3C12-33907C8E1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24C20-30B0-6B67-7003-CC2028BE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838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D549-8FFD-AF24-28B5-AE2B9618B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6. Fully Connected Layer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74EC42-4A3C-9821-F0C6-105916F40D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1828800"/>
            <a:ext cx="10109835" cy="4297363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58A9F-479B-5974-6C52-64AEBEC3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8C2BC-0C88-4F5F-8AFD-144364860C32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F3E73D-1E96-BCCA-8BF3-E664D3031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1AB4F-55A5-88AB-1B2F-BAE078083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029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8A24-8E41-C4F3-98C5-316EFF2D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CNN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DCFCB2-6F5F-A61D-FC3D-213BEE27E8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8893" y="1993010"/>
            <a:ext cx="6115364" cy="374034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A716D-A709-99BC-389B-613EAF9A0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E1523-FBF8-43BE-A64B-AE45D666AAAE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5D802-21C7-691A-240C-46465B27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1B8FD-68C7-DFEA-5EA9-E0BBEEDA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483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356C-F48F-411C-AD75-17ADF35B2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7. Output Layer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240A6A-318C-7511-D996-41CBEC98ED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1219200"/>
            <a:ext cx="10109835" cy="4419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C90257-B592-CA9B-529C-F31AE7FA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CE5CF-3352-46B0-B7F3-656C56001EC2}" type="datetime1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D2454-9C08-4C98-A54F-EEF4AFDCB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774E4-0E50-28EB-A688-AA55124F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465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9367-F28A-F222-A950-2893B1C2C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Closing the Loop on MNIST with Convolutional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9B9E-EEED-BC7D-782E-0109DDA29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Closing the Loop on MNIST with Convolutional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refers to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achieve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in handwritten digit recognition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MNIST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demonstrates how CNNs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learn features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outperform traditional machine learning methods in Deep Learning.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0FBD3-4415-77FF-2487-8998ECF0A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C1823-0475-E45A-F1A6-30350682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6D8CC-F88C-C804-8B34-D140C0E7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603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28835E6-8F53-CF7A-C3B9-3F7AAAEF2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375" y="762001"/>
            <a:ext cx="9144000" cy="494277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4702E-82B4-E6C6-88DA-A158B1AC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66CF7-E74C-53EE-CE3A-685A7198B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58E19-4909-BBA3-9F1F-84C75BB8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0250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E2A991-0807-1D5F-0FE6-6DA1737FED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5362" y="457200"/>
            <a:ext cx="9892813" cy="56689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81098-838A-1FDE-F1E3-F416204A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CB122-75BB-DE7A-3744-C1CC357D6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40165-4481-CF85-6B69-28B61501A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96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34FF2A9-F6D4-DCD7-DD53-2A0317F95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375" y="609600"/>
            <a:ext cx="9753600" cy="5181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1EA0D-E8F2-C54D-10EA-C629E16FF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A6966-8A92-C228-5FCB-76C33897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2E4D3-4DA5-3FB3-6B4D-6F8D7C9D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127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DA5B7-A50E-5ED7-F50D-90015FE68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Working Process in MNIST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0178EF-B060-F5D1-F09C-E180E02AE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604" y="1878704"/>
            <a:ext cx="9569942" cy="396895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E400C-911A-993F-2FCE-D8CAA9274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B6AD-75A0-D872-754E-79B50B4A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AFE94-209B-FD0D-5C8B-AEEE652EC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581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6C53CD8-72FD-701C-D363-ACC248F5A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9206" y="533400"/>
            <a:ext cx="9106066" cy="5334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E1B1F-6E0D-40D6-2A61-17982132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E8CFD-6B00-D9EA-7F93-8DFC7C1BC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C2F69-FA5B-5EFD-81E2-4F29DB695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2462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E4273EC-1A10-F29D-6818-6C92BFFA67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5575" y="609601"/>
            <a:ext cx="9144000" cy="4953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B1315-72E0-CD6F-1CEA-E0FB88E6C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C616B-58D9-7A78-B29A-6B0D8BB3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52453A-5250-B168-CA8F-DCFA4714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616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130A-11B8-7B08-EDBA-01909EEB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74638"/>
            <a:ext cx="10109835" cy="95479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Building a Convolutional Network for CIFAR-10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98DD170-5157-8D3D-CB07-E4AB378F1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2175" y="1524001"/>
            <a:ext cx="9525000" cy="410457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178FE-7F6C-B809-5251-A4ABB19A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B0E22-FA4F-5C1F-CC1D-4B1F8956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62347-93B1-818A-7959-CF59936F1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031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703BC31-30C9-F411-0EDE-EB33604490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3175" y="762000"/>
            <a:ext cx="8991599" cy="48284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475CA-8ACE-E2E7-8B0D-A3DE6E08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5D8A2-7D22-66C5-2E3F-F23A7552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72F19-F45F-ECB7-B1F5-C59E64A2B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46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F0988B1-D299-C1D2-E5D3-307028DD85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658" y="510244"/>
            <a:ext cx="9855517" cy="53342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E70A4-C6F5-4304-0903-BAE9E5E4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C103B-D44F-EE65-963F-FCEE737D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6A342-3E08-E4D0-3A52-C29718EE2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7984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88CE20-F986-BD3F-5290-349299C958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1658" y="457200"/>
            <a:ext cx="9398540" cy="5181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6079E-E7F1-EB3D-DF46-6054874D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B80B6-89D8-D2C4-9E48-30DB11466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9F7DB-5650-89BC-DCB4-D2ECE74E1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181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8B21009-5BB0-2D42-A9F8-69C31893E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5" y="762000"/>
            <a:ext cx="8423461" cy="4800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E0E00-632F-6E9B-F917-B5EC9F9C3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0236-F601-8B3F-7EB7-648A28357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C43B8-EED3-7C1C-5911-D791B400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397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E17589A-BC1B-5372-3949-9504E950A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5" y="838201"/>
            <a:ext cx="9601199" cy="5029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D31D6-721D-4B16-1F5B-E6DB40D0E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471F0-279C-04B6-7B3B-EF7F32F2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0D40-2042-30F9-2E8C-6513936E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36247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C9B339-94CE-069B-B9ED-E9F5E7F64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5" y="457200"/>
            <a:ext cx="10058400" cy="5791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03B45-BC40-7B55-BACC-FDBA53E01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4A7E8-8880-FE72-6598-02BE3C01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36959-6ED1-9D98-1B04-4A9BAC6B6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573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455DF-CEDF-8860-EC07-FB6B93FBB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Visualizing Learning in Convolutional Networks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8EA40-0BE6-9E65-9C42-E2BFF8782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Visualizing learning in CNNs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understanding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 Convolutional Neural Network learns internally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processing images.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CNNs are often called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“black-box models,”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helps interpret their behavior in Deep Learning.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B6688-0968-0C04-D402-D2CC95D5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99AF7-8938-09B0-49CB-3CA443289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52120-E85F-7029-1ED0-14AF163F8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91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A10B377-5776-75FC-661F-34CB498CC4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775" y="611847"/>
            <a:ext cx="8610600" cy="520726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73C08-7864-A2AF-977B-8BDBDE9E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BD882-8130-0155-AC28-962BC5B20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BAF02-9BA8-78EC-44C3-5B254093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25879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1229D41-2BF7-453E-E96A-EF03E9245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5" y="381000"/>
            <a:ext cx="9372600" cy="55626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D9380B-FDEE-F1C8-0B26-3A76DC4B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46968-D83D-379F-DBEA-38A91D606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FCBB3-5049-4480-C4D0-A1DD9E2B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30263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3BE110-33A5-EB05-844D-85ABBFD320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381001"/>
            <a:ext cx="10210800" cy="56388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D7F8C-6155-B21F-F3A7-A7FC4061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496A4-710D-1AEE-ECB5-B0CA75D8A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98C4D-6DB6-81A9-EAB7-79F2D19C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8391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9FBB032-C0CA-B188-6D2E-24E59B7586B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61975" y="381002"/>
            <a:ext cx="4960938" cy="563879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1A68130-C932-4AC4-7214-4856FE3787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5719" y="381002"/>
            <a:ext cx="4349974" cy="548639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8AA36-7354-0E28-EA49-C071712A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AFE47-344C-49F4-928E-A2C64CC7355D}" type="datetime1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E1E7F-0F68-3BD5-9EB4-02F9B49FA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1F752-42E2-1BD2-A13D-5981F5E1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371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49CB0-6181-06AC-74B5-69AA3B2BC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Leveraging Convolutional Filters to Replicate Artistic Styles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A10C26-2E7C-D0AE-287A-42EF314B5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3575" y="1600200"/>
            <a:ext cx="9905999" cy="45259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0585-188B-D533-C22D-8B9E2BAD9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8AE3B-3FB7-E384-97C0-5FCC39E14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E9C29-023D-29B7-5EFE-13F2C766B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339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7C9448-F2C7-4390-81DD-36229529E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975" y="1143000"/>
            <a:ext cx="10058400" cy="498316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ED3CF-1A92-8D43-CEF7-6C31E6502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26631-8E0B-98EB-68BF-80E62580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3D554-3214-0050-5CAA-DCF228B7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06028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52909E1-437D-4D76-72E6-6545801BB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175" y="457200"/>
            <a:ext cx="10058400" cy="563815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B0B60-9F1E-4610-E10A-CCBE3731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A7098-7655-38AD-5CA0-D99213014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2DF770-3157-EFC9-3B67-3C358695A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982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00A50-B893-FE46-32E7-A7EE1187A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457201"/>
            <a:ext cx="10109835" cy="56689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convolutional filters to replicate artistic styles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using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transform an image so that it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preserves its content but adopts the artistic style of another image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technique is popularly known as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Style Transfer (NST)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Deep Learning.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Basic Idea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combine: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Image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structure (objects, shapes) 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Image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texture, colors, brush strokes 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 = Stylized Image.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27C58-DDD9-C528-91CA-548958D5D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C8DA4-70DC-EB28-0B43-189B62D4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C0EF6D-4B32-3D62-864B-153C0E580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202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024B1-A755-042F-1C4C-85C7B8557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685800"/>
            <a:ext cx="10109835" cy="544036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Role of Convolutional Filters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filters extract different types of information: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Representation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from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deeper layers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Shapes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structure </a:t>
            </a:r>
          </a:p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Representation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from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layers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Captures: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Textures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Patterns 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Colors 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 is represented using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 Matrix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(correlation between feature maps)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E32CF-D6FC-FFC3-4E2B-8746A117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A1E6C-7B7B-D575-BB85-C1521EC8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68D2A-35F7-B6CF-2135-8FB25345A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254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DE9A7-1153-67CE-15DB-E753F1942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1658" y="304800"/>
                <a:ext cx="10109835" cy="5943599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Working of Neural Style Transfer(NST)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1: Input Images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Content image (e.g., a photo) 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Style image (e.g., painting) 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2: Pass through CNN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a pretrained network (like VGG) 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3: Extract Features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Content features from deeper layers 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Style features from multiple layers 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4: Compute Loss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Content Loss</a:t>
                </a: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Difference between content features 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Style Loss</a:t>
                </a: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lvl="1"/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Difference between Gram matrices </a:t>
                </a: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Loss</a:t>
                </a: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8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Total</m:t>
                      </m:r>
                      <m:r>
                        <m:rPr>
                          <m:nor/>
                        </m:rPr>
                        <a:rPr lang="en-US" sz="38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8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Loss</m:t>
                      </m:r>
                      <m:r>
                        <a:rPr lang="en-US" sz="380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Content</m:t>
                      </m:r>
                      <m:r>
                        <m:rPr>
                          <m:nor/>
                        </m:rPr>
                        <a:rPr lang="en-US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Loss</m:t>
                      </m:r>
                      <m:r>
                        <a:rPr lang="en-US" sz="380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Style</m:t>
                      </m:r>
                      <m:r>
                        <m:rPr>
                          <m:nor/>
                        </m:rPr>
                        <a:rPr lang="en-US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3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Loss</m:t>
                      </m:r>
                    </m:oMath>
                  </m:oMathPara>
                </a14:m>
                <a:endParaRPr lang="en-US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Step 5: Optimization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Start with random or content image .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pixels using gradient descent .</a:t>
                </a:r>
              </a:p>
              <a:p>
                <a:pPr marL="0" indent="0">
                  <a:buNone/>
                </a:pPr>
                <a:r>
                  <a:rPr lang="en-US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total loss 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DE9A7-1153-67CE-15DB-E753F1942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658" y="304800"/>
                <a:ext cx="10109835" cy="5943599"/>
              </a:xfrm>
              <a:blipFill>
                <a:blip r:embed="rId2"/>
                <a:stretch>
                  <a:fillRect l="-482" t="-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57BB8-2D0D-6E5F-15D9-AE23ED0C4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ECC41-3B55-1282-7EA1-4C17F320F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11B4D-04E4-AA7D-B4AE-A6F1292C3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5237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B651F-0C7A-B124-26F8-7D01C6D86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457201"/>
            <a:ext cx="10109835" cy="56689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Example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image: Person photo 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person image.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swirling brush strokes and colors of the painting.</a:t>
            </a: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Key Concepts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Feature Maps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 extracted patterns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Gram Matrix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style (texture relationships).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Pretrained Networks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VGG-19.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18C05-73A7-A5C1-1B5F-64B5F401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2AACF-B826-8015-9198-F741F3350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DE8D4-312E-2970-E0C7-DD198378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9223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1887-0750-9635-1E03-FBC3EACF5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304801"/>
            <a:ext cx="10109835" cy="60515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Advantages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Produces visually appealing results .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Demonstrates the power of CNN feature extraction. 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No need for labeled data.</a:t>
            </a: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Limitations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Computationally expensive.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May distort content if not balanced properly 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Requires tuning of loss weights.</a:t>
            </a:r>
          </a:p>
          <a:p>
            <a:pPr marL="0" indent="0">
              <a:buNone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Applications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Digital art creation. 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Photo editing apps. </a:t>
            </a:r>
          </a:p>
          <a:p>
            <a:pPr marL="0" indent="0">
              <a:buNone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Film and animation.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42508-38EC-7DCB-436B-E4586921A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26034-071B-8EDC-01C8-BE8EDFDA9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E76D0-7E45-FBC5-ADF6-D117699F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7926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A1947-F67D-48EB-715D-407473E3A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Learning Convolutional Filters for Other Problem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C164F4-6EE8-EE99-D26E-2EA58CCE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976" y="1417637"/>
            <a:ext cx="10439400" cy="4708527"/>
          </a:xfrm>
        </p:spPr>
        <p:txBody>
          <a:bodyPr numCol="1"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Definition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filters are the core components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Although originally designed for image processing, these filters can be extended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domains to learn patterns from data automatically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capability makes CNNs highly powerful in Deep Learning.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Concept of Convolutional Filters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filter (kernel)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small matrix that moves across input data and performs: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Element-wise multiplication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Summation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map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highlights important patterns such as edges, trends, or correlations.</a:t>
            </a:r>
          </a:p>
          <a:p>
            <a:pPr marL="0" indent="0" algn="just">
              <a:spcBef>
                <a:spcPts val="0"/>
              </a:spcBef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F832D-F92A-56F5-58C4-3D27566C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AB39A-CD31-DD88-A12F-9CEF0032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922A6-4896-9199-CDCC-9C4748EE9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511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9A88-B0B7-9D46-CC10-55202DD97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533401"/>
            <a:ext cx="10109835" cy="55927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Generalization of Convolution Across Domains</a:t>
            </a:r>
          </a:p>
          <a:p>
            <a:r>
              <a:rPr lang="en-US" dirty="0"/>
              <a:t>Convolution is not limited to images. It can be applied to different data structures: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(1)1D Convolution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sequential data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1D signals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(stock prices, weather data)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processing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analysis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Learns temporal patterns and trends.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0EC4-CAE5-96D0-60E0-5180E8F4F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6F79-C011-4504-F65F-1959DFD84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267AA-D20B-941C-1CD6-31BABC97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318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447E8-0B72-E192-A74C-439A34BCF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304801"/>
            <a:ext cx="10109835" cy="582136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2D Convolution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image data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2D matrix (height × width)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</a:t>
            </a:r>
          </a:p>
          <a:p>
            <a:pPr marL="0" indent="0">
              <a:buNone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3D Convolution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volumetric or temporal data 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processing (frame sequences) </a:t>
            </a:r>
          </a:p>
          <a:p>
            <a:pPr marL="0" indent="0">
              <a:buNone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 (MRI, CT scans)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8A4A8-5A90-2179-733D-AD18D1B64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C240B-3CF6-11AE-1BED-BF03A8FA6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3C491-CAD8-9E5D-ABEE-37E5445D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3578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8589-3467-D286-51F8-5045FB2D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Applications in Various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ED32-24CB-85E1-9E10-20E0D38E69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1371601"/>
            <a:ext cx="10109835" cy="4754564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Time-Series Analysis.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and Medical Field.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and Multimedia Processing.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12538-7D34-0AB4-4E25-5CB968D22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F81D4-F0B1-BA59-D83B-95703BB85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51F64-9E13-3C08-41D4-F3632A92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979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E2E6D-C330-2D79-3EA4-E2AD1E4E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762000"/>
            <a:ext cx="10109835" cy="5410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Working Mechanism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(text, audio, image, etc.)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convolution filters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feature maps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activation function (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Pooling reduces dimensions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 for classification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59710-B997-093D-4AF0-C63442EF1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3D969-3D0D-CDFC-139F-19E7D97C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AA79B-4BA9-7701-880F-D55A5BF1C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1090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EB36D-2B9E-3A0B-CB7D-AD3175672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762001"/>
            <a:ext cx="10109835" cy="536416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Advantages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feature extraction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across multiple domains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local dependencies effectively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in complex tasks </a:t>
            </a:r>
          </a:p>
          <a:p>
            <a:pPr marL="0" indent="0">
              <a:buNone/>
            </a:pPr>
            <a:r>
              <a:rPr lang="en-US" sz="4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Challenges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large datasets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expensive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 tuning 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interpret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44756A-8741-503E-EEAD-FB05F8A0A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68118-5B16-965B-49E1-5D1B8618B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66E83-CD01-45E2-6859-3F7AD7BF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56553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758F7-591F-BAC0-7256-8DC7FA622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658" y="228600"/>
            <a:ext cx="10109835" cy="609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 Training algorithms.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D5E7F-D057-2F18-C23F-E9F012372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838201"/>
            <a:ext cx="10109835" cy="52879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algorithms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methods used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neural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adjusting weights and biases to minimize error.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play a crucial role in learning patterns from data in Deep Learning.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Objective of Training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goal is to: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(error) function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accuracy. 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optimal parameters.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A4E8E-4B67-4A4A-F0A7-88ABC9A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0FF5F-4731-27C4-E158-1E287B265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FCFCB-7631-E67B-C0DC-9CF38B22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41799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E9A87-EE8B-A32D-ACA6-4FB42CA6C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381000"/>
            <a:ext cx="10109835" cy="597535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Steps in Training a Neural Network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 Propagation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passed through the network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is generated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Calculation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predicted output with actual output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error using loss functions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 Squared Error (MSE)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Cross-Entropy Loss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is propagated backward 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Gradients are calculated using chain rule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Update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Weights are updated using optimization algorithms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C279D3-1E55-1ED7-CDDB-1C4F7AC0F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CC434-84CE-4D7A-3C3E-A453606BA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E05F1-31F8-C408-4317-97DB487D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1764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0353D-345C-AF89-CD9C-EF5960971D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1658" y="304801"/>
                <a:ext cx="10109835" cy="582136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Gradient Descent Algorithm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optimization algorithm used to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minimize the loss function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𝑑𝐿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𝑑𝑊</m:t>
                        </m:r>
                      </m:den>
                    </m:f>
                  </m:oMath>
                </a14:m>
                <a:endParaRPr lang="ar-A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weights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learning rate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loss function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40353D-345C-AF89-CD9C-EF5960971D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658" y="304801"/>
                <a:ext cx="10109835" cy="5821364"/>
              </a:xfrm>
              <a:blipFill>
                <a:blip r:embed="rId2"/>
                <a:stretch>
                  <a:fillRect l="-1386" t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80596E-D78A-C72E-A04C-7459AB44D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BE304-04D7-6FF4-0C15-ACDE8F5C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DBEB2-CB50-A871-1018-48C6A3D19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3130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5CFAF-EE6E-DA09-2AE5-DD3788DA9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533401"/>
            <a:ext cx="10109835" cy="55927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Types of Gradient Descent:- 3 Types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Batch Gradient Descent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entire dataset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but slow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Stochastic Gradient Descent (SGD)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one data point at a time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but noisy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Mini-Batch Gradient Descent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small batches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between speed and accuracy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8EF6F4-E12D-B60C-F99F-4D177B743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56270-4797-A67D-65DA-77A7CA134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C3AA6-24D3-FE35-FB2B-7EE9D9047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7448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5E29-4A40-AE30-D018-2B5721810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658" y="381001"/>
            <a:ext cx="10109835" cy="57451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Techniques to Improve Training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Regularization (Dropout, L2)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Normalization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 scheduling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algorithms are used in: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classification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diagnosis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1F608-514D-246D-FD16-9D3E8F25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B27A0-172A-4B70-B0AA-111E6A77729C}" type="datetime1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092A5-6F2F-2DCD-9EB0-30BE5F460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Mr P Ramu,Assistant Professor,CSE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90A49-05A3-2CA1-D2A9-A3AFB459B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32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</TotalTime>
  <Words>3135</Words>
  <Application>Microsoft Office PowerPoint</Application>
  <PresentationFormat>Custom</PresentationFormat>
  <Paragraphs>682</Paragraphs>
  <Slides>91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91</vt:i4>
      </vt:variant>
    </vt:vector>
  </HeadingPairs>
  <TitlesOfParts>
    <vt:vector size="99" baseType="lpstr">
      <vt:lpstr>Arial</vt:lpstr>
      <vt:lpstr>Calibri</vt:lpstr>
      <vt:lpstr>Cambria Math</vt:lpstr>
      <vt:lpstr>Symbol</vt:lpstr>
      <vt:lpstr>Times New Roman</vt:lpstr>
      <vt:lpstr>Wingdings</vt:lpstr>
      <vt:lpstr>Office Theme</vt:lpstr>
      <vt:lpstr>1_Office Theme</vt:lpstr>
      <vt:lpstr>COURSE ARTIFICIAL INTELLIGENCE AND DEEP LEARNING (AIDL)</vt:lpstr>
      <vt:lpstr>UNIT – V</vt:lpstr>
      <vt:lpstr>Introduction to Deep Learning</vt:lpstr>
      <vt:lpstr>Deep learning architectures</vt:lpstr>
      <vt:lpstr>PowerPoint Presentation</vt:lpstr>
      <vt:lpstr>PowerPoint Presentation</vt:lpstr>
      <vt:lpstr>PowerPoint Presentation</vt:lpstr>
      <vt:lpstr>PowerPoint Presentation</vt:lpstr>
      <vt:lpstr>Types of Deep Learning</vt:lpstr>
      <vt:lpstr>1. Artificial Neural Networks (ANN) </vt:lpstr>
      <vt:lpstr> 2. Convolutional Neural Networks (CNN) </vt:lpstr>
      <vt:lpstr>3. Recurrent Neural Networks (RNN)</vt:lpstr>
      <vt:lpstr>4. Long Short-Term Memory (LSTM) </vt:lpstr>
      <vt:lpstr>5. Generative Adversarial Networks (GAN) </vt:lpstr>
      <vt:lpstr>Summary Table</vt:lpstr>
      <vt:lpstr>1. Convolutional Neural Networks: Neurons in Human Vision</vt:lpstr>
      <vt:lpstr>Human Visual Processing System</vt:lpstr>
      <vt:lpstr>Types of Neurons in Human Vision</vt:lpstr>
      <vt:lpstr>Receptive Field</vt:lpstr>
      <vt:lpstr>Mapping Human Vision to CNN</vt:lpstr>
      <vt:lpstr>PowerPoint Presentation</vt:lpstr>
      <vt:lpstr>2. The Shortcomings of Feature Selection</vt:lpstr>
      <vt:lpstr>Major Shortcomings of Feature Selection</vt:lpstr>
      <vt:lpstr>PowerPoint Presentation</vt:lpstr>
      <vt:lpstr>PowerPoint Presentation</vt:lpstr>
      <vt:lpstr>Why Deep Learning Overcomes These Issues</vt:lpstr>
      <vt:lpstr>3. Full Description of the Convolutional Layer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Max Pooling </vt:lpstr>
      <vt:lpstr>PowerPoint Presentation</vt:lpstr>
      <vt:lpstr>PowerPoint Presentation</vt:lpstr>
      <vt:lpstr>PowerPoint Presentation</vt:lpstr>
      <vt:lpstr>PowerPoint Presentation</vt:lpstr>
      <vt:lpstr>5. Architecture of Convolutional Neural Networks</vt:lpstr>
      <vt:lpstr> Architecture of Convolutional Neural Networks </vt:lpstr>
      <vt:lpstr>Convolutional Neural Networks (CNN)</vt:lpstr>
      <vt:lpstr>Main Layers of CNN</vt:lpstr>
      <vt:lpstr>1. Input Layer</vt:lpstr>
      <vt:lpstr>MNIST dataset  in CNN</vt:lpstr>
      <vt:lpstr>CIFAR-10 dataset in CNN</vt:lpstr>
      <vt:lpstr>2. Convolutional Layer</vt:lpstr>
      <vt:lpstr>2. Convolutional Layer</vt:lpstr>
      <vt:lpstr> 3. Activation Layer. </vt:lpstr>
      <vt:lpstr>4. Pooling Layer</vt:lpstr>
      <vt:lpstr>5. Flatten Layer</vt:lpstr>
      <vt:lpstr>6. Fully Connected Layer</vt:lpstr>
      <vt:lpstr>Softmax in CNN</vt:lpstr>
      <vt:lpstr>7. Output Layer</vt:lpstr>
      <vt:lpstr>6. Closing the Loop on MNIST with Convolutional Networks</vt:lpstr>
      <vt:lpstr>PowerPoint Presentation</vt:lpstr>
      <vt:lpstr>PowerPoint Presentation</vt:lpstr>
      <vt:lpstr>PowerPoint Presentation</vt:lpstr>
      <vt:lpstr>5. Working Process in MNIST</vt:lpstr>
      <vt:lpstr>PowerPoint Presentation</vt:lpstr>
      <vt:lpstr>PowerPoint Presentation</vt:lpstr>
      <vt:lpstr>7. Building a Convolutional Network for CIFAR-10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8. Visualizing Learning in Convolutional Networks</vt:lpstr>
      <vt:lpstr>PowerPoint Presentation</vt:lpstr>
      <vt:lpstr>PowerPoint Presentation</vt:lpstr>
      <vt:lpstr>PowerPoint Presentation</vt:lpstr>
      <vt:lpstr>PowerPoint Presentation</vt:lpstr>
      <vt:lpstr>9. Leveraging Convolutional Filters to Replicate Artistic Styles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10. Learning Convolutional Filters for Other Problem Domains</vt:lpstr>
      <vt:lpstr>PowerPoint Presentation</vt:lpstr>
      <vt:lpstr>PowerPoint Presentation</vt:lpstr>
      <vt:lpstr>4. Applications in Various Domains</vt:lpstr>
      <vt:lpstr>PowerPoint Presentation</vt:lpstr>
      <vt:lpstr>PowerPoint Presentation</vt:lpstr>
      <vt:lpstr>11.  Training algorithms.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UNIT-V</dc:title>
  <dc:creator>thatiparthi rajini kanth</dc:creator>
  <cp:lastModifiedBy>Pasam Ramu</cp:lastModifiedBy>
  <cp:revision>99</cp:revision>
  <dcterms:created xsi:type="dcterms:W3CDTF">2006-08-16T00:00:00Z</dcterms:created>
  <dcterms:modified xsi:type="dcterms:W3CDTF">2026-04-03T17:04:59Z</dcterms:modified>
</cp:coreProperties>
</file>