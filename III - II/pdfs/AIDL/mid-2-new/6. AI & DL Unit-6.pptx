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89" r:id="rId2"/>
    <p:sldId id="257" r:id="rId3"/>
    <p:sldId id="258" r:id="rId4"/>
    <p:sldId id="260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</p:sldIdLst>
  <p:sldSz cx="1116171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53383FC-BAA9-486C-A380-8ADCE2B69C32}">
          <p14:sldIdLst>
            <p14:sldId id="289"/>
            <p14:sldId id="257"/>
            <p14:sldId id="258"/>
            <p14:sldId id="260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5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68" y="176"/>
      </p:cViewPr>
      <p:guideLst>
        <p:guide orient="horz" pos="2160"/>
        <p:guide pos="35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9B32E-D802-4AA0-B7D9-1D308FC8E7C2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39763" y="685800"/>
            <a:ext cx="55784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7F3B4-6A3B-4B53-800A-462DB2B5957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7F3B4-6A3B-4B53-800A-462DB2B5957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129" y="2130426"/>
            <a:ext cx="9487456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257" y="3886200"/>
            <a:ext cx="78131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E335B-FE05-4426-8498-4C842DEE051F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698" y="4406901"/>
            <a:ext cx="948745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698" y="2906713"/>
            <a:ext cx="948745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5273-C4AC-438E-B93B-312C1E8DB17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8085" y="1600201"/>
            <a:ext cx="492975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73871" y="1600201"/>
            <a:ext cx="492975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3A52A-B52F-4151-AFAC-D3D645134DAB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086" y="1535113"/>
            <a:ext cx="493169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086" y="2174875"/>
            <a:ext cx="493169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69996" y="1535113"/>
            <a:ext cx="49336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69996" y="2174875"/>
            <a:ext cx="49336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4F79-C3F6-4595-8EA5-ECE5FBBDDD50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E87E5-3ABF-451F-B276-4E26C691B3B1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982DE-BB17-4B60-BA67-E39102CC44E8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273050"/>
            <a:ext cx="367212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3920" y="273051"/>
            <a:ext cx="623970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086" y="1435101"/>
            <a:ext cx="367212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F3C03-C055-4C6F-977C-D4BF0872E8A8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7774" y="4800600"/>
            <a:ext cx="669702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87774" y="612775"/>
            <a:ext cx="669702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87774" y="5367338"/>
            <a:ext cx="66970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727AD-D6B3-4999-98E5-9F8CD385DB62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6F59-57F8-4550-AED6-F99A070E7F7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92242" y="274639"/>
            <a:ext cx="251138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8086" y="274639"/>
            <a:ext cx="734812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AAF13-2B72-4F2B-804F-7A4D1E2C6FB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58086" y="273600"/>
            <a:ext cx="10044663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4372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58086" y="1604520"/>
            <a:ext cx="10044663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08"/>
              </a:spcBef>
              <a:buNone/>
              <a:defRPr/>
            </a:lvl1pPr>
          </a:lstStyle>
          <a:p>
            <a:pPr indent="0">
              <a:spcBef>
                <a:spcPts val="1417"/>
              </a:spcBef>
              <a:buNone/>
            </a:pPr>
            <a:endParaRPr lang="en-US" sz="31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AEE5FD-FE86-4142-8F11-32AB513D621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A9E64CF6-18EB-46D9-A449-267E509E5C54}" type="datetime1">
              <a:rPr lang="en-US" smtClean="0"/>
              <a:t>4/19/2026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572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086" y="1600201"/>
            <a:ext cx="1004554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8086" y="6356351"/>
            <a:ext cx="260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1C0D8-7C8E-4023-A93D-84057BCAD03E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3586" y="6356351"/>
            <a:ext cx="3534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9228" y="6356351"/>
            <a:ext cx="260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2"/>
          <p:cNvPicPr/>
          <p:nvPr/>
        </p:nvPicPr>
        <p:blipFill>
          <a:blip r:embed="rId2"/>
          <a:stretch/>
        </p:blipFill>
        <p:spPr>
          <a:xfrm>
            <a:off x="4106664" y="3738062"/>
            <a:ext cx="3802818" cy="723291"/>
          </a:xfrm>
          <a:prstGeom prst="rect">
            <a:avLst/>
          </a:prstGeom>
          <a:ln w="0">
            <a:noFill/>
          </a:ln>
        </p:spPr>
      </p:pic>
      <p:sp>
        <p:nvSpPr>
          <p:cNvPr id="36" name="object 3"/>
          <p:cNvSpPr/>
          <p:nvPr/>
        </p:nvSpPr>
        <p:spPr>
          <a:xfrm>
            <a:off x="4816684" y="3754876"/>
            <a:ext cx="4741488" cy="10047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3235" rIns="0" bIns="0" anchor="t">
            <a:spAutoFit/>
          </a:bodyPr>
          <a:lstStyle/>
          <a:p>
            <a:pPr marL="12519">
              <a:spcBef>
                <a:spcPts val="104"/>
              </a:spcBef>
            </a:pPr>
            <a:r>
              <a:rPr lang="en-US" sz="3180" spc="-150" dirty="0">
                <a:solidFill>
                  <a:srgbClr val="000000"/>
                </a:solidFill>
                <a:latin typeface="Times New Roman"/>
              </a:rPr>
              <a:t>    UNIT-VI</a:t>
            </a:r>
          </a:p>
          <a:p>
            <a:pPr marL="12519">
              <a:spcBef>
                <a:spcPts val="104"/>
              </a:spcBef>
            </a:pPr>
            <a:endParaRPr lang="en-US" sz="318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object 4"/>
          <p:cNvPicPr/>
          <p:nvPr/>
        </p:nvPicPr>
        <p:blipFill>
          <a:blip r:embed="rId3"/>
          <a:stretch/>
        </p:blipFill>
        <p:spPr>
          <a:xfrm>
            <a:off x="1475412" y="1125702"/>
            <a:ext cx="8023448" cy="2167726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475412" y="1140725"/>
            <a:ext cx="7664068" cy="2193124"/>
          </a:xfrm>
          <a:prstGeom prst="rect">
            <a:avLst/>
          </a:prstGeom>
          <a:noFill/>
          <a:ln w="0">
            <a:noFill/>
          </a:ln>
        </p:spPr>
        <p:txBody>
          <a:bodyPr vert="horz" lIns="0" tIns="12520" rIns="0" bIns="0" rtlCol="0" anchor="t">
            <a:noAutofit/>
          </a:bodyPr>
          <a:lstStyle/>
          <a:p>
            <a:pPr marL="12519" indent="2012755">
              <a:spcBef>
                <a:spcPts val="98"/>
              </a:spcBef>
              <a:tabLst>
                <a:tab pos="0" algn="l"/>
              </a:tabLst>
            </a:pPr>
            <a:r>
              <a:rPr lang="en-US" sz="3577" spc="-41" dirty="0">
                <a:solidFill>
                  <a:schemeClr val="dk1"/>
                </a:solidFill>
                <a:latin typeface="Times New Roman"/>
              </a:rPr>
              <a:t>COURSE</a:t>
            </a:r>
            <a:br>
              <a:rPr lang="en-US" sz="3577" spc="-41" dirty="0">
                <a:solidFill>
                  <a:schemeClr val="dk1"/>
                </a:solidFill>
                <a:latin typeface="Times New Roman"/>
              </a:rPr>
            </a:br>
            <a:r>
              <a:rPr lang="en-US" sz="3180" spc="-99" dirty="0">
                <a:solidFill>
                  <a:schemeClr val="dk1"/>
                </a:solidFill>
                <a:latin typeface="Times New Roman"/>
              </a:rPr>
              <a:t>ARTIFICIAL</a:t>
            </a:r>
            <a:r>
              <a:rPr lang="en-US" sz="3180" spc="-52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180" spc="-79" dirty="0">
                <a:solidFill>
                  <a:schemeClr val="dk1"/>
                </a:solidFill>
                <a:latin typeface="Times New Roman"/>
              </a:rPr>
              <a:t>INTELLIGENCE </a:t>
            </a:r>
            <a:r>
              <a:rPr lang="en-US" sz="3180" spc="-260" dirty="0">
                <a:solidFill>
                  <a:schemeClr val="dk1"/>
                </a:solidFill>
                <a:latin typeface="Times New Roman"/>
              </a:rPr>
              <a:t>AND</a:t>
            </a:r>
            <a:r>
              <a:rPr lang="en-US" sz="3180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180" spc="-32" dirty="0">
                <a:solidFill>
                  <a:schemeClr val="dk1"/>
                </a:solidFill>
                <a:latin typeface="Times New Roman"/>
              </a:rPr>
              <a:t>DEEP</a:t>
            </a:r>
            <a:r>
              <a:rPr lang="en-US" sz="3180" spc="-150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180" spc="-184" dirty="0">
                <a:solidFill>
                  <a:schemeClr val="dk1"/>
                </a:solidFill>
                <a:latin typeface="Times New Roman"/>
              </a:rPr>
              <a:t>LEARNING</a:t>
            </a:r>
            <a:r>
              <a:rPr lang="en-US" sz="3180" spc="-4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180" spc="-12" dirty="0">
                <a:solidFill>
                  <a:schemeClr val="dk1"/>
                </a:solidFill>
                <a:latin typeface="Times New Roman"/>
              </a:rPr>
              <a:t>(AIDL)</a:t>
            </a:r>
            <a:endParaRPr lang="en-US" sz="318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object 8"/>
          <p:cNvPicPr/>
          <p:nvPr/>
        </p:nvPicPr>
        <p:blipFill>
          <a:blip r:embed="rId4"/>
          <a:stretch/>
        </p:blipFill>
        <p:spPr>
          <a:xfrm>
            <a:off x="1799498" y="4994699"/>
            <a:ext cx="7219672" cy="798768"/>
          </a:xfrm>
          <a:prstGeom prst="rect">
            <a:avLst/>
          </a:prstGeom>
          <a:ln w="0">
            <a:noFill/>
          </a:ln>
        </p:spPr>
      </p:pic>
      <p:sp>
        <p:nvSpPr>
          <p:cNvPr id="42" name="object 9"/>
          <p:cNvSpPr/>
          <p:nvPr/>
        </p:nvSpPr>
        <p:spPr>
          <a:xfrm>
            <a:off x="2022351" y="5061592"/>
            <a:ext cx="6996819" cy="5631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520" rIns="0" bIns="0" anchor="t">
            <a:spAutoFit/>
          </a:bodyPr>
          <a:lstStyle/>
          <a:p>
            <a:pPr marL="12519">
              <a:spcBef>
                <a:spcPts val="98"/>
              </a:spcBef>
            </a:pPr>
            <a:r>
              <a:rPr lang="en-IN" sz="3577" spc="-12">
                <a:solidFill>
                  <a:srgbClr val="000000"/>
                </a:solidFill>
                <a:latin typeface="Times New Roman"/>
              </a:rPr>
              <a:t>Mr. P Ramu,Assistant Professor</a:t>
            </a:r>
            <a:endParaRPr lang="en-US" sz="3577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object 10"/>
          <p:cNvPicPr/>
          <p:nvPr/>
        </p:nvPicPr>
        <p:blipFill>
          <a:blip r:embed="rId5"/>
          <a:stretch/>
        </p:blipFill>
        <p:spPr>
          <a:xfrm>
            <a:off x="2986381" y="235360"/>
            <a:ext cx="4685293" cy="532989"/>
          </a:xfrm>
          <a:prstGeom prst="rect">
            <a:avLst/>
          </a:prstGeom>
          <a:ln w="0"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761F-15FD-BD69-0A57-A04117D84050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FF3AF242-A170-4F9A-A353-EAEFA83A1769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DCDD3-7C09-5357-8FD9-7FF9513D0E2A}"/>
              </a:ext>
            </a:extLst>
          </p:cNvPr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A6AA8-8E63-E162-81B0-A43DC6853E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AEE5FD-FE86-4142-8F11-32AB513D621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DEEP REINFORCEMENT LEARNING: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086" y="914401"/>
            <a:ext cx="10045542" cy="5211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Deep Reinforcement Learning Masters Atari Games   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Reinforcement Learning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Markov Decision Processes (MDP)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Explore Versus Exploit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Pole Cart with Policy Gradients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Q - Learning and Deep Q-Networks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Improving and Moving Beyond DQN.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947A3-F786-ABD1-D6D1-ACFE089B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A013-3A13-4C0E-B562-5FB44427E23E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F1F2C-4607-AA92-B42B-0FC0AC58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E7B16-7649-8CAD-ED3F-47E21DB7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76200"/>
            <a:ext cx="10045542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 Deep 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043" y="838200"/>
            <a:ext cx="10696642" cy="5791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Reinforcement learning, which is a branch of machine learning that deals with learning via interaction and feedback.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Reinforcement learning is essential to building agents that can not only perceive and interpret the world, but also take action and interact with it.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Discuss how to incorporate deep neural networks into the framework of reinforcement learning and discuss recent advances and improvements in this field.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E4F0B-BD01-B764-2FBD-C518B456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CE32-A07A-446F-A554-2143544B407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0C76C-3792-7317-5D61-E569BECEF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6EA26-EEA1-7072-4AC5-B4833852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76200"/>
            <a:ext cx="10045542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Reinforcement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685800"/>
            <a:ext cx="5791200" cy="579119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100" dirty="0"/>
              <a:t>Reinforcement learning, at its essentials, is learning by interacting with an environment.</a:t>
            </a:r>
          </a:p>
          <a:p>
            <a:pPr algn="just">
              <a:spcBef>
                <a:spcPts val="0"/>
              </a:spcBef>
            </a:pPr>
            <a:r>
              <a:rPr lang="en-US" sz="2100" dirty="0"/>
              <a:t>Learning process involves an </a:t>
            </a:r>
            <a:r>
              <a:rPr lang="en-US" sz="2100" i="1" dirty="0"/>
              <a:t>actor, an environment, and a reward signal.</a:t>
            </a:r>
          </a:p>
          <a:p>
            <a:pPr algn="just">
              <a:spcBef>
                <a:spcPts val="0"/>
              </a:spcBef>
            </a:pPr>
            <a:r>
              <a:rPr lang="en-US" sz="2100" dirty="0"/>
              <a:t>The actor chooses to take an action in the environment, for which the actor is rewarded accordingly. </a:t>
            </a:r>
          </a:p>
          <a:p>
            <a:pPr algn="just">
              <a:spcBef>
                <a:spcPts val="0"/>
              </a:spcBef>
            </a:pPr>
            <a:r>
              <a:rPr lang="en-US" sz="2100" dirty="0"/>
              <a:t>The way in which an actor chooses actions is called a </a:t>
            </a:r>
            <a:r>
              <a:rPr lang="en-US" sz="2100" i="1" dirty="0"/>
              <a:t>policy.</a:t>
            </a:r>
          </a:p>
          <a:p>
            <a:pPr algn="just">
              <a:spcBef>
                <a:spcPts val="0"/>
              </a:spcBef>
            </a:pPr>
            <a:r>
              <a:rPr lang="en-US" sz="2100" i="1" dirty="0"/>
              <a:t>The </a:t>
            </a:r>
            <a:r>
              <a:rPr lang="en-US" sz="2100" dirty="0"/>
              <a:t>actor wants to increase the reward it receives, and so must learn an optimal policy for interacting with the environment (Figure 9-2).</a:t>
            </a:r>
          </a:p>
          <a:p>
            <a:pPr algn="just">
              <a:spcBef>
                <a:spcPts val="0"/>
              </a:spcBef>
            </a:pPr>
            <a:r>
              <a:rPr lang="en-US" sz="2100" dirty="0"/>
              <a:t>Reinforcement learning is different from the other types of learning that we have covered thus far. </a:t>
            </a:r>
          </a:p>
          <a:p>
            <a:pPr algn="just">
              <a:spcBef>
                <a:spcPts val="0"/>
              </a:spcBef>
            </a:pPr>
            <a:r>
              <a:rPr lang="en-US" sz="2100" dirty="0"/>
              <a:t>In traditional supervised learning,  we are given data and labels, and are tasked with predicting labels given data.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38056" y="838200"/>
            <a:ext cx="5123657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342856" y="3429000"/>
            <a:ext cx="398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Figure 9-2. Reinforcement learning setup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14257" y="3912275"/>
            <a:ext cx="487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100" dirty="0"/>
              <a:t> In unsupervised learning, we are given just data and are tasked with discovering underlying structure in this data. </a:t>
            </a:r>
          </a:p>
          <a:p>
            <a:pPr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100" dirty="0"/>
              <a:t> In reinforcement learning, we are given neither data nor labels. </a:t>
            </a:r>
          </a:p>
          <a:p>
            <a:pPr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100" dirty="0"/>
              <a:t> Learning signal is derived from the rewards given to the agent by the environment.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E3767-375D-A3F3-B074-F3993B49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BA04C-F454-457D-9812-A677EC1ABD90}" type="datetime1">
              <a:rPr lang="en-US" smtClean="0"/>
              <a:t>4/19/2026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3F7D82-2310-BFF5-4A6F-AB763363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DC7586-69AC-AE49-64FF-96D2119C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209F-C271-09F9-2A89-6D0BE0C32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1020762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Deep Reinforcement Learning Masters Atari Games  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B289-5D28-2169-7FD7-839972651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1219201"/>
            <a:ext cx="10045542" cy="49069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Idea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Reinforcement Learning Setup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Deep Q-Network (DQN)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Key Techniques Used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Training Process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Achievements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Importance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Limitations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Improvements Beyond DQN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EBE71-75B1-9C51-B6BF-7D2D066C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343C5-7AD2-F573-92BC-EA735C97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8BA3-F03A-189C-1F0C-78930F4E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52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3E9DF-24F5-4039-2CE7-204A8345F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04801"/>
            <a:ext cx="10045542" cy="58213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major breakthrough in AI occurred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DeepMind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system that could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to play Atari video games directly from raw pixels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achieving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human-level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combines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Deep Learning, known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Reinforcement Learning (DRL)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Raw game frames (pixel images)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Game actions (left, right, fire, etc.)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Maximize total score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-&gt;No manual feature extraction is used.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1856A-8411-1AB9-E152-5ADD80581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73BE0-1E0D-96F5-D5DC-8D8031FA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B303D-24D8-5BEE-22F1-3EB9C45F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04A44-FFB5-1FF0-ED68-CCA709285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228601"/>
            <a:ext cx="10045542" cy="58975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Idea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 (DQN)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directly from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Q-values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optimal actions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Reinforcement Learning Setup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player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Atari game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screen (image)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Game controls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 change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Maximize cumulative reward.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2ACA0-0EB7-A3A6-2D31-48DD296F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F3DDF-88EB-52AE-C919-159654D42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28C7A-A9B3-38F1-794E-88187707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15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A6D9-C6B1-796B-B91D-EFD12D155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04801"/>
            <a:ext cx="10045542" cy="58213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Deep Q-Network (DQN)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combines: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(RL)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frames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Q-values for each action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24B4-BB0B-2E26-5338-866DEFAF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9D1C5-3BF7-96F3-6E61-2754EAEC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47667-E4AA-E358-B3FD-C9605D34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15A87-1492-7677-1706-9F0F55CF44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86" y="304801"/>
                <a:ext cx="10045542" cy="58213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Key Techniques Used</a:t>
                </a:r>
              </a:p>
              <a:p>
                <a:pPr marL="0" indent="0">
                  <a:buNone/>
                </a:pP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Experience Replay</a:t>
                </a:r>
              </a:p>
              <a:p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Stores past experiences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3400"/>
                        </m:ctrlPr>
                      </m:dPr>
                      <m:e>
                        <m:r>
                          <a:rPr lang="ar-AE" sz="3400" i="1"/>
                          <m:t>𝑠</m:t>
                        </m:r>
                      </m:e>
                      <m:e>
                        <m:r>
                          <a:rPr lang="ar-AE" sz="3400" i="1"/>
                          <m:t>𝑎</m:t>
                        </m:r>
                      </m:e>
                      <m:e>
                        <m:r>
                          <a:rPr lang="ar-AE" sz="3400" i="1"/>
                          <m:t>𝑟</m:t>
                        </m:r>
                      </m:e>
                      <m:e>
                        <m:sSup>
                          <m:sSupPr>
                            <m:ctrlPr>
                              <a:rPr lang="ar-AE" sz="3400" i="1"/>
                            </m:ctrlPr>
                          </m:sSupPr>
                          <m:e>
                            <m:r>
                              <a:rPr lang="ar-AE" sz="3400" i="1"/>
                              <m:t>𝑠</m:t>
                            </m:r>
                          </m:e>
                          <m:sup>
                            <m:r>
                              <a:rPr lang="ar-AE" sz="3400"/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ar-AE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sampling for training </a:t>
                </a:r>
              </a:p>
              <a:p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Improves learning stability</a:t>
                </a:r>
                <a:b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Target Network</a:t>
                </a:r>
              </a:p>
              <a:p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Separate network for target Q-values </a:t>
                </a:r>
              </a:p>
              <a:p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Updated periodically </a:t>
                </a:r>
              </a:p>
              <a:p>
                <a:pPr marL="0" indent="0">
                  <a:buNone/>
                </a:pP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Prevents instability</a:t>
                </a:r>
              </a:p>
              <a:p>
                <a:pPr marL="0" indent="0">
                  <a:buNone/>
                </a:pP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Reward System</a:t>
                </a:r>
              </a:p>
              <a:p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 reward → good action </a:t>
                </a:r>
              </a:p>
              <a:p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 reward → bad action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15A87-1492-7677-1706-9F0F55CF44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86" y="304801"/>
                <a:ext cx="10045542" cy="5821364"/>
              </a:xfrm>
              <a:blipFill>
                <a:blip r:embed="rId2"/>
                <a:stretch>
                  <a:fillRect l="-1336" t="-2618" b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D2EBC-5DA5-6977-54C7-4C724DBDF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7C8EE-7536-B138-8599-7D9D5811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DD4A4-EEA6-B96D-61A8-B97466D1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1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A6ED9-A9B3-EEA6-6E21-6CD37477C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228601"/>
            <a:ext cx="10045542" cy="589756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Training Process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game state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action (ε-greedy)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action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reward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experience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neural network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Q-values </a:t>
            </a:r>
          </a:p>
          <a:p>
            <a:pPr marL="0" indent="0">
              <a:buNone/>
            </a:pP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Achievements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Played </a:t>
            </a: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 Atari games</a:t>
            </a: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human-level performance</a:t>
            </a: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strategies like: </a:t>
            </a:r>
          </a:p>
          <a:p>
            <a:pPr lvl="1"/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Paddle control in Pong </a:t>
            </a:r>
          </a:p>
          <a:p>
            <a:pPr lvl="1"/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Brick breaking in Breakout </a:t>
            </a:r>
            <a:b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Importance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system to learn from </a:t>
            </a:r>
            <a:r>
              <a:rPr lang="en-US"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pixels</a:t>
            </a:r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domain-specific knowledge required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model works across multiple games </a:t>
            </a:r>
          </a:p>
          <a:p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Major milestone in AI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E52B6-C482-0092-D16A-2372D69B7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01DF-E601-D42F-347A-91EEF6EA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99589-3B82-B7AD-6281-BCC3A326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7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C295A-578B-62CE-753C-9863C85AF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457201"/>
            <a:ext cx="10045542" cy="56689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Limitations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training time 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GPUs 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varies across games </a:t>
            </a:r>
          </a:p>
          <a:p>
            <a:pPr marL="0" indent="0">
              <a:buNone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11. Improvements Beyond DQN</a:t>
            </a:r>
          </a:p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DQN: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overestimation </a:t>
            </a:r>
          </a:p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Dueling DQN: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Separates value &amp; advantage </a:t>
            </a:r>
          </a:p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Replay: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on important data </a:t>
            </a:r>
          </a:p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Actor-Critic: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policy &amp; value methods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F8159-FFB2-BF3A-BC5C-23FD3FB6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2BE04-91F5-1F68-C286-CC1C52EE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9CC5-3F36-F425-C4B5-E6EDC4EBC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60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C07A-DD69-EAFD-3CDF-C1947DAD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792162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Reinforcement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F43EF-446D-035A-D68D-7C332EB2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990601"/>
            <a:ext cx="10045542" cy="51355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Definition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machine learning where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learns by interacting with an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improves its actions based on rewards or penalties.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key concept in Artificial Intelligence.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Basic Components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Learner/decision maker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External system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(S)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Current situation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(A)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Choice made by agent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(R)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Feedback signal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(π)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Strategy for selecting actions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93E7-769D-8693-4B52-DDA480D6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536B-9488-22D9-AC4D-918BCA730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FE1DD-87FF-D87F-F0AD-01CBADAA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92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671C-22A9-E10B-CB85-41CA2067D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81001"/>
            <a:ext cx="10045542" cy="57451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Working of RL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→ Action → Environment → Reward → New State → Agent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cumulative reward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Key Concepts</a:t>
            </a: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Reward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feedback after action</a:t>
            </a: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accumulated reward</a:t>
            </a: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Discount Factor (</a:t>
            </a:r>
            <a:r>
              <a:rPr lang="el-G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γ)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future rewards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C2D25-75AB-D209-5E6E-9E9CAF050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8699-EFB0-A21A-5BB6-AA23FEC4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E67A3-8390-238E-FC2B-B51D65A7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1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C07F-04B3-C5AD-3C30-3FB4178B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792162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Markov Decision Processes (MDP)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F36ECF-7D88-D09E-5C9E-904638755B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86" y="1066801"/>
                <a:ext cx="10045542" cy="505936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Definition</a:t>
                </a:r>
              </a:p>
              <a:p>
                <a:pPr marL="0" indent="0">
                  <a:buNone/>
                </a:pP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Markov Decision Process (MDP)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mathematical framework used to model </a:t>
                </a: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decision-making in situations where outcomes are partly random and partly under the control of an agent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b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widely used in Artificial Intelligence and reinforcement learning.</a:t>
                </a:r>
              </a:p>
              <a:p>
                <a:pPr marL="0" indent="0">
                  <a:buNone/>
                </a:pPr>
                <a:b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Components of MDP</a:t>
                </a:r>
              </a:p>
              <a:p>
                <a:pPr marL="0" indent="0">
                  <a:buNone/>
                </a:pP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MDP is defined as:</a:t>
                </a:r>
              </a:p>
              <a:p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3400"/>
                        </m:ctrlPr>
                      </m:dPr>
                      <m:e>
                        <m:r>
                          <a:rPr lang="ar-AE" sz="3400" i="1"/>
                          <m:t>𝑆</m:t>
                        </m:r>
                      </m:e>
                      <m:e>
                        <m:r>
                          <a:rPr lang="ar-AE" sz="3400" i="1"/>
                          <m:t>𝐴</m:t>
                        </m:r>
                      </m:e>
                      <m:e>
                        <m:r>
                          <a:rPr lang="ar-AE" sz="3400" i="1"/>
                          <m:t>𝑃</m:t>
                        </m:r>
                      </m:e>
                      <m:e>
                        <m:r>
                          <a:rPr lang="ar-AE" sz="3400" i="1"/>
                          <m:t>𝑅</m:t>
                        </m:r>
                      </m:e>
                      <m:e>
                        <m:r>
                          <a:rPr lang="ar-AE" sz="3400" i="1"/>
                          <m:t>𝛾</m:t>
                        </m:r>
                      </m:e>
                    </m:d>
                  </m:oMath>
                </a14:m>
                <a:endParaRPr lang="ar-AE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(States):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 possible situations </a:t>
                </a:r>
              </a:p>
              <a:p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(Actions):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Choices available to the agent </a:t>
                </a:r>
              </a:p>
              <a:p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(Transition Probability):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Probability of moving from one state to another </a:t>
                </a:r>
              </a:p>
              <a:p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(Reward):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Immediate feedback </a:t>
                </a:r>
              </a:p>
              <a:p>
                <a:r>
                  <a:rPr lang="el-GR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 (</a:t>
                </a:r>
                <a:r>
                  <a:rPr lang="en-US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Gamma):</a:t>
                </a:r>
                <a:r>
                  <a:rPr lang="en-US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Discount factor (0 ≤ </a:t>
                </a:r>
                <a:r>
                  <a:rPr lang="el-GR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 ≤ 1)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F36ECF-7D88-D09E-5C9E-904638755B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86" y="1066801"/>
                <a:ext cx="10045542" cy="5059364"/>
              </a:xfrm>
              <a:blipFill>
                <a:blip r:embed="rId2"/>
                <a:stretch>
                  <a:fillRect l="-971" t="-2410" r="-1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E96CE-1D93-23CF-0DF3-A537470A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2B66C-D1F5-3158-9285-BA9C9227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95C4F-FB11-B2F7-5126-E67F72AC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43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EFD1E-9422-42AF-C096-07A8A1575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136525"/>
            <a:ext cx="10045542" cy="59896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Markov Property</a:t>
            </a: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state depends only on the present state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on past states.</a:t>
            </a:r>
          </a:p>
          <a:p>
            <a:pPr marL="0" indent="0">
              <a:buNone/>
            </a:pPr>
            <a:endParaRPr lang="ar-AE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ar-AE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Working of MDP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 → Action → Next State → Reward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selects actions to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total reward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time.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Policy (</a:t>
            </a:r>
            <a:r>
              <a:rPr lang="el-G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agent’s behavior 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states → actions 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Optimal policy = best strategy for maximum reward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AC600-9EE4-0452-2170-B0C30647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849E8-9F11-B148-C9CB-26BBECC6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5CC0A-B362-8C92-6DC8-8516F109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B36481-6F1A-0A80-A4E7-D85CD30E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56" y="914400"/>
            <a:ext cx="79248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86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B711CC-D5C1-8969-D54E-16E8148F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86" y="381001"/>
                <a:ext cx="10045542" cy="574516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Value Functions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 State Value Function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𝑉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𝑠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𝐸𝑥𝑝𝑒𝑐𝑡𝑒𝑑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𝑟𝑒𝑤𝑎𝑟𝑑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𝑓𝑟𝑜𝑚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𝑠𝑡𝑎𝑡𝑒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Action Value Function (Q-function)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𝑄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𝑠</m:t>
                        </m:r>
                      </m:e>
                      <m:e>
                        <m:r>
                          <a:rPr lang="ar-AE" i="1"/>
                          <m:t>𝑎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𝐸𝑥𝑝𝑒𝑐𝑡𝑒𝑑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𝑟𝑒𝑤𝑎𝑟𝑑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𝑓𝑜𝑟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𝑡𝑎𝑘𝑖𝑛𝑔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𝑎𝑐𝑡𝑖𝑜𝑛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𝑎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𝑖𝑛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𝑠𝑡𝑎𝑡𝑒</m:t>
                    </m:r>
                    <m:r>
                      <m:rPr>
                        <m:nor/>
                      </m:rPr>
                      <a:rPr lang="ar-AE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ar-AE" i="1"/>
                      <m:t>𝑠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7. Bellman Equation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𝑉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𝑠</m:t>
                        </m:r>
                      </m:e>
                    </m:d>
                    <m:r>
                      <a:rPr lang="ar-AE"/>
                      <m:t>=</m:t>
                    </m:r>
                    <m:limLow>
                      <m:limLowPr>
                        <m:ctrlPr>
                          <a:rPr lang="ar-AE" i="1"/>
                        </m:ctrlPr>
                      </m:limLowPr>
                      <m:e>
                        <m:func>
                          <m:funcPr>
                            <m:ctrlPr>
                              <a:rPr lang="ar-AE" i="1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/>
                              <m:t>max</m:t>
                            </m:r>
                          </m:fName>
                          <m:e/>
                        </m:func>
                      </m:e>
                      <m:lim>
                        <m:r>
                          <a:rPr lang="ar-AE" i="1"/>
                          <m:t>𝑎</m:t>
                        </m:r>
                      </m:lim>
                    </m:limLow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/>
                        </m:ctrlPr>
                      </m:naryPr>
                      <m:sub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𝑠</m:t>
                            </m:r>
                          </m:e>
                          <m:sup>
                            <m:r>
                              <a:rPr lang="ar-AE"/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ar-AE" i="1"/>
                          <m:t>𝑃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𝑠</m:t>
                            </m:r>
                          </m:e>
                          <m:sup>
                            <m:r>
                              <a:rPr lang="ar-AE"/>
                              <m:t>′</m:t>
                            </m:r>
                          </m:sup>
                        </m:sSup>
                      </m:e>
                      <m:e>
                        <m:r>
                          <a:rPr lang="ar-AE"/>
                          <m:t>∣</m:t>
                        </m:r>
                        <m:r>
                          <a:rPr lang="ar-AE" i="1"/>
                          <m:t>𝑠𝑎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𝑅</m:t>
                        </m:r>
                        <m:r>
                          <a:rPr lang="ar-AE"/>
                          <m:t>+</m:t>
                        </m:r>
                        <m:r>
                          <a:rPr lang="ar-AE" i="1"/>
                          <m:t>𝛾</m:t>
                        </m:r>
                        <m:r>
                          <a:rPr lang="ar-AE" i="1"/>
                          <m:t>𝑉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i="1"/>
                                  <m:t>𝑠</m:t>
                                </m:r>
                              </m:e>
                              <m:sup>
                                <m:r>
                                  <a:rPr lang="ar-AE"/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Used to compute optimal values.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B711CC-D5C1-8969-D54E-16E8148F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86" y="381001"/>
                <a:ext cx="10045542" cy="5745164"/>
              </a:xfrm>
              <a:blipFill>
                <a:blip r:embed="rId2"/>
                <a:stretch>
                  <a:fillRect l="-1579" t="-2335" b="-2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9F33B-E642-A4DA-B7E4-0167118C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3A142-2C39-1D1F-260D-905075F62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03204-84C7-CAF0-FF28-EF3CDCA7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08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64F9-6A81-19F3-8324-FC8CCC7AC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609600"/>
            <a:ext cx="10045542" cy="574675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Solution Methods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Value Iteration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Repeatedly update values 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Converges to optimal solution 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Policy Iteration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evaluation 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improvement </a:t>
            </a:r>
          </a:p>
          <a:p>
            <a:pPr marL="0" indent="0">
              <a:buNone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9. Example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navigation: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→ Locations 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→ Move directions </a:t>
            </a:r>
          </a:p>
          <a:p>
            <a:pPr marL="0" indent="0">
              <a:buNone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→ Goal reached </a:t>
            </a:r>
            <a:b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10. Applications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playing 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 </a:t>
            </a:r>
          </a:p>
          <a:p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Advantages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uncertainty 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optimal decisions 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applicable </a:t>
            </a:r>
          </a:p>
          <a:p>
            <a:pPr marL="0" indent="0">
              <a:buNone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12. Limitations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state space problem </a:t>
            </a:r>
          </a:p>
          <a:p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known probabilities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8E035-FE4E-5484-5EF4-8E48B32B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41053-41E0-D96A-BDFA-B806A0C6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B3E4-5DCC-4D45-6D77-EB008508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06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61335-4409-AA02-8993-4A1E4A89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792162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Explore Versus Exploit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3050C-7B8C-E63D-B417-AED81DF9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1295401"/>
            <a:ext cx="10045542" cy="4830764"/>
          </a:xfrm>
        </p:spPr>
        <p:txBody>
          <a:bodyPr>
            <a:normAutofit fontScale="925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Definition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vs Exploit trade-off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key concept in reinforcement learning where an agent must choose between: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Trying new actions to discover better rewards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Using known actions that already give high rewards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The challenge is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both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maximize long-term reward.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AA88-BEAE-4469-1CBA-14AEA722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E43CB-B94B-AADE-6473-ADC4EE00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CFE2D-EE62-FB33-CB1C-E919A6F7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72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AACB8-F49D-A4A8-9AFA-16476D7F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81001"/>
            <a:ext cx="10045542" cy="57451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Explanation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unknown actions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Gains new knowledge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give low reward initially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Trying a new path in a maze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best-known action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immediate high reward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Repeating the shortest known path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Trade-off 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Wastes time, low reward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much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May miss better solutions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a balance for optimal learning.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E1AFA-46F7-DF29-7152-A650955C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BA867-AD6E-AA34-F569-2FCA8D78A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B6090-0D5B-3E92-EA01-0F6BEB7A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28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ADD62-D196-70BA-96FD-90A7ED27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04801"/>
            <a:ext cx="10045542" cy="58213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Methods to Balance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ε-Greedy Strategy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probability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explore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probability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1–ε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exploit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Decaying ε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high exploration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 reduce exploration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(Boltzmann)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actions based on probability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actions chosen more often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Upper Confidence Bound (UCB)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Balances reward and uncertainty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035F0-8DC5-A906-21A1-851735A3F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E686E-1C3B-4478-69B9-BCAAEFC9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3604C-D1B7-779D-BF2E-C2FA0808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65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B913C-B112-2C46-53AD-A56F0D79E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04801"/>
            <a:ext cx="10045542" cy="58213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game: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→ Try new moves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→ Use best move found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Importance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learning of optimal policy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local optimum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long-term performance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playing (Atari, Chess)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C5794-960B-E913-748E-7386F502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B7DDE-9941-6353-A393-C2019D25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39CD8-F0BE-8715-2CFE-0B4FCD0E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70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E72F-99E1-A3E5-AD26-22A9405C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715962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Pole Cart with Policy Gradients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FF3FE-8BE9-34E4-4B94-5C0D3035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1066800"/>
            <a:ext cx="10204370" cy="5181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Pole–Cart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CartPole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is a classic control task in reinforcement learning where an agent must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a pole upright on a moving cart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to demonstrate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policy-based methods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Gradient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Problem Description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cart can move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or right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track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pole is attached and tends to fall due to gravity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must keep the pole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(upright)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829E9-4ADD-9ED4-31CF-CA00A3F8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099D0-938C-1BF5-47C5-D0E5F161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12E47-1575-A887-057B-94196DCA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7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AF95C-053D-FBB5-7732-16E95715ED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86" y="228601"/>
                <a:ext cx="10045542" cy="5897564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RL Formulation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(S):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Cart position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Cart velocity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Pole angle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Pole angular velocity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Action (A):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Move left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Move right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Reward (R):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 for every time step the pole remains upright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Goal: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Maximize total reward (longer balance time)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Why Policy Gradients?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learning value functions (like Q-learning),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 gradients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directly learn the policy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𝜋</m:t>
                    </m:r>
                    <m:d>
                      <m:dPr>
                        <m:sepChr m:val=";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𝑎</m:t>
                        </m:r>
                      </m:e>
                      <m:e>
                        <m:r>
                          <a:rPr lang="ar-AE"/>
                          <m:t>∣</m:t>
                        </m:r>
                        <m:r>
                          <a:rPr lang="ar-AE" i="1"/>
                          <m:t>𝑠</m:t>
                        </m:r>
                        <m:r>
                          <a:rPr lang="ar-AE" i="1"/>
                          <m:t>𝜃</m:t>
                        </m:r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Output: Probability of taking action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state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AF95C-053D-FBB5-7732-16E95715ED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86" y="228601"/>
                <a:ext cx="10045542" cy="5897564"/>
              </a:xfrm>
              <a:blipFill>
                <a:blip r:embed="rId2"/>
                <a:stretch>
                  <a:fillRect l="-668" t="-1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81481-DA0D-E6A3-FC00-D178A5B8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50437-69EA-5BEF-DB9F-6BF5B860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C53DD-D9EC-C410-4FFB-E5E5DD6D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69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D0D38-E098-B6A1-6A1F-7A9B62A89C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86" y="304801"/>
                <a:ext cx="10045542" cy="582136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Policy Gradient Idea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 policy using a neural network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parameters </a:t>
                </a:r>
                <a:r>
                  <a:rPr lang="el-G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maximize reward 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𝐽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𝑅</m:t>
                        </m:r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Rule: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𝜃</m:t>
                    </m:r>
                    <m:r>
                      <a:rPr lang="en-US"/>
                      <m:t>=</m:t>
                    </m:r>
                    <m:r>
                      <a:rPr lang="en-US" i="1"/>
                      <m:t>𝜃</m:t>
                    </m:r>
                    <m:r>
                      <a:rPr lang="en-US"/>
                      <m:t>+</m:t>
                    </m:r>
                    <m:r>
                      <a:rPr lang="en-US" i="1"/>
                      <m:t>𝛼</m:t>
                    </m:r>
                    <m:r>
                      <m:rPr>
                        <m:sty m:val="p"/>
                      </m:rPr>
                      <a:rPr lang="en-US"/>
                      <m:t>∇</m:t>
                    </m:r>
                    <m:r>
                      <a:rPr lang="en-US" i="1"/>
                      <m:t>𝐽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𝜃</m:t>
                        </m:r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6. Working Steps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Observe current state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action based on probability (policy)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Execute action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Receive reward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 trajectory (states, actions, rewards)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policy using gradient ascent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D0D38-E098-B6A1-6A1F-7A9B62A89C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86" y="304801"/>
                <a:ext cx="10045542" cy="5821364"/>
              </a:xfrm>
              <a:blipFill>
                <a:blip r:embed="rId2"/>
                <a:stretch>
                  <a:fillRect l="-911" t="-2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708C-797B-0284-77CB-D7AC7897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2657-5E1C-EC33-DC23-05D3E4E30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6120-5DCB-C8B4-C518-1A6D2DFA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57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4FA57-1104-F557-E581-7732E7CE2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228601"/>
            <a:ext cx="10045542" cy="58975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7. Algorithm (Simple)</a:t>
            </a:r>
          </a:p>
          <a:p>
            <a:pPr marL="0" indent="0">
              <a:buNone/>
            </a:pPr>
            <a:r>
              <a:rPr lang="en-US" dirty="0"/>
              <a:t>1. Initialize policy parameters </a:t>
            </a:r>
          </a:p>
          <a:p>
            <a:pPr marL="0" indent="0">
              <a:buNone/>
            </a:pPr>
            <a:r>
              <a:rPr lang="en-US" dirty="0"/>
              <a:t>2. Repeat: </a:t>
            </a:r>
          </a:p>
          <a:p>
            <a:pPr lvl="1"/>
            <a:r>
              <a:rPr lang="en-US" dirty="0"/>
              <a:t>Generate episode </a:t>
            </a:r>
          </a:p>
          <a:p>
            <a:pPr lvl="1"/>
            <a:r>
              <a:rPr lang="en-US" dirty="0"/>
              <a:t>Compute rewards </a:t>
            </a:r>
          </a:p>
          <a:p>
            <a:pPr lvl="1"/>
            <a:r>
              <a:rPr lang="en-US" dirty="0"/>
              <a:t>Update policy </a:t>
            </a:r>
          </a:p>
          <a:p>
            <a:pPr marL="0" indent="0">
              <a:buNone/>
            </a:pPr>
            <a:r>
              <a:rPr lang="en-US" dirty="0"/>
              <a:t>3. Until pole stays balanced </a:t>
            </a:r>
          </a:p>
          <a:p>
            <a:pPr marL="0" indent="0">
              <a:buNone/>
            </a:pPr>
            <a:r>
              <a:rPr lang="en-US" b="1" dirty="0"/>
              <a:t>8. Advantages</a:t>
            </a:r>
          </a:p>
          <a:p>
            <a:r>
              <a:rPr lang="en-US" dirty="0"/>
              <a:t>Works well in continuous action spaces </a:t>
            </a:r>
          </a:p>
          <a:p>
            <a:r>
              <a:rPr lang="en-US" dirty="0"/>
              <a:t>Learns stochastic policies </a:t>
            </a:r>
          </a:p>
          <a:p>
            <a:r>
              <a:rPr lang="en-US" dirty="0"/>
              <a:t>No need to store Q-values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12B6F-26C3-771A-AE15-C39C6230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968F8-00CB-C71F-4064-75B356A7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23EF-DF76-260C-98EA-89354A27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70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A210D-4A11-A387-97D0-E9FC61452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914399"/>
            <a:ext cx="10045542" cy="5211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Limitations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variance in learning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convergence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hyperparameters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control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AI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systems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610D1-3984-3411-DB87-1AD47901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0D9AD-7AF2-0EA3-A0EB-559C70E4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1E828-BD39-8865-C7A8-D040B9B5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92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84BF-260B-8110-78FE-FC6021B7C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868362"/>
          </a:xfrm>
        </p:spPr>
        <p:txBody>
          <a:bodyPr>
            <a:normAutofit fontScale="90000"/>
          </a:bodyPr>
          <a:lstStyle/>
          <a:p>
            <a:b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Q - Learning and Deep Q-Networks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597A0-CDEA-FDEB-32BB-D019D383D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1219201"/>
            <a:ext cx="10045542" cy="4906964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model-free reinforcement learning algorithm that learns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action-value function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combined with neural networks, it becomes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 (DQN)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learning from high-dimensional inputs like images.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are central to Artificial Intelligence and modern reinforcement learning.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A3639-ABAB-B434-F251-FACAD1BB0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27BF2-966C-FAEA-D610-79D51F87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344F0-AE2F-2B34-1E5B-8527B571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87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510C3-4E87-7425-68A1-4F2FB0E521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86" y="381001"/>
                <a:ext cx="10045542" cy="5745164"/>
              </a:xfrm>
            </p:spPr>
            <p:txBody>
              <a:bodyPr>
                <a:normAutofit/>
              </a:bodyPr>
              <a:lstStyle/>
              <a:p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Q-Learning</a:t>
                </a:r>
              </a:p>
              <a:p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🔸 Definition</a:t>
                </a: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Q-Learning learns the value of taking an action in a given state:</a:t>
                </a:r>
              </a:p>
              <a:p>
                <a14:m>
                  <m:oMath xmlns:m="http://schemas.openxmlformats.org/officeDocument/2006/math">
                    <m:r>
                      <a:rPr lang="en-US" sz="2800" i="1"/>
                      <m:t>𝑄</m:t>
                    </m:r>
                    <m:d>
                      <m:dPr>
                        <m:sepChr m:val=","/>
                        <m:ctrlPr>
                          <a:rPr lang="ar-AE" sz="2800" i="1"/>
                        </m:ctrlPr>
                      </m:dPr>
                      <m:e>
                        <m:r>
                          <a:rPr lang="ar-AE" sz="2800" i="1"/>
                          <m:t>𝑠</m:t>
                        </m:r>
                      </m:e>
                      <m:e>
                        <m:r>
                          <a:rPr lang="ar-AE" sz="2800" i="1"/>
                          <m:t>𝑎</m:t>
                        </m:r>
                      </m:e>
                    </m:d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👉 </a:t>
                </a:r>
                <a:r>
                  <a:rPr lang="en-US" sz="2800" dirty="0"/>
                  <a:t>Goal: Find optimal policy that maximizes cumulative reward.</a:t>
                </a:r>
              </a:p>
              <a:p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5510C3-4E87-7425-68A1-4F2FB0E521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86" y="381001"/>
                <a:ext cx="10045542" cy="5745164"/>
              </a:xfrm>
              <a:blipFill>
                <a:blip r:embed="rId2"/>
                <a:stretch>
                  <a:fillRect l="-1093" t="-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B5BDA-D09D-DAE9-6F64-8EE3BAEAA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444B0-EB60-A74C-BF53-1BA9F68E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723CE-EE13-CDB8-1BA8-EC9741A0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1B008C-321C-BA0F-E4D0-0D58444AD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56" y="3124199"/>
            <a:ext cx="9905999" cy="323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79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90D92-0CC1-F415-611B-1B1C8D273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04801"/>
            <a:ext cx="10045542" cy="58213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Steps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Q-table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state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action (ε-greedy)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Q-value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effective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optimal policy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model required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scalable to large state spaces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Q-table (memory issue)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58E8-0127-FECE-10E5-E665E44C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F9C95-7702-9847-DA6E-C84CE898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B1ED1-6395-7E85-F6E3-0B563FF9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94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C664-C750-79A1-9AEB-DD571DFED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136525"/>
            <a:ext cx="10045542" cy="5989640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Deep Q-Network (DQN)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🔸 Definition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DQN replaces the Q-table with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approximate Q-values.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652B7-1BA0-9B38-A104-48D2AB07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0F45F-07BD-2EFC-D90F-AEB858E3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BD9EA-9CE0-A7E9-7C20-95A0E182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74423E-4047-9E87-294F-7E29EC4EA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56" y="1828801"/>
            <a:ext cx="75438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23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1F592-E2D1-7731-DAF4-F1F60FEA7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04801"/>
            <a:ext cx="10045542" cy="58213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Techniques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Experience Replay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past experiences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 for training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Target Network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network for stable learning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Steps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state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action (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experience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s,a,r,s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mini-batch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neural network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target network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2CA66-893B-EDB9-8E1E-382CC55E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D50E-CDF0-45E8-545C-A8BD9C36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0AA79-A16D-DBE2-132E-A4ED87F9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73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813DD-80B2-09D9-F6BE-F0626E23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228601"/>
            <a:ext cx="10045542" cy="58975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state spaces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images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complex patterns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 computation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instability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large data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playing (Atari)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CDCFB-ED81-D603-4ABB-EDF4261F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28058-85A0-3043-DEB5-748E2D62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6123B-5061-D425-AC91-1A2FA78F2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95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39DD-A2E8-E9DE-6358-0A2D32E46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381001"/>
            <a:ext cx="10045542" cy="574516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Q-Learning vs DQN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342BB-6E22-2B03-4EA5-1D01FD5C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5C5EA-9221-39A7-9990-79ED087D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197A8-528E-E4DA-8A97-6E424457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54088C-8CF1-C28B-0F21-5C136203D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85" y="1219200"/>
            <a:ext cx="1012817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32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B2C6B-D070-CA0B-46C5-9D0381E7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Improving and Moving Beyond DQN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D1420-091A-2A10-F2BB-486B810BA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1143001"/>
            <a:ext cx="10045542" cy="49831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Q-Networks (DQN)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great success (e.g., Atari games by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DeepMind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they have limitations such as </a:t>
            </a: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overestimation, instability, and inefficient learning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issues, several improved algorithms were developed.</a:t>
            </a:r>
            <a:b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Limitations of DQN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Overestimation of Q-values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learning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Correlated data issues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sample efficiency </a:t>
            </a:r>
          </a:p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Instability during training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D6AE-EC58-0476-568B-6DFD3127D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43D54-559B-75BD-3678-890DA94A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9C1F7-3534-0EC8-E75F-3390ED0C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4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1BBEF-0267-334E-D860-F0AE84BB3C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086" y="304801"/>
                <a:ext cx="10045542" cy="5821364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Improvements Over DQN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1. Double DQN (DDQN)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Problem: DQN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overestimates Q-values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Uses two networks: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for action selection 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for evaluation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Reduces overestimation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Improves accuracy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2. Dueling DQN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Idea: Separate learning into: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Value V(s)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Advantage A(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s,a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𝑄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𝑠</m:t>
                        </m:r>
                      </m:e>
                      <m:e>
                        <m:r>
                          <a:rPr lang="ar-AE" i="1"/>
                          <m:t>𝑎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 i="1"/>
                      <m:t>𝑉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𝑠</m:t>
                        </m:r>
                      </m:e>
                    </m:d>
                    <m:r>
                      <a:rPr lang="ar-AE"/>
                      <m:t>+</m:t>
                    </m:r>
                    <m:r>
                      <a:rPr lang="ar-AE" i="1"/>
                      <m:t>𝐴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𝑠</m:t>
                        </m:r>
                      </m:e>
                      <m:e>
                        <m:r>
                          <a:rPr lang="ar-AE" i="1"/>
                          <m:t>𝑎</m:t>
                        </m:r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Better learning of important states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✔ Faster convergence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01BBEF-0267-334E-D860-F0AE84BB3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086" y="304801"/>
                <a:ext cx="10045542" cy="5821364"/>
              </a:xfrm>
              <a:blipFill>
                <a:blip r:embed="rId2"/>
                <a:stretch>
                  <a:fillRect l="-789" t="-1885" b="-1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B8298-D5D6-C60D-F512-AF1856CC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B5D39-694D-78E1-87C5-24E5082AF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A271-91CA-4505-E6D9-6D6C2F0F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27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F0BC0-3E66-9232-01E4-CA62AA2ED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457201"/>
            <a:ext cx="10045542" cy="566896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Prioritized Experience Replay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Problem: Random sampling treats all experiences equally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important experiences (high error)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Learns faster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Improves efficiency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Noisy Networks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Problem: Exploration using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 is inefficient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noise to network weights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exploration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No need for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greedy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Multi-Step Learning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one-step reward: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multiple future rewards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Faster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reward propagation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DD6AD-AC47-70B3-BC85-353EEE297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CDEB5-EAEE-E270-3311-F7D8DFCA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2B2C9-6A31-5855-1085-13F8685A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38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2F7B-A7D3-1AB2-CF2A-8CC011777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86" y="533401"/>
            <a:ext cx="10045542" cy="55927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Advanced Methods Beyond DQN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Policy Gradient Methods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learn policy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continuous actions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Actor-Critic Methods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Selects action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action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Stable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Faster convergence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A3C (Asynchronous Advantage Actor-Critic)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agents learn in parallel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stable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PPO (Proximal Policy Optimization)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large updates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and widely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38E83-60FE-A3C0-76B3-2A983FDF5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46212-2E67-350A-B789-8EE5121A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513CA-3F2C-DFC4-557D-C2A33F7B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841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C5D0A6-E26E-2269-00D3-C8D1F431A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856" y="457200"/>
            <a:ext cx="9448800" cy="54863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6A5AF-6A34-7B51-ED13-20804386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3CBCF-9408-44D4-83E2-293973816DA3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3587C-3407-F7BC-9872-B2D11DBC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B7991-07C9-565E-AB55-38DC2F4A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94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2694</Words>
  <Application>Microsoft Office PowerPoint</Application>
  <PresentationFormat>Custom</PresentationFormat>
  <Paragraphs>505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Times New Roman</vt:lpstr>
      <vt:lpstr>Office Theme</vt:lpstr>
      <vt:lpstr>COURSE ARTIFICIAL INTELLIGENCE AND DEEP LEARNING (AIDL)</vt:lpstr>
      <vt:lpstr>DEEP REINFORCEMENT LEARNING:  </vt:lpstr>
      <vt:lpstr> Deep Reinforcement Learning</vt:lpstr>
      <vt:lpstr>What Is Reinforcement Learning?</vt:lpstr>
      <vt:lpstr> 1. Deep Reinforcement Learning Masters Atari Games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2. Reinforcement Learning </vt:lpstr>
      <vt:lpstr>PowerPoint Presentation</vt:lpstr>
      <vt:lpstr> 3. Markov Decision Processes (MDP) </vt:lpstr>
      <vt:lpstr>PowerPoint Presentation</vt:lpstr>
      <vt:lpstr>PowerPoint Presentation</vt:lpstr>
      <vt:lpstr>PowerPoint Presentation</vt:lpstr>
      <vt:lpstr> 4. Explore Versus Exploit  </vt:lpstr>
      <vt:lpstr>PowerPoint Presentation</vt:lpstr>
      <vt:lpstr>PowerPoint Presentation</vt:lpstr>
      <vt:lpstr>PowerPoint Presentation</vt:lpstr>
      <vt:lpstr> 5. Pole Cart with Policy Gradients </vt:lpstr>
      <vt:lpstr>PowerPoint Presentation</vt:lpstr>
      <vt:lpstr>PowerPoint Presentation</vt:lpstr>
      <vt:lpstr>PowerPoint Presentation</vt:lpstr>
      <vt:lpstr>PowerPoint Presentation</vt:lpstr>
      <vt:lpstr> 6. Q - Learning and Deep Q-Networks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Improving and Moving Beyond DQN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UNIT-VI</dc:title>
  <dc:creator>thatiparthi rajini kanth</dc:creator>
  <cp:lastModifiedBy>Pasam Ramu</cp:lastModifiedBy>
  <cp:revision>43</cp:revision>
  <dcterms:created xsi:type="dcterms:W3CDTF">2006-08-16T00:00:00Z</dcterms:created>
  <dcterms:modified xsi:type="dcterms:W3CDTF">2026-04-19T08:43:21Z</dcterms:modified>
</cp:coreProperties>
</file>