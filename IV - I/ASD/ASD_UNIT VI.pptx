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64" r:id="rId6"/>
    <p:sldId id="259" r:id="rId7"/>
    <p:sldId id="260" r:id="rId8"/>
    <p:sldId id="261" r:id="rId9"/>
    <p:sldId id="262" r:id="rId10"/>
    <p:sldId id="265" r:id="rId11"/>
    <p:sldId id="267" r:id="rId12"/>
    <p:sldId id="266"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FF0000"/>
                </a:solidFill>
                <a:latin typeface="Times New Roman" pitchFamily="18" charset="0"/>
                <a:cs typeface="Times New Roman" pitchFamily="18" charset="0"/>
              </a:rPr>
              <a:t>UNIT-VI </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a:buNone/>
            </a:pPr>
            <a:r>
              <a:rPr lang="en-IN" dirty="0" smtClean="0">
                <a:latin typeface="Times New Roman" pitchFamily="18" charset="0"/>
                <a:cs typeface="Times New Roman" pitchFamily="18" charset="0"/>
              </a:rPr>
              <a:t>Obstacles to Agile Software Development</a:t>
            </a:r>
          </a:p>
          <a:p>
            <a:pPr>
              <a:buNone/>
            </a:pPr>
            <a:r>
              <a:rPr lang="en-IN" dirty="0" smtClean="0">
                <a:latin typeface="Times New Roman" pitchFamily="18" charset="0"/>
                <a:cs typeface="Times New Roman" pitchFamily="18" charset="0"/>
              </a:rPr>
              <a:t>Management Intransigence</a:t>
            </a:r>
          </a:p>
          <a:p>
            <a:pPr>
              <a:buNone/>
            </a:pPr>
            <a:r>
              <a:rPr lang="en-IN" dirty="0" smtClean="0">
                <a:latin typeface="Times New Roman" pitchFamily="18" charset="0"/>
                <a:cs typeface="Times New Roman" pitchFamily="18" charset="0"/>
              </a:rPr>
              <a:t> The Failed Project Syndrome</a:t>
            </a:r>
          </a:p>
          <a:p>
            <a:pPr>
              <a:buNone/>
            </a:pPr>
            <a:r>
              <a:rPr lang="en-IN" dirty="0" smtClean="0">
                <a:latin typeface="Times New Roman" pitchFamily="18" charset="0"/>
                <a:cs typeface="Times New Roman" pitchFamily="18" charset="0"/>
              </a:rPr>
              <a:t>Contractual Difficulties</a:t>
            </a:r>
          </a:p>
          <a:p>
            <a:pPr>
              <a:buNone/>
            </a:pPr>
            <a:r>
              <a:rPr lang="en-IN" dirty="0" smtClean="0">
                <a:latin typeface="Times New Roman" pitchFamily="18" charset="0"/>
                <a:cs typeface="Times New Roman" pitchFamily="18" charset="0"/>
              </a:rPr>
              <a:t>Familiarity with Agility </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ChangeArrowheads="1"/>
          </p:cNvSpPr>
          <p:nvPr/>
        </p:nvSpPr>
        <p:spPr bwMode="auto">
          <a:xfrm>
            <a:off x="533400" y="533400"/>
            <a:ext cx="8610600" cy="784830"/>
          </a:xfrm>
          <a:prstGeom prst="rect">
            <a:avLst/>
          </a:prstGeom>
          <a:noFill/>
          <a:ln w="9525">
            <a:noFill/>
            <a:miter lim="800000"/>
            <a:headEnd/>
            <a:tailEnd/>
          </a:ln>
          <a:effectLst/>
        </p:spPr>
        <p:txBody>
          <a:bodyPr vert="horz" wrap="square" lIns="82524" tIns="45720" rIns="92046"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0000"/>
                </a:solidFill>
                <a:effectLst/>
                <a:latin typeface="Times New Roman" pitchFamily="18" charset="0"/>
                <a:ea typeface="Trebuchet MS" pitchFamily="34" charset="0"/>
                <a:cs typeface="Times New Roman" pitchFamily="18" charset="0"/>
              </a:rPr>
              <a:t>Obstacles to Agile Software</a:t>
            </a:r>
          </a:p>
          <a:p>
            <a:pPr marL="0" marR="0" lvl="0" indent="0"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Development</a:t>
            </a:r>
            <a:endParaRPr kumimoji="0" lang="en-US" sz="1800" b="0" i="0" u="none" strike="noStrike" cap="none" normalizeH="0" baseline="0" dirty="0" smtClean="0">
              <a:ln>
                <a:noFill/>
              </a:ln>
              <a:solidFill>
                <a:srgbClr val="FF0000"/>
              </a:solidFill>
              <a:effectLst/>
              <a:latin typeface="Times New Roman" pitchFamily="18" charset="0"/>
              <a:cs typeface="Times New Roman" pitchFamily="18" charset="0"/>
            </a:endParaRPr>
          </a:p>
        </p:txBody>
      </p:sp>
      <p:sp>
        <p:nvSpPr>
          <p:cNvPr id="5" name="Rectangle 4"/>
          <p:cNvSpPr/>
          <p:nvPr/>
        </p:nvSpPr>
        <p:spPr>
          <a:xfrm>
            <a:off x="304800" y="1371600"/>
            <a:ext cx="8305800" cy="5262979"/>
          </a:xfrm>
          <a:prstGeom prst="rect">
            <a:avLst/>
          </a:prstGeom>
        </p:spPr>
        <p:txBody>
          <a:bodyPr wrap="square">
            <a:spAutoFit/>
          </a:bodyPr>
          <a:lstStyle/>
          <a:p>
            <a:r>
              <a:rPr lang="en-US" sz="2400" dirty="0" smtClean="0">
                <a:latin typeface="Times New Roman" pitchFamily="18" charset="0"/>
                <a:cs typeface="Times New Roman" pitchFamily="18" charset="0"/>
              </a:rPr>
              <a:t>In this UNIT , </a:t>
            </a:r>
            <a:r>
              <a:rPr lang="en-US" sz="2400" dirty="0" smtClean="0">
                <a:latin typeface="Times New Roman" pitchFamily="18" charset="0"/>
                <a:cs typeface="Times New Roman" pitchFamily="18" charset="0"/>
              </a:rPr>
              <a:t>we consider the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issues </a:t>
            </a:r>
            <a:r>
              <a:rPr lang="en-US" sz="2400" dirty="0" smtClean="0">
                <a:latin typeface="Times New Roman" pitchFamily="18" charset="0"/>
                <a:cs typeface="Times New Roman" pitchFamily="18" charset="0"/>
              </a:rPr>
              <a:t>associated with </a:t>
            </a:r>
            <a:r>
              <a:rPr lang="en-US" sz="2400" dirty="0" smtClean="0">
                <a:latin typeface="Times New Roman" pitchFamily="18" charset="0"/>
                <a:cs typeface="Times New Roman" pitchFamily="18" charset="0"/>
              </a:rPr>
              <a:t>management </a:t>
            </a:r>
            <a:r>
              <a:rPr lang="en-US" sz="2400" dirty="0" smtClean="0">
                <a:latin typeface="Times New Roman" pitchFamily="18" charset="0"/>
                <a:cs typeface="Times New Roman" pitchFamily="18" charset="0"/>
              </a:rPr>
              <a:t>intransigence regarding new development processes.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Address </a:t>
            </a:r>
            <a:r>
              <a:rPr lang="en-US" sz="2400" dirty="0" smtClean="0">
                <a:latin typeface="Times New Roman" pitchFamily="18" charset="0"/>
                <a:cs typeface="Times New Roman" pitchFamily="18" charset="0"/>
              </a:rPr>
              <a:t>the issue of the “failed agile project” syndrome, that is, what do you do if some- where else in your </a:t>
            </a:r>
            <a:r>
              <a:rPr lang="en-US" sz="2400" dirty="0" smtClean="0">
                <a:latin typeface="Times New Roman" pitchFamily="18" charset="0"/>
                <a:cs typeface="Times New Roman" pitchFamily="18" charset="0"/>
              </a:rPr>
              <a:t>organization </a:t>
            </a:r>
            <a:r>
              <a:rPr lang="en-US" sz="2400" dirty="0" smtClean="0">
                <a:latin typeface="Times New Roman" pitchFamily="18" charset="0"/>
                <a:cs typeface="Times New Roman" pitchFamily="18" charset="0"/>
              </a:rPr>
              <a:t>an agile project has been tried and failed.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Developer </a:t>
            </a:r>
            <a:r>
              <a:rPr lang="en-US" sz="2400" dirty="0" smtClean="0">
                <a:latin typeface="Times New Roman" pitchFamily="18" charset="0"/>
                <a:cs typeface="Times New Roman" pitchFamily="18" charset="0"/>
              </a:rPr>
              <a:t>resistance is also a major drag factor as well as customer opposition (this later possibility, the biggest stumbling block of all, as you really do need </a:t>
            </a:r>
            <a:r>
              <a:rPr lang="en-US" sz="2400" dirty="0" smtClean="0">
                <a:latin typeface="Times New Roman" pitchFamily="18" charset="0"/>
                <a:cs typeface="Times New Roman" pitchFamily="18" charset="0"/>
              </a:rPr>
              <a:t>customer </a:t>
            </a:r>
            <a:r>
              <a:rPr lang="en-US" sz="2400" dirty="0" smtClean="0">
                <a:latin typeface="Times New Roman" pitchFamily="18" charset="0"/>
                <a:cs typeface="Times New Roman" pitchFamily="18" charset="0"/>
              </a:rPr>
              <a:t>involvement in any agile project).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Next</a:t>
            </a:r>
            <a:r>
              <a:rPr lang="en-US" sz="2400" dirty="0" smtClean="0">
                <a:latin typeface="Times New Roman" pitchFamily="18" charset="0"/>
                <a:cs typeface="Times New Roman" pitchFamily="18" charset="0"/>
              </a:rPr>
              <a:t>, we consider contractual difficulties arising from the traditional use of requirements as the basis for any develop- </a:t>
            </a:r>
            <a:r>
              <a:rPr lang="en-US" sz="2400" dirty="0" err="1" smtClean="0">
                <a:latin typeface="Times New Roman" pitchFamily="18" charset="0"/>
                <a:cs typeface="Times New Roman" pitchFamily="18" charset="0"/>
              </a:rPr>
              <a:t>ment</a:t>
            </a:r>
            <a:r>
              <a:rPr lang="en-US" sz="2400" dirty="0" smtClean="0">
                <a:latin typeface="Times New Roman" pitchFamily="18" charset="0"/>
                <a:cs typeface="Times New Roman" pitchFamily="18" charset="0"/>
              </a:rPr>
              <a:t> contracts. Finally, we discuss the lack of familiarity with agile development methods.</a:t>
            </a:r>
            <a:endParaRPr lang="en-IN" sz="2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smtClean="0">
                <a:latin typeface="Times New Roman" pitchFamily="18" charset="0"/>
                <a:cs typeface="Times New Roman" pitchFamily="18" charset="0"/>
              </a:rPr>
              <a:t>Management Intransigence</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drive towards agile software development often comes from the developers themselves or from developer teams. In such situations, management can represent a significant obstacle to adoption of an agile approach. </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This </a:t>
            </a:r>
            <a:r>
              <a:rPr lang="en-US" dirty="0" smtClean="0">
                <a:latin typeface="Times New Roman" pitchFamily="18" charset="0"/>
                <a:cs typeface="Times New Roman" pitchFamily="18" charset="0"/>
              </a:rPr>
              <a:t>can be for a host of reasons that include: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Lack of familiarity with Agile Software Development methods.</a:t>
            </a:r>
            <a:endParaRPr lang="en-IN" sz="3600"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Miscomprehension </a:t>
            </a:r>
            <a:r>
              <a:rPr lang="en-US" dirty="0" smtClean="0">
                <a:latin typeface="Times New Roman" pitchFamily="18" charset="0"/>
                <a:cs typeface="Times New Roman" pitchFamily="18" charset="0"/>
              </a:rPr>
              <a:t>of what </a:t>
            </a:r>
            <a:r>
              <a:rPr lang="en-US" dirty="0" err="1" smtClean="0">
                <a:latin typeface="Times New Roman" pitchFamily="18" charset="0"/>
                <a:cs typeface="Times New Roman" pitchFamily="18" charset="0"/>
              </a:rPr>
              <a:t>eXtreme</a:t>
            </a:r>
            <a:r>
              <a:rPr lang="en-US" dirty="0" smtClean="0">
                <a:latin typeface="Times New Roman" pitchFamily="18" charset="0"/>
                <a:cs typeface="Times New Roman" pitchFamily="18" charset="0"/>
              </a:rPr>
              <a:t> Programming and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offers </a:t>
            </a:r>
            <a:r>
              <a:rPr lang="en-US" dirty="0" smtClean="0">
                <a:latin typeface="Times New Roman" pitchFamily="18" charset="0"/>
                <a:cs typeface="Times New Roman" pitchFamily="18" charset="0"/>
              </a:rPr>
              <a:t>(such as believing them to be </a:t>
            </a:r>
            <a:r>
              <a:rPr lang="en-US" dirty="0" err="1" smtClean="0">
                <a:latin typeface="Times New Roman" pitchFamily="18" charset="0"/>
                <a:cs typeface="Times New Roman" pitchFamily="18" charset="0"/>
              </a:rPr>
              <a:t>legalised</a:t>
            </a:r>
            <a:r>
              <a:rPr lang="en-US" dirty="0" smtClean="0">
                <a:latin typeface="Times New Roman" pitchFamily="18" charset="0"/>
                <a:cs typeface="Times New Roman" pitchFamily="18" charset="0"/>
              </a:rPr>
              <a:t> hacking).</a:t>
            </a:r>
            <a:endParaRPr lang="en-IN" sz="3600"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 feeling of losing control (as agile methods are more dynamic in terms of planning activities than traditional approaches).</a:t>
            </a:r>
            <a:endParaRPr lang="en-IN" sz="3600" dirty="0" smtClean="0">
              <a:latin typeface="Times New Roman" pitchFamily="18" charset="0"/>
              <a:cs typeface="Times New Roman" pitchFamily="18"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txBody>
          <a:bodyPr>
            <a:normAutofit fontScale="25000" lnSpcReduction="20000"/>
          </a:bodyPr>
          <a:lstStyle/>
          <a:p>
            <a:pPr lvl="0"/>
            <a:r>
              <a:rPr lang="en-US" sz="8000" dirty="0" smtClean="0">
                <a:latin typeface="Times New Roman" pitchFamily="18" charset="0"/>
                <a:cs typeface="Times New Roman" pitchFamily="18" charset="0"/>
              </a:rPr>
              <a:t>Remoteness from the actual coalface and thus remoteness from development issues.</a:t>
            </a:r>
            <a:endParaRPr lang="en-IN" sz="8000" dirty="0" smtClean="0">
              <a:latin typeface="Times New Roman" pitchFamily="18" charset="0"/>
              <a:cs typeface="Times New Roman" pitchFamily="18" charset="0"/>
            </a:endParaRPr>
          </a:p>
          <a:p>
            <a:pPr lvl="0"/>
            <a:r>
              <a:rPr lang="en-US" sz="8000" dirty="0" smtClean="0">
                <a:latin typeface="Times New Roman" pitchFamily="18" charset="0"/>
                <a:cs typeface="Times New Roman" pitchFamily="18" charset="0"/>
              </a:rPr>
              <a:t>The need to feel that they have the whole project planned out in advance.</a:t>
            </a:r>
            <a:endParaRPr lang="en-IN" sz="8000" dirty="0" smtClean="0">
              <a:latin typeface="Times New Roman" pitchFamily="18" charset="0"/>
              <a:cs typeface="Times New Roman" pitchFamily="18" charset="0"/>
            </a:endParaRPr>
          </a:p>
          <a:p>
            <a:pPr lvl="0"/>
            <a:r>
              <a:rPr lang="en-US" sz="8000" dirty="0" smtClean="0">
                <a:latin typeface="Times New Roman" pitchFamily="18" charset="0"/>
                <a:cs typeface="Times New Roman" pitchFamily="18" charset="0"/>
              </a:rPr>
              <a:t>Lack of suitability for their own review-and-assessment process. That is, if they are assessed on a more traditional waterfall model, then they may have the production of a detailed project plan as one of their aims and objectives to be completed.</a:t>
            </a:r>
            <a:endParaRPr lang="en-IN" sz="8000" dirty="0" smtClean="0">
              <a:latin typeface="Times New Roman" pitchFamily="18" charset="0"/>
              <a:cs typeface="Times New Roman" pitchFamily="18" charset="0"/>
            </a:endParaRPr>
          </a:p>
          <a:p>
            <a:pPr lvl="0"/>
            <a:r>
              <a:rPr lang="en-US" sz="8000" dirty="0" smtClean="0">
                <a:latin typeface="Times New Roman" pitchFamily="18" charset="0"/>
                <a:cs typeface="Times New Roman" pitchFamily="18" charset="0"/>
              </a:rPr>
              <a:t>Belief that adopting </a:t>
            </a:r>
            <a:r>
              <a:rPr lang="en-US" sz="8000" dirty="0" err="1" smtClean="0">
                <a:latin typeface="Times New Roman" pitchFamily="18" charset="0"/>
                <a:cs typeface="Times New Roman" pitchFamily="18" charset="0"/>
              </a:rPr>
              <a:t>eXtreme</a:t>
            </a:r>
            <a:r>
              <a:rPr lang="en-US" sz="8000" dirty="0" smtClean="0">
                <a:latin typeface="Times New Roman" pitchFamily="18" charset="0"/>
                <a:cs typeface="Times New Roman" pitchFamily="18" charset="0"/>
              </a:rPr>
              <a:t> Programming (and thus doubling developers up) will actually halve productivity. Although current research indicates that the opposite is actually true.</a:t>
            </a:r>
            <a:endParaRPr lang="en-IN" sz="8000" dirty="0" smtClean="0">
              <a:latin typeface="Times New Roman" pitchFamily="18" charset="0"/>
              <a:cs typeface="Times New Roman" pitchFamily="18" charset="0"/>
            </a:endParaRPr>
          </a:p>
          <a:p>
            <a:pPr lvl="0"/>
            <a:r>
              <a:rPr lang="en-US" sz="8000" dirty="0" smtClean="0">
                <a:latin typeface="Times New Roman" pitchFamily="18" charset="0"/>
                <a:cs typeface="Times New Roman" pitchFamily="18" charset="0"/>
              </a:rPr>
              <a:t>The parapet syndrome. That is, a manager may not want to risk a different approach to that normally adopted (i.e., putting their head above the parapet), as no one may be censured for doing things the standard way, but they may well be for doing things in a different way and failing!</a:t>
            </a:r>
            <a:endParaRPr lang="en-IN" sz="8000" dirty="0" smtClean="0">
              <a:latin typeface="Times New Roman" pitchFamily="18" charset="0"/>
              <a:cs typeface="Times New Roman" pitchFamily="18" charset="0"/>
            </a:endParaRPr>
          </a:p>
          <a:p>
            <a:pPr lvl="0"/>
            <a:r>
              <a:rPr lang="en-US" sz="8000" dirty="0" smtClean="0">
                <a:latin typeface="Times New Roman" pitchFamily="18" charset="0"/>
                <a:cs typeface="Times New Roman" pitchFamily="18" charset="0"/>
              </a:rPr>
              <a:t>The fear of the unknown!</a:t>
            </a:r>
            <a:endParaRPr lang="en-IN" sz="8000" dirty="0" smtClean="0">
              <a:latin typeface="Times New Roman" pitchFamily="18" charset="0"/>
              <a:cs typeface="Times New Roman"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a:solidFill>
                  <a:srgbClr val="FF0000"/>
                </a:solidFill>
                <a:latin typeface="Times New Roman" pitchFamily="18" charset="0"/>
                <a:cs typeface="Times New Roman" pitchFamily="18" charset="0"/>
              </a:rPr>
              <a:t>The Failed Project Syndrome</a:t>
            </a:r>
            <a:r>
              <a:rPr lang="en-IN" b="1" dirty="0"/>
              <a:t/>
            </a:r>
            <a:br>
              <a:rPr lang="en-IN" b="1" dirty="0"/>
            </a:br>
            <a:endParaRPr lang="en-IN" dirty="0"/>
          </a:p>
        </p:txBody>
      </p:sp>
      <p:sp>
        <p:nvSpPr>
          <p:cNvPr id="3" name="Content Placeholder 2"/>
          <p:cNvSpPr>
            <a:spLocks noGrp="1"/>
          </p:cNvSpPr>
          <p:nvPr>
            <p:ph idx="1"/>
          </p:nvPr>
        </p:nvSpPr>
        <p:spPr>
          <a:xfrm>
            <a:off x="609600" y="1143000"/>
            <a:ext cx="8229600" cy="5257800"/>
          </a:xfrm>
        </p:spPr>
        <p:txBody>
          <a:bodyPr>
            <a:normAutofit fontScale="77500" lnSpcReduction="20000"/>
          </a:bodyPr>
          <a:lstStyle/>
          <a:p>
            <a:pPr>
              <a:buNone/>
            </a:pPr>
            <a:r>
              <a:rPr lang="en-US" sz="4100" dirty="0" smtClean="0">
                <a:latin typeface="Times New Roman" pitchFamily="18" charset="0"/>
                <a:cs typeface="Times New Roman" pitchFamily="18" charset="0"/>
              </a:rPr>
              <a:t>T</a:t>
            </a:r>
            <a:r>
              <a:rPr lang="en-US" sz="4100" dirty="0" smtClean="0">
                <a:latin typeface="Times New Roman" pitchFamily="18" charset="0"/>
                <a:cs typeface="Times New Roman" pitchFamily="18" charset="0"/>
              </a:rPr>
              <a:t>he </a:t>
            </a:r>
            <a:r>
              <a:rPr lang="en-US" sz="4100" dirty="0" smtClean="0">
                <a:latin typeface="Times New Roman" pitchFamily="18" charset="0"/>
                <a:cs typeface="Times New Roman" pitchFamily="18" charset="0"/>
              </a:rPr>
              <a:t>issues had been </a:t>
            </a:r>
            <a:r>
              <a:rPr lang="en-US" sz="4100" dirty="0" smtClean="0">
                <a:latin typeface="Times New Roman" pitchFamily="18" charset="0"/>
                <a:cs typeface="Times New Roman" pitchFamily="18" charset="0"/>
              </a:rPr>
              <a:t>with</a:t>
            </a:r>
            <a:r>
              <a:rPr lang="en-IN" sz="4100" dirty="0" smtClean="0">
                <a:latin typeface="Times New Roman" pitchFamily="18" charset="0"/>
                <a:cs typeface="Times New Roman" pitchFamily="18" charset="0"/>
              </a:rPr>
              <a:t> </a:t>
            </a:r>
            <a:r>
              <a:rPr lang="en-US" sz="4100" dirty="0" smtClean="0">
                <a:latin typeface="Times New Roman" pitchFamily="18" charset="0"/>
                <a:cs typeface="Times New Roman" pitchFamily="18" charset="0"/>
              </a:rPr>
              <a:t>the </a:t>
            </a:r>
            <a:r>
              <a:rPr lang="en-US" sz="4100" dirty="0" smtClean="0">
                <a:latin typeface="Times New Roman" pitchFamily="18" charset="0"/>
                <a:cs typeface="Times New Roman" pitchFamily="18" charset="0"/>
              </a:rPr>
              <a:t>project</a:t>
            </a:r>
            <a:r>
              <a:rPr lang="en-US" sz="4100" dirty="0" smtClean="0">
                <a:latin typeface="Times New Roman" pitchFamily="18" charset="0"/>
                <a:cs typeface="Times New Roman" pitchFamily="18" charset="0"/>
              </a:rPr>
              <a:t>.</a:t>
            </a:r>
          </a:p>
          <a:p>
            <a:pPr lvl="0"/>
            <a:r>
              <a:rPr lang="en-US" dirty="0" smtClean="0">
                <a:latin typeface="Times New Roman" pitchFamily="18" charset="0"/>
                <a:cs typeface="Times New Roman" pitchFamily="18" charset="0"/>
              </a:rPr>
              <a:t>No one involved in the project had ever done an agile development before.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Half the developers were actually industrial engineering students taking time out between their second and third years, and had limited commercial software development experience anyway.</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The belief appeared to be that you should never comment code (it was self- documenting).</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They never wrote any documentation (believing it not to be the agile way).</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They never did any design (as they considered design to be the antithesis of agility).</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Refactoring appeared to have been an area they considered a waste of time!</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pPr lvl="1" algn="ctr" rtl="0">
              <a:spcBef>
                <a:spcPct val="0"/>
              </a:spcBef>
            </a:pPr>
            <a:r>
              <a:rPr lang="en-US" sz="3200" b="1" dirty="0" smtClean="0">
                <a:solidFill>
                  <a:srgbClr val="FF0000"/>
                </a:solidFill>
                <a:latin typeface="Times New Roman" pitchFamily="18" charset="0"/>
                <a:cs typeface="Times New Roman" pitchFamily="18" charset="0"/>
              </a:rPr>
              <a:t>Contractual Difficulties</a:t>
            </a:r>
            <a:r>
              <a:rPr lang="en-IN" b="1" dirty="0" smtClean="0"/>
              <a:t/>
            </a:r>
            <a:br>
              <a:rPr lang="en-IN" b="1" dirty="0" smtClean="0"/>
            </a:br>
            <a:endParaRPr lang="en-IN" dirty="0"/>
          </a:p>
        </p:txBody>
      </p:sp>
      <p:sp>
        <p:nvSpPr>
          <p:cNvPr id="3" name="Content Placeholder 2"/>
          <p:cNvSpPr>
            <a:spLocks noGrp="1"/>
          </p:cNvSpPr>
          <p:nvPr>
            <p:ph idx="1"/>
          </p:nvPr>
        </p:nvSpPr>
        <p:spPr>
          <a:xfrm>
            <a:off x="457200" y="1143000"/>
            <a:ext cx="8229600" cy="4983163"/>
          </a:xfrm>
        </p:spPr>
        <p:txBody>
          <a:bodyPr>
            <a:normAutofit/>
          </a:bodyPr>
          <a:lstStyle/>
          <a:p>
            <a:r>
              <a:rPr lang="en-US" sz="1800" dirty="0" smtClean="0">
                <a:latin typeface="Times New Roman" pitchFamily="18" charset="0"/>
                <a:cs typeface="Times New Roman" pitchFamily="18" charset="0"/>
              </a:rPr>
              <a:t>A </a:t>
            </a:r>
            <a:r>
              <a:rPr lang="en-US" sz="1800" dirty="0" smtClean="0">
                <a:latin typeface="Times New Roman" pitchFamily="18" charset="0"/>
                <a:cs typeface="Times New Roman" pitchFamily="18" charset="0"/>
              </a:rPr>
              <a:t>very significant issue relating to agile software development methods is that of contractual difficulties. By that, I mean that contracts traditionally have been based around a waterfall software development </a:t>
            </a:r>
            <a:r>
              <a:rPr lang="en-US" sz="1800" dirty="0" smtClean="0">
                <a:latin typeface="Times New Roman" pitchFamily="18" charset="0"/>
                <a:cs typeface="Times New Roman" pitchFamily="18" charset="0"/>
              </a:rPr>
              <a:t>approach.</a:t>
            </a:r>
          </a:p>
          <a:p>
            <a:r>
              <a:rPr lang="en-US" sz="1800" dirty="0" smtClean="0">
                <a:latin typeface="Times New Roman" pitchFamily="18" charset="0"/>
                <a:cs typeface="Times New Roman" pitchFamily="18" charset="0"/>
              </a:rPr>
              <a:t>Thus</a:t>
            </a:r>
            <a:r>
              <a:rPr lang="en-US" sz="1800" dirty="0" smtClean="0">
                <a:latin typeface="Times New Roman" pitchFamily="18" charset="0"/>
                <a:cs typeface="Times New Roman" pitchFamily="18" charset="0"/>
              </a:rPr>
              <a:t>, the buyer of the software may state exactly what is required, and if all the specified functions are not provided, then the contract is not met. This situation is often exacerbated by the presence of fixed price projects. That is, a supplier must state exactly how much they will charge to provide the required functionality. All of this of course takes place in advance of the software development and may not even involve the actual developers.</a:t>
            </a:r>
            <a:endParaRPr lang="en-IN" sz="1800" dirty="0" smtClean="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a:buNone/>
            </a:pPr>
            <a:r>
              <a:rPr lang="en-US" sz="2800" b="1" dirty="0" smtClean="0">
                <a:solidFill>
                  <a:srgbClr val="FF0000"/>
                </a:solidFill>
                <a:latin typeface="Times New Roman" pitchFamily="18" charset="0"/>
                <a:cs typeface="Times New Roman" pitchFamily="18" charset="0"/>
              </a:rPr>
              <a:t>     </a:t>
            </a:r>
            <a:r>
              <a:rPr lang="en-US" sz="2800" b="1" dirty="0" err="1" smtClean="0">
                <a:solidFill>
                  <a:srgbClr val="FF0000"/>
                </a:solidFill>
                <a:latin typeface="Times New Roman" pitchFamily="18" charset="0"/>
                <a:cs typeface="Times New Roman" pitchFamily="18" charset="0"/>
              </a:rPr>
              <a:t>Emphasising</a:t>
            </a:r>
            <a:r>
              <a:rPr lang="en-US" sz="2800" b="1" dirty="0" smtClean="0">
                <a:solidFill>
                  <a:srgbClr val="FF0000"/>
                </a:solidFill>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the following to be useful:</a:t>
            </a:r>
            <a:endParaRPr lang="en-IN" sz="2800" b="1" dirty="0" smtClean="0">
              <a:solidFill>
                <a:srgbClr val="FF0000"/>
              </a:solidFill>
              <a:latin typeface="Times New Roman" pitchFamily="18" charset="0"/>
              <a:cs typeface="Times New Roman" pitchFamily="18" charset="0"/>
            </a:endParaRPr>
          </a:p>
          <a:p>
            <a:pPr lvl="0"/>
            <a:r>
              <a:rPr lang="en-US" sz="2000" b="1" i="1" dirty="0" smtClean="0">
                <a:latin typeface="Times New Roman" pitchFamily="18" charset="0"/>
                <a:cs typeface="Times New Roman" pitchFamily="18" charset="0"/>
              </a:rPr>
              <a:t>The level of control/</a:t>
            </a:r>
            <a:r>
              <a:rPr lang="en-US" sz="2000" b="1" i="1" dirty="0" err="1" smtClean="0">
                <a:latin typeface="Times New Roman" pitchFamily="18" charset="0"/>
                <a:cs typeface="Times New Roman" pitchFamily="18" charset="0"/>
              </a:rPr>
              <a:t>inﬂuence</a:t>
            </a:r>
            <a:r>
              <a:rPr lang="en-US" sz="2000" b="1" i="1" dirty="0" smtClean="0">
                <a:latin typeface="Times New Roman" pitchFamily="18" charset="0"/>
                <a:cs typeface="Times New Roman" pitchFamily="18" charset="0"/>
              </a:rPr>
              <a:t> they can exert</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That is, the extent to which the clients can influence what is done when, can sometimes be a major surprise. Software buyers often used to hand over the requirements, and then feel that they lose control of the project, and that they are left out of any project decision made internally. In an agile approach, the client and his representatives should be on board all the time (indeed XP and Agile </a:t>
            </a:r>
            <a:r>
              <a:rPr lang="en-US" sz="2000" dirty="0" err="1" smtClean="0">
                <a:latin typeface="Times New Roman" pitchFamily="18" charset="0"/>
                <a:cs typeface="Times New Roman" pitchFamily="18" charset="0"/>
              </a:rPr>
              <a:t>Modelling</a:t>
            </a:r>
            <a:r>
              <a:rPr lang="en-US" sz="2000" dirty="0" smtClean="0">
                <a:latin typeface="Times New Roman" pitchFamily="18" charset="0"/>
                <a:cs typeface="Times New Roman" pitchFamily="18" charset="0"/>
              </a:rPr>
              <a:t> require their direct inclusion in the team).</a:t>
            </a:r>
            <a:endParaRPr lang="en-IN" sz="2000" dirty="0" smtClean="0">
              <a:latin typeface="Times New Roman" pitchFamily="18" charset="0"/>
              <a:cs typeface="Times New Roman" pitchFamily="18" charset="0"/>
            </a:endParaRPr>
          </a:p>
          <a:p>
            <a:r>
              <a:rPr lang="en-US" sz="2000" b="1" i="1" dirty="0" smtClean="0">
                <a:latin typeface="Times New Roman" pitchFamily="18" charset="0"/>
                <a:cs typeface="Times New Roman" pitchFamily="18" charset="0"/>
              </a:rPr>
              <a:t>The feedback they will receive</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Returning to the issue of the involvement of the client in the project, in many cases, clients have received very little feedback on the progress of the project. Often what feedback they have received may later prove to at best have been optimistic and at worst a down right lie. As the clients find themselves in the midst of the project, they will naturally receive regular feedback. They will also be able to judge the accuracy of the information they receive as and when releases are made (at frequent intervals).</a:t>
            </a:r>
            <a:endParaRPr lang="en-IN"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7500" lnSpcReduction="20000"/>
          </a:bodyPr>
          <a:lstStyle/>
          <a:p>
            <a:pPr lvl="0"/>
            <a:r>
              <a:rPr lang="en-US" b="1" i="1" dirty="0" smtClean="0">
                <a:latin typeface="Times New Roman" pitchFamily="18" charset="0"/>
                <a:cs typeface="Times New Roman" pitchFamily="18" charset="0"/>
              </a:rPr>
              <a:t>The adaptability of the project to changing requirements</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One regular issue for bespoke software buyers is the problem of changing requirements. If the requirements document is the basis of the contractual agreement between supplier and customer and subsequently if a requirement changes, then the contract changes. In some cases, this can be a very large hurdle to cross and will require lawyers and protracted negotiations. However, as requirements may be drawn up well in advance of the software development, they may well have changed/may well change in the future. By adopting an agile approach, as requirements change, these changes can be naturally and simply passed through to the project team.</a:t>
            </a:r>
            <a:endParaRPr lang="en-IN" dirty="0" smtClean="0">
              <a:latin typeface="Times New Roman" pitchFamily="18" charset="0"/>
              <a:cs typeface="Times New Roman" pitchFamily="18" charset="0"/>
            </a:endParaRPr>
          </a:p>
          <a:p>
            <a:pPr lvl="0"/>
            <a:r>
              <a:rPr lang="en-US" b="1" i="1" dirty="0" smtClean="0">
                <a:latin typeface="Times New Roman" pitchFamily="18" charset="0"/>
                <a:cs typeface="Times New Roman" pitchFamily="18" charset="0"/>
              </a:rPr>
              <a:t>The ability to </a:t>
            </a:r>
            <a:r>
              <a:rPr lang="en-US" b="1" i="1" dirty="0" err="1" smtClean="0">
                <a:latin typeface="Times New Roman" pitchFamily="18" charset="0"/>
                <a:cs typeface="Times New Roman" pitchFamily="18" charset="0"/>
              </a:rPr>
              <a:t>prioritise</a:t>
            </a:r>
            <a:r>
              <a:rPr lang="en-US" b="1" i="1"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features</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 (possibly) surprising advantage of the agile approach to customers is that a low priority feature in a software system can be included but only implemented if time allows or its priority rises. </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600" b="1" dirty="0">
                <a:solidFill>
                  <a:srgbClr val="FF0000"/>
                </a:solidFill>
                <a:latin typeface="Times New Roman" pitchFamily="18" charset="0"/>
                <a:cs typeface="Times New Roman" pitchFamily="18" charset="0"/>
              </a:rPr>
              <a:t>Familiarity with Agility</a:t>
            </a:r>
            <a:r>
              <a:rPr lang="en-IN" b="1" dirty="0"/>
              <a:t/>
            </a:r>
            <a:br>
              <a:rPr lang="en-IN" b="1" dirty="0"/>
            </a:br>
            <a:endParaRPr lang="en-IN" dirty="0"/>
          </a:p>
        </p:txBody>
      </p:sp>
      <p:sp>
        <p:nvSpPr>
          <p:cNvPr id="3" name="Content Placeholder 2"/>
          <p:cNvSpPr>
            <a:spLocks noGrp="1"/>
          </p:cNvSpPr>
          <p:nvPr>
            <p:ph idx="1"/>
          </p:nvPr>
        </p:nvSpPr>
        <p:spPr/>
        <p:txBody>
          <a:bodyPr>
            <a:normAutofit fontScale="77500" lnSpcReduction="20000"/>
          </a:bodyPr>
          <a:lstStyle/>
          <a:p>
            <a:pPr>
              <a:buNone/>
            </a:pPr>
            <a:r>
              <a:rPr lang="en-US" dirty="0" smtClean="0">
                <a:latin typeface="Times New Roman" pitchFamily="18" charset="0"/>
                <a:cs typeface="Times New Roman" pitchFamily="18" charset="0"/>
              </a:rPr>
              <a:t>    One </a:t>
            </a:r>
            <a:r>
              <a:rPr lang="en-US" dirty="0" smtClean="0">
                <a:latin typeface="Times New Roman" pitchFamily="18" charset="0"/>
                <a:cs typeface="Times New Roman" pitchFamily="18" charset="0"/>
              </a:rPr>
              <a:t>major obstacle to adopting an agile software development is the lack of knowledge of how to start and run such a </a:t>
            </a:r>
            <a:r>
              <a:rPr lang="en-US" dirty="0" smtClean="0">
                <a:latin typeface="Times New Roman" pitchFamily="18" charset="0"/>
                <a:cs typeface="Times New Roman" pitchFamily="18" charset="0"/>
              </a:rPr>
              <a:t>project. We discussed </a:t>
            </a:r>
            <a:r>
              <a:rPr lang="en-US" dirty="0" smtClean="0">
                <a:latin typeface="Times New Roman" pitchFamily="18" charset="0"/>
                <a:cs typeface="Times New Roman" pitchFamily="18" charset="0"/>
              </a:rPr>
              <a:t>ways to introduce this approach into an </a:t>
            </a:r>
            <a:r>
              <a:rPr lang="en-US" dirty="0" smtClean="0">
                <a:latin typeface="Times New Roman" pitchFamily="18" charset="0"/>
                <a:cs typeface="Times New Roman" pitchFamily="18" charset="0"/>
              </a:rPr>
              <a:t>organization. </a:t>
            </a:r>
            <a:r>
              <a:rPr lang="en-US" dirty="0" smtClean="0">
                <a:latin typeface="Times New Roman" pitchFamily="18" charset="0"/>
                <a:cs typeface="Times New Roman" pitchFamily="18" charset="0"/>
              </a:rPr>
              <a:t>However, until you have been involved in one or more agile software developments, a great many questions may stop you in your tracks. For example, “how do we estimate the cost of the software to the clients at the start of a project?” “how do we decide how many iterations will be there?” “how do we know what will be in each iteration?” and “how do we decide how long an iteration should be?” There are no right or wrong answers to these questions – although there are answers that may be more right or more wrong than others.</a:t>
            </a:r>
            <a:endParaRPr lang="en-IN"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solidFill>
                  <a:srgbClr val="FF0000"/>
                </a:solidFill>
                <a:latin typeface="Times New Roman" pitchFamily="18" charset="0"/>
                <a:cs typeface="Times New Roman" pitchFamily="18" charset="0"/>
              </a:rPr>
              <a:t>How do you estimate the cost of the software to the clients?</a:t>
            </a:r>
            <a:endParaRPr lang="en-IN"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a:buNone/>
            </a:pPr>
            <a:r>
              <a:rPr lang="en-US" dirty="0" smtClean="0">
                <a:latin typeface="Times New Roman" pitchFamily="18" charset="0"/>
                <a:cs typeface="Times New Roman" pitchFamily="18" charset="0"/>
              </a:rPr>
              <a:t>    The </a:t>
            </a:r>
            <a:r>
              <a:rPr lang="en-US" dirty="0" smtClean="0">
                <a:latin typeface="Times New Roman" pitchFamily="18" charset="0"/>
                <a:cs typeface="Times New Roman" pitchFamily="18" charset="0"/>
              </a:rPr>
              <a:t>issue here may appear to be a question of how can we determine how much this software will cost for us to develop, given that we don’t yet know exactly what we will do, when and how long (particularly later) functionality will take to implement. The real issue here is that the focus of the question is wrong. Customers need a budget to work within and so do you. Thus, if the client has a budget of £60,000 and requires the final release in 6 months time, then you already know how much effort you can afford to take on the project. That may or may not be enough to implement all the current requirements (which may be subject to change anyway). However, in general, the majority of software systems do not require all the possible functions that could be put into them, but they do need to remain within their budgets</a:t>
            </a:r>
            <a:endParaRPr lang="en-IN"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solidFill>
                  <a:srgbClr val="FF0000"/>
                </a:solidFill>
                <a:latin typeface="Times New Roman" pitchFamily="18" charset="0"/>
                <a:cs typeface="Times New Roman" pitchFamily="18" charset="0"/>
              </a:rPr>
              <a:t>How do we decide how many iterations there will be?</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a:buNone/>
            </a:pPr>
            <a:r>
              <a:rPr lang="en-US" dirty="0" smtClean="0">
                <a:latin typeface="Times New Roman" pitchFamily="18" charset="0"/>
                <a:cs typeface="Times New Roman" pitchFamily="18" charset="0"/>
              </a:rPr>
              <a:t>    This </a:t>
            </a:r>
            <a:r>
              <a:rPr lang="en-US" dirty="0" smtClean="0">
                <a:latin typeface="Times New Roman" pitchFamily="18" charset="0"/>
                <a:cs typeface="Times New Roman" pitchFamily="18" charset="0"/>
              </a:rPr>
              <a:t>may appear as an obstacle because the question being implied here is “how many iterations will it take to implement </a:t>
            </a:r>
            <a:r>
              <a:rPr lang="en-US" i="1" dirty="0" smtClean="0">
                <a:latin typeface="Times New Roman" pitchFamily="18" charset="0"/>
                <a:cs typeface="Times New Roman" pitchFamily="18" charset="0"/>
              </a:rPr>
              <a:t>all </a:t>
            </a:r>
            <a:r>
              <a:rPr lang="en-US" dirty="0" smtClean="0">
                <a:latin typeface="Times New Roman" pitchFamily="18" charset="0"/>
                <a:cs typeface="Times New Roman" pitchFamily="18" charset="0"/>
              </a:rPr>
              <a:t>the requirements?” Whereas in fact, the issue should be “How many iterations should there be, to enable the clients to receive an appropriate number of releases, and for them to provide feedback to the development team, and to consider the current open questions?” This question implicitly acknowledges that some features may remain un-implemented as time may not allow for them. It also acknowledges that some as yet unknown user-feedback will impact upon that set of features. Thus, the size of each iteration relates more to the overall length of the project, the size and complexity of the system being implemented and the business processes of the client that will allow interim releases to be made</a:t>
            </a:r>
            <a:endParaRPr lang="en-IN"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solidFill>
                  <a:srgbClr val="FF0000"/>
                </a:solidFill>
                <a:latin typeface="Times New Roman" pitchFamily="18" charset="0"/>
                <a:cs typeface="Times New Roman" pitchFamily="18" charset="0"/>
              </a:rPr>
              <a:t>How do we know what will be in each iteration?</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r>
              <a:rPr lang="en-US" dirty="0" smtClean="0">
                <a:latin typeface="Times New Roman" pitchFamily="18" charset="0"/>
                <a:cs typeface="Times New Roman" pitchFamily="18" charset="0"/>
              </a:rPr>
              <a:t>Again </a:t>
            </a:r>
            <a:r>
              <a:rPr lang="en-US" dirty="0" smtClean="0">
                <a:latin typeface="Times New Roman" pitchFamily="18" charset="0"/>
                <a:cs typeface="Times New Roman" pitchFamily="18" charset="0"/>
              </a:rPr>
              <a:t>this question arises from the more traditional waterfall mind set – it is really saying, “I want to know exactly </a:t>
            </a:r>
            <a:r>
              <a:rPr lang="en-US" dirty="0" err="1" smtClean="0">
                <a:latin typeface="Times New Roman" pitchFamily="18" charset="0"/>
                <a:cs typeface="Times New Roman" pitchFamily="18" charset="0"/>
              </a:rPr>
              <a:t>whatwillbedoneinalliterationsoftheproject</a:t>
            </a:r>
            <a:r>
              <a:rPr lang="en-US" dirty="0" smtClean="0">
                <a:latin typeface="Times New Roman" pitchFamily="18" charset="0"/>
                <a:cs typeface="Times New Roman" pitchFamily="18" charset="0"/>
              </a:rPr>
              <a:t>.” Whereas, </a:t>
            </a:r>
            <a:r>
              <a:rPr lang="en-US" dirty="0" err="1" smtClean="0">
                <a:latin typeface="Times New Roman" pitchFamily="18" charset="0"/>
                <a:cs typeface="Times New Roman" pitchFamily="18" charset="0"/>
              </a:rPr>
              <a:t>agilemethodsessentially</a:t>
            </a:r>
            <a:r>
              <a:rPr lang="en-US" dirty="0" smtClean="0">
                <a:latin typeface="Times New Roman" pitchFamily="18" charset="0"/>
                <a:cs typeface="Times New Roman" pitchFamily="18" charset="0"/>
              </a:rPr>
              <a:t> say that we will </a:t>
            </a:r>
            <a:r>
              <a:rPr lang="en-US" i="1" dirty="0" smtClean="0">
                <a:latin typeface="Times New Roman" pitchFamily="18" charset="0"/>
                <a:cs typeface="Times New Roman" pitchFamily="18" charset="0"/>
              </a:rPr>
              <a:t>roughly </a:t>
            </a:r>
            <a:r>
              <a:rPr lang="en-US" dirty="0" smtClean="0">
                <a:latin typeface="Times New Roman" pitchFamily="18" charset="0"/>
                <a:cs typeface="Times New Roman" pitchFamily="18" charset="0"/>
              </a:rPr>
              <a:t>decide what features, functions, use cases or user stories (depending on your preferred terminology or approach) will be planned for each iteration, but that only the current iteration will be planned in detail. Then, at the end of the current iteration, we will review the overall plan for the iterations and features, and that the next iteration will then be planned in detail. Thus, we only plan for the next few weeks or months (depending upon the size of an iteration) in detail.</a:t>
            </a:r>
            <a:endParaRPr lang="en-IN"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solidFill>
                  <a:srgbClr val="FF0000"/>
                </a:solidFill>
                <a:latin typeface="Times New Roman" pitchFamily="18" charset="0"/>
                <a:cs typeface="Times New Roman" pitchFamily="18" charset="0"/>
              </a:rPr>
              <a:t>How do we decide how long an iteration should be?</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pPr>
              <a:buNone/>
            </a:pPr>
            <a:r>
              <a:rPr lang="en-US" dirty="0" smtClean="0">
                <a:latin typeface="Times New Roman" pitchFamily="18" charset="0"/>
                <a:cs typeface="Times New Roman" pitchFamily="18" charset="0"/>
              </a:rPr>
              <a:t>    This </a:t>
            </a:r>
            <a:r>
              <a:rPr lang="en-US" dirty="0" smtClean="0">
                <a:latin typeface="Times New Roman" pitchFamily="18" charset="0"/>
                <a:cs typeface="Times New Roman" pitchFamily="18" charset="0"/>
              </a:rPr>
              <a:t>goes back to an earlier question, but is worth considering here again. Each iteration should be large enough </a:t>
            </a:r>
            <a:r>
              <a:rPr lang="en-US" dirty="0" err="1" smtClean="0">
                <a:latin typeface="Times New Roman" pitchFamily="18" charset="0"/>
                <a:cs typeface="Times New Roman" pitchFamily="18" charset="0"/>
              </a:rPr>
              <a:t>tocontribute</a:t>
            </a:r>
            <a:r>
              <a:rPr lang="en-US" dirty="0" smtClean="0">
                <a:latin typeface="Times New Roman" pitchFamily="18" charset="0"/>
                <a:cs typeface="Times New Roman" pitchFamily="18" charset="0"/>
              </a:rPr>
              <a:t> something of value to the end-user, but small enough </a:t>
            </a:r>
            <a:r>
              <a:rPr lang="en-US" dirty="0" err="1" smtClean="0">
                <a:latin typeface="Times New Roman" pitchFamily="18" charset="0"/>
                <a:cs typeface="Times New Roman" pitchFamily="18" charset="0"/>
              </a:rPr>
              <a:t>toallow</a:t>
            </a:r>
            <a:r>
              <a:rPr lang="en-US" dirty="0" smtClean="0">
                <a:latin typeface="Times New Roman" pitchFamily="18" charset="0"/>
                <a:cs typeface="Times New Roman" pitchFamily="18" charset="0"/>
              </a:rPr>
              <a:t> for rapid and useful feedback from those users. Larger, more complex systems will thus naturally require larger iterations, whereas smaller, less complex systems will be able to achieve “something of value to the end-user” in smaller steps. Although, it is also worth noting that as a project matures, later iterations may be able to achieve more in shorter time periods, as there are larger “chunks” that can be exploited.</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solidFill>
                  <a:srgbClr val="FF0000"/>
                </a:solidFill>
                <a:latin typeface="Times New Roman" pitchFamily="18" charset="0"/>
                <a:cs typeface="Times New Roman" pitchFamily="18" charset="0"/>
              </a:rPr>
              <a:t>Questions on VI UNIT</a:t>
            </a:r>
            <a:endParaRPr lang="en-IN"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828800"/>
            <a:ext cx="8229600" cy="4525963"/>
          </a:xfrm>
        </p:spPr>
        <p:txBody>
          <a:bodyPr>
            <a:normAutofit fontScale="92500" lnSpcReduction="10000"/>
          </a:bodyPr>
          <a:lstStyle/>
          <a:p>
            <a:pPr marL="514350" indent="-514350">
              <a:buAutoNum type="arabicPeriod"/>
            </a:pPr>
            <a:r>
              <a:rPr lang="en-US" sz="2600" i="1" dirty="0" smtClean="0">
                <a:latin typeface="Times New Roman" pitchFamily="18" charset="0"/>
                <a:cs typeface="Times New Roman" pitchFamily="18" charset="0"/>
              </a:rPr>
              <a:t>What are the Obstacles to Agile Software Development?</a:t>
            </a:r>
          </a:p>
          <a:p>
            <a:pPr marL="514350" indent="-514350">
              <a:buFont typeface="Arial" pitchFamily="34" charset="0"/>
              <a:buAutoNum type="arabicPeriod"/>
            </a:pPr>
            <a:r>
              <a:rPr lang="en-US" sz="2600" i="1" dirty="0" smtClean="0">
                <a:latin typeface="Times New Roman" pitchFamily="18" charset="0"/>
                <a:cs typeface="Times New Roman" pitchFamily="18" charset="0"/>
              </a:rPr>
              <a:t>How does the management can represent a significant obstacle to adoption of an agile approach?</a:t>
            </a:r>
            <a:endParaRPr lang="en-IN" sz="2600" i="1" dirty="0" smtClean="0">
              <a:latin typeface="Times New Roman" pitchFamily="18" charset="0"/>
              <a:cs typeface="Times New Roman" pitchFamily="18" charset="0"/>
            </a:endParaRPr>
          </a:p>
          <a:p>
            <a:pPr marL="514350" indent="-514350">
              <a:buFont typeface="Arial" pitchFamily="34" charset="0"/>
              <a:buAutoNum type="arabicPeriod"/>
            </a:pPr>
            <a:r>
              <a:rPr lang="en-US" sz="2600" i="1" dirty="0" smtClean="0">
                <a:latin typeface="Times New Roman" pitchFamily="18" charset="0"/>
                <a:cs typeface="Times New Roman" pitchFamily="18" charset="0"/>
              </a:rPr>
              <a:t>What are the issues faced from the Failed Project Syndrome.</a:t>
            </a:r>
            <a:endParaRPr lang="en-IN" sz="2600" i="1" dirty="0" smtClean="0">
              <a:latin typeface="Times New Roman" pitchFamily="18" charset="0"/>
              <a:cs typeface="Times New Roman" pitchFamily="18" charset="0"/>
            </a:endParaRPr>
          </a:p>
          <a:p>
            <a:pPr marL="514350" indent="-514350">
              <a:buFont typeface="Arial" pitchFamily="34" charset="0"/>
              <a:buAutoNum type="arabicPeriod"/>
            </a:pPr>
            <a:r>
              <a:rPr lang="en-US" sz="2600" i="1" dirty="0" smtClean="0">
                <a:latin typeface="Times New Roman" pitchFamily="18" charset="0"/>
                <a:cs typeface="Times New Roman" pitchFamily="18" charset="0"/>
              </a:rPr>
              <a:t>What are significant issue relating to agile software development methods is that of contractual difficulties and how they are the </a:t>
            </a:r>
            <a:r>
              <a:rPr lang="en-IN" sz="2600" i="1" dirty="0" smtClean="0">
                <a:latin typeface="Times New Roman" pitchFamily="18" charset="0"/>
                <a:cs typeface="Times New Roman" pitchFamily="18" charset="0"/>
              </a:rPr>
              <a:t>Emphasising to be useful? </a:t>
            </a:r>
          </a:p>
          <a:p>
            <a:pPr>
              <a:buNone/>
            </a:pPr>
            <a:r>
              <a:rPr lang="en-US" sz="2600" i="1" dirty="0" smtClean="0">
                <a:latin typeface="Times New Roman" pitchFamily="18" charset="0"/>
                <a:cs typeface="Times New Roman" pitchFamily="18" charset="0"/>
              </a:rPr>
              <a:t>5.How do you estimate the cost of the software to the clients?</a:t>
            </a:r>
            <a:endParaRPr lang="en-IN" sz="2600" dirty="0" smtClean="0">
              <a:latin typeface="Times New Roman" pitchFamily="18" charset="0"/>
              <a:cs typeface="Times New Roman" pitchFamily="18" charset="0"/>
            </a:endParaRPr>
          </a:p>
          <a:p>
            <a:pPr>
              <a:buNone/>
            </a:pPr>
            <a:r>
              <a:rPr lang="en-US" sz="2600" i="1" dirty="0" smtClean="0">
                <a:latin typeface="Times New Roman" pitchFamily="18" charset="0"/>
                <a:cs typeface="Times New Roman" pitchFamily="18" charset="0"/>
              </a:rPr>
              <a:t>6.How do we decide how much iteration there will be?</a:t>
            </a:r>
            <a:endParaRPr lang="en-IN" sz="2600" dirty="0" smtClean="0">
              <a:latin typeface="Times New Roman" pitchFamily="18" charset="0"/>
              <a:cs typeface="Times New Roman" pitchFamily="18" charset="0"/>
            </a:endParaRPr>
          </a:p>
          <a:p>
            <a:pPr>
              <a:buNone/>
            </a:pPr>
            <a:r>
              <a:rPr lang="en-US" sz="2600" i="1" dirty="0" smtClean="0">
                <a:latin typeface="Times New Roman" pitchFamily="18" charset="0"/>
                <a:cs typeface="Times New Roman" pitchFamily="18" charset="0"/>
              </a:rPr>
              <a:t>7.How do we know what will be in each iteration?</a:t>
            </a:r>
          </a:p>
          <a:p>
            <a:pPr>
              <a:buNone/>
            </a:pPr>
            <a:r>
              <a:rPr lang="en-US" sz="2600" i="1" dirty="0" smtClean="0">
                <a:latin typeface="Times New Roman" pitchFamily="18" charset="0"/>
                <a:cs typeface="Times New Roman" pitchFamily="18" charset="0"/>
              </a:rPr>
              <a:t>8.How do we decide how long an iteration should be?</a:t>
            </a:r>
            <a:endParaRPr lang="en-IN" sz="2600" dirty="0" smtClean="0">
              <a:latin typeface="Times New Roman" pitchFamily="18" charset="0"/>
              <a:cs typeface="Times New Roman" pitchFamily="18" charset="0"/>
            </a:endParaRPr>
          </a:p>
          <a:p>
            <a:pPr marL="514350" indent="-514350">
              <a:buFont typeface="Arial" pitchFamily="34" charset="0"/>
              <a:buAutoNum type="arabicPeriod"/>
            </a:pPr>
            <a:endParaRPr lang="en-IN" i="1" dirty="0" smtClean="0">
              <a:latin typeface="Times New Roman" pitchFamily="18" charset="0"/>
              <a:cs typeface="Times New Roman" pitchFamily="18" charset="0"/>
            </a:endParaRPr>
          </a:p>
          <a:p>
            <a:pPr marL="514350" indent="-514350">
              <a:buAutoNum type="arabicPeriod"/>
            </a:pPr>
            <a:endParaRPr lang="en-IN" dirty="0" smtClean="0">
              <a:latin typeface="Times New Roman" pitchFamily="18" charset="0"/>
              <a:cs typeface="Times New Roman" pitchFamily="18" charset="0"/>
            </a:endParaRPr>
          </a:p>
          <a:p>
            <a:pPr>
              <a:buNone/>
            </a:pP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i="1" dirty="0" smtClean="0"/>
              <a:t>5.How </a:t>
            </a:r>
            <a:r>
              <a:rPr lang="en-US" i="1" dirty="0" smtClean="0"/>
              <a:t>do you estimate the cost of the software to the clients?</a:t>
            </a:r>
            <a:endParaRPr lang="en-IN" dirty="0" smtClean="0"/>
          </a:p>
          <a:p>
            <a:pPr>
              <a:buNone/>
            </a:pPr>
            <a:r>
              <a:rPr lang="en-US" i="1" dirty="0" smtClean="0"/>
              <a:t>6.How </a:t>
            </a:r>
            <a:r>
              <a:rPr lang="en-US" i="1" dirty="0" smtClean="0"/>
              <a:t>do we decide how much iteration there will be?</a:t>
            </a:r>
            <a:endParaRPr lang="en-IN" dirty="0" smtClean="0"/>
          </a:p>
          <a:p>
            <a:pPr>
              <a:buNone/>
            </a:pPr>
            <a:r>
              <a:rPr lang="en-US" i="1" dirty="0" smtClean="0"/>
              <a:t>7.How </a:t>
            </a:r>
            <a:r>
              <a:rPr lang="en-US" i="1" dirty="0" smtClean="0"/>
              <a:t>do we know what will be in each iteration</a:t>
            </a:r>
            <a:r>
              <a:rPr lang="en-US" i="1" dirty="0" smtClean="0"/>
              <a:t>?</a:t>
            </a:r>
          </a:p>
          <a:p>
            <a:pPr>
              <a:buNone/>
            </a:pPr>
            <a:r>
              <a:rPr lang="en-US" i="1" dirty="0" smtClean="0"/>
              <a:t>8.How </a:t>
            </a:r>
            <a:r>
              <a:rPr lang="en-US" i="1" dirty="0" smtClean="0"/>
              <a:t>do we decide how long an iteration should be?</a:t>
            </a:r>
            <a:endParaRPr lang="en-IN" dirty="0" smtClean="0"/>
          </a:p>
          <a:p>
            <a:endParaRPr lang="en-IN" dirty="0" smtClean="0"/>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1937</Words>
  <Application>Microsoft Office PowerPoint</Application>
  <PresentationFormat>On-screen Show (4:3)</PresentationFormat>
  <Paragraphs>65</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UNIT-VI  </vt:lpstr>
      <vt:lpstr>Slide 2</vt:lpstr>
      <vt:lpstr>Management Intransigence </vt:lpstr>
      <vt:lpstr>Slide 4</vt:lpstr>
      <vt:lpstr>The Failed Project Syndrome </vt:lpstr>
      <vt:lpstr>Contractual Difficulties </vt:lpstr>
      <vt:lpstr>Slide 7</vt:lpstr>
      <vt:lpstr>Slide 8</vt:lpstr>
      <vt:lpstr>Familiarity with Agility </vt:lpstr>
      <vt:lpstr>How do you estimate the cost of the software to the clients?</vt:lpstr>
      <vt:lpstr>How do we decide how many iterations there will be?</vt:lpstr>
      <vt:lpstr>How do we know what will be in each iteration?</vt:lpstr>
      <vt:lpstr>How do we decide how long an iteration should be?</vt:lpstr>
      <vt:lpstr>Questions on VI UNIT</vt:lpstr>
      <vt:lpstr>Slide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UNIT-VI  </dc:title>
  <dc:creator>Admin</dc:creator>
  <cp:lastModifiedBy>Preethi</cp:lastModifiedBy>
  <cp:revision>5</cp:revision>
  <dcterms:created xsi:type="dcterms:W3CDTF">2006-08-16T00:00:00Z</dcterms:created>
  <dcterms:modified xsi:type="dcterms:W3CDTF">2025-11-25T06:09:39Z</dcterms:modified>
</cp:coreProperties>
</file>