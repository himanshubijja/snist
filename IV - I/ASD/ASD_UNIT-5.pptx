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257" r:id="rId4"/>
    <p:sldId id="258" r:id="rId5"/>
    <p:sldId id="259" r:id="rId6"/>
    <p:sldId id="261" r:id="rId7"/>
    <p:sldId id="263" r:id="rId8"/>
    <p:sldId id="264" r:id="rId9"/>
    <p:sldId id="265" r:id="rId10"/>
    <p:sldId id="266" r:id="rId11"/>
    <p:sldId id="267" r:id="rId12"/>
    <p:sldId id="268" r:id="rId13"/>
    <p:sldId id="269" r:id="rId14"/>
    <p:sldId id="270" r:id="rId15"/>
    <p:sldId id="271" r:id="rId16"/>
    <p:sldId id="272" r:id="rId17"/>
    <p:sldId id="274" r:id="rId18"/>
    <p:sldId id="275" r:id="rId19"/>
    <p:sldId id="276" r:id="rId20"/>
    <p:sldId id="277" r:id="rId21"/>
    <p:sldId id="278" r:id="rId22"/>
    <p:sldId id="279" r:id="rId23"/>
    <p:sldId id="280" r:id="rId24"/>
    <p:sldId id="283" r:id="rId25"/>
    <p:sldId id="282" r:id="rId26"/>
    <p:sldId id="281" r:id="rId27"/>
    <p:sldId id="285" r:id="rId28"/>
    <p:sldId id="286" r:id="rId29"/>
    <p:sldId id="287" r:id="rId30"/>
    <p:sldId id="288" r:id="rId31"/>
    <p:sldId id="289"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latin typeface="Times New Roman" pitchFamily="18" charset="0"/>
                <a:cs typeface="Times New Roman" pitchFamily="18" charset="0"/>
              </a:rPr>
              <a:t>UNIT-V</a:t>
            </a:r>
            <a:endParaRPr lang="en-IN" b="1" dirty="0">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r>
              <a:rPr lang="en-US" dirty="0" smtClean="0">
                <a:solidFill>
                  <a:schemeClr val="tx1"/>
                </a:solidFill>
                <a:latin typeface="Times New Roman" pitchFamily="18" charset="0"/>
                <a:cs typeface="Times New Roman" pitchFamily="18" charset="0"/>
              </a:rPr>
              <a:t>Agile Methods with RUP and PRINCE2</a:t>
            </a:r>
            <a:endParaRPr lang="en-IN" dirty="0" smtClean="0">
              <a:solidFill>
                <a:schemeClr val="tx1"/>
              </a:solidFill>
              <a:latin typeface="Times New Roman" pitchFamily="18" charset="0"/>
              <a:cs typeface="Times New Roman" pitchFamily="18" charset="0"/>
            </a:endParaRP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458200" cy="5668963"/>
          </a:xfrm>
        </p:spPr>
        <p:txBody>
          <a:bodyPr>
            <a:normAutofit/>
          </a:bodyPr>
          <a:lstStyle/>
          <a:p>
            <a:pPr>
              <a:buNone/>
            </a:pPr>
            <a:r>
              <a:rPr lang="en-IN" sz="4000" dirty="0" smtClean="0">
                <a:latin typeface="Times New Roman" pitchFamily="18" charset="0"/>
                <a:cs typeface="Times New Roman" pitchFamily="18" charset="0"/>
              </a:rPr>
              <a:t>Agile Methods with RUP and PRINCE2 and Tools and Obstacles:</a:t>
            </a:r>
          </a:p>
          <a:p>
            <a:pPr>
              <a:buNone/>
            </a:pPr>
            <a:r>
              <a:rPr lang="en-IN" sz="4000" dirty="0" smtClean="0">
                <a:latin typeface="Times New Roman" pitchFamily="18" charset="0"/>
                <a:cs typeface="Times New Roman" pitchFamily="18" charset="0"/>
              </a:rPr>
              <a:t>Agile Modelling and RUP</a:t>
            </a:r>
          </a:p>
          <a:p>
            <a:pPr>
              <a:buNone/>
            </a:pPr>
            <a:r>
              <a:rPr lang="en-IN" sz="4000" dirty="0" smtClean="0">
                <a:latin typeface="Times New Roman" pitchFamily="18" charset="0"/>
                <a:cs typeface="Times New Roman" pitchFamily="18" charset="0"/>
              </a:rPr>
              <a:t> FDD and RUP</a:t>
            </a:r>
          </a:p>
          <a:p>
            <a:pPr>
              <a:buNone/>
            </a:pPr>
            <a:r>
              <a:rPr lang="en-IN" sz="4000" dirty="0" smtClean="0">
                <a:latin typeface="Times New Roman" pitchFamily="18" charset="0"/>
                <a:cs typeface="Times New Roman" pitchFamily="18" charset="0"/>
              </a:rPr>
              <a:t> Agile Methods and PRINCE2</a:t>
            </a:r>
          </a:p>
          <a:p>
            <a:pPr>
              <a:buNone/>
            </a:pPr>
            <a:r>
              <a:rPr lang="en-IN" sz="4000" dirty="0" smtClean="0">
                <a:latin typeface="Times New Roman" pitchFamily="18" charset="0"/>
                <a:cs typeface="Times New Roman" pitchFamily="18" charset="0"/>
              </a:rPr>
              <a:t> Tools to Help with Agile Development,</a:t>
            </a:r>
          </a:p>
          <a:p>
            <a:pPr>
              <a:buNone/>
            </a:pPr>
            <a:r>
              <a:rPr lang="en-IN" sz="4000" dirty="0" smtClean="0">
                <a:latin typeface="Times New Roman" pitchFamily="18" charset="0"/>
                <a:cs typeface="Times New Roman" pitchFamily="18" charset="0"/>
              </a:rPr>
              <a:t>Eclipse: An Agile IDE.</a:t>
            </a:r>
            <a:r>
              <a:rPr lang="en-IN" dirty="0" smtClean="0">
                <a:latin typeface="Times New Roman" pitchFamily="18" charset="0"/>
                <a:cs typeface="Times New Roman" pitchFamily="18" charset="0"/>
              </a:rPr>
              <a:t>	</a:t>
            </a: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Introduction</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7500" lnSpcReduction="20000"/>
          </a:bodyPr>
          <a:lstStyle/>
          <a:p>
            <a:r>
              <a:rPr lang="en-US" dirty="0" smtClean="0">
                <a:latin typeface="Times New Roman" pitchFamily="18" charset="0"/>
                <a:cs typeface="Times New Roman" pitchFamily="18" charset="0"/>
              </a:rPr>
              <a:t>we will focus on the Unified Process (also known as the Rational Unified Process or RUP) and PRINCE2.</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Unified Process is a design framework that guides the tasks, people and products of the design process. It is a framework because it provides the inputs and outputs of each activity, but does not restrict how each activity must be per- formed. Different activities can be used in different situations, some being left out, others being replaced or augmented. </a:t>
            </a:r>
          </a:p>
          <a:p>
            <a:r>
              <a:rPr lang="en-US" dirty="0" smtClean="0">
                <a:latin typeface="Times New Roman" pitchFamily="18" charset="0"/>
                <a:cs typeface="Times New Roman" pitchFamily="18" charset="0"/>
              </a:rPr>
              <a:t>PRINCE, which stands for </a:t>
            </a:r>
            <a:r>
              <a:rPr lang="en-US" i="1" dirty="0" smtClean="0">
                <a:latin typeface="Times New Roman" pitchFamily="18" charset="0"/>
                <a:cs typeface="Times New Roman" pitchFamily="18" charset="0"/>
              </a:rPr>
              <a:t>Pr</a:t>
            </a:r>
            <a:r>
              <a:rPr lang="en-US" dirty="0" smtClean="0">
                <a:latin typeface="Times New Roman" pitchFamily="18" charset="0"/>
                <a:cs typeface="Times New Roman" pitchFamily="18" charset="0"/>
              </a:rPr>
              <a:t>ojects </a:t>
            </a:r>
            <a:r>
              <a:rPr lang="en-US" i="1" dirty="0" smtClean="0">
                <a:latin typeface="Times New Roman" pitchFamily="18" charset="0"/>
                <a:cs typeface="Times New Roman" pitchFamily="18" charset="0"/>
              </a:rPr>
              <a:t>in C</a:t>
            </a:r>
            <a:r>
              <a:rPr lang="en-US" dirty="0" smtClean="0">
                <a:latin typeface="Times New Roman" pitchFamily="18" charset="0"/>
                <a:cs typeface="Times New Roman" pitchFamily="18" charset="0"/>
              </a:rPr>
              <a:t>ontrolled </a:t>
            </a:r>
            <a:r>
              <a:rPr lang="en-US" i="1" dirty="0" smtClean="0">
                <a:latin typeface="Times New Roman" pitchFamily="18" charset="0"/>
                <a:cs typeface="Times New Roman" pitchFamily="18" charset="0"/>
              </a:rPr>
              <a:t>E</a:t>
            </a:r>
            <a:r>
              <a:rPr lang="en-US" dirty="0" smtClean="0">
                <a:latin typeface="Times New Roman" pitchFamily="18" charset="0"/>
                <a:cs typeface="Times New Roman" pitchFamily="18" charset="0"/>
              </a:rPr>
              <a:t>nvironments, is a project management method covering the organization, management and control of projects. </a:t>
            </a:r>
            <a:endParaRPr lang="en-IN"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spcBef>
                <a:spcPct val="0"/>
              </a:spcBef>
            </a:pPr>
            <a:r>
              <a:rPr lang="en-US" sz="3200" b="1" dirty="0" smtClean="0">
                <a:latin typeface="Times New Roman" pitchFamily="18" charset="0"/>
                <a:cs typeface="Times New Roman" pitchFamily="18" charset="0"/>
              </a:rPr>
              <a:t>Agile </a:t>
            </a:r>
            <a:r>
              <a:rPr lang="en-US" sz="3200" b="1" dirty="0" err="1" smtClean="0">
                <a:latin typeface="Times New Roman" pitchFamily="18" charset="0"/>
                <a:cs typeface="Times New Roman" pitchFamily="18" charset="0"/>
              </a:rPr>
              <a:t>Modelling</a:t>
            </a:r>
            <a:r>
              <a:rPr lang="en-US" sz="3200" b="1" dirty="0" smtClean="0">
                <a:latin typeface="Times New Roman" pitchFamily="18" charset="0"/>
                <a:cs typeface="Times New Roman" pitchFamily="18" charset="0"/>
              </a:rPr>
              <a:t> and RUP</a:t>
            </a:r>
            <a:r>
              <a:rPr lang="en-IN" b="1" dirty="0" smtClean="0"/>
              <a:t/>
            </a:r>
            <a:br>
              <a:rPr lang="en-IN" b="1" dirty="0" smtClean="0"/>
            </a:br>
            <a:endParaRPr lang="en-IN" dirty="0"/>
          </a:p>
        </p:txBody>
      </p:sp>
      <p:sp>
        <p:nvSpPr>
          <p:cNvPr id="3" name="Content Placeholder 2"/>
          <p:cNvSpPr>
            <a:spLocks noGrp="1"/>
          </p:cNvSpPr>
          <p:nvPr>
            <p:ph idx="1"/>
          </p:nvPr>
        </p:nvSpPr>
        <p:spPr>
          <a:xfrm>
            <a:off x="457200" y="1066800"/>
            <a:ext cx="8229600" cy="5059363"/>
          </a:xfrm>
        </p:spPr>
        <p:txBody>
          <a:bodyPr>
            <a:normAutofit fontScale="77500" lnSpcReduction="20000"/>
          </a:bodyPr>
          <a:lstStyle/>
          <a:p>
            <a:r>
              <a:rPr lang="en-US" dirty="0" smtClean="0">
                <a:latin typeface="Times New Roman" pitchFamily="18" charset="0"/>
                <a:cs typeface="Times New Roman" pitchFamily="18" charset="0"/>
              </a:rPr>
              <a:t>The Unified Process or the Rational Unified Process (sometimes known as RUP) is a framework for handling the whole lifecycle of a software development project. It is referred to as a framework because it allows the overall suite of activities to be customized and modified as required for a particular type of application . this is illustrated in Figure 11.1</a:t>
            </a:r>
          </a:p>
          <a:p>
            <a:pPr>
              <a:buNone/>
            </a:pPr>
            <a:r>
              <a:rPr lang="en-US" dirty="0" smtClean="0">
                <a:solidFill>
                  <a:srgbClr val="FF0000"/>
                </a:solidFill>
                <a:latin typeface="Times New Roman" pitchFamily="18" charset="0"/>
                <a:cs typeface="Times New Roman" pitchFamily="18" charset="0"/>
              </a:rPr>
              <a:t>Why then is the Unified Process called a </a:t>
            </a:r>
            <a:r>
              <a:rPr lang="en-US" i="1" dirty="0" smtClean="0">
                <a:solidFill>
                  <a:srgbClr val="FF0000"/>
                </a:solidFill>
                <a:latin typeface="Times New Roman" pitchFamily="18" charset="0"/>
                <a:cs typeface="Times New Roman" pitchFamily="18" charset="0"/>
              </a:rPr>
              <a:t>process </a:t>
            </a:r>
            <a:r>
              <a:rPr lang="en-US" dirty="0" smtClean="0">
                <a:solidFill>
                  <a:srgbClr val="FF0000"/>
                </a:solidFill>
                <a:latin typeface="Times New Roman" pitchFamily="18" charset="0"/>
                <a:cs typeface="Times New Roman" pitchFamily="18" charset="0"/>
              </a:rPr>
              <a:t>and not the Unified Framework?</a:t>
            </a:r>
            <a:endParaRPr lang="en-IN" dirty="0" smtClean="0">
              <a:solidFill>
                <a:srgbClr val="FF0000"/>
              </a:solidFill>
              <a:latin typeface="Times New Roman" pitchFamily="18" charset="0"/>
              <a:cs typeface="Times New Roman" pitchFamily="18" charset="0"/>
            </a:endParaRPr>
          </a:p>
          <a:p>
            <a:r>
              <a:rPr lang="en-US" dirty="0" smtClean="0">
                <a:latin typeface="Times New Roman" pitchFamily="18" charset="0"/>
                <a:cs typeface="Times New Roman" pitchFamily="18" charset="0"/>
              </a:rPr>
              <a:t>It is called a process because its primary aim is to define:</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Who is doing what?</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When they do it?</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How to reach a certain goal (i.e. each activity)?</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inputs and outputs of each activity.</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Grp="1" noChangeAspect="1" noChangeArrowheads="1"/>
          </p:cNvPicPr>
          <p:nvPr>
            <p:ph idx="1"/>
          </p:nvPr>
        </p:nvPicPr>
        <p:blipFill>
          <a:blip r:embed="rId2" cstate="print"/>
          <a:srcRect/>
          <a:stretch>
            <a:fillRect/>
          </a:stretch>
        </p:blipFill>
        <p:spPr bwMode="auto">
          <a:xfrm>
            <a:off x="304800" y="0"/>
            <a:ext cx="6838950" cy="3067050"/>
          </a:xfrm>
          <a:prstGeom prst="rect">
            <a:avLst/>
          </a:prstGeom>
          <a:noFill/>
          <a:ln w="9525">
            <a:noFill/>
            <a:miter lim="800000"/>
            <a:headEnd/>
            <a:tailEnd/>
          </a:ln>
        </p:spPr>
      </p:pic>
      <p:pic>
        <p:nvPicPr>
          <p:cNvPr id="1026" name="Picture 2"/>
          <p:cNvPicPr>
            <a:picLocks noChangeAspect="1" noChangeArrowheads="1"/>
          </p:cNvPicPr>
          <p:nvPr/>
        </p:nvPicPr>
        <p:blipFill>
          <a:blip r:embed="rId3" cstate="print"/>
          <a:srcRect/>
          <a:stretch>
            <a:fillRect/>
          </a:stretch>
        </p:blipFill>
        <p:spPr bwMode="auto">
          <a:xfrm>
            <a:off x="457200" y="3505200"/>
            <a:ext cx="7391400" cy="282892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a:bodyPr>
          <a:lstStyle/>
          <a:p>
            <a:r>
              <a:rPr lang="en-US" sz="2400" dirty="0" smtClean="0">
                <a:latin typeface="Times New Roman" pitchFamily="18" charset="0"/>
                <a:cs typeface="Times New Roman" pitchFamily="18" charset="0"/>
              </a:rPr>
              <a:t>The Unified Process is actually comprised of low-level activities (such as finding classes), which are combined together into disciplines formally known as work- flows (which describe how one activity feeds into another). </a:t>
            </a:r>
          </a:p>
          <a:p>
            <a:r>
              <a:rPr lang="en-US" sz="2400" dirty="0" smtClean="0">
                <a:latin typeface="Times New Roman" pitchFamily="18" charset="0"/>
                <a:cs typeface="Times New Roman" pitchFamily="18" charset="0"/>
              </a:rPr>
              <a:t>These disciplines are organized into iterations. Each iteration identifies some aspect of the system to be considered. How this is done is considered in more detail later. Iterations them- selves are organized into phases. </a:t>
            </a:r>
          </a:p>
          <a:p>
            <a:r>
              <a:rPr lang="en-US" sz="2400" dirty="0" smtClean="0">
                <a:latin typeface="Times New Roman" pitchFamily="18" charset="0"/>
                <a:cs typeface="Times New Roman" pitchFamily="18" charset="0"/>
              </a:rPr>
              <a:t>Phases focus on different aspects of the design process, for example, requirements, analysis, design and implementation. In turn, phases can be grouped into cycles. Cycles focus on the generation of successive releases of a system (for example, version 1.0, version 1.1, etc.).</a:t>
            </a:r>
            <a:endParaRPr lang="en-IN" sz="2400" dirty="0" smtClean="0">
              <a:latin typeface="Times New Roman" pitchFamily="18" charset="0"/>
              <a:cs typeface="Times New Roman" pitchFamily="18" charset="0"/>
            </a:endParaRP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2" algn="ctr" rtl="0">
              <a:spcBef>
                <a:spcPct val="0"/>
              </a:spcBef>
            </a:pPr>
            <a:r>
              <a:rPr lang="en-US" sz="3200" b="1" dirty="0" smtClean="0">
                <a:latin typeface="Times New Roman" pitchFamily="18" charset="0"/>
                <a:cs typeface="Times New Roman" pitchFamily="18" charset="0"/>
              </a:rPr>
              <a:t>Overview of the Unified Process</a:t>
            </a:r>
            <a:r>
              <a:rPr lang="en-IN" sz="3200" b="1" dirty="0" smtClean="0">
                <a:latin typeface="Times New Roman" pitchFamily="18" charset="0"/>
                <a:cs typeface="Times New Roman" pitchFamily="18" charset="0"/>
              </a:rPr>
              <a:t/>
            </a:r>
            <a:br>
              <a:rPr lang="en-IN" sz="3200" b="1" dirty="0" smtClean="0">
                <a:latin typeface="Times New Roman" pitchFamily="18" charset="0"/>
                <a:cs typeface="Times New Roman" pitchFamily="18" charset="0"/>
              </a:rPr>
            </a:br>
            <a:endParaRPr lang="en-IN" sz="32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dirty="0" smtClean="0">
                <a:latin typeface="Times New Roman" pitchFamily="18" charset="0"/>
                <a:cs typeface="Times New Roman" pitchFamily="18" charset="0"/>
              </a:rPr>
              <a:t>There are four key elements to the philosophy behind the Unified Process. These four elements are:</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Iterative and incremental,</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Use-case driven,</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Architecture-centric,</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Acknowledges risk.</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smtClean="0"/>
              <a:t>Iterative and Incremental</a:t>
            </a:r>
            <a:r>
              <a:rPr lang="en-IN" dirty="0" smtClean="0"/>
              <a:t/>
            </a:r>
            <a:br>
              <a:rPr lang="en-IN" dirty="0" smtClean="0"/>
            </a:br>
            <a:endParaRPr lang="en-IN" dirty="0"/>
          </a:p>
        </p:txBody>
      </p:sp>
      <p:sp>
        <p:nvSpPr>
          <p:cNvPr id="3" name="Content Placeholder 2"/>
          <p:cNvSpPr>
            <a:spLocks noGrp="1"/>
          </p:cNvSpPr>
          <p:nvPr>
            <p:ph idx="1"/>
          </p:nvPr>
        </p:nvSpPr>
        <p:spPr>
          <a:xfrm>
            <a:off x="533400" y="914400"/>
            <a:ext cx="8229600" cy="5562600"/>
          </a:xfrm>
        </p:spPr>
        <p:txBody>
          <a:bodyPr>
            <a:normAutofit fontScale="70000" lnSpcReduction="20000"/>
          </a:bodyPr>
          <a:lstStyle/>
          <a:p>
            <a:pPr>
              <a:buNone/>
            </a:pPr>
            <a:r>
              <a:rPr lang="en-US" dirty="0" smtClean="0">
                <a:latin typeface="Times New Roman" pitchFamily="18" charset="0"/>
                <a:cs typeface="Times New Roman" pitchFamily="18" charset="0"/>
              </a:rPr>
              <a:t>The Unified Process is iterative and incremental, that is, the design process is based on iterations which address either different aspects of the design process or more the design forward in some way (this is the incremental aspect of the model). This does not mean that the Unified Process is a process based on rapid prototyping. Any prototypes that are developed in the Unified Process are used to explore some aspect of the design. </a:t>
            </a:r>
          </a:p>
          <a:p>
            <a:pPr>
              <a:buNone/>
            </a:pPr>
            <a:r>
              <a:rPr lang="en-US" dirty="0" smtClean="0">
                <a:solidFill>
                  <a:srgbClr val="FF0000"/>
                </a:solidFill>
                <a:latin typeface="Times New Roman" pitchFamily="18" charset="0"/>
                <a:cs typeface="Times New Roman" pitchFamily="18" charset="0"/>
              </a:rPr>
              <a:t>Essentially, the following holds with the iterative approach in the Unified Process:</a:t>
            </a:r>
            <a:endParaRPr lang="en-IN" dirty="0" smtClean="0">
              <a:solidFill>
                <a:srgbClr val="FF0000"/>
              </a:solidFill>
              <a:latin typeface="Times New Roman" pitchFamily="18" charset="0"/>
              <a:cs typeface="Times New Roman" pitchFamily="18" charset="0"/>
            </a:endParaRPr>
          </a:p>
          <a:p>
            <a:r>
              <a:rPr lang="en-US" dirty="0" smtClean="0">
                <a:latin typeface="Times New Roman" pitchFamily="18" charset="0"/>
                <a:cs typeface="Times New Roman" pitchFamily="18" charset="0"/>
              </a:rPr>
              <a:t>You plan a little.</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You specify, design and implement a little.</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You integrate, test and run.</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You obtain feedback before the next iteration.</a:t>
            </a:r>
            <a:endParaRPr lang="en-IN"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The end result is that you incrementally produce the system being designed. While you do this you explicitly identify the risks to your design/system Unified Process front and deal with them early on (see later). </a:t>
            </a:r>
            <a:endParaRPr lang="en-IN"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a:buNone/>
            </a:pPr>
            <a:r>
              <a:rPr lang="en-US" sz="2800" i="1" dirty="0" smtClean="0">
                <a:solidFill>
                  <a:srgbClr val="FF0000"/>
                </a:solidFill>
                <a:latin typeface="Times New Roman" pitchFamily="18" charset="0"/>
                <a:cs typeface="Times New Roman" pitchFamily="18" charset="0"/>
              </a:rPr>
              <a:t>Use-Case Driven</a:t>
            </a:r>
            <a:endParaRPr lang="en-IN" sz="2800" dirty="0" smtClean="0">
              <a:solidFill>
                <a:srgbClr val="FF0000"/>
              </a:solidFill>
              <a:latin typeface="Times New Roman" pitchFamily="18" charset="0"/>
              <a:cs typeface="Times New Roman" pitchFamily="18" charset="0"/>
            </a:endParaRPr>
          </a:p>
          <a:p>
            <a:r>
              <a:rPr lang="en-US" sz="2000" dirty="0" smtClean="0">
                <a:latin typeface="Times New Roman" pitchFamily="18" charset="0"/>
                <a:cs typeface="Times New Roman" pitchFamily="18" charset="0"/>
              </a:rPr>
              <a:t>The Unified Process is also use-case driven. Remember from earlier that use-cases help identify who uses the system and what they need to do with the system (i.e., the top-level functionality). Thus, use-cases help identify the primary requirements of the system. One problem with many traditional approaches is that once the requirements have been identified there is no traceability of those requirements through the design to the implementation.</a:t>
            </a:r>
          </a:p>
          <a:p>
            <a:r>
              <a:rPr lang="en-US" sz="2000" dirty="0" smtClean="0">
                <a:latin typeface="Times New Roman" pitchFamily="18" charset="0"/>
                <a:cs typeface="Times New Roman" pitchFamily="18" charset="0"/>
              </a:rPr>
              <a:t>In the Unified Process, use-cases are used to ensure that the evolving design is always relevant to what the user required. Indeed, the use cases act as the one consistent thread throughout the whole of the development process as illustrated in Figure 11.3.</a:t>
            </a:r>
          </a:p>
          <a:p>
            <a:r>
              <a:rPr lang="en-US" sz="2000" dirty="0" smtClean="0">
                <a:latin typeface="Times New Roman" pitchFamily="18" charset="0"/>
                <a:cs typeface="Times New Roman" pitchFamily="18" charset="0"/>
              </a:rPr>
              <a:t> For example, at the beginning of the design phase, one of the two primary inputs to this phase is the use-case model. Then explicitly within the design model are use-case realizations that illustrate how each use-case is supported by the design</a:t>
            </a:r>
            <a:endParaRPr lang="en-IN" sz="20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Grp="1" noChangeAspect="1" noChangeArrowheads="1"/>
          </p:cNvPicPr>
          <p:nvPr>
            <p:ph idx="1"/>
          </p:nvPr>
        </p:nvPicPr>
        <p:blipFill>
          <a:blip r:embed="rId2" cstate="print"/>
          <a:srcRect/>
          <a:stretch>
            <a:fillRect/>
          </a:stretch>
        </p:blipFill>
        <p:spPr bwMode="auto">
          <a:xfrm>
            <a:off x="457200" y="762001"/>
            <a:ext cx="8686800" cy="4934744"/>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pPr>
              <a:buNone/>
            </a:pPr>
            <a:r>
              <a:rPr lang="en-US" sz="3900" dirty="0" smtClean="0">
                <a:solidFill>
                  <a:srgbClr val="FF0000"/>
                </a:solidFill>
                <a:latin typeface="Times New Roman" pitchFamily="18" charset="0"/>
                <a:cs typeface="Times New Roman" pitchFamily="18" charset="0"/>
              </a:rPr>
              <a:t>To summaries the role of use-cases they:</a:t>
            </a:r>
            <a:endParaRPr lang="en-IN" sz="3900" dirty="0" smtClean="0">
              <a:solidFill>
                <a:srgbClr val="FF0000"/>
              </a:solidFill>
              <a:latin typeface="Times New Roman" pitchFamily="18" charset="0"/>
              <a:cs typeface="Times New Roman" pitchFamily="18" charset="0"/>
            </a:endParaRPr>
          </a:p>
          <a:p>
            <a:r>
              <a:rPr lang="en-US" sz="2200" dirty="0" smtClean="0">
                <a:latin typeface="Times New Roman" pitchFamily="18" charset="0"/>
                <a:cs typeface="Times New Roman" pitchFamily="18" charset="0"/>
              </a:rPr>
              <a:t>Identify the users of the system and their requirements.</a:t>
            </a:r>
            <a:endParaRPr lang="en-IN"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Aid in the creation and validation of the system’s architecture.</a:t>
            </a:r>
            <a:endParaRPr lang="en-IN"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Help produce the definition of test cases and procedures.</a:t>
            </a:r>
            <a:endParaRPr lang="en-IN"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Direct the planning of iterations.</a:t>
            </a:r>
            <a:endParaRPr lang="en-IN"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Drive the creation of user documentation.</a:t>
            </a:r>
            <a:endParaRPr lang="en-IN"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Direct the deployment of system.</a:t>
            </a:r>
            <a:endParaRPr lang="en-IN"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Synchronies the content of different models.</a:t>
            </a:r>
            <a:endParaRPr lang="en-IN"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Drive traceability throughout models.</a:t>
            </a:r>
            <a:endParaRPr lang="en-IN" sz="2200" dirty="0" smtClean="0">
              <a:latin typeface="Times New Roman" pitchFamily="18" charset="0"/>
              <a:cs typeface="Times New Roman" pitchFamily="18" charset="0"/>
            </a:endParaRPr>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3600" b="1" dirty="0" smtClean="0">
                <a:latin typeface="Times New Roman" pitchFamily="18" charset="0"/>
                <a:cs typeface="Times New Roman" pitchFamily="18" charset="0"/>
              </a:rPr>
              <a:t>Lifecycle Phases</a:t>
            </a:r>
            <a:r>
              <a:rPr lang="en-IN" b="1" dirty="0" smtClean="0"/>
              <a:t/>
            </a:r>
            <a:br>
              <a:rPr lang="en-IN" b="1" dirty="0" smtClean="0"/>
            </a:br>
            <a:endParaRPr lang="en-IN" dirty="0"/>
          </a:p>
        </p:txBody>
      </p:sp>
      <p:sp>
        <p:nvSpPr>
          <p:cNvPr id="3" name="Content Placeholder 2"/>
          <p:cNvSpPr>
            <a:spLocks noGrp="1"/>
          </p:cNvSpPr>
          <p:nvPr>
            <p:ph idx="1"/>
          </p:nvPr>
        </p:nvSpPr>
        <p:spPr>
          <a:xfrm>
            <a:off x="457200" y="1066800"/>
            <a:ext cx="8229600" cy="4525963"/>
          </a:xfrm>
        </p:spPr>
        <p:txBody>
          <a:bodyPr>
            <a:normAutofit fontScale="85000" lnSpcReduction="10000"/>
          </a:bodyPr>
          <a:lstStyle/>
          <a:p>
            <a:pPr>
              <a:buNone/>
            </a:pPr>
            <a:r>
              <a:rPr lang="en-US" dirty="0" smtClean="0">
                <a:latin typeface="Times New Roman" pitchFamily="18" charset="0"/>
                <a:cs typeface="Times New Roman" pitchFamily="18" charset="0"/>
              </a:rPr>
              <a:t>The Unified Process is comprised of four distinct phases. These four phases (presented in Figure 11.4) focus on different aspects of the design process. The four phases are Inception, Elaboration, Construction and Transition.</a:t>
            </a:r>
          </a:p>
          <a:p>
            <a:pPr>
              <a:buNone/>
            </a:pPr>
            <a:r>
              <a:rPr lang="en-US" dirty="0" smtClean="0">
                <a:solidFill>
                  <a:srgbClr val="FF0000"/>
                </a:solidFill>
                <a:latin typeface="Times New Roman" pitchFamily="18" charset="0"/>
                <a:cs typeface="Times New Roman" pitchFamily="18" charset="0"/>
              </a:rPr>
              <a:t>The four phases and their roles are outlined below.</a:t>
            </a:r>
            <a:endParaRPr lang="en-IN" dirty="0" smtClean="0">
              <a:solidFill>
                <a:srgbClr val="FF0000"/>
              </a:solidFill>
              <a:latin typeface="Times New Roman" pitchFamily="18" charset="0"/>
              <a:cs typeface="Times New Roman" pitchFamily="18" charset="0"/>
            </a:endParaRPr>
          </a:p>
          <a:p>
            <a:r>
              <a:rPr lang="en-US" i="1" dirty="0" smtClean="0">
                <a:latin typeface="Times New Roman" pitchFamily="18" charset="0"/>
                <a:cs typeface="Times New Roman" pitchFamily="18" charset="0"/>
              </a:rPr>
              <a:t>Inception</a:t>
            </a:r>
            <a:r>
              <a:rPr lang="en-US" dirty="0" smtClean="0">
                <a:latin typeface="Times New Roman" pitchFamily="18" charset="0"/>
                <a:cs typeface="Times New Roman" pitchFamily="18" charset="0"/>
              </a:rPr>
              <a:t>. This phase defines the scope of the project and develops the business case for the system. It also establishes the feasibility of the system to be built. Various prototypes may be developed during this phase to ensure the feasibility of the proposal</a:t>
            </a:r>
            <a:endParaRPr lang="en-IN"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cstate="print"/>
          <a:srcRect/>
          <a:stretch>
            <a:fillRect/>
          </a:stretch>
        </p:blipFill>
        <p:spPr bwMode="auto">
          <a:xfrm>
            <a:off x="685800" y="5105400"/>
            <a:ext cx="7924800" cy="1476375"/>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85000" lnSpcReduction="10000"/>
          </a:bodyPr>
          <a:lstStyle/>
          <a:p>
            <a:r>
              <a:rPr lang="en-US" i="1" dirty="0" smtClean="0">
                <a:solidFill>
                  <a:srgbClr val="FF0000"/>
                </a:solidFill>
                <a:latin typeface="Times New Roman" pitchFamily="18" charset="0"/>
                <a:cs typeface="Times New Roman" pitchFamily="18" charset="0"/>
              </a:rPr>
              <a:t>Elaboration</a:t>
            </a:r>
            <a:r>
              <a:rPr lang="en-US" dirty="0" smtClean="0">
                <a:latin typeface="Times New Roman" pitchFamily="18" charset="0"/>
                <a:cs typeface="Times New Roman" pitchFamily="18" charset="0"/>
              </a:rPr>
              <a:t>. This phase captures the functional requirements of the system. It should also specify any non-functional requirements to ensure that they are taken into account. The other primary task for this phase is the creation of the architecture to be used throughout the remainder of the Unified Process.</a:t>
            </a:r>
            <a:endParaRPr lang="en-IN" dirty="0" smtClean="0">
              <a:latin typeface="Times New Roman" pitchFamily="18" charset="0"/>
              <a:cs typeface="Times New Roman" pitchFamily="18" charset="0"/>
            </a:endParaRPr>
          </a:p>
          <a:p>
            <a:r>
              <a:rPr lang="en-US" i="1" dirty="0" smtClean="0">
                <a:solidFill>
                  <a:srgbClr val="FF0000"/>
                </a:solidFill>
                <a:latin typeface="Times New Roman" pitchFamily="18" charset="0"/>
                <a:cs typeface="Times New Roman" pitchFamily="18" charset="0"/>
              </a:rPr>
              <a:t>Construction. </a:t>
            </a:r>
            <a:r>
              <a:rPr lang="en-US" dirty="0" smtClean="0">
                <a:latin typeface="Times New Roman" pitchFamily="18" charset="0"/>
                <a:cs typeface="Times New Roman" pitchFamily="18" charset="0"/>
              </a:rPr>
              <a:t>This phase concentrates on completing the analysis of the system, performing the majority of the design and the implementation of the system. That is, it essentially builds the product.</a:t>
            </a:r>
            <a:endParaRPr lang="en-IN" dirty="0" smtClean="0">
              <a:latin typeface="Times New Roman" pitchFamily="18" charset="0"/>
              <a:cs typeface="Times New Roman" pitchFamily="18" charset="0"/>
            </a:endParaRPr>
          </a:p>
          <a:p>
            <a:r>
              <a:rPr lang="en-US" i="1" dirty="0" smtClean="0">
                <a:solidFill>
                  <a:srgbClr val="FF0000"/>
                </a:solidFill>
                <a:latin typeface="Times New Roman" pitchFamily="18" charset="0"/>
                <a:cs typeface="Times New Roman" pitchFamily="18" charset="0"/>
              </a:rPr>
              <a:t>Transition</a:t>
            </a:r>
            <a:r>
              <a:rPr lang="en-US" dirty="0" smtClean="0">
                <a:solidFill>
                  <a:srgbClr val="FF0000"/>
                </a:solidFill>
                <a:latin typeface="Times New Roman" pitchFamily="18" charset="0"/>
                <a:cs typeface="Times New Roman" pitchFamily="18" charset="0"/>
              </a:rPr>
              <a:t>. </a:t>
            </a:r>
            <a:r>
              <a:rPr lang="en-US" dirty="0" smtClean="0">
                <a:latin typeface="Times New Roman" pitchFamily="18" charset="0"/>
                <a:cs typeface="Times New Roman" pitchFamily="18" charset="0"/>
              </a:rPr>
              <a:t>The transition phase moves the system into the users environment.</a:t>
            </a:r>
            <a:endParaRPr lang="en-IN"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This involves activities such as deploying the system and maintaining it.</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cstate="print"/>
          <a:srcRect/>
          <a:stretch>
            <a:fillRect/>
          </a:stretch>
        </p:blipFill>
        <p:spPr bwMode="auto">
          <a:xfrm>
            <a:off x="0" y="304800"/>
            <a:ext cx="8839200" cy="4667250"/>
          </a:xfrm>
          <a:prstGeom prst="rect">
            <a:avLst/>
          </a:prstGeom>
          <a:noFill/>
          <a:ln w="9525">
            <a:noFill/>
            <a:miter lim="800000"/>
            <a:headEnd/>
            <a:tailEnd/>
          </a:ln>
        </p:spPr>
      </p:pic>
      <p:sp>
        <p:nvSpPr>
          <p:cNvPr id="5" name="Rectangle 4"/>
          <p:cNvSpPr/>
          <p:nvPr/>
        </p:nvSpPr>
        <p:spPr>
          <a:xfrm>
            <a:off x="381000" y="5334000"/>
            <a:ext cx="8305800" cy="1323439"/>
          </a:xfrm>
          <a:prstGeom prst="rect">
            <a:avLst/>
          </a:prstGeom>
        </p:spPr>
        <p:txBody>
          <a:bodyPr wrap="square">
            <a:spAutoFit/>
          </a:bodyPr>
          <a:lstStyle/>
          <a:p>
            <a:r>
              <a:rPr lang="en-US" sz="2000" dirty="0" smtClean="0">
                <a:latin typeface="Times New Roman" pitchFamily="18" charset="0"/>
                <a:cs typeface="Times New Roman" pitchFamily="18" charset="0"/>
              </a:rPr>
              <a:t>Each phase has a set of major milestones that are used to judge the progress of the overall Unified Process (of course, with each phase there are numerous minor milestones to be achieved). The primary milestones (or products) of the four phases are illustrated in Figure 11.5.</a:t>
            </a:r>
            <a:endParaRPr lang="en-IN" sz="2000"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8458200" cy="5334000"/>
          </a:xfrm>
        </p:spPr>
        <p:txBody>
          <a:bodyPr>
            <a:normAutofit fontScale="55000" lnSpcReduction="20000"/>
          </a:bodyPr>
          <a:lstStyle/>
          <a:p>
            <a:pPr>
              <a:buNone/>
            </a:pPr>
            <a:r>
              <a:rPr lang="en-US" sz="3800" dirty="0" smtClean="0">
                <a:latin typeface="Times New Roman" pitchFamily="18" charset="0"/>
                <a:cs typeface="Times New Roman" pitchFamily="18" charset="0"/>
              </a:rPr>
              <a:t>A milestone is the culmination of a phase and is comprised of a set of artifacts (such as specific models) that are the product of the disciplines (and thus activities) in that phase. The primary milestones for each phase are:</a:t>
            </a:r>
            <a:endParaRPr lang="en-IN" sz="3800" dirty="0" smtClean="0">
              <a:latin typeface="Times New Roman" pitchFamily="18" charset="0"/>
              <a:cs typeface="Times New Roman" pitchFamily="18" charset="0"/>
            </a:endParaRPr>
          </a:p>
          <a:p>
            <a:r>
              <a:rPr lang="en-US" sz="3800" i="1" dirty="0" smtClean="0">
                <a:solidFill>
                  <a:srgbClr val="FF0000"/>
                </a:solidFill>
                <a:latin typeface="Times New Roman" pitchFamily="18" charset="0"/>
                <a:cs typeface="Times New Roman" pitchFamily="18" charset="0"/>
              </a:rPr>
              <a:t>Inception</a:t>
            </a:r>
            <a:r>
              <a:rPr lang="en-US" sz="3800" dirty="0" smtClean="0">
                <a:solidFill>
                  <a:srgbClr val="FF0000"/>
                </a:solidFill>
                <a:latin typeface="Times New Roman" pitchFamily="18" charset="0"/>
                <a:cs typeface="Times New Roman" pitchFamily="18" charset="0"/>
              </a:rPr>
              <a:t>. </a:t>
            </a:r>
            <a:r>
              <a:rPr lang="en-US" sz="3800" dirty="0" smtClean="0">
                <a:latin typeface="Times New Roman" pitchFamily="18" charset="0"/>
                <a:cs typeface="Times New Roman" pitchFamily="18" charset="0"/>
              </a:rPr>
              <a:t>The output of this phase is the vision for the system. This includes a very simplified use-case model (to identify what the primary functionality of the system is), a very tentative architecture and the most important or significant risks are identified and the elaboration phase is planned.</a:t>
            </a:r>
            <a:endParaRPr lang="en-IN" sz="3800" dirty="0" smtClean="0">
              <a:latin typeface="Times New Roman" pitchFamily="18" charset="0"/>
              <a:cs typeface="Times New Roman" pitchFamily="18" charset="0"/>
            </a:endParaRPr>
          </a:p>
          <a:p>
            <a:r>
              <a:rPr lang="en-US" sz="3800" i="1" dirty="0" smtClean="0">
                <a:solidFill>
                  <a:srgbClr val="FF0000"/>
                </a:solidFill>
                <a:latin typeface="Times New Roman" pitchFamily="18" charset="0"/>
                <a:cs typeface="Times New Roman" pitchFamily="18" charset="0"/>
              </a:rPr>
              <a:t>Elaboration</a:t>
            </a:r>
            <a:r>
              <a:rPr lang="en-US" sz="3800" dirty="0" smtClean="0">
                <a:solidFill>
                  <a:srgbClr val="FF0000"/>
                </a:solidFill>
                <a:latin typeface="Times New Roman" pitchFamily="18" charset="0"/>
                <a:cs typeface="Times New Roman" pitchFamily="18" charset="0"/>
              </a:rPr>
              <a:t>. </a:t>
            </a:r>
            <a:r>
              <a:rPr lang="en-US" sz="3800" dirty="0" smtClean="0">
                <a:latin typeface="Times New Roman" pitchFamily="18" charset="0"/>
                <a:cs typeface="Times New Roman" pitchFamily="18" charset="0"/>
              </a:rPr>
              <a:t>The primary output of this phase is the architecture along with a detailed use-case model and a set of plans for the construction phase.</a:t>
            </a:r>
            <a:endParaRPr lang="en-IN" sz="3800" dirty="0" smtClean="0">
              <a:latin typeface="Times New Roman" pitchFamily="18" charset="0"/>
              <a:cs typeface="Times New Roman" pitchFamily="18" charset="0"/>
            </a:endParaRPr>
          </a:p>
          <a:p>
            <a:r>
              <a:rPr lang="en-US" sz="3800" i="1" dirty="0" smtClean="0">
                <a:solidFill>
                  <a:srgbClr val="FF0000"/>
                </a:solidFill>
                <a:latin typeface="Times New Roman" pitchFamily="18" charset="0"/>
                <a:cs typeface="Times New Roman" pitchFamily="18" charset="0"/>
              </a:rPr>
              <a:t>Construction</a:t>
            </a:r>
            <a:r>
              <a:rPr lang="en-US" sz="3800" dirty="0" smtClean="0">
                <a:solidFill>
                  <a:srgbClr val="FF0000"/>
                </a:solidFill>
                <a:latin typeface="Times New Roman" pitchFamily="18" charset="0"/>
                <a:cs typeface="Times New Roman" pitchFamily="18" charset="0"/>
              </a:rPr>
              <a:t>. </a:t>
            </a:r>
            <a:r>
              <a:rPr lang="en-US" sz="3800" dirty="0" smtClean="0">
                <a:latin typeface="Times New Roman" pitchFamily="18" charset="0"/>
                <a:cs typeface="Times New Roman" pitchFamily="18" charset="0"/>
              </a:rPr>
              <a:t>The end result of this phase is the implemented product that includes the software as well as the design and associated models. The product may not be without defects as some further work has yet to be completed in the transition phase.</a:t>
            </a:r>
            <a:endParaRPr lang="en-IN" sz="3800" dirty="0" smtClean="0">
              <a:latin typeface="Times New Roman" pitchFamily="18" charset="0"/>
              <a:cs typeface="Times New Roman" pitchFamily="18" charset="0"/>
            </a:endParaRPr>
          </a:p>
          <a:p>
            <a:r>
              <a:rPr lang="en-US" sz="3800" i="1" dirty="0" smtClean="0">
                <a:solidFill>
                  <a:srgbClr val="FF0000"/>
                </a:solidFill>
                <a:latin typeface="Times New Roman" pitchFamily="18" charset="0"/>
                <a:cs typeface="Times New Roman" pitchFamily="18" charset="0"/>
              </a:rPr>
              <a:t>Transition</a:t>
            </a:r>
            <a:r>
              <a:rPr lang="en-US" sz="3800" dirty="0" smtClean="0">
                <a:solidFill>
                  <a:srgbClr val="FF0000"/>
                </a:solidFill>
                <a:latin typeface="Times New Roman" pitchFamily="18" charset="0"/>
                <a:cs typeface="Times New Roman" pitchFamily="18" charset="0"/>
              </a:rPr>
              <a:t>. </a:t>
            </a:r>
            <a:r>
              <a:rPr lang="en-US" sz="3800" dirty="0" smtClean="0">
                <a:latin typeface="Times New Roman" pitchFamily="18" charset="0"/>
                <a:cs typeface="Times New Roman" pitchFamily="18" charset="0"/>
              </a:rPr>
              <a:t>The transition phase is the last phase of a cycle. The major milestone met by this phase is the final production quality release of the system.</a:t>
            </a:r>
            <a:endParaRPr lang="en-IN" sz="3800" dirty="0" smtClean="0">
              <a:latin typeface="Times New Roman" pitchFamily="18" charset="0"/>
              <a:cs typeface="Times New Roman" pitchFamily="18" charset="0"/>
            </a:endParaRPr>
          </a:p>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3600" b="1" dirty="0">
                <a:solidFill>
                  <a:srgbClr val="FF0000"/>
                </a:solidFill>
                <a:latin typeface="Times New Roman" pitchFamily="18" charset="0"/>
                <a:cs typeface="Times New Roman" pitchFamily="18" charset="0"/>
              </a:rPr>
              <a:t>Phases, Iterations and Disciplines</a:t>
            </a:r>
            <a:r>
              <a:rPr lang="en-IN" b="1" dirty="0"/>
              <a:t/>
            </a:r>
            <a:br>
              <a:rPr lang="en-IN" b="1" dirty="0"/>
            </a:br>
            <a:endParaRPr lang="en-IN" dirty="0"/>
          </a:p>
        </p:txBody>
      </p:sp>
      <p:sp>
        <p:nvSpPr>
          <p:cNvPr id="3" name="Content Placeholder 2"/>
          <p:cNvSpPr>
            <a:spLocks noGrp="1"/>
          </p:cNvSpPr>
          <p:nvPr>
            <p:ph idx="1"/>
          </p:nvPr>
        </p:nvSpPr>
        <p:spPr>
          <a:xfrm>
            <a:off x="457200" y="1066800"/>
            <a:ext cx="8229600" cy="5059363"/>
          </a:xfrm>
        </p:spPr>
        <p:txBody>
          <a:bodyPr>
            <a:normAutofit fontScale="77500" lnSpcReduction="20000"/>
          </a:bodyPr>
          <a:lstStyle/>
          <a:p>
            <a:r>
              <a:rPr lang="en-US" dirty="0" smtClean="0">
                <a:latin typeface="Times New Roman" pitchFamily="18" charset="0"/>
                <a:cs typeface="Times New Roman" pitchFamily="18" charset="0"/>
              </a:rPr>
              <a:t>There can be confusion over the relationship between phases and disciplines. Not least because a single discipline can cross (or be involved in) more than one phase (see Figure 11.6). The various phases highlight the satisfaction of these milestones. For example, during the Elaboration phase, part of the requirements, analysis, design and even implementation disciplines may act. </a:t>
            </a:r>
          </a:p>
          <a:p>
            <a:r>
              <a:rPr lang="en-US" dirty="0" smtClean="0">
                <a:latin typeface="Times New Roman" pitchFamily="18" charset="0"/>
                <a:cs typeface="Times New Roman" pitchFamily="18" charset="0"/>
              </a:rPr>
              <a:t>The five disciplines in the Unified Process are Requirements, Analysis, Design, Implementation and Test (as indicated in Figure 11.6). </a:t>
            </a:r>
          </a:p>
          <a:p>
            <a:r>
              <a:rPr lang="en-US" dirty="0" smtClean="0">
                <a:latin typeface="Times New Roman" pitchFamily="18" charset="0"/>
                <a:cs typeface="Times New Roman" pitchFamily="18" charset="0"/>
              </a:rPr>
              <a:t>Note that the Design, Implementation and Test disciplines are broken down in the Unified Process. This is to indicate that elements of each discipline may take place earlier than the core parts of the discipline</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srcRect/>
          <a:stretch>
            <a:fillRect/>
          </a:stretch>
        </p:blipFill>
        <p:spPr bwMode="auto">
          <a:xfrm>
            <a:off x="685801" y="457200"/>
            <a:ext cx="8153400" cy="60960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smtClean="0">
                <a:latin typeface="Times New Roman" pitchFamily="18" charset="0"/>
                <a:cs typeface="Times New Roman" pitchFamily="18" charset="0"/>
              </a:rPr>
              <a:t>The focus of each discipline is described below (their primary products are illustrated in Figure 11.7).</a:t>
            </a:r>
            <a:r>
              <a:rPr lang="en-IN" sz="2400" dirty="0" smtClean="0">
                <a:latin typeface="Times New Roman" pitchFamily="18" charset="0"/>
                <a:cs typeface="Times New Roman" pitchFamily="18" charset="0"/>
              </a:rPr>
              <a:t/>
            </a:r>
            <a:br>
              <a:rPr lang="en-IN" sz="2400" dirty="0" smtClean="0">
                <a:latin typeface="Times New Roman" pitchFamily="18" charset="0"/>
                <a:cs typeface="Times New Roman" pitchFamily="18" charset="0"/>
              </a:rPr>
            </a:br>
            <a:endParaRPr lang="en-IN" sz="2400" dirty="0">
              <a:latin typeface="Times New Roman" pitchFamily="18" charset="0"/>
              <a:cs typeface="Times New Roman" pitchFamily="18" charset="0"/>
            </a:endParaRPr>
          </a:p>
        </p:txBody>
      </p:sp>
      <p:pic>
        <p:nvPicPr>
          <p:cNvPr id="2050" name="Picture 2"/>
          <p:cNvPicPr>
            <a:picLocks noGrp="1" noChangeAspect="1" noChangeArrowheads="1"/>
          </p:cNvPicPr>
          <p:nvPr>
            <p:ph idx="1"/>
          </p:nvPr>
        </p:nvPicPr>
        <p:blipFill>
          <a:blip r:embed="rId2" cstate="print"/>
          <a:srcRect/>
          <a:stretch>
            <a:fillRect/>
          </a:stretch>
        </p:blipFill>
        <p:spPr bwMode="auto">
          <a:xfrm>
            <a:off x="671512" y="1524000"/>
            <a:ext cx="7800975" cy="4596606"/>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70000" lnSpcReduction="20000"/>
          </a:bodyPr>
          <a:lstStyle/>
          <a:p>
            <a:r>
              <a:rPr lang="en-US" i="1" dirty="0" smtClean="0">
                <a:solidFill>
                  <a:srgbClr val="FF0000"/>
                </a:solidFill>
                <a:latin typeface="Times New Roman" pitchFamily="18" charset="0"/>
                <a:cs typeface="Times New Roman" pitchFamily="18" charset="0"/>
              </a:rPr>
              <a:t>Requirements</a:t>
            </a:r>
            <a:r>
              <a:rPr lang="en-US" dirty="0" smtClean="0">
                <a:solidFill>
                  <a:srgbClr val="FF0000"/>
                </a:solidFill>
                <a:latin typeface="Times New Roman" pitchFamily="18" charset="0"/>
                <a:cs typeface="Times New Roman" pitchFamily="18" charset="0"/>
              </a:rPr>
              <a:t>. </a:t>
            </a:r>
            <a:r>
              <a:rPr lang="en-US" dirty="0" smtClean="0">
                <a:latin typeface="Times New Roman" pitchFamily="18" charset="0"/>
                <a:cs typeface="Times New Roman" pitchFamily="18" charset="0"/>
              </a:rPr>
              <a:t>This discipline focuses on the activities that allow the functional and non-functional requirements of the system to be identified. The primary product of this discipline is the use-case model.</a:t>
            </a:r>
            <a:endParaRPr lang="en-IN" dirty="0" smtClean="0">
              <a:latin typeface="Times New Roman" pitchFamily="18" charset="0"/>
              <a:cs typeface="Times New Roman" pitchFamily="18" charset="0"/>
            </a:endParaRPr>
          </a:p>
          <a:p>
            <a:r>
              <a:rPr lang="en-US" i="1" dirty="0" smtClean="0">
                <a:solidFill>
                  <a:srgbClr val="FF0000"/>
                </a:solidFill>
                <a:latin typeface="Times New Roman" pitchFamily="18" charset="0"/>
                <a:cs typeface="Times New Roman" pitchFamily="18" charset="0"/>
              </a:rPr>
              <a:t>Analysis</a:t>
            </a:r>
            <a:r>
              <a:rPr lang="en-US" dirty="0" smtClean="0">
                <a:solidFill>
                  <a:srgbClr val="FF0000"/>
                </a:solidFill>
                <a:latin typeface="Times New Roman" pitchFamily="18" charset="0"/>
                <a:cs typeface="Times New Roman" pitchFamily="18" charset="0"/>
              </a:rPr>
              <a:t>. </a:t>
            </a:r>
            <a:r>
              <a:rPr lang="en-US" dirty="0" smtClean="0">
                <a:latin typeface="Times New Roman" pitchFamily="18" charset="0"/>
                <a:cs typeface="Times New Roman" pitchFamily="18" charset="0"/>
              </a:rPr>
              <a:t>The aim of this discipline is to restructure the requirements identified in the requirements discipline in terms of the software to be built rather than in the users less precise terms. It can be seen as a first cut at a design; however, that is to miss the point of what this discipline aims to achieve.</a:t>
            </a:r>
            <a:endParaRPr lang="en-IN" dirty="0" smtClean="0">
              <a:latin typeface="Times New Roman" pitchFamily="18" charset="0"/>
              <a:cs typeface="Times New Roman" pitchFamily="18" charset="0"/>
            </a:endParaRPr>
          </a:p>
          <a:p>
            <a:r>
              <a:rPr lang="en-US" i="1" dirty="0" smtClean="0">
                <a:solidFill>
                  <a:srgbClr val="FF0000"/>
                </a:solidFill>
                <a:latin typeface="Times New Roman" pitchFamily="18" charset="0"/>
                <a:cs typeface="Times New Roman" pitchFamily="18" charset="0"/>
              </a:rPr>
              <a:t>Design</a:t>
            </a:r>
            <a:r>
              <a:rPr lang="en-US" dirty="0" smtClean="0">
                <a:solidFill>
                  <a:srgbClr val="FF0000"/>
                </a:solidFill>
                <a:latin typeface="Times New Roman" pitchFamily="18" charset="0"/>
                <a:cs typeface="Times New Roman" pitchFamily="18" charset="0"/>
              </a:rPr>
              <a:t>. </a:t>
            </a:r>
            <a:r>
              <a:rPr lang="en-US" dirty="0" smtClean="0">
                <a:latin typeface="Times New Roman" pitchFamily="18" charset="0"/>
                <a:cs typeface="Times New Roman" pitchFamily="18" charset="0"/>
              </a:rPr>
              <a:t>The design discipline produces the detailed design that will be implemented in the next discipline.</a:t>
            </a:r>
            <a:endParaRPr lang="en-IN" dirty="0" smtClean="0">
              <a:latin typeface="Times New Roman" pitchFamily="18" charset="0"/>
              <a:cs typeface="Times New Roman" pitchFamily="18" charset="0"/>
            </a:endParaRPr>
          </a:p>
          <a:p>
            <a:r>
              <a:rPr lang="en-US" i="1" dirty="0" smtClean="0">
                <a:solidFill>
                  <a:srgbClr val="FF0000"/>
                </a:solidFill>
                <a:latin typeface="Times New Roman" pitchFamily="18" charset="0"/>
                <a:cs typeface="Times New Roman" pitchFamily="18" charset="0"/>
              </a:rPr>
              <a:t>Implementation</a:t>
            </a:r>
            <a:r>
              <a:rPr lang="en-US" dirty="0" smtClean="0">
                <a:solidFill>
                  <a:srgbClr val="FF0000"/>
                </a:solidFill>
                <a:latin typeface="Times New Roman" pitchFamily="18" charset="0"/>
                <a:cs typeface="Times New Roman" pitchFamily="18" charset="0"/>
              </a:rPr>
              <a:t>. </a:t>
            </a:r>
            <a:r>
              <a:rPr lang="en-US" dirty="0" smtClean="0">
                <a:latin typeface="Times New Roman" pitchFamily="18" charset="0"/>
                <a:cs typeface="Times New Roman" pitchFamily="18" charset="0"/>
              </a:rPr>
              <a:t>This discipline represents the coding of the design in an appropriate programming language (for this book that is Java), the compilation, packaging, deployment and documentation of the software.</a:t>
            </a:r>
            <a:endParaRPr lang="en-IN" dirty="0" smtClean="0">
              <a:latin typeface="Times New Roman" pitchFamily="18" charset="0"/>
              <a:cs typeface="Times New Roman" pitchFamily="18" charset="0"/>
            </a:endParaRPr>
          </a:p>
          <a:p>
            <a:r>
              <a:rPr lang="en-US" i="1" dirty="0" smtClean="0">
                <a:solidFill>
                  <a:srgbClr val="FF0000"/>
                </a:solidFill>
                <a:latin typeface="Times New Roman" pitchFamily="18" charset="0"/>
                <a:cs typeface="Times New Roman" pitchFamily="18" charset="0"/>
              </a:rPr>
              <a:t>Test</a:t>
            </a:r>
            <a:r>
              <a:rPr lang="en-US" dirty="0" smtClean="0">
                <a:solidFill>
                  <a:srgbClr val="FF0000"/>
                </a:solidFill>
                <a:latin typeface="Times New Roman" pitchFamily="18" charset="0"/>
                <a:cs typeface="Times New Roman" pitchFamily="18" charset="0"/>
              </a:rPr>
              <a:t>. </a:t>
            </a:r>
            <a:r>
              <a:rPr lang="en-US" dirty="0" smtClean="0">
                <a:latin typeface="Times New Roman" pitchFamily="18" charset="0"/>
                <a:cs typeface="Times New Roman" pitchFamily="18" charset="0"/>
              </a:rPr>
              <a:t>The test discipline describes the activities to be carried out to test the software to ensure that it meets the users requirements, that it is reliable, etc.</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cstate="print"/>
          <a:srcRect/>
          <a:stretch>
            <a:fillRect/>
          </a:stretch>
        </p:blipFill>
        <p:spPr bwMode="auto">
          <a:xfrm>
            <a:off x="0" y="1828800"/>
            <a:ext cx="5400675" cy="3343275"/>
          </a:xfrm>
          <a:prstGeom prst="rect">
            <a:avLst/>
          </a:prstGeom>
          <a:noFill/>
          <a:ln w="9525">
            <a:noFill/>
            <a:miter lim="800000"/>
            <a:headEnd/>
            <a:tailEnd/>
          </a:ln>
        </p:spPr>
      </p:pic>
      <p:sp>
        <p:nvSpPr>
          <p:cNvPr id="5" name="Rectangle 4"/>
          <p:cNvSpPr/>
          <p:nvPr/>
        </p:nvSpPr>
        <p:spPr>
          <a:xfrm>
            <a:off x="5410200" y="762000"/>
            <a:ext cx="3581400" cy="2031325"/>
          </a:xfrm>
          <a:prstGeom prst="rect">
            <a:avLst/>
          </a:prstGeom>
        </p:spPr>
        <p:txBody>
          <a:bodyPr wrap="square">
            <a:spAutoFit/>
          </a:bodyPr>
          <a:lstStyle/>
          <a:p>
            <a:r>
              <a:rPr lang="en-US" dirty="0" smtClean="0">
                <a:latin typeface="Times New Roman" pitchFamily="18" charset="0"/>
                <a:cs typeface="Times New Roman" pitchFamily="18" charset="0"/>
              </a:rPr>
              <a:t>The Unified Process is a spiral (as indicated by its iterative and incremental nature). This is illustrated in Figure 11.8 (note as a phase moves around the spiral multiple iterations may occur; </a:t>
            </a:r>
          </a:p>
          <a:p>
            <a:endParaRPr lang="en-IN" dirty="0"/>
          </a:p>
        </p:txBody>
      </p:sp>
      <p:sp>
        <p:nvSpPr>
          <p:cNvPr id="6" name="Rectangle 5"/>
          <p:cNvSpPr/>
          <p:nvPr/>
        </p:nvSpPr>
        <p:spPr>
          <a:xfrm>
            <a:off x="5410200" y="2819400"/>
            <a:ext cx="3733800" cy="2031325"/>
          </a:xfrm>
          <a:prstGeom prst="rect">
            <a:avLst/>
          </a:prstGeom>
        </p:spPr>
        <p:txBody>
          <a:bodyPr wrap="square">
            <a:spAutoFit/>
          </a:bodyPr>
          <a:lstStyle/>
          <a:p>
            <a:r>
              <a:rPr lang="en-US" dirty="0" smtClean="0">
                <a:latin typeface="Times New Roman" pitchFamily="18" charset="0"/>
                <a:cs typeface="Times New Roman" pitchFamily="18" charset="0"/>
              </a:rPr>
              <a:t>Each phases moves around the various disciplines producing outputs that feed into the next phase. Each phase examines the requirements (to a greater or lesser extent). Each phase involves the analysis discipline, the design discipline and so on</a:t>
            </a:r>
            <a:endParaRPr lang="en-IN"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3600" b="1" dirty="0" smtClean="0">
                <a:solidFill>
                  <a:srgbClr val="FF0000"/>
                </a:solidFill>
                <a:latin typeface="Times New Roman" pitchFamily="18" charset="0"/>
                <a:cs typeface="Times New Roman" pitchFamily="18" charset="0"/>
              </a:rPr>
              <a:t>Modeling </a:t>
            </a:r>
            <a:r>
              <a:rPr lang="en-US" sz="3600" b="1" dirty="0">
                <a:solidFill>
                  <a:srgbClr val="FF0000"/>
                </a:solidFill>
                <a:latin typeface="Times New Roman" pitchFamily="18" charset="0"/>
                <a:cs typeface="Times New Roman" pitchFamily="18" charset="0"/>
              </a:rPr>
              <a:t>and the Unified Process</a:t>
            </a:r>
            <a:r>
              <a:rPr lang="en-IN" b="1" dirty="0"/>
              <a:t/>
            </a:r>
            <a:br>
              <a:rPr lang="en-IN" b="1" dirty="0"/>
            </a:br>
            <a:endParaRPr lang="en-IN" dirty="0"/>
          </a:p>
        </p:txBody>
      </p:sp>
      <p:sp>
        <p:nvSpPr>
          <p:cNvPr id="3" name="Content Placeholder 2"/>
          <p:cNvSpPr>
            <a:spLocks noGrp="1"/>
          </p:cNvSpPr>
          <p:nvPr>
            <p:ph idx="1"/>
          </p:nvPr>
        </p:nvSpPr>
        <p:spPr/>
        <p:txBody>
          <a:bodyPr>
            <a:normAutofit fontScale="85000" lnSpcReduction="10000"/>
          </a:bodyPr>
          <a:lstStyle/>
          <a:p>
            <a:r>
              <a:rPr lang="en-US" dirty="0" smtClean="0">
                <a:latin typeface="Times New Roman" pitchFamily="18" charset="0"/>
                <a:cs typeface="Times New Roman" pitchFamily="18" charset="0"/>
              </a:rPr>
              <a:t>It is a framework that encourages you to adapt it to your own needs.</a:t>
            </a:r>
          </a:p>
          <a:p>
            <a:r>
              <a:rPr lang="en-US" dirty="0" smtClean="0">
                <a:latin typeface="Times New Roman" pitchFamily="18" charset="0"/>
                <a:cs typeface="Times New Roman" pitchFamily="18" charset="0"/>
              </a:rPr>
              <a:t>The Unified Process actively encourages an iterative and incremental approach to software development (as illustrated in Figure 11.9). Indeed, it is one of the key elements of Unified Process.</a:t>
            </a:r>
          </a:p>
          <a:p>
            <a:r>
              <a:rPr lang="en-US" dirty="0" smtClean="0">
                <a:latin typeface="Times New Roman" pitchFamily="18" charset="0"/>
                <a:cs typeface="Times New Roman" pitchFamily="18" charset="0"/>
              </a:rPr>
              <a:t>There is nothing in the Unified Process that assumes that </a:t>
            </a:r>
            <a:r>
              <a:rPr lang="en-US" i="1" dirty="0" smtClean="0">
                <a:latin typeface="Times New Roman" pitchFamily="18" charset="0"/>
                <a:cs typeface="Times New Roman" pitchFamily="18" charset="0"/>
              </a:rPr>
              <a:t>all </a:t>
            </a:r>
            <a:r>
              <a:rPr lang="en-US" dirty="0" smtClean="0">
                <a:latin typeface="Times New Roman" pitchFamily="18" charset="0"/>
                <a:cs typeface="Times New Roman" pitchFamily="18" charset="0"/>
              </a:rPr>
              <a:t>the modeling must be done upfront. Indeed, if you adopt an incremental and iterative style, then each iteration will generate its own set of models. </a:t>
            </a:r>
            <a:endParaRPr lang="en-IN"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cstate="print"/>
          <a:srcRect/>
          <a:stretch>
            <a:fillRect/>
          </a:stretch>
        </p:blipFill>
        <p:spPr bwMode="auto">
          <a:xfrm>
            <a:off x="304800" y="609600"/>
            <a:ext cx="8534400" cy="5387181"/>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ctr" rtl="0">
              <a:spcBef>
                <a:spcPct val="0"/>
              </a:spcBef>
            </a:pPr>
            <a:r>
              <a:rPr lang="en-US" sz="3600" b="1" dirty="0">
                <a:solidFill>
                  <a:srgbClr val="FF0000"/>
                </a:solidFill>
                <a:latin typeface="Times New Roman" pitchFamily="18" charset="0"/>
                <a:cs typeface="Times New Roman" pitchFamily="18" charset="0"/>
              </a:rPr>
              <a:t>FDD and RUP</a:t>
            </a:r>
            <a:r>
              <a:rPr lang="en-IN" sz="3600" b="1" dirty="0">
                <a:latin typeface="Times New Roman" pitchFamily="18" charset="0"/>
                <a:cs typeface="Times New Roman" pitchFamily="18" charset="0"/>
              </a:rPr>
              <a:t/>
            </a:r>
            <a:br>
              <a:rPr lang="en-IN" sz="3600" b="1" dirty="0">
                <a:latin typeface="Times New Roman" pitchFamily="18" charset="0"/>
                <a:cs typeface="Times New Roman" pitchFamily="18" charset="0"/>
              </a:rPr>
            </a:b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Agile Modeling is not the only agile methodology that can be usefully applied to a software project that is employing the Unified Process</a:t>
            </a:r>
          </a:p>
          <a:p>
            <a:r>
              <a:rPr lang="en-US" sz="2400" dirty="0" smtClean="0">
                <a:latin typeface="Times New Roman" pitchFamily="18" charset="0"/>
                <a:cs typeface="Times New Roman" pitchFamily="18" charset="0"/>
              </a:rPr>
              <a:t>Feature-centric means that each iteration centers on the identification and realization of system features. A feature is a schedulable requirement associated with the activity used to realize it. These requirements may be user-related requirements, application behavior requirements or internal requirements. The features can then be grouped into work packages that can act as the basis of the planning required to monitor and manage the software development process.</a:t>
            </a:r>
            <a:endParaRPr lang="en-IN" sz="2400"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cstate="print"/>
          <a:srcRect/>
          <a:stretch>
            <a:fillRect/>
          </a:stretch>
        </p:blipFill>
        <p:spPr bwMode="auto">
          <a:xfrm>
            <a:off x="457200" y="762000"/>
            <a:ext cx="8382000" cy="5063331"/>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04800"/>
            <a:ext cx="8229600" cy="5592763"/>
          </a:xfrm>
        </p:spPr>
        <p:txBody>
          <a:bodyPr>
            <a:noAutofit/>
          </a:bodyPr>
          <a:lstStyle/>
          <a:p>
            <a:r>
              <a:rPr lang="en-US" sz="2000" dirty="0" smtClean="0">
                <a:latin typeface="Times New Roman" pitchFamily="18" charset="0"/>
                <a:cs typeface="Times New Roman" pitchFamily="18" charset="0"/>
              </a:rPr>
              <a:t>For example, earlier it was stated that the iterative approach within the </a:t>
            </a:r>
          </a:p>
          <a:p>
            <a:r>
              <a:rPr lang="en-US" sz="2000" dirty="0" smtClean="0">
                <a:latin typeface="Times New Roman" pitchFamily="18" charset="0"/>
                <a:cs typeface="Times New Roman" pitchFamily="18" charset="0"/>
              </a:rPr>
              <a:t>Unified Process essentially has the following steps (which actually look remarkably oriented towards the agile movement anyway):</a:t>
            </a:r>
            <a:endParaRPr lang="en-IN" sz="2000" dirty="0" smtClean="0">
              <a:latin typeface="Times New Roman" pitchFamily="18" charset="0"/>
              <a:cs typeface="Times New Roman" pitchFamily="18" charset="0"/>
            </a:endParaRPr>
          </a:p>
          <a:p>
            <a:pPr lvl="0"/>
            <a:r>
              <a:rPr lang="en-US" sz="2000" dirty="0" smtClean="0">
                <a:latin typeface="Times New Roman" pitchFamily="18" charset="0"/>
                <a:cs typeface="Times New Roman" pitchFamily="18" charset="0"/>
              </a:rPr>
              <a:t>You plan a little.</a:t>
            </a:r>
            <a:endParaRPr lang="en-IN" sz="2000" dirty="0" smtClean="0">
              <a:latin typeface="Times New Roman" pitchFamily="18" charset="0"/>
              <a:cs typeface="Times New Roman" pitchFamily="18" charset="0"/>
            </a:endParaRPr>
          </a:p>
          <a:p>
            <a:pPr lvl="0"/>
            <a:r>
              <a:rPr lang="en-US" sz="2000" dirty="0" smtClean="0">
                <a:latin typeface="Times New Roman" pitchFamily="18" charset="0"/>
                <a:cs typeface="Times New Roman" pitchFamily="18" charset="0"/>
              </a:rPr>
              <a:t>You specify, design and implement a little.</a:t>
            </a:r>
            <a:endParaRPr lang="en-IN" sz="2000" dirty="0" smtClean="0">
              <a:latin typeface="Times New Roman" pitchFamily="18" charset="0"/>
              <a:cs typeface="Times New Roman" pitchFamily="18" charset="0"/>
            </a:endParaRPr>
          </a:p>
          <a:p>
            <a:pPr lvl="0"/>
            <a:r>
              <a:rPr lang="en-US" sz="2000" dirty="0" smtClean="0">
                <a:latin typeface="Times New Roman" pitchFamily="18" charset="0"/>
                <a:cs typeface="Times New Roman" pitchFamily="18" charset="0"/>
              </a:rPr>
              <a:t>You integrate, test and run.</a:t>
            </a:r>
            <a:endParaRPr lang="en-IN" sz="2000" dirty="0" smtClean="0">
              <a:latin typeface="Times New Roman" pitchFamily="18" charset="0"/>
              <a:cs typeface="Times New Roman" pitchFamily="18" charset="0"/>
            </a:endParaRPr>
          </a:p>
          <a:p>
            <a:pPr lvl="0"/>
            <a:r>
              <a:rPr lang="en-US" sz="2000" dirty="0" smtClean="0">
                <a:latin typeface="Times New Roman" pitchFamily="18" charset="0"/>
                <a:cs typeface="Times New Roman" pitchFamily="18" charset="0"/>
              </a:rPr>
              <a:t>You obtain feedback before next iteration.</a:t>
            </a:r>
            <a:endParaRPr lang="en-IN"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The Feature-Driven Development process therefore essentially handles these steps. This is illustrated in Figure 11.10 where the design, implementation and test disciplines have been subsumed by the Feature-Driven Development process. Thus, we do not have a big up-front design, followed (possibly in parallel) by the implementation and then the testing. Rather we have iterations comprising planning, design, implementation and testing in an incremental and iterative fashion. Indeed, the typical approach is to have multiple tasks during which a bit of design, implementation and testing occur. To indicate that the iterations managed by the FDD process may be of different sizes, the boxes being subsumed by the FDD process are presented in different sizes</a:t>
            </a:r>
            <a:endParaRPr lang="en-IN" sz="2000"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spcBef>
                <a:spcPct val="0"/>
              </a:spcBef>
            </a:pPr>
            <a:r>
              <a:rPr lang="en-US" sz="3600" b="1" dirty="0">
                <a:solidFill>
                  <a:srgbClr val="FF0000"/>
                </a:solidFill>
                <a:latin typeface="Times New Roman" pitchFamily="18" charset="0"/>
                <a:cs typeface="Times New Roman" pitchFamily="18" charset="0"/>
              </a:rPr>
              <a:t>Agile Methods and Prince2</a:t>
            </a:r>
            <a:r>
              <a:rPr lang="en-IN" b="1" dirty="0"/>
              <a:t/>
            </a:r>
            <a:br>
              <a:rPr lang="en-IN" b="1" dirty="0"/>
            </a:br>
            <a:endParaRPr lang="en-IN" dirty="0"/>
          </a:p>
        </p:txBody>
      </p:sp>
      <p:sp>
        <p:nvSpPr>
          <p:cNvPr id="3" name="Content Placeholder 2"/>
          <p:cNvSpPr>
            <a:spLocks noGrp="1"/>
          </p:cNvSpPr>
          <p:nvPr>
            <p:ph idx="1"/>
          </p:nvPr>
        </p:nvSpPr>
        <p:spPr>
          <a:xfrm>
            <a:off x="457200" y="1219200"/>
            <a:ext cx="8229600" cy="4906963"/>
          </a:xfrm>
        </p:spPr>
        <p:txBody>
          <a:bodyPr>
            <a:normAutofit fontScale="70000" lnSpcReduction="20000"/>
          </a:bodyPr>
          <a:lstStyle/>
          <a:p>
            <a:r>
              <a:rPr lang="en-US" dirty="0" smtClean="0">
                <a:latin typeface="Times New Roman" pitchFamily="18" charset="0"/>
                <a:cs typeface="Times New Roman" pitchFamily="18" charset="0"/>
              </a:rPr>
              <a:t>The PRINCE2 method describes how a project is divided into manageable stages enabling efficient control of resources and regular progress monitoring through- out the project.</a:t>
            </a:r>
          </a:p>
          <a:p>
            <a:r>
              <a:rPr lang="en-US" dirty="0" smtClean="0">
                <a:latin typeface="Times New Roman" pitchFamily="18" charset="0"/>
                <a:cs typeface="Times New Roman" pitchFamily="18" charset="0"/>
              </a:rPr>
              <a:t>Project planning using PRINCE2 is product-based, which means the project plans are focused on delivering results and are not simply about planning when the various activities on the project will be done.</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Because an iterative or incremental approach may at first sight appear less controlled than an approach such as PRINCE2, some have perceived that this means that PRINCE2 and such approaches are inconsistent. However, this is not the case. Indeed, if you consider the emphasis of the Feature-Driven approach, then similarities with some aspects of PRINCE2 can immediately be seen. For example, product (or feature)-based planning, the involved partnership of users and developers and the strong emphasis on the underlying business need (or case).</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pPr>
              <a:buNone/>
            </a:pPr>
            <a:r>
              <a:rPr lang="en-US" sz="1800" dirty="0" smtClean="0">
                <a:latin typeface="Times New Roman" pitchFamily="18" charset="0"/>
                <a:cs typeface="Times New Roman" pitchFamily="18" charset="0"/>
              </a:rPr>
              <a:t>     Table 11.1 makes it clear that the iterative approach includes some project management content while in turn PRINCE2 maintains a view of the whole project (whereas the iterative approach plans out each iteration at the start of that iteration). In addition, the iterative approach fixes the length of an iteration in terms of time and then attempts to achieve a prioritized list of features. Some features may not be implemented in the time available and will “return to the pot” for the next iteration.</a:t>
            </a:r>
            <a:endParaRPr lang="en-IN" sz="1800" dirty="0" smtClean="0">
              <a:latin typeface="Times New Roman" pitchFamily="18" charset="0"/>
              <a:cs typeface="Times New Roman" pitchFamily="18" charset="0"/>
            </a:endParaRPr>
          </a:p>
          <a:p>
            <a:endParaRPr lang="en-IN" dirty="0"/>
          </a:p>
        </p:txBody>
      </p:sp>
      <p:pic>
        <p:nvPicPr>
          <p:cNvPr id="6147" name="Picture 3"/>
          <p:cNvPicPr>
            <a:picLocks noChangeAspect="1" noChangeArrowheads="1"/>
          </p:cNvPicPr>
          <p:nvPr/>
        </p:nvPicPr>
        <p:blipFill>
          <a:blip r:embed="rId2" cstate="print"/>
          <a:srcRect/>
          <a:stretch>
            <a:fillRect/>
          </a:stretch>
        </p:blipFill>
        <p:spPr bwMode="auto">
          <a:xfrm>
            <a:off x="609600" y="2590800"/>
            <a:ext cx="8077200" cy="299085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229600" cy="4525963"/>
          </a:xfrm>
        </p:spPr>
        <p:txBody>
          <a:bodyPr>
            <a:normAutofit fontScale="92500" lnSpcReduction="10000"/>
          </a:bodyPr>
          <a:lstStyle/>
          <a:p>
            <a:pPr>
              <a:buNone/>
            </a:pPr>
            <a:r>
              <a:rPr lang="en-US" dirty="0" smtClean="0">
                <a:latin typeface="Times New Roman" pitchFamily="18" charset="0"/>
                <a:cs typeface="Times New Roman" pitchFamily="18" charset="0"/>
              </a:rPr>
              <a:t>Products produced as part of the PRINCE2 process are </a:t>
            </a:r>
            <a:r>
              <a:rPr lang="en-US" i="1" dirty="0" smtClean="0">
                <a:latin typeface="Times New Roman" pitchFamily="18" charset="0"/>
                <a:cs typeface="Times New Roman" pitchFamily="18" charset="0"/>
              </a:rPr>
              <a:t>management </a:t>
            </a:r>
            <a:r>
              <a:rPr lang="en-US" dirty="0" smtClean="0">
                <a:latin typeface="Times New Roman" pitchFamily="18" charset="0"/>
                <a:cs typeface="Times New Roman" pitchFamily="18" charset="0"/>
              </a:rPr>
              <a:t>and </a:t>
            </a:r>
            <a:r>
              <a:rPr lang="en-US" i="1" dirty="0" smtClean="0">
                <a:latin typeface="Times New Roman" pitchFamily="18" charset="0"/>
                <a:cs typeface="Times New Roman" pitchFamily="18" charset="0"/>
              </a:rPr>
              <a:t>quality </a:t>
            </a:r>
            <a:r>
              <a:rPr lang="en-US" dirty="0" smtClean="0">
                <a:latin typeface="Times New Roman" pitchFamily="18" charset="0"/>
                <a:cs typeface="Times New Roman" pitchFamily="18" charset="0"/>
              </a:rPr>
              <a:t>products. They relate to the effective and efficient management and control of the project and to project quality, respectively. Most products within the Feature- Driven approach are </a:t>
            </a:r>
            <a:r>
              <a:rPr lang="en-US" i="1" dirty="0" smtClean="0">
                <a:latin typeface="Times New Roman" pitchFamily="18" charset="0"/>
                <a:cs typeface="Times New Roman" pitchFamily="18" charset="0"/>
              </a:rPr>
              <a:t>specialist </a:t>
            </a:r>
            <a:r>
              <a:rPr lang="en-US" dirty="0" smtClean="0">
                <a:latin typeface="Times New Roman" pitchFamily="18" charset="0"/>
                <a:cs typeface="Times New Roman" pitchFamily="18" charset="0"/>
              </a:rPr>
              <a:t>products, that is, they are either descriptions of features, or descriptions of how the system operates with these features (use-case documents), or the techniques to be used.</a:t>
            </a:r>
            <a:endParaRPr lang="en-IN" dirty="0">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55000" lnSpcReduction="20000"/>
          </a:bodyPr>
          <a:lstStyle/>
          <a:p>
            <a:r>
              <a:rPr lang="en-US" dirty="0" smtClean="0">
                <a:latin typeface="Times New Roman" pitchFamily="18" charset="0"/>
                <a:cs typeface="Times New Roman" pitchFamily="18" charset="0"/>
              </a:rPr>
              <a:t>To avoid duplication of effort, the recommended approach is that high-level management and quality products should be the province of PRINCE2 and that detailed iteration planning and quality monitoring should be the province of the iterative approach.</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Managing and controlling an iterative project using PRINCE2 is fundamentally the same as for any other PRINCE2 project. The purpose is to enable each level of the project management team to:</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Demonstrate to the next level up that the project is on track to a successful outcome (that the project will deliver products that are fit for business purpose on time and within budget).</a:t>
            </a:r>
            <a:r>
              <a:rPr lang="en-IN"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Identify early anything that may prevent this.</a:t>
            </a:r>
          </a:p>
          <a:p>
            <a:pPr>
              <a:buNone/>
            </a:pPr>
            <a:r>
              <a:rPr lang="en-US" dirty="0" smtClean="0">
                <a:latin typeface="Times New Roman" pitchFamily="18" charset="0"/>
                <a:cs typeface="Times New Roman" pitchFamily="18" charset="0"/>
              </a:rPr>
              <a:t>       In PRINCE2, management and control are done at each project stage and everything depends on how the project is broken up into stages. PRINCE2 defines major control points through the life of the project, as follows:</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Project initiation,</a:t>
            </a:r>
            <a:endParaRPr lang="en-IN"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End stage assessment,</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Regular highlight reports,</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Exception reports,</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Mid-stage assessment,</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Project closure.</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results from each iteration can feedback into the monitoring and reporting stages of PRINCE2.</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latin typeface="Times New Roman" pitchFamily="18" charset="0"/>
                <a:cs typeface="Times New Roman" pitchFamily="18" charset="0"/>
              </a:rPr>
              <a:t>Questions on UNIT-V</a:t>
            </a:r>
            <a:endParaRPr lang="en-IN"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10000"/>
          </a:bodyPr>
          <a:lstStyle/>
          <a:p>
            <a:pPr lvl="0">
              <a:buNone/>
            </a:pPr>
            <a:r>
              <a:rPr lang="en-IN" sz="2400" dirty="0" smtClean="0">
                <a:latin typeface="Times New Roman" pitchFamily="18" charset="0"/>
                <a:cs typeface="Times New Roman" pitchFamily="18" charset="0"/>
              </a:rPr>
              <a:t>1.How </a:t>
            </a:r>
            <a:r>
              <a:rPr lang="en-IN" sz="2400" dirty="0" smtClean="0">
                <a:latin typeface="Times New Roman" pitchFamily="18" charset="0"/>
                <a:cs typeface="Times New Roman" pitchFamily="18" charset="0"/>
              </a:rPr>
              <a:t>can Agile Modelling be integrated with RUP?</a:t>
            </a:r>
          </a:p>
          <a:p>
            <a:pPr lvl="0">
              <a:buNone/>
            </a:pPr>
            <a:r>
              <a:rPr lang="en-IN" sz="2400" dirty="0" smtClean="0">
                <a:latin typeface="Times New Roman" pitchFamily="18" charset="0"/>
                <a:cs typeface="Times New Roman" pitchFamily="18" charset="0"/>
              </a:rPr>
              <a:t>2.What </a:t>
            </a:r>
            <a:r>
              <a:rPr lang="en-IN" sz="2400" dirty="0" smtClean="0">
                <a:latin typeface="Times New Roman" pitchFamily="18" charset="0"/>
                <a:cs typeface="Times New Roman" pitchFamily="18" charset="0"/>
              </a:rPr>
              <a:t>are the similarities between Agile Modelling and RUP’s iterative nature</a:t>
            </a:r>
            <a:r>
              <a:rPr lang="en-IN" sz="2400" dirty="0" smtClean="0">
                <a:latin typeface="Times New Roman" pitchFamily="18" charset="0"/>
                <a:cs typeface="Times New Roman" pitchFamily="18" charset="0"/>
              </a:rPr>
              <a:t>?</a:t>
            </a:r>
            <a:endParaRPr lang="en-US" sz="2300" dirty="0" smtClean="0">
              <a:latin typeface="Times New Roman" pitchFamily="18" charset="0"/>
              <a:cs typeface="Times New Roman" pitchFamily="18" charset="0"/>
            </a:endParaRPr>
          </a:p>
          <a:p>
            <a:pPr>
              <a:buNone/>
            </a:pPr>
            <a:r>
              <a:rPr lang="en-US" sz="2300" dirty="0" smtClean="0">
                <a:latin typeface="Times New Roman" pitchFamily="18" charset="0"/>
                <a:cs typeface="Times New Roman" pitchFamily="18" charset="0"/>
              </a:rPr>
              <a:t>3.What </a:t>
            </a:r>
            <a:r>
              <a:rPr lang="en-US" sz="2300" dirty="0" smtClean="0">
                <a:latin typeface="Times New Roman" pitchFamily="18" charset="0"/>
                <a:cs typeface="Times New Roman" pitchFamily="18" charset="0"/>
              </a:rPr>
              <a:t>are the four key elements to the philosophy behind the Unified Process ?</a:t>
            </a:r>
          </a:p>
          <a:p>
            <a:pPr>
              <a:buNone/>
            </a:pPr>
            <a:r>
              <a:rPr lang="en-US" sz="2300" dirty="0" smtClean="0">
                <a:latin typeface="Times New Roman" pitchFamily="18" charset="0"/>
                <a:cs typeface="Times New Roman" pitchFamily="18" charset="0"/>
              </a:rPr>
              <a:t>4.How </a:t>
            </a:r>
            <a:r>
              <a:rPr lang="en-US" sz="2300" dirty="0" smtClean="0">
                <a:latin typeface="Times New Roman" pitchFamily="18" charset="0"/>
                <a:cs typeface="Times New Roman" pitchFamily="18" charset="0"/>
              </a:rPr>
              <a:t>is Unified Process is iterative and incremental ?</a:t>
            </a:r>
          </a:p>
          <a:p>
            <a:pPr>
              <a:buNone/>
            </a:pPr>
            <a:r>
              <a:rPr lang="en-US" sz="2300" dirty="0" smtClean="0">
                <a:latin typeface="Times New Roman" pitchFamily="18" charset="0"/>
                <a:cs typeface="Times New Roman" pitchFamily="18" charset="0"/>
              </a:rPr>
              <a:t>5.How </a:t>
            </a:r>
            <a:r>
              <a:rPr lang="en-US" sz="2300" dirty="0" smtClean="0">
                <a:latin typeface="Times New Roman" pitchFamily="18" charset="0"/>
                <a:cs typeface="Times New Roman" pitchFamily="18" charset="0"/>
              </a:rPr>
              <a:t>does Unified Process is also use-case driven and use-cases help identify who uses the system and the top-level functionality.</a:t>
            </a:r>
          </a:p>
          <a:p>
            <a:pPr>
              <a:buNone/>
            </a:pPr>
            <a:r>
              <a:rPr lang="en-US" sz="2300" dirty="0" smtClean="0">
                <a:latin typeface="Times New Roman" pitchFamily="18" charset="0"/>
                <a:cs typeface="Times New Roman" pitchFamily="18" charset="0"/>
              </a:rPr>
              <a:t>6.What </a:t>
            </a:r>
            <a:r>
              <a:rPr lang="en-US" sz="2300" dirty="0" smtClean="0">
                <a:latin typeface="Times New Roman" pitchFamily="18" charset="0"/>
                <a:cs typeface="Times New Roman" pitchFamily="18" charset="0"/>
              </a:rPr>
              <a:t>are the four phases of Unified Process ,their roles and their outputs.</a:t>
            </a:r>
          </a:p>
          <a:p>
            <a:pPr>
              <a:buNone/>
            </a:pPr>
            <a:r>
              <a:rPr lang="en-US" sz="2300" dirty="0" smtClean="0">
                <a:latin typeface="Times New Roman" pitchFamily="18" charset="0"/>
                <a:cs typeface="Times New Roman" pitchFamily="18" charset="0"/>
              </a:rPr>
              <a:t>7.List </a:t>
            </a:r>
            <a:r>
              <a:rPr lang="en-US" sz="2300" dirty="0" smtClean="0">
                <a:latin typeface="Times New Roman" pitchFamily="18" charset="0"/>
                <a:cs typeface="Times New Roman" pitchFamily="18" charset="0"/>
              </a:rPr>
              <a:t>out the relationship between phases and disciplines.</a:t>
            </a:r>
          </a:p>
          <a:p>
            <a:pPr>
              <a:buNone/>
            </a:pPr>
            <a:r>
              <a:rPr lang="en-IN" sz="2300" dirty="0" smtClean="0">
                <a:latin typeface="Times New Roman" pitchFamily="18" charset="0"/>
                <a:cs typeface="Times New Roman" pitchFamily="18" charset="0"/>
              </a:rPr>
              <a:t>8.How </a:t>
            </a:r>
            <a:r>
              <a:rPr lang="en-IN" sz="2300" dirty="0" smtClean="0">
                <a:latin typeface="Times New Roman" pitchFamily="18" charset="0"/>
                <a:cs typeface="Times New Roman" pitchFamily="18" charset="0"/>
              </a:rPr>
              <a:t>does Modelling align with </a:t>
            </a:r>
            <a:r>
              <a:rPr lang="en-US" sz="2300" dirty="0" smtClean="0">
                <a:latin typeface="Times New Roman" pitchFamily="18" charset="0"/>
                <a:cs typeface="Times New Roman" pitchFamily="18" charset="0"/>
              </a:rPr>
              <a:t>the Unified Process.</a:t>
            </a:r>
          </a:p>
          <a:p>
            <a:pPr lvl="0">
              <a:buNone/>
            </a:pPr>
            <a:r>
              <a:rPr lang="en-IN" sz="2300" dirty="0" smtClean="0">
                <a:latin typeface="Times New Roman" pitchFamily="18" charset="0"/>
                <a:cs typeface="Times New Roman" pitchFamily="18" charset="0"/>
              </a:rPr>
              <a:t>9.How </a:t>
            </a:r>
            <a:r>
              <a:rPr lang="en-IN" sz="2300" dirty="0" smtClean="0">
                <a:latin typeface="Times New Roman" pitchFamily="18" charset="0"/>
                <a:cs typeface="Times New Roman" pitchFamily="18" charset="0"/>
              </a:rPr>
              <a:t>does Feature-Driven Development align with RUP?</a:t>
            </a:r>
          </a:p>
          <a:p>
            <a:pPr lvl="0"/>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lvl="0">
              <a:buNone/>
            </a:pPr>
            <a:r>
              <a:rPr lang="en-IN" sz="1800" dirty="0" smtClean="0">
                <a:latin typeface="Times New Roman" pitchFamily="18" charset="0"/>
                <a:cs typeface="Times New Roman" pitchFamily="18" charset="0"/>
              </a:rPr>
              <a:t>10.What </a:t>
            </a:r>
            <a:r>
              <a:rPr lang="en-IN" sz="1800" dirty="0" smtClean="0">
                <a:latin typeface="Times New Roman" pitchFamily="18" charset="0"/>
                <a:cs typeface="Times New Roman" pitchFamily="18" charset="0"/>
              </a:rPr>
              <a:t>is PRINCE2, and how does it differ from Agile methods?</a:t>
            </a:r>
          </a:p>
          <a:p>
            <a:pPr lvl="0">
              <a:buNone/>
            </a:pPr>
            <a:r>
              <a:rPr lang="en-US" sz="1800" dirty="0" smtClean="0">
                <a:latin typeface="Times New Roman" pitchFamily="18" charset="0"/>
                <a:cs typeface="Times New Roman" pitchFamily="18" charset="0"/>
              </a:rPr>
              <a:t>11.Explain </a:t>
            </a:r>
            <a:r>
              <a:rPr lang="en-US" sz="1800" dirty="0" smtClean="0">
                <a:latin typeface="Times New Roman" pitchFamily="18" charset="0"/>
                <a:cs typeface="Times New Roman" pitchFamily="18" charset="0"/>
              </a:rPr>
              <a:t>the Differences between PRINCE2 and Iterative /Feature-driven Design .</a:t>
            </a:r>
          </a:p>
          <a:p>
            <a:pPr>
              <a:buNone/>
            </a:pPr>
            <a:r>
              <a:rPr lang="en-IN" sz="1800" dirty="0" smtClean="0">
                <a:latin typeface="Times New Roman" pitchFamily="18" charset="0"/>
                <a:cs typeface="Times New Roman" pitchFamily="18" charset="0"/>
              </a:rPr>
              <a:t>12.Name </a:t>
            </a:r>
            <a:r>
              <a:rPr lang="en-IN" sz="1800" dirty="0" smtClean="0">
                <a:latin typeface="Times New Roman" pitchFamily="18" charset="0"/>
                <a:cs typeface="Times New Roman" pitchFamily="18" charset="0"/>
              </a:rPr>
              <a:t>popular Agile tools and explain their roles (e.g., JIRA, </a:t>
            </a:r>
            <a:r>
              <a:rPr lang="en-IN" sz="1800" dirty="0" err="1" smtClean="0">
                <a:latin typeface="Times New Roman" pitchFamily="18" charset="0"/>
                <a:cs typeface="Times New Roman" pitchFamily="18" charset="0"/>
              </a:rPr>
              <a:t>Trello</a:t>
            </a:r>
            <a:r>
              <a:rPr lang="en-IN" sz="1800" dirty="0" smtClean="0">
                <a:latin typeface="Times New Roman" pitchFamily="18" charset="0"/>
                <a:cs typeface="Times New Roman" pitchFamily="18" charset="0"/>
              </a:rPr>
              <a:t>, Git, Jenkins).</a:t>
            </a:r>
          </a:p>
          <a:p>
            <a:pPr lvl="0">
              <a:buNone/>
            </a:pPr>
            <a:r>
              <a:rPr lang="en-IN" sz="1800" dirty="0" smtClean="0">
                <a:latin typeface="Times New Roman" pitchFamily="18" charset="0"/>
                <a:cs typeface="Times New Roman" pitchFamily="18" charset="0"/>
              </a:rPr>
              <a:t> 13.  What </a:t>
            </a:r>
            <a:r>
              <a:rPr lang="en-IN" sz="1800" dirty="0" smtClean="0">
                <a:latin typeface="Times New Roman" pitchFamily="18" charset="0"/>
                <a:cs typeface="Times New Roman" pitchFamily="18" charset="0"/>
              </a:rPr>
              <a:t>are the characteristics of a good Agile tool?</a:t>
            </a:r>
          </a:p>
          <a:p>
            <a:pPr lvl="0">
              <a:buNone/>
            </a:pPr>
            <a:r>
              <a:rPr lang="en-IN" sz="1800" dirty="0" smtClean="0">
                <a:latin typeface="Times New Roman" pitchFamily="18" charset="0"/>
                <a:cs typeface="Times New Roman" pitchFamily="18" charset="0"/>
              </a:rPr>
              <a:t>14.What </a:t>
            </a:r>
            <a:r>
              <a:rPr lang="en-IN" sz="1800" dirty="0" smtClean="0">
                <a:latin typeface="Times New Roman" pitchFamily="18" charset="0"/>
                <a:cs typeface="Times New Roman" pitchFamily="18" charset="0"/>
              </a:rPr>
              <a:t>is Eclipse and why is it considered suitable for Agile development?</a:t>
            </a:r>
          </a:p>
          <a:p>
            <a:pPr lvl="0">
              <a:buNone/>
            </a:pPr>
            <a:r>
              <a:rPr lang="en-IN" sz="1800" dirty="0" smtClean="0">
                <a:latin typeface="Times New Roman" pitchFamily="18" charset="0"/>
                <a:cs typeface="Times New Roman" pitchFamily="18" charset="0"/>
              </a:rPr>
              <a:t>15.Name </a:t>
            </a:r>
            <a:r>
              <a:rPr lang="en-IN" sz="1800" dirty="0" smtClean="0">
                <a:latin typeface="Times New Roman" pitchFamily="18" charset="0"/>
                <a:cs typeface="Times New Roman" pitchFamily="18" charset="0"/>
              </a:rPr>
              <a:t>popular Agile tools and explain their </a:t>
            </a:r>
            <a:r>
              <a:rPr lang="en-IN" sz="1800" dirty="0" smtClean="0">
                <a:latin typeface="Times New Roman" pitchFamily="18" charset="0"/>
                <a:cs typeface="Times New Roman" pitchFamily="18" charset="0"/>
              </a:rPr>
              <a:t>roles </a:t>
            </a:r>
          </a:p>
          <a:p>
            <a:pPr lvl="0">
              <a:buNone/>
            </a:pPr>
            <a:r>
              <a:rPr lang="en-IN" sz="1800" dirty="0" smtClean="0">
                <a:latin typeface="Times New Roman" pitchFamily="18" charset="0"/>
                <a:cs typeface="Times New Roman" pitchFamily="18" charset="0"/>
              </a:rPr>
              <a:t>           1.</a:t>
            </a:r>
            <a:r>
              <a:rPr lang="en-US" sz="1800" dirty="0" err="1" smtClean="0">
                <a:latin typeface="Times New Roman" pitchFamily="18" charset="0"/>
                <a:cs typeface="Times New Roman" pitchFamily="18" charset="0"/>
              </a:rPr>
              <a:t>Omondos</a:t>
            </a:r>
            <a:r>
              <a:rPr lang="en-US" sz="1800" dirty="0" smtClean="0">
                <a:latin typeface="Times New Roman" pitchFamily="18" charset="0"/>
                <a:cs typeface="Times New Roman" pitchFamily="18" charset="0"/>
              </a:rPr>
              <a:t>’ </a:t>
            </a:r>
            <a:r>
              <a:rPr lang="en-US" sz="1800" dirty="0" smtClean="0">
                <a:latin typeface="Times New Roman" pitchFamily="18" charset="0"/>
                <a:cs typeface="Times New Roman" pitchFamily="18" charset="0"/>
              </a:rPr>
              <a:t>modeling </a:t>
            </a:r>
            <a:r>
              <a:rPr lang="en-US" sz="1800" dirty="0" smtClean="0">
                <a:latin typeface="Times New Roman" pitchFamily="18" charset="0"/>
                <a:cs typeface="Times New Roman" pitchFamily="18" charset="0"/>
              </a:rPr>
              <a:t>plug-in for Eclipse,</a:t>
            </a:r>
          </a:p>
          <a:p>
            <a:pPr lvl="0">
              <a:buNone/>
            </a:pPr>
            <a:r>
              <a:rPr lang="en-US" sz="1800" dirty="0" smtClean="0">
                <a:latin typeface="Times New Roman" pitchFamily="18" charset="0"/>
                <a:cs typeface="Times New Roman" pitchFamily="18" charset="0"/>
              </a:rPr>
              <a:t>           2.ANT</a:t>
            </a:r>
            <a:r>
              <a:rPr lang="en-US" sz="1800" dirty="0" smtClean="0">
                <a:latin typeface="Times New Roman" pitchFamily="18" charset="0"/>
                <a:cs typeface="Times New Roman" pitchFamily="18" charset="0"/>
              </a:rPr>
              <a:t>: the build tool for Java,</a:t>
            </a:r>
          </a:p>
          <a:p>
            <a:pPr lvl="0">
              <a:buNone/>
            </a:pPr>
            <a:r>
              <a:rPr lang="en-US" sz="1800" dirty="0" smtClean="0">
                <a:latin typeface="Times New Roman" pitchFamily="18" charset="0"/>
                <a:cs typeface="Times New Roman" pitchFamily="18" charset="0"/>
              </a:rPr>
              <a:t>           3.The </a:t>
            </a:r>
            <a:r>
              <a:rPr lang="en-US" sz="1800" dirty="0" smtClean="0">
                <a:latin typeface="Times New Roman" pitchFamily="18" charset="0"/>
                <a:cs typeface="Times New Roman" pitchFamily="18" charset="0"/>
              </a:rPr>
              <a:t>CVS version control system,</a:t>
            </a:r>
          </a:p>
          <a:p>
            <a:pPr lvl="0">
              <a:buNone/>
            </a:pPr>
            <a:r>
              <a:rPr lang="en-US" sz="1800" dirty="0" smtClean="0">
                <a:latin typeface="Times New Roman" pitchFamily="18" charset="0"/>
                <a:cs typeface="Times New Roman" pitchFamily="18" charset="0"/>
              </a:rPr>
              <a:t>           4.The </a:t>
            </a:r>
            <a:r>
              <a:rPr lang="en-US" sz="1800" dirty="0" err="1" smtClean="0">
                <a:latin typeface="Times New Roman" pitchFamily="18" charset="0"/>
                <a:cs typeface="Times New Roman" pitchFamily="18" charset="0"/>
              </a:rPr>
              <a:t>JUnit</a:t>
            </a:r>
            <a:r>
              <a:rPr lang="en-US" sz="1800" dirty="0" smtClean="0">
                <a:latin typeface="Times New Roman" pitchFamily="18" charset="0"/>
                <a:cs typeface="Times New Roman" pitchFamily="18" charset="0"/>
              </a:rPr>
              <a:t> Java test framework</a:t>
            </a:r>
            <a:r>
              <a:rPr lang="en-US" sz="1800" dirty="0" smtClean="0">
                <a:latin typeface="Times New Roman" pitchFamily="18" charset="0"/>
                <a:cs typeface="Times New Roman" pitchFamily="18" charset="0"/>
              </a:rPr>
              <a:t>.</a:t>
            </a:r>
          </a:p>
          <a:p>
            <a:pPr lvl="0">
              <a:buNone/>
            </a:pPr>
            <a:endParaRPr lang="en-US" sz="1800" dirty="0" smtClean="0">
              <a:latin typeface="Times New Roman" pitchFamily="18" charset="0"/>
              <a:cs typeface="Times New Roman" pitchFamily="18" charset="0"/>
            </a:endParaRPr>
          </a:p>
          <a:p>
            <a:pPr lvl="0">
              <a:buNone/>
            </a:pPr>
            <a:r>
              <a:rPr lang="en-IN" sz="1800" dirty="0" smtClean="0">
                <a:latin typeface="Times New Roman" pitchFamily="18" charset="0"/>
                <a:cs typeface="Times New Roman" pitchFamily="18" charset="0"/>
              </a:rPr>
              <a:t>16.What </a:t>
            </a:r>
            <a:r>
              <a:rPr lang="en-IN" sz="1800" dirty="0" smtClean="0">
                <a:latin typeface="Times New Roman" pitchFamily="18" charset="0"/>
                <a:cs typeface="Times New Roman" pitchFamily="18" charset="0"/>
              </a:rPr>
              <a:t>are some key </a:t>
            </a:r>
            <a:r>
              <a:rPr lang="en-IN" sz="1800" dirty="0" err="1" smtClean="0">
                <a:latin typeface="Times New Roman" pitchFamily="18" charset="0"/>
                <a:cs typeface="Times New Roman" pitchFamily="18" charset="0"/>
              </a:rPr>
              <a:t>plugins</a:t>
            </a:r>
            <a:r>
              <a:rPr lang="en-IN" sz="1800" dirty="0" smtClean="0">
                <a:latin typeface="Times New Roman" pitchFamily="18" charset="0"/>
                <a:cs typeface="Times New Roman" pitchFamily="18" charset="0"/>
              </a:rPr>
              <a:t> in Eclipse that enhance Agile productivity?</a:t>
            </a:r>
          </a:p>
          <a:p>
            <a:endParaRPr lang="en-IN" dirty="0" smtClean="0"/>
          </a:p>
          <a:p>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TotalTime>
  <Words>2856</Words>
  <Application>Microsoft Office PowerPoint</Application>
  <PresentationFormat>On-screen Show (4:3)</PresentationFormat>
  <Paragraphs>129</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UNIT-V</vt:lpstr>
      <vt:lpstr>Slide 2</vt:lpstr>
      <vt:lpstr>Introduction</vt:lpstr>
      <vt:lpstr>Agile Modelling and RUP </vt:lpstr>
      <vt:lpstr>Slide 5</vt:lpstr>
      <vt:lpstr>Slide 6</vt:lpstr>
      <vt:lpstr>Overview of the Unified Process </vt:lpstr>
      <vt:lpstr>Iterative and Incremental </vt:lpstr>
      <vt:lpstr>Slide 9</vt:lpstr>
      <vt:lpstr>Slide 10</vt:lpstr>
      <vt:lpstr>Slide 11</vt:lpstr>
      <vt:lpstr>Lifecycle Phases </vt:lpstr>
      <vt:lpstr>Slide 13</vt:lpstr>
      <vt:lpstr>Slide 14</vt:lpstr>
      <vt:lpstr>Slide 15</vt:lpstr>
      <vt:lpstr>Phases, Iterations and Disciplines </vt:lpstr>
      <vt:lpstr>Slide 17</vt:lpstr>
      <vt:lpstr>The focus of each discipline is described below (their primary products are illustrated in Figure 11.7). </vt:lpstr>
      <vt:lpstr>Slide 19</vt:lpstr>
      <vt:lpstr>Slide 20</vt:lpstr>
      <vt:lpstr>Modeling and the Unified Process </vt:lpstr>
      <vt:lpstr>Slide 22</vt:lpstr>
      <vt:lpstr>FDD and RUP </vt:lpstr>
      <vt:lpstr>Slide 24</vt:lpstr>
      <vt:lpstr>Slide 25</vt:lpstr>
      <vt:lpstr>Agile Methods and Prince2 </vt:lpstr>
      <vt:lpstr>Slide 27</vt:lpstr>
      <vt:lpstr>Slide 28</vt:lpstr>
      <vt:lpstr>Slide 29</vt:lpstr>
      <vt:lpstr>Questions on UNIT-V</vt:lpstr>
      <vt:lpstr>Slide 31</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UNIT-V</dc:title>
  <dc:creator>Admin</dc:creator>
  <cp:lastModifiedBy>Preethi</cp:lastModifiedBy>
  <cp:revision>10</cp:revision>
  <dcterms:created xsi:type="dcterms:W3CDTF">2006-08-16T00:00:00Z</dcterms:created>
  <dcterms:modified xsi:type="dcterms:W3CDTF">2025-11-11T05:18:50Z</dcterms:modified>
</cp:coreProperties>
</file>