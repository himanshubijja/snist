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0"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4"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10/21/2025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10/21/2025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latin typeface="Times New Roman" pitchFamily="18" charset="0"/>
                <a:cs typeface="Times New Roman" pitchFamily="18" charset="0"/>
              </a:rPr>
              <a:t>UNIT-IV</a:t>
            </a:r>
            <a:endParaRPr lang="en-IN" dirty="0">
              <a:latin typeface="Times New Roman" pitchFamily="18" charset="0"/>
              <a:cs typeface="Times New Roman" pitchFamily="18" charset="0"/>
            </a:endParaRPr>
          </a:p>
        </p:txBody>
      </p:sp>
      <p:sp>
        <p:nvSpPr>
          <p:cNvPr id="3" name="Subtitle 2"/>
          <p:cNvSpPr>
            <a:spLocks noGrp="1"/>
          </p:cNvSpPr>
          <p:nvPr>
            <p:ph type="subTitle" idx="1"/>
          </p:nvPr>
        </p:nvSpPr>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211763"/>
          </a:xfrm>
        </p:spPr>
        <p:txBody>
          <a:bodyPr>
            <a:normAutofit/>
          </a:bodyPr>
          <a:lstStyle/>
          <a:p>
            <a:pPr>
              <a:buNone/>
            </a:pPr>
            <a:r>
              <a:rPr lang="en-IN" dirty="0" smtClean="0">
                <a:solidFill>
                  <a:srgbClr val="FF0000"/>
                </a:solidFill>
                <a:latin typeface="Times New Roman" pitchFamily="18" charset="0"/>
                <a:cs typeface="Times New Roman" pitchFamily="18" charset="0"/>
              </a:rPr>
              <a:t>Feature-Driven Development:</a:t>
            </a:r>
          </a:p>
          <a:p>
            <a:pPr>
              <a:buNone/>
            </a:pPr>
            <a:r>
              <a:rPr lang="en-IN" dirty="0" smtClean="0">
                <a:latin typeface="Times New Roman" pitchFamily="18" charset="0"/>
                <a:cs typeface="Times New Roman" pitchFamily="18" charset="0"/>
              </a:rPr>
              <a:t> Introduction</a:t>
            </a:r>
          </a:p>
          <a:p>
            <a:pPr>
              <a:buNone/>
            </a:pPr>
            <a:r>
              <a:rPr lang="en-IN" dirty="0" smtClean="0">
                <a:latin typeface="Times New Roman" pitchFamily="18" charset="0"/>
                <a:cs typeface="Times New Roman" pitchFamily="18" charset="0"/>
              </a:rPr>
              <a:t> Incremental Software Development</a:t>
            </a:r>
          </a:p>
          <a:p>
            <a:pPr>
              <a:buNone/>
            </a:pPr>
            <a:r>
              <a:rPr lang="en-IN" dirty="0" smtClean="0">
                <a:solidFill>
                  <a:srgbClr val="FF0000"/>
                </a:solidFill>
                <a:latin typeface="Times New Roman" pitchFamily="18" charset="0"/>
                <a:cs typeface="Times New Roman" pitchFamily="18" charset="0"/>
              </a:rPr>
              <a:t> Regaining Control: </a:t>
            </a:r>
          </a:p>
          <a:p>
            <a:pPr>
              <a:buNone/>
            </a:pPr>
            <a:r>
              <a:rPr lang="en-IN" dirty="0" smtClean="0">
                <a:latin typeface="Times New Roman" pitchFamily="18" charset="0"/>
                <a:cs typeface="Times New Roman" pitchFamily="18" charset="0"/>
              </a:rPr>
              <a:t>The Motivation behind FDD</a:t>
            </a:r>
          </a:p>
          <a:p>
            <a:pPr>
              <a:buNone/>
            </a:pPr>
            <a:r>
              <a:rPr lang="en-IN" dirty="0" smtClean="0">
                <a:latin typeface="Times New Roman" pitchFamily="18" charset="0"/>
                <a:cs typeface="Times New Roman" pitchFamily="18" charset="0"/>
              </a:rPr>
              <a:t> Planning an Iterative Project </a:t>
            </a:r>
          </a:p>
          <a:p>
            <a:pPr>
              <a:buNone/>
            </a:pPr>
            <a:r>
              <a:rPr lang="en-IN" dirty="0" smtClean="0">
                <a:latin typeface="Times New Roman" pitchFamily="18" charset="0"/>
                <a:cs typeface="Times New Roman" pitchFamily="18" charset="0"/>
              </a:rPr>
              <a:t>Architecture Centric, </a:t>
            </a:r>
          </a:p>
          <a:p>
            <a:pPr>
              <a:buNone/>
            </a:pPr>
            <a:r>
              <a:rPr lang="en-IN" dirty="0" smtClean="0">
                <a:latin typeface="Times New Roman" pitchFamily="18" charset="0"/>
                <a:cs typeface="Times New Roman" pitchFamily="18" charset="0"/>
              </a:rPr>
              <a:t>FDD and XP </a:t>
            </a:r>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latin typeface="Times New Roman" pitchFamily="18" charset="0"/>
                <a:cs typeface="Times New Roman" pitchFamily="18" charset="0"/>
              </a:rPr>
              <a:t>Feature-Driven Development</a:t>
            </a:r>
            <a:r>
              <a:rPr lang="en-IN" b="1" dirty="0" smtClean="0"/>
              <a:t/>
            </a:r>
            <a:br>
              <a:rPr lang="en-IN" b="1" dirty="0" smtClean="0"/>
            </a:br>
            <a:endParaRPr lang="en-IN" dirty="0"/>
          </a:p>
        </p:txBody>
      </p:sp>
      <p:sp>
        <p:nvSpPr>
          <p:cNvPr id="3" name="Content Placeholder 2"/>
          <p:cNvSpPr>
            <a:spLocks noGrp="1"/>
          </p:cNvSpPr>
          <p:nvPr>
            <p:ph idx="1"/>
          </p:nvPr>
        </p:nvSpPr>
        <p:spPr>
          <a:xfrm>
            <a:off x="457200" y="990600"/>
            <a:ext cx="8229600" cy="5135563"/>
          </a:xfrm>
        </p:spPr>
        <p:txBody>
          <a:bodyPr>
            <a:normAutofit fontScale="92500" lnSpcReduction="20000"/>
          </a:bodyPr>
          <a:lstStyle/>
          <a:p>
            <a:r>
              <a:rPr lang="en-US" dirty="0" smtClean="0">
                <a:latin typeface="Times New Roman" pitchFamily="18" charset="0"/>
                <a:cs typeface="Times New Roman" pitchFamily="18" charset="0"/>
              </a:rPr>
              <a:t>One solution to control the complexity inherent in agile, incremental projects is to apply a feature-centric process. A feature-centric process is one that tries to provide a way for management to handle questions such as:</a:t>
            </a:r>
            <a:endParaRPr lang="en-IN" dirty="0" smtClean="0">
              <a:latin typeface="Times New Roman" pitchFamily="18" charset="0"/>
              <a:cs typeface="Times New Roman" pitchFamily="18" charset="0"/>
            </a:endParaRPr>
          </a:p>
          <a:p>
            <a:r>
              <a:rPr lang="en-US" dirty="0" smtClean="0">
                <a:solidFill>
                  <a:srgbClr val="FF0000"/>
                </a:solidFill>
                <a:latin typeface="Times New Roman" pitchFamily="18" charset="0"/>
                <a:cs typeface="Times New Roman" pitchFamily="18" charset="0"/>
              </a:rPr>
              <a:t>What must we do next to add value to the client?</a:t>
            </a:r>
            <a:endParaRPr lang="en-IN" dirty="0" smtClean="0">
              <a:solidFill>
                <a:srgbClr val="FF0000"/>
              </a:solidFill>
              <a:latin typeface="Times New Roman" pitchFamily="18" charset="0"/>
              <a:cs typeface="Times New Roman" pitchFamily="18" charset="0"/>
            </a:endParaRPr>
          </a:p>
          <a:p>
            <a:r>
              <a:rPr lang="en-US" dirty="0" smtClean="0">
                <a:solidFill>
                  <a:srgbClr val="FF0000"/>
                </a:solidFill>
                <a:latin typeface="Times New Roman" pitchFamily="18" charset="0"/>
                <a:cs typeface="Times New Roman" pitchFamily="18" charset="0"/>
              </a:rPr>
              <a:t>How are we progressing against time and budgets?</a:t>
            </a:r>
            <a:endParaRPr lang="en-IN" dirty="0" smtClean="0">
              <a:solidFill>
                <a:srgbClr val="FF0000"/>
              </a:solidFill>
              <a:latin typeface="Times New Roman" pitchFamily="18" charset="0"/>
              <a:cs typeface="Times New Roman" pitchFamily="18" charset="0"/>
            </a:endParaRPr>
          </a:p>
          <a:p>
            <a:r>
              <a:rPr lang="en-US" dirty="0" smtClean="0">
                <a:solidFill>
                  <a:srgbClr val="FF0000"/>
                </a:solidFill>
                <a:latin typeface="Times New Roman" pitchFamily="18" charset="0"/>
                <a:cs typeface="Times New Roman" pitchFamily="18" charset="0"/>
              </a:rPr>
              <a:t>What issues and risks does the project face?</a:t>
            </a:r>
            <a:endParaRPr lang="en-IN" dirty="0" smtClean="0">
              <a:solidFill>
                <a:srgbClr val="FF0000"/>
              </a:solidFill>
              <a:latin typeface="Times New Roman" pitchFamily="18" charset="0"/>
              <a:cs typeface="Times New Roman" pitchFamily="18" charset="0"/>
            </a:endParaRPr>
          </a:p>
          <a:p>
            <a:r>
              <a:rPr lang="en-US" dirty="0" smtClean="0">
                <a:solidFill>
                  <a:srgbClr val="FF0000"/>
                </a:solidFill>
                <a:latin typeface="Times New Roman" pitchFamily="18" charset="0"/>
                <a:cs typeface="Times New Roman" pitchFamily="18" charset="0"/>
              </a:rPr>
              <a:t>How can the issues and risks be addressed or mitigated?</a:t>
            </a:r>
            <a:endParaRPr lang="en-IN" dirty="0" smtClean="0">
              <a:solidFill>
                <a:srgbClr val="FF0000"/>
              </a:solidFill>
              <a:latin typeface="Times New Roman" pitchFamily="18" charset="0"/>
              <a:cs typeface="Times New Roman" pitchFamily="18" charset="0"/>
            </a:endParaRPr>
          </a:p>
          <a:p>
            <a:r>
              <a:rPr lang="en-US" dirty="0" smtClean="0">
                <a:solidFill>
                  <a:srgbClr val="FF0000"/>
                </a:solidFill>
                <a:latin typeface="Times New Roman" pitchFamily="18" charset="0"/>
                <a:cs typeface="Times New Roman" pitchFamily="18" charset="0"/>
              </a:rPr>
              <a:t>What should we do next?</a:t>
            </a:r>
            <a:r>
              <a:rPr lang="en-US" dirty="0" smtClean="0">
                <a:solidFill>
                  <a:srgbClr val="FF0000"/>
                </a:solidFill>
              </a:rPr>
              <a:t> </a:t>
            </a:r>
            <a:endParaRPr lang="en-IN" dirty="0" smtClean="0">
              <a:solidFill>
                <a:srgbClr val="FF0000"/>
              </a:solidFill>
            </a:endParaRPr>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lnSpcReduction="10000"/>
          </a:bodyPr>
          <a:lstStyle/>
          <a:p>
            <a:pPr>
              <a:buNone/>
            </a:pPr>
            <a:r>
              <a:rPr lang="en-US" u="sng" dirty="0" smtClean="0">
                <a:latin typeface="Times New Roman" pitchFamily="18" charset="0"/>
                <a:cs typeface="Times New Roman" pitchFamily="18" charset="0"/>
              </a:rPr>
              <a:t>Feature-centric processes do this while retaining the motivations behind the agile movement such as:</a:t>
            </a:r>
            <a:endParaRPr lang="en-IN" u="sng" dirty="0" smtClean="0">
              <a:latin typeface="Times New Roman" pitchFamily="18" charset="0"/>
              <a:cs typeface="Times New Roman" pitchFamily="18" charset="0"/>
            </a:endParaRPr>
          </a:p>
          <a:p>
            <a:pPr>
              <a:buNone/>
            </a:pPr>
            <a:r>
              <a:rPr lang="en-US" u="sng" dirty="0" smtClean="0">
                <a:solidFill>
                  <a:srgbClr val="FF0000"/>
                </a:solidFill>
                <a:latin typeface="Times New Roman" pitchFamily="18" charset="0"/>
                <a:cs typeface="Times New Roman" pitchFamily="18" charset="0"/>
              </a:rPr>
              <a:t> </a:t>
            </a:r>
            <a:endParaRPr lang="en-IN" u="sng" dirty="0" smtClean="0">
              <a:solidFill>
                <a:srgbClr val="FF0000"/>
              </a:solidFill>
              <a:latin typeface="Times New Roman" pitchFamily="18" charset="0"/>
              <a:cs typeface="Times New Roman" pitchFamily="18" charset="0"/>
            </a:endParaRPr>
          </a:p>
          <a:p>
            <a:pPr lvl="0"/>
            <a:r>
              <a:rPr lang="en-US" dirty="0" smtClean="0">
                <a:solidFill>
                  <a:srgbClr val="FF0000"/>
                </a:solidFill>
                <a:latin typeface="Times New Roman" pitchFamily="18" charset="0"/>
                <a:cs typeface="Times New Roman" pitchFamily="18" charset="0"/>
              </a:rPr>
              <a:t>Individuals and interactions over processes and tools.</a:t>
            </a:r>
            <a:endParaRPr lang="en-IN" dirty="0" smtClean="0">
              <a:solidFill>
                <a:srgbClr val="FF0000"/>
              </a:solidFill>
              <a:latin typeface="Times New Roman" pitchFamily="18" charset="0"/>
              <a:cs typeface="Times New Roman" pitchFamily="18" charset="0"/>
            </a:endParaRPr>
          </a:p>
          <a:p>
            <a:pPr lvl="0"/>
            <a:r>
              <a:rPr lang="en-US" dirty="0" smtClean="0">
                <a:solidFill>
                  <a:srgbClr val="FF0000"/>
                </a:solidFill>
                <a:latin typeface="Times New Roman" pitchFamily="18" charset="0"/>
                <a:cs typeface="Times New Roman" pitchFamily="18" charset="0"/>
              </a:rPr>
              <a:t>Working software over comprehensive documentation.</a:t>
            </a:r>
            <a:endParaRPr lang="en-IN" dirty="0" smtClean="0">
              <a:solidFill>
                <a:srgbClr val="FF0000"/>
              </a:solidFill>
              <a:latin typeface="Times New Roman" pitchFamily="18" charset="0"/>
              <a:cs typeface="Times New Roman" pitchFamily="18" charset="0"/>
            </a:endParaRPr>
          </a:p>
          <a:p>
            <a:pPr lvl="0"/>
            <a:r>
              <a:rPr lang="en-US" dirty="0" smtClean="0">
                <a:solidFill>
                  <a:srgbClr val="FF0000"/>
                </a:solidFill>
                <a:latin typeface="Times New Roman" pitchFamily="18" charset="0"/>
                <a:cs typeface="Times New Roman" pitchFamily="18" charset="0"/>
              </a:rPr>
              <a:t>Customer collaboration over contract negotiation.</a:t>
            </a:r>
            <a:endParaRPr lang="en-IN" dirty="0" smtClean="0">
              <a:solidFill>
                <a:srgbClr val="FF0000"/>
              </a:solidFill>
              <a:latin typeface="Times New Roman" pitchFamily="18" charset="0"/>
              <a:cs typeface="Times New Roman" pitchFamily="18" charset="0"/>
            </a:endParaRPr>
          </a:p>
          <a:p>
            <a:pPr lvl="0"/>
            <a:r>
              <a:rPr lang="en-US" dirty="0" smtClean="0">
                <a:solidFill>
                  <a:srgbClr val="FF0000"/>
                </a:solidFill>
                <a:latin typeface="Times New Roman" pitchFamily="18" charset="0"/>
                <a:cs typeface="Times New Roman" pitchFamily="18" charset="0"/>
              </a:rPr>
              <a:t>Responding to change over following a plan.</a:t>
            </a:r>
            <a:endParaRPr lang="en-IN" dirty="0" smtClean="0">
              <a:solidFill>
                <a:srgbClr val="FF0000"/>
              </a:solidFill>
              <a:latin typeface="Times New Roman" pitchFamily="18" charset="0"/>
              <a:cs typeface="Times New Roman" pitchFamily="18" charset="0"/>
            </a:endParaRPr>
          </a:p>
          <a:p>
            <a:pPr>
              <a:buNone/>
            </a:pPr>
            <a:endParaRPr lang="en-IN" dirty="0" smtClean="0"/>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533400"/>
            <a:ext cx="8991600" cy="5592763"/>
          </a:xfrm>
        </p:spPr>
        <p:txBody>
          <a:bodyPr>
            <a:normAutofit fontScale="70000" lnSpcReduction="20000"/>
          </a:bodyPr>
          <a:lstStyle/>
          <a:p>
            <a:pPr>
              <a:buNone/>
            </a:pPr>
            <a:r>
              <a:rPr lang="en-US" sz="4000" dirty="0" smtClean="0">
                <a:latin typeface="Times New Roman" pitchFamily="18" charset="0"/>
                <a:cs typeface="Times New Roman" pitchFamily="18" charset="0"/>
              </a:rPr>
              <a:t>With the key aims being:</a:t>
            </a:r>
            <a:endParaRPr lang="en-IN" sz="4000"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a:t>
            </a:r>
            <a:endParaRPr lang="en-IN" dirty="0" smtClean="0">
              <a:solidFill>
                <a:srgbClr val="FF0000"/>
              </a:solidFill>
              <a:latin typeface="Times New Roman" pitchFamily="18" charset="0"/>
              <a:cs typeface="Times New Roman" pitchFamily="18" charset="0"/>
            </a:endParaRPr>
          </a:p>
          <a:p>
            <a:pPr lvl="0"/>
            <a:r>
              <a:rPr lang="en-US" dirty="0" smtClean="0">
                <a:solidFill>
                  <a:srgbClr val="FF0000"/>
                </a:solidFill>
                <a:latin typeface="Times New Roman" pitchFamily="18" charset="0"/>
                <a:cs typeface="Times New Roman" pitchFamily="18" charset="0"/>
              </a:rPr>
              <a:t>To satisfy the customer.</a:t>
            </a:r>
            <a:endParaRPr lang="en-IN" dirty="0" smtClean="0">
              <a:solidFill>
                <a:srgbClr val="FF0000"/>
              </a:solidFill>
              <a:latin typeface="Times New Roman" pitchFamily="18" charset="0"/>
              <a:cs typeface="Times New Roman" pitchFamily="18" charset="0"/>
            </a:endParaRPr>
          </a:p>
          <a:p>
            <a:pPr lvl="0"/>
            <a:r>
              <a:rPr lang="en-US" dirty="0" smtClean="0">
                <a:solidFill>
                  <a:srgbClr val="FF0000"/>
                </a:solidFill>
                <a:latin typeface="Times New Roman" pitchFamily="18" charset="0"/>
                <a:cs typeface="Times New Roman" pitchFamily="18" charset="0"/>
              </a:rPr>
              <a:t>Deliver working software that adds value to the customer.</a:t>
            </a:r>
            <a:endParaRPr lang="en-IN" dirty="0" smtClean="0">
              <a:solidFill>
                <a:srgbClr val="FF0000"/>
              </a:solidFill>
              <a:latin typeface="Times New Roman" pitchFamily="18" charset="0"/>
              <a:cs typeface="Times New Roman" pitchFamily="18" charset="0"/>
            </a:endParaRPr>
          </a:p>
          <a:p>
            <a:pPr lvl="0"/>
            <a:r>
              <a:rPr lang="en-US" dirty="0" smtClean="0">
                <a:solidFill>
                  <a:srgbClr val="FF0000"/>
                </a:solidFill>
                <a:latin typeface="Times New Roman" pitchFamily="18" charset="0"/>
                <a:cs typeface="Times New Roman" pitchFamily="18" charset="0"/>
              </a:rPr>
              <a:t>Working software is the primary measure of progress.</a:t>
            </a:r>
            <a:endParaRPr lang="en-IN" dirty="0" smtClean="0">
              <a:solidFill>
                <a:srgbClr val="FF0000"/>
              </a:solidFill>
              <a:latin typeface="Times New Roman" pitchFamily="18" charset="0"/>
              <a:cs typeface="Times New Roman" pitchFamily="18" charset="0"/>
            </a:endParaRPr>
          </a:p>
          <a:p>
            <a:pPr lvl="0"/>
            <a:r>
              <a:rPr lang="en-US" dirty="0" smtClean="0">
                <a:solidFill>
                  <a:srgbClr val="FF0000"/>
                </a:solidFill>
                <a:latin typeface="Times New Roman" pitchFamily="18" charset="0"/>
                <a:cs typeface="Times New Roman" pitchFamily="18" charset="0"/>
              </a:rPr>
              <a:t>Promote sustainable development.</a:t>
            </a:r>
            <a:endParaRPr lang="en-IN" dirty="0" smtClean="0">
              <a:solidFill>
                <a:srgbClr val="FF0000"/>
              </a:solidFill>
              <a:latin typeface="Times New Roman" pitchFamily="18" charset="0"/>
              <a:cs typeface="Times New Roman" pitchFamily="18" charset="0"/>
            </a:endParaRPr>
          </a:p>
          <a:p>
            <a:pPr lvl="0"/>
            <a:r>
              <a:rPr lang="en-US" dirty="0" smtClean="0">
                <a:solidFill>
                  <a:srgbClr val="FF0000"/>
                </a:solidFill>
                <a:latin typeface="Times New Roman" pitchFamily="18" charset="0"/>
                <a:cs typeface="Times New Roman" pitchFamily="18" charset="0"/>
              </a:rPr>
              <a:t>Keep any process as simple as is reasonably possible.</a:t>
            </a:r>
            <a:endParaRPr lang="en-IN" dirty="0" smtClean="0">
              <a:solidFill>
                <a:srgbClr val="FF0000"/>
              </a:solidFill>
              <a:latin typeface="Times New Roman" pitchFamily="18" charset="0"/>
              <a:cs typeface="Times New Roman" pitchFamily="18" charset="0"/>
            </a:endParaRPr>
          </a:p>
          <a:p>
            <a:pPr>
              <a:buNone/>
            </a:pPr>
            <a:endParaRPr lang="en-IN" sz="3400" dirty="0" smtClean="0">
              <a:latin typeface="Times New Roman" pitchFamily="18" charset="0"/>
              <a:cs typeface="Times New Roman" pitchFamily="18" charset="0"/>
            </a:endParaRPr>
          </a:p>
          <a:p>
            <a:pPr>
              <a:buNone/>
            </a:pPr>
            <a:r>
              <a:rPr lang="en-US" sz="3400" dirty="0" smtClean="0">
                <a:latin typeface="Times New Roman" pitchFamily="18" charset="0"/>
                <a:cs typeface="Times New Roman" pitchFamily="18" charset="0"/>
              </a:rPr>
              <a:t>The term feature-centric refers to development processes that attempt to focus on combining the units of requirements, with the units of planning and the units of work. </a:t>
            </a:r>
          </a:p>
          <a:p>
            <a:pPr>
              <a:buNone/>
            </a:pPr>
            <a:endParaRPr lang="en-US" sz="3400" dirty="0" smtClean="0">
              <a:latin typeface="Times New Roman" pitchFamily="18" charset="0"/>
              <a:cs typeface="Times New Roman" pitchFamily="18" charset="0"/>
            </a:endParaRPr>
          </a:p>
          <a:p>
            <a:pPr>
              <a:buNone/>
            </a:pPr>
            <a:r>
              <a:rPr lang="en-US" sz="3400" dirty="0" smtClean="0">
                <a:latin typeface="Times New Roman" pitchFamily="18" charset="0"/>
                <a:cs typeface="Times New Roman" pitchFamily="18" charset="0"/>
              </a:rPr>
              <a:t>This allows:</a:t>
            </a:r>
            <a:endParaRPr lang="en-IN" sz="3400" dirty="0" smtClean="0">
              <a:latin typeface="Times New Roman" pitchFamily="18" charset="0"/>
              <a:cs typeface="Times New Roman" pitchFamily="18" charset="0"/>
            </a:endParaRPr>
          </a:p>
          <a:p>
            <a:r>
              <a:rPr lang="en-US" dirty="0" smtClean="0">
                <a:solidFill>
                  <a:srgbClr val="FF0000"/>
                </a:solidFill>
                <a:latin typeface="Times New Roman" pitchFamily="18" charset="0"/>
                <a:cs typeface="Times New Roman" pitchFamily="18" charset="0"/>
              </a:rPr>
              <a:t> the things users want,</a:t>
            </a:r>
            <a:endParaRPr lang="en-IN" dirty="0" smtClean="0">
              <a:solidFill>
                <a:srgbClr val="FF0000"/>
              </a:solidFill>
              <a:latin typeface="Times New Roman" pitchFamily="18" charset="0"/>
              <a:cs typeface="Times New Roman" pitchFamily="18" charset="0"/>
            </a:endParaRPr>
          </a:p>
          <a:p>
            <a:r>
              <a:rPr lang="en-US" dirty="0" smtClean="0">
                <a:solidFill>
                  <a:srgbClr val="FF0000"/>
                </a:solidFill>
                <a:latin typeface="Times New Roman" pitchFamily="18" charset="0"/>
                <a:cs typeface="Times New Roman" pitchFamily="18" charset="0"/>
              </a:rPr>
              <a:t> to be planned for and monitored,</a:t>
            </a:r>
            <a:endParaRPr lang="en-IN" dirty="0" smtClean="0">
              <a:solidFill>
                <a:srgbClr val="FF0000"/>
              </a:solidFill>
              <a:latin typeface="Times New Roman" pitchFamily="18" charset="0"/>
              <a:cs typeface="Times New Roman" pitchFamily="18" charset="0"/>
            </a:endParaRPr>
          </a:p>
          <a:p>
            <a:r>
              <a:rPr lang="en-US" dirty="0" smtClean="0">
                <a:solidFill>
                  <a:srgbClr val="FF0000"/>
                </a:solidFill>
                <a:latin typeface="Times New Roman" pitchFamily="18" charset="0"/>
                <a:cs typeface="Times New Roman" pitchFamily="18" charset="0"/>
              </a:rPr>
              <a:t>and to be used as the basis of work allocation.</a:t>
            </a:r>
            <a:endParaRPr lang="en-IN" dirty="0" smtClean="0">
              <a:solidFill>
                <a:srgbClr val="FF0000"/>
              </a:solidFill>
              <a:latin typeface="Times New Roman" pitchFamily="18" charset="0"/>
              <a:cs typeface="Times New Roman" pitchFamily="18" charset="0"/>
            </a:endParaRPr>
          </a:p>
          <a:p>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rtl="0">
              <a:spcBef>
                <a:spcPct val="0"/>
              </a:spcBef>
            </a:pPr>
            <a:r>
              <a:rPr lang="en-US" sz="3200" b="1" dirty="0">
                <a:latin typeface="Times New Roman" pitchFamily="18" charset="0"/>
                <a:cs typeface="Times New Roman" pitchFamily="18" charset="0"/>
              </a:rPr>
              <a:t>Incremental Software Development</a:t>
            </a:r>
            <a:r>
              <a:rPr lang="en-IN" b="1" dirty="0"/>
              <a:t/>
            </a:r>
            <a:br>
              <a:rPr lang="en-IN" b="1" dirty="0"/>
            </a:br>
            <a:endParaRPr lang="en-IN" dirty="0"/>
          </a:p>
        </p:txBody>
      </p:sp>
      <p:sp>
        <p:nvSpPr>
          <p:cNvPr id="3" name="Content Placeholder 2"/>
          <p:cNvSpPr>
            <a:spLocks noGrp="1"/>
          </p:cNvSpPr>
          <p:nvPr>
            <p:ph idx="1"/>
          </p:nvPr>
        </p:nvSpPr>
        <p:spPr>
          <a:xfrm>
            <a:off x="457200" y="1143000"/>
            <a:ext cx="8229600" cy="4983163"/>
          </a:xfrm>
        </p:spPr>
        <p:txBody>
          <a:bodyPr>
            <a:normAutofit/>
          </a:bodyPr>
          <a:lstStyle/>
          <a:p>
            <a:pPr>
              <a:buNone/>
            </a:pPr>
            <a:r>
              <a:rPr lang="en-US" sz="2600" dirty="0" smtClean="0">
                <a:latin typeface="Times New Roman" pitchFamily="18" charset="0"/>
                <a:cs typeface="Times New Roman" pitchFamily="18" charset="0"/>
              </a:rPr>
              <a:t>When applying some form of iterative approach, the intention is that each iteration adds something to the evolving system. Some iterations may lead to </a:t>
            </a:r>
            <a:r>
              <a:rPr lang="en-US" sz="2600" dirty="0" err="1" smtClean="0">
                <a:latin typeface="Times New Roman" pitchFamily="18" charset="0"/>
                <a:cs typeface="Times New Roman" pitchFamily="18" charset="0"/>
              </a:rPr>
              <a:t>arelease</a:t>
            </a:r>
            <a:r>
              <a:rPr lang="en-US" sz="2600" dirty="0" smtClean="0">
                <a:latin typeface="Times New Roman" pitchFamily="18" charset="0"/>
                <a:cs typeface="Times New Roman" pitchFamily="18" charset="0"/>
              </a:rPr>
              <a:t> of the software system, while others may not. Each iteration:</a:t>
            </a:r>
            <a:endParaRPr lang="en-IN" sz="2600" dirty="0" smtClean="0">
              <a:latin typeface="Times New Roman" pitchFamily="18" charset="0"/>
              <a:cs typeface="Times New Roman" pitchFamily="18" charset="0"/>
            </a:endParaRPr>
          </a:p>
          <a:p>
            <a:pPr lvl="0"/>
            <a:r>
              <a:rPr lang="en-US" sz="2200" dirty="0" smtClean="0">
                <a:solidFill>
                  <a:srgbClr val="FF0000"/>
                </a:solidFill>
                <a:latin typeface="Times New Roman" pitchFamily="18" charset="0"/>
                <a:cs typeface="Times New Roman" pitchFamily="18" charset="0"/>
              </a:rPr>
              <a:t>Determines what will be done during the iteration.</a:t>
            </a:r>
            <a:endParaRPr lang="en-IN" sz="2200" dirty="0" smtClean="0">
              <a:solidFill>
                <a:srgbClr val="FF0000"/>
              </a:solidFill>
              <a:latin typeface="Times New Roman" pitchFamily="18" charset="0"/>
              <a:cs typeface="Times New Roman" pitchFamily="18" charset="0"/>
            </a:endParaRPr>
          </a:p>
          <a:p>
            <a:pPr lvl="0"/>
            <a:r>
              <a:rPr lang="en-US" sz="2200" dirty="0" smtClean="0">
                <a:solidFill>
                  <a:srgbClr val="FF0000"/>
                </a:solidFill>
                <a:latin typeface="Times New Roman" pitchFamily="18" charset="0"/>
                <a:cs typeface="Times New Roman" pitchFamily="18" charset="0"/>
              </a:rPr>
              <a:t>Designs and implements the required functionality.</a:t>
            </a:r>
            <a:endParaRPr lang="en-IN" sz="2200" dirty="0" smtClean="0">
              <a:solidFill>
                <a:srgbClr val="FF0000"/>
              </a:solidFill>
              <a:latin typeface="Times New Roman" pitchFamily="18" charset="0"/>
              <a:cs typeface="Times New Roman" pitchFamily="18" charset="0"/>
            </a:endParaRPr>
          </a:p>
          <a:p>
            <a:pPr lvl="0"/>
            <a:r>
              <a:rPr lang="en-US" sz="2200" dirty="0" smtClean="0">
                <a:solidFill>
                  <a:srgbClr val="FF0000"/>
                </a:solidFill>
                <a:latin typeface="Times New Roman" pitchFamily="18" charset="0"/>
                <a:cs typeface="Times New Roman" pitchFamily="18" charset="0"/>
              </a:rPr>
              <a:t>Tests the new functionality.</a:t>
            </a:r>
            <a:endParaRPr lang="en-IN" sz="2200" dirty="0" smtClean="0">
              <a:solidFill>
                <a:srgbClr val="FF0000"/>
              </a:solidFill>
              <a:latin typeface="Times New Roman" pitchFamily="18" charset="0"/>
              <a:cs typeface="Times New Roman" pitchFamily="18" charset="0"/>
            </a:endParaRPr>
          </a:p>
          <a:p>
            <a:pPr lvl="0"/>
            <a:r>
              <a:rPr lang="en-US" sz="2200" dirty="0" smtClean="0">
                <a:solidFill>
                  <a:srgbClr val="FF0000"/>
                </a:solidFill>
                <a:latin typeface="Times New Roman" pitchFamily="18" charset="0"/>
                <a:cs typeface="Times New Roman" pitchFamily="18" charset="0"/>
              </a:rPr>
              <a:t>(Optionally) Creates a new release.</a:t>
            </a:r>
            <a:endParaRPr lang="en-IN" sz="2200" dirty="0" smtClean="0">
              <a:solidFill>
                <a:srgbClr val="FF0000"/>
              </a:solidFill>
              <a:latin typeface="Times New Roman" pitchFamily="18" charset="0"/>
              <a:cs typeface="Times New Roman" pitchFamily="18" charset="0"/>
            </a:endParaRPr>
          </a:p>
          <a:p>
            <a:pPr lvl="0"/>
            <a:r>
              <a:rPr lang="en-US" sz="2200" dirty="0" smtClean="0">
                <a:solidFill>
                  <a:srgbClr val="FF0000"/>
                </a:solidFill>
                <a:latin typeface="Times New Roman" pitchFamily="18" charset="0"/>
                <a:cs typeface="Times New Roman" pitchFamily="18" charset="0"/>
              </a:rPr>
              <a:t>Reviews what has been done before moving to the next iteration.</a:t>
            </a:r>
            <a:endParaRPr lang="en-IN" sz="2200" dirty="0" smtClean="0">
              <a:solidFill>
                <a:srgbClr val="FF0000"/>
              </a:solidFill>
              <a:latin typeface="Times New Roman" pitchFamily="18" charset="0"/>
              <a:cs typeface="Times New Roman" pitchFamily="18" charset="0"/>
            </a:endParaRPr>
          </a:p>
          <a:p>
            <a:pPr>
              <a:buNone/>
            </a:pP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cstate="print"/>
          <a:srcRect/>
          <a:stretch>
            <a:fillRect/>
          </a:stretch>
        </p:blipFill>
        <p:spPr bwMode="auto">
          <a:xfrm>
            <a:off x="0" y="304800"/>
            <a:ext cx="7143750" cy="3514725"/>
          </a:xfrm>
          <a:prstGeom prst="rect">
            <a:avLst/>
          </a:prstGeom>
          <a:noFill/>
          <a:ln w="9525">
            <a:noFill/>
            <a:miter lim="800000"/>
            <a:headEnd/>
            <a:tailEnd/>
          </a:ln>
        </p:spPr>
      </p:pic>
      <p:sp>
        <p:nvSpPr>
          <p:cNvPr id="5" name="Rectangle 4"/>
          <p:cNvSpPr/>
          <p:nvPr/>
        </p:nvSpPr>
        <p:spPr>
          <a:xfrm>
            <a:off x="228600" y="3962400"/>
            <a:ext cx="8610600" cy="1200329"/>
          </a:xfrm>
          <a:prstGeom prst="rect">
            <a:avLst/>
          </a:prstGeom>
        </p:spPr>
        <p:txBody>
          <a:bodyPr wrap="square">
            <a:spAutoFit/>
          </a:bodyPr>
          <a:lstStyle/>
          <a:p>
            <a:r>
              <a:rPr lang="en-US" dirty="0" smtClean="0">
                <a:latin typeface="Times New Roman" pitchFamily="18" charset="0"/>
                <a:cs typeface="Times New Roman" pitchFamily="18" charset="0"/>
              </a:rPr>
              <a:t>One of the features of the waterfall model of software engineering used by many design methods (see Figure 9.1) is that it primarily assumes that you will complete the requirements analysis before you start the design phase. In turn, you will complete the design phase before you start the implementation phase, and so on</a:t>
            </a:r>
            <a:endParaRPr lang="en-IN" dirty="0">
              <a:latin typeface="Times New Roman" pitchFamily="18" charset="0"/>
              <a:cs typeface="Times New Roman" pitchFamily="18" charset="0"/>
            </a:endParaRPr>
          </a:p>
        </p:txBody>
      </p:sp>
      <p:sp>
        <p:nvSpPr>
          <p:cNvPr id="6" name="Rectangle 5"/>
          <p:cNvSpPr/>
          <p:nvPr/>
        </p:nvSpPr>
        <p:spPr>
          <a:xfrm>
            <a:off x="381000" y="5486400"/>
            <a:ext cx="8001000" cy="1200329"/>
          </a:xfrm>
          <a:prstGeom prst="rect">
            <a:avLst/>
          </a:prstGeom>
        </p:spPr>
        <p:txBody>
          <a:bodyPr wrap="square">
            <a:spAutoFit/>
          </a:bodyPr>
          <a:lstStyle/>
          <a:p>
            <a:r>
              <a:rPr lang="en-US" dirty="0" smtClean="0">
                <a:latin typeface="Times New Roman" pitchFamily="18" charset="0"/>
                <a:cs typeface="Times New Roman" pitchFamily="18" charset="0"/>
              </a:rPr>
              <a:t>Let us review what happens during an incremental software development project. An incremental software development process is one that does not try to complete the whole design task in one go. This is in contrast to the more traditional waterfall model of software development.</a:t>
            </a:r>
            <a:endParaRPr lang="en-IN"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0"/>
            <a:ext cx="8229600" cy="1143000"/>
          </a:xfrm>
        </p:spPr>
        <p:txBody>
          <a:bodyPr>
            <a:normAutofit fontScale="90000"/>
          </a:bodyPr>
          <a:lstStyle/>
          <a:p>
            <a:r>
              <a:rPr lang="en-US" sz="2700" dirty="0" smtClean="0">
                <a:latin typeface="Times New Roman" pitchFamily="18" charset="0"/>
                <a:cs typeface="Times New Roman" pitchFamily="18" charset="0"/>
              </a:rPr>
              <a:t>Figure 9.2 depicts the spiral nature of this approach to software development. Note that in effect, each iteration around the spiral is a mini-software development project.</a:t>
            </a:r>
            <a:r>
              <a:rPr lang="en-IN" dirty="0" smtClean="0"/>
              <a:t/>
            </a:r>
            <a:br>
              <a:rPr lang="en-IN" dirty="0" smtClean="0"/>
            </a:br>
            <a:endParaRPr lang="en-IN" dirty="0"/>
          </a:p>
        </p:txBody>
      </p:sp>
      <p:pic>
        <p:nvPicPr>
          <p:cNvPr id="2050" name="Picture 2"/>
          <p:cNvPicPr>
            <a:picLocks noGrp="1" noChangeAspect="1" noChangeArrowheads="1"/>
          </p:cNvPicPr>
          <p:nvPr>
            <p:ph idx="1"/>
          </p:nvPr>
        </p:nvPicPr>
        <p:blipFill>
          <a:blip r:embed="rId2" cstate="print"/>
          <a:srcRect/>
          <a:stretch>
            <a:fillRect/>
          </a:stretch>
        </p:blipFill>
        <p:spPr bwMode="auto">
          <a:xfrm>
            <a:off x="381000" y="1981200"/>
            <a:ext cx="8229600" cy="4509494"/>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rtl="0">
              <a:spcBef>
                <a:spcPct val="0"/>
              </a:spcBef>
            </a:pPr>
            <a:r>
              <a:rPr lang="en-US" sz="2800" b="1" dirty="0">
                <a:latin typeface="Times New Roman" pitchFamily="18" charset="0"/>
                <a:cs typeface="Times New Roman" pitchFamily="18" charset="0"/>
              </a:rPr>
              <a:t>Regaining Control: The Motivation Behind FDD</a:t>
            </a:r>
            <a:r>
              <a:rPr lang="en-IN" b="1" dirty="0"/>
              <a:t/>
            </a:r>
            <a:br>
              <a:rPr lang="en-IN" b="1" dirty="0"/>
            </a:br>
            <a:endParaRPr lang="en-IN" dirty="0"/>
          </a:p>
        </p:txBody>
      </p:sp>
      <p:sp>
        <p:nvSpPr>
          <p:cNvPr id="3" name="Content Placeholder 2"/>
          <p:cNvSpPr>
            <a:spLocks noGrp="1"/>
          </p:cNvSpPr>
          <p:nvPr>
            <p:ph idx="1"/>
          </p:nvPr>
        </p:nvSpPr>
        <p:spPr>
          <a:xfrm>
            <a:off x="457200" y="1219200"/>
            <a:ext cx="8458200" cy="5334000"/>
          </a:xfrm>
        </p:spPr>
        <p:txBody>
          <a:bodyPr>
            <a:normAutofit fontScale="85000" lnSpcReduction="20000"/>
          </a:bodyPr>
          <a:lstStyle/>
          <a:p>
            <a:pPr>
              <a:buNone/>
            </a:pPr>
            <a:r>
              <a:rPr lang="en-US" sz="2400" dirty="0" smtClean="0">
                <a:latin typeface="Times New Roman" pitchFamily="18" charset="0"/>
                <a:cs typeface="Times New Roman" pitchFamily="18" charset="0"/>
              </a:rPr>
              <a:t>Given that our goal is to simplify the lifecycle in order that we can deal with the risks and complexities as well as uncertainties of the development process, we need to regain some control of the planning and management aspects of such a project. A key strategy for this is feature-centric planning.  Feature-centric is not the only aspect of regaining control of an iterative project; another feature is that of </a:t>
            </a:r>
            <a:r>
              <a:rPr lang="en-US" sz="2400" dirty="0" err="1" smtClean="0">
                <a:latin typeface="Times New Roman" pitchFamily="18" charset="0"/>
                <a:cs typeface="Times New Roman" pitchFamily="18" charset="0"/>
              </a:rPr>
              <a:t>timeboxing</a:t>
            </a:r>
            <a:r>
              <a:rPr lang="en-US" sz="2400" dirty="0" smtClean="0">
                <a:latin typeface="Times New Roman" pitchFamily="18" charset="0"/>
                <a:cs typeface="Times New Roman" pitchFamily="18" charset="0"/>
              </a:rPr>
              <a:t> each iteration. The final aspect is being adaptive.</a:t>
            </a:r>
            <a:endParaRPr lang="en-IN" sz="2400" dirty="0" smtClean="0">
              <a:latin typeface="Times New Roman" pitchFamily="18" charset="0"/>
              <a:cs typeface="Times New Roman" pitchFamily="18" charset="0"/>
            </a:endParaRPr>
          </a:p>
          <a:p>
            <a:pPr>
              <a:buNone/>
            </a:pPr>
            <a:endParaRPr lang="en-US" sz="2400"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Thus, to regain control of an iterative project the guidelines are:</a:t>
            </a:r>
            <a:endParaRPr lang="en-IN" sz="2400" dirty="0" smtClean="0">
              <a:latin typeface="Times New Roman" pitchFamily="18" charset="0"/>
              <a:cs typeface="Times New Roman" pitchFamily="18" charset="0"/>
            </a:endParaRPr>
          </a:p>
          <a:p>
            <a:pPr>
              <a:buNone/>
            </a:pPr>
            <a:endParaRPr lang="en-IN" sz="2200" dirty="0" smtClean="0">
              <a:latin typeface="Times New Roman" pitchFamily="18" charset="0"/>
              <a:cs typeface="Times New Roman" pitchFamily="18" charset="0"/>
            </a:endParaRPr>
          </a:p>
          <a:p>
            <a:r>
              <a:rPr lang="en-US" sz="2200" dirty="0" smtClean="0">
                <a:solidFill>
                  <a:srgbClr val="FF0000"/>
                </a:solidFill>
                <a:latin typeface="Times New Roman" pitchFamily="18" charset="0"/>
                <a:cs typeface="Times New Roman" pitchFamily="18" charset="0"/>
              </a:rPr>
              <a:t>The process should be </a:t>
            </a:r>
            <a:r>
              <a:rPr lang="en-US" sz="2200" i="1" dirty="0" smtClean="0">
                <a:solidFill>
                  <a:srgbClr val="FF0000"/>
                </a:solidFill>
                <a:latin typeface="Times New Roman" pitchFamily="18" charset="0"/>
                <a:cs typeface="Times New Roman" pitchFamily="18" charset="0"/>
              </a:rPr>
              <a:t>feature-centric</a:t>
            </a:r>
            <a:r>
              <a:rPr lang="en-US" sz="2200" dirty="0" smtClean="0">
                <a:solidFill>
                  <a:srgbClr val="FF0000"/>
                </a:solidFill>
                <a:latin typeface="Times New Roman" pitchFamily="18" charset="0"/>
                <a:cs typeface="Times New Roman" pitchFamily="18" charset="0"/>
              </a:rPr>
              <a:t>. This means that the units of require- </a:t>
            </a:r>
            <a:r>
              <a:rPr lang="en-US" sz="2200" dirty="0" err="1" smtClean="0">
                <a:solidFill>
                  <a:srgbClr val="FF0000"/>
                </a:solidFill>
                <a:latin typeface="Times New Roman" pitchFamily="18" charset="0"/>
                <a:cs typeface="Times New Roman" pitchFamily="18" charset="0"/>
              </a:rPr>
              <a:t>ments</a:t>
            </a:r>
            <a:r>
              <a:rPr lang="en-US" sz="2200" dirty="0" smtClean="0">
                <a:solidFill>
                  <a:srgbClr val="FF0000"/>
                </a:solidFill>
                <a:latin typeface="Times New Roman" pitchFamily="18" charset="0"/>
                <a:cs typeface="Times New Roman" pitchFamily="18" charset="0"/>
              </a:rPr>
              <a:t> (e.g., use cases, user stories) should be unified with the units of plan- </a:t>
            </a:r>
            <a:r>
              <a:rPr lang="en-US" sz="2200" dirty="0" err="1" smtClean="0">
                <a:solidFill>
                  <a:srgbClr val="FF0000"/>
                </a:solidFill>
                <a:latin typeface="Times New Roman" pitchFamily="18" charset="0"/>
                <a:cs typeface="Times New Roman" pitchFamily="18" charset="0"/>
              </a:rPr>
              <a:t>ning</a:t>
            </a:r>
            <a:r>
              <a:rPr lang="en-US" sz="2200" dirty="0" smtClean="0">
                <a:solidFill>
                  <a:srgbClr val="FF0000"/>
                </a:solidFill>
                <a:latin typeface="Times New Roman" pitchFamily="18" charset="0"/>
                <a:cs typeface="Times New Roman" pitchFamily="18" charset="0"/>
              </a:rPr>
              <a:t> (e.g., work packages and tasks).</a:t>
            </a:r>
            <a:r>
              <a:rPr lang="en-IN" sz="2200" dirty="0" smtClean="0">
                <a:solidFill>
                  <a:srgbClr val="FF0000"/>
                </a:solidFill>
                <a:latin typeface="Times New Roman" pitchFamily="18" charset="0"/>
                <a:cs typeface="Times New Roman" pitchFamily="18" charset="0"/>
              </a:rPr>
              <a:t> </a:t>
            </a:r>
          </a:p>
          <a:p>
            <a:r>
              <a:rPr lang="en-US" sz="2200" dirty="0" smtClean="0">
                <a:solidFill>
                  <a:srgbClr val="FF0000"/>
                </a:solidFill>
                <a:latin typeface="Times New Roman" pitchFamily="18" charset="0"/>
                <a:cs typeface="Times New Roman" pitchFamily="18" charset="0"/>
              </a:rPr>
              <a:t>Project planning should be based around </a:t>
            </a:r>
            <a:r>
              <a:rPr lang="en-US" sz="2200" i="1" dirty="0" err="1" smtClean="0">
                <a:solidFill>
                  <a:srgbClr val="FF0000"/>
                </a:solidFill>
                <a:latin typeface="Times New Roman" pitchFamily="18" charset="0"/>
                <a:cs typeface="Times New Roman" pitchFamily="18" charset="0"/>
              </a:rPr>
              <a:t>timeboxes</a:t>
            </a:r>
            <a:r>
              <a:rPr lang="en-US" sz="2200" i="1" dirty="0" smtClean="0">
                <a:solidFill>
                  <a:srgbClr val="FF0000"/>
                </a:solidFill>
                <a:latin typeface="Times New Roman" pitchFamily="18" charset="0"/>
                <a:cs typeface="Times New Roman" pitchFamily="18" charset="0"/>
              </a:rPr>
              <a:t> </a:t>
            </a:r>
            <a:r>
              <a:rPr lang="en-US" sz="2200" dirty="0" smtClean="0">
                <a:solidFill>
                  <a:srgbClr val="FF0000"/>
                </a:solidFill>
                <a:latin typeface="Times New Roman" pitchFamily="18" charset="0"/>
                <a:cs typeface="Times New Roman" pitchFamily="18" charset="0"/>
              </a:rPr>
              <a:t>(rather than phases) so that the length of each iteration is known.</a:t>
            </a:r>
            <a:r>
              <a:rPr lang="en-IN" sz="2200" dirty="0" smtClean="0">
                <a:solidFill>
                  <a:srgbClr val="FF0000"/>
                </a:solidFill>
                <a:latin typeface="Times New Roman" pitchFamily="18" charset="0"/>
                <a:cs typeface="Times New Roman" pitchFamily="18" charset="0"/>
              </a:rPr>
              <a:t> </a:t>
            </a:r>
          </a:p>
          <a:p>
            <a:r>
              <a:rPr lang="en-US" sz="2200" dirty="0" smtClean="0">
                <a:solidFill>
                  <a:srgbClr val="FF0000"/>
                </a:solidFill>
                <a:latin typeface="Times New Roman" pitchFamily="18" charset="0"/>
                <a:cs typeface="Times New Roman" pitchFamily="18" charset="0"/>
              </a:rPr>
              <a:t>The project plan should be </a:t>
            </a:r>
            <a:r>
              <a:rPr lang="en-US" sz="2200" i="1" dirty="0" smtClean="0">
                <a:solidFill>
                  <a:srgbClr val="FF0000"/>
                </a:solidFill>
                <a:latin typeface="Times New Roman" pitchFamily="18" charset="0"/>
                <a:cs typeface="Times New Roman" pitchFamily="18" charset="0"/>
              </a:rPr>
              <a:t>adaptive </a:t>
            </a:r>
            <a:r>
              <a:rPr lang="en-US" sz="2200" dirty="0" smtClean="0">
                <a:solidFill>
                  <a:srgbClr val="FF0000"/>
                </a:solidFill>
                <a:latin typeface="Times New Roman" pitchFamily="18" charset="0"/>
                <a:cs typeface="Times New Roman" pitchFamily="18" charset="0"/>
              </a:rPr>
              <a:t>that is responsive to the changing risks and benefits of the system and business environment.</a:t>
            </a:r>
            <a:endParaRPr lang="en-IN" sz="2200" dirty="0" smtClean="0">
              <a:solidFill>
                <a:srgbClr val="FF0000"/>
              </a:solidFill>
              <a:latin typeface="Times New Roman" pitchFamily="18" charset="0"/>
              <a:cs typeface="Times New Roman" pitchFamily="18" charset="0"/>
            </a:endParaRPr>
          </a:p>
          <a:p>
            <a:endParaRPr lang="en-IN" sz="2000" dirty="0" smtClean="0"/>
          </a:p>
          <a:p>
            <a:pPr>
              <a:buNone/>
            </a:pPr>
            <a:r>
              <a:rPr lang="en-US" sz="2000" dirty="0" smtClean="0"/>
              <a:t/>
            </a:r>
            <a:br>
              <a:rPr lang="en-US" sz="2000" dirty="0" smtClean="0"/>
            </a:br>
            <a:endParaRPr lang="en-IN" sz="2000"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spcBef>
                <a:spcPct val="0"/>
              </a:spcBef>
            </a:pPr>
            <a:r>
              <a:rPr lang="en-US" sz="2800" b="1" dirty="0">
                <a:latin typeface="Times New Roman" pitchFamily="18" charset="0"/>
                <a:cs typeface="Times New Roman" pitchFamily="18" charset="0"/>
              </a:rPr>
              <a:t>Feature-Centric Development</a:t>
            </a:r>
            <a:r>
              <a:rPr lang="en-IN" b="1" dirty="0"/>
              <a:t/>
            </a:r>
            <a:br>
              <a:rPr lang="en-IN" b="1" dirty="0"/>
            </a:br>
            <a:endParaRPr lang="en-IN" dirty="0"/>
          </a:p>
        </p:txBody>
      </p:sp>
      <p:sp>
        <p:nvSpPr>
          <p:cNvPr id="3" name="Content Placeholder 2"/>
          <p:cNvSpPr>
            <a:spLocks noGrp="1"/>
          </p:cNvSpPr>
          <p:nvPr>
            <p:ph idx="1"/>
          </p:nvPr>
        </p:nvSpPr>
        <p:spPr>
          <a:xfrm>
            <a:off x="228600" y="1143000"/>
            <a:ext cx="8686800" cy="4983163"/>
          </a:xfrm>
        </p:spPr>
        <p:txBody>
          <a:bodyPr>
            <a:normAutofit/>
          </a:bodyPr>
          <a:lstStyle/>
          <a:p>
            <a:pPr>
              <a:buNone/>
            </a:pPr>
            <a:r>
              <a:rPr lang="en-US" sz="2600" dirty="0" smtClean="0">
                <a:latin typeface="Times New Roman" pitchFamily="18" charset="0"/>
                <a:cs typeface="Times New Roman" pitchFamily="18" charset="0"/>
              </a:rPr>
              <a:t>The term feature-centric is used to refer to development processes that combine the expression of requirements with the units of activity for planning purposes. A feature in such a process can be viewed as a unit of “</a:t>
            </a:r>
            <a:r>
              <a:rPr lang="en-US" sz="2600" dirty="0" err="1" smtClean="0">
                <a:latin typeface="Times New Roman" pitchFamily="18" charset="0"/>
                <a:cs typeface="Times New Roman" pitchFamily="18" charset="0"/>
              </a:rPr>
              <a:t>plannable</a:t>
            </a:r>
            <a:r>
              <a:rPr lang="en-US" sz="2600" dirty="0" smtClean="0">
                <a:latin typeface="Times New Roman" pitchFamily="18" charset="0"/>
                <a:cs typeface="Times New Roman" pitchFamily="18" charset="0"/>
              </a:rPr>
              <a:t> functionality.” </a:t>
            </a:r>
          </a:p>
          <a:p>
            <a:pPr>
              <a:buNone/>
            </a:pPr>
            <a:r>
              <a:rPr lang="en-US" sz="2600" dirty="0" smtClean="0">
                <a:latin typeface="Times New Roman" pitchFamily="18" charset="0"/>
                <a:cs typeface="Times New Roman" pitchFamily="18" charset="0"/>
              </a:rPr>
              <a:t>A feature is a schedulable piece of functionality, something that delivers value to the user. Note the emphasis on schedulable. That is, a feature is derived from a planning perspective rather than from the user perspective or indeed the requirements perspective. This is an important distinction and why features differ from requirements, user stories or use cases (even if they are derived from them).</a:t>
            </a:r>
            <a:endParaRPr lang="en-IN" sz="2600" dirty="0" smtClean="0">
              <a:latin typeface="Times New Roman" pitchFamily="18" charset="0"/>
              <a:cs typeface="Times New Roman" pitchFamily="18" charset="0"/>
            </a:endParaRPr>
          </a:p>
          <a:p>
            <a:pPr>
              <a:buNone/>
            </a:pP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5973763"/>
          </a:xfrm>
        </p:spPr>
        <p:txBody>
          <a:bodyPr>
            <a:normAutofit/>
          </a:bodyPr>
          <a:lstStyle/>
          <a:p>
            <a:pPr>
              <a:buNone/>
            </a:pPr>
            <a:r>
              <a:rPr lang="en-US" sz="2600" dirty="0" smtClean="0">
                <a:latin typeface="Times New Roman" pitchFamily="18" charset="0"/>
                <a:cs typeface="Times New Roman" pitchFamily="18" charset="0"/>
              </a:rPr>
              <a:t>   To aid in planning, features go further, they must also be associated with:</a:t>
            </a:r>
            <a:endParaRPr lang="en-IN" sz="2600" dirty="0" smtClean="0">
              <a:latin typeface="Times New Roman" pitchFamily="18" charset="0"/>
              <a:cs typeface="Times New Roman" pitchFamily="18" charset="0"/>
            </a:endParaRPr>
          </a:p>
          <a:p>
            <a:r>
              <a:rPr lang="en-US" sz="2600" dirty="0" smtClean="0">
                <a:solidFill>
                  <a:srgbClr val="FF0000"/>
                </a:solidFill>
                <a:latin typeface="Times New Roman" pitchFamily="18" charset="0"/>
                <a:cs typeface="Times New Roman" pitchFamily="18" charset="0"/>
              </a:rPr>
              <a:t>a priority (so that they can be ordered),</a:t>
            </a:r>
            <a:endParaRPr lang="en-IN" sz="2600" dirty="0" smtClean="0">
              <a:solidFill>
                <a:srgbClr val="FF0000"/>
              </a:solidFill>
              <a:latin typeface="Times New Roman" pitchFamily="18" charset="0"/>
              <a:cs typeface="Times New Roman" pitchFamily="18" charset="0"/>
            </a:endParaRPr>
          </a:p>
          <a:p>
            <a:r>
              <a:rPr lang="en-US" sz="2600" dirty="0" smtClean="0">
                <a:solidFill>
                  <a:srgbClr val="FF0000"/>
                </a:solidFill>
                <a:latin typeface="Times New Roman" pitchFamily="18" charset="0"/>
                <a:cs typeface="Times New Roman" pitchFamily="18" charset="0"/>
              </a:rPr>
              <a:t>a cost (so that they can be accounted for),</a:t>
            </a:r>
            <a:endParaRPr lang="en-IN" sz="2600" dirty="0" smtClean="0">
              <a:solidFill>
                <a:srgbClr val="FF0000"/>
              </a:solidFill>
              <a:latin typeface="Times New Roman" pitchFamily="18" charset="0"/>
              <a:cs typeface="Times New Roman" pitchFamily="18" charset="0"/>
            </a:endParaRPr>
          </a:p>
          <a:p>
            <a:r>
              <a:rPr lang="en-US" sz="2600" dirty="0" smtClean="0">
                <a:solidFill>
                  <a:srgbClr val="FF0000"/>
                </a:solidFill>
                <a:latin typeface="Times New Roman" pitchFamily="18" charset="0"/>
                <a:cs typeface="Times New Roman" pitchFamily="18" charset="0"/>
              </a:rPr>
              <a:t>resources (so that they can be scheduled).</a:t>
            </a:r>
            <a:endParaRPr lang="en-IN" sz="2600" dirty="0" smtClean="0">
              <a:solidFill>
                <a:srgbClr val="FF0000"/>
              </a:solidFill>
              <a:latin typeface="Times New Roman" pitchFamily="18" charset="0"/>
              <a:cs typeface="Times New Roman" pitchFamily="18" charset="0"/>
            </a:endParaRPr>
          </a:p>
          <a:p>
            <a:pPr>
              <a:buNone/>
            </a:pPr>
            <a:r>
              <a:rPr lang="en-US" sz="2600" dirty="0" smtClean="0">
                <a:latin typeface="Times New Roman" pitchFamily="18" charset="0"/>
                <a:cs typeface="Times New Roman" pitchFamily="18" charset="0"/>
              </a:rPr>
              <a:t>   Costs and resources can be determined by examining the number of person days taken to accomplish the feature. Priority can be harder to determine but should take into account:</a:t>
            </a:r>
            <a:endParaRPr lang="en-IN" sz="2600" dirty="0" smtClean="0">
              <a:latin typeface="Times New Roman" pitchFamily="18" charset="0"/>
              <a:cs typeface="Times New Roman" pitchFamily="18" charset="0"/>
            </a:endParaRPr>
          </a:p>
          <a:p>
            <a:r>
              <a:rPr lang="en-US" sz="2600" dirty="0" smtClean="0">
                <a:solidFill>
                  <a:srgbClr val="FF0000"/>
                </a:solidFill>
                <a:latin typeface="Times New Roman" pitchFamily="18" charset="0"/>
                <a:cs typeface="Times New Roman" pitchFamily="18" charset="0"/>
              </a:rPr>
              <a:t>Architectural importance of the feature.</a:t>
            </a:r>
            <a:endParaRPr lang="en-IN" sz="2600" dirty="0" smtClean="0">
              <a:solidFill>
                <a:srgbClr val="FF0000"/>
              </a:solidFill>
              <a:latin typeface="Times New Roman" pitchFamily="18" charset="0"/>
              <a:cs typeface="Times New Roman" pitchFamily="18" charset="0"/>
            </a:endParaRPr>
          </a:p>
          <a:p>
            <a:r>
              <a:rPr lang="en-US" sz="2600" dirty="0" smtClean="0">
                <a:solidFill>
                  <a:srgbClr val="FF0000"/>
                </a:solidFill>
                <a:latin typeface="Times New Roman" pitchFamily="18" charset="0"/>
                <a:cs typeface="Times New Roman" pitchFamily="18" charset="0"/>
              </a:rPr>
              <a:t>Utility to the user.</a:t>
            </a:r>
            <a:endParaRPr lang="en-IN" sz="2600" dirty="0" smtClean="0">
              <a:solidFill>
                <a:srgbClr val="FF0000"/>
              </a:solidFill>
              <a:latin typeface="Times New Roman" pitchFamily="18" charset="0"/>
              <a:cs typeface="Times New Roman" pitchFamily="18" charset="0"/>
            </a:endParaRPr>
          </a:p>
          <a:p>
            <a:r>
              <a:rPr lang="en-US" sz="2600" dirty="0" smtClean="0">
                <a:solidFill>
                  <a:srgbClr val="FF0000"/>
                </a:solidFill>
                <a:latin typeface="Times New Roman" pitchFamily="18" charset="0"/>
                <a:cs typeface="Times New Roman" pitchFamily="18" charset="0"/>
              </a:rPr>
              <a:t>Risk involved.</a:t>
            </a:r>
            <a:endParaRPr lang="en-IN" sz="2600" dirty="0" smtClean="0">
              <a:solidFill>
                <a:srgbClr val="FF0000"/>
              </a:solidFill>
              <a:latin typeface="Times New Roman" pitchFamily="18" charset="0"/>
              <a:cs typeface="Times New Roman" pitchFamily="18" charset="0"/>
            </a:endParaRPr>
          </a:p>
          <a:p>
            <a:r>
              <a:rPr lang="en-US" sz="2600" dirty="0" smtClean="0">
                <a:solidFill>
                  <a:srgbClr val="FF0000"/>
                </a:solidFill>
                <a:latin typeface="Times New Roman" pitchFamily="18" charset="0"/>
                <a:cs typeface="Times New Roman" pitchFamily="18" charset="0"/>
              </a:rPr>
              <a:t>Requirements of the system/use cases.</a:t>
            </a:r>
            <a:endParaRPr lang="en-IN" sz="2600" dirty="0" smtClean="0">
              <a:solidFill>
                <a:srgbClr val="FF0000"/>
              </a:solidFill>
              <a:latin typeface="Times New Roman" pitchFamily="18" charset="0"/>
              <a:cs typeface="Times New Roman" pitchFamily="18" charset="0"/>
            </a:endParaRPr>
          </a:p>
          <a:p>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00800"/>
          </a:xfrm>
        </p:spPr>
        <p:txBody>
          <a:bodyPr>
            <a:normAutofit fontScale="92500" lnSpcReduction="20000"/>
          </a:bodyPr>
          <a:lstStyle/>
          <a:p>
            <a:pPr>
              <a:buNone/>
            </a:pPr>
            <a:r>
              <a:rPr lang="en-US" dirty="0" smtClean="0">
                <a:latin typeface="Times New Roman" pitchFamily="18" charset="0"/>
                <a:cs typeface="Times New Roman" pitchFamily="18" charset="0"/>
              </a:rPr>
              <a:t>  To illustrate what I mean by a feature, consider the requirement “Add a New File” to an application. This might be described by a user story that explains how the user might add a new file to a file auditing system. The user story describes</a:t>
            </a:r>
            <a:endParaRPr lang="en-IN"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this activity from the perspective of the user (obviously) and without reference to resource or costs (although user stories do have a relative priority). From this we can extract one or more system features that will be needed to implement this requirement. For example, these might be:</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“New File Dialog” feature.</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Java business objects for new file creation feature.</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New file details XML writer.</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spcBef>
                <a:spcPct val="0"/>
              </a:spcBef>
            </a:pPr>
            <a:r>
              <a:rPr lang="en-US" sz="3200" b="1" dirty="0" err="1">
                <a:latin typeface="Times New Roman" pitchFamily="18" charset="0"/>
                <a:cs typeface="Times New Roman" pitchFamily="18" charset="0"/>
              </a:rPr>
              <a:t>Timeboxing</a:t>
            </a:r>
            <a:r>
              <a:rPr lang="en-US" sz="3200" b="1" dirty="0">
                <a:latin typeface="Times New Roman" pitchFamily="18" charset="0"/>
                <a:cs typeface="Times New Roman" pitchFamily="18" charset="0"/>
              </a:rPr>
              <a:t> Iterations</a:t>
            </a:r>
            <a:r>
              <a:rPr lang="en-IN" b="1" dirty="0"/>
              <a:t/>
            </a:r>
            <a:br>
              <a:rPr lang="en-IN" b="1" dirty="0"/>
            </a:br>
            <a:endParaRPr lang="en-IN" dirty="0"/>
          </a:p>
        </p:txBody>
      </p:sp>
      <p:sp>
        <p:nvSpPr>
          <p:cNvPr id="3" name="Content Placeholder 2"/>
          <p:cNvSpPr>
            <a:spLocks noGrp="1"/>
          </p:cNvSpPr>
          <p:nvPr>
            <p:ph idx="1"/>
          </p:nvPr>
        </p:nvSpPr>
        <p:spPr>
          <a:xfrm>
            <a:off x="381000" y="1295400"/>
            <a:ext cx="8458200" cy="5257800"/>
          </a:xfrm>
        </p:spPr>
        <p:txBody>
          <a:bodyPr>
            <a:normAutofit fontScale="85000" lnSpcReduction="20000"/>
          </a:bodyPr>
          <a:lstStyle/>
          <a:p>
            <a:pPr>
              <a:buNone/>
            </a:pPr>
            <a:r>
              <a:rPr lang="en-US" dirty="0" smtClean="0">
                <a:latin typeface="Times New Roman" pitchFamily="18" charset="0"/>
                <a:cs typeface="Times New Roman" pitchFamily="18" charset="0"/>
              </a:rPr>
              <a:t>     Rather than defining each iteration by the features it will implement, it is possible to define an iteration in terms of the time period it will take and the ordered list of features that will be attempted during the time period. Features that are lower down the priority list will only be attempted if time allows, otherwise they will be relegated to a later iteration.</a:t>
            </a:r>
            <a:endParaRPr lang="en-IN"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Timeboxing</a:t>
            </a:r>
            <a:r>
              <a:rPr lang="en-US" dirty="0" smtClean="0">
                <a:latin typeface="Times New Roman" pitchFamily="18" charset="0"/>
                <a:cs typeface="Times New Roman" pitchFamily="18" charset="0"/>
              </a:rPr>
              <a:t> iteration has a number of benefits including the ability to:</a:t>
            </a:r>
            <a:endParaRPr lang="en-IN" dirty="0" smtClean="0">
              <a:latin typeface="Times New Roman" pitchFamily="18" charset="0"/>
              <a:cs typeface="Times New Roman" pitchFamily="18" charset="0"/>
            </a:endParaRPr>
          </a:p>
          <a:p>
            <a:r>
              <a:rPr lang="en-US" dirty="0" smtClean="0">
                <a:solidFill>
                  <a:srgbClr val="FF0000"/>
                </a:solidFill>
                <a:latin typeface="Times New Roman" pitchFamily="18" charset="0"/>
                <a:cs typeface="Times New Roman" pitchFamily="18" charset="0"/>
              </a:rPr>
              <a:t> schedule and plan for incremental releases of the software,</a:t>
            </a:r>
            <a:endParaRPr lang="en-IN" dirty="0" smtClean="0">
              <a:solidFill>
                <a:srgbClr val="FF0000"/>
              </a:solidFill>
              <a:latin typeface="Times New Roman" pitchFamily="18" charset="0"/>
              <a:cs typeface="Times New Roman" pitchFamily="18" charset="0"/>
            </a:endParaRPr>
          </a:p>
          <a:p>
            <a:r>
              <a:rPr lang="en-US" dirty="0" smtClean="0">
                <a:solidFill>
                  <a:srgbClr val="FF0000"/>
                </a:solidFill>
                <a:latin typeface="Times New Roman" pitchFamily="18" charset="0"/>
                <a:cs typeface="Times New Roman" pitchFamily="18" charset="0"/>
              </a:rPr>
              <a:t>schedule and implement features,</a:t>
            </a:r>
            <a:endParaRPr lang="en-IN" dirty="0" smtClean="0">
              <a:solidFill>
                <a:srgbClr val="FF0000"/>
              </a:solidFill>
              <a:latin typeface="Times New Roman" pitchFamily="18" charset="0"/>
              <a:cs typeface="Times New Roman" pitchFamily="18" charset="0"/>
            </a:endParaRPr>
          </a:p>
          <a:p>
            <a:r>
              <a:rPr lang="en-US" dirty="0" smtClean="0">
                <a:solidFill>
                  <a:srgbClr val="FF0000"/>
                </a:solidFill>
                <a:latin typeface="Times New Roman" pitchFamily="18" charset="0"/>
                <a:cs typeface="Times New Roman" pitchFamily="18" charset="0"/>
              </a:rPr>
              <a:t>manage budgets,</a:t>
            </a:r>
            <a:endParaRPr lang="en-IN" dirty="0" smtClean="0">
              <a:solidFill>
                <a:srgbClr val="FF0000"/>
              </a:solidFill>
              <a:latin typeface="Times New Roman" pitchFamily="18" charset="0"/>
              <a:cs typeface="Times New Roman" pitchFamily="18" charset="0"/>
            </a:endParaRPr>
          </a:p>
          <a:p>
            <a:r>
              <a:rPr lang="en-US" dirty="0" smtClean="0">
                <a:solidFill>
                  <a:srgbClr val="FF0000"/>
                </a:solidFill>
                <a:latin typeface="Times New Roman" pitchFamily="18" charset="0"/>
                <a:cs typeface="Times New Roman" pitchFamily="18" charset="0"/>
              </a:rPr>
              <a:t>monitor progress within fixed time constraints.</a:t>
            </a:r>
            <a:endParaRPr lang="en-IN" dirty="0" smtClean="0">
              <a:solidFill>
                <a:srgbClr val="FF0000"/>
              </a:solidFill>
              <a:latin typeface="Times New Roman" pitchFamily="18" charset="0"/>
              <a:cs typeface="Times New Roman" pitchFamily="18" charset="0"/>
            </a:endParaRPr>
          </a:p>
          <a:p>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spcBef>
                <a:spcPct val="0"/>
              </a:spcBef>
            </a:pPr>
            <a:r>
              <a:rPr lang="en-US" sz="3600" b="1" dirty="0">
                <a:latin typeface="Times New Roman" pitchFamily="18" charset="0"/>
                <a:cs typeface="Times New Roman" pitchFamily="18" charset="0"/>
              </a:rPr>
              <a:t>Being Adaptive but Managed</a:t>
            </a:r>
            <a:r>
              <a:rPr lang="en-IN" b="1" dirty="0"/>
              <a:t/>
            </a:r>
            <a:br>
              <a:rPr lang="en-IN" b="1" dirty="0"/>
            </a:br>
            <a:endParaRPr lang="en-IN" dirty="0"/>
          </a:p>
        </p:txBody>
      </p:sp>
      <p:sp>
        <p:nvSpPr>
          <p:cNvPr id="3" name="Content Placeholder 2"/>
          <p:cNvSpPr>
            <a:spLocks noGrp="1"/>
          </p:cNvSpPr>
          <p:nvPr>
            <p:ph idx="1"/>
          </p:nvPr>
        </p:nvSpPr>
        <p:spPr/>
        <p:txBody>
          <a:bodyPr/>
          <a:lstStyle/>
          <a:p>
            <a:pPr>
              <a:buNone/>
            </a:pPr>
            <a:r>
              <a:rPr lang="en-US" dirty="0" smtClean="0">
                <a:latin typeface="Times New Roman" pitchFamily="18" charset="0"/>
                <a:cs typeface="Times New Roman" pitchFamily="18" charset="0"/>
              </a:rPr>
              <a:t>An iterative project is effectively planned and re-planned at each stage of the spiral presented back in Figure 9.2. There is an overall planning activity before the whole process starts and then there are planning activities at the start of each iteration. In addition, regular (weekly) reviews may also affect the current plan for an iteration.</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Planning an Iterative Project</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a:xfrm>
            <a:off x="457200" y="1371600"/>
            <a:ext cx="8229600" cy="4754563"/>
          </a:xfrm>
        </p:spPr>
        <p:txBody>
          <a:bodyPr>
            <a:normAutofit fontScale="77500" lnSpcReduction="20000"/>
          </a:bodyPr>
          <a:lstStyle/>
          <a:p>
            <a:pPr>
              <a:buNone/>
            </a:pPr>
            <a:r>
              <a:rPr lang="en-US" dirty="0" smtClean="0">
                <a:latin typeface="Times New Roman" pitchFamily="18" charset="0"/>
                <a:cs typeface="Times New Roman" pitchFamily="18" charset="0"/>
              </a:rPr>
              <a:t>     Before any project embarks on an iteration development process there are a number of steps that should be followed. </a:t>
            </a:r>
          </a:p>
          <a:p>
            <a:pPr>
              <a:buNone/>
            </a:pPr>
            <a:r>
              <a:rPr lang="en-US" dirty="0" smtClean="0">
                <a:latin typeface="Times New Roman" pitchFamily="18" charset="0"/>
                <a:cs typeface="Times New Roman" pitchFamily="18" charset="0"/>
              </a:rPr>
              <a:t>These steps are:</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Identify and priorities features (the feature list should be continually revised throughout the project).</a:t>
            </a:r>
            <a:r>
              <a:rPr lang="en-IN"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Roughly identify iterations and allocate features. Time box iterations/calculate costs.</a:t>
            </a:r>
            <a:r>
              <a:rPr lang="en-IN"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For each iteration</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Plan iterations (which should be continually revised during lifetime of project).</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Identify tasks required to implement features.</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Allocate tasks to resources (that is, allocate tasks to project members).</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Implement iteration.</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spcBef>
                <a:spcPct val="0"/>
              </a:spcBef>
            </a:pPr>
            <a:r>
              <a:rPr lang="en-US" sz="3200" b="1" dirty="0">
                <a:latin typeface="Times New Roman" pitchFamily="18" charset="0"/>
                <a:cs typeface="Times New Roman" pitchFamily="18" charset="0"/>
              </a:rPr>
              <a:t>Iterations, </a:t>
            </a:r>
            <a:r>
              <a:rPr lang="en-US" sz="3200" b="1" dirty="0" err="1">
                <a:latin typeface="Times New Roman" pitchFamily="18" charset="0"/>
                <a:cs typeface="Times New Roman" pitchFamily="18" charset="0"/>
              </a:rPr>
              <a:t>Timeboxes</a:t>
            </a:r>
            <a:r>
              <a:rPr lang="en-US" sz="3200" b="1" dirty="0">
                <a:latin typeface="Times New Roman" pitchFamily="18" charset="0"/>
                <a:cs typeface="Times New Roman" pitchFamily="18" charset="0"/>
              </a:rPr>
              <a:t> and Releases</a:t>
            </a:r>
            <a:r>
              <a:rPr lang="en-IN" b="1" dirty="0"/>
              <a:t/>
            </a:r>
            <a:br>
              <a:rPr lang="en-IN" b="1" dirty="0"/>
            </a:br>
            <a:endParaRPr lang="en-IN" dirty="0"/>
          </a:p>
        </p:txBody>
      </p:sp>
      <p:sp>
        <p:nvSpPr>
          <p:cNvPr id="3" name="Content Placeholder 2"/>
          <p:cNvSpPr>
            <a:spLocks noGrp="1"/>
          </p:cNvSpPr>
          <p:nvPr>
            <p:ph idx="1"/>
          </p:nvPr>
        </p:nvSpPr>
        <p:spPr/>
        <p:txBody>
          <a:bodyPr>
            <a:normAutofit fontScale="92500" lnSpcReduction="10000"/>
          </a:bodyPr>
          <a:lstStyle/>
          <a:p>
            <a:r>
              <a:rPr lang="en-US" dirty="0" smtClean="0">
                <a:latin typeface="Times New Roman" pitchFamily="18" charset="0"/>
                <a:cs typeface="Times New Roman" pitchFamily="18" charset="0"/>
              </a:rPr>
              <a:t>First let us review the overall project planning process. This is illustrated in Figure 9.3. We will discuss this figure in more detail below.</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At the start of the project, the project team along with various project stake- holders create a prioritized feature list. Note that this cannot be done without the collaboration of those project stakeholders who can state what the priorities of the features should be. Thus, as with XP, the “business” is an essential part of this process.</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Grp="1" noChangeAspect="1" noChangeArrowheads="1"/>
          </p:cNvPicPr>
          <p:nvPr>
            <p:ph idx="1"/>
          </p:nvPr>
        </p:nvPicPr>
        <p:blipFill>
          <a:blip r:embed="rId2" cstate="print"/>
          <a:srcRect/>
          <a:stretch>
            <a:fillRect/>
          </a:stretch>
        </p:blipFill>
        <p:spPr bwMode="auto">
          <a:xfrm>
            <a:off x="533400" y="304800"/>
            <a:ext cx="8305800" cy="655320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55000" lnSpcReduction="20000"/>
          </a:bodyPr>
          <a:lstStyle/>
          <a:p>
            <a:r>
              <a:rPr lang="en-US" dirty="0" smtClean="0">
                <a:latin typeface="Times New Roman" pitchFamily="18" charset="0"/>
                <a:cs typeface="Times New Roman" pitchFamily="18" charset="0"/>
              </a:rPr>
              <a:t>As an example, consider the following iteration plan, taken from an actual project of a few years ago. There are five iterations in total for a legal advice expert system. The first iteration aimed to explore the problem domain and to produce a prototype expert system based on </a:t>
            </a:r>
            <a:r>
              <a:rPr lang="en-US" dirty="0" err="1" smtClean="0">
                <a:latin typeface="Times New Roman" pitchFamily="18" charset="0"/>
                <a:cs typeface="Times New Roman" pitchFamily="18" charset="0"/>
              </a:rPr>
              <a:t>acombination</a:t>
            </a:r>
            <a:r>
              <a:rPr lang="en-US" dirty="0" smtClean="0">
                <a:latin typeface="Times New Roman" pitchFamily="18" charset="0"/>
                <a:cs typeface="Times New Roman" pitchFamily="18" charset="0"/>
              </a:rPr>
              <a:t> of a simple Case-Based Reasoning system and a Rule-Based Reasoning system. The second iteration aimed to fill out this prototype with a larger amount of domain knowledge to confirm the viability of the approach. Iteration 3 then aimed to produce a commercial quality version of the initial prototype. Iteration 4 introduced a variety of management information system aspects to the system to review results, advice given, problems not dealt with, etc. The final iteration would address user feedback and any deployment issues encountered earlier in the project.</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 timing for the iterations were</a:t>
            </a:r>
            <a:endParaRPr lang="en-IN"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Iteration 1</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Analyse</a:t>
            </a:r>
            <a:r>
              <a:rPr lang="en-US" dirty="0" smtClean="0">
                <a:latin typeface="Times New Roman" pitchFamily="18" charset="0"/>
                <a:cs typeface="Times New Roman" pitchFamily="18" charset="0"/>
              </a:rPr>
              <a:t> and Prototype</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58 person days. April 2003 – end of June 2003</a:t>
            </a:r>
            <a:endParaRPr lang="en-IN"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Iteration 2</a:t>
            </a:r>
            <a:r>
              <a:rPr lang="en-US" dirty="0" smtClean="0">
                <a:latin typeface="Times New Roman" pitchFamily="18" charset="0"/>
                <a:cs typeface="Times New Roman" pitchFamily="18" charset="0"/>
              </a:rPr>
              <a:t>: Prototype II</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119 person days. July 2003 – start of December 2003</a:t>
            </a:r>
            <a:endParaRPr lang="en-IN"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Iteration 3</a:t>
            </a:r>
            <a:r>
              <a:rPr lang="en-US" dirty="0" smtClean="0">
                <a:latin typeface="Times New Roman" pitchFamily="18" charset="0"/>
                <a:cs typeface="Times New Roman" pitchFamily="18" charset="0"/>
              </a:rPr>
              <a:t>: Pilot and Develop</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55 person days. December 2003 – end of February 2004</a:t>
            </a:r>
            <a:endParaRPr lang="en-IN"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Iteration 4</a:t>
            </a:r>
            <a:r>
              <a:rPr lang="en-US" dirty="0" smtClean="0">
                <a:latin typeface="Times New Roman" pitchFamily="18" charset="0"/>
                <a:cs typeface="Times New Roman" pitchFamily="18" charset="0"/>
              </a:rPr>
              <a:t>: Develop II</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41 person days. March 2004 – April 2004</a:t>
            </a:r>
            <a:endParaRPr lang="en-IN"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Iteration 5</a:t>
            </a:r>
            <a:r>
              <a:rPr lang="en-US" dirty="0" smtClean="0">
                <a:latin typeface="Times New Roman" pitchFamily="18" charset="0"/>
                <a:cs typeface="Times New Roman" pitchFamily="18" charset="0"/>
              </a:rPr>
              <a:t>: Final Release</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16 person days. End of April 2004 – mid May 2004.</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cstate="print"/>
          <a:srcRect/>
          <a:stretch>
            <a:fillRect/>
          </a:stretch>
        </p:blipFill>
        <p:spPr bwMode="auto">
          <a:xfrm>
            <a:off x="0" y="990600"/>
            <a:ext cx="9144000" cy="3653631"/>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spcBef>
                <a:spcPct val="0"/>
              </a:spcBef>
            </a:pPr>
            <a:r>
              <a:rPr lang="en-US" sz="3200" b="1" dirty="0">
                <a:latin typeface="Times New Roman" pitchFamily="18" charset="0"/>
                <a:cs typeface="Times New Roman" pitchFamily="18" charset="0"/>
              </a:rPr>
              <a:t>Planning an Iteration</a:t>
            </a:r>
            <a:r>
              <a:rPr lang="en-IN" b="1" dirty="0"/>
              <a:t/>
            </a:r>
            <a:br>
              <a:rPr lang="en-IN" b="1" dirty="0"/>
            </a:br>
            <a:endParaRPr lang="en-IN" dirty="0"/>
          </a:p>
        </p:txBody>
      </p:sp>
      <p:sp>
        <p:nvSpPr>
          <p:cNvPr id="3" name="Content Placeholder 2"/>
          <p:cNvSpPr>
            <a:spLocks noGrp="1"/>
          </p:cNvSpPr>
          <p:nvPr>
            <p:ph idx="1"/>
          </p:nvPr>
        </p:nvSpPr>
        <p:spPr>
          <a:xfrm>
            <a:off x="457200" y="1295400"/>
            <a:ext cx="8229600" cy="4830763"/>
          </a:xfrm>
        </p:spPr>
        <p:txBody>
          <a:bodyPr>
            <a:normAutofit fontScale="92500" lnSpcReduction="20000"/>
          </a:bodyPr>
          <a:lstStyle/>
          <a:p>
            <a:r>
              <a:rPr lang="en-US" dirty="0" smtClean="0">
                <a:latin typeface="Times New Roman" pitchFamily="18" charset="0"/>
                <a:cs typeface="Times New Roman" pitchFamily="18" charset="0"/>
              </a:rPr>
              <a:t>Each iteration will be comprised of a similar set of steps. These steps are presented graphically in Figure 9.4.</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 key steps in any iteration are:</a:t>
            </a:r>
            <a:endParaRPr lang="en-IN" dirty="0" smtClean="0">
              <a:latin typeface="Times New Roman" pitchFamily="18" charset="0"/>
              <a:cs typeface="Times New Roman" pitchFamily="18" charset="0"/>
            </a:endParaRPr>
          </a:p>
          <a:p>
            <a:pPr>
              <a:buNone/>
            </a:pPr>
            <a:endParaRPr lang="en-IN" dirty="0" smtClean="0">
              <a:latin typeface="Times New Roman" pitchFamily="18" charset="0"/>
              <a:cs typeface="Times New Roman" pitchFamily="18" charset="0"/>
            </a:endParaRPr>
          </a:p>
          <a:p>
            <a:pPr lvl="0"/>
            <a:r>
              <a:rPr lang="en-US" i="1" dirty="0" smtClean="0">
                <a:latin typeface="Times New Roman" pitchFamily="18" charset="0"/>
                <a:cs typeface="Times New Roman" pitchFamily="18" charset="0"/>
              </a:rPr>
              <a:t>Iteration initiation meeting</a:t>
            </a:r>
            <a:r>
              <a:rPr lang="en-US" dirty="0" smtClean="0">
                <a:latin typeface="Times New Roman" pitchFamily="18" charset="0"/>
                <a:cs typeface="Times New Roman" pitchFamily="18" charset="0"/>
              </a:rPr>
              <a:t>. The length of the iteration should already have been determined but may be revised at this point. The features to be addressed in this iteration should be revised and confirmed along with the resources to be applied, etc. This meeting should involve all stakeholders in the project.</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p:cNvPicPr>
            <a:picLocks noGrp="1" noChangeAspect="1" noChangeArrowheads="1"/>
          </p:cNvPicPr>
          <p:nvPr>
            <p:ph idx="1"/>
          </p:nvPr>
        </p:nvPicPr>
        <p:blipFill>
          <a:blip r:embed="rId2" cstate="print"/>
          <a:srcRect/>
          <a:stretch>
            <a:fillRect/>
          </a:stretch>
        </p:blipFill>
        <p:spPr bwMode="auto">
          <a:xfrm>
            <a:off x="609600" y="381000"/>
            <a:ext cx="7848600" cy="6477000"/>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0"/>
            <a:ext cx="8991600" cy="5745163"/>
          </a:xfrm>
        </p:spPr>
        <p:txBody>
          <a:bodyPr>
            <a:noAutofit/>
          </a:bodyPr>
          <a:lstStyle/>
          <a:p>
            <a:pPr lvl="0"/>
            <a:r>
              <a:rPr lang="en-US" sz="2000" i="1" dirty="0" smtClean="0">
                <a:latin typeface="Times New Roman" pitchFamily="18" charset="0"/>
                <a:cs typeface="Times New Roman" pitchFamily="18" charset="0"/>
              </a:rPr>
              <a:t>Plan features for iteration</a:t>
            </a:r>
            <a:r>
              <a:rPr lang="en-US" sz="2000" dirty="0" smtClean="0">
                <a:latin typeface="Times New Roman" pitchFamily="18" charset="0"/>
                <a:cs typeface="Times New Roman" pitchFamily="18" charset="0"/>
              </a:rPr>
              <a:t>. Having agreed the features to be addressed, a detailed plan should be produced mapping features to work packages and work packages to tasks. The tasks in turn should be allocated to actual re- sources, etc. </a:t>
            </a:r>
            <a:endParaRPr lang="en-IN" sz="2000" dirty="0" smtClean="0">
              <a:latin typeface="Times New Roman" pitchFamily="18" charset="0"/>
              <a:cs typeface="Times New Roman" pitchFamily="18" charset="0"/>
            </a:endParaRPr>
          </a:p>
          <a:p>
            <a:pPr lvl="0"/>
            <a:r>
              <a:rPr lang="en-US" sz="2000" i="1" dirty="0" err="1" smtClean="0">
                <a:latin typeface="Times New Roman" pitchFamily="18" charset="0"/>
                <a:cs typeface="Times New Roman" pitchFamily="18" charset="0"/>
              </a:rPr>
              <a:t>Analyse</a:t>
            </a:r>
            <a:r>
              <a:rPr lang="en-US" sz="2000" i="1" dirty="0" smtClean="0">
                <a:latin typeface="Times New Roman" pitchFamily="18" charset="0"/>
                <a:cs typeface="Times New Roman" pitchFamily="18" charset="0"/>
              </a:rPr>
              <a:t> the requirements associated with the features</a:t>
            </a:r>
            <a:r>
              <a:rPr lang="en-US" sz="2000" dirty="0" smtClean="0">
                <a:latin typeface="Times New Roman" pitchFamily="18" charset="0"/>
                <a:cs typeface="Times New Roman" pitchFamily="18" charset="0"/>
              </a:rPr>
              <a:t>. This may involve writing or revising a use case document, designing new GUI displays, determining the user interaction sequence, etc. The acceptance criteria for this iteration should also be identified and agreed.</a:t>
            </a:r>
            <a:endParaRPr lang="en-IN" sz="2000" dirty="0" smtClean="0">
              <a:latin typeface="Times New Roman" pitchFamily="18" charset="0"/>
              <a:cs typeface="Times New Roman" pitchFamily="18" charset="0"/>
            </a:endParaRPr>
          </a:p>
          <a:p>
            <a:pPr lvl="0"/>
            <a:r>
              <a:rPr lang="en-US" sz="2000" i="1" dirty="0" err="1" smtClean="0">
                <a:latin typeface="Times New Roman" pitchFamily="18" charset="0"/>
                <a:cs typeface="Times New Roman" pitchFamily="18" charset="0"/>
              </a:rPr>
              <a:t>Analyse</a:t>
            </a:r>
            <a:r>
              <a:rPr lang="en-US" sz="2000" i="1" dirty="0" smtClean="0">
                <a:latin typeface="Times New Roman" pitchFamily="18" charset="0"/>
                <a:cs typeface="Times New Roman" pitchFamily="18" charset="0"/>
              </a:rPr>
              <a:t> impact on the architecture</a:t>
            </a:r>
            <a:r>
              <a:rPr lang="en-US" sz="2000" dirty="0" smtClean="0">
                <a:latin typeface="Times New Roman" pitchFamily="18" charset="0"/>
                <a:cs typeface="Times New Roman" pitchFamily="18" charset="0"/>
              </a:rPr>
              <a:t>. The architecture is the backbone upon which the iterative process operates, therefore the next step to perform is to examine the impact any new features are likely to have on the architecture. It may also involve identifying new architecturally significant entities that feed into the next step.</a:t>
            </a:r>
            <a:endParaRPr lang="en-IN" sz="2000" dirty="0" smtClean="0">
              <a:latin typeface="Times New Roman" pitchFamily="18" charset="0"/>
              <a:cs typeface="Times New Roman" pitchFamily="18" charset="0"/>
            </a:endParaRPr>
          </a:p>
          <a:p>
            <a:pPr lvl="0"/>
            <a:r>
              <a:rPr lang="en-US" sz="2000" i="1" dirty="0" smtClean="0">
                <a:latin typeface="Times New Roman" pitchFamily="18" charset="0"/>
                <a:cs typeface="Times New Roman" pitchFamily="18" charset="0"/>
              </a:rPr>
              <a:t>(Optionally) Revise architecture as required</a:t>
            </a:r>
            <a:r>
              <a:rPr lang="en-US" sz="2000" dirty="0" smtClean="0">
                <a:latin typeface="Times New Roman" pitchFamily="18" charset="0"/>
                <a:cs typeface="Times New Roman" pitchFamily="18" charset="0"/>
              </a:rPr>
              <a:t>. This step involves revisiting and amending the application architecture in response to the features required by this implementation. Note that this may mean that some of the design and analysis work associated with core features may be performed at this stage to determine their architectural impact.</a:t>
            </a:r>
            <a:endParaRPr lang="en-IN"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Next a </a:t>
            </a:r>
            <a:r>
              <a:rPr lang="en-US" sz="2000" i="1" dirty="0" smtClean="0">
                <a:latin typeface="Times New Roman" pitchFamily="18" charset="0"/>
                <a:cs typeface="Times New Roman" pitchFamily="18" charset="0"/>
              </a:rPr>
              <a:t>new acceptance test plan and specification </a:t>
            </a:r>
            <a:r>
              <a:rPr lang="en-US" sz="2000" dirty="0" smtClean="0">
                <a:latin typeface="Times New Roman" pitchFamily="18" charset="0"/>
                <a:cs typeface="Times New Roman" pitchFamily="18" charset="0"/>
              </a:rPr>
              <a:t>should be written for this iteration. Note this document may not include all tests as some features may only be implemented if time allows. The specification of the tests for these features should be considered to be a task within the work package that will address that feature.</a:t>
            </a:r>
            <a:endParaRPr lang="en-IN" sz="2000" dirty="0">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77500" lnSpcReduction="20000"/>
          </a:bodyPr>
          <a:lstStyle/>
          <a:p>
            <a:pPr lvl="0"/>
            <a:r>
              <a:rPr lang="en-US" dirty="0" smtClean="0">
                <a:latin typeface="Times New Roman" pitchFamily="18" charset="0"/>
                <a:cs typeface="Times New Roman" pitchFamily="18" charset="0"/>
              </a:rPr>
              <a:t>The next step involves </a:t>
            </a:r>
            <a:r>
              <a:rPr lang="en-US" i="1" dirty="0" smtClean="0">
                <a:latin typeface="Times New Roman" pitchFamily="18" charset="0"/>
                <a:cs typeface="Times New Roman" pitchFamily="18" charset="0"/>
              </a:rPr>
              <a:t>implementing the features</a:t>
            </a:r>
            <a:r>
              <a:rPr lang="en-US" dirty="0" smtClean="0">
                <a:latin typeface="Times New Roman" pitchFamily="18" charset="0"/>
                <a:cs typeface="Times New Roman" pitchFamily="18" charset="0"/>
              </a:rPr>
              <a:t>. The features are actually implemented via tasks that should be monitored as normal (although ref- </a:t>
            </a:r>
            <a:r>
              <a:rPr lang="en-US" dirty="0" err="1" smtClean="0">
                <a:latin typeface="Times New Roman" pitchFamily="18" charset="0"/>
                <a:cs typeface="Times New Roman" pitchFamily="18" charset="0"/>
              </a:rPr>
              <a:t>erence</a:t>
            </a:r>
            <a:r>
              <a:rPr lang="en-US" dirty="0" smtClean="0">
                <a:latin typeface="Times New Roman" pitchFamily="18" charset="0"/>
                <a:cs typeface="Times New Roman" pitchFamily="18" charset="0"/>
              </a:rPr>
              <a:t> should be made to the </a:t>
            </a:r>
            <a:r>
              <a:rPr lang="en-US" dirty="0" err="1" smtClean="0">
                <a:latin typeface="Times New Roman" pitchFamily="18" charset="0"/>
                <a:cs typeface="Times New Roman" pitchFamily="18" charset="0"/>
              </a:rPr>
              <a:t>timebox</a:t>
            </a:r>
            <a:r>
              <a:rPr lang="en-US" dirty="0" smtClean="0">
                <a:latin typeface="Times New Roman" pitchFamily="18" charset="0"/>
                <a:cs typeface="Times New Roman" pitchFamily="18" charset="0"/>
              </a:rPr>
              <a:t> of the iteration). It is recommended that each feature should have a set of associated unit tests that must be passed before the feature is taken to have been completed. These unit tests should be part of the code released for the feature and ideally should be added to a unit test framework (such as </a:t>
            </a:r>
            <a:r>
              <a:rPr lang="en-US" dirty="0" err="1" smtClean="0">
                <a:latin typeface="Times New Roman" pitchFamily="18" charset="0"/>
                <a:cs typeface="Times New Roman" pitchFamily="18" charset="0"/>
              </a:rPr>
              <a:t>JUnit</a:t>
            </a:r>
            <a:r>
              <a:rPr lang="en-US" dirty="0" smtClean="0">
                <a:latin typeface="Times New Roman" pitchFamily="18" charset="0"/>
                <a:cs typeface="Times New Roman" pitchFamily="18" charset="0"/>
              </a:rPr>
              <a:t>) that can easily be re-run at regular intervals (such as every time a new build of the system occurs).</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Once the features are implemented, the new </a:t>
            </a:r>
            <a:r>
              <a:rPr lang="en-US" i="1" dirty="0" smtClean="0">
                <a:latin typeface="Times New Roman" pitchFamily="18" charset="0"/>
                <a:cs typeface="Times New Roman" pitchFamily="18" charset="0"/>
              </a:rPr>
              <a:t>system should be tested </a:t>
            </a:r>
            <a:r>
              <a:rPr lang="en-US" dirty="0" smtClean="0">
                <a:latin typeface="Times New Roman" pitchFamily="18" charset="0"/>
                <a:cs typeface="Times New Roman" pitchFamily="18" charset="0"/>
              </a:rPr>
              <a:t>(this includes the generation of a test report). This includes unit tests and </a:t>
            </a:r>
            <a:r>
              <a:rPr lang="en-US" dirty="0" err="1" smtClean="0">
                <a:latin typeface="Times New Roman" pitchFamily="18" charset="0"/>
                <a:cs typeface="Times New Roman" pitchFamily="18" charset="0"/>
              </a:rPr>
              <a:t>accep</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tance</a:t>
            </a:r>
            <a:r>
              <a:rPr lang="en-US" dirty="0" smtClean="0">
                <a:latin typeface="Times New Roman" pitchFamily="18" charset="0"/>
                <a:cs typeface="Times New Roman" pitchFamily="18" charset="0"/>
              </a:rPr>
              <a:t> tests. All tests should pass before the iteration is allowed to proceed. If any tests fail, then the release cannot be deployed and the problems must be corrected. </a:t>
            </a:r>
            <a:endParaRPr lang="en-IN" dirty="0">
              <a:latin typeface="Times New Roman" pitchFamily="18" charset="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228600"/>
            <a:ext cx="8229600" cy="4525963"/>
          </a:xfrm>
        </p:spPr>
        <p:txBody>
          <a:bodyPr>
            <a:normAutofit fontScale="77500" lnSpcReduction="20000"/>
          </a:bodyPr>
          <a:lstStyle/>
          <a:p>
            <a:pPr lvl="0"/>
            <a:r>
              <a:rPr lang="en-US" dirty="0" smtClean="0">
                <a:latin typeface="Times New Roman" pitchFamily="18" charset="0"/>
                <a:cs typeface="Times New Roman" pitchFamily="18" charset="0"/>
              </a:rPr>
              <a:t>The new application should then be </a:t>
            </a:r>
            <a:r>
              <a:rPr lang="en-US" i="1" dirty="0" smtClean="0">
                <a:latin typeface="Times New Roman" pitchFamily="18" charset="0"/>
                <a:cs typeface="Times New Roman" pitchFamily="18" charset="0"/>
              </a:rPr>
              <a:t>deployed </a:t>
            </a:r>
            <a:r>
              <a:rPr lang="en-US" dirty="0" smtClean="0">
                <a:latin typeface="Times New Roman" pitchFamily="18" charset="0"/>
                <a:cs typeface="Times New Roman" pitchFamily="18" charset="0"/>
              </a:rPr>
              <a:t>to the client who should then perform any agreed user acceptance tests. This may lead to the revision of the deployed system, if and when deficiencies are identified.</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A </a:t>
            </a:r>
            <a:r>
              <a:rPr lang="en-US" i="1" dirty="0" smtClean="0">
                <a:latin typeface="Times New Roman" pitchFamily="18" charset="0"/>
                <a:cs typeface="Times New Roman" pitchFamily="18" charset="0"/>
              </a:rPr>
              <a:t>post iteration meeting </a:t>
            </a:r>
            <a:r>
              <a:rPr lang="en-US" dirty="0" smtClean="0">
                <a:latin typeface="Times New Roman" pitchFamily="18" charset="0"/>
                <a:cs typeface="Times New Roman" pitchFamily="18" charset="0"/>
              </a:rPr>
              <a:t>should review the progress made during the iteration, it should consider any issues that arose and re-</a:t>
            </a:r>
            <a:r>
              <a:rPr lang="en-US" dirty="0" err="1" smtClean="0">
                <a:latin typeface="Times New Roman" pitchFamily="18" charset="0"/>
                <a:cs typeface="Times New Roman" pitchFamily="18" charset="0"/>
              </a:rPr>
              <a:t>prioritise</a:t>
            </a:r>
            <a:r>
              <a:rPr lang="en-US" dirty="0" smtClean="0">
                <a:latin typeface="Times New Roman" pitchFamily="18" charset="0"/>
                <a:cs typeface="Times New Roman" pitchFamily="18" charset="0"/>
              </a:rPr>
              <a:t> any features that were not addressed. Again, this should involve all project stakeholders.</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At this point, a decision should also be made regarding the </a:t>
            </a:r>
            <a:r>
              <a:rPr lang="en-US" i="1" dirty="0" smtClean="0">
                <a:latin typeface="Times New Roman" pitchFamily="18" charset="0"/>
                <a:cs typeface="Times New Roman" pitchFamily="18" charset="0"/>
              </a:rPr>
              <a:t>validity of the next </a:t>
            </a:r>
            <a:r>
              <a:rPr lang="en-US" dirty="0" smtClean="0">
                <a:latin typeface="Times New Roman" pitchFamily="18" charset="0"/>
                <a:cs typeface="Times New Roman" pitchFamily="18" charset="0"/>
              </a:rPr>
              <a:t>iteration and whether any further iterations are required.</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spcBef>
                <a:spcPct val="0"/>
              </a:spcBef>
            </a:pPr>
            <a:r>
              <a:rPr lang="en-US" sz="3200" b="1" dirty="0">
                <a:latin typeface="Times New Roman" pitchFamily="18" charset="0"/>
                <a:cs typeface="Times New Roman" pitchFamily="18" charset="0"/>
              </a:rPr>
              <a:t>An Aside on Planning within an FDD Project</a:t>
            </a:r>
            <a:r>
              <a:rPr lang="en-IN" b="1" dirty="0"/>
              <a:t/>
            </a:r>
            <a:br>
              <a:rPr lang="en-IN" b="1" dirty="0"/>
            </a:br>
            <a:endParaRPr lang="en-IN" dirty="0"/>
          </a:p>
        </p:txBody>
      </p:sp>
      <p:sp>
        <p:nvSpPr>
          <p:cNvPr id="3" name="Content Placeholder 2"/>
          <p:cNvSpPr>
            <a:spLocks noGrp="1"/>
          </p:cNvSpPr>
          <p:nvPr>
            <p:ph idx="1"/>
          </p:nvPr>
        </p:nvSpPr>
        <p:spPr/>
        <p:txBody>
          <a:bodyPr>
            <a:normAutofit fontScale="92500" lnSpcReduction="10000"/>
          </a:bodyPr>
          <a:lstStyle/>
          <a:p>
            <a:pPr>
              <a:buNone/>
            </a:pPr>
            <a:r>
              <a:rPr lang="en-US" dirty="0" smtClean="0">
                <a:latin typeface="Times New Roman" pitchFamily="18" charset="0"/>
                <a:cs typeface="Times New Roman" pitchFamily="18" charset="0"/>
              </a:rPr>
              <a:t>   I have probably been involved in more work managed using feature-driven development (FDD) than any of the agile methods. And one comment made by one of the clients sticks out in my mind. We had worked on a system over a couple of years, with at least six iterations developed and successfully released. Near the end of this project, she commented to me one day, that the thing that had surprised her the most was the amount of planning we had done on the project</a:t>
            </a:r>
            <a:endParaRPr lang="en-IN" dirty="0">
              <a:latin typeface="Times New Roman" pitchFamily="18" charset="0"/>
              <a:cs typeface="Times New Roman"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2" algn="ctr"/>
            <a:r>
              <a:rPr lang="en-US" sz="3600" b="1" dirty="0">
                <a:latin typeface="Times New Roman" pitchFamily="18" charset="0"/>
                <a:cs typeface="Times New Roman" pitchFamily="18" charset="0"/>
              </a:rPr>
              <a:t>Estimating the Cost of a Feature</a:t>
            </a:r>
            <a:endParaRPr lang="en-IN" sz="36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buNone/>
            </a:pPr>
            <a:r>
              <a:rPr lang="en-US" dirty="0" smtClean="0">
                <a:latin typeface="Times New Roman" pitchFamily="18" charset="0"/>
                <a:cs typeface="Times New Roman" pitchFamily="18" charset="0"/>
              </a:rPr>
              <a:t>    The approach I have taken over the last few years towards estimating the cost of features is heavily influenced by the approach described by Carmichael and Haywood (2002). This approach involves applying three-point estimating. Three- point estimating involves producing three estimates of the effort that will be required to implement a feature. These are:</a:t>
            </a:r>
            <a:endParaRPr lang="en-IN" dirty="0">
              <a:latin typeface="Times New Roman" pitchFamily="18" charset="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81000"/>
            <a:ext cx="8229600" cy="4525963"/>
          </a:xfrm>
        </p:spPr>
        <p:txBody>
          <a:bodyPr>
            <a:normAutofit fontScale="85000" lnSpcReduction="20000"/>
          </a:bodyPr>
          <a:lstStyle/>
          <a:p>
            <a:endParaRPr lang="en-IN" dirty="0" smtClean="0">
              <a:latin typeface="Times New Roman" pitchFamily="18" charset="0"/>
              <a:cs typeface="Times New Roman" pitchFamily="18" charset="0"/>
            </a:endParaRPr>
          </a:p>
          <a:p>
            <a:pPr>
              <a:buNone/>
            </a:pPr>
            <a:endParaRPr lang="en-IN" dirty="0" smtClean="0">
              <a:latin typeface="Times New Roman" pitchFamily="18" charset="0"/>
              <a:cs typeface="Times New Roman" pitchFamily="18" charset="0"/>
            </a:endParaRPr>
          </a:p>
          <a:p>
            <a:r>
              <a:rPr lang="en-US" i="1" dirty="0" smtClean="0">
                <a:latin typeface="Times New Roman" pitchFamily="18" charset="0"/>
                <a:cs typeface="Times New Roman" pitchFamily="18" charset="0"/>
              </a:rPr>
              <a:t>The best-case scenario</a:t>
            </a:r>
            <a:r>
              <a:rPr lang="en-US" dirty="0" smtClean="0">
                <a:latin typeface="Times New Roman" pitchFamily="18" charset="0"/>
                <a:cs typeface="Times New Roman" pitchFamily="18" charset="0"/>
              </a:rPr>
              <a:t>. This represents the situations where everything goes as well as it could and there are absolutely no surprises or problems encountered. </a:t>
            </a:r>
          </a:p>
          <a:p>
            <a:r>
              <a:rPr lang="en-US" i="1" dirty="0" smtClean="0">
                <a:latin typeface="Times New Roman" pitchFamily="18" charset="0"/>
                <a:cs typeface="Times New Roman" pitchFamily="18" charset="0"/>
              </a:rPr>
              <a:t>The best guess at what it will really take</a:t>
            </a:r>
            <a:r>
              <a:rPr lang="en-US" dirty="0" smtClean="0">
                <a:latin typeface="Times New Roman" pitchFamily="18" charset="0"/>
                <a:cs typeface="Times New Roman" pitchFamily="18" charset="0"/>
              </a:rPr>
              <a:t>. This represents the situation where mostly everything goes okay, but one or two unexpected situations occur which take a little longer than originally expected to handle.</a:t>
            </a:r>
            <a:r>
              <a:rPr lang="en-IN" dirty="0" smtClean="0">
                <a:latin typeface="Times New Roman" pitchFamily="18" charset="0"/>
                <a:cs typeface="Times New Roman" pitchFamily="18" charset="0"/>
              </a:rPr>
              <a:t> </a:t>
            </a:r>
          </a:p>
          <a:p>
            <a:r>
              <a:rPr lang="en-US" i="1" dirty="0" smtClean="0">
                <a:latin typeface="Times New Roman" pitchFamily="18" charset="0"/>
                <a:cs typeface="Times New Roman" pitchFamily="18" charset="0"/>
              </a:rPr>
              <a:t>The worst-case scenario</a:t>
            </a:r>
            <a:r>
              <a:rPr lang="en-US" dirty="0" smtClean="0">
                <a:latin typeface="Times New Roman" pitchFamily="18" charset="0"/>
                <a:cs typeface="Times New Roman" pitchFamily="18" charset="0"/>
              </a:rPr>
              <a:t>. This represents the situation where major issues were overlooked (because they were not obvious until implementation started).</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cstate="print"/>
          <a:srcRect/>
          <a:stretch>
            <a:fillRect/>
          </a:stretch>
        </p:blipFill>
        <p:spPr bwMode="auto">
          <a:xfrm>
            <a:off x="228600" y="228600"/>
            <a:ext cx="8915400" cy="4825206"/>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fontScale="77500" lnSpcReduction="20000"/>
          </a:bodyPr>
          <a:lstStyle/>
          <a:p>
            <a:r>
              <a:rPr lang="en-US" dirty="0" smtClean="0">
                <a:latin typeface="Times New Roman" pitchFamily="18" charset="0"/>
                <a:cs typeface="Times New Roman" pitchFamily="18" charset="0"/>
              </a:rPr>
              <a:t>A table illustrating this style of estimating for a list of features is illustrated in Figure 9.5. The table illustrates the feature, its priority and the three estimates for best, most likely and worst-case scenarios.</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 overall estimate for each feature is derived by applying a formula in the underlying spreadsheet. There are various formulas that could be applied; in this case we have applied the following formula:</a:t>
            </a:r>
            <a:endParaRPr lang="en-IN" dirty="0" smtClean="0">
              <a:latin typeface="Times New Roman" pitchFamily="18" charset="0"/>
              <a:cs typeface="Times New Roman" pitchFamily="18" charset="0"/>
            </a:endParaRPr>
          </a:p>
          <a:p>
            <a:pPr>
              <a:buNone/>
            </a:pP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(Best case + (4 × likely case) + worst case)/6</a:t>
            </a:r>
            <a:endParaRPr lang="en-IN" dirty="0" smtClean="0">
              <a:latin typeface="Times New Roman" pitchFamily="18" charset="0"/>
              <a:cs typeface="Times New Roman" pitchFamily="18" charset="0"/>
            </a:endParaRPr>
          </a:p>
          <a:p>
            <a:pPr>
              <a:buNone/>
            </a:pP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This formula gives weight to the most likely case but also takes into account the range from the best and worst cases. It is possible to take this further and use a pseudo standard deviation to gain an estimate of how reliable the numbers are. </a:t>
            </a:r>
            <a:endParaRPr lang="en-IN" dirty="0">
              <a:latin typeface="Times New Roman" pitchFamily="18" charset="0"/>
              <a:cs typeface="Times New Roman"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rtl="0">
              <a:spcBef>
                <a:spcPct val="0"/>
              </a:spcBef>
            </a:pPr>
            <a:r>
              <a:rPr lang="en-US" sz="3600" b="1" dirty="0">
                <a:latin typeface="Times New Roman" pitchFamily="18" charset="0"/>
                <a:cs typeface="Times New Roman" pitchFamily="18" charset="0"/>
              </a:rPr>
              <a:t>Architecture Centric</a:t>
            </a:r>
            <a:r>
              <a:rPr lang="en-IN" b="1" dirty="0"/>
              <a:t/>
            </a:r>
            <a:br>
              <a:rPr lang="en-IN" b="1" dirty="0"/>
            </a:br>
            <a:endParaRPr lang="en-IN" dirty="0"/>
          </a:p>
        </p:txBody>
      </p:sp>
      <p:sp>
        <p:nvSpPr>
          <p:cNvPr id="3" name="Content Placeholder 2"/>
          <p:cNvSpPr>
            <a:spLocks noGrp="1"/>
          </p:cNvSpPr>
          <p:nvPr>
            <p:ph idx="1"/>
          </p:nvPr>
        </p:nvSpPr>
        <p:spPr>
          <a:xfrm>
            <a:off x="457200" y="1219200"/>
            <a:ext cx="8229600" cy="4906963"/>
          </a:xfrm>
        </p:spPr>
        <p:txBody>
          <a:bodyPr>
            <a:normAutofit/>
          </a:bodyPr>
          <a:lstStyle/>
          <a:p>
            <a:pPr>
              <a:buNone/>
            </a:pPr>
            <a:r>
              <a:rPr lang="en-US" sz="2000" dirty="0" smtClean="0">
                <a:latin typeface="Times New Roman" pitchFamily="18" charset="0"/>
                <a:cs typeface="Times New Roman" pitchFamily="18" charset="0"/>
              </a:rPr>
              <a:t>   Feature-driven development or feature-centric development (FCD) is only feasible (and successful) if there is a solid architecture on which each iteration can be built. This section examines what is meant by an architecture and why it is central to a successful iterative process.</a:t>
            </a:r>
            <a:endParaRPr lang="en-IN" sz="2000" dirty="0" smtClean="0">
              <a:latin typeface="Times New Roman" pitchFamily="18" charset="0"/>
              <a:cs typeface="Times New Roman" pitchFamily="18" charset="0"/>
            </a:endParaRPr>
          </a:p>
          <a:p>
            <a:pPr>
              <a:buNone/>
            </a:pPr>
            <a:endParaRPr lang="en-US" sz="2000" b="1"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Why Architecture Centric?</a:t>
            </a:r>
            <a:endParaRPr lang="en-IN" sz="2000" b="1"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   One problem with an iterative and incremental approach is that if no order or structure was defined for the application it could (would?) grow more and more unwieldy and more and more </a:t>
            </a:r>
            <a:r>
              <a:rPr lang="en-US" sz="2000" dirty="0" err="1" smtClean="0">
                <a:latin typeface="Times New Roman" pitchFamily="18" charset="0"/>
                <a:cs typeface="Times New Roman" pitchFamily="18" charset="0"/>
              </a:rPr>
              <a:t>disorganised</a:t>
            </a:r>
            <a:r>
              <a:rPr lang="en-US" sz="2000" dirty="0" smtClean="0">
                <a:latin typeface="Times New Roman" pitchFamily="18" charset="0"/>
                <a:cs typeface="Times New Roman" pitchFamily="18" charset="0"/>
              </a:rPr>
              <a:t> as each iteration progressed. To ensure that all the various parts fit together, there needs to be something. That something is the architecture. The architecture is the skeleton on which the muscles (functionality) and skin (the user interface) of the system will be hung. A good architecture will be resilient to change and to the evolving design and implementation</a:t>
            </a:r>
            <a:endParaRPr lang="en-IN" sz="2000" dirty="0">
              <a:latin typeface="Times New Roman" pitchFamily="18" charset="0"/>
              <a:cs typeface="Times New Roman"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spcBef>
                <a:spcPct val="0"/>
              </a:spcBef>
            </a:pPr>
            <a:r>
              <a:rPr lang="en-US" sz="3200" b="1" dirty="0">
                <a:latin typeface="Times New Roman" pitchFamily="18" charset="0"/>
                <a:cs typeface="Times New Roman" pitchFamily="18" charset="0"/>
              </a:rPr>
              <a:t>Architecture Defined</a:t>
            </a:r>
            <a:r>
              <a:rPr lang="en-IN" b="1" dirty="0"/>
              <a:t/>
            </a:r>
            <a:br>
              <a:rPr lang="en-IN" b="1" dirty="0"/>
            </a:br>
            <a:endParaRPr lang="en-IN" dirty="0"/>
          </a:p>
        </p:txBody>
      </p:sp>
      <p:sp>
        <p:nvSpPr>
          <p:cNvPr id="3" name="Content Placeholder 2"/>
          <p:cNvSpPr>
            <a:spLocks noGrp="1"/>
          </p:cNvSpPr>
          <p:nvPr>
            <p:ph idx="1"/>
          </p:nvPr>
        </p:nvSpPr>
        <p:spPr>
          <a:xfrm>
            <a:off x="457200" y="1143000"/>
            <a:ext cx="8229600" cy="4983163"/>
          </a:xfrm>
        </p:spPr>
        <p:txBody>
          <a:bodyPr>
            <a:normAutofit fontScale="85000" lnSpcReduction="20000"/>
          </a:bodyPr>
          <a:lstStyle/>
          <a:p>
            <a:pPr>
              <a:buNone/>
            </a:pPr>
            <a:r>
              <a:rPr lang="en-US" dirty="0" smtClean="0">
                <a:latin typeface="Times New Roman" pitchFamily="18" charset="0"/>
                <a:cs typeface="Times New Roman" pitchFamily="18" charset="0"/>
              </a:rPr>
              <a:t>A software architecture encompasses</a:t>
            </a:r>
            <a:endParaRPr lang="en-IN" dirty="0" smtClean="0">
              <a:latin typeface="Times New Roman" pitchFamily="18" charset="0"/>
              <a:cs typeface="Times New Roman" pitchFamily="18" charset="0"/>
            </a:endParaRPr>
          </a:p>
          <a:p>
            <a:pPr>
              <a:buNone/>
            </a:pPr>
            <a:endParaRPr lang="en-IN" dirty="0" smtClean="0">
              <a:latin typeface="Times New Roman" pitchFamily="18" charset="0"/>
              <a:cs typeface="Times New Roman" pitchFamily="18" charset="0"/>
            </a:endParaRPr>
          </a:p>
          <a:p>
            <a:r>
              <a:rPr lang="en-US" i="1" dirty="0" smtClean="0">
                <a:latin typeface="Times New Roman" pitchFamily="18" charset="0"/>
                <a:cs typeface="Times New Roman" pitchFamily="18" charset="0"/>
              </a:rPr>
              <a:t>the overall plan for the structure of the system</a:t>
            </a:r>
            <a:r>
              <a:rPr lang="en-US" dirty="0" smtClean="0">
                <a:latin typeface="Times New Roman" pitchFamily="18" charset="0"/>
                <a:cs typeface="Times New Roman" pitchFamily="18" charset="0"/>
              </a:rPr>
              <a:t>. That is, it is the blueprint for the system. It should be possible to read the architecture and gain an appreciation for how the system was structured (without needing to know the details of the structural elements)</a:t>
            </a:r>
            <a:endParaRPr lang="en-IN" dirty="0" smtClean="0">
              <a:latin typeface="Times New Roman" pitchFamily="18" charset="0"/>
              <a:cs typeface="Times New Roman" pitchFamily="18" charset="0"/>
            </a:endParaRPr>
          </a:p>
          <a:p>
            <a:r>
              <a:rPr lang="en-US" i="1" dirty="0" smtClean="0">
                <a:latin typeface="Times New Roman" pitchFamily="18" charset="0"/>
                <a:cs typeface="Times New Roman" pitchFamily="18" charset="0"/>
              </a:rPr>
              <a:t>the key structural elements and their interfaces</a:t>
            </a:r>
            <a:r>
              <a:rPr lang="en-US" dirty="0" smtClean="0">
                <a:latin typeface="Times New Roman" pitchFamily="18" charset="0"/>
                <a:cs typeface="Times New Roman" pitchFamily="18" charset="0"/>
              </a:rPr>
              <a:t>. That is what with which </a:t>
            </a:r>
            <a:r>
              <a:rPr lang="en-US" dirty="0" err="1" smtClean="0">
                <a:latin typeface="Times New Roman" pitchFamily="18" charset="0"/>
                <a:cs typeface="Times New Roman" pitchFamily="18" charset="0"/>
              </a:rPr>
              <a:t>ele</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ments</a:t>
            </a:r>
            <a:r>
              <a:rPr lang="en-US" dirty="0" smtClean="0">
                <a:latin typeface="Times New Roman" pitchFamily="18" charset="0"/>
                <a:cs typeface="Times New Roman" pitchFamily="18" charset="0"/>
              </a:rPr>
              <a:t> make up the system, their interfaces and how they are plugged together. </a:t>
            </a:r>
            <a:r>
              <a:rPr lang="en-US" i="1" dirty="0" err="1" smtClean="0">
                <a:latin typeface="Times New Roman" pitchFamily="18" charset="0"/>
                <a:cs typeface="Times New Roman" pitchFamily="18" charset="0"/>
              </a:rPr>
              <a:t>howthoseelementsinteract</a:t>
            </a:r>
            <a:r>
              <a:rPr lang="en-US" i="1" dirty="0" smtClean="0">
                <a:latin typeface="Times New Roman" pitchFamily="18" charset="0"/>
                <a:cs typeface="Times New Roman" pitchFamily="18" charset="0"/>
              </a:rPr>
              <a:t>(</a:t>
            </a:r>
            <a:r>
              <a:rPr lang="en-US" i="1" dirty="0" err="1" smtClean="0">
                <a:latin typeface="Times New Roman" pitchFamily="18" charset="0"/>
                <a:cs typeface="Times New Roman" pitchFamily="18" charset="0"/>
              </a:rPr>
              <a:t>atthetoplevel</a:t>
            </a:r>
            <a:r>
              <a:rPr lang="en-US" i="1"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Thatis</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whenthevariouselements</a:t>
            </a:r>
            <a:r>
              <a:rPr lang="en-US" dirty="0" smtClean="0">
                <a:latin typeface="Times New Roman" pitchFamily="18" charset="0"/>
                <a:cs typeface="Times New Roman" pitchFamily="18" charset="0"/>
              </a:rPr>
              <a:t> of the architecture interface, what do they do and why do they </a:t>
            </a:r>
            <a:endParaRPr lang="en-IN" dirty="0">
              <a:latin typeface="Times New Roman" pitchFamily="18" charset="0"/>
              <a:cs typeface="Times New Roman"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a:bodyPr>
          <a:lstStyle/>
          <a:p>
            <a:endParaRPr lang="en-IN" dirty="0" smtClean="0">
              <a:latin typeface="Times New Roman" pitchFamily="18" charset="0"/>
              <a:cs typeface="Times New Roman" pitchFamily="18" charset="0"/>
            </a:endParaRPr>
          </a:p>
          <a:p>
            <a:pPr>
              <a:buNone/>
            </a:pP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 </a:t>
            </a:r>
            <a:r>
              <a:rPr lang="en-US" i="1" dirty="0" smtClean="0">
                <a:latin typeface="Times New Roman" pitchFamily="18" charset="0"/>
                <a:cs typeface="Times New Roman" pitchFamily="18" charset="0"/>
              </a:rPr>
              <a:t>how these elements form subsystems and systems</a:t>
            </a:r>
            <a:r>
              <a:rPr lang="en-US" dirty="0" smtClean="0">
                <a:latin typeface="Times New Roman" pitchFamily="18" charset="0"/>
                <a:cs typeface="Times New Roman" pitchFamily="18" charset="0"/>
              </a:rPr>
              <a:t>. This is a very important aspect of the architecture. Early identification of the core systems and subsystem of the design not only helps organize future design (and implementation) work, it helps promote reuse and the comprehensibility of the system.</a:t>
            </a:r>
          </a:p>
          <a:p>
            <a:r>
              <a:rPr lang="en-US" i="1" dirty="0" smtClean="0">
                <a:latin typeface="Times New Roman" pitchFamily="18" charset="0"/>
                <a:cs typeface="Times New Roman" pitchFamily="18" charset="0"/>
              </a:rPr>
              <a:t>architectural style </a:t>
            </a:r>
            <a:r>
              <a:rPr lang="en-US" dirty="0" smtClean="0">
                <a:latin typeface="Times New Roman" pitchFamily="18" charset="0"/>
                <a:cs typeface="Times New Roman" pitchFamily="18" charset="0"/>
              </a:rPr>
              <a:t>that guides this project.</a:t>
            </a:r>
            <a:r>
              <a:rPr lang="en-IN" dirty="0" smtClean="0">
                <a:latin typeface="Times New Roman" pitchFamily="18" charset="0"/>
                <a:cs typeface="Times New Roman" pitchFamily="18" charset="0"/>
              </a:rPr>
              <a:t> </a:t>
            </a:r>
            <a:endParaRPr lang="en-IN" dirty="0">
              <a:latin typeface="Times New Roman" pitchFamily="18" charset="0"/>
              <a:cs typeface="Times New Roman"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lstStyle/>
          <a:p>
            <a:pPr lvl="2" algn="ctr" rtl="0">
              <a:spcBef>
                <a:spcPct val="0"/>
              </a:spcBef>
            </a:pPr>
            <a:r>
              <a:rPr lang="en-US" sz="2800" b="1" dirty="0">
                <a:latin typeface="Times New Roman" pitchFamily="18" charset="0"/>
                <a:cs typeface="Times New Roman" pitchFamily="18" charset="0"/>
              </a:rPr>
              <a:t>Why Have an Architecture?</a:t>
            </a:r>
            <a:r>
              <a:rPr lang="en-IN" b="1" dirty="0"/>
              <a:t/>
            </a:r>
            <a:br>
              <a:rPr lang="en-IN" b="1" dirty="0"/>
            </a:br>
            <a:endParaRPr lang="en-IN" dirty="0"/>
          </a:p>
        </p:txBody>
      </p:sp>
      <p:sp>
        <p:nvSpPr>
          <p:cNvPr id="3" name="Content Placeholder 2"/>
          <p:cNvSpPr>
            <a:spLocks noGrp="1"/>
          </p:cNvSpPr>
          <p:nvPr>
            <p:ph idx="1"/>
          </p:nvPr>
        </p:nvSpPr>
        <p:spPr>
          <a:xfrm>
            <a:off x="381000" y="685800"/>
            <a:ext cx="8229600" cy="4525963"/>
          </a:xfrm>
        </p:spPr>
        <p:txBody>
          <a:bodyPr>
            <a:noAutofit/>
          </a:bodyPr>
          <a:lstStyle/>
          <a:p>
            <a:r>
              <a:rPr lang="en-US" sz="2000" dirty="0" smtClean="0">
                <a:latin typeface="Times New Roman" pitchFamily="18" charset="0"/>
                <a:cs typeface="Times New Roman" pitchFamily="18" charset="0"/>
              </a:rPr>
              <a:t>Let us review the argument being made about why an architecture is a critical element of the object-oriented design process. We need an architecture to</a:t>
            </a:r>
            <a:endParaRPr lang="en-IN"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 </a:t>
            </a:r>
            <a:r>
              <a:rPr lang="en-US" sz="2000" i="1" dirty="0" smtClean="0">
                <a:latin typeface="Times New Roman" pitchFamily="18" charset="0"/>
                <a:cs typeface="Times New Roman" pitchFamily="18" charset="0"/>
              </a:rPr>
              <a:t>understand the system</a:t>
            </a:r>
            <a:r>
              <a:rPr lang="en-US" sz="2000" dirty="0" smtClean="0">
                <a:latin typeface="Times New Roman" pitchFamily="18" charset="0"/>
                <a:cs typeface="Times New Roman" pitchFamily="18" charset="0"/>
              </a:rPr>
              <a:t>. Software systems can be large, complex and must meet conflicting requirements. An architecture provides a convenient blueprint or model of the system to be produced. It abstracts out much of the </a:t>
            </a:r>
            <a:r>
              <a:rPr lang="en-US" sz="2000" dirty="0" err="1" smtClean="0">
                <a:latin typeface="Times New Roman" pitchFamily="18" charset="0"/>
                <a:cs typeface="Times New Roman" pitchFamily="18" charset="0"/>
              </a:rPr>
              <a:t>imple</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mentation</a:t>
            </a:r>
            <a:r>
              <a:rPr lang="en-US" sz="2000" dirty="0" smtClean="0">
                <a:latin typeface="Times New Roman" pitchFamily="18" charset="0"/>
                <a:cs typeface="Times New Roman" pitchFamily="18" charset="0"/>
              </a:rPr>
              <a:t> detail, but “positions” the elements that must meet the various functional requirements.</a:t>
            </a:r>
            <a:r>
              <a:rPr lang="en-IN" sz="2000" dirty="0" smtClean="0">
                <a:latin typeface="Times New Roman" pitchFamily="18" charset="0"/>
                <a:cs typeface="Times New Roman" pitchFamily="18" charset="0"/>
              </a:rPr>
              <a:t> </a:t>
            </a:r>
          </a:p>
          <a:p>
            <a:r>
              <a:rPr lang="en-US" sz="2000" i="1" dirty="0" err="1" smtClean="0">
                <a:latin typeface="Times New Roman" pitchFamily="18" charset="0"/>
                <a:cs typeface="Times New Roman" pitchFamily="18" charset="0"/>
              </a:rPr>
              <a:t>organise</a:t>
            </a:r>
            <a:r>
              <a:rPr lang="en-US" sz="2000" i="1" dirty="0" smtClean="0">
                <a:latin typeface="Times New Roman" pitchFamily="18" charset="0"/>
                <a:cs typeface="Times New Roman" pitchFamily="18" charset="0"/>
              </a:rPr>
              <a:t> development</a:t>
            </a:r>
            <a:r>
              <a:rPr lang="en-US" sz="2000" dirty="0" smtClean="0">
                <a:latin typeface="Times New Roman" pitchFamily="18" charset="0"/>
                <a:cs typeface="Times New Roman" pitchFamily="18" charset="0"/>
              </a:rPr>
              <a:t>. It helps </a:t>
            </a:r>
            <a:r>
              <a:rPr lang="en-US" sz="2000" dirty="0" err="1" smtClean="0">
                <a:latin typeface="Times New Roman" pitchFamily="18" charset="0"/>
                <a:cs typeface="Times New Roman" pitchFamily="18" charset="0"/>
              </a:rPr>
              <a:t>organise</a:t>
            </a:r>
            <a:r>
              <a:rPr lang="en-US" sz="2000" dirty="0" smtClean="0">
                <a:latin typeface="Times New Roman" pitchFamily="18" charset="0"/>
                <a:cs typeface="Times New Roman" pitchFamily="18" charset="0"/>
              </a:rPr>
              <a:t> “plumbers” and “electricians.” That is, it helps firstly to separate out different concerns so that those involved in the “plumbing” of the system only need to worry about plumbing issues. However, it also identifies how they are related, so that the points at which different concerns intersect, are well documented and clearly specified (for example, in the central heating boiler).</a:t>
            </a:r>
            <a:r>
              <a:rPr lang="en-IN" sz="2000" dirty="0" smtClean="0">
                <a:latin typeface="Times New Roman" pitchFamily="18" charset="0"/>
                <a:cs typeface="Times New Roman" pitchFamily="18" charset="0"/>
              </a:rPr>
              <a:t> </a:t>
            </a:r>
            <a:r>
              <a:rPr lang="en-US" sz="2000" i="1" dirty="0" smtClean="0">
                <a:latin typeface="Times New Roman" pitchFamily="18" charset="0"/>
                <a:cs typeface="Times New Roman" pitchFamily="18" charset="0"/>
              </a:rPr>
              <a:t>promote reuse</a:t>
            </a:r>
            <a:r>
              <a:rPr lang="en-US" sz="2000" dirty="0" smtClean="0">
                <a:latin typeface="Times New Roman" pitchFamily="18" charset="0"/>
                <a:cs typeface="Times New Roman" pitchFamily="18" charset="0"/>
              </a:rPr>
              <a:t>. The problem with writing reusable code is that you need to identify that what you are producing is reusable. I have personally been in situations where two people on one project are reproducing the same solution but from different aspects. </a:t>
            </a:r>
            <a:endParaRPr lang="en-IN" sz="2000" dirty="0">
              <a:latin typeface="Times New Roman" pitchFamily="18" charset="0"/>
              <a:cs typeface="Times New Roman"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rtl="0">
              <a:spcBef>
                <a:spcPct val="0"/>
              </a:spcBef>
            </a:pPr>
            <a:r>
              <a:rPr lang="en-US" sz="3600" b="1" dirty="0">
                <a:latin typeface="Times New Roman" pitchFamily="18" charset="0"/>
                <a:cs typeface="Times New Roman" pitchFamily="18" charset="0"/>
              </a:rPr>
              <a:t>FDD and XP</a:t>
            </a:r>
            <a:r>
              <a:rPr lang="en-IN" b="1" dirty="0"/>
              <a:t/>
            </a:r>
            <a:br>
              <a:rPr lang="en-IN" b="1" dirty="0"/>
            </a:br>
            <a:endParaRPr lang="en-IN" dirty="0"/>
          </a:p>
        </p:txBody>
      </p:sp>
      <p:sp>
        <p:nvSpPr>
          <p:cNvPr id="3" name="Content Placeholder 2"/>
          <p:cNvSpPr>
            <a:spLocks noGrp="1"/>
          </p:cNvSpPr>
          <p:nvPr>
            <p:ph idx="1"/>
          </p:nvPr>
        </p:nvSpPr>
        <p:spPr>
          <a:xfrm>
            <a:off x="457200" y="1447800"/>
            <a:ext cx="8229600" cy="4525963"/>
          </a:xfrm>
        </p:spPr>
        <p:txBody>
          <a:bodyPr>
            <a:normAutofit/>
          </a:bodyPr>
          <a:lstStyle/>
          <a:p>
            <a:pPr>
              <a:buNone/>
            </a:pPr>
            <a:r>
              <a:rPr lang="en-US" sz="2200" dirty="0" smtClean="0">
                <a:latin typeface="Times New Roman" pitchFamily="18" charset="0"/>
                <a:cs typeface="Times New Roman" pitchFamily="18" charset="0"/>
              </a:rPr>
              <a:t>    Features can be implemented in a variety of different ways using a variety of techniques. However, taking an agile approach means that applying the techniques we have discussed so far in this book can work extremely well. Within a development model in which FDD is used to plan the details of iterations and in which features are treated as the tasks to be performed, then applying Agile Modeling and XP practices can result in a workflow resembling that presented in Figure 9.7.</a:t>
            </a:r>
            <a:endParaRPr lang="en-IN" sz="2200" dirty="0" smtClean="0">
              <a:latin typeface="Times New Roman" pitchFamily="18" charset="0"/>
              <a:cs typeface="Times New Roman" pitchFamily="18" charset="0"/>
            </a:endParaRPr>
          </a:p>
          <a:p>
            <a:endParaRPr lang="en-I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ChangeAspect="1" noChangeArrowheads="1"/>
          </p:cNvPicPr>
          <p:nvPr/>
        </p:nvPicPr>
        <p:blipFill>
          <a:blip r:embed="rId2" cstate="print"/>
          <a:srcRect/>
          <a:stretch>
            <a:fillRect/>
          </a:stretch>
        </p:blipFill>
        <p:spPr bwMode="auto">
          <a:xfrm>
            <a:off x="1905000" y="0"/>
            <a:ext cx="5562600" cy="6674521"/>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838200"/>
            <a:ext cx="8686800" cy="5715000"/>
          </a:xfrm>
        </p:spPr>
        <p:txBody>
          <a:bodyPr>
            <a:normAutofit fontScale="85000" lnSpcReduction="20000"/>
          </a:bodyPr>
          <a:lstStyle/>
          <a:p>
            <a:pPr>
              <a:buNone/>
            </a:pPr>
            <a:r>
              <a:rPr lang="en-US" sz="2800" dirty="0" smtClean="0">
                <a:solidFill>
                  <a:srgbClr val="FF0000"/>
                </a:solidFill>
                <a:latin typeface="Times New Roman" pitchFamily="18" charset="0"/>
                <a:cs typeface="Times New Roman" pitchFamily="18" charset="0"/>
              </a:rPr>
              <a:t>1.What are the guidelines regain control of an iterative project.</a:t>
            </a:r>
          </a:p>
          <a:p>
            <a:pPr>
              <a:buNone/>
            </a:pPr>
            <a:r>
              <a:rPr lang="en-US" sz="2800" dirty="0" smtClean="0">
                <a:solidFill>
                  <a:srgbClr val="FF0000"/>
                </a:solidFill>
                <a:latin typeface="Times New Roman" pitchFamily="18" charset="0"/>
                <a:cs typeface="Times New Roman" pitchFamily="18" charset="0"/>
              </a:rPr>
              <a:t>2. What </a:t>
            </a:r>
            <a:r>
              <a:rPr lang="en-US" sz="2800" smtClean="0">
                <a:solidFill>
                  <a:srgbClr val="FF0000"/>
                </a:solidFill>
                <a:latin typeface="Times New Roman" pitchFamily="18" charset="0"/>
                <a:cs typeface="Times New Roman" pitchFamily="18" charset="0"/>
              </a:rPr>
              <a:t>are </a:t>
            </a:r>
            <a:r>
              <a:rPr lang="en-US" sz="2800" smtClean="0">
                <a:solidFill>
                  <a:srgbClr val="FF0000"/>
                </a:solidFill>
                <a:latin typeface="Times New Roman" pitchFamily="18" charset="0"/>
                <a:cs typeface="Times New Roman" pitchFamily="18" charset="0"/>
              </a:rPr>
              <a:t>Time boxing </a:t>
            </a:r>
            <a:r>
              <a:rPr lang="en-US" sz="2800" dirty="0" smtClean="0">
                <a:solidFill>
                  <a:srgbClr val="FF0000"/>
                </a:solidFill>
                <a:latin typeface="Times New Roman" pitchFamily="18" charset="0"/>
                <a:cs typeface="Times New Roman" pitchFamily="18" charset="0"/>
              </a:rPr>
              <a:t>iteration ? &amp;  the number of  benefits ?</a:t>
            </a:r>
          </a:p>
          <a:p>
            <a:pPr>
              <a:buNone/>
            </a:pPr>
            <a:r>
              <a:rPr lang="en-US" sz="2800" dirty="0" smtClean="0">
                <a:solidFill>
                  <a:srgbClr val="FF0000"/>
                </a:solidFill>
                <a:latin typeface="Times New Roman" pitchFamily="18" charset="0"/>
                <a:cs typeface="Times New Roman" pitchFamily="18" charset="0"/>
              </a:rPr>
              <a:t>3.Explain the steps in Planning an Iterative Project  in detail with an neat diagram.</a:t>
            </a:r>
          </a:p>
          <a:p>
            <a:pPr>
              <a:buNone/>
            </a:pPr>
            <a:r>
              <a:rPr lang="en-US" sz="2800" dirty="0" smtClean="0">
                <a:solidFill>
                  <a:srgbClr val="FF0000"/>
                </a:solidFill>
                <a:latin typeface="Times New Roman" pitchFamily="18" charset="0"/>
                <a:cs typeface="Times New Roman" pitchFamily="18" charset="0"/>
              </a:rPr>
              <a:t>4.Explain the no of steps in an each iteration with an example.</a:t>
            </a:r>
          </a:p>
          <a:p>
            <a:pPr>
              <a:buNone/>
            </a:pPr>
            <a:r>
              <a:rPr lang="en-US" sz="2800" dirty="0" smtClean="0">
                <a:solidFill>
                  <a:srgbClr val="FF0000"/>
                </a:solidFill>
                <a:latin typeface="Times New Roman" pitchFamily="18" charset="0"/>
                <a:cs typeface="Times New Roman" pitchFamily="18" charset="0"/>
              </a:rPr>
              <a:t>5.What are the </a:t>
            </a:r>
            <a:r>
              <a:rPr lang="en-US" sz="2800" i="1" dirty="0" smtClean="0">
                <a:solidFill>
                  <a:srgbClr val="FF0000"/>
                </a:solidFill>
                <a:latin typeface="Times New Roman" pitchFamily="18" charset="0"/>
                <a:cs typeface="Times New Roman" pitchFamily="18" charset="0"/>
              </a:rPr>
              <a:t>case scenario for </a:t>
            </a:r>
            <a:r>
              <a:rPr lang="en-US" sz="2800" dirty="0" smtClean="0">
                <a:solidFill>
                  <a:srgbClr val="FF0000"/>
                </a:solidFill>
                <a:latin typeface="Times New Roman" pitchFamily="18" charset="0"/>
                <a:cs typeface="Times New Roman" pitchFamily="18" charset="0"/>
              </a:rPr>
              <a:t>Estimating the Cost of a Feature.</a:t>
            </a:r>
          </a:p>
          <a:p>
            <a:pPr>
              <a:buNone/>
            </a:pPr>
            <a:r>
              <a:rPr lang="en-US" sz="2800" dirty="0" smtClean="0">
                <a:solidFill>
                  <a:srgbClr val="FF0000"/>
                </a:solidFill>
                <a:latin typeface="Times New Roman" pitchFamily="18" charset="0"/>
                <a:cs typeface="Times New Roman" pitchFamily="18" charset="0"/>
              </a:rPr>
              <a:t>6.Define Architure  &amp; why we need an Architure.?</a:t>
            </a:r>
          </a:p>
          <a:p>
            <a:pPr lvl="0">
              <a:buNone/>
            </a:pPr>
            <a:r>
              <a:rPr lang="en-US" sz="2800" dirty="0" smtClean="0">
                <a:solidFill>
                  <a:srgbClr val="FF0000"/>
                </a:solidFill>
                <a:latin typeface="Times New Roman" pitchFamily="18" charset="0"/>
                <a:cs typeface="Times New Roman" pitchFamily="18" charset="0"/>
              </a:rPr>
              <a:t>7.Explain the Combining FDD with Agile </a:t>
            </a:r>
            <a:r>
              <a:rPr lang="en-US" sz="2800" dirty="0" smtClean="0">
                <a:solidFill>
                  <a:srgbClr val="FF0000"/>
                </a:solidFill>
                <a:latin typeface="Times New Roman" pitchFamily="18" charset="0"/>
                <a:cs typeface="Times New Roman" pitchFamily="18" charset="0"/>
              </a:rPr>
              <a:t>Modeling </a:t>
            </a:r>
            <a:r>
              <a:rPr lang="en-US" sz="2800" dirty="0" smtClean="0">
                <a:solidFill>
                  <a:srgbClr val="FF0000"/>
                </a:solidFill>
                <a:latin typeface="Times New Roman" pitchFamily="18" charset="0"/>
                <a:cs typeface="Times New Roman" pitchFamily="18" charset="0"/>
              </a:rPr>
              <a:t>and </a:t>
            </a:r>
            <a:r>
              <a:rPr lang="en-US" sz="2800" dirty="0" smtClean="0">
                <a:solidFill>
                  <a:srgbClr val="FF0000"/>
                </a:solidFill>
                <a:latin typeface="Times New Roman" pitchFamily="18" charset="0"/>
                <a:cs typeface="Times New Roman" pitchFamily="18" charset="0"/>
              </a:rPr>
              <a:t>XP.</a:t>
            </a:r>
          </a:p>
          <a:p>
            <a:pPr lvl="0">
              <a:buNone/>
            </a:pPr>
            <a:r>
              <a:rPr lang="en-US" sz="2800" dirty="0" smtClean="0">
                <a:solidFill>
                  <a:srgbClr val="FF0000"/>
                </a:solidFill>
                <a:latin typeface="Times New Roman" pitchFamily="18" charset="0"/>
                <a:cs typeface="Times New Roman" pitchFamily="18" charset="0"/>
              </a:rPr>
              <a:t>8.</a:t>
            </a:r>
            <a:r>
              <a:rPr lang="en-IN" sz="2800" dirty="0" smtClean="0">
                <a:solidFill>
                  <a:srgbClr val="FF0000"/>
                </a:solidFill>
                <a:latin typeface="Times New Roman" pitchFamily="18" charset="0"/>
                <a:cs typeface="Times New Roman" pitchFamily="18" charset="0"/>
              </a:rPr>
              <a:t>What </a:t>
            </a:r>
            <a:r>
              <a:rPr lang="en-IN" sz="2800" dirty="0" smtClean="0">
                <a:solidFill>
                  <a:srgbClr val="FF0000"/>
                </a:solidFill>
                <a:latin typeface="Times New Roman" pitchFamily="18" charset="0"/>
                <a:cs typeface="Times New Roman" pitchFamily="18" charset="0"/>
              </a:rPr>
              <a:t>is Feature-Driven Development (FDD)?</a:t>
            </a:r>
          </a:p>
          <a:p>
            <a:pPr lvl="0">
              <a:buNone/>
            </a:pPr>
            <a:r>
              <a:rPr lang="en-IN" sz="2800" dirty="0" smtClean="0">
                <a:solidFill>
                  <a:srgbClr val="FF0000"/>
                </a:solidFill>
                <a:latin typeface="Times New Roman" pitchFamily="18" charset="0"/>
                <a:cs typeface="Times New Roman" pitchFamily="18" charset="0"/>
              </a:rPr>
              <a:t>9.What </a:t>
            </a:r>
            <a:r>
              <a:rPr lang="en-IN" sz="2800" dirty="0" smtClean="0">
                <a:solidFill>
                  <a:srgbClr val="FF0000"/>
                </a:solidFill>
                <a:latin typeface="Times New Roman" pitchFamily="18" charset="0"/>
                <a:cs typeface="Times New Roman" pitchFamily="18" charset="0"/>
              </a:rPr>
              <a:t>are the main goals of Feature-Driven Development?</a:t>
            </a:r>
          </a:p>
          <a:p>
            <a:pPr lvl="0">
              <a:buNone/>
            </a:pPr>
            <a:r>
              <a:rPr lang="en-IN" sz="2800" dirty="0" smtClean="0">
                <a:solidFill>
                  <a:srgbClr val="FF0000"/>
                </a:solidFill>
                <a:latin typeface="Times New Roman" pitchFamily="18" charset="0"/>
                <a:cs typeface="Times New Roman" pitchFamily="18" charset="0"/>
              </a:rPr>
              <a:t>10.What </a:t>
            </a:r>
            <a:r>
              <a:rPr lang="en-IN" sz="2800" dirty="0" smtClean="0">
                <a:solidFill>
                  <a:srgbClr val="FF0000"/>
                </a:solidFill>
                <a:latin typeface="Times New Roman" pitchFamily="18" charset="0"/>
                <a:cs typeface="Times New Roman" pitchFamily="18" charset="0"/>
              </a:rPr>
              <a:t>are the key characteristics that define FDD</a:t>
            </a:r>
            <a:r>
              <a:rPr lang="en-IN" sz="2800" dirty="0" smtClean="0">
                <a:solidFill>
                  <a:srgbClr val="FF0000"/>
                </a:solidFill>
                <a:latin typeface="Times New Roman" pitchFamily="18" charset="0"/>
                <a:cs typeface="Times New Roman" pitchFamily="18" charset="0"/>
              </a:rPr>
              <a:t>?</a:t>
            </a:r>
          </a:p>
          <a:p>
            <a:pPr>
              <a:buNone/>
            </a:pPr>
            <a:r>
              <a:rPr lang="en-IN" sz="2800" dirty="0" smtClean="0">
                <a:solidFill>
                  <a:srgbClr val="FF0000"/>
                </a:solidFill>
                <a:latin typeface="Times New Roman" pitchFamily="18" charset="0"/>
                <a:cs typeface="Times New Roman" pitchFamily="18" charset="0"/>
              </a:rPr>
              <a:t>11.What </a:t>
            </a:r>
            <a:r>
              <a:rPr lang="en-IN" sz="2800" dirty="0" smtClean="0">
                <a:solidFill>
                  <a:srgbClr val="FF0000"/>
                </a:solidFill>
                <a:latin typeface="Times New Roman" pitchFamily="18" charset="0"/>
                <a:cs typeface="Times New Roman" pitchFamily="18" charset="0"/>
              </a:rPr>
              <a:t>are the key differences between the practices of FDD and XP</a:t>
            </a:r>
            <a:r>
              <a:rPr lang="en-IN" sz="2800" dirty="0" smtClean="0">
                <a:solidFill>
                  <a:srgbClr val="FF0000"/>
                </a:solidFill>
                <a:latin typeface="Times New Roman" pitchFamily="18" charset="0"/>
                <a:cs typeface="Times New Roman" pitchFamily="18" charset="0"/>
              </a:rPr>
              <a:t>?</a:t>
            </a:r>
          </a:p>
          <a:p>
            <a:pPr lvl="0">
              <a:buNone/>
            </a:pPr>
            <a:r>
              <a:rPr lang="en-US" sz="2800" dirty="0" smtClean="0">
                <a:solidFill>
                  <a:srgbClr val="FF0000"/>
                </a:solidFill>
                <a:latin typeface="Times New Roman" pitchFamily="18" charset="0"/>
                <a:cs typeface="Times New Roman" pitchFamily="18" charset="0"/>
              </a:rPr>
              <a:t>12.</a:t>
            </a:r>
            <a:r>
              <a:rPr lang="en-IN" sz="2800" dirty="0" smtClean="0">
                <a:solidFill>
                  <a:srgbClr val="FF0000"/>
                </a:solidFill>
                <a:latin typeface="Times New Roman" pitchFamily="18" charset="0"/>
                <a:cs typeface="Times New Roman" pitchFamily="18" charset="0"/>
              </a:rPr>
              <a:t> Why is a well-defined architecture crucial for the success of an FDD project?</a:t>
            </a:r>
          </a:p>
          <a:p>
            <a:pPr>
              <a:buNone/>
            </a:pPr>
            <a:endParaRPr lang="en-IN" sz="2400" dirty="0" smtClean="0">
              <a:latin typeface="Times New Roman" pitchFamily="18" charset="0"/>
              <a:cs typeface="Times New Roman" pitchFamily="18" charset="0"/>
            </a:endParaRPr>
          </a:p>
          <a:p>
            <a:pPr lvl="0">
              <a:buNone/>
            </a:pPr>
            <a:endParaRPr lang="en-IN" sz="3100" dirty="0" smtClean="0">
              <a:solidFill>
                <a:srgbClr val="FF0000"/>
              </a:solidFill>
              <a:latin typeface="Times New Roman" pitchFamily="18" charset="0"/>
              <a:cs typeface="Times New Roman" pitchFamily="18" charset="0"/>
            </a:endParaRPr>
          </a:p>
          <a:p>
            <a:pPr>
              <a:buNone/>
            </a:pPr>
            <a:endParaRPr lang="en-US" dirty="0" smtClean="0">
              <a:solidFill>
                <a:srgbClr val="FF0000"/>
              </a:solidFill>
              <a:latin typeface="Times New Roman" pitchFamily="18" charset="0"/>
              <a:cs typeface="Times New Roman" pitchFamily="18" charset="0"/>
            </a:endParaRPr>
          </a:p>
          <a:p>
            <a:endParaRPr lang="en-IN" dirty="0"/>
          </a:p>
        </p:txBody>
      </p:sp>
      <p:sp>
        <p:nvSpPr>
          <p:cNvPr id="4" name="Title 1"/>
          <p:cNvSpPr>
            <a:spLocks noGrp="1"/>
          </p:cNvSpPr>
          <p:nvPr>
            <p:ph type="title"/>
          </p:nvPr>
        </p:nvSpPr>
        <p:spPr>
          <a:xfrm>
            <a:off x="533400" y="533400"/>
            <a:ext cx="8229600" cy="228600"/>
          </a:xfrm>
        </p:spPr>
        <p:txBody>
          <a:bodyPr>
            <a:normAutofit fontScale="90000"/>
          </a:bodyPr>
          <a:lstStyle/>
          <a:p>
            <a:r>
              <a:rPr lang="en-IN" b="1" dirty="0" smtClean="0">
                <a:latin typeface="Times New Roman" pitchFamily="18" charset="0"/>
                <a:cs typeface="Times New Roman" pitchFamily="18" charset="0"/>
              </a:rPr>
              <a:t>UNIT-IV</a:t>
            </a:r>
            <a:r>
              <a:rPr lang="en-IN" dirty="0" smtClean="0">
                <a:latin typeface="Times New Roman" pitchFamily="18" charset="0"/>
                <a:cs typeface="Times New Roman" pitchFamily="18" charset="0"/>
              </a:rPr>
              <a:t/>
            </a:r>
            <a:br>
              <a:rPr lang="en-IN" dirty="0" smtClean="0">
                <a:latin typeface="Times New Roman" pitchFamily="18" charset="0"/>
                <a:cs typeface="Times New Roman" pitchFamily="18" charset="0"/>
              </a:rPr>
            </a:br>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189</TotalTime>
  <Words>3200</Words>
  <Application>Microsoft Office PowerPoint</Application>
  <PresentationFormat>On-screen Show (4:3)</PresentationFormat>
  <Paragraphs>171</Paragraphs>
  <Slides>36</Slides>
  <Notes>0</Notes>
  <HiddenSlides>0</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Office Theme</vt:lpstr>
      <vt:lpstr>UNIT-IV</vt:lpstr>
      <vt:lpstr>Slide 2</vt:lpstr>
      <vt:lpstr>Feature-Driven Development </vt:lpstr>
      <vt:lpstr>Slide 4</vt:lpstr>
      <vt:lpstr>Slide 5</vt:lpstr>
      <vt:lpstr>Incremental Software Development </vt:lpstr>
      <vt:lpstr>Slide 7</vt:lpstr>
      <vt:lpstr>Figure 9.2 depicts the spiral nature of this approach to software development. Note that in effect, each iteration around the spiral is a mini-software development project. </vt:lpstr>
      <vt:lpstr>Regaining Control: The Motivation Behind FDD </vt:lpstr>
      <vt:lpstr>Feature-Centric Development </vt:lpstr>
      <vt:lpstr>Slide 11</vt:lpstr>
      <vt:lpstr>Slide 12</vt:lpstr>
      <vt:lpstr>Timeboxing Iterations </vt:lpstr>
      <vt:lpstr>Being Adaptive but Managed </vt:lpstr>
      <vt:lpstr>Planning an Iterative Project</vt:lpstr>
      <vt:lpstr>Iterations, Timeboxes and Releases </vt:lpstr>
      <vt:lpstr>Slide 17</vt:lpstr>
      <vt:lpstr>Slide 18</vt:lpstr>
      <vt:lpstr>Slide 19</vt:lpstr>
      <vt:lpstr>Planning an Iteration </vt:lpstr>
      <vt:lpstr>Slide 21</vt:lpstr>
      <vt:lpstr>Slide 22</vt:lpstr>
      <vt:lpstr>Slide 23</vt:lpstr>
      <vt:lpstr>Slide 24</vt:lpstr>
      <vt:lpstr>An Aside on Planning within an FDD Project </vt:lpstr>
      <vt:lpstr>Estimating the Cost of a Feature</vt:lpstr>
      <vt:lpstr>Slide 27</vt:lpstr>
      <vt:lpstr>Slide 28</vt:lpstr>
      <vt:lpstr>Slide 29</vt:lpstr>
      <vt:lpstr>Architecture Centric </vt:lpstr>
      <vt:lpstr>Architecture Defined </vt:lpstr>
      <vt:lpstr>Slide 32</vt:lpstr>
      <vt:lpstr>Why Have an Architecture? </vt:lpstr>
      <vt:lpstr>FDD and XP </vt:lpstr>
      <vt:lpstr>Slide 35</vt:lpstr>
      <vt:lpstr>UNIT-IV </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Preethi</cp:lastModifiedBy>
  <cp:revision>25</cp:revision>
  <dcterms:created xsi:type="dcterms:W3CDTF">2006-08-16T00:00:00Z</dcterms:created>
  <dcterms:modified xsi:type="dcterms:W3CDTF">2025-10-21T05:21:43Z</dcterms:modified>
</cp:coreProperties>
</file>